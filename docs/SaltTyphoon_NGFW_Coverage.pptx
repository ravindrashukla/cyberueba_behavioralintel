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Georgia"/>
              </a:defRPr>
            </a:pPr>
            <a:r>
              <a:t>Salt Typhoon TTPs vs NGFW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B6C4"/>
                </a:solidFill>
                <a:latin typeface="Calibri"/>
              </a:defRPr>
            </a:pPr>
            <a:r>
              <a:t>Mapping G1045 techniques to verifiable next-gen firewall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0B0"/>
                </a:solidFill>
                <a:latin typeface="Calibri"/>
              </a:defRPr>
            </a:pPr>
            <a:r>
              <a:t>PRC state-sponsored telecom espionage  ·  CISA AA25-239A  ·  Enterprise blast-radius containment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080"/>
                </a:solidFill>
                <a:latin typeface="Calibri"/>
              </a:defRPr>
            </a:pPr>
            <a:r>
              <a:t>Current as of May 29, 2026  ·  Sources: CISA AA25-239A, Cisco Talos, MITRE ATT&amp;CK G1045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THREAT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Who Salt Typhoon Is — and What They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A6878"/>
                </a:solidFill>
                <a:latin typeface="Calibri"/>
              </a:defRPr>
            </a:pPr>
            <a:r>
              <a:t>PRC state-sponsored espionage against telecom carriers, active since at least 2021.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15768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  <a:latin typeface="Georgia"/>
              </a:defRPr>
            </a:pPr>
            <a:r>
              <a:t>600+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57400"/>
            <a:ext cx="2395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organizations across 80+ countries notified by the FBI as targeted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371600"/>
            <a:ext cx="2715768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37160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  <a:latin typeface="Georgia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2395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U.S. carriers confirmed compromised (7 named: Verizon, AT&amp;T, T-Mobile, Charter, Lumen, Consolidated, Windstream)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371600"/>
            <a:ext cx="2715768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37160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  <a:latin typeface="Georgia"/>
              </a:defRPr>
            </a:pPr>
            <a:r>
              <a:t>CALEA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57400"/>
            <a:ext cx="2395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lawful-intercept infrastructure reached — the court-authorized surveillance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1371600"/>
            <a:ext cx="2715768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137160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0392B"/>
                </a:solidFill>
                <a:latin typeface="Georgia"/>
              </a:defRPr>
            </a:pPr>
            <a:r>
              <a:t>3+ yrs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057400"/>
            <a:ext cx="2395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dwell time in some compromised carrier networks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54680"/>
            <a:ext cx="11247120" cy="29260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154680"/>
            <a:ext cx="91440" cy="2926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186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THE TRADECRAFT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Establish on carrier-grade routers using stolen credentials, then modify ACLs and AAA configurations to maintain persistent access.</a:t>
            </a:r>
          </a:p>
          <a:p>
            <a:pPr>
              <a:spcBef>
                <a:spcPts val="700"/>
              </a:spcBef>
              <a:defRPr sz="1150" b="0">
                <a:solidFill>
                  <a:srgbClr val="2D3748"/>
                </a:solidFill>
                <a:latin typeface="Calibri"/>
              </a:defRPr>
            </a:pPr>
            <a:r>
              <a:t>Abuse built-in services — Guest Shell and sshd_operns — for on-device persistence.</a:t>
            </a:r>
          </a:p>
          <a:p>
            <a:pPr>
              <a:spcBef>
                <a:spcPts val="700"/>
              </a:spcBef>
              <a:defRPr sz="1150" b="0">
                <a:solidFill>
                  <a:srgbClr val="2D3748"/>
                </a:solidFill>
                <a:latin typeface="Calibri"/>
              </a:defRPr>
            </a:pPr>
            <a:r>
              <a:t>Run the custom JumbledPath utility from jump hosts to capture traffic and disable logging on compromised devices.</a:t>
            </a:r>
          </a:p>
          <a:p>
            <a:pPr>
              <a:spcBef>
                <a:spcPts val="700"/>
              </a:spcBef>
              <a:defRPr sz="1150" b="0">
                <a:solidFill>
                  <a:srgbClr val="2D3748"/>
                </a:solidFill>
                <a:latin typeface="Calibri"/>
              </a:defRPr>
            </a:pPr>
            <a:r>
              <a:t>Exfiltrate call records, metadata, voice and SMS over GRE tunnels built between compromised routers.</a:t>
            </a:r>
          </a:p>
          <a:p>
            <a:pPr>
              <a:spcBef>
                <a:spcPts val="9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Tracked as MITRE ATT&amp;CK Group G1045; detailed in CISA AA25-239A (Aug 2025) and Cisco Talos "Weathering the Storm" (Feb 2025).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No malware required to enter — the entry path is stolen credentials and configuration abuse on the carrier 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SCOPE &amp;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The Enterprise NGFW Story Is Blast-Radius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A6878"/>
                </a:solidFill>
                <a:latin typeface="Calibri"/>
              </a:defRPr>
            </a:pPr>
            <a:r>
              <a:t>Salt Typhoon's primary victim is the carrier. Most of its activity is not in path for any enterprise firewall.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40680" cy="3291840"/>
          </a:xfrm>
          <a:prstGeom prst="roundRect">
            <a:avLst/>
          </a:prstGeom>
          <a:solidFill>
            <a:srgbClr val="F6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91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NOT IN ENTERPRISE NGFW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Activity inside compromised carrier infrastructure is invisible to any enterprise firewall:</a:t>
            </a:r>
          </a:p>
          <a:p>
            <a:pPr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Router-to-router GRE tunneling in the carrier backbone</a:t>
            </a:r>
          </a:p>
          <a:p>
            <a:pPr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On-box AAA / ACL edits and config changes</a:t>
            </a:r>
          </a:p>
          <a:p>
            <a:pPr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Guest Shell / sshd_operns enablement on the device</a:t>
            </a:r>
          </a:p>
          <a:p>
            <a:pPr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On-box packet capture (CDR / CALEA) and log clearing</a:t>
            </a:r>
          </a:p>
          <a:p>
            <a:pPr>
              <a:spcBef>
                <a:spcPts val="9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The CALEA compromise is a policy / regulatory matter — no NGFW configuration prevents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291840"/>
          </a:xfrm>
          <a:prstGeom prst="roundRect">
            <a:avLst/>
          </a:prstGeom>
          <a:solidFill>
            <a:srgbClr val="D9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2918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356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7A44"/>
                </a:solidFill>
                <a:latin typeface="Calibri"/>
              </a:defRPr>
            </a:pPr>
            <a:r>
              <a:t>WHERE THE NGFW ADDS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10512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For an enterprise consuming carrier services, the firewall job is downstream — contain a carrier compromise inside your own network:</a:t>
            </a:r>
          </a:p>
          <a:p>
            <a:pPr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Default-deny zero-trust segmentation at the carrier-to-enterprise handoff</a:t>
            </a:r>
          </a:p>
          <a:p>
            <a:pPr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Egress allowlists from sensitive and management zones</a:t>
            </a:r>
          </a:p>
          <a:p>
            <a:pPr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Port / protocol denies for observed Salt Typhoon channels</a:t>
            </a:r>
          </a:p>
          <a:p>
            <a:pPr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• Continuous config-drift detection on boundary and handoff rules</a:t>
            </a:r>
          </a:p>
          <a:p>
            <a:pPr>
              <a:spcBef>
                <a:spcPts val="900"/>
              </a:spcBef>
              <a:defRPr sz="1050" b="1">
                <a:solidFill>
                  <a:srgbClr val="1E7A44"/>
                </a:solidFill>
                <a:latin typeface="Calibri"/>
              </a:defRPr>
            </a:pPr>
            <a:r>
              <a:t>Carrier-side coverage is possible too — but only if verification is deployed at the carrier.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Honest scoping: the firewall contains the blast radius downstream; it does not defend the carrier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What Formal Configuration Hygiene Would Have Prevented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A6878"/>
                </a:solidFill>
                <a:latin typeface="Calibri"/>
              </a:defRPr>
            </a:pPr>
            <a:r>
              <a:t>Several Salt Typhoon paths trace to configuration gaps a formal NGFW analysis is designed to find before exploitation.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8961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8961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GRE / IPsec peer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44752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Absent explicit peer authorization is a primary persistence channel for the tunneling. Flagged as a coverage gap on any onboarded management plane.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22576"/>
            <a:ext cx="11247120" cy="8961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22576"/>
            <a:ext cx="91440" cy="8961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Zero-trust segmentation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At the carrier↔enterprise boundary, closes the lateral pivot path that enables downstream compromise.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73552"/>
            <a:ext cx="11247120" cy="8961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73552"/>
            <a:ext cx="91440" cy="8961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Egress allowlist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46704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On management interfaces, blocks the configuration exfiltration performed over TFTP and FTP.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24528"/>
            <a:ext cx="11247120" cy="8961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24528"/>
            <a:ext cx="91440" cy="8961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Continuous configuration-drift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9768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Flags unauthorized changes to segmentation, egress policy, or carrier-handoff rules the moment they appear in live config.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75504"/>
            <a:ext cx="11247120" cy="8961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175504"/>
            <a:ext cx="91440" cy="8961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48656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Reachability-graph (symbolic)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48656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Unlike rule-syntax or signature audits, verifies the reachability implied by the live policy — surfacing shadowed allow-rules and segmentation gaps no single rule reveals.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63640"/>
            <a:ext cx="11247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245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The symbolic model verifies what the policy actually allows — not just what each rule says in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COVERAGE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NGFW Coverage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A6878"/>
                </a:solidFill>
                <a:latin typeface="Calibri"/>
              </a:defRPr>
            </a:pPr>
            <a:r>
              <a:t>26 technique-mappings across 8 ATT&amp;CK tactics (some techniques mapped under two tactics).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30168" cy="1828800"/>
          </a:xfrm>
          <a:prstGeom prst="roundRect">
            <a:avLst/>
          </a:prstGeom>
          <a:solidFill>
            <a:srgbClr val="D9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7A44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Calibri"/>
              </a:defRPr>
            </a:pPr>
            <a:r>
              <a:t>YES — fully blockable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371600"/>
            <a:ext cx="3630168" cy="1828800"/>
          </a:xfrm>
          <a:prstGeom prst="roundRect">
            <a:avLst/>
          </a:prstGeom>
          <a:solidFill>
            <a:srgbClr val="FBE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1371600"/>
            <a:ext cx="91440" cy="1828800"/>
          </a:xfrm>
          <a:prstGeom prst="rect">
            <a:avLst/>
          </a:prstGeom>
          <a:solidFill>
            <a:srgbClr val="B5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57A12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Calibri"/>
              </a:defRPr>
            </a:pPr>
            <a:r>
              <a:t>PARTIAL — partially blockable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371600"/>
            <a:ext cx="3630168" cy="1828800"/>
          </a:xfrm>
          <a:prstGeom prst="roundRect">
            <a:avLst/>
          </a:prstGeom>
          <a:solidFill>
            <a:srgbClr val="F6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0392B"/>
                </a:solidFill>
                <a:latin typeface="Georgia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Calibri"/>
              </a:defRPr>
            </a:pPr>
            <a:r>
              <a:t>NO — out of NGFW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47120" cy="26517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91440" cy="2651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021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HOW TO READ 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The 9 NO verdicts and many of the 11 PARTIAL verdicts sit inside the compromised carrier's gear — AAA edits, Guest Shell, on-box capture, log clearing — invisible to any enterprise firewall.</a:t>
            </a:r>
          </a:p>
          <a:p>
            <a:pPr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6 YES verdicts are the enterprise blast-radius wins: zero-trust segmentation at the carrier handoff (T1199), config-dump egress denies (T1602.002), non-standard-port denies (T1571), and C2 / unencrypted-exfil blocks (T1041, T1048.003).</a:t>
            </a:r>
          </a:p>
          <a:p>
            <a:pPr>
              <a:spcBef>
                <a:spcPts val="800"/>
              </a:spcBef>
              <a:defRPr sz="1150" b="0">
                <a:solidFill>
                  <a:srgbClr val="2D3748"/>
                </a:solidFill>
                <a:latin typeface="Calibri"/>
              </a:defRPr>
            </a:pPr>
            <a:r>
              <a:t>Low-and-slow exfiltration (T1029) is weak on NGFWs by design — a behavioral layer (V-Intelligence UEBA) or NDR is the right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A firewall cannot defend a router it never sees — but it can stop the compromise from spreading into the enterprise.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TTP COVERAGE  · 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Initial Access  &amp;  Credential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INITIAL ACCESS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1353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T1078 Valid Accounts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Enforce source-IP / geo restrictions and require MFA on VPN/SSL-VPN logins. Cannot detect that the credential itself is stolen.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T1190 Exploit Public-Facing App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IPS signatures for the relevant edge CVEs (Cisco IOS XE, Smart Install, PAN) plus mgmt-plane ACLs blocking /webui/ and TCP/4786. Enterprise NGFWs are rarely in path for carrier-core devices; coverage applies mainly to enterprise-edge devices in the same families.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4612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CREDENTIAL ACCESS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T1555 Credentials from Password Stores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Offline decryption of exfiltrated device configs. No NGFW visibility into off-box activity.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T1040 Network Sniffing (TACACS+ TCP/49)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Segment the management VRF and restrict TACACS+ flows to authorized device-AAA pairs. Cannot stop sniffing that runs on a compromised router itself.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T1552 Unsecured Credentials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Credentials stored in device configs. On-device — no NGFW visibility.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T1556.004 Modify Auth Process: Network Device Auth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TACACS+ redirect captures admin creds when AAA traffic is rerouted. Egress allowlist on AAA/TACACS+/RADIUS to the authorized server set blocks the redirect. (Also maps to Persistence.)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T1110.002 Brute Force: Password Cracking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Offline cracking of captured TACACS+/RADIUS hashes. No NGFW visibility into off-box activity.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TTP COVERAGE  · 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Persistence  &amp;  Defense Evasion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PERSISTENCE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T1098.004 Account Manipulation: SSH Authorized Keys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On-device modification of SSH authorized_keys.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T1136 Create Account (local privileged)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On-device account creation.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T1505 Server Software Component (Guest Shell, sshd_operns)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Deny TCP/57722 inbound and outbound across all zones. Cannot prevent Guest Shell enablement on the device itself.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T1556.004 Modify Auth Process: Network Device Auth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Egress allowlist on AAA/TACACS+/RADIUS catches redirect to an attacker-controlled AAA server. Cannot prevent the on-device config change.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48455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DEFENSE EVASION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22775"/>
          <a:ext cx="11247120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T1027 Obfuscated Files (encrypted PCAPs)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Once encrypted, the NGFW cannot inspect content.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T1070 Indicator Removal (log clearing)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On-device action against local logs.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T1562 Impair Defenses (logging mods)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On-device logging configuration changes.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T1021.004 Remote Services: SSH (loopback rewrite to bypass ACLs)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An independent NGFW with allow-rules bound to authorized loopback ranges defeats the bypass at the next hop. Cannot prevent the router rewriting its own loopback.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TTP COVERAGE  · 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Lateral Movement  &amp; 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LATERAL MOVEMENT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T1021 Remote Services (SSH on non-standard ports)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E7A4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D9EE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Deny SSH on non-standard ports across zones. App-ID detection of SSH on unexpected ports. Force bastion-only paths.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JumbledPath multi-hop chains (behavior; not in ATT&amp;CK)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Egress filtering from network-device zones to internet; threat-feed denies on known JumbledPath C2. Cannot stop intra-zone chaining among already-compromised devices.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T1199 Trusted Relationship (carrier→enterprise pivot)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E7A4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D9EE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Default-deny zero-trust segmentation at trust boundaries with explicit per-service allow-rules. Highest-value NGFW control for enterprise customers downstream of a compromised carrier; not applicable to the carrier itself.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59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COLLECTION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069079"/>
          <a:ext cx="11247120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T1040 Network Sniffing (on-box CDR/CALEA capture)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6DA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Capture runs on the compromised carrier device itself. No NGFW visibility.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T1602.002 Data from Config Repository: Device Config Dump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E7A4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D9EE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Deny outbound TFTP/FTP/HTTP from network-device management interfaces to anything outside the authorized config-mgmt server set. (Value where the NGFW is in path of the device's mgmt egress.)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TTP COVERAGE  · 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Command &amp; Control  &amp;  Exfiltration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COMMAND AND CONTROL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JumbledPath multi-hop chains (behavior; not in ATT&amp;CK)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Same controls as Lateral Movement: egress filtering plus threat-feed denies on C2 destinations.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T1571 Non-Standard Port (sshd_operns 57722)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E7A4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D9EE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Port-based denies for 57722 and other observed non-standard ports.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T1572 Protocol Tunneling (GRE and IPsec)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Explicit GRE/IPsec peer authorization with default-deny tunnels except between named endpoints. Effective where the NGFW sits between device and tunnel peer; router-to-router tunneling inside a carrier backbone bypasses any enterprise NGFW.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4845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EXFILTRATION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22776"/>
          <a:ext cx="112471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051560"/>
                <a:gridCol w="786384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 (MITRE ATT&amp;CK)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NGFW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marL="54864" marR="54864" marT="18288" marB="18288" anchor="ctr"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T1029 Scheduled Transfer (low-and-slow)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B57A12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marL="54864" marR="54864" marT="18288" marB="18288" anchor="ctr">
                    <a:solidFill>
                      <a:srgbClr val="FBEA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Threat-feed destination blocks help. Volumetric / timing anomaly detection is weak on NGFWs — V-Intelligence UEBA or NDR is the right layer.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T1041 Exfiltration Over C2 Channel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E7A4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D9EE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Threat-feed blocks on known C2 IPs, domains and ASNs. Egress allowlists from sensitive zones (CALEA, mgmt VRF, lawful-intercept gear).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defRPr sz="850" b="1">
                          <a:solidFill>
                            <a:srgbClr val="0B1F3A"/>
                          </a:solidFill>
                          <a:latin typeface="Calibri"/>
                        </a:defRPr>
                      </a:pPr>
                      <a:r>
                        <a:t>T1048.003 Exfil Over Unencrypted Non-C2 Protocol (TFTP/FTP)</a:t>
                      </a:r>
                    </a:p>
                  </a:txBody>
                  <a:tcPr marL="54864" marR="54864" marT="18288" marB="18288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E7A44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18288" marB="18288" anchor="ctr">
                    <a:solidFill>
                      <a:srgbClr val="D9EE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Deny outbound TFTP/FTP/SFTP from network devices to the internet.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SCOPE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What Sits Outside Any Enterprise NGFW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A6878"/>
                </a:solidFill>
                <a:latin typeface="Calibri"/>
              </a:defRPr>
            </a:pPr>
            <a:r>
              <a:t>The NO verdicts — and many PARTIAL ones — live inside the carrier's gear.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2377440"/>
          </a:xfrm>
          <a:prstGeom prst="roundRect">
            <a:avLst/>
          </a:prstGeom>
          <a:solidFill>
            <a:srgbClr val="F6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77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D3748"/>
                </a:solidFill>
                <a:latin typeface="Calibri"/>
              </a:defRPr>
            </a:pPr>
            <a:r>
              <a:t>AAA modification, ACL tampering, Guest Shell and sshd_operns enablement, on-box packet capture, and log clearing all occur on the router itself — invisible to any firewall outside the carrier.</a:t>
            </a:r>
          </a:p>
          <a:p>
            <a:pPr>
              <a:spcBef>
                <a:spcPts val="1000"/>
              </a:spcBef>
              <a:defRPr sz="1250" b="1">
                <a:solidFill>
                  <a:srgbClr val="0B1F3A"/>
                </a:solidFill>
                <a:latin typeface="Calibri"/>
              </a:defRPr>
            </a:pPr>
            <a:r>
              <a:t>Closing those gaps requires carrier-side configuration verification (which can be performed if deployed at the carrier).</a:t>
            </a:r>
          </a:p>
          <a:p>
            <a:pPr>
              <a:spcBef>
                <a:spcPts val="1000"/>
              </a:spcBef>
              <a:defRPr sz="1250" b="1">
                <a:solidFill>
                  <a:srgbClr val="C0392B"/>
                </a:solidFill>
                <a:latin typeface="Calibri"/>
              </a:defRPr>
            </a:pPr>
            <a:r>
              <a:t>The CALEA lawful-intercept compromise is a policy and regulatory matter, not a control-plane one — no NGFW configuration prevents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182880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91440" cy="18288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416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THE TWO-LAYER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NGFW configuration hygiene contains the enterprise blast radius and closes the verifiable boundary controls. Behavioral detection (V-Intelligence UEBA) and NDR cover the residual — low-and-slow exfiltration, credential abuse, and cross-domain movement that no single firewall rule reveals.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Configuration verification proves the door is closed. Behavioral detection watches what the carrier compromise drags 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B1F3A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7498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91440" cy="7498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CISA AA25-239A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91056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cisa.gov/news-events/cybersecurity-advisories/aa25-239a  (August 27,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04288"/>
            <a:ext cx="11247120" cy="7498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91440" cy="7498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Cisco Talos — "Weathering the Storm"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32304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blog.talosintelligence.com/salt-typhoon-analysis/  (February 2025)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45536"/>
            <a:ext cx="11247120" cy="7498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5536"/>
            <a:ext cx="91440" cy="7498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5526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MITRE ATT&amp;CK Group G1045 (Salt Typhoon)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7355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attack.mitre.org/groups/G1045/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86784"/>
            <a:ext cx="11247120" cy="7498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86784"/>
            <a:ext cx="91440" cy="7498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Wall Street Journal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U.S. Wiretap Systems Targeted in China-Linked Hack  (October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28032"/>
            <a:ext cx="11247120" cy="7498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28032"/>
            <a:ext cx="91440" cy="7498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BleepingComputer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56048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Charter and Windstream among nine US telecoms hacked by China  (December 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Current as of May 29,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