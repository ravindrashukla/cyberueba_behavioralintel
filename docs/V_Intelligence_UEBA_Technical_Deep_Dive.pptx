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731520" y="1463040"/>
            <a:ext cx="2286000" cy="45720"/>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789920" cy="822960"/>
          </a:xfrm>
          <a:prstGeom prst="rect">
            <a:avLst/>
          </a:prstGeom>
          <a:noFill/>
        </p:spPr>
        <p:txBody>
          <a:bodyPr wrap="square">
            <a:spAutoFit/>
          </a:bodyPr>
          <a:lstStyle/>
          <a:p>
            <a:pPr algn="l">
              <a:defRPr sz="4200" b="1">
                <a:solidFill>
                  <a:srgbClr val="FFFFFF"/>
                </a:solidFill>
                <a:latin typeface="Calibri"/>
              </a:defRPr>
            </a:pPr>
            <a:r>
              <a:t>V-Intelligence UEBA Technical Deep Dive</a:t>
            </a:r>
          </a:p>
        </p:txBody>
      </p:sp>
      <p:sp>
        <p:nvSpPr>
          <p:cNvPr id="4" name="TextBox 3"/>
          <p:cNvSpPr txBox="1"/>
          <p:nvPr/>
        </p:nvSpPr>
        <p:spPr>
          <a:xfrm>
            <a:off x="731520" y="2423160"/>
            <a:ext cx="10789920" cy="640080"/>
          </a:xfrm>
          <a:prstGeom prst="rect">
            <a:avLst/>
          </a:prstGeom>
          <a:noFill/>
        </p:spPr>
        <p:txBody>
          <a:bodyPr wrap="square">
            <a:spAutoFit/>
          </a:bodyPr>
          <a:lstStyle/>
          <a:p>
            <a:pPr algn="l">
              <a:defRPr sz="2600" b="0">
                <a:solidFill>
                  <a:srgbClr val="0E6B8A"/>
                </a:solidFill>
                <a:latin typeface="Calibri"/>
              </a:defRPr>
            </a:pPr>
            <a:r>
              <a:t>Synthetic Data, Detection Algorithms &amp; Empirical Results</a:t>
            </a:r>
          </a:p>
        </p:txBody>
      </p:sp>
      <p:sp>
        <p:nvSpPr>
          <p:cNvPr id="5" name="Rectangle 4"/>
          <p:cNvSpPr/>
          <p:nvPr/>
        </p:nvSpPr>
        <p:spPr>
          <a:xfrm>
            <a:off x="731520" y="3200400"/>
            <a:ext cx="50292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429000"/>
            <a:ext cx="10789920" cy="502920"/>
          </a:xfrm>
          <a:prstGeom prst="rect">
            <a:avLst/>
          </a:prstGeom>
          <a:noFill/>
        </p:spPr>
        <p:txBody>
          <a:bodyPr wrap="square">
            <a:spAutoFit/>
          </a:bodyPr>
          <a:lstStyle/>
          <a:p>
            <a:pPr algn="l">
              <a:defRPr sz="1800" b="0">
                <a:solidFill>
                  <a:srgbClr val="B7950B"/>
                </a:solidFill>
                <a:latin typeface="Calibri"/>
              </a:defRPr>
            </a:pPr>
            <a:r>
              <a:t>130-Day Controlled Analysis  |  50 Users  |  17 Detection Methods  |  4 Attack Campaigns</a:t>
            </a:r>
          </a:p>
        </p:txBody>
      </p:sp>
      <p:sp>
        <p:nvSpPr>
          <p:cNvPr id="7" name="TextBox 6"/>
          <p:cNvSpPr txBox="1"/>
          <p:nvPr/>
        </p:nvSpPr>
        <p:spPr>
          <a:xfrm>
            <a:off x="731520" y="4206240"/>
            <a:ext cx="10789920" cy="457200"/>
          </a:xfrm>
          <a:prstGeom prst="rect">
            <a:avLst/>
          </a:prstGeom>
          <a:noFill/>
        </p:spPr>
        <p:txBody>
          <a:bodyPr wrap="square">
            <a:spAutoFit/>
          </a:bodyPr>
          <a:lstStyle/>
          <a:p>
            <a:pPr algn="l">
              <a:defRPr sz="1500" b="0">
                <a:solidFill>
                  <a:srgbClr val="B4B4B4"/>
                </a:solidFill>
                <a:latin typeface="Calibri"/>
              </a:defRPr>
            </a:pPr>
            <a:r>
              <a:t>22nd Century Technologies, Inc.  |  V-Intelligence UEBA Program  |  May 2025</a:t>
            </a:r>
          </a:p>
        </p:txBody>
      </p:sp>
      <p:sp>
        <p:nvSpPr>
          <p:cNvPr id="8" name="TextBox 7"/>
          <p:cNvSpPr txBox="1"/>
          <p:nvPr/>
        </p:nvSpPr>
        <p:spPr>
          <a:xfrm>
            <a:off x="731520" y="6035040"/>
            <a:ext cx="10789920" cy="365760"/>
          </a:xfrm>
          <a:prstGeom prst="rect">
            <a:avLst/>
          </a:prstGeom>
          <a:noFill/>
        </p:spPr>
        <p:txBody>
          <a:bodyPr wrap="square">
            <a:spAutoFit/>
          </a:bodyPr>
          <a:lstStyle/>
          <a:p>
            <a:pPr algn="l">
              <a:defRPr sz="1100" b="0">
                <a:solidFill>
                  <a:srgbClr val="B4B4B4"/>
                </a:solidFill>
                <a:latin typeface="Calibri"/>
              </a:defRPr>
            </a:pPr>
            <a:r>
              <a:t>DISTRIBUTION STATEMENT: For Official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Executive Summary</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881360" cy="457200"/>
          </a:xfrm>
          <a:prstGeom prst="rect">
            <a:avLst/>
          </a:prstGeom>
          <a:noFill/>
        </p:spPr>
        <p:txBody>
          <a:bodyPr wrap="square">
            <a:spAutoFit/>
          </a:bodyPr>
          <a:lstStyle/>
          <a:p>
            <a:pPr algn="l">
              <a:defRPr sz="1600" b="0">
                <a:solidFill>
                  <a:srgbClr val="505050"/>
                </a:solidFill>
                <a:latin typeface="Calibri"/>
              </a:defRPr>
            </a:pPr>
            <a:r>
              <a:t>Punchline: No single method detects all 4 attack campaigns. The optimal 2-method ensemble (LOF + Zone Divergence) achieves 100% detection at 6.5% FP.</a:t>
            </a:r>
          </a:p>
        </p:txBody>
      </p:sp>
      <p:sp>
        <p:nvSpPr>
          <p:cNvPr id="5" name="Rectangle 4"/>
          <p:cNvSpPr/>
          <p:nvPr/>
        </p:nvSpPr>
        <p:spPr>
          <a:xfrm>
            <a:off x="640080" y="1874519"/>
            <a:ext cx="91440" cy="777240"/>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10607040" cy="365760"/>
          </a:xfrm>
          <a:prstGeom prst="rect">
            <a:avLst/>
          </a:prstGeom>
          <a:noFill/>
        </p:spPr>
        <p:txBody>
          <a:bodyPr wrap="square">
            <a:spAutoFit/>
          </a:bodyPr>
          <a:lstStyle/>
          <a:p>
            <a:pPr algn="l">
              <a:defRPr sz="1600" b="1">
                <a:solidFill>
                  <a:srgbClr val="0D1B2A"/>
                </a:solidFill>
                <a:latin typeface="Calibri"/>
              </a:defRPr>
            </a:pPr>
            <a:r>
              <a:t>Finding 1 — Traditional Methods Miss Insider Threats</a:t>
            </a:r>
          </a:p>
        </p:txBody>
      </p:sp>
      <p:sp>
        <p:nvSpPr>
          <p:cNvPr id="7" name="TextBox 6"/>
          <p:cNvSpPr txBox="1"/>
          <p:nvPr/>
        </p:nvSpPr>
        <p:spPr>
          <a:xfrm>
            <a:off x="914400" y="2221991"/>
            <a:ext cx="10607040" cy="457200"/>
          </a:xfrm>
          <a:prstGeom prst="rect">
            <a:avLst/>
          </a:prstGeom>
          <a:noFill/>
        </p:spPr>
        <p:txBody>
          <a:bodyPr wrap="square">
            <a:spAutoFit/>
          </a:bodyPr>
          <a:lstStyle/>
          <a:p>
            <a:pPr algn="l">
              <a:defRPr sz="1300" b="0">
                <a:solidFill>
                  <a:srgbClr val="505050"/>
                </a:solidFill>
                <a:latin typeface="Calibri"/>
              </a:defRPr>
            </a:pPr>
            <a:r>
              <a:t>LOF detects 3/4 attacks at 0% FP — best single traditional method. But no traditional algorithm detects USR-156 (8-month insider threat) at viable FP rates.</a:t>
            </a:r>
          </a:p>
        </p:txBody>
      </p:sp>
      <p:sp>
        <p:nvSpPr>
          <p:cNvPr id="8" name="Rectangle 7"/>
          <p:cNvSpPr/>
          <p:nvPr/>
        </p:nvSpPr>
        <p:spPr>
          <a:xfrm>
            <a:off x="640080" y="2834639"/>
            <a:ext cx="91440" cy="7772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34639"/>
            <a:ext cx="10607040" cy="365760"/>
          </a:xfrm>
          <a:prstGeom prst="rect">
            <a:avLst/>
          </a:prstGeom>
          <a:noFill/>
        </p:spPr>
        <p:txBody>
          <a:bodyPr wrap="square">
            <a:spAutoFit/>
          </a:bodyPr>
          <a:lstStyle/>
          <a:p>
            <a:pPr algn="l">
              <a:defRPr sz="1600" b="1">
                <a:solidFill>
                  <a:srgbClr val="0D1B2A"/>
                </a:solidFill>
                <a:latin typeface="Calibri"/>
              </a:defRPr>
            </a:pPr>
            <a:r>
              <a:t>Finding 2 — Temporal Methods Over-Alert</a:t>
            </a:r>
          </a:p>
        </p:txBody>
      </p:sp>
      <p:sp>
        <p:nvSpPr>
          <p:cNvPr id="10" name="TextBox 9"/>
          <p:cNvSpPr txBox="1"/>
          <p:nvPr/>
        </p:nvSpPr>
        <p:spPr>
          <a:xfrm>
            <a:off x="914400" y="3182111"/>
            <a:ext cx="10607040" cy="457200"/>
          </a:xfrm>
          <a:prstGeom prst="rect">
            <a:avLst/>
          </a:prstGeom>
          <a:noFill/>
        </p:spPr>
        <p:txBody>
          <a:bodyPr wrap="square">
            <a:spAutoFit/>
          </a:bodyPr>
          <a:lstStyle/>
          <a:p>
            <a:pPr algn="l">
              <a:defRPr sz="1300" b="0">
                <a:solidFill>
                  <a:srgbClr val="505050"/>
                </a:solidFill>
                <a:latin typeface="Calibri"/>
              </a:defRPr>
            </a:pPr>
            <a:r>
              <a:t>Temporal Z-Score detects all 4 attacks but at 100% FP — every user flagged. Feature Trajectory achieves 6.5% FP but only detects 2 of 4 attacks.</a:t>
            </a:r>
          </a:p>
        </p:txBody>
      </p:sp>
      <p:sp>
        <p:nvSpPr>
          <p:cNvPr id="11" name="Rectangle 10"/>
          <p:cNvSpPr/>
          <p:nvPr/>
        </p:nvSpPr>
        <p:spPr>
          <a:xfrm>
            <a:off x="640080" y="3794759"/>
            <a:ext cx="9144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94759"/>
            <a:ext cx="10607040" cy="365760"/>
          </a:xfrm>
          <a:prstGeom prst="rect">
            <a:avLst/>
          </a:prstGeom>
          <a:noFill/>
        </p:spPr>
        <p:txBody>
          <a:bodyPr wrap="square">
            <a:spAutoFit/>
          </a:bodyPr>
          <a:lstStyle/>
          <a:p>
            <a:pPr algn="l">
              <a:defRPr sz="1600" b="1">
                <a:solidFill>
                  <a:srgbClr val="0D1B2A"/>
                </a:solidFill>
                <a:latin typeface="Calibri"/>
              </a:defRPr>
            </a:pPr>
            <a:r>
              <a:t>Finding 3 — Zone-Based Behavioral Analysis Fills the Gap</a:t>
            </a:r>
          </a:p>
        </p:txBody>
      </p:sp>
      <p:sp>
        <p:nvSpPr>
          <p:cNvPr id="13" name="TextBox 12"/>
          <p:cNvSpPr txBox="1"/>
          <p:nvPr/>
        </p:nvSpPr>
        <p:spPr>
          <a:xfrm>
            <a:off x="914400" y="4142231"/>
            <a:ext cx="10607040" cy="457200"/>
          </a:xfrm>
          <a:prstGeom prst="rect">
            <a:avLst/>
          </a:prstGeom>
          <a:noFill/>
        </p:spPr>
        <p:txBody>
          <a:bodyPr wrap="square">
            <a:spAutoFit/>
          </a:bodyPr>
          <a:lstStyle/>
          <a:p>
            <a:pPr algn="l">
              <a:defRPr sz="1300" b="0">
                <a:solidFill>
                  <a:srgbClr val="505050"/>
                </a:solidFill>
                <a:latin typeface="Calibri"/>
              </a:defRPr>
            </a:pPr>
            <a:r>
              <a:t>Tier 3 Zone Divergence detects the insider (USR-156) and slow APT (USR-234) by analyzing which behavioral dimensions drift. 6.5% FP.</a:t>
            </a:r>
          </a:p>
        </p:txBody>
      </p:sp>
      <p:sp>
        <p:nvSpPr>
          <p:cNvPr id="14" name="Rectangle 13"/>
          <p:cNvSpPr/>
          <p:nvPr/>
        </p:nvSpPr>
        <p:spPr>
          <a:xfrm>
            <a:off x="640080" y="4754879"/>
            <a:ext cx="91440" cy="7772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54879"/>
            <a:ext cx="10607040" cy="365760"/>
          </a:xfrm>
          <a:prstGeom prst="rect">
            <a:avLst/>
          </a:prstGeom>
          <a:noFill/>
        </p:spPr>
        <p:txBody>
          <a:bodyPr wrap="square">
            <a:spAutoFit/>
          </a:bodyPr>
          <a:lstStyle/>
          <a:p>
            <a:pPr algn="l">
              <a:defRPr sz="1600" b="1">
                <a:solidFill>
                  <a:srgbClr val="0D1B2A"/>
                </a:solidFill>
                <a:latin typeface="Calibri"/>
              </a:defRPr>
            </a:pPr>
            <a:r>
              <a:t>Finding 4 — LOF + Zone Divergence = Optimal Ensemble</a:t>
            </a:r>
          </a:p>
        </p:txBody>
      </p:sp>
      <p:sp>
        <p:nvSpPr>
          <p:cNvPr id="16" name="TextBox 15"/>
          <p:cNvSpPr txBox="1"/>
          <p:nvPr/>
        </p:nvSpPr>
        <p:spPr>
          <a:xfrm>
            <a:off x="914400" y="5102351"/>
            <a:ext cx="10607040" cy="457200"/>
          </a:xfrm>
          <a:prstGeom prst="rect">
            <a:avLst/>
          </a:prstGeom>
          <a:noFill/>
        </p:spPr>
        <p:txBody>
          <a:bodyPr wrap="square">
            <a:spAutoFit/>
          </a:bodyPr>
          <a:lstStyle/>
          <a:p>
            <a:pPr algn="l">
              <a:defRPr sz="1300" b="0">
                <a:solidFill>
                  <a:srgbClr val="505050"/>
                </a:solidFill>
                <a:latin typeface="Calibri"/>
              </a:defRPr>
            </a:pPr>
            <a:r>
              <a:t>2-method ensemble detects ALL 4 campaigns at 6.5% FP — LOF catches network footprint attacks, Zone Divergence catches behavioral-direction attacks.</a:t>
            </a:r>
          </a:p>
        </p:txBody>
      </p:sp>
      <p:sp>
        <p:nvSpPr>
          <p:cNvPr id="17" name="Rounded Rectangle 16"/>
          <p:cNvSpPr/>
          <p:nvPr/>
        </p:nvSpPr>
        <p:spPr>
          <a:xfrm>
            <a:off x="1645920" y="5760720"/>
            <a:ext cx="8869680" cy="59436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800" b="1">
                <a:solidFill>
                  <a:srgbClr val="B7950B"/>
                </a:solidFill>
                <a:latin typeface="Calibri"/>
              </a:defRPr>
            </a:pPr>
            <a:r>
              <a:t>LOF + Zone Divergence: all 4 campaigns detected at 6.5% FP — optimal ensemble</a:t>
            </a:r>
          </a:p>
        </p:txBody>
      </p:sp>
      <p:sp>
        <p:nvSpPr>
          <p:cNvPr id="18" name="TextBox 17"/>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Synthetic Data Overview</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7160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3383280" cy="685800"/>
          </a:xfrm>
          <a:prstGeom prst="rect">
            <a:avLst/>
          </a:prstGeom>
          <a:noFill/>
        </p:spPr>
        <p:txBody>
          <a:bodyPr wrap="square">
            <a:spAutoFit/>
          </a:bodyPr>
          <a:lstStyle/>
          <a:p>
            <a:pPr algn="ctr">
              <a:defRPr sz="3600" b="1">
                <a:solidFill>
                  <a:srgbClr val="0E6B8A"/>
                </a:solidFill>
                <a:latin typeface="Calibri"/>
              </a:defRPr>
            </a:pPr>
            <a:r>
              <a:t>130</a:t>
            </a:r>
          </a:p>
        </p:txBody>
      </p:sp>
      <p:sp>
        <p:nvSpPr>
          <p:cNvPr id="7" name="TextBox 6"/>
          <p:cNvSpPr txBox="1"/>
          <p:nvPr/>
        </p:nvSpPr>
        <p:spPr>
          <a:xfrm>
            <a:off x="548640" y="2194560"/>
            <a:ext cx="3383280" cy="411480"/>
          </a:xfrm>
          <a:prstGeom prst="rect">
            <a:avLst/>
          </a:prstGeom>
          <a:noFill/>
        </p:spPr>
        <p:txBody>
          <a:bodyPr wrap="square">
            <a:spAutoFit/>
          </a:bodyPr>
          <a:lstStyle/>
          <a:p>
            <a:pPr algn="ctr">
              <a:defRPr sz="1600" b="1">
                <a:solidFill>
                  <a:srgbClr val="0D1B2A"/>
                </a:solidFill>
                <a:latin typeface="Calibri"/>
              </a:defRPr>
            </a:pPr>
            <a:r>
              <a:t>Days of Telemetry</a:t>
            </a:r>
          </a:p>
        </p:txBody>
      </p:sp>
      <p:sp>
        <p:nvSpPr>
          <p:cNvPr id="8" name="Rectangle 7"/>
          <p:cNvSpPr/>
          <p:nvPr/>
        </p:nvSpPr>
        <p:spPr>
          <a:xfrm>
            <a:off x="1463040" y="260604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743200"/>
            <a:ext cx="3383280" cy="502920"/>
          </a:xfrm>
          <a:prstGeom prst="rect">
            <a:avLst/>
          </a:prstGeom>
          <a:noFill/>
        </p:spPr>
        <p:txBody>
          <a:bodyPr wrap="square">
            <a:spAutoFit/>
          </a:bodyPr>
          <a:lstStyle/>
          <a:p>
            <a:pPr algn="ctr">
              <a:defRPr sz="1200" b="0">
                <a:solidFill>
                  <a:srgbClr val="505050"/>
                </a:solidFill>
                <a:latin typeface="Calibri"/>
              </a:defRPr>
            </a:pPr>
            <a:r>
              <a:t>Jan 1 – May 10, 2025</a:t>
            </a:r>
          </a:p>
        </p:txBody>
      </p:sp>
      <p:sp>
        <p:nvSpPr>
          <p:cNvPr id="10" name="Rounded Rectangle 9"/>
          <p:cNvSpPr/>
          <p:nvPr/>
        </p:nvSpPr>
        <p:spPr>
          <a:xfrm>
            <a:off x="4206240" y="137160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37160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508760"/>
            <a:ext cx="3383280" cy="685800"/>
          </a:xfrm>
          <a:prstGeom prst="rect">
            <a:avLst/>
          </a:prstGeom>
          <a:noFill/>
        </p:spPr>
        <p:txBody>
          <a:bodyPr wrap="square">
            <a:spAutoFit/>
          </a:bodyPr>
          <a:lstStyle/>
          <a:p>
            <a:pPr algn="ctr">
              <a:defRPr sz="3600" b="1">
                <a:solidFill>
                  <a:srgbClr val="0E6B8A"/>
                </a:solidFill>
                <a:latin typeface="Calibri"/>
              </a:defRPr>
            </a:pPr>
            <a:r>
              <a:t>50</a:t>
            </a:r>
          </a:p>
        </p:txBody>
      </p:sp>
      <p:sp>
        <p:nvSpPr>
          <p:cNvPr id="13" name="TextBox 12"/>
          <p:cNvSpPr txBox="1"/>
          <p:nvPr/>
        </p:nvSpPr>
        <p:spPr>
          <a:xfrm>
            <a:off x="4297680" y="2194560"/>
            <a:ext cx="3383280" cy="411480"/>
          </a:xfrm>
          <a:prstGeom prst="rect">
            <a:avLst/>
          </a:prstGeom>
          <a:noFill/>
        </p:spPr>
        <p:txBody>
          <a:bodyPr wrap="square">
            <a:spAutoFit/>
          </a:bodyPr>
          <a:lstStyle/>
          <a:p>
            <a:pPr algn="ctr">
              <a:defRPr sz="1600" b="1">
                <a:solidFill>
                  <a:srgbClr val="0D1B2A"/>
                </a:solidFill>
                <a:latin typeface="Calibri"/>
              </a:defRPr>
            </a:pPr>
            <a:r>
              <a:t>Simulated Users</a:t>
            </a:r>
          </a:p>
        </p:txBody>
      </p:sp>
      <p:sp>
        <p:nvSpPr>
          <p:cNvPr id="14" name="Rectangle 13"/>
          <p:cNvSpPr/>
          <p:nvPr/>
        </p:nvSpPr>
        <p:spPr>
          <a:xfrm>
            <a:off x="5212080" y="260604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2743200"/>
            <a:ext cx="3383280" cy="502920"/>
          </a:xfrm>
          <a:prstGeom prst="rect">
            <a:avLst/>
          </a:prstGeom>
          <a:noFill/>
        </p:spPr>
        <p:txBody>
          <a:bodyPr wrap="square">
            <a:spAutoFit/>
          </a:bodyPr>
          <a:lstStyle/>
          <a:p>
            <a:pPr algn="ctr">
              <a:defRPr sz="1200" b="0">
                <a:solidFill>
                  <a:srgbClr val="505050"/>
                </a:solidFill>
                <a:latin typeface="Calibri"/>
              </a:defRPr>
            </a:pPr>
            <a:r>
              <a:t>Employees, contractors, privileged</a:t>
            </a:r>
          </a:p>
        </p:txBody>
      </p:sp>
      <p:sp>
        <p:nvSpPr>
          <p:cNvPr id="16" name="Rounded Rectangle 15"/>
          <p:cNvSpPr/>
          <p:nvPr/>
        </p:nvSpPr>
        <p:spPr>
          <a:xfrm>
            <a:off x="7955279" y="137160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137160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9" y="1508760"/>
            <a:ext cx="3383280" cy="685800"/>
          </a:xfrm>
          <a:prstGeom prst="rect">
            <a:avLst/>
          </a:prstGeom>
          <a:noFill/>
        </p:spPr>
        <p:txBody>
          <a:bodyPr wrap="square">
            <a:spAutoFit/>
          </a:bodyPr>
          <a:lstStyle/>
          <a:p>
            <a:pPr algn="ctr">
              <a:defRPr sz="3600" b="1">
                <a:solidFill>
                  <a:srgbClr val="0E6B8A"/>
                </a:solidFill>
                <a:latin typeface="Calibri"/>
              </a:defRPr>
            </a:pPr>
            <a:r>
              <a:t>7</a:t>
            </a:r>
          </a:p>
        </p:txBody>
      </p:sp>
      <p:sp>
        <p:nvSpPr>
          <p:cNvPr id="19" name="TextBox 18"/>
          <p:cNvSpPr txBox="1"/>
          <p:nvPr/>
        </p:nvSpPr>
        <p:spPr>
          <a:xfrm>
            <a:off x="8046719" y="2194560"/>
            <a:ext cx="3383280" cy="411480"/>
          </a:xfrm>
          <a:prstGeom prst="rect">
            <a:avLst/>
          </a:prstGeom>
          <a:noFill/>
        </p:spPr>
        <p:txBody>
          <a:bodyPr wrap="square">
            <a:spAutoFit/>
          </a:bodyPr>
          <a:lstStyle/>
          <a:p>
            <a:pPr algn="ctr">
              <a:defRPr sz="1600" b="1">
                <a:solidFill>
                  <a:srgbClr val="0D1B2A"/>
                </a:solidFill>
                <a:latin typeface="Calibri"/>
              </a:defRPr>
            </a:pPr>
            <a:r>
              <a:t>Log Source Types</a:t>
            </a:r>
          </a:p>
        </p:txBody>
      </p:sp>
      <p:sp>
        <p:nvSpPr>
          <p:cNvPr id="20" name="Rectangle 19"/>
          <p:cNvSpPr/>
          <p:nvPr/>
        </p:nvSpPr>
        <p:spPr>
          <a:xfrm>
            <a:off x="8961119" y="260604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9" y="2743200"/>
            <a:ext cx="3383280" cy="502920"/>
          </a:xfrm>
          <a:prstGeom prst="rect">
            <a:avLst/>
          </a:prstGeom>
          <a:noFill/>
        </p:spPr>
        <p:txBody>
          <a:bodyPr wrap="square">
            <a:spAutoFit/>
          </a:bodyPr>
          <a:lstStyle/>
          <a:p>
            <a:pPr algn="ctr">
              <a:defRPr sz="1200" b="0">
                <a:solidFill>
                  <a:srgbClr val="505050"/>
                </a:solidFill>
                <a:latin typeface="Calibri"/>
              </a:defRPr>
            </a:pPr>
            <a:r>
              <a:t>Auth, File, Network, Email, Web, Privilege, Endpoint</a:t>
            </a:r>
          </a:p>
        </p:txBody>
      </p:sp>
      <p:sp>
        <p:nvSpPr>
          <p:cNvPr id="22" name="Rounded Rectangle 21"/>
          <p:cNvSpPr/>
          <p:nvPr/>
        </p:nvSpPr>
        <p:spPr>
          <a:xfrm>
            <a:off x="457200" y="370332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7033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40480"/>
            <a:ext cx="3383280" cy="685800"/>
          </a:xfrm>
          <a:prstGeom prst="rect">
            <a:avLst/>
          </a:prstGeom>
          <a:noFill/>
        </p:spPr>
        <p:txBody>
          <a:bodyPr wrap="square">
            <a:spAutoFit/>
          </a:bodyPr>
          <a:lstStyle/>
          <a:p>
            <a:pPr algn="ctr">
              <a:defRPr sz="3600" b="1">
                <a:solidFill>
                  <a:srgbClr val="0E6B8A"/>
                </a:solidFill>
                <a:latin typeface="Calibri"/>
              </a:defRPr>
            </a:pPr>
            <a:r>
              <a:t>23</a:t>
            </a:r>
          </a:p>
        </p:txBody>
      </p:sp>
      <p:sp>
        <p:nvSpPr>
          <p:cNvPr id="25" name="TextBox 24"/>
          <p:cNvSpPr txBox="1"/>
          <p:nvPr/>
        </p:nvSpPr>
        <p:spPr>
          <a:xfrm>
            <a:off x="548640" y="4526280"/>
            <a:ext cx="3383280" cy="411480"/>
          </a:xfrm>
          <a:prstGeom prst="rect">
            <a:avLst/>
          </a:prstGeom>
          <a:noFill/>
        </p:spPr>
        <p:txBody>
          <a:bodyPr wrap="square">
            <a:spAutoFit/>
          </a:bodyPr>
          <a:lstStyle/>
          <a:p>
            <a:pPr algn="ctr">
              <a:defRPr sz="1600" b="1">
                <a:solidFill>
                  <a:srgbClr val="0D1B2A"/>
                </a:solidFill>
                <a:latin typeface="Calibri"/>
              </a:defRPr>
            </a:pPr>
            <a:r>
              <a:t>Behavioral Features</a:t>
            </a:r>
          </a:p>
        </p:txBody>
      </p:sp>
      <p:sp>
        <p:nvSpPr>
          <p:cNvPr id="26" name="Rectangle 25"/>
          <p:cNvSpPr/>
          <p:nvPr/>
        </p:nvSpPr>
        <p:spPr>
          <a:xfrm>
            <a:off x="1463040" y="493776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074920"/>
            <a:ext cx="3383280" cy="502920"/>
          </a:xfrm>
          <a:prstGeom prst="rect">
            <a:avLst/>
          </a:prstGeom>
          <a:noFill/>
        </p:spPr>
        <p:txBody>
          <a:bodyPr wrap="square">
            <a:spAutoFit/>
          </a:bodyPr>
          <a:lstStyle/>
          <a:p>
            <a:pPr algn="ctr">
              <a:defRPr sz="1200" b="0">
                <a:solidFill>
                  <a:srgbClr val="505050"/>
                </a:solidFill>
                <a:latin typeface="Calibri"/>
              </a:defRPr>
            </a:pPr>
            <a:r>
              <a:t>Extracted per user per weekly window</a:t>
            </a:r>
          </a:p>
        </p:txBody>
      </p:sp>
      <p:sp>
        <p:nvSpPr>
          <p:cNvPr id="28" name="Rounded Rectangle 27"/>
          <p:cNvSpPr/>
          <p:nvPr/>
        </p:nvSpPr>
        <p:spPr>
          <a:xfrm>
            <a:off x="4206240" y="370332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06240" y="37033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97680" y="3840480"/>
            <a:ext cx="3383280" cy="685800"/>
          </a:xfrm>
          <a:prstGeom prst="rect">
            <a:avLst/>
          </a:prstGeom>
          <a:noFill/>
        </p:spPr>
        <p:txBody>
          <a:bodyPr wrap="square">
            <a:spAutoFit/>
          </a:bodyPr>
          <a:lstStyle/>
          <a:p>
            <a:pPr algn="ctr">
              <a:defRPr sz="3600" b="1">
                <a:solidFill>
                  <a:srgbClr val="0E6B8A"/>
                </a:solidFill>
                <a:latin typeface="Calibri"/>
              </a:defRPr>
            </a:pPr>
            <a:r>
              <a:t>950</a:t>
            </a:r>
          </a:p>
        </p:txBody>
      </p:sp>
      <p:sp>
        <p:nvSpPr>
          <p:cNvPr id="31" name="TextBox 30"/>
          <p:cNvSpPr txBox="1"/>
          <p:nvPr/>
        </p:nvSpPr>
        <p:spPr>
          <a:xfrm>
            <a:off x="4297680" y="4526280"/>
            <a:ext cx="3383280" cy="411480"/>
          </a:xfrm>
          <a:prstGeom prst="rect">
            <a:avLst/>
          </a:prstGeom>
          <a:noFill/>
        </p:spPr>
        <p:txBody>
          <a:bodyPr wrap="square">
            <a:spAutoFit/>
          </a:bodyPr>
          <a:lstStyle/>
          <a:p>
            <a:pPr algn="ctr">
              <a:defRPr sz="1600" b="1">
                <a:solidFill>
                  <a:srgbClr val="0D1B2A"/>
                </a:solidFill>
                <a:latin typeface="Calibri"/>
              </a:defRPr>
            </a:pPr>
            <a:r>
              <a:t>Feature Vectors</a:t>
            </a:r>
          </a:p>
        </p:txBody>
      </p:sp>
      <p:sp>
        <p:nvSpPr>
          <p:cNvPr id="32" name="Rectangle 31"/>
          <p:cNvSpPr/>
          <p:nvPr/>
        </p:nvSpPr>
        <p:spPr>
          <a:xfrm>
            <a:off x="5212080" y="493776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5074920"/>
            <a:ext cx="3383280" cy="502920"/>
          </a:xfrm>
          <a:prstGeom prst="rect">
            <a:avLst/>
          </a:prstGeom>
          <a:noFill/>
        </p:spPr>
        <p:txBody>
          <a:bodyPr wrap="square">
            <a:spAutoFit/>
          </a:bodyPr>
          <a:lstStyle/>
          <a:p>
            <a:pPr algn="ctr">
              <a:defRPr sz="1200" b="0">
                <a:solidFill>
                  <a:srgbClr val="505050"/>
                </a:solidFill>
                <a:latin typeface="Calibri"/>
              </a:defRPr>
            </a:pPr>
            <a:r>
              <a:t>50 users × 19 weekly observation windows</a:t>
            </a:r>
          </a:p>
        </p:txBody>
      </p:sp>
      <p:sp>
        <p:nvSpPr>
          <p:cNvPr id="34" name="Rounded Rectangle 33"/>
          <p:cNvSpPr/>
          <p:nvPr/>
        </p:nvSpPr>
        <p:spPr>
          <a:xfrm>
            <a:off x="7955279" y="3703320"/>
            <a:ext cx="3566160" cy="201168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55279" y="37033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19" y="3840480"/>
            <a:ext cx="3383280" cy="685800"/>
          </a:xfrm>
          <a:prstGeom prst="rect">
            <a:avLst/>
          </a:prstGeom>
          <a:noFill/>
        </p:spPr>
        <p:txBody>
          <a:bodyPr wrap="square">
            <a:spAutoFit/>
          </a:bodyPr>
          <a:lstStyle/>
          <a:p>
            <a:pPr algn="ctr">
              <a:defRPr sz="3600" b="1">
                <a:solidFill>
                  <a:srgbClr val="0E6B8A"/>
                </a:solidFill>
                <a:latin typeface="Calibri"/>
              </a:defRPr>
            </a:pPr>
            <a:r>
              <a:t>0.05%</a:t>
            </a:r>
          </a:p>
        </p:txBody>
      </p:sp>
      <p:sp>
        <p:nvSpPr>
          <p:cNvPr id="37" name="TextBox 36"/>
          <p:cNvSpPr txBox="1"/>
          <p:nvPr/>
        </p:nvSpPr>
        <p:spPr>
          <a:xfrm>
            <a:off x="8046719" y="4526280"/>
            <a:ext cx="3383280" cy="411480"/>
          </a:xfrm>
          <a:prstGeom prst="rect">
            <a:avLst/>
          </a:prstGeom>
          <a:noFill/>
        </p:spPr>
        <p:txBody>
          <a:bodyPr wrap="square">
            <a:spAutoFit/>
          </a:bodyPr>
          <a:lstStyle/>
          <a:p>
            <a:pPr algn="ctr">
              <a:defRPr sz="1600" b="1">
                <a:solidFill>
                  <a:srgbClr val="0D1B2A"/>
                </a:solidFill>
                <a:latin typeface="Calibri"/>
              </a:defRPr>
            </a:pPr>
            <a:r>
              <a:t>Attack Event Rate</a:t>
            </a:r>
          </a:p>
        </p:txBody>
      </p:sp>
      <p:sp>
        <p:nvSpPr>
          <p:cNvPr id="38" name="Rectangle 37"/>
          <p:cNvSpPr/>
          <p:nvPr/>
        </p:nvSpPr>
        <p:spPr>
          <a:xfrm>
            <a:off x="8961119" y="4937760"/>
            <a:ext cx="1554480" cy="27432"/>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19" y="5074920"/>
            <a:ext cx="3383280" cy="502920"/>
          </a:xfrm>
          <a:prstGeom prst="rect">
            <a:avLst/>
          </a:prstGeom>
          <a:noFill/>
        </p:spPr>
        <p:txBody>
          <a:bodyPr wrap="square">
            <a:spAutoFit/>
          </a:bodyPr>
          <a:lstStyle/>
          <a:p>
            <a:pPr algn="ctr">
              <a:defRPr sz="1200" b="0">
                <a:solidFill>
                  <a:srgbClr val="505050"/>
                </a:solidFill>
                <a:latin typeface="Calibri"/>
              </a:defRPr>
            </a:pPr>
            <a:r>
              <a:t>1,877 injected events in ~3.5M total</a:t>
            </a:r>
          </a:p>
        </p:txBody>
      </p:sp>
      <p:sp>
        <p:nvSpPr>
          <p:cNvPr id="40" name="Rectangle 39"/>
          <p:cNvSpPr/>
          <p:nvPr/>
        </p:nvSpPr>
        <p:spPr>
          <a:xfrm>
            <a:off x="4069080" y="1371600"/>
            <a:ext cx="18288" cy="4480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18120" y="1371600"/>
            <a:ext cx="18288" cy="44805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Log Types &amp; Feature Engineering</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600" b="0">
                <a:solidFill>
                  <a:srgbClr val="505050"/>
                </a:solidFill>
                <a:latin typeface="Calibri"/>
              </a:defRPr>
            </a:pPr>
            <a:r>
              <a:t>Seven distinct telemetry sources are ingested and normalized. 23 behavioral features are computed per user per weekly window.</a:t>
            </a:r>
          </a:p>
        </p:txBody>
      </p:sp>
      <p:sp>
        <p:nvSpPr>
          <p:cNvPr id="5" name="Rounded Rectangle 4"/>
          <p:cNvSpPr/>
          <p:nvPr/>
        </p:nvSpPr>
        <p:spPr>
          <a:xfrm>
            <a:off x="320040" y="1828800"/>
            <a:ext cx="1600200" cy="420624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828800"/>
            <a:ext cx="160020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65960"/>
            <a:ext cx="1508760" cy="640080"/>
          </a:xfrm>
          <a:prstGeom prst="rect">
            <a:avLst/>
          </a:prstGeom>
          <a:noFill/>
        </p:spPr>
        <p:txBody>
          <a:bodyPr wrap="square">
            <a:spAutoFit/>
          </a:bodyPr>
          <a:lstStyle/>
          <a:p>
            <a:pPr algn="ctr">
              <a:defRPr sz="1300" b="1">
                <a:solidFill>
                  <a:srgbClr val="0D1B2A"/>
                </a:solidFill>
                <a:latin typeface="Calibri"/>
              </a:defRPr>
            </a:pPr>
            <a:r>
              <a:t>Authentication</a:t>
            </a:r>
          </a:p>
        </p:txBody>
      </p:sp>
      <p:sp>
        <p:nvSpPr>
          <p:cNvPr id="8" name="Rounded Rectangle 7"/>
          <p:cNvSpPr/>
          <p:nvPr/>
        </p:nvSpPr>
        <p:spPr>
          <a:xfrm>
            <a:off x="594360" y="2651760"/>
            <a:ext cx="1051560" cy="384048"/>
          </a:xfrm>
          <a:prstGeom prst="round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5 features</a:t>
            </a:r>
          </a:p>
        </p:txBody>
      </p:sp>
      <p:sp>
        <p:nvSpPr>
          <p:cNvPr id="9" name="Rectangle 8"/>
          <p:cNvSpPr/>
          <p:nvPr/>
        </p:nvSpPr>
        <p:spPr>
          <a:xfrm>
            <a:off x="50292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291840"/>
            <a:ext cx="1508760" cy="2560320"/>
          </a:xfrm>
          <a:prstGeom prst="rect">
            <a:avLst/>
          </a:prstGeom>
          <a:noFill/>
        </p:spPr>
        <p:txBody>
          <a:bodyPr wrap="square">
            <a:spAutoFit/>
          </a:bodyPr>
          <a:lstStyle/>
          <a:p>
            <a:pPr algn="ctr">
              <a:defRPr sz="1100" b="0">
                <a:solidFill>
                  <a:srgbClr val="505050"/>
                </a:solidFill>
                <a:latin typeface="Calibri"/>
              </a:defRPr>
            </a:pPr>
            <a:r>
              <a:t>Login patterns, failure rates,</a:t>
            </a:r>
            <a:br/>
            <a:r>
              <a:t>off-hours activity</a:t>
            </a:r>
          </a:p>
        </p:txBody>
      </p:sp>
      <p:sp>
        <p:nvSpPr>
          <p:cNvPr id="11" name="Rounded Rectangle 10"/>
          <p:cNvSpPr/>
          <p:nvPr/>
        </p:nvSpPr>
        <p:spPr>
          <a:xfrm>
            <a:off x="2011680" y="1828800"/>
            <a:ext cx="1600200" cy="4206240"/>
          </a:xfrm>
          <a:prstGeom prst="roundRect">
            <a:avLst/>
          </a:prstGeom>
          <a:no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0" y="1828800"/>
            <a:ext cx="160020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965960"/>
            <a:ext cx="1508760" cy="640080"/>
          </a:xfrm>
          <a:prstGeom prst="rect">
            <a:avLst/>
          </a:prstGeom>
          <a:noFill/>
        </p:spPr>
        <p:txBody>
          <a:bodyPr wrap="square">
            <a:spAutoFit/>
          </a:bodyPr>
          <a:lstStyle/>
          <a:p>
            <a:pPr algn="ctr">
              <a:defRPr sz="1300" b="1">
                <a:solidFill>
                  <a:srgbClr val="0D1B2A"/>
                </a:solidFill>
                <a:latin typeface="Calibri"/>
              </a:defRPr>
            </a:pPr>
            <a:r>
              <a:t>File Access</a:t>
            </a:r>
          </a:p>
        </p:txBody>
      </p:sp>
      <p:sp>
        <p:nvSpPr>
          <p:cNvPr id="14" name="Rounded Rectangle 13"/>
          <p:cNvSpPr/>
          <p:nvPr/>
        </p:nvSpPr>
        <p:spPr>
          <a:xfrm>
            <a:off x="2286000" y="2651760"/>
            <a:ext cx="1051560" cy="384048"/>
          </a:xfrm>
          <a:prstGeom prst="round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4 features</a:t>
            </a:r>
          </a:p>
        </p:txBody>
      </p:sp>
      <p:sp>
        <p:nvSpPr>
          <p:cNvPr id="15" name="Rectangle 14"/>
          <p:cNvSpPr/>
          <p:nvPr/>
        </p:nvSpPr>
        <p:spPr>
          <a:xfrm>
            <a:off x="219456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7400" y="3291840"/>
            <a:ext cx="1508760" cy="2560320"/>
          </a:xfrm>
          <a:prstGeom prst="rect">
            <a:avLst/>
          </a:prstGeom>
          <a:noFill/>
        </p:spPr>
        <p:txBody>
          <a:bodyPr wrap="square">
            <a:spAutoFit/>
          </a:bodyPr>
          <a:lstStyle/>
          <a:p>
            <a:pPr algn="ctr">
              <a:defRPr sz="1100" b="0">
                <a:solidFill>
                  <a:srgbClr val="505050"/>
                </a:solidFill>
                <a:latin typeface="Calibri"/>
              </a:defRPr>
            </a:pPr>
            <a:r>
              <a:t>File counts, sensitivity</a:t>
            </a:r>
            <a:br/>
            <a:r>
              <a:t>score, restricted access</a:t>
            </a:r>
          </a:p>
        </p:txBody>
      </p:sp>
      <p:sp>
        <p:nvSpPr>
          <p:cNvPr id="17" name="Rounded Rectangle 16"/>
          <p:cNvSpPr/>
          <p:nvPr/>
        </p:nvSpPr>
        <p:spPr>
          <a:xfrm>
            <a:off x="3703320" y="1828800"/>
            <a:ext cx="1600200" cy="4206240"/>
          </a:xfrm>
          <a:prstGeom prst="roundRect">
            <a:avLst/>
          </a:prstGeom>
          <a:noFill/>
          <a:ln w="190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703320" y="1828800"/>
            <a:ext cx="1600200" cy="548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1965960"/>
            <a:ext cx="1508760" cy="640080"/>
          </a:xfrm>
          <a:prstGeom prst="rect">
            <a:avLst/>
          </a:prstGeom>
          <a:noFill/>
        </p:spPr>
        <p:txBody>
          <a:bodyPr wrap="square">
            <a:spAutoFit/>
          </a:bodyPr>
          <a:lstStyle/>
          <a:p>
            <a:pPr algn="ctr">
              <a:defRPr sz="1300" b="1">
                <a:solidFill>
                  <a:srgbClr val="0D1B2A"/>
                </a:solidFill>
                <a:latin typeface="Calibri"/>
              </a:defRPr>
            </a:pPr>
            <a:r>
              <a:t>Network</a:t>
            </a:r>
          </a:p>
        </p:txBody>
      </p:sp>
      <p:sp>
        <p:nvSpPr>
          <p:cNvPr id="20" name="Rounded Rectangle 19"/>
          <p:cNvSpPr/>
          <p:nvPr/>
        </p:nvSpPr>
        <p:spPr>
          <a:xfrm>
            <a:off x="3977640" y="2651760"/>
            <a:ext cx="1051560" cy="384048"/>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5 features</a:t>
            </a:r>
          </a:p>
        </p:txBody>
      </p:sp>
      <p:sp>
        <p:nvSpPr>
          <p:cNvPr id="21" name="Rectangle 20"/>
          <p:cNvSpPr/>
          <p:nvPr/>
        </p:nvSpPr>
        <p:spPr>
          <a:xfrm>
            <a:off x="388620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0" y="3291840"/>
            <a:ext cx="1508760" cy="2560320"/>
          </a:xfrm>
          <a:prstGeom prst="rect">
            <a:avLst/>
          </a:prstGeom>
          <a:noFill/>
        </p:spPr>
        <p:txBody>
          <a:bodyPr wrap="square">
            <a:spAutoFit/>
          </a:bodyPr>
          <a:lstStyle/>
          <a:p>
            <a:pPr algn="ctr">
              <a:defRPr sz="1100" b="0">
                <a:solidFill>
                  <a:srgbClr val="505050"/>
                </a:solidFill>
                <a:latin typeface="Calibri"/>
              </a:defRPr>
            </a:pPr>
            <a:r>
              <a:t>Data volumes, DNS diversity,</a:t>
            </a:r>
            <a:br/>
            <a:r>
              <a:t>external connections</a:t>
            </a:r>
          </a:p>
        </p:txBody>
      </p:sp>
      <p:sp>
        <p:nvSpPr>
          <p:cNvPr id="23" name="Rounded Rectangle 22"/>
          <p:cNvSpPr/>
          <p:nvPr/>
        </p:nvSpPr>
        <p:spPr>
          <a:xfrm>
            <a:off x="5394960" y="1828800"/>
            <a:ext cx="1600200" cy="4206240"/>
          </a:xfrm>
          <a:prstGeom prst="roundRect">
            <a:avLst/>
          </a:prstGeom>
          <a:no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94960" y="1828800"/>
            <a:ext cx="1600200" cy="54864"/>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40680" y="1965960"/>
            <a:ext cx="1508760" cy="640080"/>
          </a:xfrm>
          <a:prstGeom prst="rect">
            <a:avLst/>
          </a:prstGeom>
          <a:noFill/>
        </p:spPr>
        <p:txBody>
          <a:bodyPr wrap="square">
            <a:spAutoFit/>
          </a:bodyPr>
          <a:lstStyle/>
          <a:p>
            <a:pPr algn="ctr">
              <a:defRPr sz="1300" b="1">
                <a:solidFill>
                  <a:srgbClr val="0D1B2A"/>
                </a:solidFill>
                <a:latin typeface="Calibri"/>
              </a:defRPr>
            </a:pPr>
            <a:r>
              <a:t>Email</a:t>
            </a:r>
          </a:p>
        </p:txBody>
      </p:sp>
      <p:sp>
        <p:nvSpPr>
          <p:cNvPr id="26" name="Rounded Rectangle 25"/>
          <p:cNvSpPr/>
          <p:nvPr/>
        </p:nvSpPr>
        <p:spPr>
          <a:xfrm>
            <a:off x="5669280" y="2651760"/>
            <a:ext cx="1051560" cy="384048"/>
          </a:xfrm>
          <a:prstGeom prst="round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4 features</a:t>
            </a:r>
          </a:p>
        </p:txBody>
      </p:sp>
      <p:sp>
        <p:nvSpPr>
          <p:cNvPr id="27" name="Rectangle 26"/>
          <p:cNvSpPr/>
          <p:nvPr/>
        </p:nvSpPr>
        <p:spPr>
          <a:xfrm>
            <a:off x="557784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40680" y="3291840"/>
            <a:ext cx="1508760" cy="2560320"/>
          </a:xfrm>
          <a:prstGeom prst="rect">
            <a:avLst/>
          </a:prstGeom>
          <a:noFill/>
        </p:spPr>
        <p:txBody>
          <a:bodyPr wrap="square">
            <a:spAutoFit/>
          </a:bodyPr>
          <a:lstStyle/>
          <a:p>
            <a:pPr algn="ctr">
              <a:defRPr sz="1100" b="0">
                <a:solidFill>
                  <a:srgbClr val="505050"/>
                </a:solidFill>
                <a:latin typeface="Calibri"/>
              </a:defRPr>
            </a:pPr>
            <a:r>
              <a:t>Sent volume, external ratio,</a:t>
            </a:r>
            <a:br/>
            <a:r>
              <a:t>attachment behavior</a:t>
            </a:r>
          </a:p>
        </p:txBody>
      </p:sp>
      <p:sp>
        <p:nvSpPr>
          <p:cNvPr id="29" name="Rounded Rectangle 28"/>
          <p:cNvSpPr/>
          <p:nvPr/>
        </p:nvSpPr>
        <p:spPr>
          <a:xfrm>
            <a:off x="7086600" y="1828800"/>
            <a:ext cx="1600200" cy="4206240"/>
          </a:xfrm>
          <a:prstGeom prst="roundRect">
            <a:avLst/>
          </a:prstGeom>
          <a:no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086600" y="1828800"/>
            <a:ext cx="160020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0" y="1965960"/>
            <a:ext cx="1508760" cy="640080"/>
          </a:xfrm>
          <a:prstGeom prst="rect">
            <a:avLst/>
          </a:prstGeom>
          <a:noFill/>
        </p:spPr>
        <p:txBody>
          <a:bodyPr wrap="square">
            <a:spAutoFit/>
          </a:bodyPr>
          <a:lstStyle/>
          <a:p>
            <a:pPr algn="ctr">
              <a:defRPr sz="1300" b="1">
                <a:solidFill>
                  <a:srgbClr val="0D1B2A"/>
                </a:solidFill>
                <a:latin typeface="Calibri"/>
              </a:defRPr>
            </a:pPr>
            <a:r>
              <a:t>Web Proxy</a:t>
            </a:r>
          </a:p>
        </p:txBody>
      </p:sp>
      <p:sp>
        <p:nvSpPr>
          <p:cNvPr id="32" name="Rounded Rectangle 31"/>
          <p:cNvSpPr/>
          <p:nvPr/>
        </p:nvSpPr>
        <p:spPr>
          <a:xfrm>
            <a:off x="7360920" y="2651760"/>
            <a:ext cx="1051560" cy="384048"/>
          </a:xfrm>
          <a:prstGeom prst="round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3 features</a:t>
            </a:r>
          </a:p>
        </p:txBody>
      </p:sp>
      <p:sp>
        <p:nvSpPr>
          <p:cNvPr id="33" name="Rectangle 32"/>
          <p:cNvSpPr/>
          <p:nvPr/>
        </p:nvSpPr>
        <p:spPr>
          <a:xfrm>
            <a:off x="726948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0" y="3291840"/>
            <a:ext cx="1508760" cy="2560320"/>
          </a:xfrm>
          <a:prstGeom prst="rect">
            <a:avLst/>
          </a:prstGeom>
          <a:noFill/>
        </p:spPr>
        <p:txBody>
          <a:bodyPr wrap="square">
            <a:spAutoFit/>
          </a:bodyPr>
          <a:lstStyle/>
          <a:p>
            <a:pPr algn="ctr">
              <a:defRPr sz="1100" b="0">
                <a:solidFill>
                  <a:srgbClr val="505050"/>
                </a:solidFill>
                <a:latin typeface="Calibri"/>
              </a:defRPr>
            </a:pPr>
            <a:r>
              <a:t>Request volume, block rate,</a:t>
            </a:r>
            <a:br/>
            <a:r>
              <a:t>domain diversity</a:t>
            </a:r>
          </a:p>
        </p:txBody>
      </p:sp>
      <p:sp>
        <p:nvSpPr>
          <p:cNvPr id="35" name="Rounded Rectangle 34"/>
          <p:cNvSpPr/>
          <p:nvPr/>
        </p:nvSpPr>
        <p:spPr>
          <a:xfrm>
            <a:off x="8778240" y="1828800"/>
            <a:ext cx="1600200" cy="4206240"/>
          </a:xfrm>
          <a:prstGeom prst="roundRect">
            <a:avLst/>
          </a:prstGeom>
          <a:noFill/>
          <a:ln w="1905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778240" y="1828800"/>
            <a:ext cx="160020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23960" y="1965960"/>
            <a:ext cx="1508760" cy="640080"/>
          </a:xfrm>
          <a:prstGeom prst="rect">
            <a:avLst/>
          </a:prstGeom>
          <a:noFill/>
        </p:spPr>
        <p:txBody>
          <a:bodyPr wrap="square">
            <a:spAutoFit/>
          </a:bodyPr>
          <a:lstStyle/>
          <a:p>
            <a:pPr algn="ctr">
              <a:defRPr sz="1300" b="1">
                <a:solidFill>
                  <a:srgbClr val="0D1B2A"/>
                </a:solidFill>
                <a:latin typeface="Calibri"/>
              </a:defRPr>
            </a:pPr>
            <a:r>
              <a:t>Privilege Operations</a:t>
            </a:r>
          </a:p>
        </p:txBody>
      </p:sp>
      <p:sp>
        <p:nvSpPr>
          <p:cNvPr id="38" name="Rounded Rectangle 37"/>
          <p:cNvSpPr/>
          <p:nvPr/>
        </p:nvSpPr>
        <p:spPr>
          <a:xfrm>
            <a:off x="9052560" y="2651760"/>
            <a:ext cx="1051560" cy="384048"/>
          </a:xfrm>
          <a:prstGeom prst="round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1 feature</a:t>
            </a:r>
          </a:p>
        </p:txBody>
      </p:sp>
      <p:sp>
        <p:nvSpPr>
          <p:cNvPr id="39" name="Rectangle 38"/>
          <p:cNvSpPr/>
          <p:nvPr/>
        </p:nvSpPr>
        <p:spPr>
          <a:xfrm>
            <a:off x="896112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23960" y="3291840"/>
            <a:ext cx="1508760" cy="2560320"/>
          </a:xfrm>
          <a:prstGeom prst="rect">
            <a:avLst/>
          </a:prstGeom>
          <a:noFill/>
        </p:spPr>
        <p:txBody>
          <a:bodyPr wrap="square">
            <a:spAutoFit/>
          </a:bodyPr>
          <a:lstStyle/>
          <a:p>
            <a:pPr algn="ctr">
              <a:defRPr sz="1100" b="0">
                <a:solidFill>
                  <a:srgbClr val="505050"/>
                </a:solidFill>
                <a:latin typeface="Calibri"/>
              </a:defRPr>
            </a:pPr>
            <a:r>
              <a:t>Escalation events,</a:t>
            </a:r>
            <a:br/>
            <a:r>
              <a:t>admin action count</a:t>
            </a:r>
          </a:p>
        </p:txBody>
      </p:sp>
      <p:sp>
        <p:nvSpPr>
          <p:cNvPr id="41" name="Rounded Rectangle 40"/>
          <p:cNvSpPr/>
          <p:nvPr/>
        </p:nvSpPr>
        <p:spPr>
          <a:xfrm>
            <a:off x="10469880" y="1828800"/>
            <a:ext cx="1600200" cy="4206240"/>
          </a:xfrm>
          <a:prstGeom prst="roundRect">
            <a:avLst/>
          </a:prstGeom>
          <a:noFill/>
          <a:ln w="190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469880" y="1828800"/>
            <a:ext cx="1600200" cy="548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0" y="1965960"/>
            <a:ext cx="1508760" cy="640080"/>
          </a:xfrm>
          <a:prstGeom prst="rect">
            <a:avLst/>
          </a:prstGeom>
          <a:noFill/>
        </p:spPr>
        <p:txBody>
          <a:bodyPr wrap="square">
            <a:spAutoFit/>
          </a:bodyPr>
          <a:lstStyle/>
          <a:p>
            <a:pPr algn="ctr">
              <a:defRPr sz="1300" b="1">
                <a:solidFill>
                  <a:srgbClr val="0D1B2A"/>
                </a:solidFill>
                <a:latin typeface="Calibri"/>
              </a:defRPr>
            </a:pPr>
            <a:r>
              <a:t>Endpoint</a:t>
            </a:r>
          </a:p>
        </p:txBody>
      </p:sp>
      <p:sp>
        <p:nvSpPr>
          <p:cNvPr id="44" name="Rounded Rectangle 43"/>
          <p:cNvSpPr/>
          <p:nvPr/>
        </p:nvSpPr>
        <p:spPr>
          <a:xfrm>
            <a:off x="10744200" y="2651760"/>
            <a:ext cx="1051560" cy="384048"/>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1 feature</a:t>
            </a:r>
          </a:p>
        </p:txBody>
      </p:sp>
      <p:sp>
        <p:nvSpPr>
          <p:cNvPr id="45" name="Rectangle 44"/>
          <p:cNvSpPr/>
          <p:nvPr/>
        </p:nvSpPr>
        <p:spPr>
          <a:xfrm>
            <a:off x="10652760" y="3154680"/>
            <a:ext cx="12344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0" y="3291840"/>
            <a:ext cx="1508760" cy="2560320"/>
          </a:xfrm>
          <a:prstGeom prst="rect">
            <a:avLst/>
          </a:prstGeom>
          <a:noFill/>
        </p:spPr>
        <p:txBody>
          <a:bodyPr wrap="square">
            <a:spAutoFit/>
          </a:bodyPr>
          <a:lstStyle/>
          <a:p>
            <a:pPr algn="ctr">
              <a:defRPr sz="1100" b="0">
                <a:solidFill>
                  <a:srgbClr val="505050"/>
                </a:solidFill>
                <a:latin typeface="Calibri"/>
              </a:defRPr>
            </a:pPr>
            <a:r>
              <a:t>Admin actions on</a:t>
            </a:r>
            <a:br/>
            <a:r>
              <a:t>endpoint systems</a:t>
            </a:r>
          </a:p>
        </p:txBody>
      </p:sp>
      <p:sp>
        <p:nvSpPr>
          <p:cNvPr id="47" name="Rectangle 46"/>
          <p:cNvSpPr/>
          <p:nvPr/>
        </p:nvSpPr>
        <p:spPr>
          <a:xfrm>
            <a:off x="365760" y="6263640"/>
            <a:ext cx="114300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6309360"/>
            <a:ext cx="5486400" cy="320040"/>
          </a:xfrm>
          <a:prstGeom prst="rect">
            <a:avLst/>
          </a:prstGeom>
          <a:noFill/>
        </p:spPr>
        <p:txBody>
          <a:bodyPr wrap="square">
            <a:spAutoFit/>
          </a:bodyPr>
          <a:lstStyle/>
          <a:p>
            <a:pPr algn="l">
              <a:defRPr sz="1400" b="1">
                <a:solidFill>
                  <a:srgbClr val="0D1B2A"/>
                </a:solidFill>
                <a:latin typeface="Calibri"/>
              </a:defRPr>
            </a:pPr>
            <a:r>
              <a:t>7 log types  →  23 behavioral features  →  950 weekly vectors</a:t>
            </a:r>
          </a:p>
        </p:txBody>
      </p:sp>
      <p:sp>
        <p:nvSpPr>
          <p:cNvPr id="49" name="TextBox 48"/>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23 Behavioral Features — Complete Reference</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143000"/>
          <a:ext cx="11430000" cy="5074920"/>
        </p:xfrm>
        <a:graphic>
          <a:graphicData uri="http://schemas.openxmlformats.org/drawingml/2006/table">
            <a:tbl>
              <a:tblPr firstRow="1" bandRow="1">
                <a:tableStyleId>{5C22544A-7EE6-4342-B048-85BDC9FD1C3A}</a:tableStyleId>
              </a:tblPr>
              <a:tblGrid>
                <a:gridCol w="2651760"/>
                <a:gridCol w="2468880"/>
                <a:gridCol w="6309360"/>
              </a:tblGrid>
              <a:tr h="211455">
                <a:tc>
                  <a:txBody>
                    <a:bodyPr lIns="64008" rIns="64008" tIns="36576" bIns="36576"/>
                    <a:lstStyle/>
                    <a:p>
                      <a:pPr algn="ctr">
                        <a:defRPr sz="1300" b="1">
                          <a:solidFill>
                            <a:srgbClr val="FFFFFF"/>
                          </a:solidFill>
                          <a:latin typeface="Calibri"/>
                        </a:defRPr>
                      </a:pPr>
                      <a:r>
                        <a:t>Feature Name</a:t>
                      </a:r>
                    </a:p>
                  </a:txBody>
                  <a:tcPr anchor="ctr">
                    <a:solidFill>
                      <a:srgbClr val="0D1B2A"/>
                    </a:solidFill>
                  </a:tcPr>
                </a:tc>
                <a:tc>
                  <a:txBody>
                    <a:bodyPr lIns="64008" rIns="64008" tIns="36576" bIns="36576"/>
                    <a:lstStyle/>
                    <a:p>
                      <a:pPr algn="ctr">
                        <a:defRPr sz="1300" b="1">
                          <a:solidFill>
                            <a:srgbClr val="FFFFFF"/>
                          </a:solidFill>
                          <a:latin typeface="Calibri"/>
                        </a:defRPr>
                      </a:pPr>
                      <a:r>
                        <a:t>Source</a:t>
                      </a:r>
                    </a:p>
                  </a:txBody>
                  <a:tcPr anchor="ctr">
                    <a:solidFill>
                      <a:srgbClr val="0D1B2A"/>
                    </a:solidFill>
                  </a:tcPr>
                </a:tc>
                <a:tc>
                  <a:txBody>
                    <a:bodyPr lIns="64008" rIns="64008" tIns="36576" bIns="36576"/>
                    <a:lstStyle/>
                    <a:p>
                      <a:pPr algn="ctr">
                        <a:defRPr sz="1300" b="1">
                          <a:solidFill>
                            <a:srgbClr val="FFFFFF"/>
                          </a:solidFill>
                          <a:latin typeface="Calibri"/>
                        </a:defRPr>
                      </a:pPr>
                      <a:r>
                        <a:t>What It Captures</a:t>
                      </a:r>
                    </a:p>
                  </a:txBody>
                  <a:tcPr anchor="ctr">
                    <a:solidFill>
                      <a:srgbClr val="0D1B2A"/>
                    </a:solidFill>
                  </a:tcPr>
                </a:tc>
              </a:tr>
              <a:tr h="211455">
                <a:tc>
                  <a:txBody>
                    <a:bodyPr lIns="64008" rIns="64008" tIns="36576" bIns="36576"/>
                    <a:lstStyle/>
                    <a:p>
                      <a:pPr algn="l">
                        <a:defRPr sz="1100" b="0">
                          <a:solidFill>
                            <a:srgbClr val="0D1B2A"/>
                          </a:solidFill>
                          <a:latin typeface="Calibri"/>
                        </a:defRPr>
                      </a:pPr>
                      <a:r>
                        <a:t>auth_total</a:t>
                      </a:r>
                    </a:p>
                  </a:txBody>
                  <a:tcPr anchor="ctr">
                    <a:solidFill>
                      <a:srgbClr val="FFFFFF"/>
                    </a:solidFill>
                  </a:tcPr>
                </a:tc>
                <a:tc>
                  <a:txBody>
                    <a:bodyPr lIns="64008" rIns="64008" tIns="36576" bIns="36576"/>
                    <a:lstStyle/>
                    <a:p>
                      <a:pPr algn="ctr">
                        <a:defRPr sz="1100" b="0">
                          <a:solidFill>
                            <a:srgbClr val="0D1B2A"/>
                          </a:solidFill>
                          <a:latin typeface="Calibri"/>
                        </a:defRPr>
                      </a:pPr>
                      <a:r>
                        <a:t>Authentication</a:t>
                      </a:r>
                    </a:p>
                  </a:txBody>
                  <a:tcPr anchor="ctr">
                    <a:solidFill>
                      <a:srgbClr val="FFFFFF"/>
                    </a:solidFill>
                  </a:tcPr>
                </a:tc>
                <a:tc>
                  <a:txBody>
                    <a:bodyPr lIns="64008" rIns="64008" tIns="36576" bIns="36576"/>
                    <a:lstStyle/>
                    <a:p>
                      <a:pPr algn="ctr">
                        <a:defRPr sz="1100" b="0">
                          <a:solidFill>
                            <a:srgbClr val="0D1B2A"/>
                          </a:solidFill>
                          <a:latin typeface="Calibri"/>
                        </a:defRPr>
                      </a:pPr>
                      <a:r>
                        <a:t>Total authentication events per week</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auth_failures</a:t>
                      </a:r>
                    </a:p>
                  </a:txBody>
                  <a:tcPr anchor="ctr">
                    <a:solidFill>
                      <a:srgbClr val="F0F2F5"/>
                    </a:solidFill>
                  </a:tcPr>
                </a:tc>
                <a:tc>
                  <a:txBody>
                    <a:bodyPr lIns="64008" rIns="64008" tIns="36576" bIns="36576"/>
                    <a:lstStyle/>
                    <a:p>
                      <a:pPr algn="ctr">
                        <a:defRPr sz="1100" b="0">
                          <a:solidFill>
                            <a:srgbClr val="0D1B2A"/>
                          </a:solidFill>
                          <a:latin typeface="Calibri"/>
                        </a:defRPr>
                      </a:pPr>
                      <a:r>
                        <a:t>Authentication</a:t>
                      </a:r>
                    </a:p>
                  </a:txBody>
                  <a:tcPr anchor="ctr">
                    <a:solidFill>
                      <a:srgbClr val="F0F2F5"/>
                    </a:solidFill>
                  </a:tcPr>
                </a:tc>
                <a:tc>
                  <a:txBody>
                    <a:bodyPr lIns="64008" rIns="64008" tIns="36576" bIns="36576"/>
                    <a:lstStyle/>
                    <a:p>
                      <a:pPr algn="ctr">
                        <a:defRPr sz="1100" b="0">
                          <a:solidFill>
                            <a:srgbClr val="0D1B2A"/>
                          </a:solidFill>
                          <a:latin typeface="Calibri"/>
                        </a:defRPr>
                      </a:pPr>
                      <a:r>
                        <a:t>Count of failed authentication attempts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auth_failure_rate</a:t>
                      </a:r>
                    </a:p>
                  </a:txBody>
                  <a:tcPr anchor="ctr">
                    <a:solidFill>
                      <a:srgbClr val="FFFFFF"/>
                    </a:solidFill>
                  </a:tcPr>
                </a:tc>
                <a:tc>
                  <a:txBody>
                    <a:bodyPr lIns="64008" rIns="64008" tIns="36576" bIns="36576"/>
                    <a:lstStyle/>
                    <a:p>
                      <a:pPr algn="ctr">
                        <a:defRPr sz="1100" b="0">
                          <a:solidFill>
                            <a:srgbClr val="0D1B2A"/>
                          </a:solidFill>
                          <a:latin typeface="Calibri"/>
                        </a:defRPr>
                      </a:pPr>
                      <a:r>
                        <a:t>Authentication</a:t>
                      </a:r>
                    </a:p>
                  </a:txBody>
                  <a:tcPr anchor="ctr">
                    <a:solidFill>
                      <a:srgbClr val="FFFFFF"/>
                    </a:solidFill>
                  </a:tcPr>
                </a:tc>
                <a:tc>
                  <a:txBody>
                    <a:bodyPr lIns="64008" rIns="64008" tIns="36576" bIns="36576"/>
                    <a:lstStyle/>
                    <a:p>
                      <a:pPr algn="ctr">
                        <a:defRPr sz="1100" b="0">
                          <a:solidFill>
                            <a:srgbClr val="0D1B2A"/>
                          </a:solidFill>
                          <a:latin typeface="Calibri"/>
                        </a:defRPr>
                      </a:pPr>
                      <a:r>
                        <a:t>Ratio of failures to total auth events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auth_off_hours</a:t>
                      </a:r>
                    </a:p>
                  </a:txBody>
                  <a:tcPr anchor="ctr">
                    <a:solidFill>
                      <a:srgbClr val="F0F2F5"/>
                    </a:solidFill>
                  </a:tcPr>
                </a:tc>
                <a:tc>
                  <a:txBody>
                    <a:bodyPr lIns="64008" rIns="64008" tIns="36576" bIns="36576"/>
                    <a:lstStyle/>
                    <a:p>
                      <a:pPr algn="ctr">
                        <a:defRPr sz="1100" b="0">
                          <a:solidFill>
                            <a:srgbClr val="0D1B2A"/>
                          </a:solidFill>
                          <a:latin typeface="Calibri"/>
                        </a:defRPr>
                      </a:pPr>
                      <a:r>
                        <a:t>Authentication</a:t>
                      </a:r>
                    </a:p>
                  </a:txBody>
                  <a:tcPr anchor="ctr">
                    <a:solidFill>
                      <a:srgbClr val="F0F2F5"/>
                    </a:solidFill>
                  </a:tcPr>
                </a:tc>
                <a:tc>
                  <a:txBody>
                    <a:bodyPr lIns="64008" rIns="64008" tIns="36576" bIns="36576"/>
                    <a:lstStyle/>
                    <a:p>
                      <a:pPr algn="ctr">
                        <a:defRPr sz="1100" b="0">
                          <a:solidFill>
                            <a:srgbClr val="0D1B2A"/>
                          </a:solidFill>
                          <a:latin typeface="Calibri"/>
                        </a:defRPr>
                      </a:pPr>
                      <a:r>
                        <a:t>Auth events outside business hours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unique_auth_sources</a:t>
                      </a:r>
                    </a:p>
                  </a:txBody>
                  <a:tcPr anchor="ctr">
                    <a:solidFill>
                      <a:srgbClr val="FFFFFF"/>
                    </a:solidFill>
                  </a:tcPr>
                </a:tc>
                <a:tc>
                  <a:txBody>
                    <a:bodyPr lIns="64008" rIns="64008" tIns="36576" bIns="36576"/>
                    <a:lstStyle/>
                    <a:p>
                      <a:pPr algn="ctr">
                        <a:defRPr sz="1100" b="0">
                          <a:solidFill>
                            <a:srgbClr val="0D1B2A"/>
                          </a:solidFill>
                          <a:latin typeface="Calibri"/>
                        </a:defRPr>
                      </a:pPr>
                      <a:r>
                        <a:t>Authentication</a:t>
                      </a:r>
                    </a:p>
                  </a:txBody>
                  <a:tcPr anchor="ctr">
                    <a:solidFill>
                      <a:srgbClr val="FFFFFF"/>
                    </a:solidFill>
                  </a:tcPr>
                </a:tc>
                <a:tc>
                  <a:txBody>
                    <a:bodyPr lIns="64008" rIns="64008" tIns="36576" bIns="36576"/>
                    <a:lstStyle/>
                    <a:p>
                      <a:pPr algn="ctr">
                        <a:defRPr sz="1100" b="0">
                          <a:solidFill>
                            <a:srgbClr val="0D1B2A"/>
                          </a:solidFill>
                          <a:latin typeface="Calibri"/>
                        </a:defRPr>
                      </a:pPr>
                      <a:r>
                        <a:t>Distinct source IPs/devices used for auth</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file_total</a:t>
                      </a:r>
                    </a:p>
                  </a:txBody>
                  <a:tcPr anchor="ctr">
                    <a:solidFill>
                      <a:srgbClr val="F0F2F5"/>
                    </a:solidFill>
                  </a:tcPr>
                </a:tc>
                <a:tc>
                  <a:txBody>
                    <a:bodyPr lIns="64008" rIns="64008" tIns="36576" bIns="36576"/>
                    <a:lstStyle/>
                    <a:p>
                      <a:pPr algn="ctr">
                        <a:defRPr sz="1100" b="0">
                          <a:solidFill>
                            <a:srgbClr val="0D1B2A"/>
                          </a:solidFill>
                          <a:latin typeface="Calibri"/>
                        </a:defRPr>
                      </a:pPr>
                      <a:r>
                        <a:t>File Access</a:t>
                      </a:r>
                    </a:p>
                  </a:txBody>
                  <a:tcPr anchor="ctr">
                    <a:solidFill>
                      <a:srgbClr val="F0F2F5"/>
                    </a:solidFill>
                  </a:tcPr>
                </a:tc>
                <a:tc>
                  <a:txBody>
                    <a:bodyPr lIns="64008" rIns="64008" tIns="36576" bIns="36576"/>
                    <a:lstStyle/>
                    <a:p>
                      <a:pPr algn="ctr">
                        <a:defRPr sz="1100" b="0">
                          <a:solidFill>
                            <a:srgbClr val="0D1B2A"/>
                          </a:solidFill>
                          <a:latin typeface="Calibri"/>
                        </a:defRPr>
                      </a:pPr>
                      <a:r>
                        <a:t>Total file access events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files_restricted</a:t>
                      </a:r>
                    </a:p>
                  </a:txBody>
                  <a:tcPr anchor="ctr">
                    <a:solidFill>
                      <a:srgbClr val="FFFFFF"/>
                    </a:solidFill>
                  </a:tcPr>
                </a:tc>
                <a:tc>
                  <a:txBody>
                    <a:bodyPr lIns="64008" rIns="64008" tIns="36576" bIns="36576"/>
                    <a:lstStyle/>
                    <a:p>
                      <a:pPr algn="ctr">
                        <a:defRPr sz="1100" b="0">
                          <a:solidFill>
                            <a:srgbClr val="0D1B2A"/>
                          </a:solidFill>
                          <a:latin typeface="Calibri"/>
                        </a:defRPr>
                      </a:pPr>
                      <a:r>
                        <a:t>File Access</a:t>
                      </a:r>
                    </a:p>
                  </a:txBody>
                  <a:tcPr anchor="ctr">
                    <a:solidFill>
                      <a:srgbClr val="FFFFFF"/>
                    </a:solidFill>
                  </a:tcPr>
                </a:tc>
                <a:tc>
                  <a:txBody>
                    <a:bodyPr lIns="64008" rIns="64008" tIns="36576" bIns="36576"/>
                    <a:lstStyle/>
                    <a:p>
                      <a:pPr algn="ctr">
                        <a:defRPr sz="1100" b="0">
                          <a:solidFill>
                            <a:srgbClr val="0D1B2A"/>
                          </a:solidFill>
                          <a:latin typeface="Calibri"/>
                        </a:defRPr>
                      </a:pPr>
                      <a:r>
                        <a:t>Accesses to restricted/sensitive files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file_sensitivity_score</a:t>
                      </a:r>
                    </a:p>
                  </a:txBody>
                  <a:tcPr anchor="ctr">
                    <a:solidFill>
                      <a:srgbClr val="F0F2F5"/>
                    </a:solidFill>
                  </a:tcPr>
                </a:tc>
                <a:tc>
                  <a:txBody>
                    <a:bodyPr lIns="64008" rIns="64008" tIns="36576" bIns="36576"/>
                    <a:lstStyle/>
                    <a:p>
                      <a:pPr algn="ctr">
                        <a:defRPr sz="1100" b="0">
                          <a:solidFill>
                            <a:srgbClr val="0D1B2A"/>
                          </a:solidFill>
                          <a:latin typeface="Calibri"/>
                        </a:defRPr>
                      </a:pPr>
                      <a:r>
                        <a:t>File Access</a:t>
                      </a:r>
                    </a:p>
                  </a:txBody>
                  <a:tcPr anchor="ctr">
                    <a:solidFill>
                      <a:srgbClr val="F0F2F5"/>
                    </a:solidFill>
                  </a:tcPr>
                </a:tc>
                <a:tc>
                  <a:txBody>
                    <a:bodyPr lIns="64008" rIns="64008" tIns="36576" bIns="36576"/>
                    <a:lstStyle/>
                    <a:p>
                      <a:pPr algn="ctr">
                        <a:defRPr sz="1100" b="0">
                          <a:solidFill>
                            <a:srgbClr val="0D1B2A"/>
                          </a:solidFill>
                          <a:latin typeface="Calibri"/>
                        </a:defRPr>
                      </a:pPr>
                      <a:r>
                        <a:t>Weighted score of file classification levels accessed</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unique_file_paths</a:t>
                      </a:r>
                    </a:p>
                  </a:txBody>
                  <a:tcPr anchor="ctr">
                    <a:solidFill>
                      <a:srgbClr val="FFFFFF"/>
                    </a:solidFill>
                  </a:tcPr>
                </a:tc>
                <a:tc>
                  <a:txBody>
                    <a:bodyPr lIns="64008" rIns="64008" tIns="36576" bIns="36576"/>
                    <a:lstStyle/>
                    <a:p>
                      <a:pPr algn="ctr">
                        <a:defRPr sz="1100" b="0">
                          <a:solidFill>
                            <a:srgbClr val="0D1B2A"/>
                          </a:solidFill>
                          <a:latin typeface="Calibri"/>
                        </a:defRPr>
                      </a:pPr>
                      <a:r>
                        <a:t>File Access</a:t>
                      </a:r>
                    </a:p>
                  </a:txBody>
                  <a:tcPr anchor="ctr">
                    <a:solidFill>
                      <a:srgbClr val="FFFFFF"/>
                    </a:solidFill>
                  </a:tcPr>
                </a:tc>
                <a:tc>
                  <a:txBody>
                    <a:bodyPr lIns="64008" rIns="64008" tIns="36576" bIns="36576"/>
                    <a:lstStyle/>
                    <a:p>
                      <a:pPr algn="ctr">
                        <a:defRPr sz="1100" b="0">
                          <a:solidFill>
                            <a:srgbClr val="0D1B2A"/>
                          </a:solidFill>
                          <a:latin typeface="Calibri"/>
                        </a:defRPr>
                      </a:pPr>
                      <a:r>
                        <a:t>Number of distinct directory paths visited</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bytes_out</a:t>
                      </a:r>
                    </a:p>
                  </a:txBody>
                  <a:tcPr anchor="ctr">
                    <a:solidFill>
                      <a:srgbClr val="F0F2F5"/>
                    </a:solidFill>
                  </a:tcPr>
                </a:tc>
                <a:tc>
                  <a:txBody>
                    <a:bodyPr lIns="64008" rIns="64008" tIns="36576" bIns="36576"/>
                    <a:lstStyle/>
                    <a:p>
                      <a:pPr algn="ctr">
                        <a:defRPr sz="1100" b="0">
                          <a:solidFill>
                            <a:srgbClr val="0D1B2A"/>
                          </a:solidFill>
                          <a:latin typeface="Calibri"/>
                        </a:defRPr>
                      </a:pPr>
                      <a:r>
                        <a:t>Network</a:t>
                      </a:r>
                    </a:p>
                  </a:txBody>
                  <a:tcPr anchor="ctr">
                    <a:solidFill>
                      <a:srgbClr val="F0F2F5"/>
                    </a:solidFill>
                  </a:tcPr>
                </a:tc>
                <a:tc>
                  <a:txBody>
                    <a:bodyPr lIns="64008" rIns="64008" tIns="36576" bIns="36576"/>
                    <a:lstStyle/>
                    <a:p>
                      <a:pPr algn="ctr">
                        <a:defRPr sz="1100" b="0">
                          <a:solidFill>
                            <a:srgbClr val="0D1B2A"/>
                          </a:solidFill>
                          <a:latin typeface="Calibri"/>
                        </a:defRPr>
                      </a:pPr>
                      <a:r>
                        <a:t>Total outbound data volume (bytes)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bytes_in</a:t>
                      </a:r>
                    </a:p>
                  </a:txBody>
                  <a:tcPr anchor="ctr">
                    <a:solidFill>
                      <a:srgbClr val="FFFFFF"/>
                    </a:solidFill>
                  </a:tcPr>
                </a:tc>
                <a:tc>
                  <a:txBody>
                    <a:bodyPr lIns="64008" rIns="64008" tIns="36576" bIns="36576"/>
                    <a:lstStyle/>
                    <a:p>
                      <a:pPr algn="ctr">
                        <a:defRPr sz="1100" b="0">
                          <a:solidFill>
                            <a:srgbClr val="0D1B2A"/>
                          </a:solidFill>
                          <a:latin typeface="Calibri"/>
                        </a:defRPr>
                      </a:pPr>
                      <a:r>
                        <a:t>Network</a:t>
                      </a:r>
                    </a:p>
                  </a:txBody>
                  <a:tcPr anchor="ctr">
                    <a:solidFill>
                      <a:srgbClr val="FFFFFF"/>
                    </a:solidFill>
                  </a:tcPr>
                </a:tc>
                <a:tc>
                  <a:txBody>
                    <a:bodyPr lIns="64008" rIns="64008" tIns="36576" bIns="36576"/>
                    <a:lstStyle/>
                    <a:p>
                      <a:pPr algn="ctr">
                        <a:defRPr sz="1100" b="0">
                          <a:solidFill>
                            <a:srgbClr val="0D1B2A"/>
                          </a:solidFill>
                          <a:latin typeface="Calibri"/>
                        </a:defRPr>
                      </a:pPr>
                      <a:r>
                        <a:t>Total inbound data volume (bytes)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dns_unique_domains</a:t>
                      </a:r>
                    </a:p>
                  </a:txBody>
                  <a:tcPr anchor="ctr">
                    <a:solidFill>
                      <a:srgbClr val="F0F2F5"/>
                    </a:solidFill>
                  </a:tcPr>
                </a:tc>
                <a:tc>
                  <a:txBody>
                    <a:bodyPr lIns="64008" rIns="64008" tIns="36576" bIns="36576"/>
                    <a:lstStyle/>
                    <a:p>
                      <a:pPr algn="ctr">
                        <a:defRPr sz="1100" b="0">
                          <a:solidFill>
                            <a:srgbClr val="0D1B2A"/>
                          </a:solidFill>
                          <a:latin typeface="Calibri"/>
                        </a:defRPr>
                      </a:pPr>
                      <a:r>
                        <a:t>Network</a:t>
                      </a:r>
                    </a:p>
                  </a:txBody>
                  <a:tcPr anchor="ctr">
                    <a:solidFill>
                      <a:srgbClr val="F0F2F5"/>
                    </a:solidFill>
                  </a:tcPr>
                </a:tc>
                <a:tc>
                  <a:txBody>
                    <a:bodyPr lIns="64008" rIns="64008" tIns="36576" bIns="36576"/>
                    <a:lstStyle/>
                    <a:p>
                      <a:pPr algn="ctr">
                        <a:defRPr sz="1100" b="0">
                          <a:solidFill>
                            <a:srgbClr val="0D1B2A"/>
                          </a:solidFill>
                          <a:latin typeface="Calibri"/>
                        </a:defRPr>
                      </a:pPr>
                      <a:r>
                        <a:t>Distinct DNS domains resolved</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connections_external</a:t>
                      </a:r>
                    </a:p>
                  </a:txBody>
                  <a:tcPr anchor="ctr">
                    <a:solidFill>
                      <a:srgbClr val="FFFFFF"/>
                    </a:solidFill>
                  </a:tcPr>
                </a:tc>
                <a:tc>
                  <a:txBody>
                    <a:bodyPr lIns="64008" rIns="64008" tIns="36576" bIns="36576"/>
                    <a:lstStyle/>
                    <a:p>
                      <a:pPr algn="ctr">
                        <a:defRPr sz="1100" b="0">
                          <a:solidFill>
                            <a:srgbClr val="0D1B2A"/>
                          </a:solidFill>
                          <a:latin typeface="Calibri"/>
                        </a:defRPr>
                      </a:pPr>
                      <a:r>
                        <a:t>Network</a:t>
                      </a:r>
                    </a:p>
                  </a:txBody>
                  <a:tcPr anchor="ctr">
                    <a:solidFill>
                      <a:srgbClr val="FFFFFF"/>
                    </a:solidFill>
                  </a:tcPr>
                </a:tc>
                <a:tc>
                  <a:txBody>
                    <a:bodyPr lIns="64008" rIns="64008" tIns="36576" bIns="36576"/>
                    <a:lstStyle/>
                    <a:p>
                      <a:pPr algn="ctr">
                        <a:defRPr sz="1100" b="0">
                          <a:solidFill>
                            <a:srgbClr val="0D1B2A"/>
                          </a:solidFill>
                          <a:latin typeface="Calibri"/>
                        </a:defRPr>
                      </a:pPr>
                      <a:r>
                        <a:t>External (non-internal) network connections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avg_session_duration</a:t>
                      </a:r>
                    </a:p>
                  </a:txBody>
                  <a:tcPr anchor="ctr">
                    <a:solidFill>
                      <a:srgbClr val="F0F2F5"/>
                    </a:solidFill>
                  </a:tcPr>
                </a:tc>
                <a:tc>
                  <a:txBody>
                    <a:bodyPr lIns="64008" rIns="64008" tIns="36576" bIns="36576"/>
                    <a:lstStyle/>
                    <a:p>
                      <a:pPr algn="ctr">
                        <a:defRPr sz="1100" b="0">
                          <a:solidFill>
                            <a:srgbClr val="0D1B2A"/>
                          </a:solidFill>
                          <a:latin typeface="Calibri"/>
                        </a:defRPr>
                      </a:pPr>
                      <a:r>
                        <a:t>Network</a:t>
                      </a:r>
                    </a:p>
                  </a:txBody>
                  <a:tcPr anchor="ctr">
                    <a:solidFill>
                      <a:srgbClr val="F0F2F5"/>
                    </a:solidFill>
                  </a:tcPr>
                </a:tc>
                <a:tc>
                  <a:txBody>
                    <a:bodyPr lIns="64008" rIns="64008" tIns="36576" bIns="36576"/>
                    <a:lstStyle/>
                    <a:p>
                      <a:pPr algn="ctr">
                        <a:defRPr sz="1100" b="0">
                          <a:solidFill>
                            <a:srgbClr val="0D1B2A"/>
                          </a:solidFill>
                          <a:latin typeface="Calibri"/>
                        </a:defRPr>
                      </a:pPr>
                      <a:r>
                        <a:t>Mean session length in seconds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emails_sent</a:t>
                      </a:r>
                    </a:p>
                  </a:txBody>
                  <a:tcPr anchor="ctr">
                    <a:solidFill>
                      <a:srgbClr val="FFFFFF"/>
                    </a:solidFill>
                  </a:tcPr>
                </a:tc>
                <a:tc>
                  <a:txBody>
                    <a:bodyPr lIns="64008" rIns="64008" tIns="36576" bIns="36576"/>
                    <a:lstStyle/>
                    <a:p>
                      <a:pPr algn="ctr">
                        <a:defRPr sz="1100" b="0">
                          <a:solidFill>
                            <a:srgbClr val="0D1B2A"/>
                          </a:solidFill>
                          <a:latin typeface="Calibri"/>
                        </a:defRPr>
                      </a:pPr>
                      <a:r>
                        <a:t>Email</a:t>
                      </a:r>
                    </a:p>
                  </a:txBody>
                  <a:tcPr anchor="ctr">
                    <a:solidFill>
                      <a:srgbClr val="FFFFFF"/>
                    </a:solidFill>
                  </a:tcPr>
                </a:tc>
                <a:tc>
                  <a:txBody>
                    <a:bodyPr lIns="64008" rIns="64008" tIns="36576" bIns="36576"/>
                    <a:lstStyle/>
                    <a:p>
                      <a:pPr algn="ctr">
                        <a:defRPr sz="1100" b="0">
                          <a:solidFill>
                            <a:srgbClr val="0D1B2A"/>
                          </a:solidFill>
                          <a:latin typeface="Calibri"/>
                        </a:defRPr>
                      </a:pPr>
                      <a:r>
                        <a:t>Total outbound emails sent</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emails_external</a:t>
                      </a:r>
                    </a:p>
                  </a:txBody>
                  <a:tcPr anchor="ctr">
                    <a:solidFill>
                      <a:srgbClr val="F0F2F5"/>
                    </a:solidFill>
                  </a:tcPr>
                </a:tc>
                <a:tc>
                  <a:txBody>
                    <a:bodyPr lIns="64008" rIns="64008" tIns="36576" bIns="36576"/>
                    <a:lstStyle/>
                    <a:p>
                      <a:pPr algn="ctr">
                        <a:defRPr sz="1100" b="0">
                          <a:solidFill>
                            <a:srgbClr val="0D1B2A"/>
                          </a:solidFill>
                          <a:latin typeface="Calibri"/>
                        </a:defRPr>
                      </a:pPr>
                      <a:r>
                        <a:t>Email</a:t>
                      </a:r>
                    </a:p>
                  </a:txBody>
                  <a:tcPr anchor="ctr">
                    <a:solidFill>
                      <a:srgbClr val="F0F2F5"/>
                    </a:solidFill>
                  </a:tcPr>
                </a:tc>
                <a:tc>
                  <a:txBody>
                    <a:bodyPr lIns="64008" rIns="64008" tIns="36576" bIns="36576"/>
                    <a:lstStyle/>
                    <a:p>
                      <a:pPr algn="ctr">
                        <a:defRPr sz="1100" b="0">
                          <a:solidFill>
                            <a:srgbClr val="0D1B2A"/>
                          </a:solidFill>
                          <a:latin typeface="Calibri"/>
                        </a:defRPr>
                      </a:pPr>
                      <a:r>
                        <a:t>Emails sent to external recipients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attachment_count</a:t>
                      </a:r>
                    </a:p>
                  </a:txBody>
                  <a:tcPr anchor="ctr">
                    <a:solidFill>
                      <a:srgbClr val="FFFFFF"/>
                    </a:solidFill>
                  </a:tcPr>
                </a:tc>
                <a:tc>
                  <a:txBody>
                    <a:bodyPr lIns="64008" rIns="64008" tIns="36576" bIns="36576"/>
                    <a:lstStyle/>
                    <a:p>
                      <a:pPr algn="ctr">
                        <a:defRPr sz="1100" b="0">
                          <a:solidFill>
                            <a:srgbClr val="0D1B2A"/>
                          </a:solidFill>
                          <a:latin typeface="Calibri"/>
                        </a:defRPr>
                      </a:pPr>
                      <a:r>
                        <a:t>Email</a:t>
                      </a:r>
                    </a:p>
                  </a:txBody>
                  <a:tcPr anchor="ctr">
                    <a:solidFill>
                      <a:srgbClr val="FFFFFF"/>
                    </a:solidFill>
                  </a:tcPr>
                </a:tc>
                <a:tc>
                  <a:txBody>
                    <a:bodyPr lIns="64008" rIns="64008" tIns="36576" bIns="36576"/>
                    <a:lstStyle/>
                    <a:p>
                      <a:pPr algn="ctr">
                        <a:defRPr sz="1100" b="0">
                          <a:solidFill>
                            <a:srgbClr val="0D1B2A"/>
                          </a:solidFill>
                          <a:latin typeface="Calibri"/>
                        </a:defRPr>
                      </a:pPr>
                      <a:r>
                        <a:t>Emails containing attachments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emails_with_large_attachments</a:t>
                      </a:r>
                    </a:p>
                  </a:txBody>
                  <a:tcPr anchor="ctr">
                    <a:solidFill>
                      <a:srgbClr val="F0F2F5"/>
                    </a:solidFill>
                  </a:tcPr>
                </a:tc>
                <a:tc>
                  <a:txBody>
                    <a:bodyPr lIns="64008" rIns="64008" tIns="36576" bIns="36576"/>
                    <a:lstStyle/>
                    <a:p>
                      <a:pPr algn="ctr">
                        <a:defRPr sz="1100" b="0">
                          <a:solidFill>
                            <a:srgbClr val="0D1B2A"/>
                          </a:solidFill>
                          <a:latin typeface="Calibri"/>
                        </a:defRPr>
                      </a:pPr>
                      <a:r>
                        <a:t>Email</a:t>
                      </a:r>
                    </a:p>
                  </a:txBody>
                  <a:tcPr anchor="ctr">
                    <a:solidFill>
                      <a:srgbClr val="F0F2F5"/>
                    </a:solidFill>
                  </a:tcPr>
                </a:tc>
                <a:tc>
                  <a:txBody>
                    <a:bodyPr lIns="64008" rIns="64008" tIns="36576" bIns="36576"/>
                    <a:lstStyle/>
                    <a:p>
                      <a:pPr algn="ctr">
                        <a:defRPr sz="1100" b="0">
                          <a:solidFill>
                            <a:srgbClr val="0D1B2A"/>
                          </a:solidFill>
                          <a:latin typeface="Calibri"/>
                        </a:defRPr>
                      </a:pPr>
                      <a:r>
                        <a:t>Emails with attachments above size threshold</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web_requests</a:t>
                      </a:r>
                    </a:p>
                  </a:txBody>
                  <a:tcPr anchor="ctr">
                    <a:solidFill>
                      <a:srgbClr val="FFFFFF"/>
                    </a:solidFill>
                  </a:tcPr>
                </a:tc>
                <a:tc>
                  <a:txBody>
                    <a:bodyPr lIns="64008" rIns="64008" tIns="36576" bIns="36576"/>
                    <a:lstStyle/>
                    <a:p>
                      <a:pPr algn="ctr">
                        <a:defRPr sz="1100" b="0">
                          <a:solidFill>
                            <a:srgbClr val="0D1B2A"/>
                          </a:solidFill>
                          <a:latin typeface="Calibri"/>
                        </a:defRPr>
                      </a:pPr>
                      <a:r>
                        <a:t>Web Proxy</a:t>
                      </a:r>
                    </a:p>
                  </a:txBody>
                  <a:tcPr anchor="ctr">
                    <a:solidFill>
                      <a:srgbClr val="FFFFFF"/>
                    </a:solidFill>
                  </a:tcPr>
                </a:tc>
                <a:tc>
                  <a:txBody>
                    <a:bodyPr lIns="64008" rIns="64008" tIns="36576" bIns="36576"/>
                    <a:lstStyle/>
                    <a:p>
                      <a:pPr algn="ctr">
                        <a:defRPr sz="1100" b="0">
                          <a:solidFill>
                            <a:srgbClr val="0D1B2A"/>
                          </a:solidFill>
                          <a:latin typeface="Calibri"/>
                        </a:defRPr>
                      </a:pPr>
                      <a:r>
                        <a:t>Total web proxy requests</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web_blocked</a:t>
                      </a:r>
                    </a:p>
                  </a:txBody>
                  <a:tcPr anchor="ctr">
                    <a:solidFill>
                      <a:srgbClr val="F0F2F5"/>
                    </a:solidFill>
                  </a:tcPr>
                </a:tc>
                <a:tc>
                  <a:txBody>
                    <a:bodyPr lIns="64008" rIns="64008" tIns="36576" bIns="36576"/>
                    <a:lstStyle/>
                    <a:p>
                      <a:pPr algn="ctr">
                        <a:defRPr sz="1100" b="0">
                          <a:solidFill>
                            <a:srgbClr val="0D1B2A"/>
                          </a:solidFill>
                          <a:latin typeface="Calibri"/>
                        </a:defRPr>
                      </a:pPr>
                      <a:r>
                        <a:t>Web Proxy</a:t>
                      </a:r>
                    </a:p>
                  </a:txBody>
                  <a:tcPr anchor="ctr">
                    <a:solidFill>
                      <a:srgbClr val="F0F2F5"/>
                    </a:solidFill>
                  </a:tcPr>
                </a:tc>
                <a:tc>
                  <a:txBody>
                    <a:bodyPr lIns="64008" rIns="64008" tIns="36576" bIns="36576"/>
                    <a:lstStyle/>
                    <a:p>
                      <a:pPr algn="ctr">
                        <a:defRPr sz="1100" b="0">
                          <a:solidFill>
                            <a:srgbClr val="0D1B2A"/>
                          </a:solidFill>
                          <a:latin typeface="Calibri"/>
                        </a:defRPr>
                      </a:pPr>
                      <a:r>
                        <a:t>Requests blocked by proxy policy</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unique_domains_visited</a:t>
                      </a:r>
                    </a:p>
                  </a:txBody>
                  <a:tcPr anchor="ctr">
                    <a:solidFill>
                      <a:srgbClr val="FFFFFF"/>
                    </a:solidFill>
                  </a:tcPr>
                </a:tc>
                <a:tc>
                  <a:txBody>
                    <a:bodyPr lIns="64008" rIns="64008" tIns="36576" bIns="36576"/>
                    <a:lstStyle/>
                    <a:p>
                      <a:pPr algn="ctr">
                        <a:defRPr sz="1100" b="0">
                          <a:solidFill>
                            <a:srgbClr val="0D1B2A"/>
                          </a:solidFill>
                          <a:latin typeface="Calibri"/>
                        </a:defRPr>
                      </a:pPr>
                      <a:r>
                        <a:t>Web Proxy</a:t>
                      </a:r>
                    </a:p>
                  </a:txBody>
                  <a:tcPr anchor="ctr">
                    <a:solidFill>
                      <a:srgbClr val="FFFFFF"/>
                    </a:solidFill>
                  </a:tcPr>
                </a:tc>
                <a:tc>
                  <a:txBody>
                    <a:bodyPr lIns="64008" rIns="64008" tIns="36576" bIns="36576"/>
                    <a:lstStyle/>
                    <a:p>
                      <a:pPr algn="ctr">
                        <a:defRPr sz="1100" b="0">
                          <a:solidFill>
                            <a:srgbClr val="0D1B2A"/>
                          </a:solidFill>
                          <a:latin typeface="Calibri"/>
                        </a:defRPr>
                      </a:pPr>
                      <a:r>
                        <a:t>Distinct domains accessed via proxy</a:t>
                      </a:r>
                    </a:p>
                  </a:txBody>
                  <a:tcPr anchor="ctr">
                    <a:solidFill>
                      <a:srgbClr val="FFFFFF"/>
                    </a:solidFill>
                  </a:tcPr>
                </a:tc>
              </a:tr>
              <a:tr h="211455">
                <a:tc>
                  <a:txBody>
                    <a:bodyPr lIns="64008" rIns="64008" tIns="36576" bIns="36576"/>
                    <a:lstStyle/>
                    <a:p>
                      <a:pPr algn="l">
                        <a:defRPr sz="1100" b="0">
                          <a:solidFill>
                            <a:srgbClr val="0D1B2A"/>
                          </a:solidFill>
                          <a:latin typeface="Calibri"/>
                        </a:defRPr>
                      </a:pPr>
                      <a:r>
                        <a:t>privilege_escalations</a:t>
                      </a:r>
                    </a:p>
                  </a:txBody>
                  <a:tcPr anchor="ctr">
                    <a:solidFill>
                      <a:srgbClr val="F0F2F5"/>
                    </a:solidFill>
                  </a:tcPr>
                </a:tc>
                <a:tc>
                  <a:txBody>
                    <a:bodyPr lIns="64008" rIns="64008" tIns="36576" bIns="36576"/>
                    <a:lstStyle/>
                    <a:p>
                      <a:pPr algn="ctr">
                        <a:defRPr sz="1100" b="0">
                          <a:solidFill>
                            <a:srgbClr val="0D1B2A"/>
                          </a:solidFill>
                          <a:latin typeface="Calibri"/>
                        </a:defRPr>
                      </a:pPr>
                      <a:r>
                        <a:t>Privilege Operations</a:t>
                      </a:r>
                    </a:p>
                  </a:txBody>
                  <a:tcPr anchor="ctr">
                    <a:solidFill>
                      <a:srgbClr val="F0F2F5"/>
                    </a:solidFill>
                  </a:tcPr>
                </a:tc>
                <a:tc>
                  <a:txBody>
                    <a:bodyPr lIns="64008" rIns="64008" tIns="36576" bIns="36576"/>
                    <a:lstStyle/>
                    <a:p>
                      <a:pPr algn="ctr">
                        <a:defRPr sz="1100" b="0">
                          <a:solidFill>
                            <a:srgbClr val="0D1B2A"/>
                          </a:solidFill>
                          <a:latin typeface="Calibri"/>
                        </a:defRPr>
                      </a:pPr>
                      <a:r>
                        <a:t>Count of privilege escalation events</a:t>
                      </a:r>
                    </a:p>
                  </a:txBody>
                  <a:tcPr anchor="ctr">
                    <a:solidFill>
                      <a:srgbClr val="F0F2F5"/>
                    </a:solidFill>
                  </a:tcPr>
                </a:tc>
              </a:tr>
              <a:tr h="211455">
                <a:tc>
                  <a:txBody>
                    <a:bodyPr lIns="64008" rIns="64008" tIns="36576" bIns="36576"/>
                    <a:lstStyle/>
                    <a:p>
                      <a:pPr algn="l">
                        <a:defRPr sz="1100" b="0">
                          <a:solidFill>
                            <a:srgbClr val="0D1B2A"/>
                          </a:solidFill>
                          <a:latin typeface="Calibri"/>
                        </a:defRPr>
                      </a:pPr>
                      <a:r>
                        <a:t>admin_actions</a:t>
                      </a:r>
                    </a:p>
                  </a:txBody>
                  <a:tcPr anchor="ctr">
                    <a:solidFill>
                      <a:srgbClr val="FFFFFF"/>
                    </a:solidFill>
                  </a:tcPr>
                </a:tc>
                <a:tc>
                  <a:txBody>
                    <a:bodyPr lIns="64008" rIns="64008" tIns="36576" bIns="36576"/>
                    <a:lstStyle/>
                    <a:p>
                      <a:pPr algn="ctr">
                        <a:defRPr sz="1100" b="0">
                          <a:solidFill>
                            <a:srgbClr val="0D1B2A"/>
                          </a:solidFill>
                          <a:latin typeface="Calibri"/>
                        </a:defRPr>
                      </a:pPr>
                      <a:r>
                        <a:t>Endpoint/Privilege</a:t>
                      </a:r>
                    </a:p>
                  </a:txBody>
                  <a:tcPr anchor="ctr">
                    <a:solidFill>
                      <a:srgbClr val="FFFFFF"/>
                    </a:solidFill>
                  </a:tcPr>
                </a:tc>
                <a:tc>
                  <a:txBody>
                    <a:bodyPr lIns="64008" rIns="64008" tIns="36576" bIns="36576"/>
                    <a:lstStyle/>
                    <a:p>
                      <a:pPr algn="ctr">
                        <a:defRPr sz="1100" b="0">
                          <a:solidFill>
                            <a:srgbClr val="0D1B2A"/>
                          </a:solidFill>
                          <a:latin typeface="Calibri"/>
                        </a:defRPr>
                      </a:pPr>
                      <a:r>
                        <a:t>Administrative actions performed</a:t>
                      </a:r>
                    </a:p>
                  </a:txBody>
                  <a:tcPr anchor="ctr">
                    <a:solidFill>
                      <a:srgbClr val="FFFFFF"/>
                    </a:solidFill>
                  </a:tcPr>
                </a:tc>
              </a:tr>
            </a:tbl>
          </a:graphicData>
        </a:graphic>
      </p:graphicFrame>
      <p:sp>
        <p:nvSpPr>
          <p:cNvPr id="5" name="TextBox 4"/>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Injected Attack Scenarios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65760"/>
          </a:xfrm>
          <a:prstGeom prst="rect">
            <a:avLst/>
          </a:prstGeom>
          <a:noFill/>
        </p:spPr>
        <p:txBody>
          <a:bodyPr wrap="square">
            <a:spAutoFit/>
          </a:bodyPr>
          <a:lstStyle/>
          <a:p>
            <a:pPr algn="l">
              <a:defRPr sz="1500" b="0">
                <a:solidFill>
                  <a:srgbClr val="505050"/>
                </a:solidFill>
                <a:latin typeface="Calibri"/>
              </a:defRPr>
            </a:pPr>
            <a:r>
              <a:t>Four attack campaigns injected into 50-user population. Attack events = 0.05% of total telemetry volume.</a:t>
            </a:r>
          </a:p>
        </p:txBody>
      </p:sp>
      <p:sp>
        <p:nvSpPr>
          <p:cNvPr id="5" name="Rounded Rectangle 4"/>
          <p:cNvSpPr/>
          <p:nvPr/>
        </p:nvSpPr>
        <p:spPr>
          <a:xfrm>
            <a:off x="274320" y="1600200"/>
            <a:ext cx="5669280" cy="233172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600200"/>
            <a:ext cx="566928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673352"/>
            <a:ext cx="5394960" cy="347472"/>
          </a:xfrm>
          <a:prstGeom prst="rect">
            <a:avLst/>
          </a:prstGeom>
          <a:noFill/>
        </p:spPr>
        <p:txBody>
          <a:bodyPr wrap="square">
            <a:spAutoFit/>
          </a:bodyPr>
          <a:lstStyle/>
          <a:p>
            <a:pPr algn="l">
              <a:defRPr sz="1500" b="1">
                <a:solidFill>
                  <a:srgbClr val="C0392B"/>
                </a:solidFill>
                <a:latin typeface="Calibri"/>
              </a:defRPr>
            </a:pPr>
            <a:r>
              <a:t>USR-156 — Insider Threat</a:t>
            </a:r>
          </a:p>
        </p:txBody>
      </p:sp>
      <p:sp>
        <p:nvSpPr>
          <p:cNvPr id="8" name="TextBox 7"/>
          <p:cNvSpPr txBox="1"/>
          <p:nvPr/>
        </p:nvSpPr>
        <p:spPr>
          <a:xfrm>
            <a:off x="411480" y="1984248"/>
            <a:ext cx="5394960" cy="274320"/>
          </a:xfrm>
          <a:prstGeom prst="rect">
            <a:avLst/>
          </a:prstGeom>
          <a:noFill/>
        </p:spPr>
        <p:txBody>
          <a:bodyPr wrap="square">
            <a:spAutoFit/>
          </a:bodyPr>
          <a:lstStyle/>
          <a:p>
            <a:pPr algn="l">
              <a:defRPr sz="1100" b="1">
                <a:solidFill>
                  <a:srgbClr val="0D1B2A"/>
                </a:solidFill>
                <a:latin typeface="Calibri"/>
              </a:defRPr>
            </a:pPr>
            <a:r>
              <a:t>8-Month Escalation  |  Mar 2025</a:t>
            </a:r>
          </a:p>
        </p:txBody>
      </p:sp>
      <p:sp>
        <p:nvSpPr>
          <p:cNvPr id="9" name="Rectangle 8"/>
          <p:cNvSpPr/>
          <p:nvPr/>
        </p:nvSpPr>
        <p:spPr>
          <a:xfrm>
            <a:off x="548640" y="225856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13432"/>
            <a:ext cx="1097280" cy="256032"/>
          </a:xfrm>
          <a:prstGeom prst="rect">
            <a:avLst/>
          </a:prstGeom>
          <a:noFill/>
        </p:spPr>
        <p:txBody>
          <a:bodyPr wrap="square">
            <a:spAutoFit/>
          </a:bodyPr>
          <a:lstStyle/>
          <a:p>
            <a:pPr algn="l">
              <a:defRPr sz="1000" b="1">
                <a:solidFill>
                  <a:srgbClr val="C0392B"/>
                </a:solidFill>
                <a:latin typeface="Calibri"/>
              </a:defRPr>
            </a:pPr>
            <a:r>
              <a:t>Phase 1</a:t>
            </a:r>
          </a:p>
        </p:txBody>
      </p:sp>
      <p:sp>
        <p:nvSpPr>
          <p:cNvPr id="11" name="TextBox 10"/>
          <p:cNvSpPr txBox="1"/>
          <p:nvPr/>
        </p:nvSpPr>
        <p:spPr>
          <a:xfrm>
            <a:off x="1554480" y="2313432"/>
            <a:ext cx="4206240" cy="256032"/>
          </a:xfrm>
          <a:prstGeom prst="rect">
            <a:avLst/>
          </a:prstGeom>
          <a:noFill/>
        </p:spPr>
        <p:txBody>
          <a:bodyPr wrap="square">
            <a:spAutoFit/>
          </a:bodyPr>
          <a:lstStyle/>
          <a:p>
            <a:pPr algn="l">
              <a:defRPr sz="1000" b="0">
                <a:solidFill>
                  <a:srgbClr val="505050"/>
                </a:solidFill>
                <a:latin typeface="Calibri"/>
              </a:defRPr>
            </a:pPr>
            <a:r>
              <a:t>Subtle mood shift, off-hours increase</a:t>
            </a:r>
          </a:p>
        </p:txBody>
      </p:sp>
      <p:sp>
        <p:nvSpPr>
          <p:cNvPr id="12" name="TextBox 11"/>
          <p:cNvSpPr txBox="1"/>
          <p:nvPr/>
        </p:nvSpPr>
        <p:spPr>
          <a:xfrm>
            <a:off x="457200" y="2569464"/>
            <a:ext cx="1097280" cy="256032"/>
          </a:xfrm>
          <a:prstGeom prst="rect">
            <a:avLst/>
          </a:prstGeom>
          <a:noFill/>
        </p:spPr>
        <p:txBody>
          <a:bodyPr wrap="square">
            <a:spAutoFit/>
          </a:bodyPr>
          <a:lstStyle/>
          <a:p>
            <a:pPr algn="l">
              <a:defRPr sz="1000" b="1">
                <a:solidFill>
                  <a:srgbClr val="C0392B"/>
                </a:solidFill>
                <a:latin typeface="Calibri"/>
              </a:defRPr>
            </a:pPr>
            <a:r>
              <a:t>Phase 2</a:t>
            </a:r>
          </a:p>
        </p:txBody>
      </p:sp>
      <p:sp>
        <p:nvSpPr>
          <p:cNvPr id="13" name="TextBox 12"/>
          <p:cNvSpPr txBox="1"/>
          <p:nvPr/>
        </p:nvSpPr>
        <p:spPr>
          <a:xfrm>
            <a:off x="1554480" y="2569464"/>
            <a:ext cx="4206240" cy="256032"/>
          </a:xfrm>
          <a:prstGeom prst="rect">
            <a:avLst/>
          </a:prstGeom>
          <a:noFill/>
        </p:spPr>
        <p:txBody>
          <a:bodyPr wrap="square">
            <a:spAutoFit/>
          </a:bodyPr>
          <a:lstStyle/>
          <a:p>
            <a:pPr algn="l">
              <a:defRPr sz="1000" b="0">
                <a:solidFill>
                  <a:srgbClr val="505050"/>
                </a:solidFill>
                <a:latin typeface="Calibri"/>
              </a:defRPr>
            </a:pPr>
            <a:r>
              <a:t>Curiosity browsing outside scope</a:t>
            </a:r>
          </a:p>
        </p:txBody>
      </p:sp>
      <p:sp>
        <p:nvSpPr>
          <p:cNvPr id="14" name="TextBox 13"/>
          <p:cNvSpPr txBox="1"/>
          <p:nvPr/>
        </p:nvSpPr>
        <p:spPr>
          <a:xfrm>
            <a:off x="457200" y="2825496"/>
            <a:ext cx="1097280" cy="256032"/>
          </a:xfrm>
          <a:prstGeom prst="rect">
            <a:avLst/>
          </a:prstGeom>
          <a:noFill/>
        </p:spPr>
        <p:txBody>
          <a:bodyPr wrap="square">
            <a:spAutoFit/>
          </a:bodyPr>
          <a:lstStyle/>
          <a:p>
            <a:pPr algn="l">
              <a:defRPr sz="1000" b="1">
                <a:solidFill>
                  <a:srgbClr val="C0392B"/>
                </a:solidFill>
                <a:latin typeface="Calibri"/>
              </a:defRPr>
            </a:pPr>
            <a:r>
              <a:t>Phase 3</a:t>
            </a:r>
          </a:p>
        </p:txBody>
      </p:sp>
      <p:sp>
        <p:nvSpPr>
          <p:cNvPr id="15" name="TextBox 14"/>
          <p:cNvSpPr txBox="1"/>
          <p:nvPr/>
        </p:nvSpPr>
        <p:spPr>
          <a:xfrm>
            <a:off x="1554480" y="2825496"/>
            <a:ext cx="4206240" cy="256032"/>
          </a:xfrm>
          <a:prstGeom prst="rect">
            <a:avLst/>
          </a:prstGeom>
          <a:noFill/>
        </p:spPr>
        <p:txBody>
          <a:bodyPr wrap="square">
            <a:spAutoFit/>
          </a:bodyPr>
          <a:lstStyle/>
          <a:p>
            <a:pPr algn="l">
              <a:defRPr sz="1000" b="0">
                <a:solidFill>
                  <a:srgbClr val="505050"/>
                </a:solidFill>
                <a:latin typeface="Calibri"/>
              </a:defRPr>
            </a:pPr>
            <a:r>
              <a:t>Restricted file access</a:t>
            </a:r>
          </a:p>
        </p:txBody>
      </p:sp>
      <p:sp>
        <p:nvSpPr>
          <p:cNvPr id="16" name="TextBox 15"/>
          <p:cNvSpPr txBox="1"/>
          <p:nvPr/>
        </p:nvSpPr>
        <p:spPr>
          <a:xfrm>
            <a:off x="457200" y="3081528"/>
            <a:ext cx="1097280" cy="256032"/>
          </a:xfrm>
          <a:prstGeom prst="rect">
            <a:avLst/>
          </a:prstGeom>
          <a:noFill/>
        </p:spPr>
        <p:txBody>
          <a:bodyPr wrap="square">
            <a:spAutoFit/>
          </a:bodyPr>
          <a:lstStyle/>
          <a:p>
            <a:pPr algn="l">
              <a:defRPr sz="1000" b="1">
                <a:solidFill>
                  <a:srgbClr val="C0392B"/>
                </a:solidFill>
                <a:latin typeface="Calibri"/>
              </a:defRPr>
            </a:pPr>
            <a:r>
              <a:t>Phase 4</a:t>
            </a:r>
          </a:p>
        </p:txBody>
      </p:sp>
      <p:sp>
        <p:nvSpPr>
          <p:cNvPr id="17" name="TextBox 16"/>
          <p:cNvSpPr txBox="1"/>
          <p:nvPr/>
        </p:nvSpPr>
        <p:spPr>
          <a:xfrm>
            <a:off x="1554480" y="3081528"/>
            <a:ext cx="4206240" cy="256032"/>
          </a:xfrm>
          <a:prstGeom prst="rect">
            <a:avLst/>
          </a:prstGeom>
          <a:noFill/>
        </p:spPr>
        <p:txBody>
          <a:bodyPr wrap="square">
            <a:spAutoFit/>
          </a:bodyPr>
          <a:lstStyle/>
          <a:p>
            <a:pPr algn="l">
              <a:defRPr sz="1000" b="0">
                <a:solidFill>
                  <a:srgbClr val="505050"/>
                </a:solidFill>
                <a:latin typeface="Calibri"/>
              </a:defRPr>
            </a:pPr>
            <a:r>
              <a:t>Trickle exfiltration</a:t>
            </a:r>
          </a:p>
        </p:txBody>
      </p:sp>
      <p:sp>
        <p:nvSpPr>
          <p:cNvPr id="18" name="Rounded Rectangle 17"/>
          <p:cNvSpPr/>
          <p:nvPr/>
        </p:nvSpPr>
        <p:spPr>
          <a:xfrm>
            <a:off x="457200" y="3383280"/>
            <a:ext cx="5303520" cy="320040"/>
          </a:xfrm>
          <a:prstGeom prst="roundRect">
            <a:avLst/>
          </a:prstGeom>
          <a:solidFill>
            <a:srgbClr val="F5F5FA"/>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C0392B"/>
                </a:solidFill>
                <a:latin typeface="Calibri"/>
              </a:defRPr>
            </a:pPr>
            <a:r>
              <a:t>Volumes stay in normal ranges</a:t>
            </a:r>
          </a:p>
        </p:txBody>
      </p:sp>
      <p:sp>
        <p:nvSpPr>
          <p:cNvPr id="19" name="Rounded Rectangle 18"/>
          <p:cNvSpPr/>
          <p:nvPr/>
        </p:nvSpPr>
        <p:spPr>
          <a:xfrm>
            <a:off x="6126480" y="1600200"/>
            <a:ext cx="5669280" cy="2331720"/>
          </a:xfrm>
          <a:prstGeom prst="roundRect">
            <a:avLst/>
          </a:prstGeom>
          <a:no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600200"/>
            <a:ext cx="5669280" cy="54864"/>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673352"/>
            <a:ext cx="5394960" cy="347472"/>
          </a:xfrm>
          <a:prstGeom prst="rect">
            <a:avLst/>
          </a:prstGeom>
          <a:noFill/>
        </p:spPr>
        <p:txBody>
          <a:bodyPr wrap="square">
            <a:spAutoFit/>
          </a:bodyPr>
          <a:lstStyle/>
          <a:p>
            <a:pPr algn="l">
              <a:defRPr sz="1500" b="1">
                <a:solidFill>
                  <a:srgbClr val="B7950B"/>
                </a:solidFill>
                <a:latin typeface="Calibri"/>
              </a:defRPr>
            </a:pPr>
            <a:r>
              <a:t>USR-234 — Slow APT</a:t>
            </a:r>
          </a:p>
        </p:txBody>
      </p:sp>
      <p:sp>
        <p:nvSpPr>
          <p:cNvPr id="22" name="TextBox 21"/>
          <p:cNvSpPr txBox="1"/>
          <p:nvPr/>
        </p:nvSpPr>
        <p:spPr>
          <a:xfrm>
            <a:off x="6263640" y="1984248"/>
            <a:ext cx="5394960" cy="274320"/>
          </a:xfrm>
          <a:prstGeom prst="rect">
            <a:avLst/>
          </a:prstGeom>
          <a:noFill/>
        </p:spPr>
        <p:txBody>
          <a:bodyPr wrap="square">
            <a:spAutoFit/>
          </a:bodyPr>
          <a:lstStyle/>
          <a:p>
            <a:pPr algn="l">
              <a:defRPr sz="1100" b="1">
                <a:solidFill>
                  <a:srgbClr val="0D1B2A"/>
                </a:solidFill>
                <a:latin typeface="Calibri"/>
              </a:defRPr>
            </a:pPr>
            <a:r>
              <a:t>180-Day Campaign  |  Apr 2025</a:t>
            </a:r>
          </a:p>
        </p:txBody>
      </p:sp>
      <p:sp>
        <p:nvSpPr>
          <p:cNvPr id="23" name="Rectangle 22"/>
          <p:cNvSpPr/>
          <p:nvPr/>
        </p:nvSpPr>
        <p:spPr>
          <a:xfrm>
            <a:off x="6400800" y="225856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313432"/>
            <a:ext cx="1097280" cy="256032"/>
          </a:xfrm>
          <a:prstGeom prst="rect">
            <a:avLst/>
          </a:prstGeom>
          <a:noFill/>
        </p:spPr>
        <p:txBody>
          <a:bodyPr wrap="square">
            <a:spAutoFit/>
          </a:bodyPr>
          <a:lstStyle/>
          <a:p>
            <a:pPr algn="l">
              <a:defRPr sz="1000" b="1">
                <a:solidFill>
                  <a:srgbClr val="B7950B"/>
                </a:solidFill>
                <a:latin typeface="Calibri"/>
              </a:defRPr>
            </a:pPr>
            <a:r>
              <a:t>C2 Pattern</a:t>
            </a:r>
          </a:p>
        </p:txBody>
      </p:sp>
      <p:sp>
        <p:nvSpPr>
          <p:cNvPr id="25" name="TextBox 24"/>
          <p:cNvSpPr txBox="1"/>
          <p:nvPr/>
        </p:nvSpPr>
        <p:spPr>
          <a:xfrm>
            <a:off x="7406640" y="2313432"/>
            <a:ext cx="4206240" cy="256032"/>
          </a:xfrm>
          <a:prstGeom prst="rect">
            <a:avLst/>
          </a:prstGeom>
          <a:noFill/>
        </p:spPr>
        <p:txBody>
          <a:bodyPr wrap="square">
            <a:spAutoFit/>
          </a:bodyPr>
          <a:lstStyle/>
          <a:p>
            <a:pPr algn="l">
              <a:defRPr sz="1000" b="0">
                <a:solidFill>
                  <a:srgbClr val="505050"/>
                </a:solidFill>
                <a:latin typeface="Calibri"/>
              </a:defRPr>
            </a:pPr>
            <a:r>
              <a:t>~4 beacons/day at 6hr intervals</a:t>
            </a:r>
          </a:p>
        </p:txBody>
      </p:sp>
      <p:sp>
        <p:nvSpPr>
          <p:cNvPr id="26" name="TextBox 25"/>
          <p:cNvSpPr txBox="1"/>
          <p:nvPr/>
        </p:nvSpPr>
        <p:spPr>
          <a:xfrm>
            <a:off x="6309360" y="2569464"/>
            <a:ext cx="1097280" cy="256032"/>
          </a:xfrm>
          <a:prstGeom prst="rect">
            <a:avLst/>
          </a:prstGeom>
          <a:noFill/>
        </p:spPr>
        <p:txBody>
          <a:bodyPr wrap="square">
            <a:spAutoFit/>
          </a:bodyPr>
          <a:lstStyle/>
          <a:p>
            <a:pPr algn="l">
              <a:defRPr sz="1000" b="1">
                <a:solidFill>
                  <a:srgbClr val="B7950B"/>
                </a:solidFill>
                <a:latin typeface="Calibri"/>
              </a:defRPr>
            </a:pPr>
            <a:r>
              <a:t>DNS</a:t>
            </a:r>
          </a:p>
        </p:txBody>
      </p:sp>
      <p:sp>
        <p:nvSpPr>
          <p:cNvPr id="27" name="TextBox 26"/>
          <p:cNvSpPr txBox="1"/>
          <p:nvPr/>
        </p:nvSpPr>
        <p:spPr>
          <a:xfrm>
            <a:off x="7406640" y="2569464"/>
            <a:ext cx="4206240" cy="256032"/>
          </a:xfrm>
          <a:prstGeom prst="rect">
            <a:avLst/>
          </a:prstGeom>
          <a:noFill/>
        </p:spPr>
        <p:txBody>
          <a:bodyPr wrap="square">
            <a:spAutoFit/>
          </a:bodyPr>
          <a:lstStyle/>
          <a:p>
            <a:pPr algn="l">
              <a:defRPr sz="1000" b="0">
                <a:solidFill>
                  <a:srgbClr val="505050"/>
                </a:solidFill>
                <a:latin typeface="Calibri"/>
              </a:defRPr>
            </a:pPr>
            <a:r>
              <a:t>DGA queries blend with normal</a:t>
            </a:r>
          </a:p>
        </p:txBody>
      </p:sp>
      <p:sp>
        <p:nvSpPr>
          <p:cNvPr id="28" name="TextBox 27"/>
          <p:cNvSpPr txBox="1"/>
          <p:nvPr/>
        </p:nvSpPr>
        <p:spPr>
          <a:xfrm>
            <a:off x="6309360" y="2825496"/>
            <a:ext cx="1097280" cy="256032"/>
          </a:xfrm>
          <a:prstGeom prst="rect">
            <a:avLst/>
          </a:prstGeom>
          <a:noFill/>
        </p:spPr>
        <p:txBody>
          <a:bodyPr wrap="square">
            <a:spAutoFit/>
          </a:bodyPr>
          <a:lstStyle/>
          <a:p>
            <a:pPr algn="l">
              <a:defRPr sz="1000" b="1">
                <a:solidFill>
                  <a:srgbClr val="B7950B"/>
                </a:solidFill>
                <a:latin typeface="Calibri"/>
              </a:defRPr>
            </a:pPr>
            <a:r>
              <a:t>Staging</a:t>
            </a:r>
          </a:p>
        </p:txBody>
      </p:sp>
      <p:sp>
        <p:nvSpPr>
          <p:cNvPr id="29" name="TextBox 28"/>
          <p:cNvSpPr txBox="1"/>
          <p:nvPr/>
        </p:nvSpPr>
        <p:spPr>
          <a:xfrm>
            <a:off x="7406640" y="2825496"/>
            <a:ext cx="4206240" cy="256032"/>
          </a:xfrm>
          <a:prstGeom prst="rect">
            <a:avLst/>
          </a:prstGeom>
          <a:noFill/>
        </p:spPr>
        <p:txBody>
          <a:bodyPr wrap="square">
            <a:spAutoFit/>
          </a:bodyPr>
          <a:lstStyle/>
          <a:p>
            <a:pPr algn="l">
              <a:defRPr sz="1000" b="0">
                <a:solidFill>
                  <a:srgbClr val="505050"/>
                </a:solidFill>
                <a:latin typeface="Calibri"/>
              </a:defRPr>
            </a:pPr>
            <a:r>
              <a:t>Progressive data accumulation</a:t>
            </a:r>
          </a:p>
        </p:txBody>
      </p:sp>
      <p:sp>
        <p:nvSpPr>
          <p:cNvPr id="30" name="TextBox 29"/>
          <p:cNvSpPr txBox="1"/>
          <p:nvPr/>
        </p:nvSpPr>
        <p:spPr>
          <a:xfrm>
            <a:off x="6309360" y="3081528"/>
            <a:ext cx="1097280" cy="256032"/>
          </a:xfrm>
          <a:prstGeom prst="rect">
            <a:avLst/>
          </a:prstGeom>
          <a:noFill/>
        </p:spPr>
        <p:txBody>
          <a:bodyPr wrap="square">
            <a:spAutoFit/>
          </a:bodyPr>
          <a:lstStyle/>
          <a:p>
            <a:pPr algn="l">
              <a:defRPr sz="1000" b="1">
                <a:solidFill>
                  <a:srgbClr val="B7950B"/>
                </a:solidFill>
                <a:latin typeface="Calibri"/>
              </a:defRPr>
            </a:pPr>
            <a:r>
              <a:t>Exfil</a:t>
            </a:r>
          </a:p>
        </p:txBody>
      </p:sp>
      <p:sp>
        <p:nvSpPr>
          <p:cNvPr id="31" name="TextBox 30"/>
          <p:cNvSpPr txBox="1"/>
          <p:nvPr/>
        </p:nvSpPr>
        <p:spPr>
          <a:xfrm>
            <a:off x="7406640" y="3081528"/>
            <a:ext cx="4206240" cy="256032"/>
          </a:xfrm>
          <a:prstGeom prst="rect">
            <a:avLst/>
          </a:prstGeom>
          <a:noFill/>
        </p:spPr>
        <p:txBody>
          <a:bodyPr wrap="square">
            <a:spAutoFit/>
          </a:bodyPr>
          <a:lstStyle/>
          <a:p>
            <a:pPr algn="l">
              <a:defRPr sz="1000" b="0">
                <a:solidFill>
                  <a:srgbClr val="505050"/>
                </a:solidFill>
                <a:latin typeface="Calibri"/>
              </a:defRPr>
            </a:pPr>
            <a:r>
              <a:t>Encrypted channel exfiltration</a:t>
            </a:r>
          </a:p>
        </p:txBody>
      </p:sp>
      <p:sp>
        <p:nvSpPr>
          <p:cNvPr id="32" name="Rounded Rectangle 31"/>
          <p:cNvSpPr/>
          <p:nvPr/>
        </p:nvSpPr>
        <p:spPr>
          <a:xfrm>
            <a:off x="6309360" y="3383280"/>
            <a:ext cx="5303520" cy="320040"/>
          </a:xfrm>
          <a:prstGeom prst="roundRect">
            <a:avLst/>
          </a:prstGeom>
          <a:solidFill>
            <a:srgbClr val="F5F5FA"/>
          </a:solidFill>
          <a:ln w="127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7950B"/>
                </a:solidFill>
                <a:latin typeface="Calibri"/>
              </a:defRPr>
            </a:pPr>
            <a:r>
              <a:t>Subtle network footprint</a:t>
            </a:r>
          </a:p>
        </p:txBody>
      </p:sp>
      <p:sp>
        <p:nvSpPr>
          <p:cNvPr id="33" name="Rounded Rectangle 32"/>
          <p:cNvSpPr/>
          <p:nvPr/>
        </p:nvSpPr>
        <p:spPr>
          <a:xfrm>
            <a:off x="274320" y="4160520"/>
            <a:ext cx="5669280" cy="2331720"/>
          </a:xfrm>
          <a:prstGeom prst="roundRect">
            <a:avLst/>
          </a:prstGeom>
          <a:no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4160520"/>
            <a:ext cx="566928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4233672"/>
            <a:ext cx="5394960" cy="347472"/>
          </a:xfrm>
          <a:prstGeom prst="rect">
            <a:avLst/>
          </a:prstGeom>
          <a:noFill/>
        </p:spPr>
        <p:txBody>
          <a:bodyPr wrap="square">
            <a:spAutoFit/>
          </a:bodyPr>
          <a:lstStyle/>
          <a:p>
            <a:pPr algn="l">
              <a:defRPr sz="1500" b="1">
                <a:solidFill>
                  <a:srgbClr val="8E44AD"/>
                </a:solidFill>
                <a:latin typeface="Calibri"/>
              </a:defRPr>
            </a:pPr>
            <a:r>
              <a:t>USR-042 — Volt Typhoon</a:t>
            </a:r>
          </a:p>
        </p:txBody>
      </p:sp>
      <p:sp>
        <p:nvSpPr>
          <p:cNvPr id="36" name="TextBox 35"/>
          <p:cNvSpPr txBox="1"/>
          <p:nvPr/>
        </p:nvSpPr>
        <p:spPr>
          <a:xfrm>
            <a:off x="411480" y="4544568"/>
            <a:ext cx="5394960" cy="274320"/>
          </a:xfrm>
          <a:prstGeom prst="rect">
            <a:avLst/>
          </a:prstGeom>
          <a:noFill/>
        </p:spPr>
        <p:txBody>
          <a:bodyPr wrap="square">
            <a:spAutoFit/>
          </a:bodyPr>
          <a:lstStyle/>
          <a:p>
            <a:pPr algn="l">
              <a:defRPr sz="1100" b="1">
                <a:solidFill>
                  <a:srgbClr val="0D1B2A"/>
                </a:solidFill>
                <a:latin typeface="Calibri"/>
              </a:defRPr>
            </a:pPr>
            <a:r>
              <a:t>115-Day LOTL  |  Jan 2025</a:t>
            </a:r>
          </a:p>
        </p:txBody>
      </p:sp>
      <p:sp>
        <p:nvSpPr>
          <p:cNvPr id="37" name="Rectangle 36"/>
          <p:cNvSpPr/>
          <p:nvPr/>
        </p:nvSpPr>
        <p:spPr>
          <a:xfrm>
            <a:off x="548640" y="481888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873752"/>
            <a:ext cx="1097280" cy="256032"/>
          </a:xfrm>
          <a:prstGeom prst="rect">
            <a:avLst/>
          </a:prstGeom>
          <a:noFill/>
        </p:spPr>
        <p:txBody>
          <a:bodyPr wrap="square">
            <a:spAutoFit/>
          </a:bodyPr>
          <a:lstStyle/>
          <a:p>
            <a:pPr algn="l">
              <a:defRPr sz="1000" b="1">
                <a:solidFill>
                  <a:srgbClr val="8E44AD"/>
                </a:solidFill>
                <a:latin typeface="Calibri"/>
              </a:defRPr>
            </a:pPr>
            <a:r>
              <a:t>Tools</a:t>
            </a:r>
          </a:p>
        </p:txBody>
      </p:sp>
      <p:sp>
        <p:nvSpPr>
          <p:cNvPr id="39" name="TextBox 38"/>
          <p:cNvSpPr txBox="1"/>
          <p:nvPr/>
        </p:nvSpPr>
        <p:spPr>
          <a:xfrm>
            <a:off x="1554480" y="4873752"/>
            <a:ext cx="4206240" cy="256032"/>
          </a:xfrm>
          <a:prstGeom prst="rect">
            <a:avLst/>
          </a:prstGeom>
          <a:noFill/>
        </p:spPr>
        <p:txBody>
          <a:bodyPr wrap="square">
            <a:spAutoFit/>
          </a:bodyPr>
          <a:lstStyle/>
          <a:p>
            <a:pPr algn="l">
              <a:defRPr sz="1000" b="0">
                <a:solidFill>
                  <a:srgbClr val="505050"/>
                </a:solidFill>
                <a:latin typeface="Calibri"/>
              </a:defRPr>
            </a:pPr>
            <a:r>
              <a:t>RDP, WMI, PsExec (legitimate)</a:t>
            </a:r>
          </a:p>
        </p:txBody>
      </p:sp>
      <p:sp>
        <p:nvSpPr>
          <p:cNvPr id="40" name="TextBox 39"/>
          <p:cNvSpPr txBox="1"/>
          <p:nvPr/>
        </p:nvSpPr>
        <p:spPr>
          <a:xfrm>
            <a:off x="457200" y="5129784"/>
            <a:ext cx="1097280" cy="256032"/>
          </a:xfrm>
          <a:prstGeom prst="rect">
            <a:avLst/>
          </a:prstGeom>
          <a:noFill/>
        </p:spPr>
        <p:txBody>
          <a:bodyPr wrap="square">
            <a:spAutoFit/>
          </a:bodyPr>
          <a:lstStyle/>
          <a:p>
            <a:pPr algn="l">
              <a:defRPr sz="1000" b="1">
                <a:solidFill>
                  <a:srgbClr val="8E44AD"/>
                </a:solidFill>
                <a:latin typeface="Calibri"/>
              </a:defRPr>
            </a:pPr>
            <a:r>
              <a:t>Creds</a:t>
            </a:r>
          </a:p>
        </p:txBody>
      </p:sp>
      <p:sp>
        <p:nvSpPr>
          <p:cNvPr id="41" name="TextBox 40"/>
          <p:cNvSpPr txBox="1"/>
          <p:nvPr/>
        </p:nvSpPr>
        <p:spPr>
          <a:xfrm>
            <a:off x="1554480" y="5129784"/>
            <a:ext cx="4206240" cy="256032"/>
          </a:xfrm>
          <a:prstGeom prst="rect">
            <a:avLst/>
          </a:prstGeom>
          <a:noFill/>
        </p:spPr>
        <p:txBody>
          <a:bodyPr wrap="square">
            <a:spAutoFit/>
          </a:bodyPr>
          <a:lstStyle/>
          <a:p>
            <a:pPr algn="l">
              <a:defRPr sz="1000" b="0">
                <a:solidFill>
                  <a:srgbClr val="505050"/>
                </a:solidFill>
                <a:latin typeface="Calibri"/>
              </a:defRPr>
            </a:pPr>
            <a:r>
              <a:t>Credential harvesting via admin</a:t>
            </a:r>
          </a:p>
        </p:txBody>
      </p:sp>
      <p:sp>
        <p:nvSpPr>
          <p:cNvPr id="42" name="TextBox 41"/>
          <p:cNvSpPr txBox="1"/>
          <p:nvPr/>
        </p:nvSpPr>
        <p:spPr>
          <a:xfrm>
            <a:off x="457200" y="5385816"/>
            <a:ext cx="1097280" cy="256032"/>
          </a:xfrm>
          <a:prstGeom prst="rect">
            <a:avLst/>
          </a:prstGeom>
          <a:noFill/>
        </p:spPr>
        <p:txBody>
          <a:bodyPr wrap="square">
            <a:spAutoFit/>
          </a:bodyPr>
          <a:lstStyle/>
          <a:p>
            <a:pPr algn="l">
              <a:defRPr sz="1000" b="1">
                <a:solidFill>
                  <a:srgbClr val="8E44AD"/>
                </a:solidFill>
                <a:latin typeface="Calibri"/>
              </a:defRPr>
            </a:pPr>
            <a:r>
              <a:t>Lateral</a:t>
            </a:r>
          </a:p>
        </p:txBody>
      </p:sp>
      <p:sp>
        <p:nvSpPr>
          <p:cNvPr id="43" name="TextBox 42"/>
          <p:cNvSpPr txBox="1"/>
          <p:nvPr/>
        </p:nvSpPr>
        <p:spPr>
          <a:xfrm>
            <a:off x="1554480" y="5385816"/>
            <a:ext cx="4206240" cy="256032"/>
          </a:xfrm>
          <a:prstGeom prst="rect">
            <a:avLst/>
          </a:prstGeom>
          <a:noFill/>
        </p:spPr>
        <p:txBody>
          <a:bodyPr wrap="square">
            <a:spAutoFit/>
          </a:bodyPr>
          <a:lstStyle/>
          <a:p>
            <a:pPr algn="l">
              <a:defRPr sz="1000" b="0">
                <a:solidFill>
                  <a:srgbClr val="505050"/>
                </a:solidFill>
                <a:latin typeface="Calibri"/>
              </a:defRPr>
            </a:pPr>
            <a:r>
              <a:t>Movement mimics admin activity</a:t>
            </a:r>
          </a:p>
        </p:txBody>
      </p:sp>
      <p:sp>
        <p:nvSpPr>
          <p:cNvPr id="44" name="TextBox 43"/>
          <p:cNvSpPr txBox="1"/>
          <p:nvPr/>
        </p:nvSpPr>
        <p:spPr>
          <a:xfrm>
            <a:off x="457200" y="5641848"/>
            <a:ext cx="1097280" cy="256032"/>
          </a:xfrm>
          <a:prstGeom prst="rect">
            <a:avLst/>
          </a:prstGeom>
          <a:noFill/>
        </p:spPr>
        <p:txBody>
          <a:bodyPr wrap="square">
            <a:spAutoFit/>
          </a:bodyPr>
          <a:lstStyle/>
          <a:p>
            <a:pPr algn="l">
              <a:defRPr sz="1000" b="1">
                <a:solidFill>
                  <a:srgbClr val="8E44AD"/>
                </a:solidFill>
                <a:latin typeface="Calibri"/>
              </a:defRPr>
            </a:pPr>
            <a:r>
              <a:t>Infra</a:t>
            </a:r>
          </a:p>
        </p:txBody>
      </p:sp>
      <p:sp>
        <p:nvSpPr>
          <p:cNvPr id="45" name="TextBox 44"/>
          <p:cNvSpPr txBox="1"/>
          <p:nvPr/>
        </p:nvSpPr>
        <p:spPr>
          <a:xfrm>
            <a:off x="1554480" y="5641848"/>
            <a:ext cx="4206240" cy="256032"/>
          </a:xfrm>
          <a:prstGeom prst="rect">
            <a:avLst/>
          </a:prstGeom>
          <a:noFill/>
        </p:spPr>
        <p:txBody>
          <a:bodyPr wrap="square">
            <a:spAutoFit/>
          </a:bodyPr>
          <a:lstStyle/>
          <a:p>
            <a:pPr algn="l">
              <a:defRPr sz="1000" b="0">
                <a:solidFill>
                  <a:srgbClr val="505050"/>
                </a:solidFill>
                <a:latin typeface="Calibri"/>
              </a:defRPr>
            </a:pPr>
            <a:r>
              <a:t>Pre-positioning for future ops</a:t>
            </a:r>
          </a:p>
        </p:txBody>
      </p:sp>
      <p:sp>
        <p:nvSpPr>
          <p:cNvPr id="46" name="Rounded Rectangle 45"/>
          <p:cNvSpPr/>
          <p:nvPr/>
        </p:nvSpPr>
        <p:spPr>
          <a:xfrm>
            <a:off x="457200" y="5943600"/>
            <a:ext cx="5303520" cy="320040"/>
          </a:xfrm>
          <a:prstGeom prst="roundRect">
            <a:avLst/>
          </a:prstGeom>
          <a:solidFill>
            <a:srgbClr val="F5F5F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E44AD"/>
                </a:solidFill>
                <a:latin typeface="Calibri"/>
              </a:defRPr>
            </a:pPr>
            <a:r>
              <a:t>Blends with normal admin behavior</a:t>
            </a:r>
          </a:p>
        </p:txBody>
      </p:sp>
      <p:sp>
        <p:nvSpPr>
          <p:cNvPr id="47" name="Rounded Rectangle 46"/>
          <p:cNvSpPr/>
          <p:nvPr/>
        </p:nvSpPr>
        <p:spPr>
          <a:xfrm>
            <a:off x="6126480" y="4160520"/>
            <a:ext cx="5669280" cy="233172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0" y="4160520"/>
            <a:ext cx="566928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4233672"/>
            <a:ext cx="5394960" cy="347472"/>
          </a:xfrm>
          <a:prstGeom prst="rect">
            <a:avLst/>
          </a:prstGeom>
          <a:noFill/>
        </p:spPr>
        <p:txBody>
          <a:bodyPr wrap="square">
            <a:spAutoFit/>
          </a:bodyPr>
          <a:lstStyle/>
          <a:p>
            <a:pPr algn="l">
              <a:defRPr sz="1500" b="1">
                <a:solidFill>
                  <a:srgbClr val="1B4F72"/>
                </a:solidFill>
                <a:latin typeface="Calibri"/>
              </a:defRPr>
            </a:pPr>
            <a:r>
              <a:t>USR-118 — Salt Typhoon</a:t>
            </a:r>
          </a:p>
        </p:txBody>
      </p:sp>
      <p:sp>
        <p:nvSpPr>
          <p:cNvPr id="50" name="TextBox 49"/>
          <p:cNvSpPr txBox="1"/>
          <p:nvPr/>
        </p:nvSpPr>
        <p:spPr>
          <a:xfrm>
            <a:off x="6263640" y="4544568"/>
            <a:ext cx="5394960" cy="274320"/>
          </a:xfrm>
          <a:prstGeom prst="rect">
            <a:avLst/>
          </a:prstGeom>
          <a:noFill/>
        </p:spPr>
        <p:txBody>
          <a:bodyPr wrap="square">
            <a:spAutoFit/>
          </a:bodyPr>
          <a:lstStyle/>
          <a:p>
            <a:pPr algn="l">
              <a:defRPr sz="1100" b="1">
                <a:solidFill>
                  <a:srgbClr val="0D1B2A"/>
                </a:solidFill>
                <a:latin typeface="Calibri"/>
              </a:defRPr>
            </a:pPr>
            <a:r>
              <a:t>100-Day Telecom  |  Jan 2025</a:t>
            </a:r>
          </a:p>
        </p:txBody>
      </p:sp>
      <p:sp>
        <p:nvSpPr>
          <p:cNvPr id="51" name="Rectangle 50"/>
          <p:cNvSpPr/>
          <p:nvPr/>
        </p:nvSpPr>
        <p:spPr>
          <a:xfrm>
            <a:off x="6400800" y="4818888"/>
            <a:ext cx="5120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4873752"/>
            <a:ext cx="1097280" cy="256032"/>
          </a:xfrm>
          <a:prstGeom prst="rect">
            <a:avLst/>
          </a:prstGeom>
          <a:noFill/>
        </p:spPr>
        <p:txBody>
          <a:bodyPr wrap="square">
            <a:spAutoFit/>
          </a:bodyPr>
          <a:lstStyle/>
          <a:p>
            <a:pPr algn="l">
              <a:defRPr sz="1000" b="1">
                <a:solidFill>
                  <a:srgbClr val="1B4F72"/>
                </a:solidFill>
                <a:latin typeface="Calibri"/>
              </a:defRPr>
            </a:pPr>
            <a:r>
              <a:t>C2</a:t>
            </a:r>
          </a:p>
        </p:txBody>
      </p:sp>
      <p:sp>
        <p:nvSpPr>
          <p:cNvPr id="53" name="TextBox 52"/>
          <p:cNvSpPr txBox="1"/>
          <p:nvPr/>
        </p:nvSpPr>
        <p:spPr>
          <a:xfrm>
            <a:off x="7406640" y="4873752"/>
            <a:ext cx="4206240" cy="256032"/>
          </a:xfrm>
          <a:prstGeom prst="rect">
            <a:avLst/>
          </a:prstGeom>
          <a:noFill/>
        </p:spPr>
        <p:txBody>
          <a:bodyPr wrap="square">
            <a:spAutoFit/>
          </a:bodyPr>
          <a:lstStyle/>
          <a:p>
            <a:pPr algn="l">
              <a:defRPr sz="1000" b="0">
                <a:solidFill>
                  <a:srgbClr val="505050"/>
                </a:solidFill>
                <a:latin typeface="Calibri"/>
              </a:defRPr>
            </a:pPr>
            <a:r>
              <a:t>DNS tunneling for covert channel</a:t>
            </a:r>
          </a:p>
        </p:txBody>
      </p:sp>
      <p:sp>
        <p:nvSpPr>
          <p:cNvPr id="54" name="TextBox 53"/>
          <p:cNvSpPr txBox="1"/>
          <p:nvPr/>
        </p:nvSpPr>
        <p:spPr>
          <a:xfrm>
            <a:off x="6309360" y="5129784"/>
            <a:ext cx="1097280" cy="256032"/>
          </a:xfrm>
          <a:prstGeom prst="rect">
            <a:avLst/>
          </a:prstGeom>
          <a:noFill/>
        </p:spPr>
        <p:txBody>
          <a:bodyPr wrap="square">
            <a:spAutoFit/>
          </a:bodyPr>
          <a:lstStyle/>
          <a:p>
            <a:pPr algn="l">
              <a:defRPr sz="1000" b="1">
                <a:solidFill>
                  <a:srgbClr val="1B4F72"/>
                </a:solidFill>
                <a:latin typeface="Calibri"/>
              </a:defRPr>
            </a:pPr>
            <a:r>
              <a:t>Access</a:t>
            </a:r>
          </a:p>
        </p:txBody>
      </p:sp>
      <p:sp>
        <p:nvSpPr>
          <p:cNvPr id="55" name="TextBox 54"/>
          <p:cNvSpPr txBox="1"/>
          <p:nvPr/>
        </p:nvSpPr>
        <p:spPr>
          <a:xfrm>
            <a:off x="7406640" y="5129784"/>
            <a:ext cx="4206240" cy="256032"/>
          </a:xfrm>
          <a:prstGeom prst="rect">
            <a:avLst/>
          </a:prstGeom>
          <a:noFill/>
        </p:spPr>
        <p:txBody>
          <a:bodyPr wrap="square">
            <a:spAutoFit/>
          </a:bodyPr>
          <a:lstStyle/>
          <a:p>
            <a:pPr algn="l">
              <a:defRPr sz="1000" b="0">
                <a:solidFill>
                  <a:srgbClr val="505050"/>
                </a:solidFill>
                <a:latin typeface="Calibri"/>
              </a:defRPr>
            </a:pPr>
            <a:r>
              <a:t>CDR/lawful intercept data</a:t>
            </a:r>
          </a:p>
        </p:txBody>
      </p:sp>
      <p:sp>
        <p:nvSpPr>
          <p:cNvPr id="56" name="TextBox 55"/>
          <p:cNvSpPr txBox="1"/>
          <p:nvPr/>
        </p:nvSpPr>
        <p:spPr>
          <a:xfrm>
            <a:off x="6309360" y="5385816"/>
            <a:ext cx="1097280" cy="256032"/>
          </a:xfrm>
          <a:prstGeom prst="rect">
            <a:avLst/>
          </a:prstGeom>
          <a:noFill/>
        </p:spPr>
        <p:txBody>
          <a:bodyPr wrap="square">
            <a:spAutoFit/>
          </a:bodyPr>
          <a:lstStyle/>
          <a:p>
            <a:pPr algn="l">
              <a:defRPr sz="1000" b="1">
                <a:solidFill>
                  <a:srgbClr val="1B4F72"/>
                </a:solidFill>
                <a:latin typeface="Calibri"/>
              </a:defRPr>
            </a:pPr>
            <a:r>
              <a:t>Exfil</a:t>
            </a:r>
          </a:p>
        </p:txBody>
      </p:sp>
      <p:sp>
        <p:nvSpPr>
          <p:cNvPr id="57" name="TextBox 56"/>
          <p:cNvSpPr txBox="1"/>
          <p:nvPr/>
        </p:nvSpPr>
        <p:spPr>
          <a:xfrm>
            <a:off x="7406640" y="5385816"/>
            <a:ext cx="4206240" cy="256032"/>
          </a:xfrm>
          <a:prstGeom prst="rect">
            <a:avLst/>
          </a:prstGeom>
          <a:noFill/>
        </p:spPr>
        <p:txBody>
          <a:bodyPr wrap="square">
            <a:spAutoFit/>
          </a:bodyPr>
          <a:lstStyle/>
          <a:p>
            <a:pPr algn="l">
              <a:defRPr sz="1000" b="0">
                <a:solidFill>
                  <a:srgbClr val="505050"/>
                </a:solidFill>
                <a:latin typeface="Calibri"/>
              </a:defRPr>
            </a:pPr>
            <a:r>
              <a:t>Staged exfiltration over weeks</a:t>
            </a:r>
          </a:p>
        </p:txBody>
      </p:sp>
      <p:sp>
        <p:nvSpPr>
          <p:cNvPr id="58" name="TextBox 57"/>
          <p:cNvSpPr txBox="1"/>
          <p:nvPr/>
        </p:nvSpPr>
        <p:spPr>
          <a:xfrm>
            <a:off x="6309360" y="5641848"/>
            <a:ext cx="1097280" cy="256032"/>
          </a:xfrm>
          <a:prstGeom prst="rect">
            <a:avLst/>
          </a:prstGeom>
          <a:noFill/>
        </p:spPr>
        <p:txBody>
          <a:bodyPr wrap="square">
            <a:spAutoFit/>
          </a:bodyPr>
          <a:lstStyle/>
          <a:p>
            <a:pPr algn="l">
              <a:defRPr sz="1000" b="1">
                <a:solidFill>
                  <a:srgbClr val="1B4F72"/>
                </a:solidFill>
                <a:latin typeface="Calibri"/>
              </a:defRPr>
            </a:pPr>
            <a:r>
              <a:t>Cover</a:t>
            </a:r>
          </a:p>
        </p:txBody>
      </p:sp>
      <p:sp>
        <p:nvSpPr>
          <p:cNvPr id="59" name="TextBox 58"/>
          <p:cNvSpPr txBox="1"/>
          <p:nvPr/>
        </p:nvSpPr>
        <p:spPr>
          <a:xfrm>
            <a:off x="7406640" y="5641848"/>
            <a:ext cx="4206240" cy="256032"/>
          </a:xfrm>
          <a:prstGeom prst="rect">
            <a:avLst/>
          </a:prstGeom>
          <a:noFill/>
        </p:spPr>
        <p:txBody>
          <a:bodyPr wrap="square">
            <a:spAutoFit/>
          </a:bodyPr>
          <a:lstStyle/>
          <a:p>
            <a:pPr algn="l">
              <a:defRPr sz="1000" b="0">
                <a:solidFill>
                  <a:srgbClr val="505050"/>
                </a:solidFill>
                <a:latin typeface="Calibri"/>
              </a:defRPr>
            </a:pPr>
            <a:r>
              <a:t>Mimics telecom operations</a:t>
            </a:r>
          </a:p>
        </p:txBody>
      </p:sp>
      <p:sp>
        <p:nvSpPr>
          <p:cNvPr id="60" name="Rounded Rectangle 59"/>
          <p:cNvSpPr/>
          <p:nvPr/>
        </p:nvSpPr>
        <p:spPr>
          <a:xfrm>
            <a:off x="6309360" y="5943600"/>
            <a:ext cx="5303520" cy="320040"/>
          </a:xfrm>
          <a:prstGeom prst="roundRect">
            <a:avLst/>
          </a:prstGeom>
          <a:solidFill>
            <a:srgbClr val="F5F5FA"/>
          </a:solidFill>
          <a:ln w="127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B4F72"/>
                </a:solidFill>
                <a:latin typeface="Calibri"/>
              </a:defRPr>
            </a:pPr>
            <a:r>
              <a:t>Mimics legitimate telecom ops</a:t>
            </a:r>
          </a:p>
        </p:txBody>
      </p:sp>
      <p:sp>
        <p:nvSpPr>
          <p:cNvPr id="61" name="TextBox 60"/>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320040"/>
            <a:ext cx="10972800" cy="685800"/>
          </a:xfrm>
          <a:prstGeom prst="rect">
            <a:avLst/>
          </a:prstGeom>
          <a:noFill/>
        </p:spPr>
        <p:txBody>
          <a:bodyPr wrap="square">
            <a:spAutoFit/>
          </a:bodyPr>
          <a:lstStyle/>
          <a:p>
            <a:pPr algn="l">
              <a:defRPr sz="3000" b="1">
                <a:solidFill>
                  <a:srgbClr val="FFFFFF"/>
                </a:solidFill>
                <a:latin typeface="Calibri"/>
              </a:defRPr>
            </a:pPr>
            <a:r>
              <a:t>Attack Design Philosophy — Why These Threats Are Hard to Detect</a:t>
            </a:r>
          </a:p>
        </p:txBody>
      </p:sp>
      <p:sp>
        <p:nvSpPr>
          <p:cNvPr id="3" name="Rectangle 2"/>
          <p:cNvSpPr/>
          <p:nvPr/>
        </p:nvSpPr>
        <p:spPr>
          <a:xfrm>
            <a:off x="640080" y="960120"/>
            <a:ext cx="32004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57200"/>
          </a:xfrm>
          <a:prstGeom prst="rect">
            <a:avLst/>
          </a:prstGeom>
          <a:noFill/>
        </p:spPr>
        <p:txBody>
          <a:bodyPr wrap="square">
            <a:spAutoFit/>
          </a:bodyPr>
          <a:lstStyle/>
          <a:p>
            <a:pPr algn="l">
              <a:defRPr sz="1800" b="0">
                <a:solidFill>
                  <a:srgbClr val="0E6B8A"/>
                </a:solidFill>
                <a:latin typeface="Calibri"/>
              </a:defRPr>
            </a:pPr>
            <a:r>
              <a:t>All four attacks are specifically engineered to stay within the statistical profile of normal users.</a:t>
            </a:r>
          </a:p>
        </p:txBody>
      </p:sp>
      <p:sp>
        <p:nvSpPr>
          <p:cNvPr id="5" name="Rounded Rectangle 4"/>
          <p:cNvSpPr/>
          <p:nvPr/>
        </p:nvSpPr>
        <p:spPr>
          <a:xfrm>
            <a:off x="457200" y="1828800"/>
            <a:ext cx="5486400" cy="1417320"/>
          </a:xfrm>
          <a:prstGeom prst="roundRect">
            <a:avLst/>
          </a:prstGeom>
          <a:solidFill>
            <a:srgbClr val="14283C"/>
          </a:solid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5120640" cy="365760"/>
          </a:xfrm>
          <a:prstGeom prst="rect">
            <a:avLst/>
          </a:prstGeom>
          <a:noFill/>
        </p:spPr>
        <p:txBody>
          <a:bodyPr wrap="square">
            <a:spAutoFit/>
          </a:bodyPr>
          <a:lstStyle/>
          <a:p>
            <a:pPr algn="l">
              <a:defRPr sz="1600" b="1">
                <a:solidFill>
                  <a:srgbClr val="0E6B8A"/>
                </a:solidFill>
                <a:latin typeface="Calibri"/>
              </a:defRPr>
            </a:pPr>
            <a:r>
              <a:t>Volume-Based Signal</a:t>
            </a:r>
          </a:p>
        </p:txBody>
      </p:sp>
      <p:sp>
        <p:nvSpPr>
          <p:cNvPr id="7" name="TextBox 6"/>
          <p:cNvSpPr txBox="1"/>
          <p:nvPr/>
        </p:nvSpPr>
        <p:spPr>
          <a:xfrm>
            <a:off x="640080" y="2286000"/>
            <a:ext cx="5120640" cy="822960"/>
          </a:xfrm>
          <a:prstGeom prst="rect">
            <a:avLst/>
          </a:prstGeom>
          <a:noFill/>
        </p:spPr>
        <p:txBody>
          <a:bodyPr wrap="square">
            <a:spAutoFit/>
          </a:bodyPr>
          <a:lstStyle/>
          <a:p>
            <a:pPr algn="l">
              <a:defRPr sz="1400" b="0">
                <a:solidFill>
                  <a:srgbClr val="FFFFFF"/>
                </a:solidFill>
                <a:latin typeface="Calibri"/>
              </a:defRPr>
            </a:pPr>
            <a:r>
              <a:t>Activity counts, bytes, event frequencies</a:t>
            </a:r>
          </a:p>
        </p:txBody>
      </p:sp>
      <p:sp>
        <p:nvSpPr>
          <p:cNvPr id="8" name="Right Arrow 7"/>
          <p:cNvSpPr/>
          <p:nvPr/>
        </p:nvSpPr>
        <p:spPr>
          <a:xfrm>
            <a:off x="6035040" y="2377440"/>
            <a:ext cx="502920" cy="27432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1828800"/>
            <a:ext cx="5120640" cy="1417320"/>
          </a:xfrm>
          <a:prstGeom prst="roundRect">
            <a:avLst/>
          </a:prstGeom>
          <a:solidFill>
            <a:srgbClr val="14283C"/>
          </a:solid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920240"/>
            <a:ext cx="4754880" cy="365760"/>
          </a:xfrm>
          <a:prstGeom prst="rect">
            <a:avLst/>
          </a:prstGeom>
          <a:noFill/>
        </p:spPr>
        <p:txBody>
          <a:bodyPr wrap="square">
            <a:spAutoFit/>
          </a:bodyPr>
          <a:lstStyle/>
          <a:p>
            <a:pPr algn="l">
              <a:defRPr sz="1600" b="1">
                <a:solidFill>
                  <a:srgbClr val="B7950B"/>
                </a:solidFill>
                <a:latin typeface="Calibri"/>
              </a:defRPr>
            </a:pPr>
            <a:r>
              <a:t>Magnitude Anomaly</a:t>
            </a:r>
          </a:p>
        </p:txBody>
      </p:sp>
      <p:sp>
        <p:nvSpPr>
          <p:cNvPr id="11" name="TextBox 10"/>
          <p:cNvSpPr txBox="1"/>
          <p:nvPr/>
        </p:nvSpPr>
        <p:spPr>
          <a:xfrm>
            <a:off x="6858000" y="2286000"/>
            <a:ext cx="4754880" cy="822960"/>
          </a:xfrm>
          <a:prstGeom prst="rect">
            <a:avLst/>
          </a:prstGeom>
          <a:noFill/>
        </p:spPr>
        <p:txBody>
          <a:bodyPr wrap="square">
            <a:spAutoFit/>
          </a:bodyPr>
          <a:lstStyle/>
          <a:p>
            <a:pPr algn="l">
              <a:defRPr sz="1400" b="0">
                <a:solidFill>
                  <a:srgbClr val="FFFFFF"/>
                </a:solidFill>
                <a:latin typeface="Calibri"/>
              </a:defRPr>
            </a:pPr>
            <a:r>
              <a:t>USR-042/USR-118 create network footprints; USR-234 C2 beacons raise DNS counts</a:t>
            </a:r>
          </a:p>
        </p:txBody>
      </p:sp>
      <p:sp>
        <p:nvSpPr>
          <p:cNvPr id="12" name="Rounded Rectangle 11"/>
          <p:cNvSpPr/>
          <p:nvPr/>
        </p:nvSpPr>
        <p:spPr>
          <a:xfrm>
            <a:off x="457200" y="3520440"/>
            <a:ext cx="5486400" cy="1417320"/>
          </a:xfrm>
          <a:prstGeom prst="roundRect">
            <a:avLst/>
          </a:prstGeom>
          <a:solidFill>
            <a:srgbClr val="14283C"/>
          </a:solidFill>
          <a:ln w="1905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611880"/>
            <a:ext cx="5120640" cy="365760"/>
          </a:xfrm>
          <a:prstGeom prst="rect">
            <a:avLst/>
          </a:prstGeom>
          <a:noFill/>
        </p:spPr>
        <p:txBody>
          <a:bodyPr wrap="square">
            <a:spAutoFit/>
          </a:bodyPr>
          <a:lstStyle/>
          <a:p>
            <a:pPr algn="l">
              <a:defRPr sz="1600" b="1">
                <a:solidFill>
                  <a:srgbClr val="0E6B8A"/>
                </a:solidFill>
                <a:latin typeface="Calibri"/>
              </a:defRPr>
            </a:pPr>
            <a:r>
              <a:t>Direction-Based Signal</a:t>
            </a:r>
          </a:p>
        </p:txBody>
      </p:sp>
      <p:sp>
        <p:nvSpPr>
          <p:cNvPr id="14" name="TextBox 13"/>
          <p:cNvSpPr txBox="1"/>
          <p:nvPr/>
        </p:nvSpPr>
        <p:spPr>
          <a:xfrm>
            <a:off x="640080" y="3977640"/>
            <a:ext cx="5120640" cy="822960"/>
          </a:xfrm>
          <a:prstGeom prst="rect">
            <a:avLst/>
          </a:prstGeom>
          <a:noFill/>
        </p:spPr>
        <p:txBody>
          <a:bodyPr wrap="square">
            <a:spAutoFit/>
          </a:bodyPr>
          <a:lstStyle/>
          <a:p>
            <a:pPr algn="l">
              <a:defRPr sz="1400" b="0">
                <a:solidFill>
                  <a:srgbClr val="FFFFFF"/>
                </a:solidFill>
                <a:latin typeface="Calibri"/>
              </a:defRPr>
            </a:pPr>
            <a:r>
              <a:t>Which resources accessed, what changed over time</a:t>
            </a:r>
          </a:p>
        </p:txBody>
      </p:sp>
      <p:sp>
        <p:nvSpPr>
          <p:cNvPr id="15" name="Right Arrow 14"/>
          <p:cNvSpPr/>
          <p:nvPr/>
        </p:nvSpPr>
        <p:spPr>
          <a:xfrm>
            <a:off x="6035040" y="4069080"/>
            <a:ext cx="502920" cy="27432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75120" y="3520440"/>
            <a:ext cx="5120640" cy="1417320"/>
          </a:xfrm>
          <a:prstGeom prst="roundRect">
            <a:avLst/>
          </a:prstGeom>
          <a:solidFill>
            <a:srgbClr val="14283C"/>
          </a:solid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3611880"/>
            <a:ext cx="4754880" cy="365760"/>
          </a:xfrm>
          <a:prstGeom prst="rect">
            <a:avLst/>
          </a:prstGeom>
          <a:noFill/>
        </p:spPr>
        <p:txBody>
          <a:bodyPr wrap="square">
            <a:spAutoFit/>
          </a:bodyPr>
          <a:lstStyle/>
          <a:p>
            <a:pPr algn="l">
              <a:defRPr sz="1600" b="1">
                <a:solidFill>
                  <a:srgbClr val="B7950B"/>
                </a:solidFill>
                <a:latin typeface="Calibri"/>
              </a:defRPr>
            </a:pPr>
            <a:r>
              <a:t>Behavioral Anomaly</a:t>
            </a:r>
          </a:p>
        </p:txBody>
      </p:sp>
      <p:sp>
        <p:nvSpPr>
          <p:cNvPr id="18" name="TextBox 17"/>
          <p:cNvSpPr txBox="1"/>
          <p:nvPr/>
        </p:nvSpPr>
        <p:spPr>
          <a:xfrm>
            <a:off x="6858000" y="3977640"/>
            <a:ext cx="4754880" cy="822960"/>
          </a:xfrm>
          <a:prstGeom prst="rect">
            <a:avLst/>
          </a:prstGeom>
          <a:noFill/>
        </p:spPr>
        <p:txBody>
          <a:bodyPr wrap="square">
            <a:spAutoFit/>
          </a:bodyPr>
          <a:lstStyle/>
          <a:p>
            <a:pPr algn="l">
              <a:defRPr sz="1400" b="0">
                <a:solidFill>
                  <a:srgbClr val="FFFFFF"/>
                </a:solidFill>
                <a:latin typeface="Calibri"/>
              </a:defRPr>
            </a:pPr>
            <a:r>
              <a:t>USR-156 access patterns shift without volume spike; USR-042 LOTL blends with admin</a:t>
            </a:r>
          </a:p>
        </p:txBody>
      </p:sp>
      <p:sp>
        <p:nvSpPr>
          <p:cNvPr id="19" name="Rounded Rectangle 18"/>
          <p:cNvSpPr/>
          <p:nvPr/>
        </p:nvSpPr>
        <p:spPr>
          <a:xfrm>
            <a:off x="457200" y="5440680"/>
            <a:ext cx="11247120" cy="1005840"/>
          </a:xfrm>
          <a:prstGeom prst="roundRect">
            <a:avLst/>
          </a:prstGeom>
          <a:solidFill>
            <a:srgbClr val="0A1926"/>
          </a:solid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B7950B"/>
                </a:solidFill>
                <a:latin typeface="Calibri"/>
              </a:defRPr>
            </a:pPr>
            <a:r>
              <a:t>Four attack types, two signal categories — no single method covers both.</a:t>
            </a:r>
          </a:p>
          <a:p>
            <a:pPr algn="ctr">
              <a:spcBef>
                <a:spcPts val="800"/>
              </a:spcBef>
              <a:spcAft>
                <a:spcPts val="300"/>
              </a:spcAft>
              <a:defRPr sz="1600" b="0">
                <a:solidFill>
                  <a:srgbClr val="FFFFFF"/>
                </a:solidFill>
                <a:latin typeface="Calibri"/>
              </a:defRPr>
            </a:pPr>
            <a:r>
              <a:t>LOF + Zone Divergence: each covers what the other misses.</a:t>
            </a:r>
          </a:p>
        </p:txBody>
      </p:sp>
      <p:sp>
        <p:nvSpPr>
          <p:cNvPr id="20" name="TextBox 19"/>
          <p:cNvSpPr txBox="1"/>
          <p:nvPr/>
        </p:nvSpPr>
        <p:spPr>
          <a:xfrm>
            <a:off x="457200" y="6492240"/>
            <a:ext cx="10972800" cy="274320"/>
          </a:xfrm>
          <a:prstGeom prst="rect">
            <a:avLst/>
          </a:prstGeom>
          <a:noFill/>
        </p:spPr>
        <p:txBody>
          <a:bodyPr wrap="square">
            <a:spAutoFit/>
          </a:bodyPr>
          <a:lstStyle/>
          <a:p>
            <a:pPr algn="l">
              <a:defRPr sz="1000" b="0">
                <a:solidFill>
                  <a:srgbClr val="3C4655"/>
                </a:solidFill>
                <a:latin typeface="Calibri"/>
              </a:defRPr>
            </a:pPr>
            <a:r>
              <a:t>22nd Century Technologies, Inc.  |  V-Intelligence UEBA Technical Analysis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Algorithms 1–4: Traditional Static Detection Methods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74320" y="1188720"/>
          <a:ext cx="10515600" cy="2743200"/>
        </p:xfrm>
        <a:graphic>
          <a:graphicData uri="http://schemas.openxmlformats.org/drawingml/2006/table">
            <a:tbl>
              <a:tblPr firstRow="1" bandRow="1">
                <a:tableStyleId>{5C22544A-7EE6-4342-B048-85BDC9FD1C3A}</a:tableStyleId>
              </a:tblPr>
              <a:tblGrid>
                <a:gridCol w="1828800"/>
                <a:gridCol w="2286000"/>
                <a:gridCol w="1280160"/>
                <a:gridCol w="1280160"/>
                <a:gridCol w="1280160"/>
                <a:gridCol w="1280160"/>
                <a:gridCol w="1280160"/>
              </a:tblGrid>
              <a:tr h="548640">
                <a:tc>
                  <a:txBody>
                    <a:bodyPr lIns="64008" rIns="64008" tIns="36576" bIns="36576"/>
                    <a:lstStyle/>
                    <a:p>
                      <a:pPr algn="ctr">
                        <a:defRPr sz="1200" b="1">
                          <a:solidFill>
                            <a:srgbClr val="FFFFFF"/>
                          </a:solidFill>
                          <a:latin typeface="Calibri"/>
                        </a:defRPr>
                      </a:pPr>
                      <a:r>
                        <a:t>Algorithm</a:t>
                      </a:r>
                    </a:p>
                  </a:txBody>
                  <a:tcPr anchor="ctr">
                    <a:solidFill>
                      <a:srgbClr val="0D1B2A"/>
                    </a:solidFill>
                  </a:tcPr>
                </a:tc>
                <a:tc>
                  <a:txBody>
                    <a:bodyPr lIns="64008" rIns="64008" tIns="36576" bIns="36576"/>
                    <a:lstStyle/>
                    <a:p>
                      <a:pPr algn="ctr">
                        <a:defRPr sz="1200" b="1">
                          <a:solidFill>
                            <a:srgbClr val="FFFFFF"/>
                          </a:solidFill>
                          <a:latin typeface="Calibri"/>
                        </a:defRPr>
                      </a:pPr>
                      <a:r>
                        <a:t>Core Approach</a:t>
                      </a:r>
                    </a:p>
                  </a:txBody>
                  <a:tcPr anchor="ctr">
                    <a:solidFill>
                      <a:srgbClr val="0D1B2A"/>
                    </a:solidFill>
                  </a:tcPr>
                </a:tc>
                <a:tc>
                  <a:txBody>
                    <a:bodyPr lIns="64008" rIns="64008" tIns="36576" bIns="36576"/>
                    <a:lstStyle/>
                    <a:p>
                      <a:pPr algn="ctr">
                        <a:defRPr sz="1200" b="1">
                          <a:solidFill>
                            <a:srgbClr val="FFFFFF"/>
                          </a:solidFill>
                          <a:latin typeface="Calibri"/>
                        </a:defRPr>
                      </a:pPr>
                      <a:r>
                        <a:t>USR-156</a:t>
                      </a:r>
                    </a:p>
                    <a:p>
                      <a:pPr algn="ctr">
                        <a:defRPr sz="1200" b="1">
                          <a:solidFill>
                            <a:srgbClr val="FFFFFF"/>
                          </a:solidFill>
                          <a:latin typeface="Calibri"/>
                        </a:defRPr>
                      </a:pPr>
                      <a:r>
                        <a:t>Insider</a:t>
                      </a:r>
                    </a:p>
                  </a:txBody>
                  <a:tcPr anchor="ctr">
                    <a:solidFill>
                      <a:srgbClr val="0D1B2A"/>
                    </a:solidFill>
                  </a:tcPr>
                </a:tc>
                <a:tc>
                  <a:txBody>
                    <a:bodyPr lIns="64008" rIns="64008" tIns="36576" bIns="36576"/>
                    <a:lstStyle/>
                    <a:p>
                      <a:pPr algn="ctr">
                        <a:defRPr sz="1200" b="1">
                          <a:solidFill>
                            <a:srgbClr val="FFFFFF"/>
                          </a:solidFill>
                          <a:latin typeface="Calibri"/>
                        </a:defRPr>
                      </a:pPr>
                      <a:r>
                        <a:t>USR-234</a:t>
                      </a:r>
                    </a:p>
                    <a:p>
                      <a:pPr algn="ctr">
                        <a:defRPr sz="1200" b="1">
                          <a:solidFill>
                            <a:srgbClr val="FFFFFF"/>
                          </a:solidFill>
                          <a:latin typeface="Calibri"/>
                        </a:defRPr>
                      </a:pPr>
                      <a:r>
                        <a:t>APT</a:t>
                      </a:r>
                    </a:p>
                  </a:txBody>
                  <a:tcPr anchor="ctr">
                    <a:solidFill>
                      <a:srgbClr val="0D1B2A"/>
                    </a:solidFill>
                  </a:tcPr>
                </a:tc>
                <a:tc>
                  <a:txBody>
                    <a:bodyPr lIns="64008" rIns="64008" tIns="36576" bIns="36576"/>
                    <a:lstStyle/>
                    <a:p>
                      <a:pPr algn="ctr">
                        <a:defRPr sz="1200" b="1">
                          <a:solidFill>
                            <a:srgbClr val="FFFFFF"/>
                          </a:solidFill>
                          <a:latin typeface="Calibri"/>
                        </a:defRPr>
                      </a:pPr>
                      <a:r>
                        <a:t>USR-042</a:t>
                      </a:r>
                    </a:p>
                    <a:p>
                      <a:pPr algn="ctr">
                        <a:defRPr sz="1200" b="1">
                          <a:solidFill>
                            <a:srgbClr val="FFFFFF"/>
                          </a:solidFill>
                          <a:latin typeface="Calibri"/>
                        </a:defRPr>
                      </a:pPr>
                      <a:r>
                        <a:t>Volt</a:t>
                      </a:r>
                    </a:p>
                  </a:txBody>
                  <a:tcPr anchor="ctr">
                    <a:solidFill>
                      <a:srgbClr val="0D1B2A"/>
                    </a:solidFill>
                  </a:tcPr>
                </a:tc>
                <a:tc>
                  <a:txBody>
                    <a:bodyPr lIns="64008" rIns="64008" tIns="36576" bIns="36576"/>
                    <a:lstStyle/>
                    <a:p>
                      <a:pPr algn="ctr">
                        <a:defRPr sz="1200" b="1">
                          <a:solidFill>
                            <a:srgbClr val="FFFFFF"/>
                          </a:solidFill>
                          <a:latin typeface="Calibri"/>
                        </a:defRPr>
                      </a:pPr>
                      <a:r>
                        <a:t>USR-118</a:t>
                      </a:r>
                    </a:p>
                    <a:p>
                      <a:pPr algn="ctr">
                        <a:defRPr sz="1200" b="1">
                          <a:solidFill>
                            <a:srgbClr val="FFFFFF"/>
                          </a:solidFill>
                          <a:latin typeface="Calibri"/>
                        </a:defRPr>
                      </a:pPr>
                      <a:r>
                        <a:t>Salt</a:t>
                      </a:r>
                    </a:p>
                  </a:txBody>
                  <a:tcPr anchor="ctr">
                    <a:solidFill>
                      <a:srgbClr val="0D1B2A"/>
                    </a:solidFill>
                  </a:tcPr>
                </a:tc>
                <a:tc>
                  <a:txBody>
                    <a:bodyPr lIns="64008" rIns="64008" tIns="36576" bIns="36576"/>
                    <a:lstStyle/>
                    <a:p>
                      <a:pPr algn="ctr">
                        <a:defRPr sz="1200" b="1">
                          <a:solidFill>
                            <a:srgbClr val="FFFFFF"/>
                          </a:solidFill>
                          <a:latin typeface="Calibri"/>
                        </a:defRPr>
                      </a:pPr>
                      <a:r>
                        <a:t>FP Rate</a:t>
                      </a:r>
                    </a:p>
                  </a:txBody>
                  <a:tcPr anchor="ctr">
                    <a:solidFill>
                      <a:srgbClr val="0D1B2A"/>
                    </a:solidFill>
                  </a:tcPr>
                </a:tc>
              </a:tr>
              <a:tr h="548640">
                <a:tc>
                  <a:txBody>
                    <a:bodyPr lIns="64008" rIns="64008" tIns="36576" bIns="36576"/>
                    <a:lstStyle/>
                    <a:p>
                      <a:pPr algn="l">
                        <a:defRPr sz="1100" b="0">
                          <a:solidFill>
                            <a:srgbClr val="0D1B2A"/>
                          </a:solidFill>
                          <a:latin typeface="Calibri"/>
                        </a:defRPr>
                      </a:pPr>
                      <a:r>
                        <a:t>Isolation Forest</a:t>
                      </a:r>
                    </a:p>
                  </a:txBody>
                  <a:tcPr anchor="ctr">
                    <a:solidFill>
                      <a:srgbClr val="FFFFFF"/>
                    </a:solidFill>
                  </a:tcPr>
                </a:tc>
                <a:tc>
                  <a:txBody>
                    <a:bodyPr lIns="64008" rIns="64008" tIns="36576" bIns="36576"/>
                    <a:lstStyle/>
                    <a:p>
                      <a:pPr algn="ctr">
                        <a:defRPr sz="1100" b="0">
                          <a:solidFill>
                            <a:srgbClr val="0D1B2A"/>
                          </a:solidFill>
                          <a:latin typeface="Calibri"/>
                        </a:defRPr>
                      </a:pPr>
                      <a:r>
                        <a:t>Randomly partition;</a:t>
                      </a:r>
                    </a:p>
                    <a:p>
                      <a:pPr algn="ctr">
                        <a:defRPr sz="1100" b="0">
                          <a:solidFill>
                            <a:srgbClr val="0D1B2A"/>
                          </a:solidFill>
                          <a:latin typeface="Calibri"/>
                        </a:defRPr>
                      </a:pPr>
                      <a:r>
                        <a:t>isolate outliers</a:t>
                      </a:r>
                    </a:p>
                  </a:txBody>
                  <a:tcPr anchor="ctr">
                    <a:solidFill>
                      <a:srgbClr val="FFFFFF"/>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0">
                          <a:solidFill>
                            <a:srgbClr val="0D1B2A"/>
                          </a:solidFill>
                          <a:latin typeface="Calibri"/>
                        </a:defRPr>
                      </a:pPr>
                      <a:r>
                        <a:t>2.2%</a:t>
                      </a:r>
                    </a:p>
                  </a:txBody>
                  <a:tcPr anchor="ctr">
                    <a:solidFill>
                      <a:srgbClr val="FFFFFF"/>
                    </a:solidFill>
                  </a:tcPr>
                </a:tc>
              </a:tr>
              <a:tr h="548640">
                <a:tc>
                  <a:txBody>
                    <a:bodyPr lIns="64008" rIns="64008" tIns="36576" bIns="36576"/>
                    <a:lstStyle/>
                    <a:p>
                      <a:pPr algn="l">
                        <a:defRPr sz="1100" b="0">
                          <a:solidFill>
                            <a:srgbClr val="0D1B2A"/>
                          </a:solidFill>
                          <a:latin typeface="Calibri"/>
                        </a:defRPr>
                      </a:pPr>
                      <a:r>
                        <a:t>One-Class SVM</a:t>
                      </a:r>
                    </a:p>
                  </a:txBody>
                  <a:tcPr anchor="ctr">
                    <a:solidFill>
                      <a:srgbClr val="F0F2F5"/>
                    </a:solidFill>
                  </a:tcPr>
                </a:tc>
                <a:tc>
                  <a:txBody>
                    <a:bodyPr lIns="64008" rIns="64008" tIns="36576" bIns="36576"/>
                    <a:lstStyle/>
                    <a:p>
                      <a:pPr algn="ctr">
                        <a:defRPr sz="1100" b="0">
                          <a:solidFill>
                            <a:srgbClr val="0D1B2A"/>
                          </a:solidFill>
                          <a:latin typeface="Calibri"/>
                        </a:defRPr>
                      </a:pPr>
                      <a:r>
                        <a:t>Learn boundary around</a:t>
                      </a:r>
                    </a:p>
                    <a:p>
                      <a:pPr algn="ctr">
                        <a:defRPr sz="1100" b="0">
                          <a:solidFill>
                            <a:srgbClr val="0D1B2A"/>
                          </a:solidFill>
                          <a:latin typeface="Calibri"/>
                        </a:defRPr>
                      </a:pPr>
                      <a:r>
                        <a:t>normal data</a:t>
                      </a:r>
                    </a:p>
                  </a:txBody>
                  <a:tcPr anchor="ctr">
                    <a:solidFill>
                      <a:srgbClr val="F0F2F5"/>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19.6%</a:t>
                      </a:r>
                    </a:p>
                  </a:txBody>
                  <a:tcPr anchor="ctr">
                    <a:solidFill>
                      <a:srgbClr val="C0392B"/>
                    </a:solidFill>
                  </a:tcPr>
                </a:tc>
              </a:tr>
              <a:tr h="548640">
                <a:tc>
                  <a:txBody>
                    <a:bodyPr lIns="64008" rIns="64008" tIns="36576" bIns="36576"/>
                    <a:lstStyle/>
                    <a:p>
                      <a:pPr algn="l">
                        <a:defRPr sz="1100" b="0">
                          <a:solidFill>
                            <a:srgbClr val="0D1B2A"/>
                          </a:solidFill>
                          <a:latin typeface="Calibri"/>
                        </a:defRPr>
                      </a:pPr>
                      <a:r>
                        <a:t>Local Outlier Factor</a:t>
                      </a:r>
                    </a:p>
                  </a:txBody>
                  <a:tcPr anchor="ctr">
                    <a:solidFill>
                      <a:srgbClr val="FFFFFF"/>
                    </a:solidFill>
                  </a:tcPr>
                </a:tc>
                <a:tc>
                  <a:txBody>
                    <a:bodyPr lIns="64008" rIns="64008" tIns="36576" bIns="36576"/>
                    <a:lstStyle/>
                    <a:p>
                      <a:pPr algn="ctr">
                        <a:defRPr sz="1100" b="0">
                          <a:solidFill>
                            <a:srgbClr val="0D1B2A"/>
                          </a:solidFill>
                          <a:latin typeface="Calibri"/>
                        </a:defRPr>
                      </a:pPr>
                      <a:r>
                        <a:t>Compare local density</a:t>
                      </a:r>
                    </a:p>
                    <a:p>
                      <a:pPr algn="ctr">
                        <a:defRPr sz="1100" b="0">
                          <a:solidFill>
                            <a:srgbClr val="0D1B2A"/>
                          </a:solidFill>
                          <a:latin typeface="Calibri"/>
                        </a:defRPr>
                      </a:pPr>
                      <a:r>
                        <a:t>to neighbors</a:t>
                      </a:r>
                    </a:p>
                  </a:txBody>
                  <a:tcPr anchor="ctr">
                    <a:solidFill>
                      <a:srgbClr val="FFFFFF"/>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0">
                          <a:solidFill>
                            <a:srgbClr val="0D1B2A"/>
                          </a:solidFill>
                          <a:latin typeface="Calibri"/>
                        </a:defRPr>
                      </a:pPr>
                      <a:r>
                        <a:t>0.0%</a:t>
                      </a:r>
                    </a:p>
                  </a:txBody>
                  <a:tcPr anchor="ctr">
                    <a:solidFill>
                      <a:srgbClr val="FFFFFF"/>
                    </a:solidFill>
                  </a:tcPr>
                </a:tc>
              </a:tr>
              <a:tr h="548640">
                <a:tc>
                  <a:txBody>
                    <a:bodyPr lIns="64008" rIns="64008" tIns="36576" bIns="36576"/>
                    <a:lstStyle/>
                    <a:p>
                      <a:pPr algn="l">
                        <a:defRPr sz="1100" b="0">
                          <a:solidFill>
                            <a:srgbClr val="0D1B2A"/>
                          </a:solidFill>
                          <a:latin typeface="Calibri"/>
                        </a:defRPr>
                      </a:pPr>
                      <a:r>
                        <a:t>Z-Score (|z|&gt;3)</a:t>
                      </a:r>
                    </a:p>
                  </a:txBody>
                  <a:tcPr anchor="ctr">
                    <a:solidFill>
                      <a:srgbClr val="F0F2F5"/>
                    </a:solidFill>
                  </a:tcPr>
                </a:tc>
                <a:tc>
                  <a:txBody>
                    <a:bodyPr lIns="64008" rIns="64008" tIns="36576" bIns="36576"/>
                    <a:lstStyle/>
                    <a:p>
                      <a:pPr algn="ctr">
                        <a:defRPr sz="1100" b="0">
                          <a:solidFill>
                            <a:srgbClr val="0D1B2A"/>
                          </a:solidFill>
                          <a:latin typeface="Calibri"/>
                        </a:defRPr>
                      </a:pPr>
                      <a:r>
                        <a:t>Flag features &gt;3σ</a:t>
                      </a:r>
                    </a:p>
                    <a:p>
                      <a:pPr algn="ctr">
                        <a:defRPr sz="1100" b="0">
                          <a:solidFill>
                            <a:srgbClr val="0D1B2A"/>
                          </a:solidFill>
                          <a:latin typeface="Calibri"/>
                        </a:defRPr>
                      </a:pPr>
                      <a:r>
                        <a:t>from mean</a:t>
                      </a:r>
                    </a:p>
                  </a:txBody>
                  <a:tcPr anchor="ctr">
                    <a:solidFill>
                      <a:srgbClr val="F0F2F5"/>
                    </a:solidFill>
                  </a:tcPr>
                </a:tc>
                <a:tc>
                  <a:txBody>
                    <a:bodyPr lIns="64008" rIns="64008" tIns="36576" bIns="36576"/>
                    <a:lstStyle/>
                    <a:p>
                      <a:pPr algn="ctr">
                        <a:defRPr sz="1100" b="1">
                          <a:solidFill>
                            <a:srgbClr val="FFFFFF"/>
                          </a:solidFill>
                          <a:latin typeface="Calibri"/>
                        </a:defRPr>
                      </a:pPr>
                      <a:r>
                        <a:t>MISS</a:t>
                      </a:r>
                    </a:p>
                  </a:txBody>
                  <a:tcPr anchor="ctr">
                    <a:solidFill>
                      <a:srgbClr val="C0392B"/>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1">
                          <a:solidFill>
                            <a:srgbClr val="FFFFFF"/>
                          </a:solidFill>
                          <a:latin typeface="Calibri"/>
                        </a:defRPr>
                      </a:pPr>
                      <a:r>
                        <a:t>DET</a:t>
                      </a:r>
                    </a:p>
                  </a:txBody>
                  <a:tcPr anchor="ctr">
                    <a:solidFill>
                      <a:srgbClr val="27AE60"/>
                    </a:solidFill>
                  </a:tcPr>
                </a:tc>
                <a:tc>
                  <a:txBody>
                    <a:bodyPr lIns="64008" rIns="64008" tIns="36576" bIns="36576"/>
                    <a:lstStyle/>
                    <a:p>
                      <a:pPr algn="ctr">
                        <a:defRPr sz="1100" b="0">
                          <a:solidFill>
                            <a:srgbClr val="0D1B2A"/>
                          </a:solidFill>
                          <a:latin typeface="Calibri"/>
                        </a:defRPr>
                      </a:pPr>
                      <a:r>
                        <a:t>2.2%</a:t>
                      </a:r>
                    </a:p>
                  </a:txBody>
                  <a:tcPr anchor="ctr">
                    <a:solidFill>
                      <a:srgbClr val="F0F2F5"/>
                    </a:solidFill>
                  </a:tcPr>
                </a:tc>
              </a:tr>
            </a:tbl>
          </a:graphicData>
        </a:graphic>
      </p:graphicFrame>
      <p:sp>
        <p:nvSpPr>
          <p:cNvPr id="5" name="Rounded Rectangle 4"/>
          <p:cNvSpPr/>
          <p:nvPr/>
        </p:nvSpPr>
        <p:spPr>
          <a:xfrm>
            <a:off x="457200" y="4114800"/>
            <a:ext cx="11247120" cy="20116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37160"/>
          <a:lstStyle/>
          <a:p>
            <a:pPr algn="l">
              <a:defRPr sz="2000" b="1">
                <a:solidFill>
                  <a:srgbClr val="B7950B"/>
                </a:solidFill>
                <a:latin typeface="Calibri"/>
              </a:defRPr>
            </a:pPr>
            <a:r>
              <a:t>Key Insight: LOF is the Best Single Traditional Method</a:t>
            </a:r>
          </a:p>
          <a:p>
            <a:pPr algn="l">
              <a:spcBef>
                <a:spcPts val="800"/>
              </a:spcBef>
              <a:spcAft>
                <a:spcPts val="300"/>
              </a:spcAft>
              <a:defRPr sz="1300" b="0">
                <a:solidFill>
                  <a:srgbClr val="FFFFFF"/>
                </a:solidFill>
                <a:latin typeface="Calibri"/>
              </a:defRPr>
            </a:pPr>
            <a:r>
              <a:t>•  LOF detects 3/4 attacks at 0% FP by comparing local density — USR-234 C2 beacons, USR-042 lateral movement, and USR-118 DNS tunneling all create detectable density changes.</a:t>
            </a:r>
          </a:p>
          <a:p>
            <a:pPr algn="l">
              <a:spcBef>
                <a:spcPts val="800"/>
              </a:spcBef>
              <a:spcAft>
                <a:spcPts val="300"/>
              </a:spcAft>
              <a:defRPr sz="1300" b="0">
                <a:solidFill>
                  <a:srgbClr val="FFFFFF"/>
                </a:solidFill>
                <a:latin typeface="Calibri"/>
              </a:defRPr>
            </a:pPr>
            <a:r>
              <a:t>•  But USR-156's feature values remain within normal ranges throughout the entire 8-month insider campaign — no traditional method reliably catches this.</a:t>
            </a:r>
          </a:p>
          <a:p>
            <a:pPr algn="l">
              <a:spcBef>
                <a:spcPts val="800"/>
              </a:spcBef>
              <a:spcAft>
                <a:spcPts val="300"/>
              </a:spcAft>
              <a:defRPr sz="1300" b="0">
                <a:solidFill>
                  <a:srgbClr val="FFFFFF"/>
                </a:solidFill>
                <a:latin typeface="Calibri"/>
              </a:defRPr>
            </a:pPr>
            <a:r>
              <a:t>•  Only behavioral analysis (Tier 3 Zone Divergence) can detect USR-156 by identifying which behavioral dimensions are drifting, not just overall magnitude.</a:t>
            </a:r>
          </a:p>
        </p:txBody>
      </p:sp>
      <p:sp>
        <p:nvSpPr>
          <p:cNvPr id="6" name="TextBox 5"/>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Algorithms 5–6: Temporal Change Detection Methods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500" b="0">
                <a:solidFill>
                  <a:srgbClr val="505050"/>
                </a:solidFill>
                <a:latin typeface="Calibri"/>
              </a:defRPr>
            </a:pPr>
            <a:r>
              <a:t>Temporal methods add a time dimension: they compare each user's recent behavior against their own historical baseline rather than against the population.</a:t>
            </a:r>
          </a:p>
        </p:txBody>
      </p:sp>
      <p:sp>
        <p:nvSpPr>
          <p:cNvPr id="5" name="Rounded Rectangle 4"/>
          <p:cNvSpPr/>
          <p:nvPr/>
        </p:nvSpPr>
        <p:spPr>
          <a:xfrm>
            <a:off x="457200" y="1737360"/>
            <a:ext cx="5486400" cy="365760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37360"/>
            <a:ext cx="5486400" cy="64008"/>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19"/>
            <a:ext cx="5120640" cy="411480"/>
          </a:xfrm>
          <a:prstGeom prst="rect">
            <a:avLst/>
          </a:prstGeom>
          <a:noFill/>
        </p:spPr>
        <p:txBody>
          <a:bodyPr wrap="square">
            <a:spAutoFit/>
          </a:bodyPr>
          <a:lstStyle/>
          <a:p>
            <a:pPr algn="l">
              <a:defRPr sz="1900" b="1">
                <a:solidFill>
                  <a:srgbClr val="0E6B8A"/>
                </a:solidFill>
                <a:latin typeface="Calibri"/>
              </a:defRPr>
            </a:pPr>
            <a:r>
              <a:t>Algorithm 5 — Temporal Z-Score</a:t>
            </a:r>
          </a:p>
        </p:txBody>
      </p:sp>
      <p:sp>
        <p:nvSpPr>
          <p:cNvPr id="8" name="TextBox 7"/>
          <p:cNvSpPr txBox="1"/>
          <p:nvPr/>
        </p:nvSpPr>
        <p:spPr>
          <a:xfrm>
            <a:off x="640080" y="2377440"/>
            <a:ext cx="5120640" cy="548640"/>
          </a:xfrm>
          <a:prstGeom prst="rect">
            <a:avLst/>
          </a:prstGeom>
          <a:noFill/>
        </p:spPr>
        <p:txBody>
          <a:bodyPr wrap="square">
            <a:spAutoFit/>
          </a:bodyPr>
          <a:lstStyle/>
          <a:p>
            <a:pPr algn="l">
              <a:defRPr sz="1300" b="0">
                <a:solidFill>
                  <a:srgbClr val="505050"/>
                </a:solidFill>
                <a:latin typeface="Calibri"/>
              </a:defRPr>
            </a:pPr>
            <a:r>
              <a:t>Train on first half of the time window; test on the second half. Flag features that deviate more than 2σ from the user's own training-period baseline.</a:t>
            </a:r>
          </a:p>
        </p:txBody>
      </p:sp>
      <p:sp>
        <p:nvSpPr>
          <p:cNvPr id="9" name="TextBox 8"/>
          <p:cNvSpPr txBox="1"/>
          <p:nvPr/>
        </p:nvSpPr>
        <p:spPr>
          <a:xfrm>
            <a:off x="640080" y="3017520"/>
            <a:ext cx="2560320" cy="347472"/>
          </a:xfrm>
          <a:prstGeom prst="rect">
            <a:avLst/>
          </a:prstGeom>
          <a:noFill/>
        </p:spPr>
        <p:txBody>
          <a:bodyPr wrap="square">
            <a:spAutoFit/>
          </a:bodyPr>
          <a:lstStyle/>
          <a:p>
            <a:pPr algn="l">
              <a:defRPr sz="1500" b="1">
                <a:solidFill>
                  <a:srgbClr val="0D1B2A"/>
                </a:solidFill>
                <a:latin typeface="Calibri"/>
              </a:defRPr>
            </a:pPr>
            <a:r>
              <a:t>All 4 attacks:</a:t>
            </a:r>
          </a:p>
        </p:txBody>
      </p:sp>
      <p:sp>
        <p:nvSpPr>
          <p:cNvPr id="10" name="Rectangle 9"/>
          <p:cNvSpPr/>
          <p:nvPr/>
        </p:nvSpPr>
        <p:spPr>
          <a:xfrm>
            <a:off x="3291840" y="3017520"/>
            <a:ext cx="2377440"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DETECTED</a:t>
            </a:r>
          </a:p>
        </p:txBody>
      </p:sp>
      <p:sp>
        <p:nvSpPr>
          <p:cNvPr id="11" name="Rounded Rectangle 10"/>
          <p:cNvSpPr/>
          <p:nvPr/>
        </p:nvSpPr>
        <p:spPr>
          <a:xfrm>
            <a:off x="731520" y="3931920"/>
            <a:ext cx="4846320" cy="731520"/>
          </a:xfrm>
          <a:prstGeom prst="roundRect">
            <a:avLst/>
          </a:prstGeom>
          <a:solidFill>
            <a:srgbClr val="FDF0F0"/>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C0392B"/>
                </a:solidFill>
                <a:latin typeface="Calibri"/>
              </a:defRPr>
            </a:pPr>
            <a:r>
              <a:t>False Positive Rate: 100.0%</a:t>
            </a:r>
            <a:br/>
            <a:r>
              <a:t>All 46 normal users flagged</a:t>
            </a:r>
          </a:p>
        </p:txBody>
      </p:sp>
      <p:sp>
        <p:nvSpPr>
          <p:cNvPr id="12" name="Rounded Rectangle 11"/>
          <p:cNvSpPr/>
          <p:nvPr/>
        </p:nvSpPr>
        <p:spPr>
          <a:xfrm>
            <a:off x="6492240" y="1737360"/>
            <a:ext cx="5486400" cy="365760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1737360"/>
            <a:ext cx="5486400" cy="640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874519"/>
            <a:ext cx="5120640" cy="411480"/>
          </a:xfrm>
          <a:prstGeom prst="rect">
            <a:avLst/>
          </a:prstGeom>
          <a:noFill/>
        </p:spPr>
        <p:txBody>
          <a:bodyPr wrap="square">
            <a:spAutoFit/>
          </a:bodyPr>
          <a:lstStyle/>
          <a:p>
            <a:pPr algn="l">
              <a:defRPr sz="1900" b="1">
                <a:solidFill>
                  <a:srgbClr val="1B4F72"/>
                </a:solidFill>
                <a:latin typeface="Calibri"/>
              </a:defRPr>
            </a:pPr>
            <a:r>
              <a:t>Algorithm 6 — Feature-Level Change Detection</a:t>
            </a:r>
          </a:p>
        </p:txBody>
      </p:sp>
      <p:sp>
        <p:nvSpPr>
          <p:cNvPr id="15" name="TextBox 14"/>
          <p:cNvSpPr txBox="1"/>
          <p:nvPr/>
        </p:nvSpPr>
        <p:spPr>
          <a:xfrm>
            <a:off x="6675120" y="2377440"/>
            <a:ext cx="5120640" cy="548640"/>
          </a:xfrm>
          <a:prstGeom prst="rect">
            <a:avLst/>
          </a:prstGeom>
          <a:noFill/>
        </p:spPr>
        <p:txBody>
          <a:bodyPr wrap="square">
            <a:spAutoFit/>
          </a:bodyPr>
          <a:lstStyle/>
          <a:p>
            <a:pPr algn="l">
              <a:defRPr sz="1300" b="0">
                <a:solidFill>
                  <a:srgbClr val="505050"/>
                </a:solidFill>
                <a:latin typeface="Calibri"/>
              </a:defRPr>
            </a:pPr>
            <a:r>
              <a:t>Tracks each feature's trajectory over time and flags sustained directional shifts. Detects persistent changes in individual feature values across weeks.</a:t>
            </a:r>
          </a:p>
        </p:txBody>
      </p:sp>
      <p:sp>
        <p:nvSpPr>
          <p:cNvPr id="16" name="TextBox 15"/>
          <p:cNvSpPr txBox="1"/>
          <p:nvPr/>
        </p:nvSpPr>
        <p:spPr>
          <a:xfrm>
            <a:off x="6675120" y="3017520"/>
            <a:ext cx="2560320" cy="347472"/>
          </a:xfrm>
          <a:prstGeom prst="rect">
            <a:avLst/>
          </a:prstGeom>
          <a:noFill/>
        </p:spPr>
        <p:txBody>
          <a:bodyPr wrap="square">
            <a:spAutoFit/>
          </a:bodyPr>
          <a:lstStyle/>
          <a:p>
            <a:pPr algn="l">
              <a:defRPr sz="1500" b="1">
                <a:solidFill>
                  <a:srgbClr val="0D1B2A"/>
                </a:solidFill>
                <a:latin typeface="Calibri"/>
              </a:defRPr>
            </a:pPr>
            <a:r>
              <a:t>USR-042, USR-118:</a:t>
            </a:r>
          </a:p>
        </p:txBody>
      </p:sp>
      <p:sp>
        <p:nvSpPr>
          <p:cNvPr id="17" name="Rectangle 16"/>
          <p:cNvSpPr/>
          <p:nvPr/>
        </p:nvSpPr>
        <p:spPr>
          <a:xfrm>
            <a:off x="9326880" y="3017520"/>
            <a:ext cx="2377440"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DETECTED</a:t>
            </a:r>
          </a:p>
        </p:txBody>
      </p:sp>
      <p:sp>
        <p:nvSpPr>
          <p:cNvPr id="18" name="TextBox 17"/>
          <p:cNvSpPr txBox="1"/>
          <p:nvPr/>
        </p:nvSpPr>
        <p:spPr>
          <a:xfrm>
            <a:off x="6675120" y="3383280"/>
            <a:ext cx="2560320" cy="347472"/>
          </a:xfrm>
          <a:prstGeom prst="rect">
            <a:avLst/>
          </a:prstGeom>
          <a:noFill/>
        </p:spPr>
        <p:txBody>
          <a:bodyPr wrap="square">
            <a:spAutoFit/>
          </a:bodyPr>
          <a:lstStyle/>
          <a:p>
            <a:pPr algn="l">
              <a:defRPr sz="1500" b="1">
                <a:solidFill>
                  <a:srgbClr val="0D1B2A"/>
                </a:solidFill>
                <a:latin typeface="Calibri"/>
              </a:defRPr>
            </a:pPr>
            <a:r>
              <a:t>USR-156, USR-234:</a:t>
            </a:r>
          </a:p>
        </p:txBody>
      </p:sp>
      <p:sp>
        <p:nvSpPr>
          <p:cNvPr id="19" name="Rectangle 18"/>
          <p:cNvSpPr/>
          <p:nvPr/>
        </p:nvSpPr>
        <p:spPr>
          <a:xfrm>
            <a:off x="9326880" y="3383280"/>
            <a:ext cx="237744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MISSED</a:t>
            </a:r>
          </a:p>
        </p:txBody>
      </p:sp>
      <p:sp>
        <p:nvSpPr>
          <p:cNvPr id="20" name="Rounded Rectangle 19"/>
          <p:cNvSpPr/>
          <p:nvPr/>
        </p:nvSpPr>
        <p:spPr>
          <a:xfrm>
            <a:off x="6766560" y="3931920"/>
            <a:ext cx="4846320" cy="731520"/>
          </a:xfrm>
          <a:prstGeom prst="roundRect">
            <a:avLst/>
          </a:prstGeom>
          <a:solidFill>
            <a:srgbClr val="FFFCF0"/>
          </a:solidFill>
          <a:ln w="190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B7950B"/>
                </a:solidFill>
                <a:latin typeface="Calibri"/>
              </a:defRPr>
            </a:pPr>
            <a:r>
              <a:t>False Positive Rate: 6.5%</a:t>
            </a:r>
            <a:br/>
            <a:r>
              <a:t>3 of 46 normal users flagged (but 2/4 missed)</a:t>
            </a:r>
          </a:p>
        </p:txBody>
      </p:sp>
      <p:sp>
        <p:nvSpPr>
          <p:cNvPr id="21" name="Rounded Rectangle 20"/>
          <p:cNvSpPr/>
          <p:nvPr/>
        </p:nvSpPr>
        <p:spPr>
          <a:xfrm>
            <a:off x="1645920" y="5760720"/>
            <a:ext cx="8869680" cy="59436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700" b="1">
                <a:solidFill>
                  <a:srgbClr val="B7950B"/>
                </a:solidFill>
                <a:latin typeface="Calibri"/>
              </a:defRPr>
            </a:pPr>
            <a:r>
              <a:t>Detection without precision is operational noise, not actionable intelligence</a:t>
            </a:r>
          </a:p>
        </p:txBody>
      </p:sp>
      <p:sp>
        <p:nvSpPr>
          <p:cNvPr id="22" name="TextBox 21"/>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V-Intelligence UEBA Behavioral Drift Direction Analysis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57200"/>
          </a:xfrm>
          <a:prstGeom prst="rect">
            <a:avLst/>
          </a:prstGeom>
          <a:noFill/>
        </p:spPr>
        <p:txBody>
          <a:bodyPr wrap="square">
            <a:spAutoFit/>
          </a:bodyPr>
          <a:lstStyle/>
          <a:p>
            <a:pPr algn="l">
              <a:defRPr sz="1500" b="0">
                <a:solidFill>
                  <a:srgbClr val="505050"/>
                </a:solidFill>
                <a:latin typeface="Calibri"/>
              </a:defRPr>
            </a:pPr>
            <a:r>
              <a:t>V-Intelligence UEBA analyzes the trajectory of behavioral change — not whether a user is an outlier today, but whether their behavior is consistently moving in a threat-consistent direction over time.</a:t>
            </a:r>
          </a:p>
        </p:txBody>
      </p:sp>
      <p:sp>
        <p:nvSpPr>
          <p:cNvPr id="5" name="Oval 4"/>
          <p:cNvSpPr/>
          <p:nvPr/>
        </p:nvSpPr>
        <p:spPr>
          <a:xfrm>
            <a:off x="106984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1</a:t>
            </a:r>
          </a:p>
        </p:txBody>
      </p:sp>
      <p:sp>
        <p:nvSpPr>
          <p:cNvPr id="6" name="Rectangle 5"/>
          <p:cNvSpPr/>
          <p:nvPr/>
        </p:nvSpPr>
        <p:spPr>
          <a:xfrm>
            <a:off x="27432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Behavioral</a:t>
            </a:r>
            <a:br/>
            <a:r>
              <a:t>Serialization</a:t>
            </a:r>
          </a:p>
        </p:txBody>
      </p:sp>
      <p:sp>
        <p:nvSpPr>
          <p:cNvPr id="7" name="Rounded Rectangle 6"/>
          <p:cNvSpPr/>
          <p:nvPr/>
        </p:nvSpPr>
        <p:spPr>
          <a:xfrm>
            <a:off x="27432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Telemetry is transformed</a:t>
            </a:r>
            <a:br/>
            <a:r>
              <a:t>into structured behavioral</a:t>
            </a:r>
            <a:br/>
            <a:r>
              <a:t>descriptions for each</a:t>
            </a:r>
            <a:br/>
            <a:r>
              <a:t>user per time window</a:t>
            </a:r>
          </a:p>
        </p:txBody>
      </p:sp>
      <p:sp>
        <p:nvSpPr>
          <p:cNvPr id="8" name="Right Arrow 7"/>
          <p:cNvSpPr/>
          <p:nvPr/>
        </p:nvSpPr>
        <p:spPr>
          <a:xfrm>
            <a:off x="242316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44728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2</a:t>
            </a:r>
          </a:p>
        </p:txBody>
      </p:sp>
      <p:sp>
        <p:nvSpPr>
          <p:cNvPr id="10" name="Rectangle 9"/>
          <p:cNvSpPr/>
          <p:nvPr/>
        </p:nvSpPr>
        <p:spPr>
          <a:xfrm>
            <a:off x="265176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Semantic</a:t>
            </a:r>
            <a:br/>
            <a:r>
              <a:t>Representation</a:t>
            </a:r>
          </a:p>
        </p:txBody>
      </p:sp>
      <p:sp>
        <p:nvSpPr>
          <p:cNvPr id="11" name="Rounded Rectangle 10"/>
          <p:cNvSpPr/>
          <p:nvPr/>
        </p:nvSpPr>
        <p:spPr>
          <a:xfrm>
            <a:off x="265176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Behavioral descriptions</a:t>
            </a:r>
            <a:br/>
            <a:r>
              <a:t>are encoded into a</a:t>
            </a:r>
            <a:br/>
            <a:r>
              <a:t>semantic space preserving</a:t>
            </a:r>
            <a:br/>
            <a:r>
              <a:t>meaning, not just magnitude</a:t>
            </a:r>
          </a:p>
        </p:txBody>
      </p:sp>
      <p:sp>
        <p:nvSpPr>
          <p:cNvPr id="12" name="Right Arrow 11"/>
          <p:cNvSpPr/>
          <p:nvPr/>
        </p:nvSpPr>
        <p:spPr>
          <a:xfrm>
            <a:off x="480060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2472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3</a:t>
            </a:r>
          </a:p>
        </p:txBody>
      </p:sp>
      <p:sp>
        <p:nvSpPr>
          <p:cNvPr id="14" name="Rectangle 13"/>
          <p:cNvSpPr/>
          <p:nvPr/>
        </p:nvSpPr>
        <p:spPr>
          <a:xfrm>
            <a:off x="502920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Trajectory</a:t>
            </a:r>
            <a:br/>
            <a:r>
              <a:t>Tracking</a:t>
            </a:r>
          </a:p>
        </p:txBody>
      </p:sp>
      <p:sp>
        <p:nvSpPr>
          <p:cNvPr id="15" name="Rounded Rectangle 14"/>
          <p:cNvSpPr/>
          <p:nvPr/>
        </p:nvSpPr>
        <p:spPr>
          <a:xfrm>
            <a:off x="502920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Each user's behavioral</a:t>
            </a:r>
            <a:br/>
            <a:r>
              <a:t>vector is tracked week</a:t>
            </a:r>
            <a:br/>
            <a:r>
              <a:t>over week to reveal</a:t>
            </a:r>
            <a:br/>
            <a:r>
              <a:t>directional movement</a:t>
            </a:r>
          </a:p>
        </p:txBody>
      </p:sp>
      <p:sp>
        <p:nvSpPr>
          <p:cNvPr id="16" name="Right Arrow 15"/>
          <p:cNvSpPr/>
          <p:nvPr/>
        </p:nvSpPr>
        <p:spPr>
          <a:xfrm>
            <a:off x="717804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0216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4</a:t>
            </a:r>
          </a:p>
        </p:txBody>
      </p:sp>
      <p:sp>
        <p:nvSpPr>
          <p:cNvPr id="18" name="Rectangle 17"/>
          <p:cNvSpPr/>
          <p:nvPr/>
        </p:nvSpPr>
        <p:spPr>
          <a:xfrm>
            <a:off x="740664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Change-Point</a:t>
            </a:r>
            <a:br/>
            <a:r>
              <a:t>Identification</a:t>
            </a:r>
          </a:p>
        </p:txBody>
      </p:sp>
      <p:sp>
        <p:nvSpPr>
          <p:cNvPr id="19" name="Rounded Rectangle 18"/>
          <p:cNvSpPr/>
          <p:nvPr/>
        </p:nvSpPr>
        <p:spPr>
          <a:xfrm>
            <a:off x="740664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Sustained cumulative</a:t>
            </a:r>
            <a:br/>
            <a:r>
              <a:t>behavioral drift is</a:t>
            </a:r>
            <a:br/>
            <a:r>
              <a:t>analyzed to identify</a:t>
            </a:r>
            <a:br/>
            <a:r>
              <a:t>statistically significant shifts</a:t>
            </a:r>
          </a:p>
        </p:txBody>
      </p:sp>
      <p:sp>
        <p:nvSpPr>
          <p:cNvPr id="20" name="Right Arrow 19"/>
          <p:cNvSpPr/>
          <p:nvPr/>
        </p:nvSpPr>
        <p:spPr>
          <a:xfrm>
            <a:off x="9555480" y="2651759"/>
            <a:ext cx="228600" cy="228600"/>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79608" y="1874519"/>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Calibri"/>
              </a:defRPr>
            </a:pPr>
            <a:r>
              <a:t>5</a:t>
            </a:r>
          </a:p>
        </p:txBody>
      </p:sp>
      <p:sp>
        <p:nvSpPr>
          <p:cNvPr id="22" name="Rectangle 21"/>
          <p:cNvSpPr/>
          <p:nvPr/>
        </p:nvSpPr>
        <p:spPr>
          <a:xfrm>
            <a:off x="9784080" y="2468879"/>
            <a:ext cx="2148840" cy="685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300" b="1">
                <a:solidFill>
                  <a:srgbClr val="FFFFFF"/>
                </a:solidFill>
                <a:latin typeface="Calibri"/>
              </a:defRPr>
            </a:pPr>
            <a:r>
              <a:t>Threat Pattern</a:t>
            </a:r>
            <a:br/>
            <a:r>
              <a:t>Alignment</a:t>
            </a:r>
          </a:p>
        </p:txBody>
      </p:sp>
      <p:sp>
        <p:nvSpPr>
          <p:cNvPr id="23" name="Rounded Rectangle 22"/>
          <p:cNvSpPr/>
          <p:nvPr/>
        </p:nvSpPr>
        <p:spPr>
          <a:xfrm>
            <a:off x="9784080" y="3200399"/>
            <a:ext cx="2148840" cy="1874519"/>
          </a:xfrm>
          <a:prstGeom prst="roundRect">
            <a:avLst/>
          </a:prstGeom>
          <a:noFill/>
          <a:ln w="127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0">
                <a:solidFill>
                  <a:srgbClr val="505050"/>
                </a:solidFill>
                <a:latin typeface="Calibri"/>
              </a:defRPr>
            </a:pPr>
            <a:r>
              <a:t>Drift direction is</a:t>
            </a:r>
            <a:br/>
            <a:r>
              <a:t>compared against known</a:t>
            </a:r>
            <a:br/>
            <a:r>
              <a:t>threat behavioral profiles</a:t>
            </a:r>
            <a:br/>
            <a:r>
              <a:t>to classify the change</a:t>
            </a:r>
          </a:p>
        </p:txBody>
      </p:sp>
      <p:sp>
        <p:nvSpPr>
          <p:cNvPr id="24" name="Rounded Rectangle 23"/>
          <p:cNvSpPr/>
          <p:nvPr/>
        </p:nvSpPr>
        <p:spPr>
          <a:xfrm>
            <a:off x="914400" y="5257800"/>
            <a:ext cx="10332720" cy="91440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2200" b="1">
                <a:solidFill>
                  <a:srgbClr val="B7950B"/>
                </a:solidFill>
                <a:latin typeface="Calibri"/>
              </a:defRPr>
            </a:pPr>
            <a:r>
              <a:t>Catches the pattern shift, not the volume spike</a:t>
            </a:r>
          </a:p>
          <a:p>
            <a:pPr algn="ctr">
              <a:spcBef>
                <a:spcPts val="600"/>
              </a:spcBef>
              <a:spcAft>
                <a:spcPts val="300"/>
              </a:spcAft>
              <a:defRPr sz="1500" b="0">
                <a:solidFill>
                  <a:srgbClr val="FFFFFF"/>
                </a:solidFill>
                <a:latin typeface="Calibri"/>
              </a:defRPr>
            </a:pPr>
            <a:r>
              <a:t>Traditional methods ask "how much?"  —  V-Intelligence UEBA asks "in what direction?"</a:t>
            </a:r>
          </a:p>
        </p:txBody>
      </p:sp>
      <p:sp>
        <p:nvSpPr>
          <p:cNvPr id="25" name="TextBox 24"/>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600" b="1">
                <a:solidFill>
                  <a:srgbClr val="FFFFFF"/>
                </a:solidFill>
                <a:latin typeface="Calibri"/>
              </a:defRPr>
            </a:pPr>
            <a:r>
              <a:t>Full Results: Three-Tier Detection Comparison</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75520" y="182880"/>
            <a:ext cx="1828800" cy="457200"/>
          </a:xfrm>
          <a:prstGeom prst="round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KEY SLIDE</a:t>
            </a:r>
          </a:p>
        </p:txBody>
      </p:sp>
      <p:graphicFrame>
        <p:nvGraphicFramePr>
          <p:cNvPr id="5" name="Table 4"/>
          <p:cNvGraphicFramePr>
            <a:graphicFrameLocks noGrp="1"/>
          </p:cNvGraphicFramePr>
          <p:nvPr/>
        </p:nvGraphicFramePr>
        <p:xfrm>
          <a:off x="182880" y="1097280"/>
          <a:ext cx="9509760" cy="4572000"/>
        </p:xfrm>
        <a:graphic>
          <a:graphicData uri="http://schemas.openxmlformats.org/drawingml/2006/table">
            <a:tbl>
              <a:tblPr firstRow="1" bandRow="1">
                <a:tableStyleId>{5C22544A-7EE6-4342-B048-85BDC9FD1C3A}</a:tableStyleId>
              </a:tblPr>
              <a:tblGrid>
                <a:gridCol w="2011680"/>
                <a:gridCol w="640080"/>
                <a:gridCol w="1280160"/>
                <a:gridCol w="1280160"/>
                <a:gridCol w="1280160"/>
                <a:gridCol w="1280160"/>
                <a:gridCol w="640080"/>
                <a:gridCol w="1097280"/>
              </a:tblGrid>
              <a:tr h="381000">
                <a:tc>
                  <a:txBody>
                    <a:bodyPr lIns="64008" rIns="64008" tIns="36576" bIns="36576"/>
                    <a:lstStyle/>
                    <a:p>
                      <a:pPr algn="ctr">
                        <a:defRPr sz="1100" b="1">
                          <a:solidFill>
                            <a:srgbClr val="FFFFFF"/>
                          </a:solidFill>
                          <a:latin typeface="Calibri"/>
                        </a:defRPr>
                      </a:pPr>
                      <a:r>
                        <a:t>Method</a:t>
                      </a:r>
                    </a:p>
                  </a:txBody>
                  <a:tcPr anchor="ctr">
                    <a:solidFill>
                      <a:srgbClr val="0D1B2A"/>
                    </a:solidFill>
                  </a:tcPr>
                </a:tc>
                <a:tc>
                  <a:txBody>
                    <a:bodyPr lIns="64008" rIns="64008" tIns="36576" bIns="36576"/>
                    <a:lstStyle/>
                    <a:p>
                      <a:pPr algn="ctr">
                        <a:defRPr sz="1100" b="1">
                          <a:solidFill>
                            <a:srgbClr val="FFFFFF"/>
                          </a:solidFill>
                          <a:latin typeface="Calibri"/>
                        </a:defRPr>
                      </a:pPr>
                      <a:r>
                        <a:t>Tier</a:t>
                      </a:r>
                    </a:p>
                  </a:txBody>
                  <a:tcPr anchor="ctr">
                    <a:solidFill>
                      <a:srgbClr val="0D1B2A"/>
                    </a:solidFill>
                  </a:tcPr>
                </a:tc>
                <a:tc>
                  <a:txBody>
                    <a:bodyPr lIns="64008" rIns="64008" tIns="36576" bIns="36576"/>
                    <a:lstStyle/>
                    <a:p>
                      <a:pPr algn="ctr">
                        <a:defRPr sz="1100" b="1">
                          <a:solidFill>
                            <a:srgbClr val="FFFFFF"/>
                          </a:solidFill>
                          <a:latin typeface="Calibri"/>
                        </a:defRPr>
                      </a:pPr>
                      <a:r>
                        <a:t>USR-156</a:t>
                      </a:r>
                    </a:p>
                    <a:p>
                      <a:pPr algn="ctr">
                        <a:defRPr sz="1100" b="1">
                          <a:solidFill>
                            <a:srgbClr val="FFFFFF"/>
                          </a:solidFill>
                          <a:latin typeface="Calibri"/>
                        </a:defRPr>
                      </a:pPr>
                      <a:r>
                        <a:t>Insider</a:t>
                      </a:r>
                    </a:p>
                  </a:txBody>
                  <a:tcPr anchor="ctr">
                    <a:solidFill>
                      <a:srgbClr val="0D1B2A"/>
                    </a:solidFill>
                  </a:tcPr>
                </a:tc>
                <a:tc>
                  <a:txBody>
                    <a:bodyPr lIns="64008" rIns="64008" tIns="36576" bIns="36576"/>
                    <a:lstStyle/>
                    <a:p>
                      <a:pPr algn="ctr">
                        <a:defRPr sz="1100" b="1">
                          <a:solidFill>
                            <a:srgbClr val="FFFFFF"/>
                          </a:solidFill>
                          <a:latin typeface="Calibri"/>
                        </a:defRPr>
                      </a:pPr>
                      <a:r>
                        <a:t>USR-234</a:t>
                      </a:r>
                    </a:p>
                    <a:p>
                      <a:pPr algn="ctr">
                        <a:defRPr sz="1100" b="1">
                          <a:solidFill>
                            <a:srgbClr val="FFFFFF"/>
                          </a:solidFill>
                          <a:latin typeface="Calibri"/>
                        </a:defRPr>
                      </a:pPr>
                      <a:r>
                        <a:t>APT</a:t>
                      </a:r>
                    </a:p>
                  </a:txBody>
                  <a:tcPr anchor="ctr">
                    <a:solidFill>
                      <a:srgbClr val="0D1B2A"/>
                    </a:solidFill>
                  </a:tcPr>
                </a:tc>
                <a:tc>
                  <a:txBody>
                    <a:bodyPr lIns="64008" rIns="64008" tIns="36576" bIns="36576"/>
                    <a:lstStyle/>
                    <a:p>
                      <a:pPr algn="ctr">
                        <a:defRPr sz="1100" b="1">
                          <a:solidFill>
                            <a:srgbClr val="FFFFFF"/>
                          </a:solidFill>
                          <a:latin typeface="Calibri"/>
                        </a:defRPr>
                      </a:pPr>
                      <a:r>
                        <a:t>USR-042</a:t>
                      </a:r>
                    </a:p>
                    <a:p>
                      <a:pPr algn="ctr">
                        <a:defRPr sz="1100" b="1">
                          <a:solidFill>
                            <a:srgbClr val="FFFFFF"/>
                          </a:solidFill>
                          <a:latin typeface="Calibri"/>
                        </a:defRPr>
                      </a:pPr>
                      <a:r>
                        <a:t>Volt</a:t>
                      </a:r>
                    </a:p>
                  </a:txBody>
                  <a:tcPr anchor="ctr">
                    <a:solidFill>
                      <a:srgbClr val="0D1B2A"/>
                    </a:solidFill>
                  </a:tcPr>
                </a:tc>
                <a:tc>
                  <a:txBody>
                    <a:bodyPr lIns="64008" rIns="64008" tIns="36576" bIns="36576"/>
                    <a:lstStyle/>
                    <a:p>
                      <a:pPr algn="ctr">
                        <a:defRPr sz="1100" b="1">
                          <a:solidFill>
                            <a:srgbClr val="FFFFFF"/>
                          </a:solidFill>
                          <a:latin typeface="Calibri"/>
                        </a:defRPr>
                      </a:pPr>
                      <a:r>
                        <a:t>USR-118</a:t>
                      </a:r>
                    </a:p>
                    <a:p>
                      <a:pPr algn="ctr">
                        <a:defRPr sz="1100" b="1">
                          <a:solidFill>
                            <a:srgbClr val="FFFFFF"/>
                          </a:solidFill>
                          <a:latin typeface="Calibri"/>
                        </a:defRPr>
                      </a:pPr>
                      <a:r>
                        <a:t>Salt</a:t>
                      </a:r>
                    </a:p>
                  </a:txBody>
                  <a:tcPr anchor="ctr">
                    <a:solidFill>
                      <a:srgbClr val="0D1B2A"/>
                    </a:solidFill>
                  </a:tcPr>
                </a:tc>
                <a:tc>
                  <a:txBody>
                    <a:bodyPr lIns="64008" rIns="64008" tIns="36576" bIns="36576"/>
                    <a:lstStyle/>
                    <a:p>
                      <a:pPr algn="ctr">
                        <a:defRPr sz="1100" b="1">
                          <a:solidFill>
                            <a:srgbClr val="FFFFFF"/>
                          </a:solidFill>
                          <a:latin typeface="Calibri"/>
                        </a:defRPr>
                      </a:pPr>
                      <a:r>
                        <a:t>TP</a:t>
                      </a:r>
                    </a:p>
                  </a:txBody>
                  <a:tcPr anchor="ctr">
                    <a:solidFill>
                      <a:srgbClr val="0D1B2A"/>
                    </a:solidFill>
                  </a:tcPr>
                </a:tc>
                <a:tc>
                  <a:txBody>
                    <a:bodyPr lIns="64008" rIns="64008" tIns="36576" bIns="36576"/>
                    <a:lstStyle/>
                    <a:p>
                      <a:pPr algn="ctr">
                        <a:defRPr sz="1100" b="1">
                          <a:solidFill>
                            <a:srgbClr val="FFFFFF"/>
                          </a:solidFill>
                          <a:latin typeface="Calibri"/>
                        </a:defRPr>
                      </a:pPr>
                      <a:r>
                        <a:t>FP Rate</a:t>
                      </a:r>
                    </a:p>
                  </a:txBody>
                  <a:tcPr anchor="ctr">
                    <a:solidFill>
                      <a:srgbClr val="0D1B2A"/>
                    </a:solidFill>
                  </a:tcPr>
                </a:tc>
              </a:tr>
              <a:tr h="381000">
                <a:tc>
                  <a:txBody>
                    <a:bodyPr lIns="64008" rIns="64008" tIns="36576" bIns="36576"/>
                    <a:lstStyle/>
                    <a:p>
                      <a:pPr algn="l">
                        <a:defRPr sz="1000" b="0">
                          <a:solidFill>
                            <a:srgbClr val="0D1B2A"/>
                          </a:solidFill>
                          <a:latin typeface="Calibri"/>
                        </a:defRPr>
                      </a:pPr>
                      <a:r>
                        <a:t>Isolation Forest</a:t>
                      </a:r>
                    </a:p>
                  </a:txBody>
                  <a:tcPr anchor="ctr">
                    <a:solidFill>
                      <a:srgbClr val="FFFFFF"/>
                    </a:solidFill>
                  </a:tcPr>
                </a:tc>
                <a:tc>
                  <a:txBody>
                    <a:bodyPr lIns="64008" rIns="64008" tIns="36576" bIns="36576"/>
                    <a:lstStyle/>
                    <a:p>
                      <a:pPr algn="ctr">
                        <a:defRPr sz="1000" b="0">
                          <a:solidFill>
                            <a:srgbClr val="0D1B2A"/>
                          </a:solidFill>
                          <a:latin typeface="Calibri"/>
                        </a:defRPr>
                      </a:pPr>
                      <a:r>
                        <a:t>T1</a:t>
                      </a:r>
                    </a:p>
                  </a:txBody>
                  <a:tcPr anchor="ctr">
                    <a:solidFill>
                      <a:srgbClr val="FFFFFF"/>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FFFFF"/>
                    </a:solidFill>
                  </a:tcPr>
                </a:tc>
                <a:tc>
                  <a:txBody>
                    <a:bodyPr lIns="64008" rIns="64008" tIns="36576" bIns="36576"/>
                    <a:lstStyle/>
                    <a:p>
                      <a:pPr algn="ctr">
                        <a:defRPr sz="1000" b="1">
                          <a:solidFill>
                            <a:srgbClr val="FFFFFF"/>
                          </a:solidFill>
                          <a:latin typeface="Calibri"/>
                        </a:defRPr>
                      </a:pPr>
                      <a:r>
                        <a:t>2.2%</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One-Class SVM</a:t>
                      </a:r>
                    </a:p>
                  </a:txBody>
                  <a:tcPr anchor="ctr">
                    <a:solidFill>
                      <a:srgbClr val="F0F2F5"/>
                    </a:solidFill>
                  </a:tcPr>
                </a:tc>
                <a:tc>
                  <a:txBody>
                    <a:bodyPr lIns="64008" rIns="64008" tIns="36576" bIns="36576"/>
                    <a:lstStyle/>
                    <a:p>
                      <a:pPr algn="ctr">
                        <a:defRPr sz="1000" b="0">
                          <a:solidFill>
                            <a:srgbClr val="0D1B2A"/>
                          </a:solidFill>
                          <a:latin typeface="Calibri"/>
                        </a:defRPr>
                      </a:pPr>
                      <a:r>
                        <a:t>T1</a:t>
                      </a:r>
                    </a:p>
                  </a:txBody>
                  <a:tcPr anchor="ctr">
                    <a:solidFill>
                      <a:srgbClr val="F0F2F5"/>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0F2F5"/>
                    </a:solidFill>
                  </a:tcPr>
                </a:tc>
                <a:tc>
                  <a:txBody>
                    <a:bodyPr lIns="64008" rIns="64008" tIns="36576" bIns="36576"/>
                    <a:lstStyle/>
                    <a:p>
                      <a:pPr algn="ctr">
                        <a:defRPr sz="1000" b="1">
                          <a:solidFill>
                            <a:srgbClr val="FFFFFF"/>
                          </a:solidFill>
                          <a:latin typeface="Calibri"/>
                        </a:defRPr>
                      </a:pPr>
                      <a:r>
                        <a:t>19.6%</a:t>
                      </a:r>
                    </a:p>
                  </a:txBody>
                  <a:tcPr anchor="ctr">
                    <a:solidFill>
                      <a:srgbClr val="C0392B"/>
                    </a:solidFill>
                  </a:tcPr>
                </a:tc>
              </a:tr>
              <a:tr h="381000">
                <a:tc>
                  <a:txBody>
                    <a:bodyPr lIns="64008" rIns="64008" tIns="36576" bIns="36576"/>
                    <a:lstStyle/>
                    <a:p>
                      <a:pPr algn="l">
                        <a:defRPr sz="1000" b="0">
                          <a:solidFill>
                            <a:srgbClr val="0D1B2A"/>
                          </a:solidFill>
                          <a:latin typeface="Calibri"/>
                        </a:defRPr>
                      </a:pPr>
                      <a:r>
                        <a:t>LOF</a:t>
                      </a:r>
                    </a:p>
                  </a:txBody>
                  <a:tcPr anchor="ctr">
                    <a:solidFill>
                      <a:srgbClr val="FFFFFF"/>
                    </a:solidFill>
                  </a:tcPr>
                </a:tc>
                <a:tc>
                  <a:txBody>
                    <a:bodyPr lIns="64008" rIns="64008" tIns="36576" bIns="36576"/>
                    <a:lstStyle/>
                    <a:p>
                      <a:pPr algn="ctr">
                        <a:defRPr sz="1000" b="0">
                          <a:solidFill>
                            <a:srgbClr val="0D1B2A"/>
                          </a:solidFill>
                          <a:latin typeface="Calibri"/>
                        </a:defRPr>
                      </a:pPr>
                      <a:r>
                        <a:t>T1</a:t>
                      </a:r>
                    </a:p>
                  </a:txBody>
                  <a:tcPr anchor="ctr">
                    <a:solidFill>
                      <a:srgbClr val="FFFFFF"/>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3</a:t>
                      </a:r>
                    </a:p>
                  </a:txBody>
                  <a:tcPr anchor="ctr">
                    <a:solidFill>
                      <a:srgbClr val="FFFFFF"/>
                    </a:solidFill>
                  </a:tcPr>
                </a:tc>
                <a:tc>
                  <a:txBody>
                    <a:bodyPr lIns="64008" rIns="64008" tIns="36576" bIns="36576"/>
                    <a:lstStyle/>
                    <a:p>
                      <a:pPr algn="ctr">
                        <a:defRPr sz="1000" b="1">
                          <a:solidFill>
                            <a:srgbClr val="FFFFFF"/>
                          </a:solidFill>
                          <a:latin typeface="Calibri"/>
                        </a:defRPr>
                      </a:pPr>
                      <a:r>
                        <a:t>0.0%</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Z-Score</a:t>
                      </a:r>
                    </a:p>
                  </a:txBody>
                  <a:tcPr anchor="ctr">
                    <a:solidFill>
                      <a:srgbClr val="F0F2F5"/>
                    </a:solidFill>
                  </a:tcPr>
                </a:tc>
                <a:tc>
                  <a:txBody>
                    <a:bodyPr lIns="64008" rIns="64008" tIns="36576" bIns="36576"/>
                    <a:lstStyle/>
                    <a:p>
                      <a:pPr algn="ctr">
                        <a:defRPr sz="1000" b="0">
                          <a:solidFill>
                            <a:srgbClr val="0D1B2A"/>
                          </a:solidFill>
                          <a:latin typeface="Calibri"/>
                        </a:defRPr>
                      </a:pPr>
                      <a:r>
                        <a:t>T1</a:t>
                      </a:r>
                    </a:p>
                  </a:txBody>
                  <a:tcPr anchor="ctr">
                    <a:solidFill>
                      <a:srgbClr val="F0F2F5"/>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3</a:t>
                      </a:r>
                    </a:p>
                  </a:txBody>
                  <a:tcPr anchor="ctr">
                    <a:solidFill>
                      <a:srgbClr val="F0F2F5"/>
                    </a:solidFill>
                  </a:tcPr>
                </a:tc>
                <a:tc>
                  <a:txBody>
                    <a:bodyPr lIns="64008" rIns="64008" tIns="36576" bIns="36576"/>
                    <a:lstStyle/>
                    <a:p>
                      <a:pPr algn="ctr">
                        <a:defRPr sz="1000" b="1">
                          <a:solidFill>
                            <a:srgbClr val="FFFFFF"/>
                          </a:solidFill>
                          <a:latin typeface="Calibri"/>
                        </a:defRPr>
                      </a:pPr>
                      <a:r>
                        <a:t>2.2%</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Temporal Z-Score</a:t>
                      </a:r>
                    </a:p>
                  </a:txBody>
                  <a:tcPr anchor="ctr">
                    <a:solidFill>
                      <a:srgbClr val="FFFFFF"/>
                    </a:solidFill>
                  </a:tcPr>
                </a:tc>
                <a:tc>
                  <a:txBody>
                    <a:bodyPr lIns="64008" rIns="64008" tIns="36576" bIns="36576"/>
                    <a:lstStyle/>
                    <a:p>
                      <a:pPr algn="ctr">
                        <a:defRPr sz="1000" b="0">
                          <a:solidFill>
                            <a:srgbClr val="0D1B2A"/>
                          </a:solidFill>
                          <a:latin typeface="Calibri"/>
                        </a:defRPr>
                      </a:pPr>
                      <a:r>
                        <a:t>T1</a:t>
                      </a:r>
                    </a:p>
                  </a:txBody>
                  <a:tcPr anchor="ctr">
                    <a:solidFill>
                      <a:srgbClr val="FFFFFF"/>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4</a:t>
                      </a:r>
                    </a:p>
                  </a:txBody>
                  <a:tcPr anchor="ctr">
                    <a:solidFill>
                      <a:srgbClr val="FFFFFF"/>
                    </a:solidFill>
                  </a:tcPr>
                </a:tc>
                <a:tc>
                  <a:txBody>
                    <a:bodyPr lIns="64008" rIns="64008" tIns="36576" bIns="36576"/>
                    <a:lstStyle/>
                    <a:p>
                      <a:pPr algn="ctr">
                        <a:defRPr sz="1000" b="1">
                          <a:solidFill>
                            <a:srgbClr val="FFFFFF"/>
                          </a:solidFill>
                          <a:latin typeface="Calibri"/>
                        </a:defRPr>
                      </a:pPr>
                      <a:r>
                        <a:t>100%</a:t>
                      </a:r>
                    </a:p>
                  </a:txBody>
                  <a:tcPr anchor="ctr">
                    <a:solidFill>
                      <a:srgbClr val="C0392B"/>
                    </a:solidFill>
                  </a:tcPr>
                </a:tc>
              </a:tr>
              <a:tr h="381000">
                <a:tc>
                  <a:txBody>
                    <a:bodyPr lIns="64008" rIns="64008" tIns="36576" bIns="36576"/>
                    <a:lstStyle/>
                    <a:p>
                      <a:pPr algn="l">
                        <a:defRPr sz="1000" b="0">
                          <a:solidFill>
                            <a:srgbClr val="0D1B2A"/>
                          </a:solidFill>
                          <a:latin typeface="Calibri"/>
                        </a:defRPr>
                      </a:pPr>
                      <a:r>
                        <a:t>Feature Trajectory</a:t>
                      </a:r>
                    </a:p>
                  </a:txBody>
                  <a:tcPr anchor="ctr">
                    <a:solidFill>
                      <a:srgbClr val="F0F2F5"/>
                    </a:solidFill>
                  </a:tcPr>
                </a:tc>
                <a:tc>
                  <a:txBody>
                    <a:bodyPr lIns="64008" rIns="64008" tIns="36576" bIns="36576"/>
                    <a:lstStyle/>
                    <a:p>
                      <a:pPr algn="ctr">
                        <a:defRPr sz="1000" b="0">
                          <a:solidFill>
                            <a:srgbClr val="0D1B2A"/>
                          </a:solidFill>
                          <a:latin typeface="Calibri"/>
                        </a:defRPr>
                      </a:pPr>
                      <a:r>
                        <a:t>T1</a:t>
                      </a:r>
                    </a:p>
                  </a:txBody>
                  <a:tcPr anchor="ctr">
                    <a:solidFill>
                      <a:srgbClr val="F0F2F5"/>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0F2F5"/>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V-Intelligence UEBA Direction</a:t>
                      </a:r>
                    </a:p>
                  </a:txBody>
                  <a:tcPr anchor="ctr">
                    <a:solidFill>
                      <a:srgbClr val="FFFFFF"/>
                    </a:solidFill>
                  </a:tcPr>
                </a:tc>
                <a:tc>
                  <a:txBody>
                    <a:bodyPr lIns="64008" rIns="64008" tIns="36576" bIns="36576"/>
                    <a:lstStyle/>
                    <a:p>
                      <a:pPr algn="ctr">
                        <a:defRPr sz="1000" b="0">
                          <a:solidFill>
                            <a:srgbClr val="0D1B2A"/>
                          </a:solidFill>
                          <a:latin typeface="Calibri"/>
                        </a:defRPr>
                      </a:pPr>
                      <a:r>
                        <a:t>T2</a:t>
                      </a:r>
                    </a:p>
                  </a:txBody>
                  <a:tcPr anchor="ctr">
                    <a:solidFill>
                      <a:srgbClr val="FFFFFF"/>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0">
                          <a:solidFill>
                            <a:srgbClr val="0D1B2A"/>
                          </a:solidFill>
                          <a:latin typeface="Calibri"/>
                        </a:defRPr>
                      </a:pPr>
                      <a:r>
                        <a:t>0</a:t>
                      </a:r>
                    </a:p>
                  </a:txBody>
                  <a:tcPr anchor="ctr">
                    <a:solidFill>
                      <a:srgbClr val="FFFFFF"/>
                    </a:solidFill>
                  </a:tcPr>
                </a:tc>
                <a:tc>
                  <a:txBody>
                    <a:bodyPr lIns="64008" rIns="64008" tIns="36576" bIns="36576"/>
                    <a:lstStyle/>
                    <a:p>
                      <a:pPr algn="ctr">
                        <a:defRPr sz="1000" b="1">
                          <a:solidFill>
                            <a:srgbClr val="FFFFFF"/>
                          </a:solidFill>
                          <a:latin typeface="Calibri"/>
                        </a:defRPr>
                      </a:pPr>
                      <a:r>
                        <a:t>4.3%</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T3 Regime Shift</a:t>
                      </a:r>
                    </a:p>
                  </a:txBody>
                  <a:tcPr anchor="ctr">
                    <a:solidFill>
                      <a:srgbClr val="F0F2F5"/>
                    </a:solidFill>
                  </a:tcPr>
                </a:tc>
                <a:tc>
                  <a:txBody>
                    <a:bodyPr lIns="64008" rIns="64008" tIns="36576" bIns="36576"/>
                    <a:lstStyle/>
                    <a:p>
                      <a:pPr algn="ctr">
                        <a:defRPr sz="1000" b="0">
                          <a:solidFill>
                            <a:srgbClr val="0D1B2A"/>
                          </a:solidFill>
                          <a:latin typeface="Calibri"/>
                        </a:defRPr>
                      </a:pPr>
                      <a:r>
                        <a:t>T3</a:t>
                      </a:r>
                    </a:p>
                  </a:txBody>
                  <a:tcPr anchor="ctr">
                    <a:solidFill>
                      <a:srgbClr val="F0F2F5"/>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2</a:t>
                      </a:r>
                    </a:p>
                  </a:txBody>
                  <a:tcPr anchor="ctr">
                    <a:solidFill>
                      <a:srgbClr val="F0F2F5"/>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T3 Zone Divergence</a:t>
                      </a:r>
                    </a:p>
                  </a:txBody>
                  <a:tcPr anchor="ctr">
                    <a:solidFill>
                      <a:srgbClr val="FFFFFF"/>
                    </a:solidFill>
                  </a:tcPr>
                </a:tc>
                <a:tc>
                  <a:txBody>
                    <a:bodyPr lIns="64008" rIns="64008" tIns="36576" bIns="36576"/>
                    <a:lstStyle/>
                    <a:p>
                      <a:pPr algn="ctr">
                        <a:defRPr sz="1000" b="0">
                          <a:solidFill>
                            <a:srgbClr val="0D1B2A"/>
                          </a:solidFill>
                          <a:latin typeface="Calibri"/>
                        </a:defRPr>
                      </a:pPr>
                      <a:r>
                        <a:t>T3</a:t>
                      </a:r>
                    </a:p>
                  </a:txBody>
                  <a:tcPr anchor="ctr">
                    <a:solidFill>
                      <a:srgbClr val="FFFFFF"/>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1">
                          <a:solidFill>
                            <a:srgbClr val="FFFFFF"/>
                          </a:solidFill>
                          <a:latin typeface="Calibri"/>
                        </a:defRPr>
                      </a:pPr>
                      <a:r>
                        <a:t>MISS</a:t>
                      </a:r>
                    </a:p>
                  </a:txBody>
                  <a:tcPr anchor="ctr">
                    <a:solidFill>
                      <a:srgbClr val="C0392B"/>
                    </a:solidFill>
                  </a:tcPr>
                </a:tc>
                <a:tc>
                  <a:txBody>
                    <a:bodyPr lIns="64008" rIns="64008" tIns="36576" bIns="36576"/>
                    <a:lstStyle/>
                    <a:p>
                      <a:pPr algn="ctr">
                        <a:defRPr sz="1000" b="0">
                          <a:solidFill>
                            <a:srgbClr val="0D1B2A"/>
                          </a:solidFill>
                          <a:latin typeface="Calibri"/>
                        </a:defRPr>
                      </a:pPr>
                      <a:r>
                        <a:t>2</a:t>
                      </a:r>
                    </a:p>
                  </a:txBody>
                  <a:tcPr anchor="ctr">
                    <a:solidFill>
                      <a:srgbClr val="FFFFFF"/>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r h="381000">
                <a:tc>
                  <a:txBody>
                    <a:bodyPr lIns="64008" rIns="64008" tIns="36576" bIns="36576"/>
                    <a:lstStyle/>
                    <a:p>
                      <a:pPr algn="l">
                        <a:defRPr sz="1000" b="0">
                          <a:solidFill>
                            <a:srgbClr val="0D1B2A"/>
                          </a:solidFill>
                          <a:latin typeface="Calibri"/>
                        </a:defRPr>
                      </a:pPr>
                      <a:r>
                        <a:t>T3 Combined</a:t>
                      </a:r>
                    </a:p>
                  </a:txBody>
                  <a:tcPr anchor="ctr">
                    <a:solidFill>
                      <a:srgbClr val="F0F2F5"/>
                    </a:solidFill>
                  </a:tcPr>
                </a:tc>
                <a:tc>
                  <a:txBody>
                    <a:bodyPr lIns="64008" rIns="64008" tIns="36576" bIns="36576"/>
                    <a:lstStyle/>
                    <a:p>
                      <a:pPr algn="ctr">
                        <a:defRPr sz="1000" b="0">
                          <a:solidFill>
                            <a:srgbClr val="0D1B2A"/>
                          </a:solidFill>
                          <a:latin typeface="Calibri"/>
                        </a:defRPr>
                      </a:pPr>
                      <a:r>
                        <a:t>T3</a:t>
                      </a:r>
                    </a:p>
                  </a:txBody>
                  <a:tcPr anchor="ctr">
                    <a:solidFill>
                      <a:srgbClr val="F0F2F5"/>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4</a:t>
                      </a:r>
                    </a:p>
                  </a:txBody>
                  <a:tcPr anchor="ctr">
                    <a:solidFill>
                      <a:srgbClr val="F0F2F5"/>
                    </a:solidFill>
                  </a:tcPr>
                </a:tc>
                <a:tc>
                  <a:txBody>
                    <a:bodyPr lIns="64008" rIns="64008" tIns="36576" bIns="36576"/>
                    <a:lstStyle/>
                    <a:p>
                      <a:pPr algn="ctr">
                        <a:defRPr sz="1000" b="1">
                          <a:solidFill>
                            <a:srgbClr val="FFFFFF"/>
                          </a:solidFill>
                          <a:latin typeface="Calibri"/>
                        </a:defRPr>
                      </a:pPr>
                      <a:r>
                        <a:t>8.7%</a:t>
                      </a:r>
                    </a:p>
                  </a:txBody>
                  <a:tcPr anchor="ctr">
                    <a:solidFill>
                      <a:srgbClr val="27AE60"/>
                    </a:solidFill>
                  </a:tcPr>
                </a:tc>
              </a:tr>
              <a:tr h="381000">
                <a:tc>
                  <a:txBody>
                    <a:bodyPr lIns="64008" rIns="64008" tIns="36576" bIns="36576"/>
                    <a:lstStyle/>
                    <a:p>
                      <a:pPr algn="l">
                        <a:defRPr sz="1000" b="1">
                          <a:solidFill>
                            <a:srgbClr val="FFFFFF"/>
                          </a:solidFill>
                          <a:latin typeface="Calibri"/>
                        </a:defRPr>
                      </a:pPr>
                      <a:r>
                        <a:t>LOF + Zone Div</a:t>
                      </a:r>
                    </a:p>
                  </a:txBody>
                  <a:tcPr anchor="ctr">
                    <a:solidFill>
                      <a:srgbClr val="0E6B8A"/>
                    </a:solidFill>
                  </a:tcPr>
                </a:tc>
                <a:tc>
                  <a:txBody>
                    <a:bodyPr lIns="64008" rIns="64008" tIns="36576" bIns="36576"/>
                    <a:lstStyle/>
                    <a:p>
                      <a:pPr algn="ctr">
                        <a:defRPr sz="1000" b="1">
                          <a:solidFill>
                            <a:srgbClr val="FFFFFF"/>
                          </a:solidFill>
                          <a:latin typeface="Calibri"/>
                        </a:defRPr>
                      </a:pPr>
                      <a:r>
                        <a:t>ENS</a:t>
                      </a:r>
                    </a:p>
                  </a:txBody>
                  <a:tcPr anchor="ctr">
                    <a:solidFill>
                      <a:srgbClr val="0E6B8A"/>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1">
                          <a:solidFill>
                            <a:srgbClr val="FFFFFF"/>
                          </a:solidFill>
                          <a:latin typeface="Calibri"/>
                        </a:defRPr>
                      </a:pPr>
                      <a:r>
                        <a:t>DET</a:t>
                      </a:r>
                    </a:p>
                  </a:txBody>
                  <a:tcPr anchor="ctr">
                    <a:solidFill>
                      <a:srgbClr val="27AE60"/>
                    </a:solidFill>
                  </a:tcPr>
                </a:tc>
                <a:tc>
                  <a:txBody>
                    <a:bodyPr lIns="64008" rIns="64008" tIns="36576" bIns="36576"/>
                    <a:lstStyle/>
                    <a:p>
                      <a:pPr algn="ctr">
                        <a:defRPr sz="1000" b="0">
                          <a:solidFill>
                            <a:srgbClr val="0D1B2A"/>
                          </a:solidFill>
                          <a:latin typeface="Calibri"/>
                        </a:defRPr>
                      </a:pPr>
                      <a:r>
                        <a:t>4</a:t>
                      </a:r>
                    </a:p>
                  </a:txBody>
                  <a:tcPr anchor="ctr">
                    <a:solidFill>
                      <a:srgbClr val="FFFFFF"/>
                    </a:solidFill>
                  </a:tcPr>
                </a:tc>
                <a:tc>
                  <a:txBody>
                    <a:bodyPr lIns="64008" rIns="64008" tIns="36576" bIns="36576"/>
                    <a:lstStyle/>
                    <a:p>
                      <a:pPr algn="ctr">
                        <a:defRPr sz="1000" b="1">
                          <a:solidFill>
                            <a:srgbClr val="FFFFFF"/>
                          </a:solidFill>
                          <a:latin typeface="Calibri"/>
                        </a:defRPr>
                      </a:pPr>
                      <a:r>
                        <a:t>6.5%</a:t>
                      </a:r>
                    </a:p>
                  </a:txBody>
                  <a:tcPr anchor="ctr">
                    <a:solidFill>
                      <a:srgbClr val="27AE60"/>
                    </a:solidFill>
                  </a:tcPr>
                </a:tc>
              </a:tr>
            </a:tbl>
          </a:graphicData>
        </a:graphic>
      </p:graphicFrame>
      <p:sp>
        <p:nvSpPr>
          <p:cNvPr id="6" name="Rounded Rectangle 5"/>
          <p:cNvSpPr/>
          <p:nvPr/>
        </p:nvSpPr>
        <p:spPr>
          <a:xfrm>
            <a:off x="914400" y="5852160"/>
            <a:ext cx="10332720" cy="54864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700" b="1">
                <a:solidFill>
                  <a:srgbClr val="B7950B"/>
                </a:solidFill>
                <a:latin typeface="Calibri"/>
              </a:defRPr>
            </a:pPr>
            <a:r>
              <a:t>LOF + Zone Divergence: ALL 4 attacks detected at 6.5% FP — optimal 2-method ensemble</a:t>
            </a:r>
          </a:p>
        </p:txBody>
      </p:sp>
      <p:sp>
        <p:nvSpPr>
          <p:cNvPr id="7" name="TextBox 6"/>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Traditional Methods — Why They Detect APT but Miss the Insider</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All four traditional algorithms share the same structural limitation: they measure feature-space distance from normal, not trajectory direction over time.</a:t>
            </a:r>
          </a:p>
        </p:txBody>
      </p:sp>
      <p:sp>
        <p:nvSpPr>
          <p:cNvPr id="5" name="Rounded Rectangle 4"/>
          <p:cNvSpPr/>
          <p:nvPr/>
        </p:nvSpPr>
        <p:spPr>
          <a:xfrm>
            <a:off x="457200" y="1783080"/>
            <a:ext cx="5486400" cy="3200400"/>
          </a:xfrm>
          <a:prstGeom prst="roundRect">
            <a:avLst/>
          </a:prstGeom>
          <a:no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548640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5120640" cy="411480"/>
          </a:xfrm>
          <a:prstGeom prst="rect">
            <a:avLst/>
          </a:prstGeom>
          <a:noFill/>
        </p:spPr>
        <p:txBody>
          <a:bodyPr wrap="square">
            <a:spAutoFit/>
          </a:bodyPr>
          <a:lstStyle/>
          <a:p>
            <a:pPr algn="l">
              <a:defRPr sz="1800" b="1">
                <a:solidFill>
                  <a:srgbClr val="27AE60"/>
                </a:solidFill>
                <a:latin typeface="Calibri"/>
              </a:defRPr>
            </a:pPr>
            <a:r>
              <a:t>USR-234 (APT) — Why DETECTED</a:t>
            </a:r>
          </a:p>
        </p:txBody>
      </p:sp>
      <p:sp>
        <p:nvSpPr>
          <p:cNvPr id="8" name="Rectangle 7"/>
          <p:cNvSpPr/>
          <p:nvPr/>
        </p:nvSpPr>
        <p:spPr>
          <a:xfrm>
            <a:off x="685800" y="2514600"/>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4754880" cy="347472"/>
          </a:xfrm>
          <a:prstGeom prst="rect">
            <a:avLst/>
          </a:prstGeom>
          <a:noFill/>
        </p:spPr>
        <p:txBody>
          <a:bodyPr wrap="square">
            <a:spAutoFit/>
          </a:bodyPr>
          <a:lstStyle/>
          <a:p>
            <a:pPr algn="l">
              <a:defRPr sz="1200" b="0">
                <a:solidFill>
                  <a:srgbClr val="505050"/>
                </a:solidFill>
                <a:latin typeface="Calibri"/>
              </a:defRPr>
            </a:pPr>
            <a:r>
              <a:t>C2 beaconing generates ~4 network connections every 6 hours</a:t>
            </a:r>
          </a:p>
        </p:txBody>
      </p:sp>
      <p:sp>
        <p:nvSpPr>
          <p:cNvPr id="10" name="Rectangle 9"/>
          <p:cNvSpPr/>
          <p:nvPr/>
        </p:nvSpPr>
        <p:spPr>
          <a:xfrm>
            <a:off x="685800" y="2898648"/>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07208"/>
            <a:ext cx="4754880" cy="347472"/>
          </a:xfrm>
          <a:prstGeom prst="rect">
            <a:avLst/>
          </a:prstGeom>
          <a:noFill/>
        </p:spPr>
        <p:txBody>
          <a:bodyPr wrap="square">
            <a:spAutoFit/>
          </a:bodyPr>
          <a:lstStyle/>
          <a:p>
            <a:pPr algn="l">
              <a:defRPr sz="1200" b="0">
                <a:solidFill>
                  <a:srgbClr val="505050"/>
                </a:solidFill>
                <a:latin typeface="Calibri"/>
              </a:defRPr>
            </a:pPr>
            <a:r>
              <a:t>This raises dns_unique_domains and connections_external above the normal population range</a:t>
            </a:r>
          </a:p>
        </p:txBody>
      </p:sp>
      <p:sp>
        <p:nvSpPr>
          <p:cNvPr id="12" name="Rectangle 11"/>
          <p:cNvSpPr/>
          <p:nvPr/>
        </p:nvSpPr>
        <p:spPr>
          <a:xfrm>
            <a:off x="685800" y="3282696"/>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4754880" cy="347472"/>
          </a:xfrm>
          <a:prstGeom prst="rect">
            <a:avLst/>
          </a:prstGeom>
          <a:noFill/>
        </p:spPr>
        <p:txBody>
          <a:bodyPr wrap="square">
            <a:spAutoFit/>
          </a:bodyPr>
          <a:lstStyle/>
          <a:p>
            <a:pPr algn="l">
              <a:defRPr sz="1200" b="0">
                <a:solidFill>
                  <a:srgbClr val="505050"/>
                </a:solidFill>
                <a:latin typeface="Calibri"/>
              </a:defRPr>
            </a:pPr>
            <a:r>
              <a:t>These elevated counts are clear statistical outliers in the feature space</a:t>
            </a:r>
          </a:p>
        </p:txBody>
      </p:sp>
      <p:sp>
        <p:nvSpPr>
          <p:cNvPr id="14" name="Rectangle 13"/>
          <p:cNvSpPr/>
          <p:nvPr/>
        </p:nvSpPr>
        <p:spPr>
          <a:xfrm>
            <a:off x="685800" y="3666744"/>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75304"/>
            <a:ext cx="4754880" cy="347472"/>
          </a:xfrm>
          <a:prstGeom prst="rect">
            <a:avLst/>
          </a:prstGeom>
          <a:noFill/>
        </p:spPr>
        <p:txBody>
          <a:bodyPr wrap="square">
            <a:spAutoFit/>
          </a:bodyPr>
          <a:lstStyle/>
          <a:p>
            <a:pPr algn="l">
              <a:defRPr sz="1200" b="0">
                <a:solidFill>
                  <a:srgbClr val="505050"/>
                </a:solidFill>
                <a:latin typeface="Calibri"/>
              </a:defRPr>
            </a:pPr>
            <a:r>
              <a:t>All four algorithms independently identify this as an anomaly</a:t>
            </a:r>
          </a:p>
        </p:txBody>
      </p:sp>
      <p:sp>
        <p:nvSpPr>
          <p:cNvPr id="16" name="Rectangle 15"/>
          <p:cNvSpPr/>
          <p:nvPr/>
        </p:nvSpPr>
        <p:spPr>
          <a:xfrm>
            <a:off x="685800" y="405079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59352"/>
            <a:ext cx="4754880" cy="347472"/>
          </a:xfrm>
          <a:prstGeom prst="rect">
            <a:avLst/>
          </a:prstGeom>
          <a:noFill/>
        </p:spPr>
        <p:txBody>
          <a:bodyPr wrap="square">
            <a:spAutoFit/>
          </a:bodyPr>
          <a:lstStyle/>
          <a:p>
            <a:pPr algn="l">
              <a:defRPr sz="1200" b="0">
                <a:solidFill>
                  <a:srgbClr val="505050"/>
                </a:solidFill>
                <a:latin typeface="Calibri"/>
              </a:defRPr>
            </a:pPr>
            <a:r>
              <a:t>This is a volume anomaly — exactly what traditional methods are designed for</a:t>
            </a:r>
          </a:p>
        </p:txBody>
      </p:sp>
      <p:sp>
        <p:nvSpPr>
          <p:cNvPr id="18" name="Rounded Rectangle 17"/>
          <p:cNvSpPr/>
          <p:nvPr/>
        </p:nvSpPr>
        <p:spPr>
          <a:xfrm>
            <a:off x="6400800" y="1783080"/>
            <a:ext cx="5486400" cy="320040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1783080"/>
            <a:ext cx="5486400" cy="640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1920240"/>
            <a:ext cx="5120640" cy="411480"/>
          </a:xfrm>
          <a:prstGeom prst="rect">
            <a:avLst/>
          </a:prstGeom>
          <a:noFill/>
        </p:spPr>
        <p:txBody>
          <a:bodyPr wrap="square">
            <a:spAutoFit/>
          </a:bodyPr>
          <a:lstStyle/>
          <a:p>
            <a:pPr algn="l">
              <a:defRPr sz="1800" b="1">
                <a:solidFill>
                  <a:srgbClr val="C0392B"/>
                </a:solidFill>
                <a:latin typeface="Calibri"/>
              </a:defRPr>
            </a:pPr>
            <a:r>
              <a:t>USR-156 (Insider) — Why MISSED</a:t>
            </a:r>
          </a:p>
        </p:txBody>
      </p:sp>
      <p:sp>
        <p:nvSpPr>
          <p:cNvPr id="21" name="Rectangle 20"/>
          <p:cNvSpPr/>
          <p:nvPr/>
        </p:nvSpPr>
        <p:spPr>
          <a:xfrm>
            <a:off x="6629400" y="2514600"/>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423160"/>
            <a:ext cx="4754880" cy="347472"/>
          </a:xfrm>
          <a:prstGeom prst="rect">
            <a:avLst/>
          </a:prstGeom>
          <a:noFill/>
        </p:spPr>
        <p:txBody>
          <a:bodyPr wrap="square">
            <a:spAutoFit/>
          </a:bodyPr>
          <a:lstStyle/>
          <a:p>
            <a:pPr algn="l">
              <a:defRPr sz="1200" b="0">
                <a:solidFill>
                  <a:srgbClr val="505050"/>
                </a:solidFill>
                <a:latin typeface="Calibri"/>
              </a:defRPr>
            </a:pPr>
            <a:r>
              <a:t>Login count: 45/week — normal range is 30–60; not flagged</a:t>
            </a:r>
          </a:p>
        </p:txBody>
      </p:sp>
      <p:sp>
        <p:nvSpPr>
          <p:cNvPr id="23" name="Rectangle 22"/>
          <p:cNvSpPr/>
          <p:nvPr/>
        </p:nvSpPr>
        <p:spPr>
          <a:xfrm>
            <a:off x="6629400" y="2898648"/>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2807208"/>
            <a:ext cx="4754880" cy="347472"/>
          </a:xfrm>
          <a:prstGeom prst="rect">
            <a:avLst/>
          </a:prstGeom>
          <a:noFill/>
        </p:spPr>
        <p:txBody>
          <a:bodyPr wrap="square">
            <a:spAutoFit/>
          </a:bodyPr>
          <a:lstStyle/>
          <a:p>
            <a:pPr algn="l">
              <a:defRPr sz="1200" b="0">
                <a:solidFill>
                  <a:srgbClr val="505050"/>
                </a:solidFill>
                <a:latin typeface="Calibri"/>
              </a:defRPr>
            </a:pPr>
            <a:r>
              <a:t>File accesses: 8/day — normal range 3–15; not flagged</a:t>
            </a:r>
          </a:p>
        </p:txBody>
      </p:sp>
      <p:sp>
        <p:nvSpPr>
          <p:cNvPr id="25" name="Rectangle 24"/>
          <p:cNvSpPr/>
          <p:nvPr/>
        </p:nvSpPr>
        <p:spPr>
          <a:xfrm>
            <a:off x="6629400" y="3282696"/>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3191256"/>
            <a:ext cx="4754880" cy="347472"/>
          </a:xfrm>
          <a:prstGeom prst="rect">
            <a:avLst/>
          </a:prstGeom>
          <a:noFill/>
        </p:spPr>
        <p:txBody>
          <a:bodyPr wrap="square">
            <a:spAutoFit/>
          </a:bodyPr>
          <a:lstStyle/>
          <a:p>
            <a:pPr algn="l">
              <a:defRPr sz="1200" b="0">
                <a:solidFill>
                  <a:srgbClr val="505050"/>
                </a:solidFill>
                <a:latin typeface="Calibri"/>
              </a:defRPr>
            </a:pPr>
            <a:r>
              <a:t>Off-hours access: slightly elevated but within population norms</a:t>
            </a:r>
          </a:p>
        </p:txBody>
      </p:sp>
      <p:sp>
        <p:nvSpPr>
          <p:cNvPr id="27" name="Rectangle 26"/>
          <p:cNvSpPr/>
          <p:nvPr/>
        </p:nvSpPr>
        <p:spPr>
          <a:xfrm>
            <a:off x="6629400" y="3666744"/>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3575304"/>
            <a:ext cx="4754880" cy="347472"/>
          </a:xfrm>
          <a:prstGeom prst="rect">
            <a:avLst/>
          </a:prstGeom>
          <a:noFill/>
        </p:spPr>
        <p:txBody>
          <a:bodyPr wrap="square">
            <a:spAutoFit/>
          </a:bodyPr>
          <a:lstStyle/>
          <a:p>
            <a:pPr algn="l">
              <a:defRPr sz="1200" b="0">
                <a:solidFill>
                  <a:srgbClr val="505050"/>
                </a:solidFill>
                <a:latin typeface="Calibri"/>
              </a:defRPr>
            </a:pPr>
            <a:r>
              <a:t>No single feature value is a statistical outlier at any point</a:t>
            </a:r>
          </a:p>
        </p:txBody>
      </p:sp>
      <p:sp>
        <p:nvSpPr>
          <p:cNvPr id="29" name="Rectangle 28"/>
          <p:cNvSpPr/>
          <p:nvPr/>
        </p:nvSpPr>
        <p:spPr>
          <a:xfrm>
            <a:off x="6629400" y="4050792"/>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3959352"/>
            <a:ext cx="4754880" cy="347472"/>
          </a:xfrm>
          <a:prstGeom prst="rect">
            <a:avLst/>
          </a:prstGeom>
          <a:noFill/>
        </p:spPr>
        <p:txBody>
          <a:bodyPr wrap="square">
            <a:spAutoFit/>
          </a:bodyPr>
          <a:lstStyle/>
          <a:p>
            <a:pPr algn="l">
              <a:defRPr sz="1200" b="0">
                <a:solidFill>
                  <a:srgbClr val="505050"/>
                </a:solidFill>
                <a:latin typeface="Calibri"/>
              </a:defRPr>
            </a:pPr>
            <a:r>
              <a:t>The attack is a direction change, not a magnitude spike</a:t>
            </a:r>
          </a:p>
        </p:txBody>
      </p:sp>
      <p:sp>
        <p:nvSpPr>
          <p:cNvPr id="31" name="Rounded Rectangle 30"/>
          <p:cNvSpPr/>
          <p:nvPr/>
        </p:nvSpPr>
        <p:spPr>
          <a:xfrm>
            <a:off x="457200" y="5166360"/>
            <a:ext cx="11247120" cy="96012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1800" b="1">
                <a:solidFill>
                  <a:srgbClr val="B7950B"/>
                </a:solidFill>
                <a:latin typeface="Calibri"/>
              </a:defRPr>
            </a:pPr>
            <a:r>
              <a:t>Core Limitation: Traditional methods evaluate a snapshot in feature space.</a:t>
            </a:r>
          </a:p>
          <a:p>
            <a:pPr algn="l">
              <a:spcBef>
                <a:spcPts val="600"/>
              </a:spcBef>
              <a:spcAft>
                <a:spcPts val="300"/>
              </a:spcAft>
              <a:defRPr sz="1400" b="0">
                <a:solidFill>
                  <a:srgbClr val="FFFFFF"/>
                </a:solidFill>
                <a:latin typeface="Calibri"/>
              </a:defRPr>
            </a:pPr>
            <a:r>
              <a:t>They cannot detect that a user is gradually moving toward a more dangerous behavioral profile over weeks and months.</a:t>
            </a:r>
          </a:p>
        </p:txBody>
      </p:sp>
      <p:sp>
        <p:nvSpPr>
          <p:cNvPr id="32" name="TextBox 31"/>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Temporal Methods — Detection Without Precision</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Temporal methods detect all 4 attack campaigns — but flag the majority of the normal user population as well, rendering the alerts non-actionable.</a:t>
            </a:r>
          </a:p>
        </p:txBody>
      </p:sp>
      <p:sp>
        <p:nvSpPr>
          <p:cNvPr id="5" name="Rounded Rectangle 4"/>
          <p:cNvSpPr/>
          <p:nvPr/>
        </p:nvSpPr>
        <p:spPr>
          <a:xfrm>
            <a:off x="457200" y="1783080"/>
            <a:ext cx="5303520" cy="2286000"/>
          </a:xfrm>
          <a:prstGeom prst="roundRect">
            <a:avLst/>
          </a:prstGeom>
          <a:no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530352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4937760" cy="411480"/>
          </a:xfrm>
          <a:prstGeom prst="rect">
            <a:avLst/>
          </a:prstGeom>
          <a:noFill/>
        </p:spPr>
        <p:txBody>
          <a:bodyPr wrap="square">
            <a:spAutoFit/>
          </a:bodyPr>
          <a:lstStyle/>
          <a:p>
            <a:pPr algn="l">
              <a:defRPr sz="1800" b="1">
                <a:solidFill>
                  <a:srgbClr val="27AE60"/>
                </a:solidFill>
                <a:latin typeface="Calibri"/>
              </a:defRPr>
            </a:pPr>
            <a:r>
              <a:t>What Works</a:t>
            </a:r>
          </a:p>
        </p:txBody>
      </p:sp>
      <p:sp>
        <p:nvSpPr>
          <p:cNvPr id="8" name="Rectangle 7"/>
          <p:cNvSpPr/>
          <p:nvPr/>
        </p:nvSpPr>
        <p:spPr>
          <a:xfrm>
            <a:off x="685800" y="2423160"/>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4572000" cy="347472"/>
          </a:xfrm>
          <a:prstGeom prst="rect">
            <a:avLst/>
          </a:prstGeom>
          <a:noFill/>
        </p:spPr>
        <p:txBody>
          <a:bodyPr wrap="square">
            <a:spAutoFit/>
          </a:bodyPr>
          <a:lstStyle/>
          <a:p>
            <a:pPr algn="l">
              <a:defRPr sz="1200" b="0">
                <a:solidFill>
                  <a:srgbClr val="505050"/>
                </a:solidFill>
                <a:latin typeface="Calibri"/>
              </a:defRPr>
            </a:pPr>
            <a:r>
              <a:t>Temporal comparison catches all 4 attack campaigns</a:t>
            </a:r>
          </a:p>
        </p:txBody>
      </p:sp>
      <p:sp>
        <p:nvSpPr>
          <p:cNvPr id="10" name="Rectangle 9"/>
          <p:cNvSpPr/>
          <p:nvPr/>
        </p:nvSpPr>
        <p:spPr>
          <a:xfrm>
            <a:off x="685800" y="2807208"/>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07208"/>
            <a:ext cx="4572000" cy="347472"/>
          </a:xfrm>
          <a:prstGeom prst="rect">
            <a:avLst/>
          </a:prstGeom>
          <a:noFill/>
        </p:spPr>
        <p:txBody>
          <a:bodyPr wrap="square">
            <a:spAutoFit/>
          </a:bodyPr>
          <a:lstStyle/>
          <a:p>
            <a:pPr algn="l">
              <a:defRPr sz="1200" b="0">
                <a:solidFill>
                  <a:srgbClr val="505050"/>
                </a:solidFill>
                <a:latin typeface="Calibri"/>
              </a:defRPr>
            </a:pPr>
            <a:r>
              <a:t>Detects USR-156's insider shift and USR-234's C2 changes</a:t>
            </a:r>
          </a:p>
        </p:txBody>
      </p:sp>
      <p:sp>
        <p:nvSpPr>
          <p:cNvPr id="12" name="Rectangle 11"/>
          <p:cNvSpPr/>
          <p:nvPr/>
        </p:nvSpPr>
        <p:spPr>
          <a:xfrm>
            <a:off x="685800" y="3191256"/>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4572000" cy="347472"/>
          </a:xfrm>
          <a:prstGeom prst="rect">
            <a:avLst/>
          </a:prstGeom>
          <a:noFill/>
        </p:spPr>
        <p:txBody>
          <a:bodyPr wrap="square">
            <a:spAutoFit/>
          </a:bodyPr>
          <a:lstStyle/>
          <a:p>
            <a:pPr algn="l">
              <a:defRPr sz="1200" b="0">
                <a:solidFill>
                  <a:srgbClr val="505050"/>
                </a:solidFill>
                <a:latin typeface="Calibri"/>
              </a:defRPr>
            </a:pPr>
            <a:r>
              <a:t>Also catches USR-042 (Volt Typhoon) and USR-118 (Salt Typhoon)</a:t>
            </a:r>
          </a:p>
        </p:txBody>
      </p:sp>
      <p:sp>
        <p:nvSpPr>
          <p:cNvPr id="14" name="Rounded Rectangle 13"/>
          <p:cNvSpPr/>
          <p:nvPr/>
        </p:nvSpPr>
        <p:spPr>
          <a:xfrm>
            <a:off x="6400800" y="1783080"/>
            <a:ext cx="5303520" cy="228600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83080"/>
            <a:ext cx="5303520" cy="640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20240"/>
            <a:ext cx="4937760" cy="411480"/>
          </a:xfrm>
          <a:prstGeom prst="rect">
            <a:avLst/>
          </a:prstGeom>
          <a:noFill/>
        </p:spPr>
        <p:txBody>
          <a:bodyPr wrap="square">
            <a:spAutoFit/>
          </a:bodyPr>
          <a:lstStyle/>
          <a:p>
            <a:pPr algn="l">
              <a:defRPr sz="1800" b="1">
                <a:solidFill>
                  <a:srgbClr val="C0392B"/>
                </a:solidFill>
                <a:latin typeface="Calibri"/>
              </a:defRPr>
            </a:pPr>
            <a:r>
              <a:t>Why It Fails Operationally</a:t>
            </a:r>
          </a:p>
        </p:txBody>
      </p:sp>
      <p:sp>
        <p:nvSpPr>
          <p:cNvPr id="17" name="Rectangle 16"/>
          <p:cNvSpPr/>
          <p:nvPr/>
        </p:nvSpPr>
        <p:spPr>
          <a:xfrm>
            <a:off x="6629400" y="2514600"/>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2423160"/>
            <a:ext cx="4572000" cy="347472"/>
          </a:xfrm>
          <a:prstGeom prst="rect">
            <a:avLst/>
          </a:prstGeom>
          <a:noFill/>
        </p:spPr>
        <p:txBody>
          <a:bodyPr wrap="square">
            <a:spAutoFit/>
          </a:bodyPr>
          <a:lstStyle/>
          <a:p>
            <a:pPr algn="l">
              <a:defRPr sz="1200" b="0">
                <a:solidFill>
                  <a:srgbClr val="505050"/>
                </a:solidFill>
                <a:latin typeface="Calibri"/>
              </a:defRPr>
            </a:pPr>
            <a:r>
              <a:t>Normal employees also shift behavior over months</a:t>
            </a:r>
          </a:p>
        </p:txBody>
      </p:sp>
      <p:sp>
        <p:nvSpPr>
          <p:cNvPr id="19" name="Rectangle 18"/>
          <p:cNvSpPr/>
          <p:nvPr/>
        </p:nvSpPr>
        <p:spPr>
          <a:xfrm>
            <a:off x="6629400" y="2898648"/>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807208"/>
            <a:ext cx="4572000" cy="347472"/>
          </a:xfrm>
          <a:prstGeom prst="rect">
            <a:avLst/>
          </a:prstGeom>
          <a:noFill/>
        </p:spPr>
        <p:txBody>
          <a:bodyPr wrap="square">
            <a:spAutoFit/>
          </a:bodyPr>
          <a:lstStyle/>
          <a:p>
            <a:pPr algn="l">
              <a:defRPr sz="1200" b="0">
                <a:solidFill>
                  <a:srgbClr val="505050"/>
                </a:solidFill>
                <a:latin typeface="Calibri"/>
              </a:defRPr>
            </a:pPr>
            <a:r>
              <a:t>Org-wide changes (policy, project ramp-ups) affect everyone</a:t>
            </a:r>
          </a:p>
        </p:txBody>
      </p:sp>
      <p:sp>
        <p:nvSpPr>
          <p:cNvPr id="21" name="Rectangle 20"/>
          <p:cNvSpPr/>
          <p:nvPr/>
        </p:nvSpPr>
        <p:spPr>
          <a:xfrm>
            <a:off x="6629400" y="3282696"/>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3191256"/>
            <a:ext cx="4572000" cy="347472"/>
          </a:xfrm>
          <a:prstGeom prst="rect">
            <a:avLst/>
          </a:prstGeom>
          <a:noFill/>
        </p:spPr>
        <p:txBody>
          <a:bodyPr wrap="square">
            <a:spAutoFit/>
          </a:bodyPr>
          <a:lstStyle/>
          <a:p>
            <a:pPr algn="l">
              <a:defRPr sz="1200" b="0">
                <a:solidFill>
                  <a:srgbClr val="505050"/>
                </a:solidFill>
                <a:latin typeface="Calibri"/>
              </a:defRPr>
            </a:pPr>
            <a:r>
              <a:t>Cannot distinguish threat drift from benign evolution</a:t>
            </a:r>
          </a:p>
        </p:txBody>
      </p:sp>
      <p:sp>
        <p:nvSpPr>
          <p:cNvPr id="23" name="Rectangle 22"/>
          <p:cNvSpPr/>
          <p:nvPr/>
        </p:nvSpPr>
        <p:spPr>
          <a:xfrm>
            <a:off x="6629400" y="3666744"/>
            <a:ext cx="91440" cy="91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3575304"/>
            <a:ext cx="4572000" cy="347472"/>
          </a:xfrm>
          <a:prstGeom prst="rect">
            <a:avLst/>
          </a:prstGeom>
          <a:noFill/>
        </p:spPr>
        <p:txBody>
          <a:bodyPr wrap="square">
            <a:spAutoFit/>
          </a:bodyPr>
          <a:lstStyle/>
          <a:p>
            <a:pPr algn="l">
              <a:defRPr sz="1200" b="0">
                <a:solidFill>
                  <a:srgbClr val="505050"/>
                </a:solidFill>
                <a:latin typeface="Calibri"/>
              </a:defRPr>
            </a:pPr>
            <a:r>
              <a:t>46 of 46 normal users flagged — every alert is probably a false alarm</a:t>
            </a:r>
          </a:p>
        </p:txBody>
      </p:sp>
      <p:sp>
        <p:nvSpPr>
          <p:cNvPr id="25" name="TextBox 24"/>
          <p:cNvSpPr txBox="1"/>
          <p:nvPr/>
        </p:nvSpPr>
        <p:spPr>
          <a:xfrm>
            <a:off x="640080" y="4251960"/>
            <a:ext cx="10881360" cy="365760"/>
          </a:xfrm>
          <a:prstGeom prst="rect">
            <a:avLst/>
          </a:prstGeom>
          <a:noFill/>
        </p:spPr>
        <p:txBody>
          <a:bodyPr wrap="square">
            <a:spAutoFit/>
          </a:bodyPr>
          <a:lstStyle/>
          <a:p>
            <a:pPr algn="l">
              <a:defRPr sz="1600" b="1">
                <a:solidFill>
                  <a:srgbClr val="0D1B2A"/>
                </a:solidFill>
                <a:latin typeface="Calibri"/>
              </a:defRPr>
            </a:pPr>
            <a:r>
              <a:t>False Positive Breakdown:</a:t>
            </a:r>
          </a:p>
        </p:txBody>
      </p:sp>
      <p:sp>
        <p:nvSpPr>
          <p:cNvPr id="26" name="TextBox 25"/>
          <p:cNvSpPr txBox="1"/>
          <p:nvPr/>
        </p:nvSpPr>
        <p:spPr>
          <a:xfrm>
            <a:off x="640080" y="4709160"/>
            <a:ext cx="3200400" cy="347472"/>
          </a:xfrm>
          <a:prstGeom prst="rect">
            <a:avLst/>
          </a:prstGeom>
          <a:noFill/>
        </p:spPr>
        <p:txBody>
          <a:bodyPr wrap="square">
            <a:spAutoFit/>
          </a:bodyPr>
          <a:lstStyle/>
          <a:p>
            <a:pPr algn="l">
              <a:defRPr sz="1200" b="0">
                <a:solidFill>
                  <a:srgbClr val="0D1B2A"/>
                </a:solidFill>
                <a:latin typeface="Calibri"/>
              </a:defRPr>
            </a:pPr>
            <a:r>
              <a:t>Temporal Z-Score</a:t>
            </a:r>
          </a:p>
        </p:txBody>
      </p:sp>
      <p:sp>
        <p:nvSpPr>
          <p:cNvPr id="27" name="Rectangle 26"/>
          <p:cNvSpPr/>
          <p:nvPr/>
        </p:nvSpPr>
        <p:spPr>
          <a:xfrm>
            <a:off x="3931920" y="4709160"/>
            <a:ext cx="548640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760" y="4709160"/>
            <a:ext cx="1371600" cy="292608"/>
          </a:xfrm>
          <a:prstGeom prst="rect">
            <a:avLst/>
          </a:prstGeom>
          <a:noFill/>
        </p:spPr>
        <p:txBody>
          <a:bodyPr wrap="square">
            <a:spAutoFit/>
          </a:bodyPr>
          <a:lstStyle/>
          <a:p>
            <a:pPr algn="l">
              <a:defRPr sz="1200" b="1">
                <a:solidFill>
                  <a:srgbClr val="C0392B"/>
                </a:solidFill>
                <a:latin typeface="Calibri"/>
              </a:defRPr>
            </a:pPr>
            <a:r>
              <a:t>46 users (100.0%)</a:t>
            </a:r>
          </a:p>
        </p:txBody>
      </p:sp>
      <p:sp>
        <p:nvSpPr>
          <p:cNvPr id="29" name="TextBox 28"/>
          <p:cNvSpPr txBox="1"/>
          <p:nvPr/>
        </p:nvSpPr>
        <p:spPr>
          <a:xfrm>
            <a:off x="640080" y="5120640"/>
            <a:ext cx="3200400" cy="347472"/>
          </a:xfrm>
          <a:prstGeom prst="rect">
            <a:avLst/>
          </a:prstGeom>
          <a:noFill/>
        </p:spPr>
        <p:txBody>
          <a:bodyPr wrap="square">
            <a:spAutoFit/>
          </a:bodyPr>
          <a:lstStyle/>
          <a:p>
            <a:pPr algn="l">
              <a:defRPr sz="1200" b="0">
                <a:solidFill>
                  <a:srgbClr val="0D1B2A"/>
                </a:solidFill>
                <a:latin typeface="Calibri"/>
              </a:defRPr>
            </a:pPr>
            <a:r>
              <a:t>Feature Trajectory Top-10%</a:t>
            </a:r>
          </a:p>
        </p:txBody>
      </p:sp>
      <p:sp>
        <p:nvSpPr>
          <p:cNvPr id="30" name="Rectangle 29"/>
          <p:cNvSpPr/>
          <p:nvPr/>
        </p:nvSpPr>
        <p:spPr>
          <a:xfrm>
            <a:off x="3931920" y="5120640"/>
            <a:ext cx="356616" cy="2743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9976" y="5120640"/>
            <a:ext cx="1371600" cy="292608"/>
          </a:xfrm>
          <a:prstGeom prst="rect">
            <a:avLst/>
          </a:prstGeom>
          <a:noFill/>
        </p:spPr>
        <p:txBody>
          <a:bodyPr wrap="square">
            <a:spAutoFit/>
          </a:bodyPr>
          <a:lstStyle/>
          <a:p>
            <a:pPr algn="l">
              <a:defRPr sz="1200" b="1">
                <a:solidFill>
                  <a:srgbClr val="27AE60"/>
                </a:solidFill>
                <a:latin typeface="Calibri"/>
              </a:defRPr>
            </a:pPr>
            <a:r>
              <a:t>3 users (6.5%)</a:t>
            </a:r>
          </a:p>
        </p:txBody>
      </p:sp>
      <p:sp>
        <p:nvSpPr>
          <p:cNvPr id="32" name="Rounded Rectangle 31"/>
          <p:cNvSpPr/>
          <p:nvPr/>
        </p:nvSpPr>
        <p:spPr>
          <a:xfrm>
            <a:off x="1371600" y="5943600"/>
            <a:ext cx="9418320" cy="50292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400" b="1">
                <a:solidFill>
                  <a:srgbClr val="B7950B"/>
                </a:solidFill>
                <a:latin typeface="Calibri"/>
              </a:defRPr>
            </a:pPr>
            <a:r>
              <a:t>Feature Trajectory Top-10% brings FP to 6.5% but detects only 2 of 4 — misses the insider and slow APT entirely</a:t>
            </a:r>
          </a:p>
        </p:txBody>
      </p:sp>
      <p:sp>
        <p:nvSpPr>
          <p:cNvPr id="33" name="TextBox 32"/>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Zone Divergence — The Insider Detection Breakthrough</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Tier 3 Zone Divergence detects attacks by analyzing WHICH behavioral zone drifts while identity remains stable — catching threats invisible to all traditional methods and single-composite embeddings.</a:t>
            </a:r>
          </a:p>
        </p:txBody>
      </p:sp>
      <p:graphicFrame>
        <p:nvGraphicFramePr>
          <p:cNvPr id="5" name="Table 4"/>
          <p:cNvGraphicFramePr>
            <a:graphicFrameLocks noGrp="1"/>
          </p:cNvGraphicFramePr>
          <p:nvPr/>
        </p:nvGraphicFramePr>
        <p:xfrm>
          <a:off x="457200" y="1828800"/>
          <a:ext cx="10698480" cy="1371600"/>
        </p:xfrm>
        <a:graphic>
          <a:graphicData uri="http://schemas.openxmlformats.org/drawingml/2006/table">
            <a:tbl>
              <a:tblPr firstRow="1" bandRow="1">
                <a:tableStyleId>{5C22544A-7EE6-4342-B048-85BDC9FD1C3A}</a:tableStyleId>
              </a:tblPr>
              <a:tblGrid>
                <a:gridCol w="2011680"/>
                <a:gridCol w="1828800"/>
                <a:gridCol w="1828800"/>
                <a:gridCol w="1828800"/>
                <a:gridCol w="1828800"/>
                <a:gridCol w="1371600"/>
              </a:tblGrid>
              <a:tr h="342900">
                <a:tc>
                  <a:txBody>
                    <a:bodyPr lIns="64008" rIns="64008" tIns="36576" bIns="36576"/>
                    <a:lstStyle/>
                    <a:p>
                      <a:pPr algn="ctr">
                        <a:defRPr sz="1200" b="1">
                          <a:solidFill>
                            <a:srgbClr val="FFFFFF"/>
                          </a:solidFill>
                          <a:latin typeface="Calibri"/>
                        </a:defRPr>
                      </a:pPr>
                      <a:r>
                        <a:t>Method</a:t>
                      </a:r>
                    </a:p>
                  </a:txBody>
                  <a:tcPr anchor="ctr">
                    <a:solidFill>
                      <a:srgbClr val="0D1B2A"/>
                    </a:solidFill>
                  </a:tcPr>
                </a:tc>
                <a:tc>
                  <a:txBody>
                    <a:bodyPr lIns="64008" rIns="64008" tIns="36576" bIns="36576"/>
                    <a:lstStyle/>
                    <a:p>
                      <a:pPr algn="ctr">
                        <a:defRPr sz="1200" b="1">
                          <a:solidFill>
                            <a:srgbClr val="FFFFFF"/>
                          </a:solidFill>
                          <a:latin typeface="Calibri"/>
                        </a:defRPr>
                      </a:pPr>
                      <a:r>
                        <a:t>USR-156</a:t>
                      </a:r>
                    </a:p>
                    <a:p>
                      <a:pPr algn="ctr">
                        <a:defRPr sz="1200" b="1">
                          <a:solidFill>
                            <a:srgbClr val="FFFFFF"/>
                          </a:solidFill>
                          <a:latin typeface="Calibri"/>
                        </a:defRPr>
                      </a:pPr>
                      <a:r>
                        <a:t>(Insider)</a:t>
                      </a:r>
                    </a:p>
                  </a:txBody>
                  <a:tcPr anchor="ctr">
                    <a:solidFill>
                      <a:srgbClr val="0D1B2A"/>
                    </a:solidFill>
                  </a:tcPr>
                </a:tc>
                <a:tc>
                  <a:txBody>
                    <a:bodyPr lIns="64008" rIns="64008" tIns="36576" bIns="36576"/>
                    <a:lstStyle/>
                    <a:p>
                      <a:pPr algn="ctr">
                        <a:defRPr sz="1200" b="1">
                          <a:solidFill>
                            <a:srgbClr val="FFFFFF"/>
                          </a:solidFill>
                          <a:latin typeface="Calibri"/>
                        </a:defRPr>
                      </a:pPr>
                      <a:r>
                        <a:t>USR-234</a:t>
                      </a:r>
                    </a:p>
                    <a:p>
                      <a:pPr algn="ctr">
                        <a:defRPr sz="1200" b="1">
                          <a:solidFill>
                            <a:srgbClr val="FFFFFF"/>
                          </a:solidFill>
                          <a:latin typeface="Calibri"/>
                        </a:defRPr>
                      </a:pPr>
                      <a:r>
                        <a:t>(Slow APT)</a:t>
                      </a:r>
                    </a:p>
                  </a:txBody>
                  <a:tcPr anchor="ctr">
                    <a:solidFill>
                      <a:srgbClr val="0D1B2A"/>
                    </a:solidFill>
                  </a:tcPr>
                </a:tc>
                <a:tc>
                  <a:txBody>
                    <a:bodyPr lIns="64008" rIns="64008" tIns="36576" bIns="36576"/>
                    <a:lstStyle/>
                    <a:p>
                      <a:pPr algn="ctr">
                        <a:defRPr sz="1200" b="1">
                          <a:solidFill>
                            <a:srgbClr val="FFFFFF"/>
                          </a:solidFill>
                          <a:latin typeface="Calibri"/>
                        </a:defRPr>
                      </a:pPr>
                      <a:r>
                        <a:t>USR-042</a:t>
                      </a:r>
                    </a:p>
                    <a:p>
                      <a:pPr algn="ctr">
                        <a:defRPr sz="1200" b="1">
                          <a:solidFill>
                            <a:srgbClr val="FFFFFF"/>
                          </a:solidFill>
                          <a:latin typeface="Calibri"/>
                        </a:defRPr>
                      </a:pPr>
                      <a:r>
                        <a:t>(Volt Typh)</a:t>
                      </a:r>
                    </a:p>
                  </a:txBody>
                  <a:tcPr anchor="ctr">
                    <a:solidFill>
                      <a:srgbClr val="0D1B2A"/>
                    </a:solidFill>
                  </a:tcPr>
                </a:tc>
                <a:tc>
                  <a:txBody>
                    <a:bodyPr lIns="64008" rIns="64008" tIns="36576" bIns="36576"/>
                    <a:lstStyle/>
                    <a:p>
                      <a:pPr algn="ctr">
                        <a:defRPr sz="1200" b="1">
                          <a:solidFill>
                            <a:srgbClr val="FFFFFF"/>
                          </a:solidFill>
                          <a:latin typeface="Calibri"/>
                        </a:defRPr>
                      </a:pPr>
                      <a:r>
                        <a:t>USR-118</a:t>
                      </a:r>
                    </a:p>
                    <a:p>
                      <a:pPr algn="ctr">
                        <a:defRPr sz="1200" b="1">
                          <a:solidFill>
                            <a:srgbClr val="FFFFFF"/>
                          </a:solidFill>
                          <a:latin typeface="Calibri"/>
                        </a:defRPr>
                      </a:pPr>
                      <a:r>
                        <a:t>(Salt Typh)</a:t>
                      </a:r>
                    </a:p>
                  </a:txBody>
                  <a:tcPr anchor="ctr">
                    <a:solidFill>
                      <a:srgbClr val="0D1B2A"/>
                    </a:solidFill>
                  </a:tcPr>
                </a:tc>
                <a:tc>
                  <a:txBody>
                    <a:bodyPr lIns="64008" rIns="64008" tIns="36576" bIns="36576"/>
                    <a:lstStyle/>
                    <a:p>
                      <a:pPr algn="ctr">
                        <a:defRPr sz="1200" b="1">
                          <a:solidFill>
                            <a:srgbClr val="FFFFFF"/>
                          </a:solidFill>
                          <a:latin typeface="Calibri"/>
                        </a:defRPr>
                      </a:pPr>
                      <a:r>
                        <a:t>FP Rate</a:t>
                      </a:r>
                    </a:p>
                  </a:txBody>
                  <a:tcPr anchor="ctr">
                    <a:solidFill>
                      <a:srgbClr val="0D1B2A"/>
                    </a:solidFill>
                  </a:tcPr>
                </a:tc>
              </a:tr>
              <a:tr h="342900">
                <a:tc>
                  <a:txBody>
                    <a:bodyPr lIns="64008" rIns="64008" tIns="36576" bIns="36576"/>
                    <a:lstStyle/>
                    <a:p>
                      <a:pPr algn="l">
                        <a:defRPr sz="1300" b="1">
                          <a:solidFill>
                            <a:srgbClr val="FFFFFF"/>
                          </a:solidFill>
                          <a:latin typeface="Calibri"/>
                        </a:defRPr>
                      </a:pPr>
                      <a:r>
                        <a:t>LOF (Tier 1)</a:t>
                      </a:r>
                    </a:p>
                  </a:txBody>
                  <a:tcPr anchor="ctr">
                    <a:solidFill>
                      <a:srgbClr val="0E6B8A"/>
                    </a:solidFill>
                  </a:tcPr>
                </a:tc>
                <a:tc>
                  <a:txBody>
                    <a:bodyPr lIns="64008" rIns="64008" tIns="36576" bIns="36576"/>
                    <a:lstStyle/>
                    <a:p>
                      <a:pPr algn="ctr">
                        <a:defRPr sz="1300" b="1">
                          <a:solidFill>
                            <a:srgbClr val="FFFFFF"/>
                          </a:solidFill>
                          <a:latin typeface="Calibri"/>
                        </a:defRPr>
                      </a:pPr>
                      <a:r>
                        <a:t>MISSED</a:t>
                      </a:r>
                    </a:p>
                  </a:txBody>
                  <a:tcPr anchor="ctr">
                    <a:solidFill>
                      <a:srgbClr val="C0392B"/>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0">
                          <a:solidFill>
                            <a:srgbClr val="0D1B2A"/>
                          </a:solidFill>
                          <a:latin typeface="Calibri"/>
                        </a:defRPr>
                      </a:pPr>
                      <a:r>
                        <a:t>0.0%</a:t>
                      </a:r>
                    </a:p>
                  </a:txBody>
                  <a:tcPr anchor="ctr">
                    <a:solidFill>
                      <a:srgbClr val="FFFFFF"/>
                    </a:solidFill>
                  </a:tcPr>
                </a:tc>
              </a:tr>
              <a:tr h="342900">
                <a:tc>
                  <a:txBody>
                    <a:bodyPr lIns="64008" rIns="64008" tIns="36576" bIns="36576"/>
                    <a:lstStyle/>
                    <a:p>
                      <a:pPr algn="l">
                        <a:defRPr sz="1300" b="1">
                          <a:solidFill>
                            <a:srgbClr val="FFFFFF"/>
                          </a:solidFill>
                          <a:latin typeface="Calibri"/>
                        </a:defRPr>
                      </a:pPr>
                      <a:r>
                        <a:t>Zone Divergence</a:t>
                      </a:r>
                    </a:p>
                  </a:txBody>
                  <a:tcPr anchor="ctr">
                    <a:solidFill>
                      <a:srgbClr val="0E6B8A"/>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MISSED</a:t>
                      </a:r>
                    </a:p>
                  </a:txBody>
                  <a:tcPr anchor="ctr">
                    <a:solidFill>
                      <a:srgbClr val="C0392B"/>
                    </a:solidFill>
                  </a:tcPr>
                </a:tc>
                <a:tc>
                  <a:txBody>
                    <a:bodyPr lIns="64008" rIns="64008" tIns="36576" bIns="36576"/>
                    <a:lstStyle/>
                    <a:p>
                      <a:pPr algn="ctr">
                        <a:defRPr sz="1300" b="1">
                          <a:solidFill>
                            <a:srgbClr val="FFFFFF"/>
                          </a:solidFill>
                          <a:latin typeface="Calibri"/>
                        </a:defRPr>
                      </a:pPr>
                      <a:r>
                        <a:t>MISSED</a:t>
                      </a:r>
                    </a:p>
                  </a:txBody>
                  <a:tcPr anchor="ctr">
                    <a:solidFill>
                      <a:srgbClr val="C0392B"/>
                    </a:solidFill>
                  </a:tcPr>
                </a:tc>
                <a:tc>
                  <a:txBody>
                    <a:bodyPr lIns="64008" rIns="64008" tIns="36576" bIns="36576"/>
                    <a:lstStyle/>
                    <a:p>
                      <a:pPr algn="ctr">
                        <a:defRPr sz="1300" b="0">
                          <a:solidFill>
                            <a:srgbClr val="0D1B2A"/>
                          </a:solidFill>
                          <a:latin typeface="Calibri"/>
                        </a:defRPr>
                      </a:pPr>
                      <a:r>
                        <a:t>6.5%</a:t>
                      </a:r>
                    </a:p>
                  </a:txBody>
                  <a:tcPr anchor="ctr">
                    <a:solidFill>
                      <a:srgbClr val="F0F2F5"/>
                    </a:solidFill>
                  </a:tcPr>
                </a:tc>
              </a:tr>
              <a:tr h="342900">
                <a:tc>
                  <a:txBody>
                    <a:bodyPr lIns="64008" rIns="64008" tIns="36576" bIns="36576"/>
                    <a:lstStyle/>
                    <a:p>
                      <a:pPr algn="l">
                        <a:defRPr sz="1300" b="1">
                          <a:solidFill>
                            <a:srgbClr val="FFFFFF"/>
                          </a:solidFill>
                          <a:latin typeface="Calibri"/>
                        </a:defRPr>
                      </a:pPr>
                      <a:r>
                        <a:t>LOF + Zone Div</a:t>
                      </a:r>
                    </a:p>
                  </a:txBody>
                  <a:tcPr anchor="ctr">
                    <a:solidFill>
                      <a:srgbClr val="0E6B8A"/>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1">
                          <a:solidFill>
                            <a:srgbClr val="FFFFFF"/>
                          </a:solidFill>
                          <a:latin typeface="Calibri"/>
                        </a:defRPr>
                      </a:pPr>
                      <a:r>
                        <a:t>DETECTED</a:t>
                      </a:r>
                    </a:p>
                  </a:txBody>
                  <a:tcPr anchor="ctr">
                    <a:solidFill>
                      <a:srgbClr val="27AE60"/>
                    </a:solidFill>
                  </a:tcPr>
                </a:tc>
                <a:tc>
                  <a:txBody>
                    <a:bodyPr lIns="64008" rIns="64008" tIns="36576" bIns="36576"/>
                    <a:lstStyle/>
                    <a:p>
                      <a:pPr algn="ctr">
                        <a:defRPr sz="1300" b="0">
                          <a:solidFill>
                            <a:srgbClr val="0D1B2A"/>
                          </a:solidFill>
                          <a:latin typeface="Calibri"/>
                        </a:defRPr>
                      </a:pPr>
                      <a:r>
                        <a:t>6.5%</a:t>
                      </a:r>
                    </a:p>
                  </a:txBody>
                  <a:tcPr anchor="ctr">
                    <a:solidFill>
                      <a:srgbClr val="FFFFFF"/>
                    </a:solidFill>
                  </a:tcPr>
                </a:tc>
              </a:tr>
            </a:tbl>
          </a:graphicData>
        </a:graphic>
      </p:graphicFrame>
      <p:sp>
        <p:nvSpPr>
          <p:cNvPr id="6" name="Rounded Rectangle 5"/>
          <p:cNvSpPr/>
          <p:nvPr/>
        </p:nvSpPr>
        <p:spPr>
          <a:xfrm>
            <a:off x="457200" y="3474720"/>
            <a:ext cx="5394960" cy="2286000"/>
          </a:xfrm>
          <a:prstGeom prst="roundRect">
            <a:avLst/>
          </a:prstGeom>
          <a:no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474720"/>
            <a:ext cx="539496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11880"/>
            <a:ext cx="5029200" cy="411480"/>
          </a:xfrm>
          <a:prstGeom prst="rect">
            <a:avLst/>
          </a:prstGeom>
          <a:noFill/>
        </p:spPr>
        <p:txBody>
          <a:bodyPr wrap="square">
            <a:spAutoFit/>
          </a:bodyPr>
          <a:lstStyle/>
          <a:p>
            <a:pPr algn="l">
              <a:defRPr sz="1800" b="1">
                <a:solidFill>
                  <a:srgbClr val="27AE60"/>
                </a:solidFill>
                <a:latin typeface="Calibri"/>
              </a:defRPr>
            </a:pPr>
            <a:r>
              <a:t>Why Zone Divergence Catches the Insider</a:t>
            </a:r>
          </a:p>
        </p:txBody>
      </p:sp>
      <p:sp>
        <p:nvSpPr>
          <p:cNvPr id="9" name="Rectangle 8"/>
          <p:cNvSpPr/>
          <p:nvPr/>
        </p:nvSpPr>
        <p:spPr>
          <a:xfrm>
            <a:off x="685800" y="418795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800"/>
            <a:ext cx="4663440" cy="502920"/>
          </a:xfrm>
          <a:prstGeom prst="rect">
            <a:avLst/>
          </a:prstGeom>
          <a:noFill/>
        </p:spPr>
        <p:txBody>
          <a:bodyPr wrap="square">
            <a:spAutoFit/>
          </a:bodyPr>
          <a:lstStyle/>
          <a:p>
            <a:pPr algn="l">
              <a:defRPr sz="1200" b="0">
                <a:solidFill>
                  <a:srgbClr val="505050"/>
                </a:solidFill>
                <a:latin typeface="Calibri"/>
              </a:defRPr>
            </a:pPr>
            <a:r>
              <a:t>Decomposes behavior into 5 zones: identity, access, data, network, risk</a:t>
            </a:r>
          </a:p>
        </p:txBody>
      </p:sp>
      <p:sp>
        <p:nvSpPr>
          <p:cNvPr id="11" name="Rectangle 10"/>
          <p:cNvSpPr/>
          <p:nvPr/>
        </p:nvSpPr>
        <p:spPr>
          <a:xfrm>
            <a:off x="685800" y="469087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17720"/>
            <a:ext cx="4663440" cy="502920"/>
          </a:xfrm>
          <a:prstGeom prst="rect">
            <a:avLst/>
          </a:prstGeom>
          <a:noFill/>
        </p:spPr>
        <p:txBody>
          <a:bodyPr wrap="square">
            <a:spAutoFit/>
          </a:bodyPr>
          <a:lstStyle/>
          <a:p>
            <a:pPr algn="l">
              <a:defRPr sz="1200" b="0">
                <a:solidFill>
                  <a:srgbClr val="505050"/>
                </a:solidFill>
                <a:latin typeface="Calibri"/>
              </a:defRPr>
            </a:pPr>
            <a:r>
              <a:t>USR-156: identity drift = 0.00, data_behavior drift = 0.33 — accessing different data while looking like the same person</a:t>
            </a:r>
          </a:p>
        </p:txBody>
      </p:sp>
      <p:sp>
        <p:nvSpPr>
          <p:cNvPr id="13" name="Rectangle 12"/>
          <p:cNvSpPr/>
          <p:nvPr/>
        </p:nvSpPr>
        <p:spPr>
          <a:xfrm>
            <a:off x="685800" y="5193792"/>
            <a:ext cx="91440"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20640"/>
            <a:ext cx="4663440" cy="502920"/>
          </a:xfrm>
          <a:prstGeom prst="rect">
            <a:avLst/>
          </a:prstGeom>
          <a:noFill/>
        </p:spPr>
        <p:txBody>
          <a:bodyPr wrap="square">
            <a:spAutoFit/>
          </a:bodyPr>
          <a:lstStyle/>
          <a:p>
            <a:pPr algn="l">
              <a:defRPr sz="1200" b="0">
                <a:solidFill>
                  <a:srgbClr val="505050"/>
                </a:solidFill>
                <a:latin typeface="Calibri"/>
              </a:defRPr>
            </a:pPr>
            <a:r>
              <a:t>USR-234: identity drift = 0.00, network drift = 0.28 — C2 beaconing creates a zone-specific signature</a:t>
            </a:r>
          </a:p>
        </p:txBody>
      </p:sp>
      <p:sp>
        <p:nvSpPr>
          <p:cNvPr id="15" name="Rounded Rectangle 14"/>
          <p:cNvSpPr/>
          <p:nvPr/>
        </p:nvSpPr>
        <p:spPr>
          <a:xfrm>
            <a:off x="6400800" y="3474720"/>
            <a:ext cx="5394960" cy="2286000"/>
          </a:xfrm>
          <a:prstGeom prst="roundRect">
            <a:avLst/>
          </a:prstGeom>
          <a:noFill/>
          <a:ln w="25400">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3474720"/>
            <a:ext cx="5394960" cy="64008"/>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3611880"/>
            <a:ext cx="5029200" cy="411480"/>
          </a:xfrm>
          <a:prstGeom prst="rect">
            <a:avLst/>
          </a:prstGeom>
          <a:noFill/>
        </p:spPr>
        <p:txBody>
          <a:bodyPr wrap="square">
            <a:spAutoFit/>
          </a:bodyPr>
          <a:lstStyle/>
          <a:p>
            <a:pPr algn="l">
              <a:defRPr sz="1800" b="1">
                <a:solidFill>
                  <a:srgbClr val="505050"/>
                </a:solidFill>
                <a:latin typeface="Calibri"/>
              </a:defRPr>
            </a:pPr>
            <a:r>
              <a:t>Why Single-Composite Embedding Fails</a:t>
            </a:r>
          </a:p>
        </p:txBody>
      </p:sp>
      <p:sp>
        <p:nvSpPr>
          <p:cNvPr id="18" name="Rectangle 17"/>
          <p:cNvSpPr/>
          <p:nvPr/>
        </p:nvSpPr>
        <p:spPr>
          <a:xfrm>
            <a:off x="6629400" y="4187952"/>
            <a:ext cx="91440" cy="9144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4114800"/>
            <a:ext cx="4663440" cy="502920"/>
          </a:xfrm>
          <a:prstGeom prst="rect">
            <a:avLst/>
          </a:prstGeom>
          <a:noFill/>
        </p:spPr>
        <p:txBody>
          <a:bodyPr wrap="square">
            <a:spAutoFit/>
          </a:bodyPr>
          <a:lstStyle/>
          <a:p>
            <a:pPr algn="l">
              <a:defRPr sz="1200" b="0">
                <a:solidFill>
                  <a:srgbClr val="505050"/>
                </a:solidFill>
                <a:latin typeface="Calibri"/>
              </a:defRPr>
            </a:pPr>
            <a:r>
              <a:t>Tier 2 averages all behavioral zones into one composite vector</a:t>
            </a:r>
          </a:p>
        </p:txBody>
      </p:sp>
      <p:sp>
        <p:nvSpPr>
          <p:cNvPr id="20" name="Rectangle 19"/>
          <p:cNvSpPr/>
          <p:nvPr/>
        </p:nvSpPr>
        <p:spPr>
          <a:xfrm>
            <a:off x="6629400" y="4690872"/>
            <a:ext cx="91440" cy="9144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4617720"/>
            <a:ext cx="4663440" cy="502920"/>
          </a:xfrm>
          <a:prstGeom prst="rect">
            <a:avLst/>
          </a:prstGeom>
          <a:noFill/>
        </p:spPr>
        <p:txBody>
          <a:bodyPr wrap="square">
            <a:spAutoFit/>
          </a:bodyPr>
          <a:lstStyle/>
          <a:p>
            <a:pPr algn="l">
              <a:defRPr sz="1200" b="0">
                <a:solidFill>
                  <a:srgbClr val="505050"/>
                </a:solidFill>
                <a:latin typeface="Calibri"/>
              </a:defRPr>
            </a:pPr>
            <a:r>
              <a:t>Zone-specific drift signals are diluted — data_behavior drift is averaged with stable identity, access, and risk zones</a:t>
            </a:r>
          </a:p>
        </p:txBody>
      </p:sp>
      <p:sp>
        <p:nvSpPr>
          <p:cNvPr id="22" name="Rectangle 21"/>
          <p:cNvSpPr/>
          <p:nvPr/>
        </p:nvSpPr>
        <p:spPr>
          <a:xfrm>
            <a:off x="6629400" y="5193792"/>
            <a:ext cx="91440" cy="9144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5120640"/>
            <a:ext cx="4663440" cy="502920"/>
          </a:xfrm>
          <a:prstGeom prst="rect">
            <a:avLst/>
          </a:prstGeom>
          <a:noFill/>
        </p:spPr>
        <p:txBody>
          <a:bodyPr wrap="square">
            <a:spAutoFit/>
          </a:bodyPr>
          <a:lstStyle/>
          <a:p>
            <a:pPr algn="l">
              <a:defRPr sz="1200" b="0">
                <a:solidFill>
                  <a:srgbClr val="505050"/>
                </a:solidFill>
                <a:latin typeface="Calibri"/>
              </a:defRPr>
            </a:pPr>
            <a:r>
              <a:t>Result: V-Intelligence UEBA Direction detects 0 of 4 attacks at threshold</a:t>
            </a:r>
          </a:p>
        </p:txBody>
      </p:sp>
      <p:sp>
        <p:nvSpPr>
          <p:cNvPr id="24" name="Rounded Rectangle 23"/>
          <p:cNvSpPr/>
          <p:nvPr/>
        </p:nvSpPr>
        <p:spPr>
          <a:xfrm>
            <a:off x="1371600" y="5989320"/>
            <a:ext cx="9418320" cy="50292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800" b="1">
                <a:solidFill>
                  <a:srgbClr val="B7950B"/>
                </a:solidFill>
                <a:latin typeface="Calibri"/>
              </a:defRPr>
            </a:pPr>
            <a:r>
              <a:t>LOF + Zone Divergence: 4 of 4 attacks detected at 6.5% FP — the optimal 2-method ensemble</a:t>
            </a:r>
          </a:p>
        </p:txBody>
      </p:sp>
      <p:sp>
        <p:nvSpPr>
          <p:cNvPr id="25" name="TextBox 24"/>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Optimal Ensemble — LOF + Zone Divergence</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The four attack types require different detection strategies. The optimal 2-method ensemble covers both signal categories.</a:t>
            </a:r>
          </a:p>
        </p:txBody>
      </p:sp>
      <p:sp>
        <p:nvSpPr>
          <p:cNvPr id="5" name="Rounded Rectangle 4"/>
          <p:cNvSpPr/>
          <p:nvPr/>
        </p:nvSpPr>
        <p:spPr>
          <a:xfrm>
            <a:off x="457200" y="1783080"/>
            <a:ext cx="5486400" cy="274320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5486400" cy="640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5120640" cy="411480"/>
          </a:xfrm>
          <a:prstGeom prst="rect">
            <a:avLst/>
          </a:prstGeom>
          <a:noFill/>
        </p:spPr>
        <p:txBody>
          <a:bodyPr wrap="square">
            <a:spAutoFit/>
          </a:bodyPr>
          <a:lstStyle/>
          <a:p>
            <a:pPr algn="l">
              <a:defRPr sz="1800" b="1">
                <a:solidFill>
                  <a:srgbClr val="1B4F72"/>
                </a:solidFill>
                <a:latin typeface="Calibri"/>
              </a:defRPr>
            </a:pPr>
            <a:r>
              <a:t>Local Outlier Factor (Tier 1)</a:t>
            </a:r>
          </a:p>
        </p:txBody>
      </p:sp>
      <p:sp>
        <p:nvSpPr>
          <p:cNvPr id="8" name="TextBox 7"/>
          <p:cNvSpPr txBox="1"/>
          <p:nvPr/>
        </p:nvSpPr>
        <p:spPr>
          <a:xfrm>
            <a:off x="640080" y="2331720"/>
            <a:ext cx="5120640" cy="365760"/>
          </a:xfrm>
          <a:prstGeom prst="rect">
            <a:avLst/>
          </a:prstGeom>
          <a:noFill/>
        </p:spPr>
        <p:txBody>
          <a:bodyPr wrap="square">
            <a:spAutoFit/>
          </a:bodyPr>
          <a:lstStyle/>
          <a:p>
            <a:pPr algn="l">
              <a:defRPr sz="1500" b="1">
                <a:solidFill>
                  <a:srgbClr val="0D1B2A"/>
                </a:solidFill>
                <a:latin typeface="Calibri"/>
              </a:defRPr>
            </a:pPr>
            <a:r>
              <a:t>Catches: USR-234, USR-042, USR-118</a:t>
            </a:r>
          </a:p>
        </p:txBody>
      </p:sp>
      <p:sp>
        <p:nvSpPr>
          <p:cNvPr id="9" name="TextBox 8"/>
          <p:cNvSpPr txBox="1"/>
          <p:nvPr/>
        </p:nvSpPr>
        <p:spPr>
          <a:xfrm>
            <a:off x="640080" y="2788920"/>
            <a:ext cx="5120640" cy="822960"/>
          </a:xfrm>
          <a:prstGeom prst="rect">
            <a:avLst/>
          </a:prstGeom>
          <a:noFill/>
        </p:spPr>
        <p:txBody>
          <a:bodyPr wrap="square">
            <a:spAutoFit/>
          </a:bodyPr>
          <a:lstStyle/>
          <a:p>
            <a:pPr algn="l">
              <a:defRPr sz="1300" b="0">
                <a:solidFill>
                  <a:srgbClr val="505050"/>
                </a:solidFill>
                <a:latin typeface="Calibri"/>
              </a:defRPr>
            </a:pPr>
            <a:r>
              <a:t>Density-based detection catches network-footprint anomalies from C2 beaconing, lateral movement, and DNS tunneling. 0% FP.</a:t>
            </a:r>
          </a:p>
        </p:txBody>
      </p:sp>
      <p:sp>
        <p:nvSpPr>
          <p:cNvPr id="10" name="Rounded Rectangle 9"/>
          <p:cNvSpPr/>
          <p:nvPr/>
        </p:nvSpPr>
        <p:spPr>
          <a:xfrm>
            <a:off x="6309360" y="1783080"/>
            <a:ext cx="5486400" cy="274320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783080"/>
            <a:ext cx="5486400" cy="64008"/>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920240"/>
            <a:ext cx="5120640" cy="411480"/>
          </a:xfrm>
          <a:prstGeom prst="rect">
            <a:avLst/>
          </a:prstGeom>
          <a:noFill/>
        </p:spPr>
        <p:txBody>
          <a:bodyPr wrap="square">
            <a:spAutoFit/>
          </a:bodyPr>
          <a:lstStyle/>
          <a:p>
            <a:pPr algn="l">
              <a:defRPr sz="1800" b="1">
                <a:solidFill>
                  <a:srgbClr val="0E6B8A"/>
                </a:solidFill>
                <a:latin typeface="Calibri"/>
              </a:defRPr>
            </a:pPr>
            <a:r>
              <a:t>Zone Divergence (Tier 3)</a:t>
            </a:r>
          </a:p>
        </p:txBody>
      </p:sp>
      <p:sp>
        <p:nvSpPr>
          <p:cNvPr id="13" name="TextBox 12"/>
          <p:cNvSpPr txBox="1"/>
          <p:nvPr/>
        </p:nvSpPr>
        <p:spPr>
          <a:xfrm>
            <a:off x="6492240" y="2331720"/>
            <a:ext cx="5120640" cy="365760"/>
          </a:xfrm>
          <a:prstGeom prst="rect">
            <a:avLst/>
          </a:prstGeom>
          <a:noFill/>
        </p:spPr>
        <p:txBody>
          <a:bodyPr wrap="square">
            <a:spAutoFit/>
          </a:bodyPr>
          <a:lstStyle/>
          <a:p>
            <a:pPr algn="l">
              <a:defRPr sz="1500" b="1">
                <a:solidFill>
                  <a:srgbClr val="0D1B2A"/>
                </a:solidFill>
                <a:latin typeface="Calibri"/>
              </a:defRPr>
            </a:pPr>
            <a:r>
              <a:t>Catches: USR-156, USR-234</a:t>
            </a:r>
          </a:p>
        </p:txBody>
      </p:sp>
      <p:sp>
        <p:nvSpPr>
          <p:cNvPr id="14" name="TextBox 13"/>
          <p:cNvSpPr txBox="1"/>
          <p:nvPr/>
        </p:nvSpPr>
        <p:spPr>
          <a:xfrm>
            <a:off x="6492240" y="2788920"/>
            <a:ext cx="5120640" cy="822960"/>
          </a:xfrm>
          <a:prstGeom prst="rect">
            <a:avLst/>
          </a:prstGeom>
          <a:noFill/>
        </p:spPr>
        <p:txBody>
          <a:bodyPr wrap="square">
            <a:spAutoFit/>
          </a:bodyPr>
          <a:lstStyle/>
          <a:p>
            <a:pPr algn="l">
              <a:defRPr sz="1300" b="0">
                <a:solidFill>
                  <a:srgbClr val="505050"/>
                </a:solidFill>
                <a:latin typeface="Calibri"/>
              </a:defRPr>
            </a:pPr>
            <a:r>
              <a:t>Behavioral zone analysis detects which dimensions are drifting — catches insider data_behavior drift and APT network_footprint drift. 6.5% FP.</a:t>
            </a:r>
          </a:p>
        </p:txBody>
      </p:sp>
      <p:sp>
        <p:nvSpPr>
          <p:cNvPr id="15" name="TextBox 14"/>
          <p:cNvSpPr txBox="1"/>
          <p:nvPr/>
        </p:nvSpPr>
        <p:spPr>
          <a:xfrm>
            <a:off x="5760720" y="2743200"/>
            <a:ext cx="457200" cy="548640"/>
          </a:xfrm>
          <a:prstGeom prst="rect">
            <a:avLst/>
          </a:prstGeom>
          <a:noFill/>
        </p:spPr>
        <p:txBody>
          <a:bodyPr wrap="square">
            <a:spAutoFit/>
          </a:bodyPr>
          <a:lstStyle/>
          <a:p>
            <a:pPr algn="ctr">
              <a:defRPr sz="4000" b="1">
                <a:solidFill>
                  <a:srgbClr val="B7950B"/>
                </a:solidFill>
                <a:latin typeface="Calibri"/>
              </a:defRPr>
            </a:pPr>
            <a:r>
              <a:t>+</a:t>
            </a:r>
          </a:p>
        </p:txBody>
      </p:sp>
      <p:sp>
        <p:nvSpPr>
          <p:cNvPr id="16" name="Rounded Rectangle 15"/>
          <p:cNvSpPr/>
          <p:nvPr/>
        </p:nvSpPr>
        <p:spPr>
          <a:xfrm>
            <a:off x="457200" y="4709160"/>
            <a:ext cx="11247120" cy="13258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2000" b="1">
                <a:solidFill>
                  <a:srgbClr val="B7950B"/>
                </a:solidFill>
                <a:latin typeface="Calibri"/>
              </a:defRPr>
            </a:pPr>
            <a:r>
              <a:t>Combined Result: LOF + Zone Divergence</a:t>
            </a:r>
          </a:p>
          <a:p>
            <a:pPr algn="ctr">
              <a:spcBef>
                <a:spcPts val="800"/>
              </a:spcBef>
              <a:spcAft>
                <a:spcPts val="300"/>
              </a:spcAft>
              <a:defRPr sz="1700" b="0">
                <a:solidFill>
                  <a:srgbClr val="FFFFFF"/>
                </a:solidFill>
                <a:latin typeface="Calibri"/>
              </a:defRPr>
            </a:pPr>
            <a:r>
              <a:t>USR-156: DET  |  USR-234: DET  |  USR-042: DET  |  USR-118: DET</a:t>
            </a:r>
          </a:p>
          <a:p>
            <a:pPr algn="ctr">
              <a:spcBef>
                <a:spcPts val="600"/>
              </a:spcBef>
              <a:spcAft>
                <a:spcPts val="300"/>
              </a:spcAft>
              <a:defRPr sz="1500" b="0">
                <a:solidFill>
                  <a:srgbClr val="0E6B8A"/>
                </a:solidFill>
                <a:latin typeface="Calibri"/>
              </a:defRPr>
            </a:pPr>
            <a:r>
              <a:t>False Positive Rate: 6.5%  (3 of 46 normal users)  — operationally investigable</a:t>
            </a:r>
          </a:p>
        </p:txBody>
      </p:sp>
      <p:sp>
        <p:nvSpPr>
          <p:cNvPr id="17" name="TextBox 16"/>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Complementary Detection — Each Method Covers a Different Attack Surface</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 y="1188720"/>
            <a:ext cx="3749039" cy="438912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188720"/>
            <a:ext cx="3749039" cy="640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3474720" cy="640080"/>
          </a:xfrm>
          <a:prstGeom prst="rect">
            <a:avLst/>
          </a:prstGeom>
          <a:noFill/>
        </p:spPr>
        <p:txBody>
          <a:bodyPr wrap="square">
            <a:spAutoFit/>
          </a:bodyPr>
          <a:lstStyle/>
          <a:p>
            <a:pPr algn="ctr">
              <a:defRPr sz="1400" b="1">
                <a:solidFill>
                  <a:srgbClr val="0D1B2A"/>
                </a:solidFill>
                <a:latin typeface="Calibri"/>
              </a:defRPr>
            </a:pPr>
            <a:r>
              <a:t>LOF</a:t>
            </a:r>
            <a:br/>
            <a:r>
              <a:t>(Traditional — Tier 1)</a:t>
            </a:r>
          </a:p>
        </p:txBody>
      </p:sp>
      <p:sp>
        <p:nvSpPr>
          <p:cNvPr id="7" name="Rectangle 6"/>
          <p:cNvSpPr/>
          <p:nvPr/>
        </p:nvSpPr>
        <p:spPr>
          <a:xfrm>
            <a:off x="594360" y="1965960"/>
            <a:ext cx="32004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103120"/>
            <a:ext cx="2011680" cy="347472"/>
          </a:xfrm>
          <a:prstGeom prst="rect">
            <a:avLst/>
          </a:prstGeom>
          <a:noFill/>
        </p:spPr>
        <p:txBody>
          <a:bodyPr wrap="square">
            <a:spAutoFit/>
          </a:bodyPr>
          <a:lstStyle/>
          <a:p>
            <a:pPr algn="l">
              <a:defRPr sz="1200" b="0">
                <a:solidFill>
                  <a:srgbClr val="505050"/>
                </a:solidFill>
                <a:latin typeface="Calibri"/>
              </a:defRPr>
            </a:pPr>
            <a:r>
              <a:t>USR-156 (Insider)</a:t>
            </a:r>
          </a:p>
        </p:txBody>
      </p:sp>
      <p:sp>
        <p:nvSpPr>
          <p:cNvPr id="9" name="Rectangle 8"/>
          <p:cNvSpPr/>
          <p:nvPr/>
        </p:nvSpPr>
        <p:spPr>
          <a:xfrm>
            <a:off x="2514600" y="2103120"/>
            <a:ext cx="1371600"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MISSED</a:t>
            </a:r>
          </a:p>
        </p:txBody>
      </p:sp>
      <p:sp>
        <p:nvSpPr>
          <p:cNvPr id="10" name="TextBox 9"/>
          <p:cNvSpPr txBox="1"/>
          <p:nvPr/>
        </p:nvSpPr>
        <p:spPr>
          <a:xfrm>
            <a:off x="502920" y="2578608"/>
            <a:ext cx="2011680" cy="347472"/>
          </a:xfrm>
          <a:prstGeom prst="rect">
            <a:avLst/>
          </a:prstGeom>
          <a:noFill/>
        </p:spPr>
        <p:txBody>
          <a:bodyPr wrap="square">
            <a:spAutoFit/>
          </a:bodyPr>
          <a:lstStyle/>
          <a:p>
            <a:pPr algn="l">
              <a:defRPr sz="1200" b="0">
                <a:solidFill>
                  <a:srgbClr val="505050"/>
                </a:solidFill>
                <a:latin typeface="Calibri"/>
              </a:defRPr>
            </a:pPr>
            <a:r>
              <a:t>USR-234 (APT)</a:t>
            </a:r>
          </a:p>
        </p:txBody>
      </p:sp>
      <p:sp>
        <p:nvSpPr>
          <p:cNvPr id="11" name="Rectangle 10"/>
          <p:cNvSpPr/>
          <p:nvPr/>
        </p:nvSpPr>
        <p:spPr>
          <a:xfrm>
            <a:off x="2514600" y="2578608"/>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12" name="TextBox 11"/>
          <p:cNvSpPr txBox="1"/>
          <p:nvPr/>
        </p:nvSpPr>
        <p:spPr>
          <a:xfrm>
            <a:off x="502920" y="3054096"/>
            <a:ext cx="2011680" cy="347472"/>
          </a:xfrm>
          <a:prstGeom prst="rect">
            <a:avLst/>
          </a:prstGeom>
          <a:noFill/>
        </p:spPr>
        <p:txBody>
          <a:bodyPr wrap="square">
            <a:spAutoFit/>
          </a:bodyPr>
          <a:lstStyle/>
          <a:p>
            <a:pPr algn="l">
              <a:defRPr sz="1200" b="0">
                <a:solidFill>
                  <a:srgbClr val="505050"/>
                </a:solidFill>
                <a:latin typeface="Calibri"/>
              </a:defRPr>
            </a:pPr>
            <a:r>
              <a:t>USR-042 (Volt)</a:t>
            </a:r>
          </a:p>
        </p:txBody>
      </p:sp>
      <p:sp>
        <p:nvSpPr>
          <p:cNvPr id="13" name="Rectangle 12"/>
          <p:cNvSpPr/>
          <p:nvPr/>
        </p:nvSpPr>
        <p:spPr>
          <a:xfrm>
            <a:off x="2514600" y="3054096"/>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14" name="TextBox 13"/>
          <p:cNvSpPr txBox="1"/>
          <p:nvPr/>
        </p:nvSpPr>
        <p:spPr>
          <a:xfrm>
            <a:off x="502920" y="3529584"/>
            <a:ext cx="2011680" cy="347472"/>
          </a:xfrm>
          <a:prstGeom prst="rect">
            <a:avLst/>
          </a:prstGeom>
          <a:noFill/>
        </p:spPr>
        <p:txBody>
          <a:bodyPr wrap="square">
            <a:spAutoFit/>
          </a:bodyPr>
          <a:lstStyle/>
          <a:p>
            <a:pPr algn="l">
              <a:defRPr sz="1200" b="0">
                <a:solidFill>
                  <a:srgbClr val="505050"/>
                </a:solidFill>
                <a:latin typeface="Calibri"/>
              </a:defRPr>
            </a:pPr>
            <a:r>
              <a:t>USR-118 (Salt)</a:t>
            </a:r>
          </a:p>
        </p:txBody>
      </p:sp>
      <p:sp>
        <p:nvSpPr>
          <p:cNvPr id="15" name="Rectangle 14"/>
          <p:cNvSpPr/>
          <p:nvPr/>
        </p:nvSpPr>
        <p:spPr>
          <a:xfrm>
            <a:off x="2514600" y="3529584"/>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16" name="TextBox 15"/>
          <p:cNvSpPr txBox="1"/>
          <p:nvPr/>
        </p:nvSpPr>
        <p:spPr>
          <a:xfrm>
            <a:off x="502920" y="4005072"/>
            <a:ext cx="2011680" cy="347472"/>
          </a:xfrm>
          <a:prstGeom prst="rect">
            <a:avLst/>
          </a:prstGeom>
          <a:noFill/>
        </p:spPr>
        <p:txBody>
          <a:bodyPr wrap="square">
            <a:spAutoFit/>
          </a:bodyPr>
          <a:lstStyle/>
          <a:p>
            <a:pPr algn="l">
              <a:defRPr sz="1200" b="0">
                <a:solidFill>
                  <a:srgbClr val="505050"/>
                </a:solidFill>
                <a:latin typeface="Calibri"/>
              </a:defRPr>
            </a:pPr>
            <a:r>
              <a:t>FP Rate</a:t>
            </a:r>
          </a:p>
        </p:txBody>
      </p:sp>
      <p:sp>
        <p:nvSpPr>
          <p:cNvPr id="17" name="Rectangle 16"/>
          <p:cNvSpPr/>
          <p:nvPr/>
        </p:nvSpPr>
        <p:spPr>
          <a:xfrm>
            <a:off x="2514600" y="4005072"/>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0.0%</a:t>
            </a:r>
          </a:p>
        </p:txBody>
      </p:sp>
      <p:sp>
        <p:nvSpPr>
          <p:cNvPr id="18" name="Rounded Rectangle 17"/>
          <p:cNvSpPr/>
          <p:nvPr/>
        </p:nvSpPr>
        <p:spPr>
          <a:xfrm>
            <a:off x="4251960" y="1188720"/>
            <a:ext cx="3749039" cy="438912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51960" y="1188720"/>
            <a:ext cx="3749039" cy="64008"/>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1325880"/>
            <a:ext cx="3474720" cy="640080"/>
          </a:xfrm>
          <a:prstGeom prst="rect">
            <a:avLst/>
          </a:prstGeom>
          <a:noFill/>
        </p:spPr>
        <p:txBody>
          <a:bodyPr wrap="square">
            <a:spAutoFit/>
          </a:bodyPr>
          <a:lstStyle/>
          <a:p>
            <a:pPr algn="ctr">
              <a:defRPr sz="1400" b="1">
                <a:solidFill>
                  <a:srgbClr val="0D1B2A"/>
                </a:solidFill>
                <a:latin typeface="Calibri"/>
              </a:defRPr>
            </a:pPr>
            <a:r>
              <a:t>Zone Divergence</a:t>
            </a:r>
            <a:br/>
            <a:r>
              <a:t>(Behavioral — Tier 3)</a:t>
            </a:r>
          </a:p>
        </p:txBody>
      </p:sp>
      <p:sp>
        <p:nvSpPr>
          <p:cNvPr id="21" name="Rectangle 20"/>
          <p:cNvSpPr/>
          <p:nvPr/>
        </p:nvSpPr>
        <p:spPr>
          <a:xfrm>
            <a:off x="4526280" y="1965960"/>
            <a:ext cx="32004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2103120"/>
            <a:ext cx="2011680" cy="347472"/>
          </a:xfrm>
          <a:prstGeom prst="rect">
            <a:avLst/>
          </a:prstGeom>
          <a:noFill/>
        </p:spPr>
        <p:txBody>
          <a:bodyPr wrap="square">
            <a:spAutoFit/>
          </a:bodyPr>
          <a:lstStyle/>
          <a:p>
            <a:pPr algn="l">
              <a:defRPr sz="1200" b="0">
                <a:solidFill>
                  <a:srgbClr val="505050"/>
                </a:solidFill>
                <a:latin typeface="Calibri"/>
              </a:defRPr>
            </a:pPr>
            <a:r>
              <a:t>USR-156 (Insider)</a:t>
            </a:r>
          </a:p>
        </p:txBody>
      </p:sp>
      <p:sp>
        <p:nvSpPr>
          <p:cNvPr id="23" name="Rectangle 22"/>
          <p:cNvSpPr/>
          <p:nvPr/>
        </p:nvSpPr>
        <p:spPr>
          <a:xfrm>
            <a:off x="6446520" y="2103120"/>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24" name="TextBox 23"/>
          <p:cNvSpPr txBox="1"/>
          <p:nvPr/>
        </p:nvSpPr>
        <p:spPr>
          <a:xfrm>
            <a:off x="4434840" y="2578608"/>
            <a:ext cx="2011680" cy="347472"/>
          </a:xfrm>
          <a:prstGeom prst="rect">
            <a:avLst/>
          </a:prstGeom>
          <a:noFill/>
        </p:spPr>
        <p:txBody>
          <a:bodyPr wrap="square">
            <a:spAutoFit/>
          </a:bodyPr>
          <a:lstStyle/>
          <a:p>
            <a:pPr algn="l">
              <a:defRPr sz="1200" b="0">
                <a:solidFill>
                  <a:srgbClr val="505050"/>
                </a:solidFill>
                <a:latin typeface="Calibri"/>
              </a:defRPr>
            </a:pPr>
            <a:r>
              <a:t>USR-234 (APT)</a:t>
            </a:r>
          </a:p>
        </p:txBody>
      </p:sp>
      <p:sp>
        <p:nvSpPr>
          <p:cNvPr id="25" name="Rectangle 24"/>
          <p:cNvSpPr/>
          <p:nvPr/>
        </p:nvSpPr>
        <p:spPr>
          <a:xfrm>
            <a:off x="6446520" y="2578608"/>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26" name="TextBox 25"/>
          <p:cNvSpPr txBox="1"/>
          <p:nvPr/>
        </p:nvSpPr>
        <p:spPr>
          <a:xfrm>
            <a:off x="4434840" y="3054096"/>
            <a:ext cx="2011680" cy="347472"/>
          </a:xfrm>
          <a:prstGeom prst="rect">
            <a:avLst/>
          </a:prstGeom>
          <a:noFill/>
        </p:spPr>
        <p:txBody>
          <a:bodyPr wrap="square">
            <a:spAutoFit/>
          </a:bodyPr>
          <a:lstStyle/>
          <a:p>
            <a:pPr algn="l">
              <a:defRPr sz="1200" b="0">
                <a:solidFill>
                  <a:srgbClr val="505050"/>
                </a:solidFill>
                <a:latin typeface="Calibri"/>
              </a:defRPr>
            </a:pPr>
            <a:r>
              <a:t>USR-042 (Volt)</a:t>
            </a:r>
          </a:p>
        </p:txBody>
      </p:sp>
      <p:sp>
        <p:nvSpPr>
          <p:cNvPr id="27" name="Rectangle 26"/>
          <p:cNvSpPr/>
          <p:nvPr/>
        </p:nvSpPr>
        <p:spPr>
          <a:xfrm>
            <a:off x="6446520" y="3054096"/>
            <a:ext cx="1371600"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MISSED</a:t>
            </a:r>
          </a:p>
        </p:txBody>
      </p:sp>
      <p:sp>
        <p:nvSpPr>
          <p:cNvPr id="28" name="TextBox 27"/>
          <p:cNvSpPr txBox="1"/>
          <p:nvPr/>
        </p:nvSpPr>
        <p:spPr>
          <a:xfrm>
            <a:off x="4434840" y="3529584"/>
            <a:ext cx="2011680" cy="347472"/>
          </a:xfrm>
          <a:prstGeom prst="rect">
            <a:avLst/>
          </a:prstGeom>
          <a:noFill/>
        </p:spPr>
        <p:txBody>
          <a:bodyPr wrap="square">
            <a:spAutoFit/>
          </a:bodyPr>
          <a:lstStyle/>
          <a:p>
            <a:pPr algn="l">
              <a:defRPr sz="1200" b="0">
                <a:solidFill>
                  <a:srgbClr val="505050"/>
                </a:solidFill>
                <a:latin typeface="Calibri"/>
              </a:defRPr>
            </a:pPr>
            <a:r>
              <a:t>USR-118 (Salt)</a:t>
            </a:r>
          </a:p>
        </p:txBody>
      </p:sp>
      <p:sp>
        <p:nvSpPr>
          <p:cNvPr id="29" name="Rectangle 28"/>
          <p:cNvSpPr/>
          <p:nvPr/>
        </p:nvSpPr>
        <p:spPr>
          <a:xfrm>
            <a:off x="6446520" y="3529584"/>
            <a:ext cx="1371600"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MISSED</a:t>
            </a:r>
          </a:p>
        </p:txBody>
      </p:sp>
      <p:sp>
        <p:nvSpPr>
          <p:cNvPr id="30" name="TextBox 29"/>
          <p:cNvSpPr txBox="1"/>
          <p:nvPr/>
        </p:nvSpPr>
        <p:spPr>
          <a:xfrm>
            <a:off x="4434840" y="4005072"/>
            <a:ext cx="2011680" cy="347472"/>
          </a:xfrm>
          <a:prstGeom prst="rect">
            <a:avLst/>
          </a:prstGeom>
          <a:noFill/>
        </p:spPr>
        <p:txBody>
          <a:bodyPr wrap="square">
            <a:spAutoFit/>
          </a:bodyPr>
          <a:lstStyle/>
          <a:p>
            <a:pPr algn="l">
              <a:defRPr sz="1200" b="0">
                <a:solidFill>
                  <a:srgbClr val="505050"/>
                </a:solidFill>
                <a:latin typeface="Calibri"/>
              </a:defRPr>
            </a:pPr>
            <a:r>
              <a:t>FP Rate</a:t>
            </a:r>
          </a:p>
        </p:txBody>
      </p:sp>
      <p:sp>
        <p:nvSpPr>
          <p:cNvPr id="31" name="Rectangle 30"/>
          <p:cNvSpPr/>
          <p:nvPr/>
        </p:nvSpPr>
        <p:spPr>
          <a:xfrm>
            <a:off x="6446520" y="4005072"/>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6.5%</a:t>
            </a:r>
          </a:p>
        </p:txBody>
      </p:sp>
      <p:sp>
        <p:nvSpPr>
          <p:cNvPr id="32" name="Rounded Rectangle 31"/>
          <p:cNvSpPr/>
          <p:nvPr/>
        </p:nvSpPr>
        <p:spPr>
          <a:xfrm>
            <a:off x="8183879" y="1188720"/>
            <a:ext cx="3749039" cy="4389120"/>
          </a:xfrm>
          <a:prstGeom prst="roundRect">
            <a:avLst/>
          </a:prstGeom>
          <a:no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1188720"/>
            <a:ext cx="3749039" cy="64008"/>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39" y="1325880"/>
            <a:ext cx="3474720" cy="640080"/>
          </a:xfrm>
          <a:prstGeom prst="rect">
            <a:avLst/>
          </a:prstGeom>
          <a:noFill/>
        </p:spPr>
        <p:txBody>
          <a:bodyPr wrap="square">
            <a:spAutoFit/>
          </a:bodyPr>
          <a:lstStyle/>
          <a:p>
            <a:pPr algn="ctr">
              <a:defRPr sz="1400" b="1">
                <a:solidFill>
                  <a:srgbClr val="0D1B2A"/>
                </a:solidFill>
                <a:latin typeface="Calibri"/>
              </a:defRPr>
            </a:pPr>
            <a:r>
              <a:t>LOF + Zone Divergence</a:t>
            </a:r>
            <a:br/>
            <a:r>
              <a:t>Optimal Ensemble</a:t>
            </a:r>
          </a:p>
        </p:txBody>
      </p:sp>
      <p:sp>
        <p:nvSpPr>
          <p:cNvPr id="35" name="Rectangle 34"/>
          <p:cNvSpPr/>
          <p:nvPr/>
        </p:nvSpPr>
        <p:spPr>
          <a:xfrm>
            <a:off x="8458199" y="1965960"/>
            <a:ext cx="32004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66759" y="2103120"/>
            <a:ext cx="2011680" cy="347472"/>
          </a:xfrm>
          <a:prstGeom prst="rect">
            <a:avLst/>
          </a:prstGeom>
          <a:noFill/>
        </p:spPr>
        <p:txBody>
          <a:bodyPr wrap="square">
            <a:spAutoFit/>
          </a:bodyPr>
          <a:lstStyle/>
          <a:p>
            <a:pPr algn="l">
              <a:defRPr sz="1200" b="0">
                <a:solidFill>
                  <a:srgbClr val="505050"/>
                </a:solidFill>
                <a:latin typeface="Calibri"/>
              </a:defRPr>
            </a:pPr>
            <a:r>
              <a:t>USR-156 (Insider)</a:t>
            </a:r>
          </a:p>
        </p:txBody>
      </p:sp>
      <p:sp>
        <p:nvSpPr>
          <p:cNvPr id="37" name="Rectangle 36"/>
          <p:cNvSpPr/>
          <p:nvPr/>
        </p:nvSpPr>
        <p:spPr>
          <a:xfrm>
            <a:off x="10378439" y="2103120"/>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38" name="TextBox 37"/>
          <p:cNvSpPr txBox="1"/>
          <p:nvPr/>
        </p:nvSpPr>
        <p:spPr>
          <a:xfrm>
            <a:off x="8366759" y="2578608"/>
            <a:ext cx="2011680" cy="347472"/>
          </a:xfrm>
          <a:prstGeom prst="rect">
            <a:avLst/>
          </a:prstGeom>
          <a:noFill/>
        </p:spPr>
        <p:txBody>
          <a:bodyPr wrap="square">
            <a:spAutoFit/>
          </a:bodyPr>
          <a:lstStyle/>
          <a:p>
            <a:pPr algn="l">
              <a:defRPr sz="1200" b="0">
                <a:solidFill>
                  <a:srgbClr val="505050"/>
                </a:solidFill>
                <a:latin typeface="Calibri"/>
              </a:defRPr>
            </a:pPr>
            <a:r>
              <a:t>USR-234 (APT)</a:t>
            </a:r>
          </a:p>
        </p:txBody>
      </p:sp>
      <p:sp>
        <p:nvSpPr>
          <p:cNvPr id="39" name="Rectangle 38"/>
          <p:cNvSpPr/>
          <p:nvPr/>
        </p:nvSpPr>
        <p:spPr>
          <a:xfrm>
            <a:off x="10378439" y="2578608"/>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40" name="TextBox 39"/>
          <p:cNvSpPr txBox="1"/>
          <p:nvPr/>
        </p:nvSpPr>
        <p:spPr>
          <a:xfrm>
            <a:off x="8366759" y="3054096"/>
            <a:ext cx="2011680" cy="347472"/>
          </a:xfrm>
          <a:prstGeom prst="rect">
            <a:avLst/>
          </a:prstGeom>
          <a:noFill/>
        </p:spPr>
        <p:txBody>
          <a:bodyPr wrap="square">
            <a:spAutoFit/>
          </a:bodyPr>
          <a:lstStyle/>
          <a:p>
            <a:pPr algn="l">
              <a:defRPr sz="1200" b="0">
                <a:solidFill>
                  <a:srgbClr val="505050"/>
                </a:solidFill>
                <a:latin typeface="Calibri"/>
              </a:defRPr>
            </a:pPr>
            <a:r>
              <a:t>USR-042 (Volt)</a:t>
            </a:r>
          </a:p>
        </p:txBody>
      </p:sp>
      <p:sp>
        <p:nvSpPr>
          <p:cNvPr id="41" name="Rectangle 40"/>
          <p:cNvSpPr/>
          <p:nvPr/>
        </p:nvSpPr>
        <p:spPr>
          <a:xfrm>
            <a:off x="10378439" y="3054096"/>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42" name="TextBox 41"/>
          <p:cNvSpPr txBox="1"/>
          <p:nvPr/>
        </p:nvSpPr>
        <p:spPr>
          <a:xfrm>
            <a:off x="8366759" y="3529584"/>
            <a:ext cx="2011680" cy="347472"/>
          </a:xfrm>
          <a:prstGeom prst="rect">
            <a:avLst/>
          </a:prstGeom>
          <a:noFill/>
        </p:spPr>
        <p:txBody>
          <a:bodyPr wrap="square">
            <a:spAutoFit/>
          </a:bodyPr>
          <a:lstStyle/>
          <a:p>
            <a:pPr algn="l">
              <a:defRPr sz="1200" b="0">
                <a:solidFill>
                  <a:srgbClr val="505050"/>
                </a:solidFill>
                <a:latin typeface="Calibri"/>
              </a:defRPr>
            </a:pPr>
            <a:r>
              <a:t>USR-118 (Salt)</a:t>
            </a:r>
          </a:p>
        </p:txBody>
      </p:sp>
      <p:sp>
        <p:nvSpPr>
          <p:cNvPr id="43" name="Rectangle 42"/>
          <p:cNvSpPr/>
          <p:nvPr/>
        </p:nvSpPr>
        <p:spPr>
          <a:xfrm>
            <a:off x="10378439" y="3529584"/>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DETECTED</a:t>
            </a:r>
          </a:p>
        </p:txBody>
      </p:sp>
      <p:sp>
        <p:nvSpPr>
          <p:cNvPr id="44" name="TextBox 43"/>
          <p:cNvSpPr txBox="1"/>
          <p:nvPr/>
        </p:nvSpPr>
        <p:spPr>
          <a:xfrm>
            <a:off x="8366759" y="4005072"/>
            <a:ext cx="2011680" cy="347472"/>
          </a:xfrm>
          <a:prstGeom prst="rect">
            <a:avLst/>
          </a:prstGeom>
          <a:noFill/>
        </p:spPr>
        <p:txBody>
          <a:bodyPr wrap="square">
            <a:spAutoFit/>
          </a:bodyPr>
          <a:lstStyle/>
          <a:p>
            <a:pPr algn="l">
              <a:defRPr sz="1200" b="0">
                <a:solidFill>
                  <a:srgbClr val="505050"/>
                </a:solidFill>
                <a:latin typeface="Calibri"/>
              </a:defRPr>
            </a:pPr>
            <a:r>
              <a:t>FP Rate</a:t>
            </a:r>
          </a:p>
        </p:txBody>
      </p:sp>
      <p:sp>
        <p:nvSpPr>
          <p:cNvPr id="45" name="Rectangle 44"/>
          <p:cNvSpPr/>
          <p:nvPr/>
        </p:nvSpPr>
        <p:spPr>
          <a:xfrm>
            <a:off x="10378439" y="4005072"/>
            <a:ext cx="1371600" cy="292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6.5%</a:t>
            </a:r>
          </a:p>
        </p:txBody>
      </p:sp>
      <p:sp>
        <p:nvSpPr>
          <p:cNvPr id="46" name="Rectangle 45"/>
          <p:cNvSpPr/>
          <p:nvPr/>
        </p:nvSpPr>
        <p:spPr>
          <a:xfrm>
            <a:off x="4160520" y="1188720"/>
            <a:ext cx="18288" cy="4389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92440" y="1188720"/>
            <a:ext cx="18288" cy="43891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371600" y="5852160"/>
            <a:ext cx="9418320" cy="594360"/>
          </a:xfrm>
          <a:prstGeom prst="roundRect">
            <a:avLst/>
          </a:prstGeom>
          <a:solidFill>
            <a:srgbClr val="FFFBEB"/>
          </a:solidFill>
          <a:ln w="3175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1800" b="1">
                <a:solidFill>
                  <a:srgbClr val="B7950B"/>
                </a:solidFill>
                <a:latin typeface="Calibri"/>
              </a:defRPr>
            </a:pPr>
            <a:r>
              <a:t>LOF catches network footprints. Zone Divergence catches behavioral drift. Together: 100%.</a:t>
            </a:r>
          </a:p>
        </p:txBody>
      </p:sp>
      <p:sp>
        <p:nvSpPr>
          <p:cNvPr id="49" name="TextBox 48"/>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False Positive Rate Comparison — All Methods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65760"/>
          </a:xfrm>
          <a:prstGeom prst="rect">
            <a:avLst/>
          </a:prstGeom>
          <a:noFill/>
        </p:spPr>
        <p:txBody>
          <a:bodyPr wrap="square">
            <a:spAutoFit/>
          </a:bodyPr>
          <a:lstStyle/>
          <a:p>
            <a:pPr algn="l">
              <a:defRPr sz="1500" b="0">
                <a:solidFill>
                  <a:srgbClr val="505050"/>
                </a:solidFill>
                <a:latin typeface="Calibri"/>
              </a:defRPr>
            </a:pPr>
            <a:r>
              <a:t>Lower FP rate = more actionable alerts. 46 normal users in the population (4 attack users).</a:t>
            </a:r>
          </a:p>
        </p:txBody>
      </p:sp>
      <p:sp>
        <p:nvSpPr>
          <p:cNvPr id="5" name="TextBox 4"/>
          <p:cNvSpPr txBox="1"/>
          <p:nvPr/>
        </p:nvSpPr>
        <p:spPr>
          <a:xfrm>
            <a:off x="548640" y="1737360"/>
            <a:ext cx="3108960" cy="329184"/>
          </a:xfrm>
          <a:prstGeom prst="rect">
            <a:avLst/>
          </a:prstGeom>
          <a:noFill/>
        </p:spPr>
        <p:txBody>
          <a:bodyPr wrap="square">
            <a:spAutoFit/>
          </a:bodyPr>
          <a:lstStyle/>
          <a:p>
            <a:pPr algn="l">
              <a:defRPr sz="1200" b="0">
                <a:solidFill>
                  <a:srgbClr val="0D1B2A"/>
                </a:solidFill>
                <a:latin typeface="Calibri"/>
              </a:defRPr>
            </a:pPr>
            <a:r>
              <a:t>Isolation Forest</a:t>
            </a:r>
          </a:p>
        </p:txBody>
      </p:sp>
      <p:sp>
        <p:nvSpPr>
          <p:cNvPr id="6" name="Rectangle 5"/>
          <p:cNvSpPr/>
          <p:nvPr/>
        </p:nvSpPr>
        <p:spPr>
          <a:xfrm>
            <a:off x="3474720" y="1773936"/>
            <a:ext cx="150876"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17036" y="1737360"/>
            <a:ext cx="1645920" cy="329184"/>
          </a:xfrm>
          <a:prstGeom prst="rect">
            <a:avLst/>
          </a:prstGeom>
          <a:noFill/>
        </p:spPr>
        <p:txBody>
          <a:bodyPr wrap="square">
            <a:spAutoFit/>
          </a:bodyPr>
          <a:lstStyle/>
          <a:p>
            <a:pPr algn="l">
              <a:defRPr sz="1200" b="1">
                <a:solidFill>
                  <a:srgbClr val="27AE60"/>
                </a:solidFill>
                <a:latin typeface="Calibri"/>
              </a:defRPr>
            </a:pPr>
            <a:r>
              <a:t>2.2%  (1 users)</a:t>
            </a:r>
          </a:p>
        </p:txBody>
      </p:sp>
      <p:sp>
        <p:nvSpPr>
          <p:cNvPr id="8" name="TextBox 7"/>
          <p:cNvSpPr txBox="1"/>
          <p:nvPr/>
        </p:nvSpPr>
        <p:spPr>
          <a:xfrm>
            <a:off x="548640" y="2148840"/>
            <a:ext cx="3108960" cy="329184"/>
          </a:xfrm>
          <a:prstGeom prst="rect">
            <a:avLst/>
          </a:prstGeom>
          <a:noFill/>
        </p:spPr>
        <p:txBody>
          <a:bodyPr wrap="square">
            <a:spAutoFit/>
          </a:bodyPr>
          <a:lstStyle/>
          <a:p>
            <a:pPr algn="l">
              <a:defRPr sz="1200" b="0">
                <a:solidFill>
                  <a:srgbClr val="0D1B2A"/>
                </a:solidFill>
                <a:latin typeface="Calibri"/>
              </a:defRPr>
            </a:pPr>
            <a:r>
              <a:t>One-Class SVM</a:t>
            </a:r>
          </a:p>
        </p:txBody>
      </p:sp>
      <p:sp>
        <p:nvSpPr>
          <p:cNvPr id="9" name="Rectangle 8"/>
          <p:cNvSpPr/>
          <p:nvPr/>
        </p:nvSpPr>
        <p:spPr>
          <a:xfrm>
            <a:off x="3474720" y="2185416"/>
            <a:ext cx="1344168"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10328" y="2148840"/>
            <a:ext cx="1645920" cy="329184"/>
          </a:xfrm>
          <a:prstGeom prst="rect">
            <a:avLst/>
          </a:prstGeom>
          <a:noFill/>
        </p:spPr>
        <p:txBody>
          <a:bodyPr wrap="square">
            <a:spAutoFit/>
          </a:bodyPr>
          <a:lstStyle/>
          <a:p>
            <a:pPr algn="l">
              <a:defRPr sz="1200" b="1">
                <a:solidFill>
                  <a:srgbClr val="C0392B"/>
                </a:solidFill>
                <a:latin typeface="Calibri"/>
              </a:defRPr>
            </a:pPr>
            <a:r>
              <a:t>19.6%  (9 users)</a:t>
            </a:r>
          </a:p>
        </p:txBody>
      </p:sp>
      <p:sp>
        <p:nvSpPr>
          <p:cNvPr id="11" name="TextBox 10"/>
          <p:cNvSpPr txBox="1"/>
          <p:nvPr/>
        </p:nvSpPr>
        <p:spPr>
          <a:xfrm>
            <a:off x="548640" y="2560320"/>
            <a:ext cx="3108960" cy="329184"/>
          </a:xfrm>
          <a:prstGeom prst="rect">
            <a:avLst/>
          </a:prstGeom>
          <a:noFill/>
        </p:spPr>
        <p:txBody>
          <a:bodyPr wrap="square">
            <a:spAutoFit/>
          </a:bodyPr>
          <a:lstStyle/>
          <a:p>
            <a:pPr algn="l">
              <a:defRPr sz="1200" b="0">
                <a:solidFill>
                  <a:srgbClr val="0D1B2A"/>
                </a:solidFill>
                <a:latin typeface="Calibri"/>
              </a:defRPr>
            </a:pPr>
            <a:r>
              <a:t>LOF</a:t>
            </a:r>
          </a:p>
        </p:txBody>
      </p:sp>
      <p:sp>
        <p:nvSpPr>
          <p:cNvPr id="12" name="Rectangle 11"/>
          <p:cNvSpPr/>
          <p:nvPr/>
        </p:nvSpPr>
        <p:spPr>
          <a:xfrm>
            <a:off x="3474720" y="2596896"/>
            <a:ext cx="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560320"/>
            <a:ext cx="1645920" cy="329184"/>
          </a:xfrm>
          <a:prstGeom prst="rect">
            <a:avLst/>
          </a:prstGeom>
          <a:noFill/>
        </p:spPr>
        <p:txBody>
          <a:bodyPr wrap="square">
            <a:spAutoFit/>
          </a:bodyPr>
          <a:lstStyle/>
          <a:p>
            <a:pPr algn="l">
              <a:defRPr sz="1200" b="1">
                <a:solidFill>
                  <a:srgbClr val="27AE60"/>
                </a:solidFill>
                <a:latin typeface="Calibri"/>
              </a:defRPr>
            </a:pPr>
            <a:r>
              <a:t>0.0%  (0 users)</a:t>
            </a:r>
          </a:p>
        </p:txBody>
      </p:sp>
      <p:sp>
        <p:nvSpPr>
          <p:cNvPr id="14" name="TextBox 13"/>
          <p:cNvSpPr txBox="1"/>
          <p:nvPr/>
        </p:nvSpPr>
        <p:spPr>
          <a:xfrm>
            <a:off x="548640" y="2971800"/>
            <a:ext cx="3108960" cy="329184"/>
          </a:xfrm>
          <a:prstGeom prst="rect">
            <a:avLst/>
          </a:prstGeom>
          <a:noFill/>
        </p:spPr>
        <p:txBody>
          <a:bodyPr wrap="square">
            <a:spAutoFit/>
          </a:bodyPr>
          <a:lstStyle/>
          <a:p>
            <a:pPr algn="l">
              <a:defRPr sz="1200" b="0">
                <a:solidFill>
                  <a:srgbClr val="0D1B2A"/>
                </a:solidFill>
                <a:latin typeface="Calibri"/>
              </a:defRPr>
            </a:pPr>
            <a:r>
              <a:t>Z-Score (|z|&gt;3)</a:t>
            </a:r>
          </a:p>
        </p:txBody>
      </p:sp>
      <p:sp>
        <p:nvSpPr>
          <p:cNvPr id="15" name="Rectangle 14"/>
          <p:cNvSpPr/>
          <p:nvPr/>
        </p:nvSpPr>
        <p:spPr>
          <a:xfrm>
            <a:off x="3474720" y="3008376"/>
            <a:ext cx="150876"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7036" y="2971800"/>
            <a:ext cx="1645920" cy="329184"/>
          </a:xfrm>
          <a:prstGeom prst="rect">
            <a:avLst/>
          </a:prstGeom>
          <a:noFill/>
        </p:spPr>
        <p:txBody>
          <a:bodyPr wrap="square">
            <a:spAutoFit/>
          </a:bodyPr>
          <a:lstStyle/>
          <a:p>
            <a:pPr algn="l">
              <a:defRPr sz="1200" b="1">
                <a:solidFill>
                  <a:srgbClr val="27AE60"/>
                </a:solidFill>
                <a:latin typeface="Calibri"/>
              </a:defRPr>
            </a:pPr>
            <a:r>
              <a:t>2.2%  (1 users)</a:t>
            </a:r>
          </a:p>
        </p:txBody>
      </p:sp>
      <p:sp>
        <p:nvSpPr>
          <p:cNvPr id="17" name="TextBox 16"/>
          <p:cNvSpPr txBox="1"/>
          <p:nvPr/>
        </p:nvSpPr>
        <p:spPr>
          <a:xfrm>
            <a:off x="548640" y="3383280"/>
            <a:ext cx="3108960" cy="329184"/>
          </a:xfrm>
          <a:prstGeom prst="rect">
            <a:avLst/>
          </a:prstGeom>
          <a:noFill/>
        </p:spPr>
        <p:txBody>
          <a:bodyPr wrap="square">
            <a:spAutoFit/>
          </a:bodyPr>
          <a:lstStyle/>
          <a:p>
            <a:pPr algn="l">
              <a:defRPr sz="1200" b="0">
                <a:solidFill>
                  <a:srgbClr val="0D1B2A"/>
                </a:solidFill>
                <a:latin typeface="Calibri"/>
              </a:defRPr>
            </a:pPr>
            <a:r>
              <a:t>Temporal Z-Score</a:t>
            </a:r>
          </a:p>
        </p:txBody>
      </p:sp>
      <p:sp>
        <p:nvSpPr>
          <p:cNvPr id="18" name="Rectangle 17"/>
          <p:cNvSpPr/>
          <p:nvPr/>
        </p:nvSpPr>
        <p:spPr>
          <a:xfrm>
            <a:off x="3474720" y="3419856"/>
            <a:ext cx="685800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0" y="3383280"/>
            <a:ext cx="1645920" cy="329184"/>
          </a:xfrm>
          <a:prstGeom prst="rect">
            <a:avLst/>
          </a:prstGeom>
          <a:noFill/>
        </p:spPr>
        <p:txBody>
          <a:bodyPr wrap="square">
            <a:spAutoFit/>
          </a:bodyPr>
          <a:lstStyle/>
          <a:p>
            <a:pPr algn="l">
              <a:defRPr sz="1200" b="1">
                <a:solidFill>
                  <a:srgbClr val="C0392B"/>
                </a:solidFill>
                <a:latin typeface="Calibri"/>
              </a:defRPr>
            </a:pPr>
            <a:r>
              <a:t>100.0%  (46 users)</a:t>
            </a:r>
          </a:p>
        </p:txBody>
      </p:sp>
      <p:sp>
        <p:nvSpPr>
          <p:cNvPr id="20" name="TextBox 19"/>
          <p:cNvSpPr txBox="1"/>
          <p:nvPr/>
        </p:nvSpPr>
        <p:spPr>
          <a:xfrm>
            <a:off x="548640" y="3794760"/>
            <a:ext cx="3108960" cy="329184"/>
          </a:xfrm>
          <a:prstGeom prst="rect">
            <a:avLst/>
          </a:prstGeom>
          <a:noFill/>
        </p:spPr>
        <p:txBody>
          <a:bodyPr wrap="square">
            <a:spAutoFit/>
          </a:bodyPr>
          <a:lstStyle/>
          <a:p>
            <a:pPr algn="l">
              <a:defRPr sz="1200" b="0">
                <a:solidFill>
                  <a:srgbClr val="0D1B2A"/>
                </a:solidFill>
                <a:latin typeface="Calibri"/>
              </a:defRPr>
            </a:pPr>
            <a:r>
              <a:t>Feature Trajectory Top-10%</a:t>
            </a:r>
          </a:p>
        </p:txBody>
      </p:sp>
      <p:sp>
        <p:nvSpPr>
          <p:cNvPr id="21" name="Rectangle 20"/>
          <p:cNvSpPr/>
          <p:nvPr/>
        </p:nvSpPr>
        <p:spPr>
          <a:xfrm>
            <a:off x="3474720" y="3831336"/>
            <a:ext cx="44577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11930" y="3794760"/>
            <a:ext cx="1645920" cy="329184"/>
          </a:xfrm>
          <a:prstGeom prst="rect">
            <a:avLst/>
          </a:prstGeom>
          <a:noFill/>
        </p:spPr>
        <p:txBody>
          <a:bodyPr wrap="square">
            <a:spAutoFit/>
          </a:bodyPr>
          <a:lstStyle/>
          <a:p>
            <a:pPr algn="l">
              <a:defRPr sz="1200" b="1">
                <a:solidFill>
                  <a:srgbClr val="27AE60"/>
                </a:solidFill>
                <a:latin typeface="Calibri"/>
              </a:defRPr>
            </a:pPr>
            <a:r>
              <a:t>6.5%  (3 users)</a:t>
            </a:r>
          </a:p>
        </p:txBody>
      </p:sp>
      <p:sp>
        <p:nvSpPr>
          <p:cNvPr id="23" name="TextBox 22"/>
          <p:cNvSpPr txBox="1"/>
          <p:nvPr/>
        </p:nvSpPr>
        <p:spPr>
          <a:xfrm>
            <a:off x="548640" y="4206240"/>
            <a:ext cx="3108960" cy="329184"/>
          </a:xfrm>
          <a:prstGeom prst="rect">
            <a:avLst/>
          </a:prstGeom>
          <a:noFill/>
        </p:spPr>
        <p:txBody>
          <a:bodyPr wrap="square">
            <a:spAutoFit/>
          </a:bodyPr>
          <a:lstStyle/>
          <a:p>
            <a:pPr algn="l">
              <a:defRPr sz="1200" b="0">
                <a:solidFill>
                  <a:srgbClr val="0D1B2A"/>
                </a:solidFill>
                <a:latin typeface="Calibri"/>
              </a:defRPr>
            </a:pPr>
            <a:r>
              <a:t>V-Intelligence UEBA Direction</a:t>
            </a:r>
          </a:p>
        </p:txBody>
      </p:sp>
      <p:sp>
        <p:nvSpPr>
          <p:cNvPr id="24" name="Rectangle 23"/>
          <p:cNvSpPr/>
          <p:nvPr/>
        </p:nvSpPr>
        <p:spPr>
          <a:xfrm>
            <a:off x="3474720" y="4242816"/>
            <a:ext cx="294894"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61054" y="4206240"/>
            <a:ext cx="1645920" cy="329184"/>
          </a:xfrm>
          <a:prstGeom prst="rect">
            <a:avLst/>
          </a:prstGeom>
          <a:noFill/>
        </p:spPr>
        <p:txBody>
          <a:bodyPr wrap="square">
            <a:spAutoFit/>
          </a:bodyPr>
          <a:lstStyle/>
          <a:p>
            <a:pPr algn="l">
              <a:defRPr sz="1200" b="1">
                <a:solidFill>
                  <a:srgbClr val="27AE60"/>
                </a:solidFill>
                <a:latin typeface="Calibri"/>
              </a:defRPr>
            </a:pPr>
            <a:r>
              <a:t>4.3%  (2 users)</a:t>
            </a:r>
          </a:p>
        </p:txBody>
      </p:sp>
      <p:sp>
        <p:nvSpPr>
          <p:cNvPr id="26" name="TextBox 25"/>
          <p:cNvSpPr txBox="1"/>
          <p:nvPr/>
        </p:nvSpPr>
        <p:spPr>
          <a:xfrm>
            <a:off x="548640" y="4617720"/>
            <a:ext cx="3108960" cy="329184"/>
          </a:xfrm>
          <a:prstGeom prst="rect">
            <a:avLst/>
          </a:prstGeom>
          <a:noFill/>
        </p:spPr>
        <p:txBody>
          <a:bodyPr wrap="square">
            <a:spAutoFit/>
          </a:bodyPr>
          <a:lstStyle/>
          <a:p>
            <a:pPr algn="l">
              <a:defRPr sz="1200" b="0">
                <a:solidFill>
                  <a:srgbClr val="0D1B2A"/>
                </a:solidFill>
                <a:latin typeface="Calibri"/>
              </a:defRPr>
            </a:pPr>
            <a:r>
              <a:t>T3 Zone Divergence</a:t>
            </a:r>
          </a:p>
        </p:txBody>
      </p:sp>
      <p:sp>
        <p:nvSpPr>
          <p:cNvPr id="27" name="Rectangle 26"/>
          <p:cNvSpPr/>
          <p:nvPr/>
        </p:nvSpPr>
        <p:spPr>
          <a:xfrm>
            <a:off x="3474720" y="4654296"/>
            <a:ext cx="445770"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11930" y="4617720"/>
            <a:ext cx="1645920" cy="329184"/>
          </a:xfrm>
          <a:prstGeom prst="rect">
            <a:avLst/>
          </a:prstGeom>
          <a:noFill/>
        </p:spPr>
        <p:txBody>
          <a:bodyPr wrap="square">
            <a:spAutoFit/>
          </a:bodyPr>
          <a:lstStyle/>
          <a:p>
            <a:pPr algn="l">
              <a:defRPr sz="1200" b="1">
                <a:solidFill>
                  <a:srgbClr val="27AE60"/>
                </a:solidFill>
                <a:latin typeface="Calibri"/>
              </a:defRPr>
            </a:pPr>
            <a:r>
              <a:t>6.5%  (3 users)</a:t>
            </a:r>
          </a:p>
        </p:txBody>
      </p:sp>
      <p:sp>
        <p:nvSpPr>
          <p:cNvPr id="29" name="TextBox 28"/>
          <p:cNvSpPr txBox="1"/>
          <p:nvPr/>
        </p:nvSpPr>
        <p:spPr>
          <a:xfrm>
            <a:off x="548640" y="5029200"/>
            <a:ext cx="3108960" cy="329184"/>
          </a:xfrm>
          <a:prstGeom prst="rect">
            <a:avLst/>
          </a:prstGeom>
          <a:noFill/>
        </p:spPr>
        <p:txBody>
          <a:bodyPr wrap="square">
            <a:spAutoFit/>
          </a:bodyPr>
          <a:lstStyle/>
          <a:p>
            <a:pPr algn="l">
              <a:defRPr sz="1200" b="0">
                <a:solidFill>
                  <a:srgbClr val="0D1B2A"/>
                </a:solidFill>
                <a:latin typeface="Calibri"/>
              </a:defRPr>
            </a:pPr>
            <a:r>
              <a:t>T3 Combined</a:t>
            </a:r>
          </a:p>
        </p:txBody>
      </p:sp>
      <p:sp>
        <p:nvSpPr>
          <p:cNvPr id="30" name="Rectangle 29"/>
          <p:cNvSpPr/>
          <p:nvPr/>
        </p:nvSpPr>
        <p:spPr>
          <a:xfrm>
            <a:off x="3474720" y="5065776"/>
            <a:ext cx="596646" cy="2560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2806" y="5029200"/>
            <a:ext cx="1645920" cy="329184"/>
          </a:xfrm>
          <a:prstGeom prst="rect">
            <a:avLst/>
          </a:prstGeom>
          <a:noFill/>
        </p:spPr>
        <p:txBody>
          <a:bodyPr wrap="square">
            <a:spAutoFit/>
          </a:bodyPr>
          <a:lstStyle/>
          <a:p>
            <a:pPr algn="l">
              <a:defRPr sz="1200" b="1">
                <a:solidFill>
                  <a:srgbClr val="27AE60"/>
                </a:solidFill>
                <a:latin typeface="Calibri"/>
              </a:defRPr>
            </a:pPr>
            <a:r>
              <a:t>8.7%  (4 users)</a:t>
            </a:r>
          </a:p>
        </p:txBody>
      </p:sp>
      <p:sp>
        <p:nvSpPr>
          <p:cNvPr id="32" name="TextBox 31"/>
          <p:cNvSpPr txBox="1"/>
          <p:nvPr/>
        </p:nvSpPr>
        <p:spPr>
          <a:xfrm>
            <a:off x="548640" y="5440680"/>
            <a:ext cx="3108960" cy="329184"/>
          </a:xfrm>
          <a:prstGeom prst="rect">
            <a:avLst/>
          </a:prstGeom>
          <a:noFill/>
        </p:spPr>
        <p:txBody>
          <a:bodyPr wrap="square">
            <a:spAutoFit/>
          </a:bodyPr>
          <a:lstStyle/>
          <a:p>
            <a:pPr algn="l">
              <a:defRPr sz="1200" b="0">
                <a:solidFill>
                  <a:srgbClr val="0D1B2A"/>
                </a:solidFill>
                <a:latin typeface="Calibri"/>
              </a:defRPr>
            </a:pPr>
            <a:r>
              <a:t>LOF + Zone Divergence</a:t>
            </a:r>
          </a:p>
        </p:txBody>
      </p:sp>
      <p:sp>
        <p:nvSpPr>
          <p:cNvPr id="33" name="Rectangle 32"/>
          <p:cNvSpPr/>
          <p:nvPr/>
        </p:nvSpPr>
        <p:spPr>
          <a:xfrm>
            <a:off x="3474720" y="5477256"/>
            <a:ext cx="445770" cy="256032"/>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11930" y="5440680"/>
            <a:ext cx="1645920" cy="329184"/>
          </a:xfrm>
          <a:prstGeom prst="rect">
            <a:avLst/>
          </a:prstGeom>
          <a:noFill/>
        </p:spPr>
        <p:txBody>
          <a:bodyPr wrap="square">
            <a:spAutoFit/>
          </a:bodyPr>
          <a:lstStyle/>
          <a:p>
            <a:pPr algn="l">
              <a:defRPr sz="1200" b="1">
                <a:solidFill>
                  <a:srgbClr val="0E6B8A"/>
                </a:solidFill>
                <a:latin typeface="Calibri"/>
              </a:defRPr>
            </a:pPr>
            <a:r>
              <a:t>6.5%  (3 users)</a:t>
            </a:r>
          </a:p>
        </p:txBody>
      </p:sp>
      <p:sp>
        <p:nvSpPr>
          <p:cNvPr id="35" name="Rectangle 34"/>
          <p:cNvSpPr/>
          <p:nvPr/>
        </p:nvSpPr>
        <p:spPr>
          <a:xfrm>
            <a:off x="548640" y="6126480"/>
            <a:ext cx="182880" cy="182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6108192"/>
            <a:ext cx="1828800" cy="256032"/>
          </a:xfrm>
          <a:prstGeom prst="rect">
            <a:avLst/>
          </a:prstGeom>
          <a:noFill/>
        </p:spPr>
        <p:txBody>
          <a:bodyPr wrap="square">
            <a:spAutoFit/>
          </a:bodyPr>
          <a:lstStyle/>
          <a:p>
            <a:pPr algn="l">
              <a:defRPr sz="1100" b="0">
                <a:solidFill>
                  <a:srgbClr val="505050"/>
                </a:solidFill>
                <a:latin typeface="Calibri"/>
              </a:defRPr>
            </a:pPr>
            <a:r>
              <a:t>Operationally viable</a:t>
            </a:r>
          </a:p>
        </p:txBody>
      </p:sp>
      <p:sp>
        <p:nvSpPr>
          <p:cNvPr id="37" name="Rectangle 36"/>
          <p:cNvSpPr/>
          <p:nvPr/>
        </p:nvSpPr>
        <p:spPr>
          <a:xfrm>
            <a:off x="2743200" y="6126480"/>
            <a:ext cx="182880" cy="182880"/>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71800" y="6108192"/>
            <a:ext cx="2286000" cy="256032"/>
          </a:xfrm>
          <a:prstGeom prst="rect">
            <a:avLst/>
          </a:prstGeom>
          <a:noFill/>
        </p:spPr>
        <p:txBody>
          <a:bodyPr wrap="square">
            <a:spAutoFit/>
          </a:bodyPr>
          <a:lstStyle/>
          <a:p>
            <a:pPr algn="l">
              <a:defRPr sz="1100" b="0">
                <a:solidFill>
                  <a:srgbClr val="505050"/>
                </a:solidFill>
                <a:latin typeface="Calibri"/>
              </a:defRPr>
            </a:pPr>
            <a:r>
              <a:t>Combined (best overall)</a:t>
            </a:r>
          </a:p>
        </p:txBody>
      </p:sp>
      <p:sp>
        <p:nvSpPr>
          <p:cNvPr id="39" name="Rectangle 38"/>
          <p:cNvSpPr/>
          <p:nvPr/>
        </p:nvSpPr>
        <p:spPr>
          <a:xfrm>
            <a:off x="5303520" y="6126480"/>
            <a:ext cx="182880" cy="1828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6108192"/>
            <a:ext cx="2286000" cy="256032"/>
          </a:xfrm>
          <a:prstGeom prst="rect">
            <a:avLst/>
          </a:prstGeom>
          <a:noFill/>
        </p:spPr>
        <p:txBody>
          <a:bodyPr wrap="square">
            <a:spAutoFit/>
          </a:bodyPr>
          <a:lstStyle/>
          <a:p>
            <a:pPr algn="l">
              <a:defRPr sz="1100" b="0">
                <a:solidFill>
                  <a:srgbClr val="505050"/>
                </a:solidFill>
                <a:latin typeface="Calibri"/>
              </a:defRPr>
            </a:pPr>
            <a:r>
              <a:t>Non-actionable alert volume</a:t>
            </a:r>
          </a:p>
        </p:txBody>
      </p:sp>
      <p:sp>
        <p:nvSpPr>
          <p:cNvPr id="41" name="TextBox 40"/>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640080" y="320040"/>
            <a:ext cx="10972800" cy="640080"/>
          </a:xfrm>
          <a:prstGeom prst="rect">
            <a:avLst/>
          </a:prstGeom>
          <a:noFill/>
        </p:spPr>
        <p:txBody>
          <a:bodyPr wrap="square">
            <a:spAutoFit/>
          </a:bodyPr>
          <a:lstStyle/>
          <a:p>
            <a:pPr algn="l">
              <a:defRPr sz="3600" b="1">
                <a:solidFill>
                  <a:srgbClr val="FFFFFF"/>
                </a:solidFill>
                <a:latin typeface="Calibri"/>
              </a:defRPr>
            </a:pPr>
            <a:r>
              <a:t>Key Findings</a:t>
            </a:r>
          </a:p>
        </p:txBody>
      </p:sp>
      <p:sp>
        <p:nvSpPr>
          <p:cNvPr id="3" name="Rectangle 2"/>
          <p:cNvSpPr/>
          <p:nvPr/>
        </p:nvSpPr>
        <p:spPr>
          <a:xfrm>
            <a:off x="640080" y="914400"/>
            <a:ext cx="2743200"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1234440"/>
            <a:ext cx="502920" cy="502920"/>
          </a:xfrm>
          <a:prstGeom prst="ellipse">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1</a:t>
            </a:r>
          </a:p>
        </p:txBody>
      </p:sp>
      <p:sp>
        <p:nvSpPr>
          <p:cNvPr id="5" name="TextBox 4"/>
          <p:cNvSpPr txBox="1"/>
          <p:nvPr/>
        </p:nvSpPr>
        <p:spPr>
          <a:xfrm>
            <a:off x="1097280" y="1143000"/>
            <a:ext cx="10424160" cy="347472"/>
          </a:xfrm>
          <a:prstGeom prst="rect">
            <a:avLst/>
          </a:prstGeom>
          <a:noFill/>
        </p:spPr>
        <p:txBody>
          <a:bodyPr wrap="square">
            <a:spAutoFit/>
          </a:bodyPr>
          <a:lstStyle/>
          <a:p>
            <a:pPr algn="l">
              <a:defRPr sz="1600" b="1">
                <a:solidFill>
                  <a:srgbClr val="B7950B"/>
                </a:solidFill>
                <a:latin typeface="Calibri"/>
              </a:defRPr>
            </a:pPr>
            <a:r>
              <a:t>LOF is the Best Traditional Method — But Cannot Detect Insiders</a:t>
            </a:r>
          </a:p>
        </p:txBody>
      </p:sp>
      <p:sp>
        <p:nvSpPr>
          <p:cNvPr id="6" name="TextBox 5"/>
          <p:cNvSpPr txBox="1"/>
          <p:nvPr/>
        </p:nvSpPr>
        <p:spPr>
          <a:xfrm>
            <a:off x="1097280" y="1490472"/>
            <a:ext cx="10424160" cy="594360"/>
          </a:xfrm>
          <a:prstGeom prst="rect">
            <a:avLst/>
          </a:prstGeom>
          <a:noFill/>
        </p:spPr>
        <p:txBody>
          <a:bodyPr wrap="square">
            <a:spAutoFit/>
          </a:bodyPr>
          <a:lstStyle/>
          <a:p>
            <a:pPr algn="l">
              <a:defRPr sz="1300" b="0">
                <a:solidFill>
                  <a:srgbClr val="B4B4B4"/>
                </a:solidFill>
                <a:latin typeface="Calibri"/>
              </a:defRPr>
            </a:pPr>
            <a:r>
              <a:t>LOF detected 3 of 4 attacks (APT, Volt Typhoon, Salt Typhoon) at 0% FP. But USR-156 (insider threat) is completely invisible to all traditional methods — behavioral direction attacks stay within normal volume ranges by design.</a:t>
            </a:r>
          </a:p>
        </p:txBody>
      </p:sp>
      <p:sp>
        <p:nvSpPr>
          <p:cNvPr id="7" name="Oval 6"/>
          <p:cNvSpPr/>
          <p:nvPr/>
        </p:nvSpPr>
        <p:spPr>
          <a:xfrm>
            <a:off x="457200" y="2423160"/>
            <a:ext cx="502920" cy="50292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2</a:t>
            </a:r>
          </a:p>
        </p:txBody>
      </p:sp>
      <p:sp>
        <p:nvSpPr>
          <p:cNvPr id="8" name="TextBox 7"/>
          <p:cNvSpPr txBox="1"/>
          <p:nvPr/>
        </p:nvSpPr>
        <p:spPr>
          <a:xfrm>
            <a:off x="1097280" y="2331720"/>
            <a:ext cx="10424160" cy="347472"/>
          </a:xfrm>
          <a:prstGeom prst="rect">
            <a:avLst/>
          </a:prstGeom>
          <a:noFill/>
        </p:spPr>
        <p:txBody>
          <a:bodyPr wrap="square">
            <a:spAutoFit/>
          </a:bodyPr>
          <a:lstStyle/>
          <a:p>
            <a:pPr algn="l">
              <a:defRPr sz="1600" b="1">
                <a:solidFill>
                  <a:srgbClr val="E67E22"/>
                </a:solidFill>
                <a:latin typeface="Calibri"/>
              </a:defRPr>
            </a:pPr>
            <a:r>
              <a:t>No Single Method Detects All Four Campaign Types</a:t>
            </a:r>
          </a:p>
        </p:txBody>
      </p:sp>
      <p:sp>
        <p:nvSpPr>
          <p:cNvPr id="9" name="TextBox 8"/>
          <p:cNvSpPr txBox="1"/>
          <p:nvPr/>
        </p:nvSpPr>
        <p:spPr>
          <a:xfrm>
            <a:off x="1097280" y="2679192"/>
            <a:ext cx="10424160" cy="594360"/>
          </a:xfrm>
          <a:prstGeom prst="rect">
            <a:avLst/>
          </a:prstGeom>
          <a:noFill/>
        </p:spPr>
        <p:txBody>
          <a:bodyPr wrap="square">
            <a:spAutoFit/>
          </a:bodyPr>
          <a:lstStyle/>
          <a:p>
            <a:pPr algn="l">
              <a:defRPr sz="1300" b="0">
                <a:solidFill>
                  <a:srgbClr val="B4B4B4"/>
                </a:solidFill>
                <a:latin typeface="Calibri"/>
              </a:defRPr>
            </a:pPr>
            <a:r>
              <a:t>Across 17 methods in 3 tiers, no single algorithm detects all 4 attacks at viable FP. Temporal Z-Score catches all 4 but at 100% FP — unusable. Each method has blind spots in different signal categories.</a:t>
            </a:r>
          </a:p>
        </p:txBody>
      </p:sp>
      <p:sp>
        <p:nvSpPr>
          <p:cNvPr id="10" name="Oval 9"/>
          <p:cNvSpPr/>
          <p:nvPr/>
        </p:nvSpPr>
        <p:spPr>
          <a:xfrm>
            <a:off x="457200" y="3611880"/>
            <a:ext cx="502920" cy="502920"/>
          </a:xfrm>
          <a:prstGeom prst="ellipse">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3</a:t>
            </a:r>
          </a:p>
        </p:txBody>
      </p:sp>
      <p:sp>
        <p:nvSpPr>
          <p:cNvPr id="11" name="TextBox 10"/>
          <p:cNvSpPr txBox="1"/>
          <p:nvPr/>
        </p:nvSpPr>
        <p:spPr>
          <a:xfrm>
            <a:off x="1097280" y="3520440"/>
            <a:ext cx="10424160" cy="347472"/>
          </a:xfrm>
          <a:prstGeom prst="rect">
            <a:avLst/>
          </a:prstGeom>
          <a:noFill/>
        </p:spPr>
        <p:txBody>
          <a:bodyPr wrap="square">
            <a:spAutoFit/>
          </a:bodyPr>
          <a:lstStyle/>
          <a:p>
            <a:pPr algn="l">
              <a:defRPr sz="1600" b="1">
                <a:solidFill>
                  <a:srgbClr val="0E6B8A"/>
                </a:solidFill>
                <a:latin typeface="Calibri"/>
              </a:defRPr>
            </a:pPr>
            <a:r>
              <a:t>Zone-Specific Behavioral Analysis Fills the Detection Gap</a:t>
            </a:r>
          </a:p>
        </p:txBody>
      </p:sp>
      <p:sp>
        <p:nvSpPr>
          <p:cNvPr id="12" name="TextBox 11"/>
          <p:cNvSpPr txBox="1"/>
          <p:nvPr/>
        </p:nvSpPr>
        <p:spPr>
          <a:xfrm>
            <a:off x="1097280" y="3867912"/>
            <a:ext cx="10424160" cy="594360"/>
          </a:xfrm>
          <a:prstGeom prst="rect">
            <a:avLst/>
          </a:prstGeom>
          <a:noFill/>
        </p:spPr>
        <p:txBody>
          <a:bodyPr wrap="square">
            <a:spAutoFit/>
          </a:bodyPr>
          <a:lstStyle/>
          <a:p>
            <a:pPr algn="l">
              <a:defRPr sz="1300" b="0">
                <a:solidFill>
                  <a:srgbClr val="B4B4B4"/>
                </a:solidFill>
                <a:latin typeface="Calibri"/>
              </a:defRPr>
            </a:pPr>
            <a:r>
              <a:t>Tier 3 Zone Divergence detects USR-156 and USR-234 by analyzing which behavioral dimensions are drifting (data_behavior, network_footprint) while identity remains stable. This is invisible to aggregate-level traditional analysis.</a:t>
            </a:r>
          </a:p>
        </p:txBody>
      </p:sp>
      <p:sp>
        <p:nvSpPr>
          <p:cNvPr id="13" name="Oval 12"/>
          <p:cNvSpPr/>
          <p:nvPr/>
        </p:nvSpPr>
        <p:spPr>
          <a:xfrm>
            <a:off x="457200" y="4800600"/>
            <a:ext cx="502920" cy="50292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4</a:t>
            </a:r>
          </a:p>
        </p:txBody>
      </p:sp>
      <p:sp>
        <p:nvSpPr>
          <p:cNvPr id="14" name="TextBox 13"/>
          <p:cNvSpPr txBox="1"/>
          <p:nvPr/>
        </p:nvSpPr>
        <p:spPr>
          <a:xfrm>
            <a:off x="1097280" y="4709160"/>
            <a:ext cx="10424160" cy="347472"/>
          </a:xfrm>
          <a:prstGeom prst="rect">
            <a:avLst/>
          </a:prstGeom>
          <a:noFill/>
        </p:spPr>
        <p:txBody>
          <a:bodyPr wrap="square">
            <a:spAutoFit/>
          </a:bodyPr>
          <a:lstStyle/>
          <a:p>
            <a:pPr algn="l">
              <a:defRPr sz="1600" b="1">
                <a:solidFill>
                  <a:srgbClr val="27AE60"/>
                </a:solidFill>
                <a:latin typeface="Calibri"/>
              </a:defRPr>
            </a:pPr>
            <a:r>
              <a:t>LOF + Zone Divergence = Optimal 2-Method Ensemble</a:t>
            </a:r>
          </a:p>
        </p:txBody>
      </p:sp>
      <p:sp>
        <p:nvSpPr>
          <p:cNvPr id="15" name="TextBox 14"/>
          <p:cNvSpPr txBox="1"/>
          <p:nvPr/>
        </p:nvSpPr>
        <p:spPr>
          <a:xfrm>
            <a:off x="1097280" y="5056632"/>
            <a:ext cx="10424160" cy="594360"/>
          </a:xfrm>
          <a:prstGeom prst="rect">
            <a:avLst/>
          </a:prstGeom>
          <a:noFill/>
        </p:spPr>
        <p:txBody>
          <a:bodyPr wrap="square">
            <a:spAutoFit/>
          </a:bodyPr>
          <a:lstStyle/>
          <a:p>
            <a:pPr algn="l">
              <a:defRPr sz="1300" b="0">
                <a:solidFill>
                  <a:srgbClr val="B4B4B4"/>
                </a:solidFill>
                <a:latin typeface="Calibri"/>
              </a:defRPr>
            </a:pPr>
            <a:r>
              <a:t>This combination detects ALL 4 attack campaigns at only 6.5% FP. LOF catches network-footprint attacks, Zone Divergence catches behavioral-direction attacks. The two methods are perfectly complementary.</a:t>
            </a:r>
          </a:p>
        </p:txBody>
      </p:sp>
      <p:sp>
        <p:nvSpPr>
          <p:cNvPr id="16" name="TextBox 15"/>
          <p:cNvSpPr txBox="1"/>
          <p:nvPr/>
        </p:nvSpPr>
        <p:spPr>
          <a:xfrm>
            <a:off x="457200" y="6492240"/>
            <a:ext cx="10972800" cy="274320"/>
          </a:xfrm>
          <a:prstGeom prst="rect">
            <a:avLst/>
          </a:prstGeom>
          <a:noFill/>
        </p:spPr>
        <p:txBody>
          <a:bodyPr wrap="square">
            <a:spAutoFit/>
          </a:bodyPr>
          <a:lstStyle/>
          <a:p>
            <a:pPr algn="l">
              <a:defRPr sz="1000" b="0">
                <a:solidFill>
                  <a:srgbClr val="3C4655"/>
                </a:solidFill>
                <a:latin typeface="Calibri"/>
              </a:defRPr>
            </a:pPr>
            <a:r>
              <a:t>22nd Century Technologies, Inc.  |  V-Intelligence UEBA Technical Analysis  |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Implications for Federal Cybersecurity Programs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325880"/>
            <a:ext cx="91440" cy="960120"/>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25880"/>
            <a:ext cx="10698480" cy="365760"/>
          </a:xfrm>
          <a:prstGeom prst="rect">
            <a:avLst/>
          </a:prstGeom>
          <a:noFill/>
        </p:spPr>
        <p:txBody>
          <a:bodyPr wrap="square">
            <a:spAutoFit/>
          </a:bodyPr>
          <a:lstStyle/>
          <a:p>
            <a:pPr algn="l">
              <a:defRPr sz="1500" b="1">
                <a:solidFill>
                  <a:srgbClr val="0D1B2A"/>
                </a:solidFill>
                <a:latin typeface="Calibri"/>
              </a:defRPr>
            </a:pPr>
            <a:r>
              <a:t>Current UEBA and SIEM Tooling Has a Structural Detection Gap</a:t>
            </a:r>
          </a:p>
        </p:txBody>
      </p:sp>
      <p:sp>
        <p:nvSpPr>
          <p:cNvPr id="6" name="TextBox 5"/>
          <p:cNvSpPr txBox="1"/>
          <p:nvPr/>
        </p:nvSpPr>
        <p:spPr>
          <a:xfrm>
            <a:off x="868680" y="1691640"/>
            <a:ext cx="10698480" cy="594360"/>
          </a:xfrm>
          <a:prstGeom prst="rect">
            <a:avLst/>
          </a:prstGeom>
          <a:noFill/>
        </p:spPr>
        <p:txBody>
          <a:bodyPr wrap="square">
            <a:spAutoFit/>
          </a:bodyPr>
          <a:lstStyle/>
          <a:p>
            <a:pPr algn="l">
              <a:defRPr sz="1300" b="0">
                <a:solidFill>
                  <a:srgbClr val="505050"/>
                </a:solidFill>
                <a:latin typeface="Calibri"/>
              </a:defRPr>
            </a:pPr>
            <a:r>
              <a:t>If your deployed anomaly detection relies on statistical outlier detection or threshold-based alerting, behavioral-direction attacks — including slow insider threats and patient APT campaigns — will not generate alerts. This is not a configuration problem; it is a method limitation.</a:t>
            </a:r>
          </a:p>
        </p:txBody>
      </p:sp>
      <p:sp>
        <p:nvSpPr>
          <p:cNvPr id="7" name="Rectangle 6"/>
          <p:cNvSpPr/>
          <p:nvPr/>
        </p:nvSpPr>
        <p:spPr>
          <a:xfrm>
            <a:off x="594360" y="2514600"/>
            <a:ext cx="9144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14600"/>
            <a:ext cx="10698480" cy="365760"/>
          </a:xfrm>
          <a:prstGeom prst="rect">
            <a:avLst/>
          </a:prstGeom>
          <a:noFill/>
        </p:spPr>
        <p:txBody>
          <a:bodyPr wrap="square">
            <a:spAutoFit/>
          </a:bodyPr>
          <a:lstStyle/>
          <a:p>
            <a:pPr algn="l">
              <a:defRPr sz="1500" b="1">
                <a:solidFill>
                  <a:srgbClr val="0D1B2A"/>
                </a:solidFill>
                <a:latin typeface="Calibri"/>
              </a:defRPr>
            </a:pPr>
            <a:r>
              <a:t>Nation-State Campaigns Are Designed to Exploit This Gap</a:t>
            </a:r>
          </a:p>
        </p:txBody>
      </p:sp>
      <p:sp>
        <p:nvSpPr>
          <p:cNvPr id="9" name="TextBox 8"/>
          <p:cNvSpPr txBox="1"/>
          <p:nvPr/>
        </p:nvSpPr>
        <p:spPr>
          <a:xfrm>
            <a:off x="868680" y="2880360"/>
            <a:ext cx="10698480" cy="594360"/>
          </a:xfrm>
          <a:prstGeom prst="rect">
            <a:avLst/>
          </a:prstGeom>
          <a:noFill/>
        </p:spPr>
        <p:txBody>
          <a:bodyPr wrap="square">
            <a:spAutoFit/>
          </a:bodyPr>
          <a:lstStyle/>
          <a:p>
            <a:pPr algn="l">
              <a:defRPr sz="1300" b="0">
                <a:solidFill>
                  <a:srgbClr val="505050"/>
                </a:solidFill>
                <a:latin typeface="Calibri"/>
              </a:defRPr>
            </a:pPr>
            <a:r>
              <a:t>Adversaries operating at the level of Volt Typhoon and Salt Typhoon explicitly model normal user behavior. Their operations are designed to remain within statistical norms. The detection method must evolve to match the threat model.</a:t>
            </a:r>
          </a:p>
        </p:txBody>
      </p:sp>
      <p:sp>
        <p:nvSpPr>
          <p:cNvPr id="10" name="Rectangle 9"/>
          <p:cNvSpPr/>
          <p:nvPr/>
        </p:nvSpPr>
        <p:spPr>
          <a:xfrm>
            <a:off x="594360" y="3703320"/>
            <a:ext cx="91440"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03320"/>
            <a:ext cx="10698480" cy="365760"/>
          </a:xfrm>
          <a:prstGeom prst="rect">
            <a:avLst/>
          </a:prstGeom>
          <a:noFill/>
        </p:spPr>
        <p:txBody>
          <a:bodyPr wrap="square">
            <a:spAutoFit/>
          </a:bodyPr>
          <a:lstStyle/>
          <a:p>
            <a:pPr algn="l">
              <a:defRPr sz="1500" b="1">
                <a:solidFill>
                  <a:srgbClr val="0D1B2A"/>
                </a:solidFill>
                <a:latin typeface="Calibri"/>
              </a:defRPr>
            </a:pPr>
            <a:r>
              <a:t>Behavioral Analysis Provides a Proven, Complementary Layer</a:t>
            </a:r>
          </a:p>
        </p:txBody>
      </p:sp>
      <p:sp>
        <p:nvSpPr>
          <p:cNvPr id="12" name="TextBox 11"/>
          <p:cNvSpPr txBox="1"/>
          <p:nvPr/>
        </p:nvSpPr>
        <p:spPr>
          <a:xfrm>
            <a:off x="868680" y="4069080"/>
            <a:ext cx="10698480" cy="594360"/>
          </a:xfrm>
          <a:prstGeom prst="rect">
            <a:avLst/>
          </a:prstGeom>
          <a:noFill/>
        </p:spPr>
        <p:txBody>
          <a:bodyPr wrap="square">
            <a:spAutoFit/>
          </a:bodyPr>
          <a:lstStyle/>
          <a:p>
            <a:pPr algn="l">
              <a:defRPr sz="1300" b="0">
                <a:solidFill>
                  <a:srgbClr val="505050"/>
                </a:solidFill>
                <a:latin typeface="Calibri"/>
              </a:defRPr>
            </a:pPr>
            <a:r>
              <a:t>This analysis demonstrates that behavioral drift analysis can detect insider threats and slow adversarial campaigns at operationally viable false positive rates — without requiring new data collection or additional agents on endpoints.</a:t>
            </a:r>
          </a:p>
        </p:txBody>
      </p:sp>
      <p:sp>
        <p:nvSpPr>
          <p:cNvPr id="13" name="Rectangle 12"/>
          <p:cNvSpPr/>
          <p:nvPr/>
        </p:nvSpPr>
        <p:spPr>
          <a:xfrm>
            <a:off x="594360" y="4892040"/>
            <a:ext cx="91440" cy="960120"/>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892040"/>
            <a:ext cx="10698480" cy="365760"/>
          </a:xfrm>
          <a:prstGeom prst="rect">
            <a:avLst/>
          </a:prstGeom>
          <a:noFill/>
        </p:spPr>
        <p:txBody>
          <a:bodyPr wrap="square">
            <a:spAutoFit/>
          </a:bodyPr>
          <a:lstStyle/>
          <a:p>
            <a:pPr algn="l">
              <a:defRPr sz="1500" b="1">
                <a:solidFill>
                  <a:srgbClr val="0D1B2A"/>
                </a:solidFill>
                <a:latin typeface="Calibri"/>
              </a:defRPr>
            </a:pPr>
            <a:r>
              <a:t>A Combined Detection Architecture Is the Operationally Sound Path</a:t>
            </a:r>
          </a:p>
        </p:txBody>
      </p:sp>
      <p:sp>
        <p:nvSpPr>
          <p:cNvPr id="15" name="TextBox 14"/>
          <p:cNvSpPr txBox="1"/>
          <p:nvPr/>
        </p:nvSpPr>
        <p:spPr>
          <a:xfrm>
            <a:off x="868680" y="5257800"/>
            <a:ext cx="10698480" cy="594360"/>
          </a:xfrm>
          <a:prstGeom prst="rect">
            <a:avLst/>
          </a:prstGeom>
          <a:noFill/>
        </p:spPr>
        <p:txBody>
          <a:bodyPr wrap="square">
            <a:spAutoFit/>
          </a:bodyPr>
          <a:lstStyle/>
          <a:p>
            <a:pPr algn="l">
              <a:defRPr sz="1300" b="0">
                <a:solidFill>
                  <a:srgbClr val="505050"/>
                </a:solidFill>
                <a:latin typeface="Calibri"/>
              </a:defRPr>
            </a:pPr>
            <a:r>
              <a:t>The empirical finding is clear: no single algorithm achieves both full coverage and actionable precision. A layered detection architecture that pairs traditional anomaly methods with behavioral drift analysis is the only approach validated across both attack surface types.</a:t>
            </a:r>
          </a:p>
        </p:txBody>
      </p:sp>
      <p:sp>
        <p:nvSpPr>
          <p:cNvPr id="16" name="TextBox 15"/>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Next Steps — 4-Week Demonstration on Your Environment</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600" b="0">
                <a:solidFill>
                  <a:srgbClr val="505050"/>
                </a:solidFill>
                <a:latin typeface="Calibri"/>
              </a:defRPr>
            </a:pPr>
            <a:r>
              <a:t>We proved these results on synthetic telemetry. We can prove them on your data in 4 weeks.</a:t>
            </a:r>
          </a:p>
        </p:txBody>
      </p:sp>
      <p:sp>
        <p:nvSpPr>
          <p:cNvPr id="5" name="Rounded Rectangle 4"/>
          <p:cNvSpPr/>
          <p:nvPr/>
        </p:nvSpPr>
        <p:spPr>
          <a:xfrm>
            <a:off x="1097280" y="1737360"/>
            <a:ext cx="2194560" cy="438912"/>
          </a:xfrm>
          <a:prstGeom prst="round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Week 1–2</a:t>
            </a:r>
          </a:p>
        </p:txBody>
      </p:sp>
      <p:sp>
        <p:nvSpPr>
          <p:cNvPr id="6" name="Rounded Rectangle 5"/>
          <p:cNvSpPr/>
          <p:nvPr/>
        </p:nvSpPr>
        <p:spPr>
          <a:xfrm>
            <a:off x="457200" y="2331720"/>
            <a:ext cx="3566160" cy="301752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33172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487168"/>
            <a:ext cx="3291840" cy="411480"/>
          </a:xfrm>
          <a:prstGeom prst="rect">
            <a:avLst/>
          </a:prstGeom>
          <a:noFill/>
        </p:spPr>
        <p:txBody>
          <a:bodyPr wrap="square">
            <a:spAutoFit/>
          </a:bodyPr>
          <a:lstStyle/>
          <a:p>
            <a:pPr algn="ctr">
              <a:defRPr sz="1700" b="1">
                <a:solidFill>
                  <a:srgbClr val="0D1B2A"/>
                </a:solidFill>
                <a:latin typeface="Calibri"/>
              </a:defRPr>
            </a:pPr>
            <a:r>
              <a:t>Integration &amp; Baseline</a:t>
            </a:r>
          </a:p>
        </p:txBody>
      </p:sp>
      <p:sp>
        <p:nvSpPr>
          <p:cNvPr id="9" name="Rectangle 8"/>
          <p:cNvSpPr/>
          <p:nvPr/>
        </p:nvSpPr>
        <p:spPr>
          <a:xfrm>
            <a:off x="822960" y="2898648"/>
            <a:ext cx="2834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3200400" cy="2011680"/>
          </a:xfrm>
          <a:prstGeom prst="rect">
            <a:avLst/>
          </a:prstGeom>
          <a:noFill/>
        </p:spPr>
        <p:txBody>
          <a:bodyPr wrap="square">
            <a:spAutoFit/>
          </a:bodyPr>
          <a:lstStyle/>
          <a:p>
            <a:pPr algn="l">
              <a:defRPr sz="1300" b="0">
                <a:solidFill>
                  <a:srgbClr val="505050"/>
                </a:solidFill>
                <a:latin typeface="Calibri"/>
              </a:defRPr>
            </a:pPr>
            <a:r>
              <a:t>Connect to existing SIEM or log feeds</a:t>
            </a:r>
            <a:br/>
            <a:r>
              <a:t>Establish behavioral baselines per entity</a:t>
            </a:r>
            <a:br/>
            <a:r>
              <a:t>No new agents or data collection required</a:t>
            </a:r>
            <a:br/>
            <a:r>
              <a:t>Zero operational disruption to production</a:t>
            </a:r>
          </a:p>
        </p:txBody>
      </p:sp>
      <p:sp>
        <p:nvSpPr>
          <p:cNvPr id="11" name="Right Arrow 10"/>
          <p:cNvSpPr/>
          <p:nvPr/>
        </p:nvSpPr>
        <p:spPr>
          <a:xfrm>
            <a:off x="4069080" y="3566160"/>
            <a:ext cx="457200" cy="256032"/>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00600" y="1737360"/>
            <a:ext cx="2194560" cy="438912"/>
          </a:xfrm>
          <a:prstGeom prst="round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Week 3</a:t>
            </a:r>
          </a:p>
        </p:txBody>
      </p:sp>
      <p:sp>
        <p:nvSpPr>
          <p:cNvPr id="13" name="Rounded Rectangle 12"/>
          <p:cNvSpPr/>
          <p:nvPr/>
        </p:nvSpPr>
        <p:spPr>
          <a:xfrm>
            <a:off x="4160520" y="2331720"/>
            <a:ext cx="3566160" cy="301752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331720"/>
            <a:ext cx="356616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2487168"/>
            <a:ext cx="3291840" cy="411480"/>
          </a:xfrm>
          <a:prstGeom prst="rect">
            <a:avLst/>
          </a:prstGeom>
          <a:noFill/>
        </p:spPr>
        <p:txBody>
          <a:bodyPr wrap="square">
            <a:spAutoFit/>
          </a:bodyPr>
          <a:lstStyle/>
          <a:p>
            <a:pPr algn="ctr">
              <a:defRPr sz="1700" b="1">
                <a:solidFill>
                  <a:srgbClr val="0D1B2A"/>
                </a:solidFill>
                <a:latin typeface="Calibri"/>
              </a:defRPr>
            </a:pPr>
            <a:r>
              <a:t>Detection Calibration</a:t>
            </a:r>
          </a:p>
        </p:txBody>
      </p:sp>
      <p:sp>
        <p:nvSpPr>
          <p:cNvPr id="16" name="Rectangle 15"/>
          <p:cNvSpPr/>
          <p:nvPr/>
        </p:nvSpPr>
        <p:spPr>
          <a:xfrm>
            <a:off x="4526280" y="2898648"/>
            <a:ext cx="2834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3017520"/>
            <a:ext cx="3200400" cy="2011680"/>
          </a:xfrm>
          <a:prstGeom prst="rect">
            <a:avLst/>
          </a:prstGeom>
          <a:noFill/>
        </p:spPr>
        <p:txBody>
          <a:bodyPr wrap="square">
            <a:spAutoFit/>
          </a:bodyPr>
          <a:lstStyle/>
          <a:p>
            <a:pPr algn="l">
              <a:defRPr sz="1300" b="0">
                <a:solidFill>
                  <a:srgbClr val="505050"/>
                </a:solidFill>
                <a:latin typeface="Calibri"/>
              </a:defRPr>
            </a:pPr>
            <a:r>
              <a:t>Tune detection thresholds to your environment</a:t>
            </a:r>
            <a:br/>
            <a:r>
              <a:t>Validate against any known historical incidents</a:t>
            </a:r>
            <a:br/>
            <a:r>
              <a:t>Measure false positive rate on live population</a:t>
            </a:r>
            <a:br/>
            <a:r>
              <a:t>Compare directly to current SIEM alert volume</a:t>
            </a:r>
          </a:p>
        </p:txBody>
      </p:sp>
      <p:sp>
        <p:nvSpPr>
          <p:cNvPr id="18" name="Right Arrow 17"/>
          <p:cNvSpPr/>
          <p:nvPr/>
        </p:nvSpPr>
        <p:spPr>
          <a:xfrm>
            <a:off x="7772400" y="3566160"/>
            <a:ext cx="457200" cy="256032"/>
          </a:xfrm>
          <a:prstGeom prst="rightArrow">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0" y="1737360"/>
            <a:ext cx="2194560" cy="438912"/>
          </a:xfrm>
          <a:prstGeom prst="round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Week 4</a:t>
            </a:r>
          </a:p>
        </p:txBody>
      </p:sp>
      <p:sp>
        <p:nvSpPr>
          <p:cNvPr id="20" name="Rounded Rectangle 19"/>
          <p:cNvSpPr/>
          <p:nvPr/>
        </p:nvSpPr>
        <p:spPr>
          <a:xfrm>
            <a:off x="7863840" y="2331720"/>
            <a:ext cx="3566160" cy="3017520"/>
          </a:xfrm>
          <a:prstGeom prst="roundRect">
            <a:avLst/>
          </a:prstGeom>
          <a:noFill/>
          <a:ln w="25400">
            <a:solidFill>
              <a:srgbClr val="B795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2331720"/>
            <a:ext cx="3566160" cy="54864"/>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2487168"/>
            <a:ext cx="3291840" cy="411480"/>
          </a:xfrm>
          <a:prstGeom prst="rect">
            <a:avLst/>
          </a:prstGeom>
          <a:noFill/>
        </p:spPr>
        <p:txBody>
          <a:bodyPr wrap="square">
            <a:spAutoFit/>
          </a:bodyPr>
          <a:lstStyle/>
          <a:p>
            <a:pPr algn="ctr">
              <a:defRPr sz="1700" b="1">
                <a:solidFill>
                  <a:srgbClr val="0D1B2A"/>
                </a:solidFill>
                <a:latin typeface="Calibri"/>
              </a:defRPr>
            </a:pPr>
            <a:r>
              <a:t>Results &amp; Decision</a:t>
            </a:r>
          </a:p>
        </p:txBody>
      </p:sp>
      <p:sp>
        <p:nvSpPr>
          <p:cNvPr id="23" name="Rectangle 22"/>
          <p:cNvSpPr/>
          <p:nvPr/>
        </p:nvSpPr>
        <p:spPr>
          <a:xfrm>
            <a:off x="8229600" y="2898648"/>
            <a:ext cx="283464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3017520"/>
            <a:ext cx="3200400" cy="2011680"/>
          </a:xfrm>
          <a:prstGeom prst="rect">
            <a:avLst/>
          </a:prstGeom>
          <a:noFill/>
        </p:spPr>
        <p:txBody>
          <a:bodyPr wrap="square">
            <a:spAutoFit/>
          </a:bodyPr>
          <a:lstStyle/>
          <a:p>
            <a:pPr algn="l">
              <a:defRPr sz="1300" b="0">
                <a:solidFill>
                  <a:srgbClr val="505050"/>
                </a:solidFill>
                <a:latin typeface="Calibri"/>
              </a:defRPr>
            </a:pPr>
            <a:r>
              <a:t>Full detection report with empirical metrics</a:t>
            </a:r>
            <a:br/>
            <a:r>
              <a:t>FP rate versus current alerting baseline</a:t>
            </a:r>
            <a:br/>
            <a:r>
              <a:t>Mean time-to-detect analysis</a:t>
            </a:r>
            <a:br/>
            <a:r>
              <a:t>Go/no-go recommendation with supporting data</a:t>
            </a:r>
          </a:p>
        </p:txBody>
      </p:sp>
      <p:sp>
        <p:nvSpPr>
          <p:cNvPr id="25" name="Rounded Rectangle 24"/>
          <p:cNvSpPr/>
          <p:nvPr/>
        </p:nvSpPr>
        <p:spPr>
          <a:xfrm>
            <a:off x="457200" y="5532120"/>
            <a:ext cx="11247120" cy="91440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800" b="1">
                <a:solidFill>
                  <a:srgbClr val="B7950B"/>
                </a:solidFill>
                <a:latin typeface="Calibri"/>
              </a:defRPr>
            </a:pPr>
            <a:r>
              <a:t>No new agents.  No new data collection.  Works with existing log infrastructure.</a:t>
            </a:r>
          </a:p>
          <a:p>
            <a:pPr algn="ctr">
              <a:spcBef>
                <a:spcPts val="600"/>
              </a:spcBef>
              <a:spcAft>
                <a:spcPts val="300"/>
              </a:spcAft>
              <a:defRPr sz="1400" b="0">
                <a:solidFill>
                  <a:srgbClr val="FFFFFF"/>
                </a:solidFill>
                <a:latin typeface="Calibri"/>
              </a:defRPr>
            </a:pPr>
            <a:r>
              <a:t>Success criteria: detection rate, false positive rate, mean time to detect — all measurable and reported.</a:t>
            </a:r>
          </a:p>
        </p:txBody>
      </p:sp>
      <p:sp>
        <p:nvSpPr>
          <p:cNvPr id="26" name="TextBox 25"/>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UEBA: Why Behavioral Analytics Detects What Rules Cannot</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User and Entity Behavior Analytics (UEBA) — detect threats by behavioral drift, not attack signatures.</a:t>
            </a:r>
          </a:p>
        </p:txBody>
      </p:sp>
      <p:sp>
        <p:nvSpPr>
          <p:cNvPr id="5" name="Rounded Rectangle 4"/>
          <p:cNvSpPr/>
          <p:nvPr/>
        </p:nvSpPr>
        <p:spPr>
          <a:xfrm>
            <a:off x="365760" y="1691640"/>
            <a:ext cx="5303520" cy="219456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691640"/>
            <a:ext cx="530352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4937760" cy="320040"/>
          </a:xfrm>
          <a:prstGeom prst="rect">
            <a:avLst/>
          </a:prstGeom>
          <a:noFill/>
        </p:spPr>
        <p:txBody>
          <a:bodyPr wrap="square">
            <a:spAutoFit/>
          </a:bodyPr>
          <a:lstStyle/>
          <a:p>
            <a:pPr algn="l">
              <a:defRPr sz="1900" b="1">
                <a:solidFill>
                  <a:srgbClr val="1B4F72"/>
                </a:solidFill>
                <a:latin typeface="Calibri"/>
              </a:defRPr>
            </a:pPr>
            <a:r>
              <a:t>What is UEBA?</a:t>
            </a:r>
          </a:p>
        </p:txBody>
      </p:sp>
      <p:sp>
        <p:nvSpPr>
          <p:cNvPr id="8" name="TextBox 7"/>
          <p:cNvSpPr txBox="1"/>
          <p:nvPr/>
        </p:nvSpPr>
        <p:spPr>
          <a:xfrm>
            <a:off x="548640" y="2194560"/>
            <a:ext cx="4937760" cy="1463040"/>
          </a:xfrm>
          <a:prstGeom prst="rect">
            <a:avLst/>
          </a:prstGeom>
          <a:noFill/>
        </p:spPr>
        <p:txBody>
          <a:bodyPr wrap="square">
            <a:spAutoFit/>
          </a:bodyPr>
          <a:lstStyle/>
          <a:p>
            <a:pPr algn="l">
              <a:defRPr sz="1300" b="0">
                <a:solidFill>
                  <a:srgbClr val="505050"/>
                </a:solidFill>
                <a:latin typeface="Calibri"/>
              </a:defRPr>
            </a:pPr>
            <a:r>
              <a:t>Learn what normal looks like for every user and device. Flag when behavior drifts from that baseline.</a:t>
            </a:r>
            <a:br/>
            <a:br/>
            <a:r>
              <a:t>SIEM rules ask: 'Did a known bad thing happen?'</a:t>
            </a:r>
            <a:br/>
            <a:r>
              <a:t>UEBA asks: 'Is this entity behaving differently than before?'</a:t>
            </a:r>
            <a:br/>
            <a:br/>
            <a:r>
              <a:t>Modern attackers use valid credentials, legitimate tools, and authorized access. They don't trigger signatures — the only signal is behavioral change over time.</a:t>
            </a:r>
          </a:p>
        </p:txBody>
      </p:sp>
      <p:sp>
        <p:nvSpPr>
          <p:cNvPr id="9" name="Rounded Rectangle 8"/>
          <p:cNvSpPr/>
          <p:nvPr/>
        </p:nvSpPr>
        <p:spPr>
          <a:xfrm>
            <a:off x="5943600" y="1691640"/>
            <a:ext cx="5852160" cy="2194560"/>
          </a:xfrm>
          <a:prstGeom prst="roundRect">
            <a:avLst/>
          </a:prstGeom>
          <a:no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0" y="1691640"/>
            <a:ext cx="5852160"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828800"/>
            <a:ext cx="5486400" cy="320040"/>
          </a:xfrm>
          <a:prstGeom prst="rect">
            <a:avLst/>
          </a:prstGeom>
          <a:noFill/>
        </p:spPr>
        <p:txBody>
          <a:bodyPr wrap="square">
            <a:spAutoFit/>
          </a:bodyPr>
          <a:lstStyle/>
          <a:p>
            <a:pPr algn="l">
              <a:defRPr sz="1900" b="1">
                <a:solidFill>
                  <a:srgbClr val="C0392B"/>
                </a:solidFill>
                <a:latin typeface="Calibri"/>
              </a:defRPr>
            </a:pPr>
            <a:r>
              <a:t>Why SIEM Rules Fail</a:t>
            </a:r>
          </a:p>
        </p:txBody>
      </p:sp>
      <p:sp>
        <p:nvSpPr>
          <p:cNvPr id="12" name="TextBox 11"/>
          <p:cNvSpPr txBox="1"/>
          <p:nvPr/>
        </p:nvSpPr>
        <p:spPr>
          <a:xfrm>
            <a:off x="6126480" y="2194560"/>
            <a:ext cx="5486400" cy="1463040"/>
          </a:xfrm>
          <a:prstGeom prst="rect">
            <a:avLst/>
          </a:prstGeom>
          <a:noFill/>
        </p:spPr>
        <p:txBody>
          <a:bodyPr wrap="square">
            <a:spAutoFit/>
          </a:bodyPr>
          <a:lstStyle/>
          <a:p>
            <a:pPr algn="l">
              <a:defRPr sz="1300" b="0">
                <a:solidFill>
                  <a:srgbClr val="505050"/>
                </a:solidFill>
                <a:latin typeface="Calibri"/>
              </a:defRPr>
            </a:pPr>
            <a:r>
              <a:t>Insider: All access uses valid credentials — no rule violation</a:t>
            </a:r>
            <a:br/>
            <a:r>
              <a:t>Slow APT: C2 is small, periodic, encrypted — looks like HTTPS</a:t>
            </a:r>
            <a:br/>
            <a:r>
              <a:t>LOTL: No malware — uses PowerShell, WMI, RDP from day one</a:t>
            </a:r>
            <a:br/>
            <a:r>
              <a:t>Telecom: Authorized maintenance credentials to network devices</a:t>
            </a:r>
            <a:br/>
            <a:br/>
            <a:r>
              <a:t>Common thread: attacker's identity stays the same, but their behavior changes.</a:t>
            </a:r>
          </a:p>
        </p:txBody>
      </p:sp>
      <p:graphicFrame>
        <p:nvGraphicFramePr>
          <p:cNvPr id="13" name="Table 12"/>
          <p:cNvGraphicFramePr>
            <a:graphicFrameLocks noGrp="1"/>
          </p:cNvGraphicFramePr>
          <p:nvPr/>
        </p:nvGraphicFramePr>
        <p:xfrm>
          <a:off x="365760" y="4114800"/>
          <a:ext cx="11430000" cy="2103120"/>
        </p:xfrm>
        <a:graphic>
          <a:graphicData uri="http://schemas.openxmlformats.org/drawingml/2006/table">
            <a:tbl>
              <a:tblPr firstRow="1" bandRow="1">
                <a:tableStyleId>{5C22544A-7EE6-4342-B048-85BDC9FD1C3A}</a:tableStyleId>
              </a:tblPr>
              <a:tblGrid>
                <a:gridCol w="2194560"/>
                <a:gridCol w="3200400"/>
                <a:gridCol w="3840480"/>
                <a:gridCol w="2194560"/>
              </a:tblGrid>
              <a:tr h="420624">
                <a:tc>
                  <a:txBody>
                    <a:bodyPr lIns="64008" rIns="64008" tIns="36576" bIns="36576"/>
                    <a:lstStyle/>
                    <a:p>
                      <a:pPr algn="ctr">
                        <a:defRPr sz="1400" b="1">
                          <a:solidFill>
                            <a:srgbClr val="FFFFFF"/>
                          </a:solidFill>
                          <a:latin typeface="Calibri"/>
                        </a:defRPr>
                      </a:pPr>
                      <a:r>
                        <a:t>Threat</a:t>
                      </a:r>
                    </a:p>
                  </a:txBody>
                  <a:tcPr anchor="ctr">
                    <a:solidFill>
                      <a:srgbClr val="0D1B2A"/>
                    </a:solidFill>
                  </a:tcPr>
                </a:tc>
                <a:tc>
                  <a:txBody>
                    <a:bodyPr lIns="64008" rIns="64008" tIns="36576" bIns="36576"/>
                    <a:lstStyle/>
                    <a:p>
                      <a:pPr algn="ctr">
                        <a:defRPr sz="1400" b="1">
                          <a:solidFill>
                            <a:srgbClr val="FFFFFF"/>
                          </a:solidFill>
                          <a:latin typeface="Calibri"/>
                        </a:defRPr>
                      </a:pPr>
                      <a:r>
                        <a:t>Attack Pattern</a:t>
                      </a:r>
                    </a:p>
                  </a:txBody>
                  <a:tcPr anchor="ctr">
                    <a:solidFill>
                      <a:srgbClr val="0D1B2A"/>
                    </a:solidFill>
                  </a:tcPr>
                </a:tc>
                <a:tc>
                  <a:txBody>
                    <a:bodyPr lIns="64008" rIns="64008" tIns="36576" bIns="36576"/>
                    <a:lstStyle/>
                    <a:p>
                      <a:pPr algn="ctr">
                        <a:defRPr sz="1400" b="1">
                          <a:solidFill>
                            <a:srgbClr val="FFFFFF"/>
                          </a:solidFill>
                          <a:latin typeface="Calibri"/>
                        </a:defRPr>
                      </a:pPr>
                      <a:r>
                        <a:t>UEBA Signal</a:t>
                      </a:r>
                    </a:p>
                  </a:txBody>
                  <a:tcPr anchor="ctr">
                    <a:solidFill>
                      <a:srgbClr val="0D1B2A"/>
                    </a:solidFill>
                  </a:tcPr>
                </a:tc>
                <a:tc>
                  <a:txBody>
                    <a:bodyPr lIns="64008" rIns="64008" tIns="36576" bIns="36576"/>
                    <a:lstStyle/>
                    <a:p>
                      <a:pPr algn="ctr">
                        <a:defRPr sz="1400" b="1">
                          <a:solidFill>
                            <a:srgbClr val="FFFFFF"/>
                          </a:solidFill>
                          <a:latin typeface="Calibri"/>
                        </a:defRPr>
                      </a:pPr>
                      <a:r>
                        <a:t>Duration</a:t>
                      </a:r>
                    </a:p>
                  </a:txBody>
                  <a:tcPr anchor="ctr">
                    <a:solidFill>
                      <a:srgbClr val="0D1B2A"/>
                    </a:solidFill>
                  </a:tcPr>
                </a:tc>
              </a:tr>
              <a:tr h="420624">
                <a:tc>
                  <a:txBody>
                    <a:bodyPr lIns="64008" rIns="64008" tIns="36576" bIns="36576"/>
                    <a:lstStyle/>
                    <a:p>
                      <a:pPr algn="l">
                        <a:defRPr sz="1200" b="1">
                          <a:solidFill>
                            <a:srgbClr val="FFFFFF"/>
                          </a:solidFill>
                          <a:latin typeface="Calibri"/>
                        </a:defRPr>
                      </a:pPr>
                      <a:r>
                        <a:t>Insider Threat</a:t>
                      </a:r>
                    </a:p>
                  </a:txBody>
                  <a:tcPr anchor="ctr">
                    <a:solidFill>
                      <a:srgbClr val="C0392B"/>
                    </a:solidFill>
                  </a:tcPr>
                </a:tc>
                <a:tc>
                  <a:txBody>
                    <a:bodyPr lIns="64008" rIns="64008" tIns="36576" bIns="36576"/>
                    <a:lstStyle/>
                    <a:p>
                      <a:pPr algn="ctr">
                        <a:defRPr sz="1200" b="0">
                          <a:solidFill>
                            <a:srgbClr val="0D1B2A"/>
                          </a:solidFill>
                          <a:latin typeface="Calibri"/>
                        </a:defRPr>
                      </a:pPr>
                      <a:r>
                        <a:t>Gradual data access</a:t>
                      </a:r>
                    </a:p>
                    <a:p>
                      <a:pPr algn="ctr">
                        <a:defRPr sz="1200" b="0">
                          <a:solidFill>
                            <a:srgbClr val="0D1B2A"/>
                          </a:solidFill>
                          <a:latin typeface="Calibri"/>
                        </a:defRPr>
                      </a:pPr>
                      <a:r>
                        <a:t>escalation</a:t>
                      </a:r>
                    </a:p>
                  </a:txBody>
                  <a:tcPr anchor="ctr">
                    <a:solidFill>
                      <a:srgbClr val="FFFFFF"/>
                    </a:solidFill>
                  </a:tcPr>
                </a:tc>
                <a:tc>
                  <a:txBody>
                    <a:bodyPr lIns="64008" rIns="64008" tIns="36576" bIns="36576"/>
                    <a:lstStyle/>
                    <a:p>
                      <a:pPr algn="ctr">
                        <a:defRPr sz="1200" b="0">
                          <a:solidFill>
                            <a:srgbClr val="0D1B2A"/>
                          </a:solidFill>
                          <a:latin typeface="Calibri"/>
                        </a:defRPr>
                      </a:pPr>
                      <a:r>
                        <a:t>Identity stable +</a:t>
                      </a:r>
                    </a:p>
                    <a:p>
                      <a:pPr algn="ctr">
                        <a:defRPr sz="1200" b="0">
                          <a:solidFill>
                            <a:srgbClr val="0D1B2A"/>
                          </a:solidFill>
                          <a:latin typeface="Calibri"/>
                        </a:defRPr>
                      </a:pPr>
                      <a:r>
                        <a:t>data zone drifting</a:t>
                      </a:r>
                    </a:p>
                  </a:txBody>
                  <a:tcPr anchor="ctr">
                    <a:solidFill>
                      <a:srgbClr val="FFFFFF"/>
                    </a:solidFill>
                  </a:tcPr>
                </a:tc>
                <a:tc>
                  <a:txBody>
                    <a:bodyPr lIns="64008" rIns="64008" tIns="36576" bIns="36576"/>
                    <a:lstStyle/>
                    <a:p>
                      <a:pPr algn="ctr">
                        <a:defRPr sz="1200" b="0">
                          <a:solidFill>
                            <a:srgbClr val="0D1B2A"/>
                          </a:solidFill>
                          <a:latin typeface="Calibri"/>
                        </a:defRPr>
                      </a:pPr>
                      <a:r>
                        <a:t>8 months</a:t>
                      </a:r>
                    </a:p>
                  </a:txBody>
                  <a:tcPr anchor="ctr">
                    <a:solidFill>
                      <a:srgbClr val="FFFFFF"/>
                    </a:solidFill>
                  </a:tcPr>
                </a:tc>
              </a:tr>
              <a:tr h="420624">
                <a:tc>
                  <a:txBody>
                    <a:bodyPr lIns="64008" rIns="64008" tIns="36576" bIns="36576"/>
                    <a:lstStyle/>
                    <a:p>
                      <a:pPr algn="l">
                        <a:defRPr sz="1200" b="1">
                          <a:solidFill>
                            <a:srgbClr val="FFFFFF"/>
                          </a:solidFill>
                          <a:latin typeface="Calibri"/>
                        </a:defRPr>
                      </a:pPr>
                      <a:r>
                        <a:t>Slow APT / C2</a:t>
                      </a:r>
                    </a:p>
                  </a:txBody>
                  <a:tcPr anchor="ctr">
                    <a:solidFill>
                      <a:srgbClr val="E67E22"/>
                    </a:solidFill>
                  </a:tcPr>
                </a:tc>
                <a:tc>
                  <a:txBody>
                    <a:bodyPr lIns="64008" rIns="64008" tIns="36576" bIns="36576"/>
                    <a:lstStyle/>
                    <a:p>
                      <a:pPr algn="ctr">
                        <a:defRPr sz="1200" b="0">
                          <a:solidFill>
                            <a:srgbClr val="0D1B2A"/>
                          </a:solidFill>
                          <a:latin typeface="Calibri"/>
                        </a:defRPr>
                      </a:pPr>
                      <a:r>
                        <a:t>Persistent C2</a:t>
                      </a:r>
                    </a:p>
                    <a:p>
                      <a:pPr algn="ctr">
                        <a:defRPr sz="1200" b="0">
                          <a:solidFill>
                            <a:srgbClr val="0D1B2A"/>
                          </a:solidFill>
                          <a:latin typeface="Calibri"/>
                        </a:defRPr>
                      </a:pPr>
                      <a:r>
                        <a:t>beaconing</a:t>
                      </a:r>
                    </a:p>
                  </a:txBody>
                  <a:tcPr anchor="ctr">
                    <a:solidFill>
                      <a:srgbClr val="F0F2F5"/>
                    </a:solidFill>
                  </a:tcPr>
                </a:tc>
                <a:tc>
                  <a:txBody>
                    <a:bodyPr lIns="64008" rIns="64008" tIns="36576" bIns="36576"/>
                    <a:lstStyle/>
                    <a:p>
                      <a:pPr algn="ctr">
                        <a:defRPr sz="1200" b="0">
                          <a:solidFill>
                            <a:srgbClr val="0D1B2A"/>
                          </a:solidFill>
                          <a:latin typeface="Calibri"/>
                        </a:defRPr>
                      </a:pPr>
                      <a:r>
                        <a:t>Identity stable +</a:t>
                      </a:r>
                    </a:p>
                    <a:p>
                      <a:pPr algn="ctr">
                        <a:defRPr sz="1200" b="0">
                          <a:solidFill>
                            <a:srgbClr val="0D1B2A"/>
                          </a:solidFill>
                          <a:latin typeface="Calibri"/>
                        </a:defRPr>
                      </a:pPr>
                      <a:r>
                        <a:t>network zone drifting</a:t>
                      </a:r>
                    </a:p>
                  </a:txBody>
                  <a:tcPr anchor="ctr">
                    <a:solidFill>
                      <a:srgbClr val="F0F2F5"/>
                    </a:solidFill>
                  </a:tcPr>
                </a:tc>
                <a:tc>
                  <a:txBody>
                    <a:bodyPr lIns="64008" rIns="64008" tIns="36576" bIns="36576"/>
                    <a:lstStyle/>
                    <a:p>
                      <a:pPr algn="ctr">
                        <a:defRPr sz="1200" b="0">
                          <a:solidFill>
                            <a:srgbClr val="0D1B2A"/>
                          </a:solidFill>
                          <a:latin typeface="Calibri"/>
                        </a:defRPr>
                      </a:pPr>
                      <a:r>
                        <a:t>180 days</a:t>
                      </a:r>
                    </a:p>
                  </a:txBody>
                  <a:tcPr anchor="ctr">
                    <a:solidFill>
                      <a:srgbClr val="F0F2F5"/>
                    </a:solidFill>
                  </a:tcPr>
                </a:tc>
              </a:tr>
              <a:tr h="420624">
                <a:tc>
                  <a:txBody>
                    <a:bodyPr lIns="64008" rIns="64008" tIns="36576" bIns="36576"/>
                    <a:lstStyle/>
                    <a:p>
                      <a:pPr algn="l">
                        <a:defRPr sz="1200" b="1">
                          <a:solidFill>
                            <a:srgbClr val="FFFFFF"/>
                          </a:solidFill>
                          <a:latin typeface="Calibri"/>
                        </a:defRPr>
                      </a:pPr>
                      <a:r>
                        <a:t>Nation-State LOTL</a:t>
                      </a:r>
                    </a:p>
                  </a:txBody>
                  <a:tcPr anchor="ctr">
                    <a:solidFill>
                      <a:srgbClr val="8E44AD"/>
                    </a:solidFill>
                  </a:tcPr>
                </a:tc>
                <a:tc>
                  <a:txBody>
                    <a:bodyPr lIns="64008" rIns="64008" tIns="36576" bIns="36576"/>
                    <a:lstStyle/>
                    <a:p>
                      <a:pPr algn="ctr">
                        <a:defRPr sz="1200" b="0">
                          <a:solidFill>
                            <a:srgbClr val="0D1B2A"/>
                          </a:solidFill>
                          <a:latin typeface="Calibri"/>
                        </a:defRPr>
                      </a:pPr>
                      <a:r>
                        <a:t>Admin tools</a:t>
                      </a:r>
                    </a:p>
                    <a:p>
                      <a:pPr algn="ctr">
                        <a:defRPr sz="1200" b="0">
                          <a:solidFill>
                            <a:srgbClr val="0D1B2A"/>
                          </a:solidFill>
                          <a:latin typeface="Calibri"/>
                        </a:defRPr>
                      </a:pPr>
                      <a:r>
                        <a:t>repurposed</a:t>
                      </a:r>
                    </a:p>
                  </a:txBody>
                  <a:tcPr anchor="ctr">
                    <a:solidFill>
                      <a:srgbClr val="FFFFFF"/>
                    </a:solidFill>
                  </a:tcPr>
                </a:tc>
                <a:tc>
                  <a:txBody>
                    <a:bodyPr lIns="64008" rIns="64008" tIns="36576" bIns="36576"/>
                    <a:lstStyle/>
                    <a:p>
                      <a:pPr algn="ctr">
                        <a:defRPr sz="1200" b="0">
                          <a:solidFill>
                            <a:srgbClr val="0D1B2A"/>
                          </a:solidFill>
                          <a:latin typeface="Calibri"/>
                        </a:defRPr>
                      </a:pPr>
                      <a:r>
                        <a:t>All zones shift</a:t>
                      </a:r>
                    </a:p>
                    <a:p>
                      <a:pPr algn="ctr">
                        <a:defRPr sz="1200" b="0">
                          <a:solidFill>
                            <a:srgbClr val="0D1B2A"/>
                          </a:solidFill>
                          <a:latin typeface="Calibri"/>
                        </a:defRPr>
                      </a:pPr>
                      <a:r>
                        <a:t>(phase break)</a:t>
                      </a:r>
                    </a:p>
                  </a:txBody>
                  <a:tcPr anchor="ctr">
                    <a:solidFill>
                      <a:srgbClr val="FFFFFF"/>
                    </a:solidFill>
                  </a:tcPr>
                </a:tc>
                <a:tc>
                  <a:txBody>
                    <a:bodyPr lIns="64008" rIns="64008" tIns="36576" bIns="36576"/>
                    <a:lstStyle/>
                    <a:p>
                      <a:pPr algn="ctr">
                        <a:defRPr sz="1200" b="0">
                          <a:solidFill>
                            <a:srgbClr val="0D1B2A"/>
                          </a:solidFill>
                          <a:latin typeface="Calibri"/>
                        </a:defRPr>
                      </a:pPr>
                      <a:r>
                        <a:t>115 days</a:t>
                      </a:r>
                    </a:p>
                  </a:txBody>
                  <a:tcPr anchor="ctr">
                    <a:solidFill>
                      <a:srgbClr val="FFFFFF"/>
                    </a:solidFill>
                  </a:tcPr>
                </a:tc>
              </a:tr>
              <a:tr h="420624">
                <a:tc>
                  <a:txBody>
                    <a:bodyPr lIns="64008" rIns="64008" tIns="36576" bIns="36576"/>
                    <a:lstStyle/>
                    <a:p>
                      <a:pPr algn="l">
                        <a:defRPr sz="1200" b="1">
                          <a:solidFill>
                            <a:srgbClr val="FFFFFF"/>
                          </a:solidFill>
                          <a:latin typeface="Calibri"/>
                        </a:defRPr>
                      </a:pPr>
                      <a:r>
                        <a:t>Telecom Pivot</a:t>
                      </a:r>
                    </a:p>
                  </a:txBody>
                  <a:tcPr anchor="ctr">
                    <a:solidFill>
                      <a:srgbClr val="2980B9"/>
                    </a:solidFill>
                  </a:tcPr>
                </a:tc>
                <a:tc>
                  <a:txBody>
                    <a:bodyPr lIns="64008" rIns="64008" tIns="36576" bIns="36576"/>
                    <a:lstStyle/>
                    <a:p>
                      <a:pPr algn="ctr">
                        <a:defRPr sz="1200" b="0">
                          <a:solidFill>
                            <a:srgbClr val="0D1B2A"/>
                          </a:solidFill>
                          <a:latin typeface="Calibri"/>
                        </a:defRPr>
                      </a:pPr>
                      <a:r>
                        <a:t>Infrastructure</a:t>
                      </a:r>
                    </a:p>
                    <a:p>
                      <a:pPr algn="ctr">
                        <a:defRPr sz="1200" b="0">
                          <a:solidFill>
                            <a:srgbClr val="0D1B2A"/>
                          </a:solidFill>
                          <a:latin typeface="Calibri"/>
                        </a:defRPr>
                      </a:pPr>
                      <a:r>
                        <a:t>targeting</a:t>
                      </a:r>
                    </a:p>
                  </a:txBody>
                  <a:tcPr anchor="ctr">
                    <a:solidFill>
                      <a:srgbClr val="F0F2F5"/>
                    </a:solidFill>
                  </a:tcPr>
                </a:tc>
                <a:tc>
                  <a:txBody>
                    <a:bodyPr lIns="64008" rIns="64008" tIns="36576" bIns="36576"/>
                    <a:lstStyle/>
                    <a:p>
                      <a:pPr algn="ctr">
                        <a:defRPr sz="1200" b="0">
                          <a:solidFill>
                            <a:srgbClr val="0D1B2A"/>
                          </a:solidFill>
                          <a:latin typeface="Calibri"/>
                        </a:defRPr>
                      </a:pPr>
                      <a:r>
                        <a:t>Broad multi-zone</a:t>
                      </a:r>
                    </a:p>
                    <a:p>
                      <a:pPr algn="ctr">
                        <a:defRPr sz="1200" b="0">
                          <a:solidFill>
                            <a:srgbClr val="0D1B2A"/>
                          </a:solidFill>
                          <a:latin typeface="Calibri"/>
                        </a:defRPr>
                      </a:pPr>
                      <a:r>
                        <a:t>cumulative drift</a:t>
                      </a:r>
                    </a:p>
                  </a:txBody>
                  <a:tcPr anchor="ctr">
                    <a:solidFill>
                      <a:srgbClr val="F0F2F5"/>
                    </a:solidFill>
                  </a:tcPr>
                </a:tc>
                <a:tc>
                  <a:txBody>
                    <a:bodyPr lIns="64008" rIns="64008" tIns="36576" bIns="36576"/>
                    <a:lstStyle/>
                    <a:p>
                      <a:pPr algn="ctr">
                        <a:defRPr sz="1200" b="0">
                          <a:solidFill>
                            <a:srgbClr val="0D1B2A"/>
                          </a:solidFill>
                          <a:latin typeface="Calibri"/>
                        </a:defRPr>
                      </a:pPr>
                      <a:r>
                        <a:t>100 days</a:t>
                      </a:r>
                    </a:p>
                  </a:txBody>
                  <a:tcPr anchor="ctr">
                    <a:solidFill>
                      <a:srgbClr val="F0F2F5"/>
                    </a:solidFill>
                  </a:tcPr>
                </a:tc>
              </a:tr>
            </a:tbl>
          </a:graphicData>
        </a:graphic>
      </p:graphicFrame>
      <p:sp>
        <p:nvSpPr>
          <p:cNvPr id="14" name="TextBox 13"/>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Detection Playbook: Match the Threat to the Algorithm</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411480"/>
          </a:xfrm>
          <a:prstGeom prst="rect">
            <a:avLst/>
          </a:prstGeom>
          <a:noFill/>
        </p:spPr>
        <p:txBody>
          <a:bodyPr wrap="square">
            <a:spAutoFit/>
          </a:bodyPr>
          <a:lstStyle/>
          <a:p>
            <a:pPr algn="l">
              <a:defRPr sz="1500" b="0">
                <a:solidFill>
                  <a:srgbClr val="505050"/>
                </a:solidFill>
                <a:latin typeface="Calibri"/>
              </a:defRPr>
            </a:pPr>
            <a:r>
              <a:t>No single algorithm catches all 4 threat types. The threat type determines which method to deploy.</a:t>
            </a:r>
          </a:p>
        </p:txBody>
      </p:sp>
      <p:graphicFrame>
        <p:nvGraphicFramePr>
          <p:cNvPr id="5" name="Table 4"/>
          <p:cNvGraphicFramePr>
            <a:graphicFrameLocks noGrp="1"/>
          </p:cNvGraphicFramePr>
          <p:nvPr/>
        </p:nvGraphicFramePr>
        <p:xfrm>
          <a:off x="274320" y="1691640"/>
          <a:ext cx="11612880" cy="2560320"/>
        </p:xfrm>
        <a:graphic>
          <a:graphicData uri="http://schemas.openxmlformats.org/drawingml/2006/table">
            <a:tbl>
              <a:tblPr firstRow="1" bandRow="1">
                <a:tableStyleId>{5C22544A-7EE6-4342-B048-85BDC9FD1C3A}</a:tableStyleId>
              </a:tblPr>
              <a:tblGrid>
                <a:gridCol w="1645920"/>
                <a:gridCol w="1828800"/>
                <a:gridCol w="1097280"/>
                <a:gridCol w="3657600"/>
                <a:gridCol w="3383280"/>
              </a:tblGrid>
              <a:tr h="512064">
                <a:tc>
                  <a:txBody>
                    <a:bodyPr lIns="64008" rIns="64008" tIns="36576" bIns="36576"/>
                    <a:lstStyle/>
                    <a:p>
                      <a:pPr algn="ctr">
                        <a:defRPr sz="1300" b="1">
                          <a:solidFill>
                            <a:srgbClr val="FFFFFF"/>
                          </a:solidFill>
                          <a:latin typeface="Calibri"/>
                        </a:defRPr>
                      </a:pPr>
                      <a:r>
                        <a:t>Threat Type</a:t>
                      </a:r>
                    </a:p>
                  </a:txBody>
                  <a:tcPr anchor="ctr">
                    <a:solidFill>
                      <a:srgbClr val="0D1B2A"/>
                    </a:solidFill>
                  </a:tcPr>
                </a:tc>
                <a:tc>
                  <a:txBody>
                    <a:bodyPr lIns="64008" rIns="64008" tIns="36576" bIns="36576"/>
                    <a:lstStyle/>
                    <a:p>
                      <a:pPr algn="ctr">
                        <a:defRPr sz="1300" b="1">
                          <a:solidFill>
                            <a:srgbClr val="FFFFFF"/>
                          </a:solidFill>
                          <a:latin typeface="Calibri"/>
                        </a:defRPr>
                      </a:pPr>
                      <a:r>
                        <a:t>Best Method</a:t>
                      </a:r>
                    </a:p>
                  </a:txBody>
                  <a:tcPr anchor="ctr">
                    <a:solidFill>
                      <a:srgbClr val="0D1B2A"/>
                    </a:solidFill>
                  </a:tcPr>
                </a:tc>
                <a:tc>
                  <a:txBody>
                    <a:bodyPr lIns="64008" rIns="64008" tIns="36576" bIns="36576"/>
                    <a:lstStyle/>
                    <a:p>
                      <a:pPr algn="ctr">
                        <a:defRPr sz="1300" b="1">
                          <a:solidFill>
                            <a:srgbClr val="FFFFFF"/>
                          </a:solidFill>
                          <a:latin typeface="Calibri"/>
                        </a:defRPr>
                      </a:pPr>
                      <a:r>
                        <a:t>FP Rate</a:t>
                      </a:r>
                    </a:p>
                  </a:txBody>
                  <a:tcPr anchor="ctr">
                    <a:solidFill>
                      <a:srgbClr val="0D1B2A"/>
                    </a:solidFill>
                  </a:tcPr>
                </a:tc>
                <a:tc>
                  <a:txBody>
                    <a:bodyPr lIns="64008" rIns="64008" tIns="36576" bIns="36576"/>
                    <a:lstStyle/>
                    <a:p>
                      <a:pPr algn="ctr">
                        <a:defRPr sz="1300" b="1">
                          <a:solidFill>
                            <a:srgbClr val="FFFFFF"/>
                          </a:solidFill>
                          <a:latin typeface="Calibri"/>
                        </a:defRPr>
                      </a:pPr>
                      <a:r>
                        <a:t>Why It Works</a:t>
                      </a:r>
                    </a:p>
                  </a:txBody>
                  <a:tcPr anchor="ctr">
                    <a:solidFill>
                      <a:srgbClr val="0D1B2A"/>
                    </a:solidFill>
                  </a:tcPr>
                </a:tc>
                <a:tc>
                  <a:txBody>
                    <a:bodyPr lIns="64008" rIns="64008" tIns="36576" bIns="36576"/>
                    <a:lstStyle/>
                    <a:p>
                      <a:pPr algn="ctr">
                        <a:defRPr sz="1300" b="1">
                          <a:solidFill>
                            <a:srgbClr val="FFFFFF"/>
                          </a:solidFill>
                          <a:latin typeface="Calibri"/>
                        </a:defRPr>
                      </a:pPr>
                      <a:r>
                        <a:t>What Fails</a:t>
                      </a:r>
                    </a:p>
                  </a:txBody>
                  <a:tcPr anchor="ctr">
                    <a:solidFill>
                      <a:srgbClr val="0D1B2A"/>
                    </a:solidFill>
                  </a:tcPr>
                </a:tc>
              </a:tr>
              <a:tr h="512064">
                <a:tc>
                  <a:txBody>
                    <a:bodyPr lIns="64008" rIns="64008" tIns="36576" bIns="36576"/>
                    <a:lstStyle/>
                    <a:p>
                      <a:pPr algn="l">
                        <a:defRPr sz="1200" b="1">
                          <a:solidFill>
                            <a:srgbClr val="FFFFFF"/>
                          </a:solidFill>
                          <a:latin typeface="Calibri"/>
                        </a:defRPr>
                      </a:pPr>
                      <a:r>
                        <a:t>Insider</a:t>
                      </a:r>
                    </a:p>
                    <a:p>
                      <a:pPr algn="l">
                        <a:defRPr sz="1200" b="1">
                          <a:solidFill>
                            <a:srgbClr val="FFFFFF"/>
                          </a:solidFill>
                          <a:latin typeface="Calibri"/>
                        </a:defRPr>
                      </a:pPr>
                      <a:r>
                        <a:t>(USR-156)</a:t>
                      </a:r>
                    </a:p>
                  </a:txBody>
                  <a:tcPr anchor="ctr">
                    <a:solidFill>
                      <a:srgbClr val="C0392B"/>
                    </a:solidFill>
                  </a:tcPr>
                </a:tc>
                <a:tc>
                  <a:txBody>
                    <a:bodyPr lIns="64008" rIns="64008" tIns="36576" bIns="36576"/>
                    <a:lstStyle/>
                    <a:p>
                      <a:pPr algn="ctr">
                        <a:defRPr sz="1200" b="0">
                          <a:solidFill>
                            <a:srgbClr val="0D1B2A"/>
                          </a:solidFill>
                          <a:latin typeface="Calibri"/>
                        </a:defRPr>
                      </a:pPr>
                      <a:r>
                        <a:t>Zone</a:t>
                      </a:r>
                    </a:p>
                    <a:p>
                      <a:pPr algn="ctr">
                        <a:defRPr sz="1200" b="0">
                          <a:solidFill>
                            <a:srgbClr val="0D1B2A"/>
                          </a:solidFill>
                          <a:latin typeface="Calibri"/>
                        </a:defRPr>
                      </a:pPr>
                      <a:r>
                        <a:t>Divergence</a:t>
                      </a:r>
                    </a:p>
                  </a:txBody>
                  <a:tcPr anchor="ctr">
                    <a:solidFill>
                      <a:srgbClr val="FFFFFF"/>
                    </a:solidFill>
                  </a:tcPr>
                </a:tc>
                <a:tc>
                  <a:txBody>
                    <a:bodyPr lIns="64008" rIns="64008" tIns="36576" bIns="36576"/>
                    <a:lstStyle/>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Only method that sees</a:t>
                      </a:r>
                    </a:p>
                    <a:p>
                      <a:pPr algn="ctr">
                        <a:defRPr sz="1200" b="0">
                          <a:solidFill>
                            <a:srgbClr val="0D1B2A"/>
                          </a:solidFill>
                          <a:latin typeface="Calibri"/>
                        </a:defRPr>
                      </a:pPr>
                      <a:r>
                        <a:t>'same person, different data'</a:t>
                      </a:r>
                    </a:p>
                  </a:txBody>
                  <a:tcPr anchor="ctr">
                    <a:solidFill>
                      <a:srgbClr val="FFFFFF"/>
                    </a:solidFill>
                  </a:tcPr>
                </a:tc>
                <a:tc>
                  <a:txBody>
                    <a:bodyPr lIns="64008" rIns="64008" tIns="36576" bIns="36576"/>
                    <a:lstStyle/>
                    <a:p>
                      <a:pPr algn="ctr">
                        <a:defRPr sz="1200" b="0">
                          <a:solidFill>
                            <a:srgbClr val="0D1B2A"/>
                          </a:solidFill>
                          <a:latin typeface="Calibri"/>
                        </a:defRPr>
                      </a:pPr>
                      <a:r>
                        <a:t>LOF, IForest, Z-Score</a:t>
                      </a:r>
                    </a:p>
                    <a:p>
                      <a:pPr algn="ctr">
                        <a:defRPr sz="1200" b="0">
                          <a:solidFill>
                            <a:srgbClr val="0D1B2A"/>
                          </a:solidFill>
                          <a:latin typeface="Calibri"/>
                        </a:defRPr>
                      </a:pPr>
                      <a:r>
                        <a:t>(measure magnitude only)</a:t>
                      </a:r>
                    </a:p>
                  </a:txBody>
                  <a:tcPr anchor="ctr">
                    <a:solidFill>
                      <a:srgbClr val="FFFFFF"/>
                    </a:solidFill>
                  </a:tcPr>
                </a:tc>
              </a:tr>
              <a:tr h="512064">
                <a:tc>
                  <a:txBody>
                    <a:bodyPr lIns="64008" rIns="64008" tIns="36576" bIns="36576"/>
                    <a:lstStyle/>
                    <a:p>
                      <a:pPr algn="l">
                        <a:defRPr sz="1200" b="1">
                          <a:solidFill>
                            <a:srgbClr val="FFFFFF"/>
                          </a:solidFill>
                          <a:latin typeface="Calibri"/>
                        </a:defRPr>
                      </a:pPr>
                      <a:r>
                        <a:t>Slow APT</a:t>
                      </a:r>
                    </a:p>
                    <a:p>
                      <a:pPr algn="l">
                        <a:defRPr sz="1200" b="1">
                          <a:solidFill>
                            <a:srgbClr val="FFFFFF"/>
                          </a:solidFill>
                          <a:latin typeface="Calibri"/>
                        </a:defRPr>
                      </a:pPr>
                      <a:r>
                        <a:t>(USR-234)</a:t>
                      </a:r>
                    </a:p>
                  </a:txBody>
                  <a:tcPr anchor="ctr">
                    <a:solidFill>
                      <a:srgbClr val="E67E22"/>
                    </a:solidFill>
                  </a:tcPr>
                </a:tc>
                <a:tc>
                  <a:txBody>
                    <a:bodyPr lIns="64008" rIns="64008" tIns="36576" bIns="36576"/>
                    <a:lstStyle/>
                    <a:p>
                      <a:pPr algn="ctr">
                        <a:defRPr sz="1200" b="0">
                          <a:solidFill>
                            <a:srgbClr val="0D1B2A"/>
                          </a:solidFill>
                          <a:latin typeface="Calibri"/>
                        </a:defRPr>
                      </a:pPr>
                      <a:r>
                        <a:t>LOF + Zone</a:t>
                      </a:r>
                    </a:p>
                    <a:p>
                      <a:pPr algn="ctr">
                        <a:defRPr sz="1200" b="0">
                          <a:solidFill>
                            <a:srgbClr val="0D1B2A"/>
                          </a:solidFill>
                          <a:latin typeface="Calibri"/>
                        </a:defRPr>
                      </a:pPr>
                      <a:r>
                        <a:t>Divergence</a:t>
                      </a:r>
                    </a:p>
                  </a:txBody>
                  <a:tcPr anchor="ctr">
                    <a:solidFill>
                      <a:srgbClr val="F0F2F5"/>
                    </a:solidFill>
                  </a:tcPr>
                </a:tc>
                <a:tc>
                  <a:txBody>
                    <a:bodyPr lIns="64008" rIns="64008" tIns="36576" bIns="36576"/>
                    <a:lstStyle/>
                    <a:p>
                      <a:pPr algn="ctr">
                        <a:defRPr sz="1200" b="1">
                          <a:solidFill>
                            <a:srgbClr val="FFFFFF"/>
                          </a:solidFill>
                          <a:latin typeface="Calibri"/>
                        </a:defRPr>
                      </a:pPr>
                      <a:r>
                        <a:t>0%* /</a:t>
                      </a:r>
                    </a:p>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LOF: network outlier</a:t>
                      </a:r>
                    </a:p>
                    <a:p>
                      <a:pPr algn="ctr">
                        <a:defRPr sz="1200" b="0">
                          <a:solidFill>
                            <a:srgbClr val="0D1B2A"/>
                          </a:solidFill>
                          <a:latin typeface="Calibri"/>
                        </a:defRPr>
                      </a:pPr>
                      <a:r>
                        <a:t>Zone Div: network zone drifting</a:t>
                      </a:r>
                    </a:p>
                  </a:txBody>
                  <a:tcPr anchor="ctr">
                    <a:solidFill>
                      <a:srgbClr val="F0F2F5"/>
                    </a:solidFill>
                  </a:tcPr>
                </a:tc>
                <a:tc>
                  <a:txBody>
                    <a:bodyPr lIns="64008" rIns="64008" tIns="36576" bIns="36576"/>
                    <a:lstStyle/>
                    <a:p>
                      <a:pPr algn="ctr">
                        <a:defRPr sz="1200" b="0">
                          <a:solidFill>
                            <a:srgbClr val="0D1B2A"/>
                          </a:solidFill>
                          <a:latin typeface="Calibri"/>
                        </a:defRPr>
                      </a:pPr>
                      <a:r>
                        <a:t>IForest</a:t>
                      </a:r>
                    </a:p>
                    <a:p>
                      <a:pPr algn="ctr">
                        <a:defRPr sz="1200" b="0">
                          <a:solidFill>
                            <a:srgbClr val="0D1B2A"/>
                          </a:solidFill>
                          <a:latin typeface="Calibri"/>
                        </a:defRPr>
                      </a:pPr>
                      <a:r>
                        <a:t>(not sensitive to slow drift)</a:t>
                      </a:r>
                    </a:p>
                  </a:txBody>
                  <a:tcPr anchor="ctr">
                    <a:solidFill>
                      <a:srgbClr val="F0F2F5"/>
                    </a:solidFill>
                  </a:tcPr>
                </a:tc>
              </a:tr>
              <a:tr h="512064">
                <a:tc>
                  <a:txBody>
                    <a:bodyPr lIns="64008" rIns="64008" tIns="36576" bIns="36576"/>
                    <a:lstStyle/>
                    <a:p>
                      <a:pPr algn="l">
                        <a:defRPr sz="1200" b="1">
                          <a:solidFill>
                            <a:srgbClr val="FFFFFF"/>
                          </a:solidFill>
                          <a:latin typeface="Calibri"/>
                        </a:defRPr>
                      </a:pPr>
                      <a:r>
                        <a:t>LOTL</a:t>
                      </a:r>
                    </a:p>
                    <a:p>
                      <a:pPr algn="l">
                        <a:defRPr sz="1200" b="1">
                          <a:solidFill>
                            <a:srgbClr val="FFFFFF"/>
                          </a:solidFill>
                          <a:latin typeface="Calibri"/>
                        </a:defRPr>
                      </a:pPr>
                      <a:r>
                        <a:t>(USR-042)</a:t>
                      </a:r>
                    </a:p>
                  </a:txBody>
                  <a:tcPr anchor="ctr">
                    <a:solidFill>
                      <a:srgbClr val="8E44AD"/>
                    </a:solidFill>
                  </a:tcPr>
                </a:tc>
                <a:tc>
                  <a:txBody>
                    <a:bodyPr lIns="64008" rIns="64008" tIns="36576" bIns="36576"/>
                    <a:lstStyle/>
                    <a:p>
                      <a:pPr algn="ctr">
                        <a:defRPr sz="1200" b="0">
                          <a:solidFill>
                            <a:srgbClr val="0D1B2A"/>
                          </a:solidFill>
                          <a:latin typeface="Calibri"/>
                        </a:defRPr>
                      </a:pPr>
                      <a:r>
                        <a:t>LOF +</a:t>
                      </a:r>
                    </a:p>
                    <a:p>
                      <a:pPr algn="ctr">
                        <a:defRPr sz="1200" b="0">
                          <a:solidFill>
                            <a:srgbClr val="0D1B2A"/>
                          </a:solidFill>
                          <a:latin typeface="Calibri"/>
                        </a:defRPr>
                      </a:pPr>
                      <a:r>
                        <a:t>Regime Shift</a:t>
                      </a:r>
                    </a:p>
                  </a:txBody>
                  <a:tcPr anchor="ctr">
                    <a:solidFill>
                      <a:srgbClr val="FFFFFF"/>
                    </a:solidFill>
                  </a:tcPr>
                </a:tc>
                <a:tc>
                  <a:txBody>
                    <a:bodyPr lIns="64008" rIns="64008" tIns="36576" bIns="36576"/>
                    <a:lstStyle/>
                    <a:p>
                      <a:pPr algn="ctr">
                        <a:defRPr sz="1200" b="1">
                          <a:solidFill>
                            <a:srgbClr val="FFFFFF"/>
                          </a:solidFill>
                          <a:latin typeface="Calibri"/>
                        </a:defRPr>
                      </a:pPr>
                      <a:r>
                        <a:t>0%* /</a:t>
                      </a:r>
                    </a:p>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LOF: endpoint anomaly</a:t>
                      </a:r>
                    </a:p>
                    <a:p>
                      <a:pPr algn="ctr">
                        <a:defRPr sz="1200" b="0">
                          <a:solidFill>
                            <a:srgbClr val="0D1B2A"/>
                          </a:solidFill>
                          <a:latin typeface="Calibri"/>
                        </a:defRPr>
                      </a:pPr>
                      <a:r>
                        <a:t>Regime Shift: phase break</a:t>
                      </a:r>
                    </a:p>
                  </a:txBody>
                  <a:tcPr anchor="ctr">
                    <a:solidFill>
                      <a:srgbClr val="FFFFFF"/>
                    </a:solidFill>
                  </a:tcPr>
                </a:tc>
                <a:tc>
                  <a:txBody>
                    <a:bodyPr lIns="64008" rIns="64008" tIns="36576" bIns="36576"/>
                    <a:lstStyle/>
                    <a:p>
                      <a:pPr algn="ctr">
                        <a:defRPr sz="1200" b="0">
                          <a:solidFill>
                            <a:srgbClr val="0D1B2A"/>
                          </a:solidFill>
                          <a:latin typeface="Calibri"/>
                        </a:defRPr>
                      </a:pPr>
                      <a:r>
                        <a:t>Zone Divergence</a:t>
                      </a:r>
                    </a:p>
                    <a:p>
                      <a:pPr algn="ctr">
                        <a:defRPr sz="1200" b="0">
                          <a:solidFill>
                            <a:srgbClr val="0D1B2A"/>
                          </a:solidFill>
                          <a:latin typeface="Calibri"/>
                        </a:defRPr>
                      </a:pPr>
                      <a:r>
                        <a:t>(uniform, not zone-specific)</a:t>
                      </a:r>
                    </a:p>
                  </a:txBody>
                  <a:tcPr anchor="ctr">
                    <a:solidFill>
                      <a:srgbClr val="FFFFFF"/>
                    </a:solidFill>
                  </a:tcPr>
                </a:tc>
              </a:tr>
              <a:tr h="512064">
                <a:tc>
                  <a:txBody>
                    <a:bodyPr lIns="64008" rIns="64008" tIns="36576" bIns="36576"/>
                    <a:lstStyle/>
                    <a:p>
                      <a:pPr algn="l">
                        <a:defRPr sz="1200" b="1">
                          <a:solidFill>
                            <a:srgbClr val="FFFFFF"/>
                          </a:solidFill>
                          <a:latin typeface="Calibri"/>
                        </a:defRPr>
                      </a:pPr>
                      <a:r>
                        <a:t>Telecom</a:t>
                      </a:r>
                    </a:p>
                    <a:p>
                      <a:pPr algn="l">
                        <a:defRPr sz="1200" b="1">
                          <a:solidFill>
                            <a:srgbClr val="FFFFFF"/>
                          </a:solidFill>
                          <a:latin typeface="Calibri"/>
                        </a:defRPr>
                      </a:pPr>
                      <a:r>
                        <a:t>(USR-118)</a:t>
                      </a:r>
                    </a:p>
                  </a:txBody>
                  <a:tcPr anchor="ctr">
                    <a:solidFill>
                      <a:srgbClr val="2980B9"/>
                    </a:solidFill>
                  </a:tcPr>
                </a:tc>
                <a:tc>
                  <a:txBody>
                    <a:bodyPr lIns="64008" rIns="64008" tIns="36576" bIns="36576"/>
                    <a:lstStyle/>
                    <a:p>
                      <a:pPr algn="ctr">
                        <a:defRPr sz="1200" b="0">
                          <a:solidFill>
                            <a:srgbClr val="0D1B2A"/>
                          </a:solidFill>
                          <a:latin typeface="Calibri"/>
                        </a:defRPr>
                      </a:pPr>
                      <a:r>
                        <a:t>LOF +</a:t>
                      </a:r>
                    </a:p>
                    <a:p>
                      <a:pPr algn="ctr">
                        <a:defRPr sz="1200" b="0">
                          <a:solidFill>
                            <a:srgbClr val="0D1B2A"/>
                          </a:solidFill>
                          <a:latin typeface="Calibri"/>
                        </a:defRPr>
                      </a:pPr>
                      <a:r>
                        <a:t>Embed CUSUM</a:t>
                      </a:r>
                    </a:p>
                  </a:txBody>
                  <a:tcPr anchor="ctr">
                    <a:solidFill>
                      <a:srgbClr val="F0F2F5"/>
                    </a:solidFill>
                  </a:tcPr>
                </a:tc>
                <a:tc>
                  <a:txBody>
                    <a:bodyPr lIns="64008" rIns="64008" tIns="36576" bIns="36576"/>
                    <a:lstStyle/>
                    <a:p>
                      <a:pPr algn="ctr">
                        <a:defRPr sz="1200" b="1">
                          <a:solidFill>
                            <a:srgbClr val="FFFFFF"/>
                          </a:solidFill>
                          <a:latin typeface="Calibri"/>
                        </a:defRPr>
                      </a:pPr>
                      <a:r>
                        <a:t>0%* /</a:t>
                      </a:r>
                    </a:p>
                    <a:p>
                      <a:pPr algn="ctr">
                        <a:defRPr sz="1200" b="1">
                          <a:solidFill>
                            <a:srgbClr val="FFFFFF"/>
                          </a:solidFill>
                          <a:latin typeface="Calibri"/>
                        </a:defRPr>
                      </a:pPr>
                      <a:r>
                        <a:t>6.5%</a:t>
                      </a:r>
                    </a:p>
                  </a:txBody>
                  <a:tcPr anchor="ctr">
                    <a:solidFill>
                      <a:srgbClr val="27AE60"/>
                    </a:solidFill>
                  </a:tcPr>
                </a:tc>
                <a:tc>
                  <a:txBody>
                    <a:bodyPr lIns="64008" rIns="64008" tIns="36576" bIns="36576"/>
                    <a:lstStyle/>
                    <a:p>
                      <a:pPr algn="ctr">
                        <a:defRPr sz="1200" b="0">
                          <a:solidFill>
                            <a:srgbClr val="0D1B2A"/>
                          </a:solidFill>
                          <a:latin typeface="Calibri"/>
                        </a:defRPr>
                      </a:pPr>
                      <a:r>
                        <a:t>LOF: network footprint</a:t>
                      </a:r>
                    </a:p>
                    <a:p>
                      <a:pPr algn="ctr">
                        <a:defRPr sz="1200" b="0">
                          <a:solidFill>
                            <a:srgbClr val="0D1B2A"/>
                          </a:solidFill>
                          <a:latin typeface="Calibri"/>
                        </a:defRPr>
                      </a:pPr>
                      <a:r>
                        <a:t>CUSUM: persistent 100-day drift</a:t>
                      </a:r>
                    </a:p>
                  </a:txBody>
                  <a:tcPr anchor="ctr">
                    <a:solidFill>
                      <a:srgbClr val="F0F2F5"/>
                    </a:solidFill>
                  </a:tcPr>
                </a:tc>
                <a:tc>
                  <a:txBody>
                    <a:bodyPr lIns="64008" rIns="64008" tIns="36576" bIns="36576"/>
                    <a:lstStyle/>
                    <a:p>
                      <a:pPr algn="ctr">
                        <a:defRPr sz="1200" b="0">
                          <a:solidFill>
                            <a:srgbClr val="0D1B2A"/>
                          </a:solidFill>
                          <a:latin typeface="Calibri"/>
                        </a:defRPr>
                      </a:pPr>
                      <a:r>
                        <a:t>Zone Divergence</a:t>
                      </a:r>
                    </a:p>
                    <a:p>
                      <a:pPr algn="ctr">
                        <a:defRPr sz="1200" b="0">
                          <a:solidFill>
                            <a:srgbClr val="0D1B2A"/>
                          </a:solidFill>
                          <a:latin typeface="Calibri"/>
                        </a:defRPr>
                      </a:pPr>
                      <a:r>
                        <a:t>(broad multi-zone change)</a:t>
                      </a:r>
                    </a:p>
                  </a:txBody>
                  <a:tcPr anchor="ctr">
                    <a:solidFill>
                      <a:srgbClr val="F0F2F5"/>
                    </a:solidFill>
                  </a:tcPr>
                </a:tc>
              </a:tr>
            </a:tbl>
          </a:graphicData>
        </a:graphic>
      </p:graphicFrame>
      <p:sp>
        <p:nvSpPr>
          <p:cNvPr id="6" name="TextBox 5"/>
          <p:cNvSpPr txBox="1"/>
          <p:nvPr/>
        </p:nvSpPr>
        <p:spPr>
          <a:xfrm>
            <a:off x="457200" y="4480560"/>
            <a:ext cx="11247120" cy="320040"/>
          </a:xfrm>
          <a:prstGeom prst="rect">
            <a:avLst/>
          </a:prstGeom>
          <a:noFill/>
        </p:spPr>
        <p:txBody>
          <a:bodyPr wrap="square">
            <a:spAutoFit/>
          </a:bodyPr>
          <a:lstStyle/>
          <a:p>
            <a:pPr algn="l">
              <a:defRPr sz="1800" b="1">
                <a:solidFill>
                  <a:srgbClr val="0D1B2A"/>
                </a:solidFill>
                <a:latin typeface="Calibri"/>
              </a:defRPr>
            </a:pPr>
            <a:r>
              <a:t>Layered Deployment Strategy</a:t>
            </a:r>
          </a:p>
        </p:txBody>
      </p:sp>
      <p:sp>
        <p:nvSpPr>
          <p:cNvPr id="7" name="Rounded Rectangle 6"/>
          <p:cNvSpPr/>
          <p:nvPr/>
        </p:nvSpPr>
        <p:spPr>
          <a:xfrm>
            <a:off x="365760" y="4892040"/>
            <a:ext cx="3566160" cy="137160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4892040"/>
            <a:ext cx="356616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029200"/>
            <a:ext cx="3291840" cy="457200"/>
          </a:xfrm>
          <a:prstGeom prst="rect">
            <a:avLst/>
          </a:prstGeom>
          <a:noFill/>
        </p:spPr>
        <p:txBody>
          <a:bodyPr wrap="square">
            <a:spAutoFit/>
          </a:bodyPr>
          <a:lstStyle/>
          <a:p>
            <a:pPr algn="ctr">
              <a:defRPr sz="1500" b="1">
                <a:solidFill>
                  <a:srgbClr val="1B4F72"/>
                </a:solidFill>
                <a:latin typeface="Calibri"/>
              </a:defRPr>
            </a:pPr>
            <a:r>
              <a:t>Layer 1: Magnitude</a:t>
            </a:r>
            <a:br/>
            <a:r>
              <a:t>(LOF)</a:t>
            </a:r>
          </a:p>
        </p:txBody>
      </p:sp>
      <p:sp>
        <p:nvSpPr>
          <p:cNvPr id="10" name="TextBox 9"/>
          <p:cNvSpPr txBox="1"/>
          <p:nvPr/>
        </p:nvSpPr>
        <p:spPr>
          <a:xfrm>
            <a:off x="502920" y="5486400"/>
            <a:ext cx="3291840" cy="640080"/>
          </a:xfrm>
          <a:prstGeom prst="rect">
            <a:avLst/>
          </a:prstGeom>
          <a:noFill/>
        </p:spPr>
        <p:txBody>
          <a:bodyPr wrap="square">
            <a:spAutoFit/>
          </a:bodyPr>
          <a:lstStyle/>
          <a:p>
            <a:pPr algn="ctr">
              <a:defRPr sz="1200" b="0">
                <a:solidFill>
                  <a:srgbClr val="505050"/>
                </a:solidFill>
                <a:latin typeface="Calibri"/>
              </a:defRPr>
            </a:pPr>
            <a:r>
              <a:t>How much changed?</a:t>
            </a:r>
            <a:br/>
            <a:r>
              <a:t>Catches LOTL, Telecom, APT</a:t>
            </a:r>
            <a:br/>
            <a:r>
              <a:t>Always-on baseline</a:t>
            </a:r>
          </a:p>
        </p:txBody>
      </p:sp>
      <p:sp>
        <p:nvSpPr>
          <p:cNvPr id="11" name="Rounded Rectangle 10"/>
          <p:cNvSpPr/>
          <p:nvPr/>
        </p:nvSpPr>
        <p:spPr>
          <a:xfrm>
            <a:off x="4297680" y="4892040"/>
            <a:ext cx="3566160" cy="1371600"/>
          </a:xfrm>
          <a:prstGeom prst="roundRect">
            <a:avLst/>
          </a:prstGeom>
          <a:no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4892040"/>
            <a:ext cx="356616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5029200"/>
            <a:ext cx="3291840" cy="457200"/>
          </a:xfrm>
          <a:prstGeom prst="rect">
            <a:avLst/>
          </a:prstGeom>
          <a:noFill/>
        </p:spPr>
        <p:txBody>
          <a:bodyPr wrap="square">
            <a:spAutoFit/>
          </a:bodyPr>
          <a:lstStyle/>
          <a:p>
            <a:pPr algn="ctr">
              <a:defRPr sz="1500" b="1">
                <a:solidFill>
                  <a:srgbClr val="8E44AD"/>
                </a:solidFill>
                <a:latin typeface="Calibri"/>
              </a:defRPr>
            </a:pPr>
            <a:r>
              <a:t>Layer 2: Direction</a:t>
            </a:r>
            <a:br/>
            <a:r>
              <a:t>(Zone Divergence)</a:t>
            </a:r>
          </a:p>
        </p:txBody>
      </p:sp>
      <p:sp>
        <p:nvSpPr>
          <p:cNvPr id="14" name="TextBox 13"/>
          <p:cNvSpPr txBox="1"/>
          <p:nvPr/>
        </p:nvSpPr>
        <p:spPr>
          <a:xfrm>
            <a:off x="4434840" y="5486400"/>
            <a:ext cx="3291840" cy="640080"/>
          </a:xfrm>
          <a:prstGeom prst="rect">
            <a:avLst/>
          </a:prstGeom>
          <a:noFill/>
        </p:spPr>
        <p:txBody>
          <a:bodyPr wrap="square">
            <a:spAutoFit/>
          </a:bodyPr>
          <a:lstStyle/>
          <a:p>
            <a:pPr algn="ctr">
              <a:defRPr sz="1200" b="0">
                <a:solidFill>
                  <a:srgbClr val="505050"/>
                </a:solidFill>
                <a:latin typeface="Calibri"/>
              </a:defRPr>
            </a:pPr>
            <a:r>
              <a:t>What kind of change?</a:t>
            </a:r>
            <a:br/>
            <a:r>
              <a:t>Catches Insider, APT</a:t>
            </a:r>
            <a:br/>
            <a:r>
              <a:t>Zone-decomposed drift</a:t>
            </a:r>
          </a:p>
        </p:txBody>
      </p:sp>
      <p:sp>
        <p:nvSpPr>
          <p:cNvPr id="15" name="Rounded Rectangle 14"/>
          <p:cNvSpPr/>
          <p:nvPr/>
        </p:nvSpPr>
        <p:spPr>
          <a:xfrm>
            <a:off x="8229600" y="4892040"/>
            <a:ext cx="3566160" cy="137160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4892040"/>
            <a:ext cx="356616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5029200"/>
            <a:ext cx="3291840" cy="457200"/>
          </a:xfrm>
          <a:prstGeom prst="rect">
            <a:avLst/>
          </a:prstGeom>
          <a:noFill/>
        </p:spPr>
        <p:txBody>
          <a:bodyPr wrap="square">
            <a:spAutoFit/>
          </a:bodyPr>
          <a:lstStyle/>
          <a:p>
            <a:pPr algn="ctr">
              <a:defRPr sz="1500" b="1">
                <a:solidFill>
                  <a:srgbClr val="0E6B8A"/>
                </a:solidFill>
                <a:latin typeface="Calibri"/>
              </a:defRPr>
            </a:pPr>
            <a:r>
              <a:t>Layer 3: Accumulation</a:t>
            </a:r>
            <a:br/>
            <a:r>
              <a:t>(CUSUM + Regime)</a:t>
            </a:r>
          </a:p>
        </p:txBody>
      </p:sp>
      <p:sp>
        <p:nvSpPr>
          <p:cNvPr id="18" name="TextBox 17"/>
          <p:cNvSpPr txBox="1"/>
          <p:nvPr/>
        </p:nvSpPr>
        <p:spPr>
          <a:xfrm>
            <a:off x="8366760" y="5486400"/>
            <a:ext cx="3291840" cy="640080"/>
          </a:xfrm>
          <a:prstGeom prst="rect">
            <a:avLst/>
          </a:prstGeom>
          <a:noFill/>
        </p:spPr>
        <p:txBody>
          <a:bodyPr wrap="square">
            <a:spAutoFit/>
          </a:bodyPr>
          <a:lstStyle/>
          <a:p>
            <a:pPr algn="ctr">
              <a:defRPr sz="1200" b="0">
                <a:solidFill>
                  <a:srgbClr val="505050"/>
                </a:solidFill>
                <a:latin typeface="Calibri"/>
              </a:defRPr>
            </a:pPr>
            <a:r>
              <a:t>How long has it persisted?</a:t>
            </a:r>
            <a:br/>
            <a:r>
              <a:t>Catches long campaigns</a:t>
            </a:r>
            <a:br/>
            <a:r>
              <a:t>Phase change detection</a:t>
            </a:r>
          </a:p>
        </p:txBody>
      </p:sp>
      <p:sp>
        <p:nvSpPr>
          <p:cNvPr id="19" name="Rounded Rectangle 18"/>
          <p:cNvSpPr/>
          <p:nvPr/>
        </p:nvSpPr>
        <p:spPr>
          <a:xfrm>
            <a:off x="365760" y="6355080"/>
            <a:ext cx="11430000" cy="32004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B7950B"/>
                </a:solidFill>
                <a:latin typeface="Calibri"/>
              </a:defRPr>
            </a:pPr>
            <a:r>
              <a:t>Minimum viable deployment: LOF + Zone Divergence → all 4 threats detected at 6.5% FP</a:t>
            </a:r>
          </a:p>
        </p:txBody>
      </p:sp>
      <p:sp>
        <p:nvSpPr>
          <p:cNvPr id="20" name="TextBox 19"/>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Tier 1 Algorithm Parameters &amp; Input Features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400" b="0">
                <a:solidFill>
                  <a:srgbClr val="505050"/>
                </a:solidFill>
                <a:latin typeface="Calibri"/>
              </a:defRPr>
            </a:pPr>
            <a:r>
              <a:t>All 6 Tier 1 algorithms operate on the same 23 behavioral features extracted from 5 log sources. Each algorithm applies a different mathematical approach to find anomalies.</a:t>
            </a:r>
          </a:p>
        </p:txBody>
      </p:sp>
      <p:graphicFrame>
        <p:nvGraphicFramePr>
          <p:cNvPr id="5" name="Table 4"/>
          <p:cNvGraphicFramePr>
            <a:graphicFrameLocks noGrp="1"/>
          </p:cNvGraphicFramePr>
          <p:nvPr/>
        </p:nvGraphicFramePr>
        <p:xfrm>
          <a:off x="274320" y="1691640"/>
          <a:ext cx="11612880" cy="2926080"/>
        </p:xfrm>
        <a:graphic>
          <a:graphicData uri="http://schemas.openxmlformats.org/drawingml/2006/table">
            <a:tbl>
              <a:tblPr firstRow="1" bandRow="1">
                <a:tableStyleId>{5C22544A-7EE6-4342-B048-85BDC9FD1C3A}</a:tableStyleId>
              </a:tblPr>
              <a:tblGrid>
                <a:gridCol w="1463040"/>
                <a:gridCol w="1097280"/>
                <a:gridCol w="2560320"/>
                <a:gridCol w="2560320"/>
                <a:gridCol w="3931920"/>
              </a:tblGrid>
              <a:tr h="418011">
                <a:tc>
                  <a:txBody>
                    <a:bodyPr lIns="64008" rIns="64008" tIns="36576" bIns="36576"/>
                    <a:lstStyle/>
                    <a:p>
                      <a:pPr algn="ctr">
                        <a:defRPr sz="1200" b="1">
                          <a:solidFill>
                            <a:srgbClr val="FFFFFF"/>
                          </a:solidFill>
                          <a:latin typeface="Calibri"/>
                        </a:defRPr>
                      </a:pPr>
                      <a:r>
                        <a:t>Algorithm</a:t>
                      </a:r>
                    </a:p>
                  </a:txBody>
                  <a:tcPr anchor="ctr">
                    <a:solidFill>
                      <a:srgbClr val="0D1B2A"/>
                    </a:solidFill>
                  </a:tcPr>
                </a:tc>
                <a:tc>
                  <a:txBody>
                    <a:bodyPr lIns="64008" rIns="64008" tIns="36576" bIns="36576"/>
                    <a:lstStyle/>
                    <a:p>
                      <a:pPr algn="ctr">
                        <a:defRPr sz="1200" b="1">
                          <a:solidFill>
                            <a:srgbClr val="FFFFFF"/>
                          </a:solidFill>
                          <a:latin typeface="Calibri"/>
                        </a:defRPr>
                      </a:pPr>
                      <a:r>
                        <a:t>Type</a:t>
                      </a:r>
                    </a:p>
                  </a:txBody>
                  <a:tcPr anchor="ctr">
                    <a:solidFill>
                      <a:srgbClr val="0D1B2A"/>
                    </a:solidFill>
                  </a:tcPr>
                </a:tc>
                <a:tc>
                  <a:txBody>
                    <a:bodyPr lIns="64008" rIns="64008" tIns="36576" bIns="36576"/>
                    <a:lstStyle/>
                    <a:p>
                      <a:pPr algn="ctr">
                        <a:defRPr sz="1200" b="1">
                          <a:solidFill>
                            <a:srgbClr val="FFFFFF"/>
                          </a:solidFill>
                          <a:latin typeface="Calibri"/>
                        </a:defRPr>
                      </a:pPr>
                      <a:r>
                        <a:t>Key Parameters</a:t>
                      </a:r>
                    </a:p>
                  </a:txBody>
                  <a:tcPr anchor="ctr">
                    <a:solidFill>
                      <a:srgbClr val="0D1B2A"/>
                    </a:solidFill>
                  </a:tcPr>
                </a:tc>
                <a:tc>
                  <a:txBody>
                    <a:bodyPr lIns="64008" rIns="64008" tIns="36576" bIns="36576"/>
                    <a:lstStyle/>
                    <a:p>
                      <a:pPr algn="ctr">
                        <a:defRPr sz="1200" b="1">
                          <a:solidFill>
                            <a:srgbClr val="FFFFFF"/>
                          </a:solidFill>
                          <a:latin typeface="Calibri"/>
                        </a:defRPr>
                      </a:pPr>
                      <a:r>
                        <a:t>Input</a:t>
                      </a:r>
                    </a:p>
                  </a:txBody>
                  <a:tcPr anchor="ctr">
                    <a:solidFill>
                      <a:srgbClr val="0D1B2A"/>
                    </a:solidFill>
                  </a:tcPr>
                </a:tc>
                <a:tc>
                  <a:txBody>
                    <a:bodyPr lIns="64008" rIns="64008" tIns="36576" bIns="36576"/>
                    <a:lstStyle/>
                    <a:p>
                      <a:pPr algn="ctr">
                        <a:defRPr sz="1200" b="1">
                          <a:solidFill>
                            <a:srgbClr val="FFFFFF"/>
                          </a:solidFill>
                          <a:latin typeface="Calibri"/>
                        </a:defRPr>
                      </a:pPr>
                      <a:r>
                        <a:t>Detection Rule</a:t>
                      </a:r>
                    </a:p>
                  </a:txBody>
                  <a:tcPr anchor="ctr">
                    <a:solidFill>
                      <a:srgbClr val="0D1B2A"/>
                    </a:solidFill>
                  </a:tcPr>
                </a:tc>
              </a:tr>
              <a:tr h="418011">
                <a:tc>
                  <a:txBody>
                    <a:bodyPr lIns="64008" rIns="64008" tIns="36576" bIns="36576"/>
                    <a:lstStyle/>
                    <a:p>
                      <a:pPr algn="l">
                        <a:defRPr sz="1100" b="0">
                          <a:solidFill>
                            <a:srgbClr val="0D1B2A"/>
                          </a:solidFill>
                          <a:latin typeface="Calibri"/>
                        </a:defRPr>
                      </a:pPr>
                      <a:r>
                        <a:t>Isolation</a:t>
                      </a:r>
                    </a:p>
                    <a:p>
                      <a:pPr algn="l">
                        <a:defRPr sz="1100" b="0">
                          <a:solidFill>
                            <a:srgbClr val="0D1B2A"/>
                          </a:solidFill>
                          <a:latin typeface="Calibri"/>
                        </a:defRPr>
                      </a:pPr>
                      <a:r>
                        <a:t>Forest</a:t>
                      </a:r>
                    </a:p>
                  </a:txBody>
                  <a:tcPr anchor="ctr">
                    <a:solidFill>
                      <a:srgbClr val="FFFFFF"/>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200 trees</a:t>
                      </a:r>
                    </a:p>
                    <a:p>
                      <a:pPr algn="ctr">
                        <a:defRPr sz="1100" b="0">
                          <a:solidFill>
                            <a:srgbClr val="0D1B2A"/>
                          </a:solidFill>
                          <a:latin typeface="Calibri"/>
                        </a:defRPr>
                      </a:pPr>
                      <a:r>
                        <a:t>5% anomaly budget</a:t>
                      </a:r>
                    </a:p>
                  </a:txBody>
                  <a:tcPr anchor="ctr">
                    <a:solidFill>
                      <a:srgbClr val="FFFFFF"/>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FFFFF"/>
                    </a:solidFill>
                  </a:tcPr>
                </a:tc>
                <a:tc>
                  <a:txBody>
                    <a:bodyPr lIns="64008" rIns="64008" tIns="36576" bIns="36576"/>
                    <a:lstStyle/>
                    <a:p>
                      <a:pPr algn="ctr">
                        <a:defRPr sz="1100" b="0">
                          <a:solidFill>
                            <a:srgbClr val="0D1B2A"/>
                          </a:solidFill>
                          <a:latin typeface="Calibri"/>
                        </a:defRPr>
                      </a:pPr>
                      <a:r>
                        <a:t>Partition outliers</a:t>
                      </a:r>
                    </a:p>
                    <a:p>
                      <a:pPr algn="ctr">
                        <a:defRPr sz="1100" b="0">
                          <a:solidFill>
                            <a:srgbClr val="0D1B2A"/>
                          </a:solidFill>
                          <a:latin typeface="Calibri"/>
                        </a:defRPr>
                      </a:pPr>
                      <a:r>
                        <a:t>that isolate quickly</a:t>
                      </a:r>
                    </a:p>
                  </a:txBody>
                  <a:tcPr anchor="ctr">
                    <a:solidFill>
                      <a:srgbClr val="FFFFFF"/>
                    </a:solidFill>
                  </a:tcPr>
                </a:tc>
              </a:tr>
              <a:tr h="418011">
                <a:tc>
                  <a:txBody>
                    <a:bodyPr lIns="64008" rIns="64008" tIns="36576" bIns="36576"/>
                    <a:lstStyle/>
                    <a:p>
                      <a:pPr algn="l">
                        <a:defRPr sz="1100" b="0">
                          <a:solidFill>
                            <a:srgbClr val="0D1B2A"/>
                          </a:solidFill>
                          <a:latin typeface="Calibri"/>
                        </a:defRPr>
                      </a:pPr>
                      <a:r>
                        <a:t>One-Class</a:t>
                      </a:r>
                    </a:p>
                    <a:p>
                      <a:pPr algn="l">
                        <a:defRPr sz="1100" b="0">
                          <a:solidFill>
                            <a:srgbClr val="0D1B2A"/>
                          </a:solidFill>
                          <a:latin typeface="Calibri"/>
                        </a:defRPr>
                      </a:pPr>
                      <a:r>
                        <a:t>SVM</a:t>
                      </a:r>
                    </a:p>
                  </a:txBody>
                  <a:tcPr anchor="ctr">
                    <a:solidFill>
                      <a:srgbClr val="F0F2F5"/>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RBF kernel</a:t>
                      </a:r>
                    </a:p>
                    <a:p>
                      <a:pPr algn="ctr">
                        <a:defRPr sz="1100" b="0">
                          <a:solidFill>
                            <a:srgbClr val="0D1B2A"/>
                          </a:solidFill>
                          <a:latin typeface="Calibri"/>
                        </a:defRPr>
                      </a:pPr>
                      <a:r>
                        <a:t>5% outlier fraction</a:t>
                      </a:r>
                    </a:p>
                  </a:txBody>
                  <a:tcPr anchor="ctr">
                    <a:solidFill>
                      <a:srgbClr val="F0F2F5"/>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0F2F5"/>
                    </a:solidFill>
                  </a:tcPr>
                </a:tc>
                <a:tc>
                  <a:txBody>
                    <a:bodyPr lIns="64008" rIns="64008" tIns="36576" bIns="36576"/>
                    <a:lstStyle/>
                    <a:p>
                      <a:pPr algn="ctr">
                        <a:defRPr sz="1100" b="0">
                          <a:solidFill>
                            <a:srgbClr val="0D1B2A"/>
                          </a:solidFill>
                          <a:latin typeface="Calibri"/>
                        </a:defRPr>
                      </a:pPr>
                      <a:r>
                        <a:t>Outside learned</a:t>
                      </a:r>
                    </a:p>
                    <a:p>
                      <a:pPr algn="ctr">
                        <a:defRPr sz="1100" b="0">
                          <a:solidFill>
                            <a:srgbClr val="0D1B2A"/>
                          </a:solidFill>
                          <a:latin typeface="Calibri"/>
                        </a:defRPr>
                      </a:pPr>
                      <a:r>
                        <a:t>normality boundary</a:t>
                      </a:r>
                    </a:p>
                  </a:txBody>
                  <a:tcPr anchor="ctr">
                    <a:solidFill>
                      <a:srgbClr val="F0F2F5"/>
                    </a:solidFill>
                  </a:tcPr>
                </a:tc>
              </a:tr>
              <a:tr h="418011">
                <a:tc>
                  <a:txBody>
                    <a:bodyPr lIns="64008" rIns="64008" tIns="36576" bIns="36576"/>
                    <a:lstStyle/>
                    <a:p>
                      <a:pPr algn="l">
                        <a:defRPr sz="1100" b="0">
                          <a:solidFill>
                            <a:srgbClr val="0D1B2A"/>
                          </a:solidFill>
                          <a:latin typeface="Calibri"/>
                        </a:defRPr>
                      </a:pPr>
                      <a:r>
                        <a:t>LOF</a:t>
                      </a:r>
                    </a:p>
                  </a:txBody>
                  <a:tcPr anchor="ctr">
                    <a:solidFill>
                      <a:srgbClr val="FFFFFF"/>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20 neighbors</a:t>
                      </a:r>
                    </a:p>
                    <a:p>
                      <a:pPr algn="ctr">
                        <a:defRPr sz="1100" b="0">
                          <a:solidFill>
                            <a:srgbClr val="0D1B2A"/>
                          </a:solidFill>
                          <a:latin typeface="Calibri"/>
                        </a:defRPr>
                      </a:pPr>
                      <a:r>
                        <a:t>5% anomaly budget</a:t>
                      </a:r>
                    </a:p>
                  </a:txBody>
                  <a:tcPr anchor="ctr">
                    <a:solidFill>
                      <a:srgbClr val="FFFFFF"/>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FFFFF"/>
                    </a:solidFill>
                  </a:tcPr>
                </a:tc>
                <a:tc>
                  <a:txBody>
                    <a:bodyPr lIns="64008" rIns="64008" tIns="36576" bIns="36576"/>
                    <a:lstStyle/>
                    <a:p>
                      <a:pPr algn="ctr">
                        <a:defRPr sz="1100" b="0">
                          <a:solidFill>
                            <a:srgbClr val="0D1B2A"/>
                          </a:solidFill>
                          <a:latin typeface="Calibri"/>
                        </a:defRPr>
                      </a:pPr>
                      <a:r>
                        <a:t>Low local density</a:t>
                      </a:r>
                    </a:p>
                    <a:p>
                      <a:pPr algn="ctr">
                        <a:defRPr sz="1100" b="0">
                          <a:solidFill>
                            <a:srgbClr val="0D1B2A"/>
                          </a:solidFill>
                          <a:latin typeface="Calibri"/>
                        </a:defRPr>
                      </a:pPr>
                      <a:r>
                        <a:t>vs neighbors</a:t>
                      </a:r>
                    </a:p>
                  </a:txBody>
                  <a:tcPr anchor="ctr">
                    <a:solidFill>
                      <a:srgbClr val="FFFFFF"/>
                    </a:solidFill>
                  </a:tcPr>
                </a:tc>
              </a:tr>
              <a:tr h="418011">
                <a:tc>
                  <a:txBody>
                    <a:bodyPr lIns="64008" rIns="64008" tIns="36576" bIns="36576"/>
                    <a:lstStyle/>
                    <a:p>
                      <a:pPr algn="l">
                        <a:defRPr sz="1100" b="0">
                          <a:solidFill>
                            <a:srgbClr val="0D1B2A"/>
                          </a:solidFill>
                          <a:latin typeface="Calibri"/>
                        </a:defRPr>
                      </a:pPr>
                      <a:r>
                        <a:t>Z-Score</a:t>
                      </a:r>
                    </a:p>
                  </a:txBody>
                  <a:tcPr anchor="ctr">
                    <a:solidFill>
                      <a:srgbClr val="F0F2F5"/>
                    </a:solidFill>
                  </a:tcPr>
                </a:tc>
                <a:tc>
                  <a:txBody>
                    <a:bodyPr lIns="64008" rIns="64008" tIns="36576" bIns="36576"/>
                    <a:lstStyle/>
                    <a:p>
                      <a:pPr algn="ctr">
                        <a:defRPr sz="1100" b="1">
                          <a:solidFill>
                            <a:srgbClr val="FFFFFF"/>
                          </a:solidFill>
                          <a:latin typeface="Calibri"/>
                        </a:defRPr>
                      </a:pPr>
                      <a:r>
                        <a:t>Static</a:t>
                      </a:r>
                    </a:p>
                  </a:txBody>
                  <a:tcPr anchor="ctr">
                    <a:solidFill>
                      <a:srgbClr val="0E6B8A"/>
                    </a:solidFill>
                  </a:tcPr>
                </a:tc>
                <a:tc>
                  <a:txBody>
                    <a:bodyPr lIns="64008" rIns="64008" tIns="36576" bIns="36576"/>
                    <a:lstStyle/>
                    <a:p>
                      <a:pPr algn="ctr">
                        <a:defRPr sz="1100" b="0">
                          <a:solidFill>
                            <a:srgbClr val="0D1B2A"/>
                          </a:solidFill>
                          <a:latin typeface="Calibri"/>
                        </a:defRPr>
                      </a:pPr>
                      <a:r>
                        <a:t>3-sigma threshold</a:t>
                      </a:r>
                    </a:p>
                  </a:txBody>
                  <a:tcPr anchor="ctr">
                    <a:solidFill>
                      <a:srgbClr val="F0F2F5"/>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(normalized)</a:t>
                      </a:r>
                    </a:p>
                  </a:txBody>
                  <a:tcPr anchor="ctr">
                    <a:solidFill>
                      <a:srgbClr val="F0F2F5"/>
                    </a:solidFill>
                  </a:tcPr>
                </a:tc>
                <a:tc>
                  <a:txBody>
                    <a:bodyPr lIns="64008" rIns="64008" tIns="36576" bIns="36576"/>
                    <a:lstStyle/>
                    <a:p>
                      <a:pPr algn="ctr">
                        <a:defRPr sz="1100" b="0">
                          <a:solidFill>
                            <a:srgbClr val="0D1B2A"/>
                          </a:solidFill>
                          <a:latin typeface="Calibri"/>
                        </a:defRPr>
                      </a:pPr>
                      <a:r>
                        <a:t>Any feature</a:t>
                      </a:r>
                    </a:p>
                    <a:p>
                      <a:pPr algn="ctr">
                        <a:defRPr sz="1100" b="0">
                          <a:solidFill>
                            <a:srgbClr val="0D1B2A"/>
                          </a:solidFill>
                          <a:latin typeface="Calibri"/>
                        </a:defRPr>
                      </a:pPr>
                      <a:r>
                        <a:t>&gt; 3 std dev</a:t>
                      </a:r>
                    </a:p>
                  </a:txBody>
                  <a:tcPr anchor="ctr">
                    <a:solidFill>
                      <a:srgbClr val="F0F2F5"/>
                    </a:solidFill>
                  </a:tcPr>
                </a:tc>
              </a:tr>
              <a:tr h="418011">
                <a:tc>
                  <a:txBody>
                    <a:bodyPr lIns="64008" rIns="64008" tIns="36576" bIns="36576"/>
                    <a:lstStyle/>
                    <a:p>
                      <a:pPr algn="l">
                        <a:defRPr sz="1100" b="0">
                          <a:solidFill>
                            <a:srgbClr val="0D1B2A"/>
                          </a:solidFill>
                          <a:latin typeface="Calibri"/>
                        </a:defRPr>
                      </a:pPr>
                      <a:r>
                        <a:t>Temporal</a:t>
                      </a:r>
                    </a:p>
                    <a:p>
                      <a:pPr algn="l">
                        <a:defRPr sz="1100" b="0">
                          <a:solidFill>
                            <a:srgbClr val="0D1B2A"/>
                          </a:solidFill>
                          <a:latin typeface="Calibri"/>
                        </a:defRPr>
                      </a:pPr>
                      <a:r>
                        <a:t>Z-Score</a:t>
                      </a:r>
                    </a:p>
                  </a:txBody>
                  <a:tcPr anchor="ctr">
                    <a:solidFill>
                      <a:srgbClr val="FFFFFF"/>
                    </a:solidFill>
                  </a:tcPr>
                </a:tc>
                <a:tc>
                  <a:txBody>
                    <a:bodyPr lIns="64008" rIns="64008" tIns="36576" bIns="36576"/>
                    <a:lstStyle/>
                    <a:p>
                      <a:pPr algn="ctr">
                        <a:defRPr sz="1100" b="1">
                          <a:solidFill>
                            <a:srgbClr val="FFFFFF"/>
                          </a:solidFill>
                          <a:latin typeface="Calibri"/>
                        </a:defRPr>
                      </a:pPr>
                      <a:r>
                        <a:t>Temporal</a:t>
                      </a:r>
                    </a:p>
                  </a:txBody>
                  <a:tcPr anchor="ctr">
                    <a:solidFill>
                      <a:srgbClr val="1B4F72"/>
                    </a:solidFill>
                  </a:tcPr>
                </a:tc>
                <a:tc>
                  <a:txBody>
                    <a:bodyPr lIns="64008" rIns="64008" tIns="36576" bIns="36576"/>
                    <a:lstStyle/>
                    <a:p>
                      <a:pPr algn="ctr">
                        <a:defRPr sz="1100" b="0">
                          <a:solidFill>
                            <a:srgbClr val="0D1B2A"/>
                          </a:solidFill>
                          <a:latin typeface="Calibri"/>
                        </a:defRPr>
                      </a:pPr>
                      <a:r>
                        <a:t>50/50 train/test split</a:t>
                      </a:r>
                    </a:p>
                    <a:p>
                      <a:pPr algn="ctr">
                        <a:defRPr sz="1100" b="0">
                          <a:solidFill>
                            <a:srgbClr val="0D1B2A"/>
                          </a:solidFill>
                          <a:latin typeface="Calibri"/>
                        </a:defRPr>
                      </a:pPr>
                      <a:r>
                        <a:t>3-sigma threshold</a:t>
                      </a:r>
                    </a:p>
                  </a:txBody>
                  <a:tcPr anchor="ctr">
                    <a:solidFill>
                      <a:srgbClr val="FFFFFF"/>
                    </a:solidFill>
                  </a:tcPr>
                </a:tc>
                <a:tc>
                  <a:txBody>
                    <a:bodyPr lIns="64008" rIns="64008" tIns="36576" bIns="36576"/>
                    <a:lstStyle/>
                    <a:p>
                      <a:pPr algn="ctr">
                        <a:defRPr sz="1100" b="0">
                          <a:solidFill>
                            <a:srgbClr val="0D1B2A"/>
                          </a:solidFill>
                          <a:latin typeface="Calibri"/>
                        </a:defRPr>
                      </a:pPr>
                      <a:r>
                        <a:t>23 features</a:t>
                      </a:r>
                    </a:p>
                    <a:p>
                      <a:pPr algn="ctr">
                        <a:defRPr sz="1100" b="0">
                          <a:solidFill>
                            <a:srgbClr val="0D1B2A"/>
                          </a:solidFill>
                          <a:latin typeface="Calibri"/>
                        </a:defRPr>
                      </a:pPr>
                      <a:r>
                        <a:t>per week</a:t>
                      </a:r>
                    </a:p>
                  </a:txBody>
                  <a:tcPr anchor="ctr">
                    <a:solidFill>
                      <a:srgbClr val="FFFFFF"/>
                    </a:solidFill>
                  </a:tcPr>
                </a:tc>
                <a:tc>
                  <a:txBody>
                    <a:bodyPr lIns="64008" rIns="64008" tIns="36576" bIns="36576"/>
                    <a:lstStyle/>
                    <a:p>
                      <a:pPr algn="ctr">
                        <a:defRPr sz="1100" b="0">
                          <a:solidFill>
                            <a:srgbClr val="0D1B2A"/>
                          </a:solidFill>
                          <a:latin typeface="Calibri"/>
                        </a:defRPr>
                      </a:pPr>
                      <a:r>
                        <a:t>Test-period deviation</a:t>
                      </a:r>
                    </a:p>
                    <a:p>
                      <a:pPr algn="ctr">
                        <a:defRPr sz="1100" b="0">
                          <a:solidFill>
                            <a:srgbClr val="0D1B2A"/>
                          </a:solidFill>
                          <a:latin typeface="Calibri"/>
                        </a:defRPr>
                      </a:pPr>
                      <a:r>
                        <a:t>from own baseline</a:t>
                      </a:r>
                    </a:p>
                  </a:txBody>
                  <a:tcPr anchor="ctr">
                    <a:solidFill>
                      <a:srgbClr val="FFFFFF"/>
                    </a:solidFill>
                  </a:tcPr>
                </a:tc>
              </a:tr>
              <a:tr h="418014">
                <a:tc>
                  <a:txBody>
                    <a:bodyPr lIns="64008" rIns="64008" tIns="36576" bIns="36576"/>
                    <a:lstStyle/>
                    <a:p>
                      <a:pPr algn="l">
                        <a:defRPr sz="1100" b="0">
                          <a:solidFill>
                            <a:srgbClr val="0D1B2A"/>
                          </a:solidFill>
                          <a:latin typeface="Calibri"/>
                        </a:defRPr>
                      </a:pPr>
                      <a:r>
                        <a:t>Feature</a:t>
                      </a:r>
                    </a:p>
                    <a:p>
                      <a:pPr algn="l">
                        <a:defRPr sz="1100" b="0">
                          <a:solidFill>
                            <a:srgbClr val="0D1B2A"/>
                          </a:solidFill>
                          <a:latin typeface="Calibri"/>
                        </a:defRPr>
                      </a:pPr>
                      <a:r>
                        <a:t>Trajectory</a:t>
                      </a:r>
                    </a:p>
                  </a:txBody>
                  <a:tcPr anchor="ctr">
                    <a:solidFill>
                      <a:srgbClr val="F0F2F5"/>
                    </a:solidFill>
                  </a:tcPr>
                </a:tc>
                <a:tc>
                  <a:txBody>
                    <a:bodyPr lIns="64008" rIns="64008" tIns="36576" bIns="36576"/>
                    <a:lstStyle/>
                    <a:p>
                      <a:pPr algn="ctr">
                        <a:defRPr sz="1100" b="1">
                          <a:solidFill>
                            <a:srgbClr val="FFFFFF"/>
                          </a:solidFill>
                          <a:latin typeface="Calibri"/>
                        </a:defRPr>
                      </a:pPr>
                      <a:r>
                        <a:t>Temporal</a:t>
                      </a:r>
                    </a:p>
                  </a:txBody>
                  <a:tcPr anchor="ctr">
                    <a:solidFill>
                      <a:srgbClr val="1B4F72"/>
                    </a:solidFill>
                  </a:tcPr>
                </a:tc>
                <a:tc>
                  <a:txBody>
                    <a:bodyPr lIns="64008" rIns="64008" tIns="36576" bIns="36576"/>
                    <a:lstStyle/>
                    <a:p>
                      <a:pPr algn="ctr">
                        <a:defRPr sz="1100" b="0">
                          <a:solidFill>
                            <a:srgbClr val="0D1B2A"/>
                          </a:solidFill>
                          <a:latin typeface="Calibri"/>
                        </a:defRPr>
                      </a:pPr>
                      <a:r>
                        <a:t>Cumulative drift</a:t>
                      </a:r>
                    </a:p>
                    <a:p>
                      <a:pPr algn="ctr">
                        <a:defRPr sz="1100" b="0">
                          <a:solidFill>
                            <a:srgbClr val="0D1B2A"/>
                          </a:solidFill>
                          <a:latin typeface="Calibri"/>
                        </a:defRPr>
                      </a:pPr>
                      <a:r>
                        <a:t>3-week minimum run</a:t>
                      </a:r>
                    </a:p>
                  </a:txBody>
                  <a:tcPr anchor="ctr">
                    <a:solidFill>
                      <a:srgbClr val="F0F2F5"/>
                    </a:solidFill>
                  </a:tcPr>
                </a:tc>
                <a:tc>
                  <a:txBody>
                    <a:bodyPr lIns="64008" rIns="64008" tIns="36576" bIns="36576"/>
                    <a:lstStyle/>
                    <a:p>
                      <a:pPr algn="ctr">
                        <a:defRPr sz="1100" b="0">
                          <a:solidFill>
                            <a:srgbClr val="0D1B2A"/>
                          </a:solidFill>
                          <a:latin typeface="Calibri"/>
                        </a:defRPr>
                      </a:pPr>
                      <a:r>
                        <a:t>Weekly composite</a:t>
                      </a:r>
                    </a:p>
                    <a:p>
                      <a:pPr algn="ctr">
                        <a:defRPr sz="1100" b="0">
                          <a:solidFill>
                            <a:srgbClr val="0D1B2A"/>
                          </a:solidFill>
                          <a:latin typeface="Calibri"/>
                        </a:defRPr>
                      </a:pPr>
                      <a:r>
                        <a:t>feature drift</a:t>
                      </a:r>
                    </a:p>
                  </a:txBody>
                  <a:tcPr anchor="ctr">
                    <a:solidFill>
                      <a:srgbClr val="F0F2F5"/>
                    </a:solidFill>
                  </a:tcPr>
                </a:tc>
                <a:tc>
                  <a:txBody>
                    <a:bodyPr lIns="64008" rIns="64008" tIns="36576" bIns="36576"/>
                    <a:lstStyle/>
                    <a:p>
                      <a:pPr algn="ctr">
                        <a:defRPr sz="1100" b="0">
                          <a:solidFill>
                            <a:srgbClr val="0D1B2A"/>
                          </a:solidFill>
                          <a:latin typeface="Calibri"/>
                        </a:defRPr>
                      </a:pPr>
                      <a:r>
                        <a:t>Top 10% by</a:t>
                      </a:r>
                    </a:p>
                    <a:p>
                      <a:pPr algn="ctr">
                        <a:defRPr sz="1100" b="0">
                          <a:solidFill>
                            <a:srgbClr val="0D1B2A"/>
                          </a:solidFill>
                          <a:latin typeface="Calibri"/>
                        </a:defRPr>
                      </a:pPr>
                      <a:r>
                        <a:t>accumulated change</a:t>
                      </a:r>
                    </a:p>
                  </a:txBody>
                  <a:tcPr anchor="ctr">
                    <a:solidFill>
                      <a:srgbClr val="F0F2F5"/>
                    </a:solidFill>
                  </a:tcPr>
                </a:tc>
              </a:tr>
            </a:tbl>
          </a:graphicData>
        </a:graphic>
      </p:graphicFrame>
      <p:sp>
        <p:nvSpPr>
          <p:cNvPr id="6" name="TextBox 5"/>
          <p:cNvSpPr txBox="1"/>
          <p:nvPr/>
        </p:nvSpPr>
        <p:spPr>
          <a:xfrm>
            <a:off x="457200" y="4754880"/>
            <a:ext cx="11247120" cy="320040"/>
          </a:xfrm>
          <a:prstGeom prst="rect">
            <a:avLst/>
          </a:prstGeom>
          <a:noFill/>
        </p:spPr>
        <p:txBody>
          <a:bodyPr wrap="square">
            <a:spAutoFit/>
          </a:bodyPr>
          <a:lstStyle/>
          <a:p>
            <a:pPr algn="l">
              <a:defRPr sz="1700" b="1">
                <a:solidFill>
                  <a:srgbClr val="0D1B2A"/>
                </a:solidFill>
                <a:latin typeface="Calibri"/>
              </a:defRPr>
            </a:pPr>
            <a:r>
              <a:t>23 Input Features by Log Source</a:t>
            </a:r>
          </a:p>
        </p:txBody>
      </p:sp>
      <p:sp>
        <p:nvSpPr>
          <p:cNvPr id="7" name="Rounded Rectangle 6"/>
          <p:cNvSpPr/>
          <p:nvPr/>
        </p:nvSpPr>
        <p:spPr>
          <a:xfrm>
            <a:off x="274320" y="5120640"/>
            <a:ext cx="2743200" cy="1463040"/>
          </a:xfrm>
          <a:prstGeom prst="roundRect">
            <a:avLst/>
          </a:prstGeom>
          <a:noFill/>
          <a:ln w="25400">
            <a:solidFill>
              <a:srgbClr val="0E6B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5120640"/>
            <a:ext cx="2743200" cy="54864"/>
          </a:xfrm>
          <a:prstGeom prst="rect">
            <a:avLst/>
          </a:prstGeom>
          <a:solidFill>
            <a:srgbClr val="0E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5230368"/>
            <a:ext cx="2560320" cy="320040"/>
          </a:xfrm>
          <a:prstGeom prst="rect">
            <a:avLst/>
          </a:prstGeom>
          <a:noFill/>
        </p:spPr>
        <p:txBody>
          <a:bodyPr wrap="square">
            <a:spAutoFit/>
          </a:bodyPr>
          <a:lstStyle/>
          <a:p>
            <a:pPr algn="ctr">
              <a:defRPr sz="1400" b="1">
                <a:solidFill>
                  <a:srgbClr val="0E6B8A"/>
                </a:solidFill>
                <a:latin typeface="Calibri"/>
              </a:defRPr>
            </a:pPr>
            <a:r>
              <a:t>Authentication (7)</a:t>
            </a:r>
          </a:p>
        </p:txBody>
      </p:sp>
      <p:sp>
        <p:nvSpPr>
          <p:cNvPr id="10" name="TextBox 9"/>
          <p:cNvSpPr txBox="1"/>
          <p:nvPr/>
        </p:nvSpPr>
        <p:spPr>
          <a:xfrm>
            <a:off x="411480" y="5577840"/>
            <a:ext cx="2468880" cy="914400"/>
          </a:xfrm>
          <a:prstGeom prst="rect">
            <a:avLst/>
          </a:prstGeom>
          <a:noFill/>
        </p:spPr>
        <p:txBody>
          <a:bodyPr wrap="square">
            <a:spAutoFit/>
          </a:bodyPr>
          <a:lstStyle/>
          <a:p>
            <a:pPr algn="l">
              <a:defRPr sz="1100" b="0">
                <a:solidFill>
                  <a:srgbClr val="505050"/>
                </a:solidFill>
                <a:latin typeface="Calibri"/>
              </a:defRPr>
            </a:pPr>
            <a:r>
              <a:t>auth_total, auth_failed,</a:t>
            </a:r>
            <a:br/>
            <a:r>
              <a:t>fail_rate, off_hours,</a:t>
            </a:r>
            <a:br/>
            <a:r>
              <a:t>unique_sources,</a:t>
            </a:r>
            <a:br/>
            <a:r>
              <a:t>unique_dests, methods</a:t>
            </a:r>
          </a:p>
        </p:txBody>
      </p:sp>
      <p:sp>
        <p:nvSpPr>
          <p:cNvPr id="11" name="Rounded Rectangle 10"/>
          <p:cNvSpPr/>
          <p:nvPr/>
        </p:nvSpPr>
        <p:spPr>
          <a:xfrm>
            <a:off x="3246120" y="5120640"/>
            <a:ext cx="2743200" cy="1463040"/>
          </a:xfrm>
          <a:prstGeom prst="roundRect">
            <a:avLst/>
          </a:prstGeom>
          <a:noFill/>
          <a:ln w="25400">
            <a:solidFill>
              <a:srgbClr val="1B4F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5120640"/>
            <a:ext cx="2743200" cy="54864"/>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5230368"/>
            <a:ext cx="2560320" cy="320040"/>
          </a:xfrm>
          <a:prstGeom prst="rect">
            <a:avLst/>
          </a:prstGeom>
          <a:noFill/>
        </p:spPr>
        <p:txBody>
          <a:bodyPr wrap="square">
            <a:spAutoFit/>
          </a:bodyPr>
          <a:lstStyle/>
          <a:p>
            <a:pPr algn="ctr">
              <a:defRPr sz="1400" b="1">
                <a:solidFill>
                  <a:srgbClr val="1B4F72"/>
                </a:solidFill>
                <a:latin typeface="Calibri"/>
              </a:defRPr>
            </a:pPr>
            <a:r>
              <a:t>File Access (6)</a:t>
            </a:r>
          </a:p>
        </p:txBody>
      </p:sp>
      <p:sp>
        <p:nvSpPr>
          <p:cNvPr id="14" name="TextBox 13"/>
          <p:cNvSpPr txBox="1"/>
          <p:nvPr/>
        </p:nvSpPr>
        <p:spPr>
          <a:xfrm>
            <a:off x="3383280" y="5577840"/>
            <a:ext cx="2468880" cy="914400"/>
          </a:xfrm>
          <a:prstGeom prst="rect">
            <a:avLst/>
          </a:prstGeom>
          <a:noFill/>
        </p:spPr>
        <p:txBody>
          <a:bodyPr wrap="square">
            <a:spAutoFit/>
          </a:bodyPr>
          <a:lstStyle/>
          <a:p>
            <a:pPr algn="l">
              <a:defRPr sz="1100" b="0">
                <a:solidFill>
                  <a:srgbClr val="505050"/>
                </a:solidFill>
                <a:latin typeface="Calibri"/>
              </a:defRPr>
            </a:pPr>
            <a:r>
              <a:t>file_total, restricted_ratio,</a:t>
            </a:r>
            <a:br/>
            <a:r>
              <a:t>confidential_ratio,</a:t>
            </a:r>
            <a:br/>
            <a:r>
              <a:t>write_ratio, unique_paths,</a:t>
            </a:r>
            <a:br/>
            <a:r>
              <a:t>total_bytes</a:t>
            </a:r>
          </a:p>
        </p:txBody>
      </p:sp>
      <p:sp>
        <p:nvSpPr>
          <p:cNvPr id="15" name="Rounded Rectangle 14"/>
          <p:cNvSpPr/>
          <p:nvPr/>
        </p:nvSpPr>
        <p:spPr>
          <a:xfrm>
            <a:off x="6217920" y="5120640"/>
            <a:ext cx="2743200" cy="1463040"/>
          </a:xfrm>
          <a:prstGeom prst="roundRect">
            <a:avLst/>
          </a:prstGeom>
          <a:noFill/>
          <a:ln w="254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5120640"/>
            <a:ext cx="274320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5230368"/>
            <a:ext cx="2560320" cy="320040"/>
          </a:xfrm>
          <a:prstGeom prst="rect">
            <a:avLst/>
          </a:prstGeom>
          <a:noFill/>
        </p:spPr>
        <p:txBody>
          <a:bodyPr wrap="square">
            <a:spAutoFit/>
          </a:bodyPr>
          <a:lstStyle/>
          <a:p>
            <a:pPr algn="ctr">
              <a:defRPr sz="1400" b="1">
                <a:solidFill>
                  <a:srgbClr val="8E44AD"/>
                </a:solidFill>
                <a:latin typeface="Calibri"/>
              </a:defRPr>
            </a:pPr>
            <a:r>
              <a:t>Endpoint (5)</a:t>
            </a:r>
          </a:p>
        </p:txBody>
      </p:sp>
      <p:sp>
        <p:nvSpPr>
          <p:cNvPr id="18" name="TextBox 17"/>
          <p:cNvSpPr txBox="1"/>
          <p:nvPr/>
        </p:nvSpPr>
        <p:spPr>
          <a:xfrm>
            <a:off x="6355080" y="5577840"/>
            <a:ext cx="2468880" cy="914400"/>
          </a:xfrm>
          <a:prstGeom prst="rect">
            <a:avLst/>
          </a:prstGeom>
          <a:noFill/>
        </p:spPr>
        <p:txBody>
          <a:bodyPr wrap="square">
            <a:spAutoFit/>
          </a:bodyPr>
          <a:lstStyle/>
          <a:p>
            <a:pPr algn="l">
              <a:defRPr sz="1100" b="0">
                <a:solidFill>
                  <a:srgbClr val="505050"/>
                </a:solidFill>
                <a:latin typeface="Calibri"/>
              </a:defRPr>
            </a:pPr>
            <a:r>
              <a:t>endpoint_total,</a:t>
            </a:r>
            <a:br/>
            <a:r>
              <a:t>suspicious_ratio,</a:t>
            </a:r>
            <a:br/>
            <a:r>
              <a:t>max_risk, mean_risk,</a:t>
            </a:r>
            <a:br/>
            <a:r>
              <a:t>unique_processes</a:t>
            </a:r>
          </a:p>
        </p:txBody>
      </p:sp>
      <p:sp>
        <p:nvSpPr>
          <p:cNvPr id="19" name="Rounded Rectangle 18"/>
          <p:cNvSpPr/>
          <p:nvPr/>
        </p:nvSpPr>
        <p:spPr>
          <a:xfrm>
            <a:off x="9189720" y="5120640"/>
            <a:ext cx="2743200" cy="1463040"/>
          </a:xfrm>
          <a:prstGeom prst="roundRect">
            <a:avLst/>
          </a:prstGeom>
          <a:noFill/>
          <a:ln w="2540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89720" y="5120640"/>
            <a:ext cx="2743200" cy="548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5230368"/>
            <a:ext cx="2560320" cy="320040"/>
          </a:xfrm>
          <a:prstGeom prst="rect">
            <a:avLst/>
          </a:prstGeom>
          <a:noFill/>
        </p:spPr>
        <p:txBody>
          <a:bodyPr wrap="square">
            <a:spAutoFit/>
          </a:bodyPr>
          <a:lstStyle/>
          <a:p>
            <a:pPr algn="ctr">
              <a:defRPr sz="1400" b="1">
                <a:solidFill>
                  <a:srgbClr val="0D1B2A"/>
                </a:solidFill>
                <a:latin typeface="Calibri"/>
              </a:defRPr>
            </a:pPr>
            <a:r>
              <a:t>Network (5)</a:t>
            </a:r>
          </a:p>
        </p:txBody>
      </p:sp>
      <p:sp>
        <p:nvSpPr>
          <p:cNvPr id="22" name="TextBox 21"/>
          <p:cNvSpPr txBox="1"/>
          <p:nvPr/>
        </p:nvSpPr>
        <p:spPr>
          <a:xfrm>
            <a:off x="9326880" y="5577840"/>
            <a:ext cx="2468880" cy="914400"/>
          </a:xfrm>
          <a:prstGeom prst="rect">
            <a:avLst/>
          </a:prstGeom>
          <a:noFill/>
        </p:spPr>
        <p:txBody>
          <a:bodyPr wrap="square">
            <a:spAutoFit/>
          </a:bodyPr>
          <a:lstStyle/>
          <a:p>
            <a:pPr algn="l">
              <a:defRPr sz="1100" b="0">
                <a:solidFill>
                  <a:srgbClr val="505050"/>
                </a:solidFill>
                <a:latin typeface="Calibri"/>
              </a:defRPr>
            </a:pPr>
            <a:r>
              <a:t>net_bytes_out,</a:t>
            </a:r>
            <a:br/>
            <a:r>
              <a:t>unique_dsts,</a:t>
            </a:r>
            <a:br/>
            <a:r>
              <a:t>external_ratio,</a:t>
            </a:r>
            <a:br/>
            <a:r>
              <a:t>dns_domains, nxdomain</a:t>
            </a:r>
          </a:p>
        </p:txBody>
      </p:sp>
      <p:sp>
        <p:nvSpPr>
          <p:cNvPr id="23" name="TextBox 22"/>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0" tIns="164592"/>
          <a:lstStyle/>
          <a:p>
            <a:pPr algn="l">
              <a:spcBef>
                <a:spcPts val="1200"/>
              </a:spcBef>
              <a:defRPr sz="2800" b="1">
                <a:solidFill>
                  <a:srgbClr val="FFFFFF"/>
                </a:solidFill>
                <a:latin typeface="Calibri"/>
              </a:defRPr>
            </a:pPr>
            <a:r>
              <a:t>Tier 3 Detection Methods — Inputs &amp; Parameters</a:t>
            </a:r>
          </a:p>
        </p:txBody>
      </p:sp>
      <p:sp>
        <p:nvSpPr>
          <p:cNvPr id="3" name="Rectangle 2"/>
          <p:cNvSpPr/>
          <p:nvPr/>
        </p:nvSpPr>
        <p:spPr>
          <a:xfrm>
            <a:off x="0" y="1005840"/>
            <a:ext cx="12191695" cy="36576"/>
          </a:xfrm>
          <a:prstGeom prst="rect">
            <a:avLst/>
          </a:prstGeom>
          <a:solidFill>
            <a:srgbClr val="B795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384048"/>
          </a:xfrm>
          <a:prstGeom prst="rect">
            <a:avLst/>
          </a:prstGeom>
          <a:noFill/>
        </p:spPr>
        <p:txBody>
          <a:bodyPr wrap="square">
            <a:spAutoFit/>
          </a:bodyPr>
          <a:lstStyle/>
          <a:p>
            <a:pPr algn="l">
              <a:defRPr sz="1400" b="0">
                <a:solidFill>
                  <a:srgbClr val="505050"/>
                </a:solidFill>
                <a:latin typeface="Calibri"/>
              </a:defRPr>
            </a:pPr>
            <a:r>
              <a:t>Each Tier 3 method receives specific zone/trajectory/relationship inputs and applies independent detection logic. All use top-10% rank thresholding.</a:t>
            </a:r>
          </a:p>
        </p:txBody>
      </p:sp>
      <p:graphicFrame>
        <p:nvGraphicFramePr>
          <p:cNvPr id="5" name="Table 4"/>
          <p:cNvGraphicFramePr>
            <a:graphicFrameLocks noGrp="1"/>
          </p:cNvGraphicFramePr>
          <p:nvPr/>
        </p:nvGraphicFramePr>
        <p:xfrm>
          <a:off x="274320" y="1691640"/>
          <a:ext cx="11612880" cy="3657600"/>
        </p:xfrm>
        <a:graphic>
          <a:graphicData uri="http://schemas.openxmlformats.org/drawingml/2006/table">
            <a:tbl>
              <a:tblPr firstRow="1" bandRow="1">
                <a:tableStyleId>{5C22544A-7EE6-4342-B048-85BDC9FD1C3A}</a:tableStyleId>
              </a:tblPr>
              <a:tblGrid>
                <a:gridCol w="1645920"/>
                <a:gridCol w="2011680"/>
                <a:gridCol w="2286000"/>
                <a:gridCol w="2743200"/>
                <a:gridCol w="2926080"/>
              </a:tblGrid>
              <a:tr h="406400">
                <a:tc>
                  <a:txBody>
                    <a:bodyPr lIns="64008" rIns="64008" tIns="36576" bIns="36576"/>
                    <a:lstStyle/>
                    <a:p>
                      <a:pPr algn="ctr">
                        <a:defRPr sz="1100" b="1">
                          <a:solidFill>
                            <a:srgbClr val="FFFFFF"/>
                          </a:solidFill>
                          <a:latin typeface="Calibri"/>
                        </a:defRPr>
                      </a:pPr>
                      <a:r>
                        <a:t>Method</a:t>
                      </a:r>
                    </a:p>
                  </a:txBody>
                  <a:tcPr anchor="ctr">
                    <a:solidFill>
                      <a:srgbClr val="0D1B2A"/>
                    </a:solidFill>
                  </a:tcPr>
                </a:tc>
                <a:tc>
                  <a:txBody>
                    <a:bodyPr lIns="64008" rIns="64008" tIns="36576" bIns="36576"/>
                    <a:lstStyle/>
                    <a:p>
                      <a:pPr algn="ctr">
                        <a:defRPr sz="1100" b="1">
                          <a:solidFill>
                            <a:srgbClr val="FFFFFF"/>
                          </a:solidFill>
                          <a:latin typeface="Calibri"/>
                        </a:defRPr>
                      </a:pPr>
                      <a:r>
                        <a:t>Input Signal</a:t>
                      </a:r>
                    </a:p>
                  </a:txBody>
                  <a:tcPr anchor="ctr">
                    <a:solidFill>
                      <a:srgbClr val="0D1B2A"/>
                    </a:solidFill>
                  </a:tcPr>
                </a:tc>
                <a:tc>
                  <a:txBody>
                    <a:bodyPr lIns="64008" rIns="64008" tIns="36576" bIns="36576"/>
                    <a:lstStyle/>
                    <a:p>
                      <a:pPr algn="ctr">
                        <a:defRPr sz="1100" b="1">
                          <a:solidFill>
                            <a:srgbClr val="FFFFFF"/>
                          </a:solidFill>
                          <a:latin typeface="Calibri"/>
                        </a:defRPr>
                      </a:pPr>
                      <a:r>
                        <a:t>What It Measures</a:t>
                      </a:r>
                    </a:p>
                  </a:txBody>
                  <a:tcPr anchor="ctr">
                    <a:solidFill>
                      <a:srgbClr val="0D1B2A"/>
                    </a:solidFill>
                  </a:tcPr>
                </a:tc>
                <a:tc>
                  <a:txBody>
                    <a:bodyPr lIns="64008" rIns="64008" tIns="36576" bIns="36576"/>
                    <a:lstStyle/>
                    <a:p>
                      <a:pPr algn="ctr">
                        <a:defRPr sz="1100" b="1">
                          <a:solidFill>
                            <a:srgbClr val="FFFFFF"/>
                          </a:solidFill>
                          <a:latin typeface="Calibri"/>
                        </a:defRPr>
                      </a:pPr>
                      <a:r>
                        <a:t>Key Parameter</a:t>
                      </a:r>
                    </a:p>
                  </a:txBody>
                  <a:tcPr anchor="ctr">
                    <a:solidFill>
                      <a:srgbClr val="0D1B2A"/>
                    </a:solidFill>
                  </a:tcPr>
                </a:tc>
                <a:tc>
                  <a:txBody>
                    <a:bodyPr lIns="64008" rIns="64008" tIns="36576" bIns="36576"/>
                    <a:lstStyle/>
                    <a:p>
                      <a:pPr algn="ctr">
                        <a:defRPr sz="1100" b="1">
                          <a:solidFill>
                            <a:srgbClr val="FFFFFF"/>
                          </a:solidFill>
                          <a:latin typeface="Calibri"/>
                        </a:defRPr>
                      </a:pPr>
                      <a:r>
                        <a:t>Detection</a:t>
                      </a:r>
                    </a:p>
                  </a:txBody>
                  <a:tcPr anchor="ctr">
                    <a:solidFill>
                      <a:srgbClr val="0D1B2A"/>
                    </a:solidFill>
                  </a:tcPr>
                </a:tc>
              </a:tr>
              <a:tr h="406400">
                <a:tc>
                  <a:txBody>
                    <a:bodyPr lIns="64008" rIns="64008" tIns="36576" bIns="36576"/>
                    <a:lstStyle/>
                    <a:p>
                      <a:pPr algn="l">
                        <a:defRPr sz="1000" b="1">
                          <a:solidFill>
                            <a:srgbClr val="FFFFFF"/>
                          </a:solidFill>
                          <a:latin typeface="Calibri"/>
                        </a:defRPr>
                      </a:pPr>
                      <a:r>
                        <a:t>Velocity /</a:t>
                      </a:r>
                    </a:p>
                    <a:p>
                      <a:pPr algn="l">
                        <a:defRPr sz="1000" b="1">
                          <a:solidFill>
                            <a:srgbClr val="FFFFFF"/>
                          </a:solidFill>
                          <a:latin typeface="Calibri"/>
                        </a:defRPr>
                      </a:pPr>
                      <a:r>
                        <a:t>Acceleration</a:t>
                      </a:r>
                    </a:p>
                  </a:txBody>
                  <a:tcPr anchor="ctr">
                    <a:solidFill>
                      <a:srgbClr val="0E6B8A"/>
                    </a:solidFill>
                  </a:tcPr>
                </a:tc>
                <a:tc>
                  <a:txBody>
                    <a:bodyPr lIns="64008" rIns="64008" tIns="36576" bIns="36576"/>
                    <a:lstStyle/>
                    <a:p>
                      <a:pPr algn="ctr">
                        <a:defRPr sz="1000" b="0">
                          <a:solidFill>
                            <a:srgbClr val="0D1B2A"/>
                          </a:solidFill>
                          <a:latin typeface="Calibri"/>
                        </a:defRPr>
                      </a:pPr>
                      <a:r>
                        <a:t>Composite trajectory</a:t>
                      </a:r>
                    </a:p>
                    <a:p>
                      <a:pPr algn="ctr">
                        <a:defRPr sz="1000" b="0">
                          <a:solidFill>
                            <a:srgbClr val="0D1B2A"/>
                          </a:solidFill>
                          <a:latin typeface="Calibri"/>
                        </a:defRPr>
                      </a:pPr>
                      <a:r>
                        <a:t>(weekly snapshots)</a:t>
                      </a:r>
                    </a:p>
                  </a:txBody>
                  <a:tcPr anchor="ctr">
                    <a:solidFill>
                      <a:srgbClr val="FFFFFF"/>
                    </a:solidFill>
                  </a:tcPr>
                </a:tc>
                <a:tc>
                  <a:txBody>
                    <a:bodyPr lIns="64008" rIns="64008" tIns="36576" bIns="36576"/>
                    <a:lstStyle/>
                    <a:p>
                      <a:pPr algn="ctr">
                        <a:defRPr sz="1000" b="0">
                          <a:solidFill>
                            <a:srgbClr val="0D1B2A"/>
                          </a:solidFill>
                          <a:latin typeface="Calibri"/>
                        </a:defRPr>
                      </a:pPr>
                      <a:r>
                        <a:t>How fast behavior</a:t>
                      </a:r>
                    </a:p>
                    <a:p>
                      <a:pPr algn="ctr">
                        <a:defRPr sz="1000" b="0">
                          <a:solidFill>
                            <a:srgbClr val="0D1B2A"/>
                          </a:solidFill>
                          <a:latin typeface="Calibri"/>
                        </a:defRPr>
                      </a:pPr>
                      <a:r>
                        <a:t>is changing direction</a:t>
                      </a:r>
                    </a:p>
                  </a:txBody>
                  <a:tcPr anchor="ctr">
                    <a:solidFill>
                      <a:srgbClr val="FFFFFF"/>
                    </a:solidFill>
                  </a:tcPr>
                </a:tc>
                <a:tc>
                  <a:txBody>
                    <a:bodyPr lIns="64008" rIns="64008" tIns="36576" bIns="36576"/>
                    <a:lstStyle/>
                    <a:p>
                      <a:pPr algn="ctr">
                        <a:defRPr sz="1000" b="0">
                          <a:solidFill>
                            <a:srgbClr val="0D1B2A"/>
                          </a:solidFill>
                          <a:latin typeface="Calibri"/>
                        </a:defRPr>
                      </a:pPr>
                      <a:r>
                        <a:t>Acceleration &gt; 0.01</a:t>
                      </a:r>
                    </a:p>
                    <a:p>
                      <a:pPr algn="ctr">
                        <a:defRPr sz="1000" b="0">
                          <a:solidFill>
                            <a:srgbClr val="0D1B2A"/>
                          </a:solidFill>
                          <a:latin typeface="Calibri"/>
                        </a:defRPr>
                      </a:pPr>
                      <a:r>
                        <a:t>with consistent trend</a:t>
                      </a:r>
                    </a:p>
                  </a:txBody>
                  <a:tcPr anchor="ctr">
                    <a:solidFill>
                      <a:srgbClr val="FFFFFF"/>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weighted score</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Regime</a:t>
                      </a:r>
                    </a:p>
                    <a:p>
                      <a:pPr algn="l">
                        <a:defRPr sz="1000" b="1">
                          <a:solidFill>
                            <a:srgbClr val="FFFFFF"/>
                          </a:solidFill>
                          <a:latin typeface="Calibri"/>
                        </a:defRPr>
                      </a:pPr>
                      <a:r>
                        <a:t>Shift</a:t>
                      </a:r>
                    </a:p>
                  </a:txBody>
                  <a:tcPr anchor="ctr">
                    <a:solidFill>
                      <a:srgbClr val="8E44AD"/>
                    </a:solidFill>
                  </a:tcPr>
                </a:tc>
                <a:tc>
                  <a:txBody>
                    <a:bodyPr lIns="64008" rIns="64008" tIns="36576" bIns="36576"/>
                    <a:lstStyle/>
                    <a:p>
                      <a:pPr algn="ctr">
                        <a:defRPr sz="1000" b="0">
                          <a:solidFill>
                            <a:srgbClr val="0D1B2A"/>
                          </a:solidFill>
                          <a:latin typeface="Calibri"/>
                        </a:defRPr>
                      </a:pPr>
                      <a:r>
                        <a:t>Consecutive weekly</a:t>
                      </a:r>
                    </a:p>
                    <a:p>
                      <a:pPr algn="ctr">
                        <a:defRPr sz="1000" b="0">
                          <a:solidFill>
                            <a:srgbClr val="0D1B2A"/>
                          </a:solidFill>
                          <a:latin typeface="Calibri"/>
                        </a:defRPr>
                      </a:pPr>
                      <a:r>
                        <a:t>embeddings</a:t>
                      </a:r>
                    </a:p>
                  </a:txBody>
                  <a:tcPr anchor="ctr">
                    <a:solidFill>
                      <a:srgbClr val="F0F2F5"/>
                    </a:solidFill>
                  </a:tcPr>
                </a:tc>
                <a:tc>
                  <a:txBody>
                    <a:bodyPr lIns="64008" rIns="64008" tIns="36576" bIns="36576"/>
                    <a:lstStyle/>
                    <a:p>
                      <a:pPr algn="ctr">
                        <a:defRPr sz="1000" b="0">
                          <a:solidFill>
                            <a:srgbClr val="0D1B2A"/>
                          </a:solidFill>
                          <a:latin typeface="Calibri"/>
                        </a:defRPr>
                      </a:pPr>
                      <a:r>
                        <a:t>Fundamental phase</a:t>
                      </a:r>
                    </a:p>
                    <a:p>
                      <a:pPr algn="ctr">
                        <a:defRPr sz="1000" b="0">
                          <a:solidFill>
                            <a:srgbClr val="0D1B2A"/>
                          </a:solidFill>
                          <a:latin typeface="Calibri"/>
                        </a:defRPr>
                      </a:pPr>
                      <a:r>
                        <a:t>change in behavior</a:t>
                      </a:r>
                    </a:p>
                  </a:txBody>
                  <a:tcPr anchor="ctr">
                    <a:solidFill>
                      <a:srgbClr val="F0F2F5"/>
                    </a:solidFill>
                  </a:tcPr>
                </a:tc>
                <a:tc>
                  <a:txBody>
                    <a:bodyPr lIns="64008" rIns="64008" tIns="36576" bIns="36576"/>
                    <a:lstStyle/>
                    <a:p>
                      <a:pPr algn="ctr">
                        <a:defRPr sz="1000" b="0">
                          <a:solidFill>
                            <a:srgbClr val="0D1B2A"/>
                          </a:solidFill>
                          <a:latin typeface="Calibri"/>
                        </a:defRPr>
                      </a:pPr>
                      <a:r>
                        <a:t>Similarity &lt; 0.7</a:t>
                      </a:r>
                    </a:p>
                    <a:p>
                      <a:pPr algn="ctr">
                        <a:defRPr sz="1000" b="0">
                          <a:solidFill>
                            <a:srgbClr val="0D1B2A"/>
                          </a:solidFill>
                          <a:latin typeface="Calibri"/>
                        </a:defRPr>
                      </a:pPr>
                      <a:r>
                        <a:t>= phase break</a:t>
                      </a:r>
                    </a:p>
                  </a:txBody>
                  <a:tcPr anchor="ctr">
                    <a:solidFill>
                      <a:srgbClr val="F0F2F5"/>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instability score</a:t>
                      </a:r>
                    </a:p>
                  </a:txBody>
                  <a:tcPr anchor="ctr">
                    <a:solidFill>
                      <a:srgbClr val="F0F2F5"/>
                    </a:solidFill>
                  </a:tcPr>
                </a:tc>
              </a:tr>
              <a:tr h="406400">
                <a:tc>
                  <a:txBody>
                    <a:bodyPr lIns="64008" rIns="64008" tIns="36576" bIns="36576"/>
                    <a:lstStyle/>
                    <a:p>
                      <a:pPr algn="l">
                        <a:defRPr sz="1000" b="1">
                          <a:solidFill>
                            <a:srgbClr val="FFFFFF"/>
                          </a:solidFill>
                          <a:latin typeface="Calibri"/>
                        </a:defRPr>
                      </a:pPr>
                      <a:r>
                        <a:t>Zone</a:t>
                      </a:r>
                    </a:p>
                    <a:p>
                      <a:pPr algn="l">
                        <a:defRPr sz="1000" b="1">
                          <a:solidFill>
                            <a:srgbClr val="FFFFFF"/>
                          </a:solidFill>
                          <a:latin typeface="Calibri"/>
                        </a:defRPr>
                      </a:pPr>
                      <a:r>
                        <a:t>Divergence</a:t>
                      </a:r>
                    </a:p>
                  </a:txBody>
                  <a:tcPr anchor="ctr">
                    <a:solidFill>
                      <a:srgbClr val="C0392B"/>
                    </a:solidFill>
                  </a:tcPr>
                </a:tc>
                <a:tc>
                  <a:txBody>
                    <a:bodyPr lIns="64008" rIns="64008" tIns="36576" bIns="36576"/>
                    <a:lstStyle/>
                    <a:p>
                      <a:pPr algn="ctr">
                        <a:defRPr sz="1000" b="0">
                          <a:solidFill>
                            <a:srgbClr val="0D1B2A"/>
                          </a:solidFill>
                          <a:latin typeface="Calibri"/>
                        </a:defRPr>
                      </a:pPr>
                      <a:r>
                        <a:t>5 per-zone</a:t>
                      </a:r>
                    </a:p>
                    <a:p>
                      <a:pPr algn="ctr">
                        <a:defRPr sz="1000" b="0">
                          <a:solidFill>
                            <a:srgbClr val="0D1B2A"/>
                          </a:solidFill>
                          <a:latin typeface="Calibri"/>
                        </a:defRPr>
                      </a:pPr>
                      <a:r>
                        <a:t>trajectory drifts</a:t>
                      </a:r>
                    </a:p>
                  </a:txBody>
                  <a:tcPr anchor="ctr">
                    <a:solidFill>
                      <a:srgbClr val="FFFFFF"/>
                    </a:solidFill>
                  </a:tcPr>
                </a:tc>
                <a:tc>
                  <a:txBody>
                    <a:bodyPr lIns="64008" rIns="64008" tIns="36576" bIns="36576"/>
                    <a:lstStyle/>
                    <a:p>
                      <a:pPr algn="ctr">
                        <a:defRPr sz="1000" b="0">
                          <a:solidFill>
                            <a:srgbClr val="0D1B2A"/>
                          </a:solidFill>
                          <a:latin typeface="Calibri"/>
                        </a:defRPr>
                      </a:pPr>
                      <a:r>
                        <a:t>Which zone drifts</a:t>
                      </a:r>
                    </a:p>
                    <a:p>
                      <a:pPr algn="ctr">
                        <a:defRPr sz="1000" b="0">
                          <a:solidFill>
                            <a:srgbClr val="0D1B2A"/>
                          </a:solidFill>
                          <a:latin typeface="Calibri"/>
                        </a:defRPr>
                      </a:pPr>
                      <a:r>
                        <a:t>while identity is stable</a:t>
                      </a:r>
                    </a:p>
                  </a:txBody>
                  <a:tcPr anchor="ctr">
                    <a:solidFill>
                      <a:srgbClr val="FFFFFF"/>
                    </a:solidFill>
                  </a:tcPr>
                </a:tc>
                <a:tc>
                  <a:txBody>
                    <a:bodyPr lIns="64008" rIns="64008" tIns="36576" bIns="36576"/>
                    <a:lstStyle/>
                    <a:p>
                      <a:pPr algn="ctr">
                        <a:defRPr sz="1000" b="0">
                          <a:solidFill>
                            <a:srgbClr val="0D1B2A"/>
                          </a:solidFill>
                          <a:latin typeface="Calibri"/>
                        </a:defRPr>
                      </a:pPr>
                      <a:r>
                        <a:t>Identity &lt; 0.02 (stable)</a:t>
                      </a:r>
                    </a:p>
                    <a:p>
                      <a:pPr algn="ctr">
                        <a:defRPr sz="1000" b="0">
                          <a:solidFill>
                            <a:srgbClr val="0D1B2A"/>
                          </a:solidFill>
                          <a:latin typeface="Calibri"/>
                        </a:defRPr>
                      </a:pPr>
                      <a:r>
                        <a:t>Zone &gt; 0.05 (drifting)</a:t>
                      </a:r>
                    </a:p>
                  </a:txBody>
                  <a:tcPr anchor="ctr">
                    <a:solidFill>
                      <a:srgbClr val="FFFFFF"/>
                    </a:solidFill>
                  </a:tcPr>
                </a:tc>
                <a:tc>
                  <a:txBody>
                    <a:bodyPr lIns="64008" rIns="64008" tIns="36576" bIns="36576"/>
                    <a:lstStyle/>
                    <a:p>
                      <a:pPr algn="ctr">
                        <a:defRPr sz="1000" b="0">
                          <a:solidFill>
                            <a:srgbClr val="0D1B2A"/>
                          </a:solidFill>
                          <a:latin typeface="Calibri"/>
                        </a:defRPr>
                      </a:pPr>
                      <a:r>
                        <a:t>Top 10% OR</a:t>
                      </a:r>
                    </a:p>
                    <a:p>
                      <a:pPr algn="ctr">
                        <a:defRPr sz="1000" b="0">
                          <a:solidFill>
                            <a:srgbClr val="0D1B2A"/>
                          </a:solidFill>
                          <a:latin typeface="Calibri"/>
                        </a:defRPr>
                      </a:pPr>
                      <a:r>
                        <a:t>standalone flag</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Relationship</a:t>
                      </a:r>
                    </a:p>
                    <a:p>
                      <a:pPr algn="l">
                        <a:defRPr sz="1000" b="1">
                          <a:solidFill>
                            <a:srgbClr val="FFFFFF"/>
                          </a:solidFill>
                          <a:latin typeface="Calibri"/>
                        </a:defRPr>
                      </a:pPr>
                      <a:r>
                        <a:t>Drift</a:t>
                      </a:r>
                    </a:p>
                  </a:txBody>
                  <a:tcPr anchor="ctr">
                    <a:solidFill>
                      <a:srgbClr val="1B4F72"/>
                    </a:solidFill>
                  </a:tcPr>
                </a:tc>
                <a:tc>
                  <a:txBody>
                    <a:bodyPr lIns="64008" rIns="64008" tIns="36576" bIns="36576"/>
                    <a:lstStyle/>
                    <a:p>
                      <a:pPr algn="ctr">
                        <a:defRPr sz="1000" b="0">
                          <a:solidFill>
                            <a:srgbClr val="0D1B2A"/>
                          </a:solidFill>
                          <a:latin typeface="Calibri"/>
                        </a:defRPr>
                      </a:pPr>
                      <a:r>
                        <a:t>User-Device</a:t>
                      </a:r>
                    </a:p>
                    <a:p>
                      <a:pPr algn="ctr">
                        <a:defRPr sz="1000" b="0">
                          <a:solidFill>
                            <a:srgbClr val="0D1B2A"/>
                          </a:solidFill>
                          <a:latin typeface="Calibri"/>
                        </a:defRPr>
                      </a:pPr>
                      <a:r>
                        <a:t>interaction vector</a:t>
                      </a:r>
                    </a:p>
                  </a:txBody>
                  <a:tcPr anchor="ctr">
                    <a:solidFill>
                      <a:srgbClr val="F0F2F5"/>
                    </a:solidFill>
                  </a:tcPr>
                </a:tc>
                <a:tc>
                  <a:txBody>
                    <a:bodyPr lIns="64008" rIns="64008" tIns="36576" bIns="36576"/>
                    <a:lstStyle/>
                    <a:p>
                      <a:pPr algn="ctr">
                        <a:defRPr sz="1000" b="0">
                          <a:solidFill>
                            <a:srgbClr val="0D1B2A"/>
                          </a:solidFill>
                          <a:latin typeface="Calibri"/>
                        </a:defRPr>
                      </a:pPr>
                      <a:r>
                        <a:t>Changing interaction</a:t>
                      </a:r>
                    </a:p>
                    <a:p>
                      <a:pPr algn="ctr">
                        <a:defRPr sz="1000" b="0">
                          <a:solidFill>
                            <a:srgbClr val="0D1B2A"/>
                          </a:solidFill>
                          <a:latin typeface="Calibri"/>
                        </a:defRPr>
                      </a:pPr>
                      <a:r>
                        <a:t>pattern between entities</a:t>
                      </a:r>
                    </a:p>
                  </a:txBody>
                  <a:tcPr anchor="ctr">
                    <a:solidFill>
                      <a:srgbClr val="F0F2F5"/>
                    </a:solidFill>
                  </a:tcPr>
                </a:tc>
                <a:tc>
                  <a:txBody>
                    <a:bodyPr lIns="64008" rIns="64008" tIns="36576" bIns="36576"/>
                    <a:lstStyle/>
                    <a:p>
                      <a:pPr algn="ctr">
                        <a:defRPr sz="1000" b="0">
                          <a:solidFill>
                            <a:srgbClr val="0D1B2A"/>
                          </a:solidFill>
                          <a:latin typeface="Calibri"/>
                        </a:defRPr>
                      </a:pPr>
                      <a:r>
                        <a:t>Relationship</a:t>
                      </a:r>
                    </a:p>
                    <a:p>
                      <a:pPr algn="ctr">
                        <a:defRPr sz="1000" b="0">
                          <a:solidFill>
                            <a:srgbClr val="0D1B2A"/>
                          </a:solidFill>
                          <a:latin typeface="Calibri"/>
                        </a:defRPr>
                      </a:pPr>
                      <a:r>
                        <a:t>drift &gt; 0.05</a:t>
                      </a:r>
                    </a:p>
                  </a:txBody>
                  <a:tcPr anchor="ctr">
                    <a:solidFill>
                      <a:srgbClr val="F0F2F5"/>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drift magnitude</a:t>
                      </a:r>
                    </a:p>
                  </a:txBody>
                  <a:tcPr anchor="ctr">
                    <a:solidFill>
                      <a:srgbClr val="F0F2F5"/>
                    </a:solidFill>
                  </a:tcPr>
                </a:tc>
              </a:tr>
              <a:tr h="406400">
                <a:tc>
                  <a:txBody>
                    <a:bodyPr lIns="64008" rIns="64008" tIns="36576" bIns="36576"/>
                    <a:lstStyle/>
                    <a:p>
                      <a:pPr algn="l">
                        <a:defRPr sz="1000" b="1">
                          <a:solidFill>
                            <a:srgbClr val="FFFFFF"/>
                          </a:solidFill>
                          <a:latin typeface="Calibri"/>
                        </a:defRPr>
                      </a:pPr>
                      <a:r>
                        <a:t>Contextual</a:t>
                      </a:r>
                    </a:p>
                    <a:p>
                      <a:pPr algn="l">
                        <a:defRPr sz="1000" b="1">
                          <a:solidFill>
                            <a:srgbClr val="FFFFFF"/>
                          </a:solidFill>
                          <a:latin typeface="Calibri"/>
                        </a:defRPr>
                      </a:pPr>
                      <a:r>
                        <a:t>(Multi-Context)</a:t>
                      </a:r>
                    </a:p>
                  </a:txBody>
                  <a:tcPr anchor="ctr">
                    <a:solidFill>
                      <a:srgbClr val="B7950B"/>
                    </a:solidFill>
                  </a:tcPr>
                </a:tc>
                <a:tc>
                  <a:txBody>
                    <a:bodyPr lIns="64008" rIns="64008" tIns="36576" bIns="36576"/>
                    <a:lstStyle/>
                    <a:p>
                      <a:pPr algn="ctr">
                        <a:defRPr sz="1000" b="0">
                          <a:solidFill>
                            <a:srgbClr val="0D1B2A"/>
                          </a:solidFill>
                          <a:latin typeface="Calibri"/>
                        </a:defRPr>
                      </a:pPr>
                      <a:r>
                        <a:t>4 context-weighted</a:t>
                      </a:r>
                    </a:p>
                    <a:p>
                      <a:pPr algn="ctr">
                        <a:defRPr sz="1000" b="0">
                          <a:solidFill>
                            <a:srgbClr val="0D1B2A"/>
                          </a:solidFill>
                          <a:latin typeface="Calibri"/>
                        </a:defRPr>
                      </a:pPr>
                      <a:r>
                        <a:t>compositions</a:t>
                      </a:r>
                    </a:p>
                  </a:txBody>
                  <a:tcPr anchor="ctr">
                    <a:solidFill>
                      <a:srgbClr val="FFFFFF"/>
                    </a:solidFill>
                  </a:tcPr>
                </a:tc>
                <a:tc>
                  <a:txBody>
                    <a:bodyPr lIns="64008" rIns="64008" tIns="36576" bIns="36576"/>
                    <a:lstStyle/>
                    <a:p>
                      <a:pPr algn="ctr">
                        <a:defRPr sz="1000" b="0">
                          <a:solidFill>
                            <a:srgbClr val="0D1B2A"/>
                          </a:solidFill>
                          <a:latin typeface="Calibri"/>
                        </a:defRPr>
                      </a:pPr>
                      <a:r>
                        <a:t>Attack-specific signals</a:t>
                      </a:r>
                    </a:p>
                    <a:p>
                      <a:pPr algn="ctr">
                        <a:defRPr sz="1000" b="0">
                          <a:solidFill>
                            <a:srgbClr val="0D1B2A"/>
                          </a:solidFill>
                          <a:latin typeface="Calibri"/>
                        </a:defRPr>
                      </a:pPr>
                      <a:r>
                        <a:t>amplified by context</a:t>
                      </a:r>
                    </a:p>
                  </a:txBody>
                  <a:tcPr anchor="ctr">
                    <a:solidFill>
                      <a:srgbClr val="FFFFFF"/>
                    </a:solidFill>
                  </a:tcPr>
                </a:tc>
                <a:tc>
                  <a:txBody>
                    <a:bodyPr lIns="64008" rIns="64008" tIns="36576" bIns="36576"/>
                    <a:lstStyle/>
                    <a:p>
                      <a:pPr algn="ctr">
                        <a:defRPr sz="1000" b="0">
                          <a:solidFill>
                            <a:srgbClr val="0D1B2A"/>
                          </a:solidFill>
                          <a:latin typeface="Calibri"/>
                        </a:defRPr>
                      </a:pPr>
                      <a:r>
                        <a:t>Threat consistency</a:t>
                      </a:r>
                    </a:p>
                    <a:p>
                      <a:pPr algn="ctr">
                        <a:defRPr sz="1000" b="0">
                          <a:solidFill>
                            <a:srgbClr val="0D1B2A"/>
                          </a:solidFill>
                          <a:latin typeface="Calibri"/>
                        </a:defRPr>
                      </a:pPr>
                      <a:r>
                        <a:t>&gt; 30% of weeks</a:t>
                      </a:r>
                    </a:p>
                  </a:txBody>
                  <a:tcPr anchor="ctr">
                    <a:solidFill>
                      <a:srgbClr val="FFFFFF"/>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best context</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Embedding</a:t>
                      </a:r>
                    </a:p>
                    <a:p>
                      <a:pPr algn="l">
                        <a:defRPr sz="1000" b="1">
                          <a:solidFill>
                            <a:srgbClr val="FFFFFF"/>
                          </a:solidFill>
                          <a:latin typeface="Calibri"/>
                        </a:defRPr>
                      </a:pPr>
                      <a:r>
                        <a:t>Drift Accum.</a:t>
                      </a:r>
                    </a:p>
                  </a:txBody>
                  <a:tcPr anchor="ctr">
                    <a:solidFill>
                      <a:srgbClr val="8E44AD"/>
                    </a:solidFill>
                  </a:tcPr>
                </a:tc>
                <a:tc>
                  <a:txBody>
                    <a:bodyPr lIns="64008" rIns="64008" tIns="36576" bIns="36576"/>
                    <a:lstStyle/>
                    <a:p>
                      <a:pPr algn="ctr">
                        <a:defRPr sz="1000" b="0">
                          <a:solidFill>
                            <a:srgbClr val="0D1B2A"/>
                          </a:solidFill>
                          <a:latin typeface="Calibri"/>
                        </a:defRPr>
                      </a:pPr>
                      <a:r>
                        <a:t>Baseline vs weekly</a:t>
                      </a:r>
                    </a:p>
                    <a:p>
                      <a:pPr algn="ctr">
                        <a:defRPr sz="1000" b="0">
                          <a:solidFill>
                            <a:srgbClr val="0D1B2A"/>
                          </a:solidFill>
                          <a:latin typeface="Calibri"/>
                        </a:defRPr>
                      </a:pPr>
                      <a:r>
                        <a:t>snapshot distance</a:t>
                      </a:r>
                    </a:p>
                  </a:txBody>
                  <a:tcPr anchor="ctr">
                    <a:solidFill>
                      <a:srgbClr val="F0F2F5"/>
                    </a:solidFill>
                  </a:tcPr>
                </a:tc>
                <a:tc>
                  <a:txBody>
                    <a:bodyPr lIns="64008" rIns="64008" tIns="36576" bIns="36576"/>
                    <a:lstStyle/>
                    <a:p>
                      <a:pPr algn="ctr">
                        <a:defRPr sz="1000" b="0">
                          <a:solidFill>
                            <a:srgbClr val="0D1B2A"/>
                          </a:solidFill>
                          <a:latin typeface="Calibri"/>
                        </a:defRPr>
                      </a:pPr>
                      <a:r>
                        <a:t>Persistent slow drift</a:t>
                      </a:r>
                    </a:p>
                    <a:p>
                      <a:pPr algn="ctr">
                        <a:defRPr sz="1000" b="0">
                          <a:solidFill>
                            <a:srgbClr val="0D1B2A"/>
                          </a:solidFill>
                          <a:latin typeface="Calibri"/>
                        </a:defRPr>
                      </a:pPr>
                      <a:r>
                        <a:t>that accumulates</a:t>
                      </a:r>
                    </a:p>
                  </a:txBody>
                  <a:tcPr anchor="ctr">
                    <a:solidFill>
                      <a:srgbClr val="F0F2F5"/>
                    </a:solidFill>
                  </a:tcPr>
                </a:tc>
                <a:tc>
                  <a:txBody>
                    <a:bodyPr lIns="64008" rIns="64008" tIns="36576" bIns="36576"/>
                    <a:lstStyle/>
                    <a:p>
                      <a:pPr algn="ctr">
                        <a:defRPr sz="1000" b="0">
                          <a:solidFill>
                            <a:srgbClr val="0D1B2A"/>
                          </a:solidFill>
                          <a:latin typeface="Calibri"/>
                        </a:defRPr>
                      </a:pPr>
                      <a:r>
                        <a:t>Cumulative excess</a:t>
                      </a:r>
                    </a:p>
                    <a:p>
                      <a:pPr algn="ctr">
                        <a:defRPr sz="1000" b="0">
                          <a:solidFill>
                            <a:srgbClr val="0D1B2A"/>
                          </a:solidFill>
                          <a:latin typeface="Calibri"/>
                        </a:defRPr>
                      </a:pPr>
                      <a:r>
                        <a:t>drift from baseline</a:t>
                      </a:r>
                    </a:p>
                  </a:txBody>
                  <a:tcPr anchor="ctr">
                    <a:solidFill>
                      <a:srgbClr val="F0F2F5"/>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accumulated drift</a:t>
                      </a:r>
                    </a:p>
                  </a:txBody>
                  <a:tcPr anchor="ctr">
                    <a:solidFill>
                      <a:srgbClr val="F0F2F5"/>
                    </a:solidFill>
                  </a:tcPr>
                </a:tc>
              </a:tr>
              <a:tr h="406400">
                <a:tc>
                  <a:txBody>
                    <a:bodyPr lIns="64008" rIns="64008" tIns="36576" bIns="36576"/>
                    <a:lstStyle/>
                    <a:p>
                      <a:pPr algn="l">
                        <a:defRPr sz="1000" b="1">
                          <a:solidFill>
                            <a:srgbClr val="FFFFFF"/>
                          </a:solidFill>
                          <a:latin typeface="Calibri"/>
                        </a:defRPr>
                      </a:pPr>
                      <a:r>
                        <a:t>Behavioral</a:t>
                      </a:r>
                    </a:p>
                    <a:p>
                      <a:pPr algn="l">
                        <a:defRPr sz="1000" b="1">
                          <a:solidFill>
                            <a:srgbClr val="FFFFFF"/>
                          </a:solidFill>
                          <a:latin typeface="Calibri"/>
                        </a:defRPr>
                      </a:pPr>
                      <a:r>
                        <a:t>Progression</a:t>
                      </a:r>
                    </a:p>
                  </a:txBody>
                  <a:tcPr anchor="ctr">
                    <a:solidFill>
                      <a:srgbClr val="0E6B8A"/>
                    </a:solidFill>
                  </a:tcPr>
                </a:tc>
                <a:tc>
                  <a:txBody>
                    <a:bodyPr lIns="64008" rIns="64008" tIns="36576" bIns="36576"/>
                    <a:lstStyle/>
                    <a:p>
                      <a:pPr algn="ctr">
                        <a:defRPr sz="1000" b="0">
                          <a:solidFill>
                            <a:srgbClr val="0D1B2A"/>
                          </a:solidFill>
                          <a:latin typeface="Calibri"/>
                        </a:defRPr>
                      </a:pPr>
                      <a:r>
                        <a:t>Per-zone weekly</a:t>
                      </a:r>
                    </a:p>
                    <a:p>
                      <a:pPr algn="ctr">
                        <a:defRPr sz="1000" b="0">
                          <a:solidFill>
                            <a:srgbClr val="0D1B2A"/>
                          </a:solidFill>
                          <a:latin typeface="Calibri"/>
                        </a:defRPr>
                      </a:pPr>
                      <a:r>
                        <a:t>threat alignment</a:t>
                      </a:r>
                    </a:p>
                  </a:txBody>
                  <a:tcPr anchor="ctr">
                    <a:solidFill>
                      <a:srgbClr val="FFFFFF"/>
                    </a:solidFill>
                  </a:tcPr>
                </a:tc>
                <a:tc>
                  <a:txBody>
                    <a:bodyPr lIns="64008" rIns="64008" tIns="36576" bIns="36576"/>
                    <a:lstStyle/>
                    <a:p>
                      <a:pPr algn="ctr">
                        <a:defRPr sz="1000" b="0">
                          <a:solidFill>
                            <a:srgbClr val="0D1B2A"/>
                          </a:solidFill>
                          <a:latin typeface="Calibri"/>
                        </a:defRPr>
                      </a:pPr>
                      <a:r>
                        <a:t>Monotonically increasing</a:t>
                      </a:r>
                    </a:p>
                    <a:p>
                      <a:pPr algn="ctr">
                        <a:defRPr sz="1000" b="0">
                          <a:solidFill>
                            <a:srgbClr val="0D1B2A"/>
                          </a:solidFill>
                          <a:latin typeface="Calibri"/>
                        </a:defRPr>
                      </a:pPr>
                      <a:r>
                        <a:t>threat-like behavior</a:t>
                      </a:r>
                    </a:p>
                  </a:txBody>
                  <a:tcPr anchor="ctr">
                    <a:solidFill>
                      <a:srgbClr val="FFFFFF"/>
                    </a:solidFill>
                  </a:tcPr>
                </a:tc>
                <a:tc>
                  <a:txBody>
                    <a:bodyPr lIns="64008" rIns="64008" tIns="36576" bIns="36576"/>
                    <a:lstStyle/>
                    <a:p>
                      <a:pPr algn="ctr">
                        <a:defRPr sz="1000" b="0">
                          <a:solidFill>
                            <a:srgbClr val="0D1B2A"/>
                          </a:solidFill>
                          <a:latin typeface="Calibri"/>
                        </a:defRPr>
                      </a:pPr>
                      <a:r>
                        <a:t>Kendall trend</a:t>
                      </a:r>
                    </a:p>
                    <a:p>
                      <a:pPr algn="ctr">
                        <a:defRPr sz="1000" b="0">
                          <a:solidFill>
                            <a:srgbClr val="0D1B2A"/>
                          </a:solidFill>
                          <a:latin typeface="Calibri"/>
                        </a:defRPr>
                      </a:pPr>
                      <a:r>
                        <a:t>correlation &gt; 0</a:t>
                      </a:r>
                    </a:p>
                  </a:txBody>
                  <a:tcPr anchor="ctr">
                    <a:solidFill>
                      <a:srgbClr val="FFFFFF"/>
                    </a:solidFill>
                  </a:tcPr>
                </a:tc>
                <a:tc>
                  <a:txBody>
                    <a:bodyPr lIns="64008" rIns="64008" tIns="36576" bIns="36576"/>
                    <a:lstStyle/>
                    <a:p>
                      <a:pPr algn="ctr">
                        <a:defRPr sz="1000" b="0">
                          <a:solidFill>
                            <a:srgbClr val="0D1B2A"/>
                          </a:solidFill>
                          <a:latin typeface="Calibri"/>
                        </a:defRPr>
                      </a:pPr>
                      <a:r>
                        <a:t>Top 10% by</a:t>
                      </a:r>
                    </a:p>
                    <a:p>
                      <a:pPr algn="ctr">
                        <a:defRPr sz="1000" b="0">
                          <a:solidFill>
                            <a:srgbClr val="0D1B2A"/>
                          </a:solidFill>
                          <a:latin typeface="Calibri"/>
                        </a:defRPr>
                      </a:pPr>
                      <a:r>
                        <a:t>trend strength</a:t>
                      </a:r>
                    </a:p>
                  </a:txBody>
                  <a:tcPr anchor="ctr">
                    <a:solidFill>
                      <a:srgbClr val="FFFFFF"/>
                    </a:solidFill>
                  </a:tcPr>
                </a:tc>
              </a:tr>
              <a:tr h="406400">
                <a:tc>
                  <a:txBody>
                    <a:bodyPr lIns="64008" rIns="64008" tIns="36576" bIns="36576"/>
                    <a:lstStyle/>
                    <a:p>
                      <a:pPr algn="l">
                        <a:defRPr sz="1000" b="1">
                          <a:solidFill>
                            <a:srgbClr val="FFFFFF"/>
                          </a:solidFill>
                          <a:latin typeface="Calibri"/>
                        </a:defRPr>
                      </a:pPr>
                      <a:r>
                        <a:t>Combined</a:t>
                      </a:r>
                    </a:p>
                    <a:p>
                      <a:pPr algn="l">
                        <a:defRPr sz="1000" b="1">
                          <a:solidFill>
                            <a:srgbClr val="FFFFFF"/>
                          </a:solidFill>
                          <a:latin typeface="Calibri"/>
                        </a:defRPr>
                      </a:pPr>
                      <a:r>
                        <a:t>(Ensemble)</a:t>
                      </a:r>
                    </a:p>
                  </a:txBody>
                  <a:tcPr anchor="ctr">
                    <a:solidFill>
                      <a:srgbClr val="0D1B2A"/>
                    </a:solidFill>
                  </a:tcPr>
                </a:tc>
                <a:tc>
                  <a:txBody>
                    <a:bodyPr lIns="64008" rIns="64008" tIns="36576" bIns="36576"/>
                    <a:lstStyle/>
                    <a:p>
                      <a:pPr algn="ctr">
                        <a:defRPr sz="1000" b="0">
                          <a:solidFill>
                            <a:srgbClr val="0D1B2A"/>
                          </a:solidFill>
                          <a:latin typeface="Calibri"/>
                        </a:defRPr>
                      </a:pPr>
                      <a:r>
                        <a:t>All 6 core method</a:t>
                      </a:r>
                    </a:p>
                    <a:p>
                      <a:pPr algn="ctr">
                        <a:defRPr sz="1000" b="0">
                          <a:solidFill>
                            <a:srgbClr val="0D1B2A"/>
                          </a:solidFill>
                          <a:latin typeface="Calibri"/>
                        </a:defRPr>
                      </a:pPr>
                      <a:r>
                        <a:t>scores</a:t>
                      </a:r>
                    </a:p>
                  </a:txBody>
                  <a:tcPr anchor="ctr">
                    <a:solidFill>
                      <a:srgbClr val="F0F2F5"/>
                    </a:solidFill>
                  </a:tcPr>
                </a:tc>
                <a:tc>
                  <a:txBody>
                    <a:bodyPr lIns="64008" rIns="64008" tIns="36576" bIns="36576"/>
                    <a:lstStyle/>
                    <a:p>
                      <a:pPr algn="ctr">
                        <a:defRPr sz="1000" b="0">
                          <a:solidFill>
                            <a:srgbClr val="0D1B2A"/>
                          </a:solidFill>
                          <a:latin typeface="Calibri"/>
                        </a:defRPr>
                      </a:pPr>
                      <a:r>
                        <a:t>Corroborating evidence</a:t>
                      </a:r>
                    </a:p>
                    <a:p>
                      <a:pPr algn="ctr">
                        <a:defRPr sz="1000" b="0">
                          <a:solidFill>
                            <a:srgbClr val="0D1B2A"/>
                          </a:solidFill>
                          <a:latin typeface="Calibri"/>
                        </a:defRPr>
                      </a:pPr>
                      <a:r>
                        <a:t>from multiple signals</a:t>
                      </a:r>
                    </a:p>
                  </a:txBody>
                  <a:tcPr anchor="ctr">
                    <a:solidFill>
                      <a:srgbClr val="F0F2F5"/>
                    </a:solidFill>
                  </a:tcPr>
                </a:tc>
                <a:tc>
                  <a:txBody>
                    <a:bodyPr lIns="64008" rIns="64008" tIns="36576" bIns="36576"/>
                    <a:lstStyle/>
                    <a:p>
                      <a:pPr algn="ctr">
                        <a:defRPr sz="1000" b="0">
                          <a:solidFill>
                            <a:srgbClr val="0D1B2A"/>
                          </a:solidFill>
                          <a:latin typeface="Calibri"/>
                        </a:defRPr>
                      </a:pPr>
                      <a:r>
                        <a:t>Zone Div standalone</a:t>
                      </a:r>
                    </a:p>
                    <a:p>
                      <a:pPr algn="ctr">
                        <a:defRPr sz="1000" b="0">
                          <a:solidFill>
                            <a:srgbClr val="0D1B2A"/>
                          </a:solidFill>
                          <a:latin typeface="Calibri"/>
                        </a:defRPr>
                      </a:pPr>
                      <a:r>
                        <a:t>OR ≥ 2 methods agree</a:t>
                      </a:r>
                    </a:p>
                  </a:txBody>
                  <a:tcPr anchor="ctr">
                    <a:solidFill>
                      <a:srgbClr val="F0F2F5"/>
                    </a:solidFill>
                  </a:tcPr>
                </a:tc>
                <a:tc>
                  <a:txBody>
                    <a:bodyPr lIns="64008" rIns="64008" tIns="36576" bIns="36576"/>
                    <a:lstStyle/>
                    <a:p>
                      <a:pPr algn="ctr">
                        <a:defRPr sz="1000" b="0">
                          <a:solidFill>
                            <a:srgbClr val="0D1B2A"/>
                          </a:solidFill>
                          <a:latin typeface="Calibri"/>
                        </a:defRPr>
                      </a:pPr>
                      <a:r>
                        <a:t>Zone Div alone</a:t>
                      </a:r>
                    </a:p>
                    <a:p>
                      <a:pPr algn="ctr">
                        <a:defRPr sz="1000" b="0">
                          <a:solidFill>
                            <a:srgbClr val="0D1B2A"/>
                          </a:solidFill>
                          <a:latin typeface="Calibri"/>
                        </a:defRPr>
                      </a:pPr>
                      <a:r>
                        <a:t>OR consensus</a:t>
                      </a:r>
                    </a:p>
                  </a:txBody>
                  <a:tcPr anchor="ctr">
                    <a:solidFill>
                      <a:srgbClr val="F0F2F5"/>
                    </a:solidFill>
                  </a:tcPr>
                </a:tc>
              </a:tr>
            </a:tbl>
          </a:graphicData>
        </a:graphic>
      </p:graphicFrame>
      <p:sp>
        <p:nvSpPr>
          <p:cNvPr id="6" name="Rounded Rectangle 5"/>
          <p:cNvSpPr/>
          <p:nvPr/>
        </p:nvSpPr>
        <p:spPr>
          <a:xfrm>
            <a:off x="274320" y="5532120"/>
            <a:ext cx="11612880" cy="109728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1500" b="1">
                <a:solidFill>
                  <a:srgbClr val="B7950B"/>
                </a:solidFill>
                <a:latin typeface="Calibri"/>
              </a:defRPr>
            </a:pPr>
            <a:r>
              <a:t>5 Behavioral Zones (input to Zone Divergence, Contextual, Progression)</a:t>
            </a:r>
          </a:p>
          <a:p>
            <a:pPr algn="l">
              <a:spcBef>
                <a:spcPts val="600"/>
              </a:spcBef>
              <a:spcAft>
                <a:spcPts val="300"/>
              </a:spcAft>
              <a:defRPr sz="1300" b="0">
                <a:solidFill>
                  <a:srgbClr val="FFFFFF"/>
                </a:solidFill>
                <a:latin typeface="Calibri"/>
              </a:defRPr>
            </a:pPr>
            <a:r>
              <a:t>Identity (role, dept, clearance)  |  Access (auth patterns)  |  Data (file access behavior)  |  Network (traffic, DNS)  |  Risk (endpoint health)</a:t>
            </a:r>
          </a:p>
          <a:p>
            <a:pPr algn="l">
              <a:spcBef>
                <a:spcPts val="400"/>
              </a:spcBef>
              <a:spcAft>
                <a:spcPts val="300"/>
              </a:spcAft>
              <a:defRPr sz="1200" b="0">
                <a:solidFill>
                  <a:srgbClr val="BBBBBB"/>
                </a:solidFill>
                <a:latin typeface="Calibri"/>
              </a:defRPr>
            </a:pPr>
            <a:r>
              <a:t>Context-adaptive weights: Normal (equal) → Insider (data=40%) → APT Hunt (network=40%) → Privilege Audit (risk=40%)</a:t>
            </a:r>
          </a:p>
        </p:txBody>
      </p:sp>
      <p:sp>
        <p:nvSpPr>
          <p:cNvPr id="7" name="TextBox 6"/>
          <p:cNvSpPr txBox="1"/>
          <p:nvPr/>
        </p:nvSpPr>
        <p:spPr>
          <a:xfrm>
            <a:off x="457200" y="6446520"/>
            <a:ext cx="11247120" cy="320040"/>
          </a:xfrm>
          <a:prstGeom prst="rect">
            <a:avLst/>
          </a:prstGeom>
          <a:noFill/>
        </p:spPr>
        <p:txBody>
          <a:bodyPr wrap="square">
            <a:spAutoFit/>
          </a:bodyPr>
          <a:lstStyle/>
          <a:p>
            <a:pPr algn="l">
              <a:defRPr sz="1000" b="0">
                <a:solidFill>
                  <a:srgbClr val="B4B4B4"/>
                </a:solidFill>
                <a:latin typeface="Calibri"/>
              </a:defRPr>
            </a:pPr>
            <a:r>
              <a:t>22nd Century Technologies, Inc.  |  V-Intelligence UEBA Technical Analysis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