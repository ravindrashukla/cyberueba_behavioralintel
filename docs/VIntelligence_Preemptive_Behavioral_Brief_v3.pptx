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9C0C8"/>
                </a:solidFill>
                <a:latin typeface="Georgia"/>
              </a:defRPr>
            </a:pPr>
            <a:r>
              <a:t>V-INTELLIGENCE 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Preemptive Cyber Defense + Behavioral Trajectory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B0C0"/>
                </a:solidFill>
                <a:latin typeface="Calibri"/>
              </a:defRPr>
            </a:pPr>
            <a:r>
              <a:t>A Two-Layer Answer for Critical-Infrastructure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6B1F"/>
                </a:solidFill>
                <a:latin typeface="Calibri"/>
              </a:defRPr>
            </a:pPr>
            <a:r>
              <a:t>LAYER 1 — PREEMPTIVE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262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Mathematically prove every known attack path</a:t>
            </a:r>
            <a:br/>
            <a:r>
              <a:t>is closed — before any traffic 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062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9C0C8"/>
                </a:solidFill>
                <a:latin typeface="Calibri"/>
              </a:defRPr>
            </a:pPr>
            <a:r>
              <a:t>LAYER 2 — BEHAVIORAL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262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Continuous 1536-d behavioral trajectories</a:t>
            </a:r>
            <a:br/>
            <a:r>
              <a:t>with MITRE-mapped drift direction.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A0B0"/>
                </a:solidFill>
                <a:latin typeface="Calibri"/>
              </a:defRPr>
            </a:pPr>
            <a:r>
              <a:t>Prepared for discussion with Brandon Pugh  ·  R Street 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7080"/>
                </a:solidFill>
                <a:latin typeface="Calibri"/>
              </a:defRPr>
            </a:pPr>
            <a:r>
              <a:t>22nd Century Technologies Inc. (TSCTI)  ·  UNCLASSIFIED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Apex Adversaries Are Already Inside Critical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PRC state actors walked past every commercial defense — and stayed for years.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2788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7889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Georgia"/>
              </a:defRPr>
            </a:pPr>
            <a:r>
              <a:t>VOLT TYPHOON  ·  CISA AA24-038A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Mission: pre-position in U.S. energy, water, transport and comms for sabotage during crisis.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Living-off-the-Land — wmic, ntdsutil, netsh, rundll32. No malware, no signatures, no IOCs.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Every tool used is a legitimate Windows binary.</a:t>
            </a:r>
          </a:p>
          <a:p>
            <a:pPr algn="l">
              <a:spcBef>
                <a:spcPts val="800"/>
              </a:spcBef>
              <a:defRPr sz="1150" b="1">
                <a:solidFill>
                  <a:srgbClr val="C0392B"/>
                </a:solidFill>
                <a:latin typeface="Calibri"/>
              </a:defRPr>
            </a:pPr>
            <a:r>
              <a:t>5+ YEARS undetected dwell in U.S. critical infrastructure.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2788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91440" cy="2788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Georgia"/>
              </a:defRPr>
            </a:pPr>
            <a:r>
              <a:t>SALT TYPHOON  ·  CISA AA25-239A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01952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Mission: espionage at carrier scale across U.S. and allied telecom.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200+ telcos in 80+ countries; 9 U.S. carriers confirmed (AT&amp;T, Verizon, T-Mobile).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Accessed CALEA lawful-intercept systems used for senior U.S. officials.</a:t>
            </a:r>
          </a:p>
          <a:p>
            <a:pPr algn="l">
              <a:spcBef>
                <a:spcPts val="800"/>
              </a:spcBef>
              <a:defRPr sz="1150" b="1">
                <a:solidFill>
                  <a:srgbClr val="C0392B"/>
                </a:solidFill>
                <a:latin typeface="Calibri"/>
              </a:defRPr>
            </a:pPr>
            <a:r>
              <a:t>4+ YEARS undetected. Slow, sub-threshold, patient.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43400"/>
            <a:ext cx="11247120" cy="1783080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343400"/>
            <a:ext cx="91440" cy="17830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1655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6B1F"/>
                </a:solidFill>
                <a:latin typeface="Calibri"/>
              </a:defRPr>
            </a:pPr>
            <a:r>
              <a:t>THE POLICY INFLECTION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D3748"/>
                </a:solidFill>
                <a:latin typeface="Calibri"/>
              </a:defRPr>
            </a:pPr>
            <a:r>
              <a:t>Defense is shifting from reactive to preemptive. Gartner projects preemptive cybersecurity will grow from &lt;5% of security spending in 2024 to 50% by 2030. Yet 99% of firewall breaches are still misconfiguration, and threshold-based detection never fires on slow, credential-borne intrusions.</a:t>
            </a:r>
          </a:p>
          <a:p>
            <a:pPr algn="l">
              <a:spcBef>
                <a:spcPts val="800"/>
              </a:spcBef>
              <a:defRPr sz="1150" b="1">
                <a:solidFill>
                  <a:srgbClr val="0B1F3A"/>
                </a:solidFill>
                <a:latin typeface="Calibri"/>
              </a:defRPr>
            </a:pPr>
            <a:r>
              <a:t>The structural lesson of Volt + Salt Typhoon: we must prove the door is closed — and watch the room for what slips through. Neither layer alone is sufficient.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Years of undetected access vs. immediate identification — the gap is operational, not theoretical.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Current Tooling Cannot Close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Two structural gaps — one in prevention, one in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23317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331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26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PREVENTION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5648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Pentests sample; they never prove. Point-in-time and incomplete.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ASM sees what exists, not what is reachable.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Config review is manual — stale within hours.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The rule state space is too large to sample adequately.</a:t>
            </a:r>
          </a:p>
          <a:p>
            <a:pPr algn="l">
              <a:spcBef>
                <a:spcPts val="4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KEV patching covers only ~20% of attacks.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23317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91440" cy="2331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26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DETECTION FAILS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755648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Threshold UEBA: LoTL never crosses a fixed line.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Sigma rules: adversaries retool faster than rules ship.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Per-source silos: one attacker looks like 10 users.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"87% anomalous" — anomalous HOW? No direction.</a:t>
            </a:r>
          </a:p>
          <a:p>
            <a:pPr algn="l">
              <a:spcBef>
                <a:spcPts val="4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Only point-in-time snapshots — no trajectory.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86200"/>
            <a:ext cx="11247120" cy="2194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91440" cy="2194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4106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WHAT THE ADVERSARY EXPLOITS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159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Configuration gaps no one has PROVEN are 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Both Typhoons enter via unpatched / misconfigured edge devices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542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Valid credentials indistinguishable from legitimate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6542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Stolen creds pass every config-based check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926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Living-off-the-Land tools allowed by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9926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wmic / ntdsutil / netsh cannot be blanket-blocked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30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Slow drift invisible to fixed thresholds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3309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5+ year campaigns operate below every alert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Identity fragmentation hides cross-domain chains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669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A6878"/>
                </a:solidFill>
                <a:latin typeface="Calibri"/>
              </a:defRPr>
            </a:pPr>
            <a:r>
              <a:t>One attacker appears as 10 unrelated identities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Result: $0 invested in tooling that could have detected either campaign before public disclosure.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Two Layers, One Shared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Preemptive shrinks the attack surface mathematically. V-Intelligence detects what remains.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3246120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2461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6B1F"/>
                </a:solidFill>
                <a:latin typeface="Georgia"/>
              </a:defRPr>
            </a:pPr>
            <a:r>
              <a:t>LAYER 1 — PREEMPTIVE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Builds a formal mathematical model of every firewall, IdP, IPS, SASE and WAF and reasons exhaustively over the full configuration state space — no sampling.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Proves every known CVE path is blocked or compensated.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Catches config drift within the hour.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Complete reasoning — not probabilistic. Zero telemetry, zero agents.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F26B1F"/>
                </a:solidFill>
                <a:latin typeface="Calibri"/>
              </a:defRPr>
            </a:pPr>
            <a:r>
              <a:t>"Close the door before they knock."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349240" cy="32461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91440" cy="32461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447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91B2"/>
                </a:solidFill>
                <a:latin typeface="Georgia"/>
              </a:defRPr>
            </a:pPr>
            <a:r>
              <a:t>LAYER 2 — V-INTELLIGENCE UEBA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01952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Embeds 5 behavioral signals (auth, process, network, file, identity) into a unified 1536-d vector per entity, per window — and tracks the trajectory.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CUSUM change-point catches slow, sub-threshold drift.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Drift direction projects onto 8 MITRE ATT&amp;CK concepts — not "anomalous," but "drifting toward lateral_movement (T1021)."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Entity fusion unifies 10+ identity systems into one behavioral entity.</a:t>
            </a:r>
          </a:p>
          <a:p>
            <a:pPr algn="l">
              <a:spcBef>
                <a:spcPts val="800"/>
              </a:spcBef>
              <a:defRPr sz="1100" b="1">
                <a:solidFill>
                  <a:srgbClr val="0891B2"/>
                </a:solidFill>
                <a:latin typeface="Calibri"/>
              </a:defRPr>
            </a:pPr>
            <a:r>
              <a:t>"Watch the room for what slips through."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00600"/>
            <a:ext cx="11247120" cy="12801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800600"/>
            <a:ext cx="91440" cy="128016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5546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7A44"/>
                </a:solidFill>
                <a:latin typeface="Calibri"/>
              </a:defRPr>
            </a:pPr>
            <a:r>
              <a:t>VALIDATION — BLIND DETECTION TEST, 250 ENTITIES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9379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Against four stealth campaigns (insider, slow APT, Volt Typhoon LoTL, Salt Typhoon telecom): traditional SIEM caught 0 of 4; z-score caught 1 of 4; V-Intelligence + composite scoring caught 4 of 4 at 8.5% false-positive. Salt Typhoon (max z-score 1.71 — invisible to thresholds) ranked #1 of 250.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Shared MITRE vocabulary + single entity model = a system, not a bundle. Zero gaps between prevention and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CORE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Behavioral Meaning Beats Scalar 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The same number can mean two completely different things. Embeddings see the difference; counters never will.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49240" cy="41605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41605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35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C0392B"/>
                </a:solidFill>
                <a:latin typeface="Calibri"/>
              </a:defRPr>
            </a:pPr>
            <a:r>
              <a:t>TRADITIONAL TOOLS COUNT — THEY DO NOT COMPREHEND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Two users each touch 47 files this week. One reads their own team's documents; the other scans 12 departments at 2 a.m. A scalar feature sees the same number — 47. The attacker is invisible.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B1F3A"/>
                </a:solidFill>
                <a:latin typeface="Calibri"/>
              </a:defRPr>
            </a:pPr>
            <a:r>
              <a:t>EVERY TRADITIONAL METHOD HAS A FATAL FLAW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01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Isolation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4015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misses slow drift within normal ranges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856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One-Class SVM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7856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high false positives in high dimensions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69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Local Outlier Factor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41696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sensitive to feature 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53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Z-Score (|z|&gt;3)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5537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only catches single-feature spikes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Feature CUSUM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4937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flags everyone; no semantic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371600"/>
            <a:ext cx="5349240" cy="41605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1371600"/>
            <a:ext cx="91440" cy="41605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1435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891B2"/>
                </a:solidFill>
                <a:latin typeface="Calibri"/>
              </a:defRPr>
            </a:pPr>
            <a:r>
              <a:t>V-INTELLIGENCE READS BEHAVIOR AS MEANING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18470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1.  Serialize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13969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Raw metrics become prose: "USR-042 accessed 47 restricted files across 12 departments, 68% outside normal hours."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7797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2.  Embed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07238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Text → a 1,536-dimensional vector that captures behavioral semantics, not just counts.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712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3.  Five behavioral zones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00507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Identity · Access Pattern · Data Behavior · Network Footprint · Risk Posture.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6451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4.  Drift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93776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Cosine distance between consecutive weekly embeddings = the direction of behavioral change.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Scalar features see the same number. Embeddings see different meaning — that is the whole difference between 0/4 and 4/4.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What No Other UEBA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technique is well-known. The innovation is the integration — and seven pieces exist nowhere else.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074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1.  Behavioral embedding in a unified 1536-d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Industry scores features and rules. We embed behavior into vectors — meaning, not just magnitude.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25880"/>
            <a:ext cx="5349240" cy="1133856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25880"/>
            <a:ext cx="91440" cy="11338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38074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2.  Per-signal drift decomposition (6 vectors / 9,216-d)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2880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Five signals embedded individually + one composite. Tells you "AUTH drove 72% of the change."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1460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6946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3.  CUSUM change-point on embedding trajectories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1752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Sequential detection on vectors — minimax-optimal (Lorden 1971). Dwell of years collapses to days.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514600"/>
            <a:ext cx="5349240" cy="1133856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2514600"/>
            <a:ext cx="91440" cy="11338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6946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4.  Drift direction projected onto MITRE ATT&amp;CK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01752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Not "87% anomalous" but "drifting toward lateral_movement (T1021) at 0.82." Actionable, auditable.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0332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75818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5.  Entity fusion across 10+ identity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0624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AD, Entra, Okta, AWS, K8s, EDR, VPN, PKI, TACACS+ → one entity. An attacker stops looking like 10 users.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703320"/>
            <a:ext cx="5349240" cy="1133856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3703320"/>
            <a:ext cx="91440" cy="11338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75818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6.  HMAC-chained forensic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20624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Tamper-evident behavioral history — altering any past snapshot breaks the chain. Court-admissible.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92040"/>
            <a:ext cx="5349240" cy="1133856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89204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94690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B1F3A"/>
                </a:solidFill>
                <a:latin typeface="Calibri"/>
              </a:defRPr>
            </a:pPr>
            <a:r>
              <a:t>7.  ABAC trust loop with behavioral triggers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94960"/>
            <a:ext cx="4892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Detection and proportional enforcement in one system — step-up MFA to lockout in under 5 minutes.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892040"/>
            <a:ext cx="5349240" cy="1133856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4892040"/>
            <a:ext cx="91440" cy="11338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4946904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26B1F"/>
                </a:solidFill>
                <a:latin typeface="Calibri"/>
              </a:defRPr>
            </a:pPr>
            <a:r>
              <a:t>WHY IT COMPOUNDS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34924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 normal user can score high on one dimension by chance. An attacker scores high across many — embedding + trajectory + direction + fusion reinforce into one defensible signal.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commercial UEBA combines all seven. Most have zero. This is the differentiation, not an increment.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Inside the Engine: From Telemetry to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Dual embedding builds the entity; composite scoring decides who is anomalous.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3063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0632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264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THE BEHAVIORAL MATH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A.  Embed — 5 signal summaries → text-embedding-3-small → 1536-d behavioral state per window.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B.  Drift — drift(t) = 1 − cos(V_t, V_baseline).  Healthy ~0.02–0.05; compromised 0.06–0.15.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C.  CUSUM — S(t) = max(0, S(t−1) + drift − μ − k).  Alarm at 4σ. Accumulates sub-threshold drift.</a:t>
            </a:r>
          </a:p>
          <a:p>
            <a:pPr algn="l">
              <a:spcBef>
                <a:spcPts val="7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D.  Direction — proj(c) = cos(V_t − V_baseline, concept_c) over 8 MITRE concepts → top-3 + technique IDs.</a:t>
            </a:r>
          </a:p>
          <a:p>
            <a:pPr algn="l">
              <a:spcBef>
                <a:spcPts val="9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Dual embedding: 5 individual + 1 composite = 6 × 1,536 = 9,216 dims per entity, per window.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440680" cy="306324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91440" cy="30632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2646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5-PHASE COMPOSITE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2880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rPr b="1" sz="1050">
                <a:solidFill>
                  <a:srgbClr val="0B1F3A"/>
                </a:solidFill>
              </a:rPr>
              <a:t>Signal strength — </a:t>
            </a:r>
            <a:r>
              <a:rPr sz="1050">
                <a:solidFill>
                  <a:srgbClr val="2D3748"/>
                </a:solidFill>
              </a:rPr>
              <a:t>How far the drift exceeds the entity's own baseline.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b="1" sz="1050">
                <a:solidFill>
                  <a:srgbClr val="0B1F3A"/>
                </a:solidFill>
              </a:rPr>
              <a:t>Breadth — </a:t>
            </a:r>
            <a:r>
              <a:rPr sz="1050">
                <a:solidFill>
                  <a:srgbClr val="2D3748"/>
                </a:solidFill>
              </a:rPr>
              <a:t>How many of the behavioral features moved at once.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b="1" sz="1050">
                <a:solidFill>
                  <a:srgbClr val="0B1F3A"/>
                </a:solidFill>
              </a:rPr>
              <a:t>Sustained deviation — </a:t>
            </a:r>
            <a:r>
              <a:rPr sz="1050">
                <a:solidFill>
                  <a:srgbClr val="2D3748"/>
                </a:solidFill>
              </a:rPr>
              <a:t>Whether the shift persists window over window.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b="1" sz="1050">
                <a:solidFill>
                  <a:srgbClr val="0B1F3A"/>
                </a:solidFill>
              </a:rPr>
              <a:t>Context divergence — </a:t>
            </a:r>
            <a:r>
              <a:rPr sz="1050">
                <a:solidFill>
                  <a:srgbClr val="2D3748"/>
                </a:solidFill>
              </a:rPr>
              <a:t>Whether it appears under multiple analytical lenses.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  <a:r>
              <a:rPr b="1" sz="1050">
                <a:solidFill>
                  <a:srgbClr val="0B1F3A"/>
                </a:solidFill>
              </a:rPr>
              <a:t>Novelty persistence — </a:t>
            </a:r>
            <a:r>
              <a:rPr sz="1050">
                <a:solidFill>
                  <a:srgbClr val="2D3748"/>
                </a:solidFill>
              </a:rPr>
              <a:t>Whether genuinely new behaviors keep recurring.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0416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26B1F"/>
                </a:solidFill>
                <a:latin typeface="Calibri"/>
              </a:defRPr>
            </a:pPr>
            <a:r>
              <a:t>Fused into one ranked list. No single phase catches everyone.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17720"/>
            <a:ext cx="11247120" cy="1463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617720"/>
            <a:ext cx="91440" cy="146304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7258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E7A44"/>
                </a:solidFill>
                <a:latin typeface="Calibri"/>
              </a:defRPr>
            </a:pPr>
            <a:r>
              <a:t>THE PAYOFF — SEMANTIC SPACE SEPARATES WHAT FEATURE SPACE HIDES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In feature space the four stealth attackers sit inside the normal band — undetectable. In V-Intelligence's semantic embedding space, all four separate from the population. Composite scoring then ranks them: insider #2, slow APT #7, Volt Typhoon LoTL #24, Salt Typhoon #1 — all at 8.5% false-positive, where traditional methods caught zero.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V-Intelligence builds the digital entity. Composite scoring detects the anomaly. Direction makes it actionable.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Four Stealth Campaigns, Four Different Tells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No single method catches them all. Composite scoring catches each on the phase that exposes it — 250 entities, blind.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715768" cy="2514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514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26464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Georgia"/>
              </a:defRPr>
            </a:pPr>
            <a:r>
              <a:t>USR-156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55648"/>
            <a:ext cx="2441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878"/>
                </a:solidFill>
                <a:latin typeface="Calibri"/>
              </a:defRPr>
            </a:pPr>
            <a:r>
              <a:t>Insider Threat · 8-month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176272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Rank #2 / 250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5420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Tell: Signal Strength 30 + Breadth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971800"/>
            <a:ext cx="2441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Strong, broad, sustained escalation across many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371600"/>
            <a:ext cx="2715768" cy="2514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1371600"/>
            <a:ext cx="91440" cy="2514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426464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Georgia"/>
              </a:defRPr>
            </a:pPr>
            <a:r>
              <a:t>USR-234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755648"/>
            <a:ext cx="2441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878"/>
                </a:solidFill>
                <a:latin typeface="Calibri"/>
              </a:defRPr>
            </a:pPr>
            <a:r>
              <a:t>Slow APT · 180-day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176272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6B1F"/>
                </a:solidFill>
                <a:latin typeface="Calibri"/>
              </a:defRPr>
            </a:pPr>
            <a:r>
              <a:t>Rank #7 / 250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5420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Tell: Novelty Persistence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971800"/>
            <a:ext cx="2441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Low magnitude, but novel C2 destinations recur week after week.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1371600"/>
            <a:ext cx="2715768" cy="2514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6" y="1371600"/>
            <a:ext cx="91440" cy="251460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1426464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Georgia"/>
              </a:defRPr>
            </a:pPr>
            <a:r>
              <a:t>USR-042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1755648"/>
            <a:ext cx="2441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878"/>
                </a:solidFill>
                <a:latin typeface="Calibri"/>
              </a:defRPr>
            </a:pPr>
            <a:r>
              <a:t>Volt Typhoon LoTL · 115-day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176272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62A"/>
                </a:solidFill>
                <a:latin typeface="Calibri"/>
              </a:defRPr>
            </a:pPr>
            <a:r>
              <a:t>Rank #24 / 250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5420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Tell: Breadth 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2971800"/>
            <a:ext cx="2441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Living-off-the-Land creates breadth, not magnitude.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5984" y="1371600"/>
            <a:ext cx="2715768" cy="2514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15984" y="1371600"/>
            <a:ext cx="91440" cy="2514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1426464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Georgia"/>
              </a:defRPr>
            </a:pPr>
            <a:r>
              <a:t>USR-118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1755648"/>
            <a:ext cx="2441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878"/>
                </a:solidFill>
                <a:latin typeface="Calibri"/>
              </a:defRPr>
            </a:pPr>
            <a:r>
              <a:t>Salt Typhoon Telecom · 100-day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2176272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Rank #1 / 250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576" y="2542032"/>
            <a:ext cx="2441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Tell: Sustained 9.6 + Context 7.9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576" y="2971800"/>
            <a:ext cx="2441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Max z-score 1.71 — invisible to thresholds — ranked #1 of 250.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069080"/>
            <a:ext cx="5486400" cy="14173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069080"/>
            <a:ext cx="91440" cy="141732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41239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E7A44"/>
                </a:solidFill>
                <a:latin typeface="Calibri"/>
              </a:defRPr>
            </a:pPr>
            <a:r>
              <a:t>THE DISCRIMINATION MARGIN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462272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Normal users — average composite 6.6, max 21.5.</a:t>
            </a:r>
          </a:p>
          <a:p>
            <a:pPr algn="l">
              <a:spcBef>
                <a:spcPts val="5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Attackers — lowest 13.7, average 32.7.</a:t>
            </a:r>
          </a:p>
          <a:p>
            <a:pPr algn="l">
              <a:spcBef>
                <a:spcPts val="5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The gap between the strongest normal user and the weakest attacker is clean separation no single method achieves.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4069080"/>
            <a:ext cx="5577840" cy="14173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4069080"/>
            <a:ext cx="91440" cy="1417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41239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26B1F"/>
                </a:solidFill>
                <a:latin typeface="Calibri"/>
              </a:defRPr>
            </a:pPr>
            <a:r>
              <a:t>TIME-TO-DETECT — INSIDER (USR-156)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462272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C0392B"/>
                </a:solidFill>
                <a:latin typeface="Calibri"/>
              </a:defRPr>
            </a:pPr>
            <a:r>
              <a:t>Isolation Forest / SVM / LOF / Z-Score:  NEVER ALERT.</a:t>
            </a:r>
          </a:p>
          <a:p>
            <a:pPr algn="l">
              <a:spcBef>
                <a:spcPts val="500"/>
              </a:spcBef>
              <a:defRPr sz="1050" b="1">
                <a:solidFill>
                  <a:srgbClr val="1E7A44"/>
                </a:solidFill>
                <a:latin typeface="Calibri"/>
              </a:defRPr>
            </a:pPr>
            <a:r>
              <a:t>V-Intelligence + composite:  flags in Week 8 — before data-access escalation.</a:t>
            </a:r>
          </a:p>
          <a:p>
            <a:pPr algn="l">
              <a:spcBef>
                <a:spcPts val="5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Direction tracked: baseline → off-hours access → cross-dept scope creep → data staging + exfiltration.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4 / 4 detected at 8.5% false-positive — versus 0 / 4 traditional and 1 / 4 z-score. Earlier detection = smaller blast radius.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PATH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Proven Foundation, National Relevance, Open to Partnership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A capability built on a fielded model — and a conversation worth having.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11880" cy="3383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33832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6B1F"/>
                </a:solidFill>
                <a:latin typeface="Calibri"/>
              </a:defRPr>
            </a:pPr>
            <a:r>
              <a:t>PROVEN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Behavioral trajectory engine fielded at DLA on the Entity Digital Model (500+ entities, CUSUM, 5 signals).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Same architecture, retargeted to cyber UEBA.</a:t>
            </a:r>
          </a:p>
          <a:p>
            <a:pPr algn="l">
              <a:spcBef>
                <a:spcPts val="4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4 / 4 stealth campaigns detected at 8.5% FP in blind test.</a:t>
            </a:r>
          </a:p>
          <a:p>
            <a:pPr algn="l">
              <a:spcBef>
                <a:spcPts val="8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Explainable: WHAT is happening, WHERE it lives, WHO else is affected.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3611880" cy="3383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91440" cy="3383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44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NATIONAL RELEVANCE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Directly counters the Volt + Salt Typhoon playbook the nation is now contending with.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Aligns with the preemptive-defense shift (Gartner: 50% by 2030).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Deployable across IL5 / IL6 / JWICS; local model option for air-gapped enclaves.</a:t>
            </a:r>
          </a:p>
          <a:p>
            <a:pPr algn="l"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No PII in embeddings — privacy-preserving by design.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657600" cy="338328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91440" cy="3383280"/>
          </a:xfrm>
          <a:prstGeom prst="rect">
            <a:avLst/>
          </a:prstGeom>
          <a:solidFill>
            <a:srgbClr val="1E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4475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7A44"/>
                </a:solidFill>
                <a:latin typeface="Calibri"/>
              </a:defRPr>
            </a:pPr>
            <a:r>
              <a:t>WHERE R STREET 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828800"/>
            <a:ext cx="3246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Independent perspective on the preemptive + behavioral framing for critical-infrastructure policy.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Thought-leadership on closing the LoTL / valid-account detection gap.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2D3748"/>
                </a:solidFill>
                <a:latin typeface="Calibri"/>
              </a:defRPr>
            </a:pPr>
            <a:r>
              <a:t>A grounded reference case for the reactive-to-preemptive transition.</a:t>
            </a:r>
          </a:p>
          <a:p>
            <a:pPr algn="l">
              <a:spcBef>
                <a:spcPts val="800"/>
              </a:spcBef>
              <a:defRPr sz="1050" b="1">
                <a:solidFill>
                  <a:srgbClr val="0B1F3A"/>
                </a:solidFill>
                <a:latin typeface="Calibri"/>
              </a:defRPr>
            </a:pPr>
            <a:r>
              <a:t>Explore: briefing, joint commentary, or validation dialogue.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37760"/>
            <a:ext cx="11247120" cy="1143000"/>
          </a:xfrm>
          <a:prstGeom prst="roundRect">
            <a:avLst/>
          </a:prstGeom>
          <a:solidFill>
            <a:srgbClr val="071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Preemptive closes the door. V-Intelligence watches the room. Together: detect behavioral shifts hours before IOCs fire — explain what is happening, act proportionally.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A8C0"/>
                </a:solidFill>
                <a:latin typeface="Calibri"/>
              </a:defRPr>
            </a:pPr>
            <a:r>
              <a:t>22nd Century Technologies Inc.  ·  Contact: ravindra.shukla@gmail.com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