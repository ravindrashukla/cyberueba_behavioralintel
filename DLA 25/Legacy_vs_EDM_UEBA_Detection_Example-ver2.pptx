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0"/>
    <p:sldId id="26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Legacy</c:v>
                </c:pt>
              </c:strCache>
            </c:strRef>
          </c:tx>
          <c:spPr>
            <a:solidFill>
              <a:srgbClr val="1F5E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Attacks caught (of 4)</c:v>
                </c:pt>
                <c:pt idx="1">
                  <c:v>Stealth attacks missed</c:v>
                </c:pt>
                <c:pt idx="2">
                  <c:v>Normal users false-flagged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4</c:v>
                </c:pt>
                <c:pt idx="2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8-46B6-94B7-1600E80AC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EDM Vector Intelligence</c:v>
                </c:pt>
              </c:strCache>
            </c:strRef>
          </c:tx>
          <c:spPr>
            <a:solidFill>
              <a:srgbClr val="1184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D2430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Attacks caught (of 4)</c:v>
                </c:pt>
                <c:pt idx="1">
                  <c:v>Stealth attacks missed</c:v>
                </c:pt>
                <c:pt idx="2">
                  <c:v>Normal users false-flagged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8-46B6-94B7-1600E80AC4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A75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6A75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18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Legacy detection: a transparent single-user baseline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Useful and explainable — yet it only sees this user’s own activity against a fixed threshold.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one user, fixed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This user’s sign-in history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90-day window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Static alert thresholds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count, threshold, flag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Failed-login counters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Signature / rule match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Fixed anomaly thresholds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Point-anomaly scoring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an alert, or silence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Per-user rule hits</a:t>
            </a:r>
            <a:endParaRPr lang="en-US" sz="1200" dirty="0"/>
          </a:p>
          <a:p>
            <a:pPr/>
            <a:r>
              <a:rPr sz="1200">
                <a:solidFill>
                  <a:srgbClr val="DCE6F4"/>
                </a:solidFill>
                <a:latin typeface="Aptos"/>
              </a:rPr>
              <a:t>Binary alert / no-alert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STEALTH ATTACKS · 0 of 4 flagged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26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limits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No peer/cohort context   ·   slow attacks stay under thresholds   ·   thresholds are fixed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Same logs, re-imagined as living behavioral entities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The identical records become connected, time-aware entities — ready for GenAI-grade detection.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926080" cy="352044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data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Same sign-in &amp; access logs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Network &amp; endpoint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User &amp; device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83864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945636" y="1572768"/>
            <a:ext cx="4297680" cy="3520440"/>
          </a:xfrm>
          <a:prstGeom prst="roundRect">
            <a:avLst>
              <a:gd name="adj" fmla="val 1818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74236" y="1773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BEHAVIORAL TWIN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74236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DB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re-imagine the data model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74236" y="24688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57116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tracked over time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74236" y="307238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57116" y="30723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Learns from peers (its cohort)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74236" y="367588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7116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drift — where it’s heading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74236" y="42793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15355C"/>
          </a:solidFill>
          <a:ln w="12700">
            <a:solidFill>
              <a:srgbClr val="2C56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57116" y="42793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E3ECF7"/>
                </a:solidFill>
                <a:latin typeface="Aptos"/>
              </a:rPr>
              <a:t>Matches known-bad profiles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48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8805672" y="1572768"/>
            <a:ext cx="2928823" cy="3520440"/>
          </a:xfrm>
          <a:prstGeom prst="roundRect">
            <a:avLst>
              <a:gd name="adj" fmla="val 2185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34272" y="1773936"/>
            <a:ext cx="24716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18484"/>
                </a:solidFill>
                <a:latin typeface="Aptos"/>
              </a:rPr>
              <a:t>DETECTION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34272" y="2066544"/>
            <a:ext cx="24716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forward-looking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34272" y="2441448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2615184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45752" y="2441448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Behavioral risk model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34272" y="3008376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198864" y="3182112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445752" y="3008376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+ cohort drift signal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034272" y="3575304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198864" y="3749040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45752" y="3575304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Calibrated, evidence-backed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34272" y="4142232"/>
            <a:ext cx="2471623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198864" y="4315968"/>
            <a:ext cx="118872" cy="11887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445752" y="4142232"/>
            <a:ext cx="1922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Catches low-and-slow attacks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394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1D2430"/>
                </a:solidFill>
                <a:latin typeface="Aptos"/>
              </a:rPr>
              <a:t>Same data, a richer model — it captures what a user HAS done plus where they’re HEADING.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difference: same data, a calibrated result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On the same logs, Vector Intelligence catches all 4 stealth attacks — earlier warning, fewer false alarms.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612648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02A4C"/>
                </a:solidFill>
                <a:latin typeface="Aptos"/>
              </a:rPr>
              <a:t>Detection on the same logs — Legacy vs EDM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130552"/>
          <a:ext cx="58064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58000" y="1627632"/>
            <a:ext cx="4876495" cy="1554480"/>
          </a:xfrm>
          <a:prstGeom prst="roundRect">
            <a:avLst>
              <a:gd name="adj" fmla="val 4706"/>
            </a:avLst>
          </a:prstGeom>
          <a:solidFill>
            <a:srgbClr val="102A4C"/>
          </a:solidFill>
          <a:ln/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132320" y="182880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4000" b="1">
                <a:solidFill>
                  <a:srgbClr val="F36C21"/>
                </a:solidFill>
                <a:latin typeface="Aptos"/>
              </a:rPr>
              <a:t>0 → 4 of 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132320" y="2496312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300">
                <a:solidFill>
                  <a:srgbClr val="DCE6F4"/>
                </a:solidFill>
                <a:latin typeface="Aptos"/>
              </a:rPr>
              <a:t>stealth attacks caught that legacy scored as normal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3346704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59168" y="3657600"/>
            <a:ext cx="164592" cy="16459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33488" y="3456432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Sees the trajectory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333488" y="3730752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E6A75"/>
                </a:solidFill>
                <a:latin typeface="Aptos"/>
              </a:rPr>
              <a:t>Catches a slow breach before any single rule trips.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0" y="4242816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59168" y="4553712"/>
            <a:ext cx="164592" cy="164592"/>
          </a:xfrm>
          <a:prstGeom prst="ellipse">
            <a:avLst/>
          </a:prstGeom>
          <a:solidFill>
            <a:srgbClr val="11848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33488" y="4352544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1">
                <a:solidFill>
                  <a:srgbClr val="102A4C"/>
                </a:solidFill>
                <a:latin typeface="Aptos"/>
              </a:rPr>
              <a:t>Right-sized alerts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33488" y="4626864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E6A75"/>
                </a:solidFill>
                <a:latin typeface="Aptos"/>
              </a:rPr>
              <a:t>39 legacy false alarms → 0 on the profile match.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0" y="5138928"/>
            <a:ext cx="487649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7059168" y="5449824"/>
            <a:ext cx="164592" cy="164592"/>
          </a:xfrm>
          <a:prstGeom prst="ellipse">
            <a:avLst/>
          </a:prstGeom>
          <a:solidFill>
            <a:srgbClr val="F36C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33488" y="5248656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drivers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33488" y="5522976"/>
            <a:ext cx="4218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5E6A75"/>
                </a:solidFill>
                <a:latin typeface="Aptos"/>
              </a:rPr>
              <a:t>Shows which behavior fired — cohort, drift, known-bad profile.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598932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i="1">
                <a:solidFill>
                  <a:srgbClr val="5E6A75"/>
                </a:solidFill>
                <a:latin typeface="Aptos"/>
              </a:rPr>
              <a:t>Synthetic / representative demo data — to be revalidated on customer SOC data before production claims.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How the Behavioral Twin catches what rules miss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Three complementary fronts turn the same logs into named, evidence-backed detections.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THREE FRONTS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complementary views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Cohort-relative deviation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Self-drift over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Raw-event fingerprints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KNOWN-BAD PROFILES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measurable fingerprints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C2-beacon rhythm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DGA-DNS domains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Cohort-rare destinations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Mass data collection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NAMED ALERT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technique + evidence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Which behavior fired</a:t>
            </a:r>
            <a:endParaRPr lang="en-US" sz="1200" dirty="0"/>
          </a:p>
          <a:p>
            <a:pPr/>
            <a:r>
              <a:rPr sz="1200">
                <a:solidFill>
                  <a:srgbClr val="DCE6F4"/>
                </a:solidFill>
                <a:latin typeface="Aptos"/>
              </a:rPr>
              <a:t>Why it’s abnormal vs peers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of 4 caught · 0 false positives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Why it holds up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Each flag is a named technique with raw evidence — not an unexplained anomaly score.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3657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102A4C"/>
                </a:solidFill>
                <a:latin typeface="Aptos"/>
              </a:rPr>
              <a:t>The four stealth attacks — each caught by name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317175" y="365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Lead: Ravindra Shukla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i="1">
                <a:solidFill>
                  <a:srgbClr val="1F5E9C"/>
                </a:solidFill>
                <a:latin typeface="Aptos"/>
              </a:rPr>
              <a:t>Same logs legacy scored as normal; every campaign matched a measurable known-bad profile.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200400" cy="35204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LEGACY SAW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point-anomaly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44144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0392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USR-156, USR-234:  normal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0837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USR-042, USR-118:  normal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5753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0 of 4 flagged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76472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265676" y="1572768"/>
            <a:ext cx="3566160" cy="352044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4276" y="17739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F5E9C"/>
                </a:solidFill>
                <a:latin typeface="Aptos"/>
              </a:rPr>
              <a:t>PROFILE THAT FIRED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94276" y="20665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5E6A75"/>
                </a:solidFill>
                <a:latin typeface="Aptos"/>
              </a:rPr>
              <a:t>named technique match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76" y="2441448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58868" y="2615184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05756" y="2441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USR-156 · mass collection + rare dst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94276" y="3008376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8868" y="3182112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05756" y="3008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USR-234 · C2 beacon + DGA domains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94276" y="3575304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58868" y="3749040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5756" y="357530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USR-042 · living-off-the-land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4276" y="4142232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EAF3FC"/>
          </a:solidFill>
          <a:ln w="12700">
            <a:solidFill>
              <a:srgbClr val="CBD7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8868" y="4315968"/>
            <a:ext cx="118872" cy="118872"/>
          </a:xfrm>
          <a:prstGeom prst="ellipse">
            <a:avLst/>
          </a:prstGeom>
          <a:solidFill>
            <a:srgbClr val="1F5E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5756" y="4142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1D2430"/>
                </a:solidFill>
                <a:latin typeface="Aptos"/>
              </a:rPr>
              <a:t>USR-118 · recon fan-out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55280" y="31043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8439912" y="1572768"/>
            <a:ext cx="3294583" cy="3520440"/>
          </a:xfrm>
          <a:prstGeom prst="roundRect">
            <a:avLst>
              <a:gd name="adj" fmla="val 1943"/>
            </a:avLst>
          </a:prstGeom>
          <a:solidFill>
            <a:srgbClr val="102A4C"/>
          </a:solidFill>
          <a:ln w="12700">
            <a:solidFill>
              <a:srgbClr val="CBD7E3"/>
            </a:solidFill>
            <a:prstDash val="solid"/>
          </a:ln>
          <a:effectLst>
            <a:outerShdw blurRad="88900" dist="254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77393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ptos"/>
              </a:rPr>
              <a:t>RESULT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668512" y="2066544"/>
            <a:ext cx="28373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i="1">
                <a:solidFill>
                  <a:srgbClr val="9DB8D6"/>
                </a:solidFill>
                <a:latin typeface="Aptos"/>
              </a:rPr>
              <a:t>named &amp; evidence-backed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68512" y="2487168"/>
            <a:ext cx="28373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DCE6F4"/>
                </a:solidFill>
                <a:latin typeface="Aptos"/>
              </a:rPr>
              <a:t>Every campaign matched a</a:t>
            </a:r>
            <a:endParaRPr lang="en-US" sz="1200" dirty="0"/>
          </a:p>
          <a:p>
            <a:pPr/>
            <a:r>
              <a:rPr sz="1200">
                <a:solidFill>
                  <a:srgbClr val="DCE6F4"/>
                </a:solidFill>
                <a:latin typeface="Aptos"/>
              </a:rPr>
              <a:t>measurable known-bad profile</a:t>
            </a:r>
          </a:p>
        </p:txBody>
      </p:sp>
      <p:sp>
        <p:nvSpPr>
          <p:cNvPr id="38" name="Text 36"/>
          <p:cNvSpPr/>
          <p:nvPr/>
        </p:nvSpPr>
        <p:spPr>
          <a:xfrm>
            <a:off x="8668512" y="4453128"/>
            <a:ext cx="28373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 i="1">
                <a:solidFill>
                  <a:srgbClr val="F36C21"/>
                </a:solidFill>
                <a:latin typeface="Aptos"/>
              </a:rPr>
              <a:t>4 of 4 caught · 0 false positives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321808"/>
            <a:ext cx="11277295" cy="841248"/>
          </a:xfrm>
          <a:prstGeom prst="roundRect">
            <a:avLst>
              <a:gd name="adj" fmla="val 6522"/>
            </a:avLst>
          </a:prstGeom>
          <a:solidFill>
            <a:srgbClr val="FBEDE6"/>
          </a:solidFill>
          <a:ln w="12700">
            <a:solidFill>
              <a:srgbClr val="F36C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F5E9C"/>
                </a:solidFill>
                <a:latin typeface="Aptos"/>
              </a:rPr>
              <a:t>Bottom line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" y="5705856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1D2430"/>
                </a:solidFill>
                <a:latin typeface="Aptos"/>
              </a:rPr>
              <a:t>Each attack is named by the behavior that gave it away — auditable, not a black-box score.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5E6A75"/>
                </a:solidFill>
                <a:latin typeface="Aptos"/>
              </a:rPr>
              <a:t>CONFIDENTIAL  |  22nd Century Technologies  |  EDM Vector Intelligence — Cyber UEBA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E6A75"/>
                </a:solidFill>
                <a:latin typeface="Aptos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348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vs EDM Demand Forecast</dc:title>
  <dc:subject>PptxGenJS Presentation</dc:subject>
  <dc:creator>22nd Century Technologies</dc:creator>
  <cp:lastModifiedBy>Ravindra Shukla</cp:lastModifiedBy>
  <cp:revision>1</cp:revision>
  <dcterms:created xsi:type="dcterms:W3CDTF">2026-06-13T21:16:26Z</dcterms:created>
  <dcterms:modified xsi:type="dcterms:W3CDTF">2026-06-14T02:18:13Z</dcterms:modified>
</cp:coreProperties>
</file>