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97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rPr dirty="0"/>
              <a:t>22nd Century Technologies Inc.</a:t>
            </a:r>
            <a:br>
              <a:rPr dirty="0"/>
            </a:br>
            <a:r>
              <a:rPr dirty="0"/>
              <a:t>COMPREHENSIVE DEFENSE AGAINST</a:t>
            </a:r>
            <a:br>
              <a:rPr dirty="0"/>
            </a:br>
            <a:r>
              <a:rPr dirty="0"/>
              <a:t>VOLT &amp; SALT TYPHOON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B0C0"/>
                </a:solidFill>
                <a:latin typeface="Calibri"/>
              </a:defRPr>
            </a:pPr>
            <a:r>
              <a:t>Preemptive Cyber Defense  +  ACECARD 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090"/>
                </a:solidFill>
                <a:latin typeface="Calibri"/>
              </a:defRPr>
            </a:pPr>
            <a:r>
              <a:t>22nd Century Technologies Inc. (TSCTI)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PREEMPTIVE LAYER</a:t>
            </a:r>
            <a:br/>
            <a:r>
              <a:t>Mathematically verifies every defensive control</a:t>
            </a:r>
            <a:br/>
            <a:r>
              <a:t>closes every known TTP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3891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Calibri"/>
              </a:defRPr>
            </a:pPr>
            <a:r>
              <a:t>BEHAVIORAL LAYER</a:t>
            </a:r>
            <a:br/>
            <a:r>
              <a:t>ACECARD UEBA</a:t>
            </a:r>
            <a:br/>
            <a:r>
              <a:t>Continuous 1536-d behavioral trajectories</a:t>
            </a:r>
            <a:br/>
            <a:r>
              <a:t>with MITRE-mapped drift direction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THREAT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The Threat: Two Apex Predators in U.S. Critical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Both groups are PRC state-sponsored. Both prepare for disruption. Both walked past commercial defenses undetected.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50292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A"/>
                </a:solidFill>
                <a:latin typeface="Georgia"/>
              </a:defRPr>
            </a:pPr>
            <a:r>
              <a:t>VOLT TYPHOON  (CISA AA24-038A)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Pre-position in U.S. critical infrastructure (energy, water, transport, comms) for sabotage during geopolitical crisis.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SIGNATURE TTPs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Initial access via unpatched edge devices (Fortinet, Versa, Ivanti, PAN)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Living-off-the-Land: wmic, ntdsutil, netsh, rundll32, certutil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KV Botnet C2 (compromised SOHO routers)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Credential dumping: ntdsutil ifm, LSASS extraction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Lateral: SMB/RDP/WinRM with stolen admin credentials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Persistence: 5+ YEARS undetected dwell</a:t>
            </a:r>
          </a:p>
          <a:p>
            <a:pPr>
              <a:spcBef>
                <a:spcPts val="400"/>
              </a:spcBef>
              <a:defRPr sz="800" b="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No malware. No signatures. No IOCs.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Every tool used is a legitimate Windows binary.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91440" cy="5029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417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F3A"/>
                </a:solidFill>
                <a:latin typeface="Georgia"/>
              </a:defRPr>
            </a:pPr>
            <a:r>
              <a:t>SALT TYPHOON  (CISA AA25-239A)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Calibri"/>
              </a:defRPr>
            </a:pPr>
            <a:r>
              <a:t>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Espionage at carrier scale. Compromised 200+ telcos in 80+ countries. Accessed CALEA lawful intercept.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26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Calibri"/>
              </a:defRPr>
            </a:pPr>
            <a:r>
              <a:t>SIGNATURE TTPs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004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Exploits known CVEs: Cisco IOS XE (CVE-2023-20198), Ivanti, PAN, Citrix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Creates local admin accounts on routers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Modifies ACLs to whitelist attacker IPs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TACACS+ credential capture (TCP/49)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GRE tunneling + JumbledPath malware for C2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CALEA wiretap access + CDR exfiltration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GhostSpider, Demodex, SnappyBee implants</a:t>
            </a:r>
          </a:p>
          <a:p>
            <a:pPr>
              <a:spcBef>
                <a:spcPts val="400"/>
              </a:spcBef>
              <a:defRPr sz="800" b="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4+ YEARS undetected. 9 US telcos confirmed.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Sources: CISA AA24-038A; CISA AA25-239A; FBI/NSA/Five-Eyes Joint Advisory; Microsoft Threat Intelligence; Trend Micro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Why Current Defenses Fail Against These Adversaries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Two structural gaps -- one in preemption, one in detection -- that traditional tooling cannot close.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103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103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PREEMPTIVE LAYER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99% of firewall breaches are misconfiguration (Gartner)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KEV patching covers only ~20% of attacks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Pentest: point-in-time, incomplete, expensive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ASM: sees what exists, not what is REACHABLE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Config review: manual, stale within hours of completion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2^8000 rule state space cannot be sampled adequately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103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91440" cy="2103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DETECTION LAYER FAILS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Threshold-based UEBA: LoTL never crosses fixed thresholds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Sigma rules: adversary downloads published rules, retool in 2 weeks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Per-source silos: each system sees 1 identity, no cross-domain correlation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Anomaly score without direction: "87% anomalous" -- anomalous HOW?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30-45 min analyst triage per alert (MTTR &gt; dwell window)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No behavioral TRAJECTORY -- only point-in-time snapshots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11064240" cy="2743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91440" cy="2743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Calibri"/>
              </a:defRPr>
            </a:pPr>
            <a:r>
              <a:t>WHAT THESE ADVERSARIES EXPLOIT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Configuration gaps exist that no one has PROVEN are closed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Both Typhoons enter via unpatched/misconfigured edge devices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074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Valid credentials are indistinguishable from legitimate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4074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Stolen creds pass every config-based check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914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LoTL tools are allowed by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7914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wmic/ntdsutil/netsh are legitimate admin tools -- cannot be blanket-blocked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755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Slow drift is invisible to fixed thresholds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1755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5+ year campaigns operate below every alert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595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Identity fragmentation hides cross-domain attack chains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559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One attacker appears as 10 unrelated identities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RESULT: $0 invested in tools that could have detected either campaign before disclosure.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CYBERSECURITY LIFECYCLE  --  PREEMPTIVE vs. REACTIVE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The Cybersecurity Lifecycle: Preemptive vs. Reactive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878"/>
                </a:solidFill>
                <a:latin typeface="Calibri"/>
              </a:defRPr>
            </a:pPr>
            <a:r>
              <a:t>Where attacks are neutralized -- and where preemptive verification fills the gap no reactive tool can address.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8686800" cy="25603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6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43200" cy="274320"/>
          </a:xfrm>
          <a:prstGeom prst="rect">
            <a:avLst/>
          </a:prstGeom>
          <a:solidFill>
            <a:srgbClr val="16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5272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1: Preempt &amp; 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2527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66B3A"/>
                </a:solidFill>
                <a:latin typeface="Calibri"/>
              </a:defRPr>
            </a:pPr>
            <a:r>
              <a:t>The missing layer -- before any traffic flows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1645920" cy="1645920"/>
          </a:xfrm>
          <a:prstGeom prst="rect">
            <a:avLst/>
          </a:prstGeom>
          <a:solidFill>
            <a:srgbClr val="16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~85%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of attack surface</a:t>
            </a:r>
            <a:br/>
            <a:r>
              <a:t>eliminated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1645920"/>
            <a:ext cx="640080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166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0320" y="166420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6B3A"/>
                </a:solidFill>
                <a:latin typeface="Calibri"/>
              </a:defRPr>
            </a:pPr>
            <a:r>
              <a:t>Preemptive posture verification -- formal mathematical defense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920240"/>
            <a:ext cx="6035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Attack Intelligence: LLMs + NLP ingest threat intel (CVEs, IOCs, IOAs) to build MITRE ATT&amp;CK attack graphs</a:t>
            </a:r>
          </a:p>
          <a:p>
            <a:pPr>
              <a:spcBef>
                <a:spcPts val="400"/>
              </a:spcBef>
              <a:defRPr sz="850" b="0">
                <a:solidFill>
                  <a:srgbClr val="2D3748"/>
                </a:solidFill>
                <a:latin typeface="Calibri"/>
              </a:defRPr>
            </a:pPr>
            <a:r>
              <a:t>Defense Intelligence: Formal math model of all NGFW configs (100K+ states, 2^8000 defense space) -- no sampling</a:t>
            </a:r>
          </a:p>
          <a:p>
            <a:pPr>
              <a:spcBef>
                <a:spcPts val="400"/>
              </a:spcBef>
              <a:defRPr sz="850" b="0">
                <a:solidFill>
                  <a:srgbClr val="2D3748"/>
                </a:solidFill>
                <a:latin typeface="Calibri"/>
              </a:defRPr>
            </a:pPr>
            <a:r>
              <a:t>Remediation Intelligence: Guardrailed agentic-AI prescribes vendor-specific, risk-prioritized fixes -- no new errors</a:t>
            </a:r>
          </a:p>
          <a:p>
            <a:pPr>
              <a:spcBef>
                <a:spcPts val="400"/>
              </a:spcBef>
              <a:defRPr sz="850" b="1">
                <a:solidFill>
                  <a:srgbClr val="0B1F3A"/>
                </a:solidFill>
                <a:latin typeface="Calibri"/>
              </a:defRPr>
            </a:pPr>
            <a:r>
              <a:t>Finds: shadows, conflicts, weak rules, redundancies, missing threat profiles, intent errors, multi-rule/device errors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800" b="0">
                <a:solidFill>
                  <a:srgbClr val="C0392B"/>
                </a:solidFill>
                <a:latin typeface="Calibri"/>
              </a:defRPr>
            </a:pPr>
            <a:r>
              <a:t>99% of firewall breaches are caused by misconfiguration, not flaws in the firewall itself (Gartner)</a:t>
            </a:r>
          </a:p>
          <a:p>
            <a:pPr>
              <a:spcBef>
                <a:spcPts val="400"/>
              </a:spcBef>
              <a:defRPr sz="800" b="1">
                <a:solidFill>
                  <a:srgbClr val="166B3A"/>
                </a:solidFill>
                <a:latin typeface="Calibri"/>
              </a:defRPr>
            </a:pPr>
            <a:r>
              <a:t>No telemetry  |  No agents  |  Config-only pull  |  Zero false positives  |  Time to value &lt; 4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65760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66B3A"/>
                </a:solidFill>
                <a:latin typeface="Calibri"/>
              </a:defRPr>
            </a:pPr>
            <a:r>
              <a:t>Pushes verified, flawless rules down to...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840480"/>
            <a:ext cx="8686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5A6878"/>
                </a:solidFill>
                <a:latin typeface="Calibri"/>
              </a:defRPr>
            </a:pPr>
            <a:r>
              <a:t>The live environment -- all tools below are reactive (detect &amp; respond after breach)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023360"/>
            <a:ext cx="8686800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04164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2: Prevent (perimeter)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43400"/>
            <a:ext cx="173736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3616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NGFW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445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Palo Alto, Fortinet, Cisco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7440" y="4343400"/>
            <a:ext cx="173736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68880" y="43616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Vuln Scanners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5445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Qualys, Tenable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343400"/>
            <a:ext cx="173736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0" y="43616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IAM / PAM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5445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CyberArk, Okta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343400"/>
            <a:ext cx="173736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43616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ZTNA / CASB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5445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Zscaler, Netskope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4023360"/>
            <a:ext cx="1097280" cy="7315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0" y="4069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~10%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434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blocked at</a:t>
            </a:r>
            <a:br/>
            <a:r>
              <a:t>perimeter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846320"/>
            <a:ext cx="5486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If attacker bypasses perimeter... (avg. breakout: 29 min)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029200"/>
            <a:ext cx="868680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504748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3: Detect &amp; respond (endpoints &amp; network)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349240"/>
            <a:ext cx="173736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53675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EDR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5504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CrowdStrike, Defender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77440" y="5349240"/>
            <a:ext cx="173736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68880" y="53675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NDR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8880" y="55504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Darktrace, ExtraHop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80" y="5349240"/>
            <a:ext cx="173736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89120" y="53675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UEBA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55504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Behavioral analytics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5349240"/>
            <a:ext cx="173736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09360" y="53675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DLP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55504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Symantec, Forcepoint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5029200"/>
            <a:ext cx="1097280" cy="7315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412480" y="5074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~4%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5440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caught at</a:t>
            </a:r>
            <a:br/>
            <a:r>
              <a:t>endpoints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0" y="5852160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Sends alerts and logs...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989320"/>
            <a:ext cx="86868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7200" y="60076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Stage 4: Visibility &amp; triage (the SOC)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6291072"/>
            <a:ext cx="1737360" cy="3657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48640" y="630936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SIEM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45566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Splunk, Sentinel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377440" y="6291072"/>
            <a:ext cx="1737360" cy="3657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468880" y="630936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SOAR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68880" y="6455664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XSOAR, Splunk SOAR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2480" y="5989320"/>
            <a:ext cx="109728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412480" y="6035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~1%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0" y="63550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triaged by</a:t>
            </a:r>
            <a:br/>
            <a:r>
              <a:t>SOC analysts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692640" y="1188720"/>
            <a:ext cx="2286000" cy="5394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692640" y="1188720"/>
            <a:ext cx="91440" cy="5394960"/>
          </a:xfrm>
          <a:prstGeom prst="rect">
            <a:avLst/>
          </a:prstGeom>
          <a:solidFill>
            <a:srgbClr val="16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875520" y="1234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6B3A"/>
                </a:solidFill>
                <a:latin typeface="Calibri"/>
              </a:defRPr>
            </a:pPr>
            <a:r>
              <a:t>THE TAKEAWAY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75520" y="1554480"/>
            <a:ext cx="1920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CrowdStrike, Defender, Splunk are reactive -- alarms that go off when the burglar is already inside.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900" b="1">
                <a:solidFill>
                  <a:srgbClr val="0B1F3A"/>
                </a:solidFill>
                <a:latin typeface="Calibri"/>
              </a:defRPr>
            </a:pPr>
            <a:r>
              <a:t>We ensure the locks on the doors (NGFWs) were actually installed correctly in the first place.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900" b="1">
                <a:solidFill>
                  <a:srgbClr val="166B3A"/>
                </a:solidFill>
                <a:latin typeface="Calibri"/>
              </a:defRPr>
            </a:pPr>
            <a:r>
              <a:t>Mathematically guaranteeing the burglar can never get in.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We find what no other tool can:</a:t>
            </a:r>
          </a:p>
          <a:p>
            <a:pPr>
              <a:spcBef>
                <a:spcPts val="400"/>
              </a:spcBef>
              <a:defRPr sz="850" b="0">
                <a:solidFill>
                  <a:srgbClr val="2D3748"/>
                </a:solidFill>
                <a:latin typeface="Calibri"/>
              </a:defRPr>
            </a:pPr>
            <a:r>
              <a:t>- Shadowed rules</a:t>
            </a:r>
          </a:p>
          <a:p>
            <a:pPr>
              <a:spcBef>
                <a:spcPts val="400"/>
              </a:spcBef>
              <a:defRPr sz="850" b="0">
                <a:solidFill>
                  <a:srgbClr val="2D3748"/>
                </a:solidFill>
                <a:latin typeface="Calibri"/>
              </a:defRPr>
            </a:pPr>
            <a:r>
              <a:t>- Multi-rule conflicts</a:t>
            </a:r>
          </a:p>
          <a:p>
            <a:pPr>
              <a:spcBef>
                <a:spcPts val="400"/>
              </a:spcBef>
              <a:defRPr sz="850" b="0">
                <a:solidFill>
                  <a:srgbClr val="2D3748"/>
                </a:solidFill>
                <a:latin typeface="Calibri"/>
              </a:defRPr>
            </a:pPr>
            <a:r>
              <a:t>- Missing threat profiles</a:t>
            </a:r>
          </a:p>
          <a:p>
            <a:pPr>
              <a:spcBef>
                <a:spcPts val="400"/>
              </a:spcBef>
              <a:defRPr sz="850" b="0">
                <a:solidFill>
                  <a:srgbClr val="2D3748"/>
                </a:solidFill>
                <a:latin typeface="Calibri"/>
              </a:defRPr>
            </a:pPr>
            <a:r>
              <a:t>- Intent errors in 100K+ config states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800" b="1">
                <a:solidFill>
                  <a:srgbClr val="B8862A"/>
                </a:solidFill>
                <a:latin typeface="Calibri"/>
              </a:defRPr>
            </a:pPr>
            <a:r>
              <a:t>Gartner predicts: by 2030, preemptive cyber will be 50% of IT security spending, up from &lt;5% in 2024.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675120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A6878"/>
                </a:solidFill>
                <a:latin typeface="Calibri"/>
              </a:defRPr>
            </a:pPr>
            <a:r>
              <a:t>Gartner predicts: by 2030, preemptive cybersecurity will account for 50% of IT security spending, up from &lt;5% in 2024.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The Two-Layer Answer: Preemptive + Behavioral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22CT Preemptive shrinks the attack surface mathematically. ACECARD detects what remains behaviorally.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5212080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1 -- 22CT PREEMPTIVE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Builds a formal mathematical model of every NGFW, IPS, IdP, SASE, and WAF. Reasons exhaustively over 2^8000 state space to PROVE no attack path exists.</a:t>
            </a:r>
          </a:p>
          <a:p>
            <a:pPr>
              <a:spcBef>
                <a:spcPts val="400"/>
              </a:spcBef>
              <a:defRPr sz="800" b="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F26B1F"/>
                </a:solidFill>
                <a:latin typeface="Calibri"/>
              </a:defRPr>
            </a:pPr>
            <a:r>
              <a:t>WHAT IT PROVES: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Every known CVE path is blocked (or compensating control identified)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Every threat-feed C2 destination is denied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Config drift is caught within 1 hour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Segmentation intent holds end-to-end</a:t>
            </a:r>
          </a:p>
          <a:p>
            <a:pPr>
              <a:spcBef>
                <a:spcPts val="400"/>
              </a:spcBef>
              <a:defRPr sz="800" b="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MATHEMATICAL GUARANTEE: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No false positives. No false negatives.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Complete reasoning. Not sampling.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303520" cy="521208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2 -- ACECARD UEBA (BEHAVIORAL)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Embeds 5 behavioral signals into 1536-d vectors. Tracks behavioral TRAJECTORY. Detects drift toward MITRE-mapped threat concepts.</a:t>
            </a:r>
          </a:p>
          <a:p>
            <a:pPr>
              <a:spcBef>
                <a:spcPts val="400"/>
              </a:spcBef>
              <a:defRPr sz="800" b="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0891B2"/>
                </a:solidFill>
                <a:latin typeface="Calibri"/>
              </a:defRPr>
            </a:pPr>
            <a:r>
              <a:t>WHAT IT CATCHES: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Compromised valid credentials (T1078)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Living-off-the-Land chains (T1059)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Slow APT drift (CUSUM catches sub-threshold accumulation)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Cross-domain lateral movement via entity fusion</a:t>
            </a:r>
          </a:p>
          <a:p>
            <a:pPr>
              <a:spcBef>
                <a:spcPts val="400"/>
              </a:spcBef>
              <a:defRPr sz="800" b="0">
                <a:solidFill>
                  <a:srgbClr val="2D374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STRUCTURAL INNOVATION: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Not what is anomalous -- what they are BECOMING.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Direction, not just magnitude.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Together: either the attack surface never existed (Preemptive) OR the attack is detected within hours (ACECARD + ABAC)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Close the Door Before They Knock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Mathematically rigorous, preemptive cyber defense -- Complete, Continuous, Verifiable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1828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828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Analyze All Known Threat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Terabytes of CVE, advisories, CTI, IOCs, IOAs, PSIRTs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3657600" cy="24688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91440" cy="24688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Attack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MITRE-enriched attack graphs built by ML/NLP/LLM pipeline. Full TTP coverage of Volt Typhoon (G1017) and Salt Typhoon. Auto-updates on new advisory publication.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371600"/>
            <a:ext cx="3657600" cy="1828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1371600"/>
            <a:ext cx="91440" cy="1828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1417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Identify Every Defensive Control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194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Exponential combination of NGFW, IdP, IPS, SASE, WAF configs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474720"/>
            <a:ext cx="3657600" cy="24688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474720"/>
            <a:ext cx="91440" cy="24688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3520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Defense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206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Symbolic Model of Computation. Formal mathematical model -- exhaustively reasons over the 2^8000 state space. No sampling. Complete reasoning. Every possible path analyzed.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371600"/>
            <a:ext cx="3657600" cy="1828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21040" y="1371600"/>
            <a:ext cx="91440" cy="1828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5360" y="1417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Prescribe Correct Configurations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2194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Without creating new errors or business disruption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474720"/>
            <a:ext cx="3657600" cy="24688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21040" y="3474720"/>
            <a:ext cx="91440" cy="24688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95360" y="3520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Remediation Intelligence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206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Grounded agentic-AI reasoners. Risk-prioritized, vendor-specific fixes. No false positives (mathematically proven). No false negatives (exhaustive analysis).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The world's first Mathematically Rigorous -- Complete, Preemptive, Continuous, Verifiable -- Cyber Defense Platform.  |  22nd Century Technologies Inc.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OPERATIONAL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How the Preemptive Platform Operates: Inputs -&gt; Reasoning -&gt; Continuous 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SaaS, on-prem, and air-gapped deployments. Integrates with ServiceNow, JIRA, and major SOC ticketing.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657600" cy="29260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527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INPUTS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34440"/>
            <a:ext cx="3840480" cy="29260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12527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PREEMPTIVE 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234440"/>
            <a:ext cx="3657600" cy="2926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0" y="12527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CONTINUOUS PREEMPTIVE ASSURANCE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00200"/>
            <a:ext cx="3657600" cy="8229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6459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Threat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9476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CVE advisories, CTI feeds, IOCs, IOAs, PSIRTs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487168"/>
            <a:ext cx="3657600" cy="8229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53288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Tech Controls Config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34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NGFW, IdP, IAM, IPS, EPP, SASE, WAF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74136"/>
            <a:ext cx="3657600" cy="8229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41985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Grounded World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216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Vendor capabilities, MITRE ATT&amp;CK / D3FEND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61104"/>
            <a:ext cx="3657600" cy="8229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3068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Telemetry Schema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0857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Asset inventory, topology, segmentation intent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1600200"/>
            <a:ext cx="3749039" cy="1078992"/>
          </a:xfrm>
          <a:prstGeom prst="roundRect">
            <a:avLst/>
          </a:prstGeom>
          <a:solidFill>
            <a:srgbClr val="FDE5D4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34840" y="1600200"/>
            <a:ext cx="457200" cy="107899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53128" y="1947672"/>
            <a:ext cx="420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1691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Identify Risk-Prioritized Control Gaps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20574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Model attacks   |   Model defenses   |   Reason about gaps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2788920"/>
            <a:ext cx="3749039" cy="1078992"/>
          </a:xfrm>
          <a:prstGeom prst="roundRect">
            <a:avLst/>
          </a:prstGeom>
          <a:solidFill>
            <a:srgbClr val="FDE5D4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434840" y="2788920"/>
            <a:ext cx="457200" cy="107899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53128" y="3136392"/>
            <a:ext cx="420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2880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Generate Remediations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3246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Risk-prioritized fixes   |   Vendor-specific playbooks   |   Alerts to SOC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3977640"/>
            <a:ext cx="3749039" cy="1078992"/>
          </a:xfrm>
          <a:prstGeom prst="roundRect">
            <a:avLst/>
          </a:prstGeom>
          <a:solidFill>
            <a:srgbClr val="FDE5D4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434840" y="3977640"/>
            <a:ext cx="457200" cy="107899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53128" y="4325112"/>
            <a:ext cx="420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069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Fix Control Gaps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44348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Apply remediations   |   Validate   |   Re-verify continuously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49640" y="1600200"/>
            <a:ext cx="3383280" cy="1371599"/>
          </a:xfrm>
          <a:prstGeom prst="roundRect">
            <a:avLst/>
          </a:prstGeom>
          <a:solidFill>
            <a:srgbClr val="E0F2F7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0" y="1645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Calibri"/>
              </a:defRPr>
            </a:pPr>
            <a:r>
              <a:t>Findings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1965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- Risk-prioritized gaps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2240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- Vendor-specific remediation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2514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- No false positives / No false negatives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49640" y="3154679"/>
            <a:ext cx="3383280" cy="1691639"/>
          </a:xfrm>
          <a:prstGeom prst="roundRect">
            <a:avLst/>
          </a:prstGeom>
          <a:solidFill>
            <a:srgbClr val="E0F2F7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86800" y="320039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Calibri"/>
              </a:defRPr>
            </a:pPr>
            <a:r>
              <a:t>Continuous Remediation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35204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- SOC/control admin workflows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379475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- ServiceNow / JIRA integration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406907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- Auto re-verify on config change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434339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- Auto re-verify on threat-feed update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Currently supports leading N-S and E-W perimeter NGFWs (PAN, Fortinet, Cisco, Check Point). Identity, SASE, and additional vendors on roadmap.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VOLT TYPHOON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How 22CT Preempts Volt Typhoon -- TTP by 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MITRE technique -&gt; formal control gap query -&gt; mathematically verified blocking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91440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MITRE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234440"/>
            <a:ext cx="228600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08760" y="1252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TECHNIQUE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234440"/>
            <a:ext cx="7863840" cy="320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0" y="1252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22CT PREEMPTIVE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00200"/>
            <a:ext cx="11247120" cy="47548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625600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T1190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625600"/>
            <a:ext cx="2194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Exploit Public-Facing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625600"/>
            <a:ext cx="7772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IPS signature + WAF rule verified for every edge CVE (Fortinet, Ivanti, Versa, PAN)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93976"/>
            <a:ext cx="11247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119376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T1133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119376"/>
            <a:ext cx="2194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External Remote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119376"/>
            <a:ext cx="7772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Zero-trust segmentation verified; MFA bypass paths surfaced and remediated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587752"/>
            <a:ext cx="11247120" cy="47548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613152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613152"/>
            <a:ext cx="2194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Command &amp; Scripting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613152"/>
            <a:ext cx="7772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EDR/script-control coverage proven on every endpoint in scope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081528"/>
            <a:ext cx="11247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106928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106928"/>
            <a:ext cx="2194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OS Credential Dumping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106928"/>
            <a:ext cx="7772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Egress filtering proven; ntdsutil blocked for non-admin via GPO verification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75304"/>
            <a:ext cx="11247120" cy="47548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600704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600704"/>
            <a:ext cx="2194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Remote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600704"/>
            <a:ext cx="7772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SMB inspection verified; micro-segmentation proven; admin shares audited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069080"/>
            <a:ext cx="11247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4094480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094480"/>
            <a:ext cx="2194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Application Layer Protocol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4094480"/>
            <a:ext cx="7772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Threat-feed C2 IPs/domains denied across 50M+ rule combinations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562856"/>
            <a:ext cx="11247120" cy="47548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4588256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T1078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4588256"/>
            <a:ext cx="2194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Valid Accounts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4588256"/>
            <a:ext cx="7772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libri"/>
              </a:defRPr>
            </a:pPr>
            <a:r>
              <a:t>Credential-based lateral -&gt; HANDED TO ACECARD behavioral layer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056632"/>
            <a:ext cx="1124712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5082032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T1562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5082032"/>
            <a:ext cx="2194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Impair Defenses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5082032"/>
            <a:ext cx="7772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Config Drift Mgmt catches logging/audit baseline deviation within 1 hour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550408"/>
            <a:ext cx="11247120" cy="47548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5575808"/>
            <a:ext cx="8229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T1090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40" y="5575808"/>
            <a:ext cx="21945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Proxy (KV Botnet)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5575808"/>
            <a:ext cx="77724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SOHO router IPs from threat feeds denied all zones; botnet IOCs auto-updated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Source: MITRE ATT&amp;CK Group G1017; CISA AA24-038A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SALT TYPHOON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How 22CT Preempts Salt Typhoon -- TTP by 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MITRE technique -&gt; formal control gap query -&gt; mathematically verified blocking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91440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MITRE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234440"/>
            <a:ext cx="228600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08760" y="1252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TECHNIQUE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234440"/>
            <a:ext cx="7863840" cy="320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0" y="1252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22CT PREEMPTIVE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00200"/>
            <a:ext cx="11247120" cy="53035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625600"/>
            <a:ext cx="822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T1190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625600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Exploit Public-Facing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625600"/>
            <a:ext cx="7772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WAF/mgmt-plane ACL blocks /webui/ for CVE-2023-20198; compensating control verified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148840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174240"/>
            <a:ext cx="822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T1136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174240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Create Account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174240"/>
            <a:ext cx="7772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Config Drift detects unauthorized local account creation within 1 hour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697480"/>
            <a:ext cx="11247120" cy="53035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722880"/>
            <a:ext cx="822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T1556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722880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Modify Auth 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722880"/>
            <a:ext cx="7772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AAA/TACACS+ config baseline comparison every hour; any delta = immediate gap finding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46120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271520"/>
            <a:ext cx="822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271520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Network Sniffing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271520"/>
            <a:ext cx="7772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On-box capture restricted to authorized roles; mgmt-plane access verified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794760"/>
            <a:ext cx="11247120" cy="53035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820160"/>
            <a:ext cx="822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T1572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820160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Protocol Tunneling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820160"/>
            <a:ext cx="7772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GRE peer authorization verified; unauthorized tunnel endpoints detected and flagged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343400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4368800"/>
            <a:ext cx="822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T1041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368800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Exfil Over C2 Channel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4368800"/>
            <a:ext cx="7772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Outbound to JumbledPath C2 IPs blocked across all zones; CALEA-zone segmentation proved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892040"/>
            <a:ext cx="11247120" cy="53035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4917440"/>
            <a:ext cx="822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T1562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4917440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Impair Defenses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4917440"/>
            <a:ext cx="7772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Log clearing / ACL modification caught by drift management within detection window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440680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5466080"/>
            <a:ext cx="822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T1078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5466080"/>
            <a:ext cx="2194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Valid Accounts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5466080"/>
            <a:ext cx="7772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libri"/>
              </a:defRPr>
            </a:pPr>
            <a:r>
              <a:t>TACACS+ credential abuse -&gt; HANDED TO ACECARD behavioral layer for drift detection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58368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Source: CISA AA25-239A; FBI/NSA/Five-Eyes Joint Advisory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Nine Preemptive Use Cases -- Each Closes a Typhoon Attack Vector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Pre-built reasoning templates. Five directly preempt Volt + Salt Typhoon TTPs.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1247120" cy="512064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02920" cy="420624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307592"/>
            <a:ext cx="466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598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Preemptive Cyber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2598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Continuous ML/NLP/LLM threat intel + config -&gt; proof every TTP blocked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2598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0392B"/>
                </a:solidFill>
                <a:latin typeface="Calibri"/>
              </a:defRPr>
            </a:pPr>
            <a:r>
              <a:t>STOPS: Volt T1190, T1133, T1071 / Salt T1190, T1556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64792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10512"/>
            <a:ext cx="502920" cy="420624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1837944"/>
            <a:ext cx="466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79019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Configuration Drift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79019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Live vs approved baseline comparison every hour; any delta = gap finding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79019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0392B"/>
                </a:solidFill>
                <a:latin typeface="Calibri"/>
              </a:defRPr>
            </a:pPr>
            <a:r>
              <a:t>STOPS: Salt ACL tampering, Guest Shell activation, local account creation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295144"/>
            <a:ext cx="11247120" cy="512064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2340864"/>
            <a:ext cx="502920" cy="420624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2368296"/>
            <a:ext cx="466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32054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Formal Policy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32054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2^8000 rule space: finds shadows, conflicts, weak inspection, intent errors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32054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0392B"/>
                </a:solidFill>
                <a:latin typeface="Calibri"/>
              </a:defRPr>
            </a:pPr>
            <a:r>
              <a:t>STOPS: SMB lateral paths, shadowed inspection profiles, multi-rule bypasses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825496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2871216"/>
            <a:ext cx="502920" cy="420624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" y="2898648"/>
            <a:ext cx="466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285089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Preemptive ASM (External)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285089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External attack surface mapped -&gt; compensating controls verified -&gt;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85089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0392B"/>
                </a:solidFill>
                <a:latin typeface="Calibri"/>
              </a:defRPr>
            </a:pPr>
            <a:r>
              <a:t>STOPS: Edge CVE exploitation (Volt T1190, Salt T1190)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355848"/>
            <a:ext cx="11247120" cy="512064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3401568"/>
            <a:ext cx="502920" cy="420624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5488" y="3429000"/>
            <a:ext cx="466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33812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Internal Attack Surface Mgmt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338124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Internal paths from compromised host to crown jewels identified and blocked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38124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0392B"/>
                </a:solidFill>
                <a:latin typeface="Calibri"/>
              </a:defRPr>
            </a:pPr>
            <a:r>
              <a:t>STOPS: Cross-tenant pivots, lateral movement post-compromise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886200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3931920"/>
            <a:ext cx="502920" cy="420624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5488" y="3959352"/>
            <a:ext cx="466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39116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NIST 800-53 / Zero-Trust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39116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SP800-207 zero-trust verification end-to-end across all control layers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9116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Compliance-as-code: automated evidence for FedRAMP, CMMC, DISA STIGs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416552"/>
            <a:ext cx="11247120" cy="512064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57200" y="4462272"/>
            <a:ext cx="502920" cy="420624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75488" y="4489704"/>
            <a:ext cx="466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444195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Vendor Migration Safety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444195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Before/after config analysis: proves no security regression during migration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444195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Use case: PAN-&gt;Fortinet, Cisco-&gt;Palo Alto -- zero blind spots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4946904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57200" y="4992624"/>
            <a:ext cx="502920" cy="420624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75488" y="5020056"/>
            <a:ext cx="466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" y="497230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M&amp;A Due Diligence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497230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Combined posture analysis pre-merger identifies inherited misconfigurations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497230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Inherited misconfigs + shadow IT -&gt; found before integration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5477256"/>
            <a:ext cx="11247120" cy="512064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57200" y="5522976"/>
            <a:ext cx="502920" cy="420624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75488" y="5550408"/>
            <a:ext cx="4663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" y="550265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Third-Party / Supply Chain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80" y="550265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EASM across third-party ecosystem: supplier exposure mapped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0" y="550265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Supply-chain pivots identified before they become breaches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Use cases 1-5 are direct Volt/Salt counters. Use cases 6-9 extend value across the broader cyber operating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PROOF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In Production: Real Customer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Selected findings from financial services, telecom, government, and critical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12801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2801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FinTech | Asia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Closed SMB Lateral Movement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SMB traffic profiles shadowed by 3 higher-priority rules -- inspection never applied. All lateral paths from user VLANs to DC management now formally verified closed.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303520" cy="12801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91440" cy="12801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417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Communications | 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45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Eliminated Known CVE Exposure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IPS filters missing on rsync connections to backup servers. CVE-matched threat profiles enforced; compensating control deployed same day.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34640"/>
            <a:ext cx="5303520" cy="12801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834640"/>
            <a:ext cx="91440" cy="12801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28803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Regional Bank | E. Asia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08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Closed RCE Attack Paths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747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Both PAN and Fortinet allowed Windows Update traffic with no IPS inspection. Two-vendor blind spot closed; exploit path formally proved blocked.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834640"/>
            <a:ext cx="5303520" cy="12801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834640"/>
            <a:ext cx="91440" cy="12801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28803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Critical Infra | SE Asia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108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Closed App Obfuscation Paths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4747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DMZ rules not blocking all targeted applications as intended -- policy intent error. Formal verification found 17 rule combinations allowing blocked app categories.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297680"/>
            <a:ext cx="5303520" cy="12801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297680"/>
            <a:ext cx="91440" cy="12801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3434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Finance | E. Asia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72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NIST 800-53 SMTP 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9377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SMTP from trusted to untrusted zones with no threat inspection profile. Control gap mapped to NIST 800-53 SC-7; remediation deployed within 4 hours.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297680"/>
            <a:ext cx="5303520" cy="12801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4297680"/>
            <a:ext cx="91440" cy="12801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43434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EU Sovereign Govt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572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Preemptive ASM for National Agency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9377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Proved compliance and coverage across 12 government agencies in a single unified analysis. First formal proof of cross-agency segmentation intent.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20+ design partners across F500, federal, critical infrastructure, MSSPs, and nation states.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FORMAL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The Formal Model: Why 2^8000 Cannot Be Sampled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Traditional scanners sample configurations. Our platform reasons EXHAUSTIVELY over the entire state space.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743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743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THE PROBLEM WITH SAMPLING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A typical enterprise NGFW has: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  5,000 - 50,000 firewall rules</a:t>
            </a:r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  Each: src zone, dst zone, src IP, dst IP, port, app, user, action, profile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  Interactions: 50,000^2 = 2.5 billion pairwise rule relationships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  Multi-vendor: 3-10 firewalls in series/parallel paths</a:t>
            </a:r>
          </a:p>
          <a:p>
            <a:pPr>
              <a:spcBef>
                <a:spcPts val="400"/>
              </a:spcBef>
              <a:defRPr sz="8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200" b="1">
                <a:solidFill>
                  <a:srgbClr val="0B1F3A"/>
                </a:solidFill>
                <a:latin typeface="Calibri"/>
              </a:defRPr>
            </a:pPr>
            <a:r>
              <a:t>Total combinatorial state space: ~2^8000</a:t>
            </a:r>
          </a:p>
          <a:p>
            <a:pPr>
              <a:spcBef>
                <a:spcPts val="400"/>
              </a:spcBef>
              <a:defRPr sz="8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Sampling 1 billion paths/second for 1 year: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  = 3.15 x 10^16 samples (vs 2^8000 = 10^2408 total)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  Coverage: effectively 0.000...0%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743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91440" cy="27432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22CT: SYMBOLIC MODEL OF COMPUTATION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Instead of sampling, we build a mathematical MODEL:</a:t>
            </a:r>
          </a:p>
          <a:p>
            <a:pPr>
              <a:spcBef>
                <a:spcPts val="400"/>
              </a:spcBef>
              <a:defRPr sz="8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1. Parse all rules into symbolic representation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2. Build constraint-satisfaction model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3. For each threat (CVE, C2 dest, lateral path):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   "Does ANY rule combination ALLOW this traffic?"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4. Solver PROVES answer is NO (safe) or YES (gap)</a:t>
            </a:r>
          </a:p>
          <a:p>
            <a:pPr>
              <a:spcBef>
                <a:spcPts val="400"/>
              </a:spcBef>
              <a:defRPr sz="8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200" b="1">
                <a:solidFill>
                  <a:srgbClr val="F26B1F"/>
                </a:solidFill>
                <a:latin typeface="Calibri"/>
              </a:defRPr>
            </a:pPr>
            <a:r>
              <a:t>Result: COMPLETE coverage of 2^8000 in seconds</a:t>
            </a:r>
          </a:p>
          <a:p>
            <a:pPr>
              <a:spcBef>
                <a:spcPts val="400"/>
              </a:spcBef>
              <a:defRPr sz="1200" b="1">
                <a:solidFill>
                  <a:srgbClr val="F26B1F"/>
                </a:solidFill>
                <a:latin typeface="Calibri"/>
              </a:defRPr>
            </a:pPr>
            <a:r>
              <a:t>No sampling. No probabilistic reasoning.</a:t>
            </a:r>
          </a:p>
          <a:p>
            <a:pPr>
              <a:spcBef>
                <a:spcPts val="400"/>
              </a:spcBef>
              <a:defRPr sz="1200" b="1">
                <a:solidFill>
                  <a:srgbClr val="F26B1F"/>
                </a:solidFill>
                <a:latin typeface="Calibri"/>
              </a:defRPr>
            </a:pPr>
            <a:r>
              <a:t>Mathematical certainty.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97680"/>
            <a:ext cx="11064240" cy="1828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91440" cy="1828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Calibri"/>
              </a:defRPr>
            </a:pPr>
            <a:r>
              <a:t>NOBODY ELSE HAS THIS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663440"/>
            <a:ext cx="22860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6761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Traditional Pentest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6761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1-2 weeks, finds 5-15 paths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6761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Point-in-time, incomplete, expensive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983480"/>
            <a:ext cx="22860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9961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Vulnerability Scanner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9961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Samples known CVEs against config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9961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Misses rule interactions and shadows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303520"/>
            <a:ext cx="22860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3162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Attack Surface Mgmt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3162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Enumerates external-facing assets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31622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Sees what exists, not what is REACHABLE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623560"/>
            <a:ext cx="2286000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56362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22CT FORMAL VERIFICATION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6362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Models ALL paths through ALL rules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63626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Complete, continuous, no gaps, vendor fixes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Gartner 2024: "99% of firewall breaches are caused by misconfiguration, not firewall flaws." 22CT Preemptive eliminates that 99%.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STOPPING VOLT TYPHOON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How 22CT Stops Volt Typhoon -- Phase by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Volt Typhoon needs configuration weakness to enter and pivot. 22CT proves those weaknesses do not exist.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37160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280160"/>
            <a:ext cx="429768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20240" y="12984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VOLT TYPHOON BEHAVIOR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5577840" cy="3657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2984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HOW 22CT STOPS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37360"/>
            <a:ext cx="1124712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762760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1</a:t>
            </a:r>
            <a:br/>
            <a:r>
              <a:t>Initial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762760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Scans for unpatched Fortinet, Ivanti, Versa, PAN edge devices. Exploits CVE-2024-21887 etc.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62760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Ingests CISA/vendor PSIRTs. Proves every NGFW/VPN/SASE has IPS signature enforced. No patch = compensating control.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79192"/>
            <a:ext cx="11247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704592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2</a:t>
            </a:r>
            <a:br/>
            <a:r>
              <a:t>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704592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Web shells (.aspx/.jspx). C2 through KV botnet of compromised SOHO routers.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70459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Models 50M+ rule combinations. Proves all threat-feed IPs/domains blocked. WAF verified for upload inspection.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21024"/>
            <a:ext cx="1124712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646424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3</a:t>
            </a:r>
            <a:br/>
            <a:r>
              <a:t>Credential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646424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ntdsutil dump NTDS.dit. LSASS extraction. Exfiltrates creds to C2.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646424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Verifies EDR/EPP coverage on DCs. Script-control blocks ntdsutil for non-admin. Egress filtering 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62856"/>
            <a:ext cx="11247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588256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4</a:t>
            </a:r>
            <a:br/>
            <a:r>
              <a:t>Lateral Movement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588256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SMB/RDP/WinRM to domain controllers. Admin share access.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88256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Real finding: 3 rules shadowed SMB IPS. Micro-segmentation: user VLAN proven unable to reach DC mgmt.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504688"/>
            <a:ext cx="1124712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530088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5</a:t>
            </a:r>
            <a:br/>
            <a:r>
              <a:t>Pre-positioning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530088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Network mapping + credential harvest for future sabotage. 5+ year dwell.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53008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Continuous re-verification hourly + on every config change. Zero-trust segmentation re-proven.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Bottom line: 22CT Preemptive doesn't detect Volt Typhoon -- it makes the infrastructure impervious to their entry technique.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STOPPING SALT TYPHOON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How 22CT Stops Salt Typhoon -- Carrier-Scale Edge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Salt Typhoon lives on misconfigured Cisco/Ivanti/PAN edge gear. 22CT verifies every config every hour.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37160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280160"/>
            <a:ext cx="429768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20240" y="12984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SALT TYPHOON BEHAVIOR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5577840" cy="3657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2984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HOW 22CT STOPS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37360"/>
            <a:ext cx="1124712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762760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1</a:t>
            </a:r>
            <a:br/>
            <a:r>
              <a:t>Edge CVE Exploit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762760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Cisco IOS XE web UI (CVE-2023-20198) for level-15 admin. 1000+ devices targeted.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62760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CVE-to-control mapping automatic. Proves WAF/mgmt-plane ACL blocks /webui/. Compensating control for unpatched.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79192"/>
            <a:ext cx="11247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704592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2</a:t>
            </a:r>
            <a:br/>
            <a:r>
              <a:t>Persistence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704592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Local admin accounts. Router ACL modifications. Guest Shell. 3+ years access.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70459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Config Drift: approved baseline compared hourly. Any unauthorized ACL/AAA change = immediate gap finding.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21024"/>
            <a:ext cx="1124712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646424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3</a:t>
            </a:r>
            <a:br/>
            <a:r>
              <a:t>TACACS+ Capture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646424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Captures TACACS+ on TCP/49 via on-box pcap. Harvests creds. JumbledPath C2.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646424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Mgmt-plane segmentation verified. On-box capture restricted. JumbledPath C2 IPs blocked all zones.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62856"/>
            <a:ext cx="11247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588256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4</a:t>
            </a:r>
            <a:br/>
            <a:r>
              <a:t>GRE Tunnel + C2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588256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GRE tunnel between compromised routers. Encrypted C2. Multi-hop chains.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88256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GRE peer authorization verified. Unauthorized tunnel endpoints detected. Egress: only approved protocols.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504688"/>
            <a:ext cx="1124712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530088"/>
            <a:ext cx="1280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PHASE 5</a:t>
            </a:r>
            <a:br/>
            <a:r>
              <a:t>CALEA Exfil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530088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CALEA lawful intercept access. CDR/metadata exfiltration over months.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53008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CALEA-zone segmentation proven end-to-end. DLP on CDR stores. Outbound restrictions verified.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Salt Typhoon: 200+ telcos, 80+ countries, 4+ years. Every phase requires a misconfigured edge device. 22CT proves correct.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1  --  22CT PREEMPTIVE  --  HONEST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Where Preemptive Needs Help -- Why ACECARD Belongs Next to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The preemptive layer closes the configuration attack surface. Three classes of attack remain.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1463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463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t>1. Zero-Day / Unknown TTPs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No signature, no IOC, no MITRE mapping yet = nothing for preemptive layer to prove against.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73152" cy="457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ACECARD: Detects behavioral drift even with no label. Post-exploitation ALWAYS creates drift.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11064240" cy="1463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91440" cy="1463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6B1F"/>
                </a:solidFill>
                <a:latin typeface="Calibri"/>
              </a:defRPr>
            </a:pPr>
            <a:r>
              <a:t>2. Compromised Valid Accounts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Both Typhoons abuse stolen valid credentials. Correctly-configured controls ALLOW this traffic by design.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94760"/>
            <a:ext cx="73152" cy="457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ACECARD: Cohort z-score + cosine drift catches abuse -- same credentials, different behavioral structure.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80560"/>
            <a:ext cx="11064240" cy="1463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480560"/>
            <a:ext cx="91440" cy="146304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5262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2ED9"/>
                </a:solidFill>
                <a:latin typeface="Calibri"/>
              </a:defRPr>
            </a:pPr>
            <a:r>
              <a:t>3. Living-off-the-Land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wmic, ntdsutil, netsh, rundll32 -- legitimate admin tools. Cannot be blanket-blocked.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349240"/>
            <a:ext cx="73152" cy="457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ACECARD: 5-signal embedding captures the COMBINATION of LoTL tools + timing + targets. Tool-agnostic detection.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Configuration preemption is necessary but not sufficient. Behavioral detection closes the remaining surface.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BEHAVIORAL LAYER  --  ACECARD 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Why Current UEBA Misses Volt Typhoon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Both campaigns relied on Living-off-the-Land tradecraft. Both walked past every commercial UEBA.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200400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26B1F"/>
                </a:solidFill>
                <a:latin typeface="Georgia"/>
              </a:defRPr>
            </a:pPr>
            <a:r>
              <a:t>&gt;= 5 yrs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Volt Typhoon undetected dwell</a:t>
            </a:r>
            <a:br/>
            <a:r>
              <a:t>in U.S. critical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46304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A"/>
                </a:solidFill>
                <a:latin typeface="Calibri"/>
              </a:defRPr>
            </a:pPr>
            <a:r>
              <a:t>The Four Structural Gaps in Commercial UEBA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7373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Each one is exactly the gap Volt Typhoon and Salt Typhoon exploit.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60320"/>
            <a:ext cx="5303520" cy="1645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9144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64008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6517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Threshold-based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260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Alerts fire only when a metric crosses a fixed line. LoTL never crosses any single threshold.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7033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Calibri"/>
              </a:defRPr>
            </a:pPr>
            <a:r>
              <a:t>CONSEQUENCE  Volt Typhoon process tree was within "normal" at every single data point.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560320"/>
            <a:ext cx="5303520" cy="1645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2560320"/>
            <a:ext cx="9144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2560320"/>
            <a:ext cx="64008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6517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Per-source siloed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9260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Each tool sees one identity. AD, AAD, Okta, AWS, K8s -- separate systems, no correlation.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7033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Calibri"/>
              </a:defRPr>
            </a:pPr>
            <a:r>
              <a:t>CONSEQUENCE  Cross-domain attack chains never escalate above per-source noise floor.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389120"/>
            <a:ext cx="5303520" cy="1645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9144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389120"/>
            <a:ext cx="64008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572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4805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Static rules, decaying coverage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7548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Sigma/CAR rules require maintenance. Adversary retool cycle: 2-4 weeks. Defender: 1-3 months.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5321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Calibri"/>
              </a:defRPr>
            </a:pPr>
            <a:r>
              <a:t>CONSEQUENCE  By the time a Sigma rule is published, the tradecraft has already evolved.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389120"/>
            <a:ext cx="5303520" cy="1645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0" y="4389120"/>
            <a:ext cx="9144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17920" y="4389120"/>
            <a:ext cx="64008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63640" y="4572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4805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Anomaly score without direction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7548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"User is 87% anomalous" -- anomalous HOW? No MITRE mapping. No kill-chain position.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5321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Calibri"/>
              </a:defRPr>
            </a:pPr>
            <a:r>
              <a:t>CONSEQUENCE  Mean time to investigate exceeds dwell window -- even when detection fires.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STRUCTURAL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Four Innovations That Close the Four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innovation directly addresses one of the four structural gaps that Volt/Salt Typhoon exploit.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64008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173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Behavioral TRAJECTORY, not threshold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691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Track HOW entities EVOLVE over time. CUSUM catches drift that never crosses a fixed threshold. 5+ year APT = detected in days.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488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CLOSES GAP 1: Threshold-based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6032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9144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560320"/>
            <a:ext cx="64008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651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60604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Entity FUSION across 10+ identity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8803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One entity_uuid resolves AD, AAD, Okta, AWS, K8s, CrowdStrike, VPN, Splunk, PKI, TACACS+ into single behavioral entity.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33756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CLOSES GAP 2: Per-source silos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4904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749040"/>
            <a:ext cx="9144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749040"/>
            <a:ext cx="64008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840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79476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Behavioral OBJECTIVES, not tool signatures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0690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Detect the EFFECT of the attack (credential access, lateral movement) not the TOOL (ntdsutil vs secretsdump vs mimikatz).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5262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CLOSES GAP 3: Static rules / rule decay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93776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9144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4937760"/>
            <a:ext cx="64008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5029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983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Drift DIRECTION with MITRE technique mapping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2578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D3748"/>
                </a:solidFill>
                <a:latin typeface="Calibri"/>
              </a:defRPr>
            </a:pPr>
            <a:r>
              <a:t>Not "87% anomalous" but "drifting toward lateral_movement (T1021) at 0.82 cosine + credential_dumping (T1003) at 0.54."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7150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CLOSES GAP 4: Anomaly without direction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commercial UEBA has ALL FOUR. Most have zero. This is the innovation gap we close.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THE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Dual Embedding Architecture: 6 Vectors = 9,216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signal individually embedded (1536-d) + one fused composite. Per-signal drift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73152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THE KEY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Each of the 5 signals is INDIVIDUALLY embedded at 1536-d (per-signal drift tracking). All 5 are also concatenated into one COMPOSITE 1536-d vector (holistic entity state). Total: 6 vectors = 9,216 dimensions per entity per window.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2194560" cy="32004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51760"/>
            <a:ext cx="219456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1E4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Individual 1536-d</a:t>
            </a:r>
            <a:br/>
            <a:r>
              <a:t>Per-signal drift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286000"/>
            <a:ext cx="2194560" cy="32004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34640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2651760"/>
            <a:ext cx="219456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6C2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Individual 1536-d</a:t>
            </a:r>
            <a:br/>
            <a:r>
              <a:t>Per-signal drift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2286000"/>
            <a:ext cx="2194560" cy="320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0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0" y="2651760"/>
            <a:ext cx="219456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Individual 1536-d</a:t>
            </a:r>
            <a:br/>
            <a:r>
              <a:t>Per-signal drift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2286000"/>
            <a:ext cx="2194560" cy="320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2651760"/>
            <a:ext cx="219456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Individual 1536-d</a:t>
            </a:r>
            <a:br/>
            <a:r>
              <a:t>Per-signal drift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0" y="2286000"/>
            <a:ext cx="219456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66960" y="23042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IDENTITY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2651760"/>
            <a:ext cx="219456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0" y="2697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Individual 1536-d</a:t>
            </a:r>
            <a:br/>
            <a:r>
              <a:t>Per-signal drift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00400"/>
            <a:ext cx="1106424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321868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8862A"/>
                </a:solidFill>
                <a:latin typeface="Calibri"/>
              </a:defRPr>
            </a:pPr>
            <a:r>
              <a:t>All 5 concatenated -&gt; 1 COMPOSITE 1536-d vector (holistic entity behavioral state)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749039"/>
            <a:ext cx="3474720" cy="1371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3749039"/>
            <a:ext cx="91440" cy="1371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3794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DIMENSIONS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0233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5 individual: 5 x 1,536 = 7,680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1 composite: 1 x 1,536 = 1,536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TOTAL: 6 x 1,536 = 9,216 dims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3749039"/>
            <a:ext cx="3657600" cy="1371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06240" y="3749039"/>
            <a:ext cx="91440" cy="1371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80560" y="3794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6B1F"/>
                </a:solidFill>
                <a:latin typeface="Calibri"/>
              </a:defRPr>
            </a:pPr>
            <a:r>
              <a:t>WHY INDIVIDUAL + COMPOSITE?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0233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Composite: "entity behavior changed"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Individual: "AUTH drove 72% of change"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Direction: "PROCESS signal drifting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  toward lotl_execution (T1059)"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3749039"/>
            <a:ext cx="3474720" cy="13716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46720" y="3749039"/>
            <a:ext cx="91440" cy="1371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21040" y="3794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DEPLOYMENT OPTIONS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0233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IL5: OpenAI text-embedding-3-small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IL6: Local Phi-4 (14B) or Mistral 7B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JWICS: Same SLM, air-gapped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Switch: env var only, no code change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303520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7200" y="5303520"/>
            <a:ext cx="91440" cy="45720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20" y="53492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862A"/>
                </a:solidFill>
                <a:latin typeface="Calibri"/>
              </a:defRPr>
            </a:pPr>
            <a:r>
              <a:t>PRIVACY: No raw event content sent to embedding provider. Only summarized metrics. No usernames, IPs, paths. JWICS-safe.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NOBODY IN THE INDUSTRY embeds behavioral signals into a unified vector space with per-signal drift decomposition.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THE FIVE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Five Behavioral Signals: Sources, Metrics,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signal summarizes one dimension of behavior. Together they capture the complete entity footprint.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" cy="91440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3898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Win 4624/4625/4768, Okta, AAD, AWS CloudTrail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645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logon_count, failure_rate, unique_hosts, off_hours_ratio, impossible_travel, mfa_skip_ratio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38988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Brute force, Pass-the-Hash, lateral movement, impossible travel, MFA bypass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1097280" cy="91440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3500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Sysmon EID 1/3/7/8, CrowdStrike, Defender, auditd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606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unique_processes, cmdline_entropy, lolbin_count, parent_child_depth, unsigned_ratio, encoded_cmd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35000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LoTL chains (Volt Typhoon), code injection, encoded PowerShell, deep process trees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1097280" cy="9144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4747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3101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NetFlow/IPFIX, Zeek, PAN-OS, FortiGate, VPC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566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unique_dest_ips, bytes_out_ratio, beacon_score, dns_query_rate, geo_anomaly, admin_share_access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31012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C2 beaconing, data exfiltration, DNS tunneling, scanning, GRE tunneling (Salt)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51960"/>
            <a:ext cx="1097280" cy="9144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4348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2702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Sysmon EID 11, Win 4663, DLP, cloud storage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526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files_created, files_deleted, sensitive_access, archive_creates, extension_changes, shadow_copy_ops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27024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Ransomware, exfil staging, insider theft, credential file access, pre-encryption shadow delete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12080"/>
            <a:ext cx="1097280" cy="914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53949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IDENTITY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2303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Win 4672/4728, CloudTrail IAM, K8s audit, AD change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486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priv_escalations, group_adds, mfa_bypass, role_changes, service_acct_use, admin_actions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23036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Privilege escalation, Golden ticket, MFA bypass, service account abuse, insider admin 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30 metrics across 5 signals. ALL embedded into unified 1536-d space. Drift = attack. Direction = MITRE technique.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THE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The Math of Behavioral Drift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piece is well-known math. The innovation is the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09728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57200" cy="109728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69164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417320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Behavioral Embedding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69164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scadia Code"/>
              </a:defRPr>
            </a:pPr>
            <a:r>
              <a:t>V_t = embed("auth: logon_count=47, failure_rate=0.032 | process: lolbin_count=0, cmdline_entropy=1.4 | network: unique_dest=3, beacon_score=0.05 | file: sensitive_access=0 | identity: priv_esc=0")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91440" cy="109728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457200" cy="109728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88036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606040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Cosine Drift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88036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scadia Code"/>
              </a:defRPr>
            </a:pPr>
            <a:r>
              <a:t>drift(t) = 1 - (V_t . V_baseline) / (||V_t|| * ||V_baseline||)</a:t>
            </a:r>
            <a:br/>
            <a:r>
              <a:t>Range: [0, 2]    Typical healthy: [0, 0.05]    Compromised: [0.06, 0.15+]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4904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749040"/>
            <a:ext cx="9144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749040"/>
            <a:ext cx="45720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406908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794760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CUSUM (Page 1954)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06908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scadia Code"/>
              </a:defRPr>
            </a:pPr>
            <a:r>
              <a:t>S_t = max(0, S_{t-1} + (drift_t - mu - k))</a:t>
            </a:r>
            <a:br/>
            <a:r>
              <a:t>k = 0.5 * sigma  (slack)    h = 4 * sigma  (alarm threshold)</a:t>
            </a:r>
            <a:br/>
            <a:r>
              <a:t>ALARM when S_t &gt; h. Catches sustained sub-threshold drift accumulated over windows.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3776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91440" cy="10972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4937760"/>
            <a:ext cx="457200" cy="10972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525780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983480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Drift Direction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257800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scadia Code"/>
              </a:defRPr>
            </a:pPr>
            <a:r>
              <a:t>drift_vec = V_current - V_baseline</a:t>
            </a:r>
            <a:br/>
            <a:r>
              <a:t>proj(c) = cosine(drift_vec, embed(concept_c))    for c in {credential_dumping, lateral_movement, ...}</a:t>
            </a:r>
            <a:br/>
            <a:r>
              <a:t>Returns: argmax top-3 concepts with MITRE technique IDs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Cosine drift + CUSUM + drift direction: three formulas that together catch Volt + Salt Typhoon where thresholds fail.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PIPELINE &amp;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Embedding Pipeline -&gt; Trajectory Analysis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Every entity, every window: ingest -&gt; summarize -&gt; embed -&gt; analyze -&gt; alert.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03520" cy="2926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EMBEDDING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45720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719072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645920"/>
            <a:ext cx="466344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166420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66420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Raw events from SIEM, EDR, netflow, AD, IAM -- any source with a timestamp and entity 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45720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2286000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2212848"/>
            <a:ext cx="466344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2231136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231136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Group by entity_uuid over configurable window (default 1 hour). 5 signal buckets.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79776"/>
            <a:ext cx="45720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" y="2852928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2779776"/>
            <a:ext cx="466344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279806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SUMMARIZE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2798064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Compute 30 metrics per window: logon_count, lolbin_count, beacon_score, etc.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46704"/>
            <a:ext cx="45720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3419856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3346704"/>
            <a:ext cx="466344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336499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HASH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364992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SHA-256 of metric snapshot. Tamper-detection baseline.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913632"/>
            <a:ext cx="45720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" y="3986784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3913632"/>
            <a:ext cx="466344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3000" y="39319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EMBED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393192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text-embedding-3-small (IL5) or local SLM (IL6/JWICS). 1536-d per signal + composite.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480560"/>
            <a:ext cx="457200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" y="4553712"/>
            <a:ext cx="420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Georgia"/>
              </a:defRPr>
            </a:pPr>
            <a:r>
              <a:t>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4480560"/>
            <a:ext cx="466344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43000" y="449884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STORE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449884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entity_snapshots table: uuid, window, embedding, features, hmac_chain.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1280160"/>
            <a:ext cx="5394960" cy="292608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129844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TRAJECTORY ANALYSIS ENGINE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1645920"/>
            <a:ext cx="539496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1E4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09360" y="1645920"/>
            <a:ext cx="73152" cy="50292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16824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Cosine Drift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190195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drift(t) = 1 - cos(V_t, V_baseline)  |  range [0,2]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2212848"/>
            <a:ext cx="539496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6C2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09360" y="2212848"/>
            <a:ext cx="73152" cy="50292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92240" y="224942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Velocity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246888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v(t) = drift(t) - drift(t-1)  |  rate of change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2779776"/>
            <a:ext cx="539496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309360" y="2779776"/>
            <a:ext cx="73152" cy="5029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92240" y="28163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Acceleration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303580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a(t) = v(t) - v(t-1)  |  second derivative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60" y="3346704"/>
            <a:ext cx="539496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309360" y="3346704"/>
            <a:ext cx="73152" cy="5029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92240" y="33832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CUSUM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360273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S_t = max(0, S_{t-1} + drift_t - mu - k)  |  alarm: S &gt; 4*sigma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09360" y="3913632"/>
            <a:ext cx="539496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309360" y="3913632"/>
            <a:ext cx="73152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92240" y="395020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Health Score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416966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H = 100 * (1 - clamp(drift / h, 0, 1))  |  range [0, 100]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Pipeline latency: event to analysis &lt; 3 seconds. Throughput: 10K entities/hour per 4-vCPU worker.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DETECTING VOLT TYPHOON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How ACECARD Detects Volt Typhoon -- Signal by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5 signals -&gt; 1 fused trajectory. CUSUM alarms T+47min. Drift direction: lateral_movement (0.78) + credential_dumping (0.61). HIGH alert.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005840" cy="34747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SIGNAL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234440"/>
            <a:ext cx="3108960" cy="3474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00200" y="1252728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VOLT TYPHOON BEHAVIOR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234440"/>
            <a:ext cx="3474720" cy="3474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252728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 DRIFT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234440"/>
            <a:ext cx="3383280" cy="347472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1252728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KEY METRIC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645920"/>
            <a:ext cx="1124712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1645920"/>
            <a:ext cx="1005840" cy="8229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828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  <a:br/>
            <a:r>
              <a:t>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1671320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Stolen AD creds, 12 new hosts in 2h, off-hours logins, no MFA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67132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scadia Code"/>
              </a:defRPr>
            </a:pPr>
            <a:r>
              <a:t>unique_hosts 0.3-&gt;12, off_hours_ratio 0-&gt;0.7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67132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drift=0.142, cohort z=6.17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496312"/>
            <a:ext cx="1124712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496312"/>
            <a:ext cx="1005840" cy="82296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6791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  <a:br/>
            <a:r>
              <a:t>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2521712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wmic, ntdsutil, netsh, rundll32, encoded PowerShell chains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521712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scadia Code"/>
              </a:defRPr>
            </a:pPr>
            <a:r>
              <a:t>lolbin_count 0-&gt;7, cmdline_entropy 1.4-&gt;3.2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521712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CUSUM alarm @ T+47min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346704"/>
            <a:ext cx="1124712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346704"/>
            <a:ext cx="1005840" cy="82296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352958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  <a:br/>
            <a:r>
              <a:t>NETWORK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372104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C2 to KV botnet IPs, new destinations, regular beaconing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372104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scadia Code"/>
              </a:defRPr>
            </a:pPr>
            <a:r>
              <a:t>unique_dest 3-&gt;18, beacon_score 0.05-&gt;0.42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372104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c2_beaconing (T1071) proj=0.71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197096"/>
            <a:ext cx="1124712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4197096"/>
            <a:ext cx="1005840" cy="8229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437997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  <a:br/>
            <a:r>
              <a:t>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4222496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Web shells, NTDS.dit access, 7-Zip staging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222496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scadia Code"/>
              </a:defRPr>
            </a:pPr>
            <a:r>
              <a:t>sensitive_access 0-&gt;24, archive_creates 0-&gt;3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222496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insider_hoarding (T1074) proj=0.58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047488"/>
            <a:ext cx="1124712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5047488"/>
            <a:ext cx="1005840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52303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  <a:br/>
            <a:r>
              <a:t>IDENTITY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4480" y="5072888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Priv escalation, Domain Admins group adds, svc_acct spike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507288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scadia Code"/>
              </a:defRPr>
            </a:pPr>
            <a:r>
              <a:t>priv_esc 0-&gt;3, svc_acct_use 5-&gt;47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07288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privilege_escalation (T1078) proj=0.66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5 signals -&gt; 1 fused trajectory. CUSUM alarms T+47min. Drift: lateral_movement (0.78) + credential_dumping (0.61). HIGH alert.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DETECTING SALT TYPHOON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How ACECARD Detects Salt Typhoon -- Signal by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Salt Typhoon wins by going slow. CUSUM accumulates the small drifts. 30-day rolling baseline adapts.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005840" cy="34747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SIGNAL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234440"/>
            <a:ext cx="3108960" cy="3474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00200" y="1252728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SALT TYPHOON BEHAVIOR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234440"/>
            <a:ext cx="3474720" cy="3474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252728"/>
            <a:ext cx="3383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 DRIFT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234440"/>
            <a:ext cx="3383280" cy="347472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1252728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KEY METRIC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645920"/>
            <a:ext cx="1124712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1645920"/>
            <a:ext cx="1005840" cy="8229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828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  <a:br/>
            <a:r>
              <a:t>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1671320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Stolen TACACS+ creds, slow host growth over 14 days, off-hours logins creep 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67132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scadia Code"/>
              </a:defRPr>
            </a:pPr>
            <a:r>
              <a:t>unique_hosts 5-&gt;18 over 14d, off_hours_ratio 0.1-&gt;0.45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671320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Slow drift caught by CUSUM accumulation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496312"/>
            <a:ext cx="1124712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496312"/>
            <a:ext cx="1005840" cy="82296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6791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  <a:br/>
            <a:r>
              <a:t>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2521712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Guest Shell activation, JumbledPath ELF binary, tcpdump on router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521712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scadia Code"/>
              </a:defRPr>
            </a:pPr>
            <a:r>
              <a:t>New cmdline patterns, unsigned_ratio spikes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521712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defense_evasion (T1562) proj=0.49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346704"/>
            <a:ext cx="1124712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346704"/>
            <a:ext cx="1005840" cy="82296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352958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  <a:br/>
            <a:r>
              <a:t>NETWORK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372104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GRE tunnels established, slow CDR exfil, encrypted C2 channels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372104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scadia Code"/>
              </a:defRPr>
            </a:pPr>
            <a:r>
              <a:t>bytes_out grows linearly, beacon_score elevates gradually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372104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data_exfiltration (T1041) proj=0.44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197096"/>
            <a:ext cx="1124712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4197096"/>
            <a:ext cx="1005840" cy="8229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437997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  <a:br/>
            <a:r>
              <a:t>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4222496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Router startup-config modifications outside change windows, CALEA zone writes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222496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scadia Code"/>
              </a:defRPr>
            </a:pPr>
            <a:r>
              <a:t>config writes outside approved windows, archive_creates spike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222496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defense_evasion (T1562) pattern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047488"/>
            <a:ext cx="1124712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5047488"/>
            <a:ext cx="1005840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52303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  <a:br/>
            <a:r>
              <a:t>IDENTITY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4480" y="5072888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Local privileged accounts created, AAA/TACACS+ config modifications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507288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scadia Code"/>
              </a:defRPr>
            </a:pPr>
            <a:r>
              <a:t>identity-graph hash changes, priv_esc 0-&gt;3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072888"/>
            <a:ext cx="3337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privilege_escalation (T1078) proj=0.71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Salt Typhoon wins by going slow. CUSUM accumulates sub-threshold drift. 30-day rolling baseline -- dwell of years -&gt; alarms in days.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COHORT + ALERTING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Peer Cohort Comparison + Calibrated Alert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A sysadmin logging into 30 hosts is normal. A finance analyst doing the same is anomalous.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03520" cy="2926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PEER COHORT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27632"/>
            <a:ext cx="5303520" cy="4846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z = (entity_drift - cohort_mean) / cohort_std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878"/>
                </a:solidFill>
                <a:latin typeface="Calibri"/>
              </a:defRPr>
            </a:pPr>
            <a:r>
              <a:t>Example: jsmith (financial_analyst, 42 peers)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3748"/>
                </a:solidFill>
                <a:latin typeface="Calibri"/>
              </a:defRPr>
            </a:pPr>
            <a:r>
              <a:t>jsmith drift: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3317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0.142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060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3748"/>
                </a:solidFill>
                <a:latin typeface="Calibri"/>
              </a:defRPr>
            </a:pPr>
            <a:r>
              <a:t>Cohort mean: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60604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0.031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3748"/>
                </a:solidFill>
                <a:latin typeface="Calibri"/>
              </a:defRPr>
            </a:pPr>
            <a:r>
              <a:t>Cohort std: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8803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0.018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54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3748"/>
                </a:solidFill>
                <a:latin typeface="Calibri"/>
              </a:defRPr>
            </a:pPr>
            <a:r>
              <a:t>z-score: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1546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scadia Code"/>
              </a:defRPr>
            </a:pPr>
            <a:r>
              <a:t>6.17  &gt;&gt;&gt; OUTLIER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918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3748"/>
                </a:solidFill>
                <a:latin typeface="Calibri"/>
              </a:defRPr>
            </a:pPr>
            <a:r>
              <a:t>Drift direction: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66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Calibri"/>
              </a:defRPr>
            </a:pPr>
            <a:r>
              <a:t>lateral_movement (0.78, T1021)</a:t>
            </a:r>
            <a:br/>
            <a:r>
              <a:t>credential_dumping (0.45, T1003)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776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3748"/>
                </a:solidFill>
                <a:latin typeface="Calibri"/>
              </a:defRPr>
            </a:pPr>
            <a:r>
              <a:t>Action: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519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HIGH -&gt; SOAR playbook triggered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280160"/>
            <a:ext cx="5394960" cy="292608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129844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CALIBRATED ALERT TIERS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627632"/>
            <a:ext cx="5394960" cy="9144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1627632"/>
            <a:ext cx="1188720" cy="914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19019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167335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Health &lt; 20 OR CUSUM ALARM (4-sigma)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08483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Immediate SOC investigation. All access revoked.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2615184"/>
            <a:ext cx="5394960" cy="9144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9360" y="2615184"/>
            <a:ext cx="1188720" cy="9144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80" y="288950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66090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Health &lt; 40 OR Velocity z &gt;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307238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Tier-2 triage within 15 min. Step-up MFA.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602736"/>
            <a:ext cx="5394960" cy="9144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B88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09360" y="3602736"/>
            <a:ext cx="1188720" cy="91440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5080" y="387705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36484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Health &lt; 70 + change-point detected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405993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862A"/>
                </a:solidFill>
                <a:latin typeface="Calibri"/>
              </a:defRPr>
            </a:pPr>
            <a:r>
              <a:t>Tier-1 review within 1 hour. Watchlist.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4590288"/>
            <a:ext cx="5394960" cy="9144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09360" y="4590288"/>
            <a:ext cx="1188720" cy="9144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55080" y="48646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463600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Health 70-85 AND cohort z &gt;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504748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Log for trend analysis. Watchlist entry.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5577840"/>
            <a:ext cx="5394960" cy="9144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5A6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309360" y="5577840"/>
            <a:ext cx="1188720" cy="914400"/>
          </a:xfrm>
          <a:prstGeom prst="rect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55080" y="5852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INFO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56235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Any CUSUM trigger (4-sigma threshold)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60350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6878"/>
                </a:solidFill>
                <a:latin typeface="Calibri"/>
              </a:defRPr>
            </a:pPr>
            <a:r>
              <a:t>Log for trend analysis. Baseline audit.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Cohort z-score: same behavior is normal for sysadmins, anomalous for finance. Context is everything.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CUSUM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CUSUM: Catching What Thresholds Miss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Page's Cumulative Sum detects small, sustained behavioral shifts over time -- the Volt Typhoon signature.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5603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560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THE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scadia Code"/>
              </a:defRPr>
            </a:pPr>
            <a:r>
              <a:t>S(t) = max(0, S(t-1) + drift(t) - (mu + k))</a:t>
            </a:r>
          </a:p>
          <a:p>
            <a:pPr>
              <a:spcBef>
                <a:spcPts val="400"/>
              </a:spcBef>
              <a:defRPr sz="6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S(t) = CUSUM statistic at time t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drift(t) = cosine distance at time t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mu = expected mean drift (30-day rolling baseline)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k = slack = 0.5 * sigma</a:t>
            </a:r>
          </a:p>
          <a:p>
            <a:pPr>
              <a:spcBef>
                <a:spcPts val="4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ALARM when S(t) &gt; h = 4 * sigma</a:t>
            </a:r>
          </a:p>
          <a:p>
            <a:pPr>
              <a:spcBef>
                <a:spcPts val="400"/>
              </a:spcBef>
              <a:defRPr sz="6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Key: S(t) resets to 0 when drift returns to normal.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No false accumulation from benign noise.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5603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91440" cy="2560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CONCRETE NUMBERS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Typical baseline sigma = 0.03</a:t>
            </a:r>
          </a:p>
          <a:p>
            <a:pPr>
              <a:spcBef>
                <a:spcPts val="400"/>
              </a:spcBef>
              <a:defRPr sz="6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k = 0.5 * 0.03 = 0.015</a:t>
            </a:r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  (tolerates drift up to baseline + 0.015)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h = 4 * 0.03 = 0.12</a:t>
            </a:r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  (alarm at 0.12 accumulated excess)</a:t>
            </a:r>
          </a:p>
          <a:p>
            <a:pPr>
              <a:spcBef>
                <a:spcPts val="400"/>
              </a:spcBef>
              <a:defRPr sz="6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Sustained drift of 0.06/window: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  excess = 0.06 - 0.03 - 0.015 = 0.015/window</a:t>
            </a:r>
          </a:p>
          <a:p>
            <a:pPr>
              <a:spcBef>
                <a:spcPts val="4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  ALARM in 0.12/0.015 = 8 windows (8 hours)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11064240" cy="2103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91440" cy="2103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WHY CUSUM CATCHES VOLT TYPHOON BUT THRESHOLDS DO NOT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572000"/>
            <a:ext cx="50292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59028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FIXED THRESHOLD = 0.15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Volt Typhoon drift per window = 0.01-0.04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NEVER crosses 0.15. Ever.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Attacker operates for 5+ YEARS undetected.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572000"/>
            <a:ext cx="502920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459028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CUSUM (h = 4*sigma = 0.12)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8920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Same drift 0.03-0.04 ACCUMULATES over windows</a:t>
            </a:r>
          </a:p>
          <a:p>
            <a:pPr>
              <a:spcBef>
                <a:spcPts val="400"/>
              </a:spcBef>
              <a:defRPr sz="1000" b="1">
                <a:solidFill>
                  <a:srgbClr val="0891B2"/>
                </a:solidFill>
                <a:latin typeface="Calibri"/>
              </a:defRPr>
            </a:pPr>
            <a:r>
              <a:t>CUSUM alarm in 4-8 days.</a:t>
            </a:r>
          </a:p>
          <a:p>
            <a:pPr>
              <a:spcBef>
                <a:spcPts val="400"/>
              </a:spcBef>
              <a:defRPr sz="1000" b="1">
                <a:solidFill>
                  <a:srgbClr val="0891B2"/>
                </a:solidFill>
                <a:latin typeface="Calibri"/>
              </a:defRPr>
            </a:pPr>
            <a:r>
              <a:t>Dwell time: YEARS -&gt; DAYS.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COMMERCIAL UEBA uses CUSUM on behavioral embeddings. This is original research applied to cybersecurity.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DRIFT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Drift Direction: 8 MITRE-Mapped Threat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concept is text-embedded into the same 1536-d space. Cosine projection tells WHAT the entity is BECOMING.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194560" cy="256032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843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credential_dumping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3843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38988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LSASS access, SAM reads, ntdsutil, DCSync, Kerberoasting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47672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947672"/>
            <a:ext cx="2194560" cy="256032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9603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lateral_movement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96037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9659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RDP/WinRM/SSH to new hosts, admin shares, PtH/PtT, unique_hosts spike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523744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523744"/>
            <a:ext cx="2194560" cy="25603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53644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data_exfiltration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53644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4203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Bytes-out inversion, archive staging, cloud uploads, DNS tunneling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099816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099816"/>
            <a:ext cx="2194560" cy="25603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11251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c2_beaconing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11251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118104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Regular-interval callbacks, DGA domains, encrypted channels, KV botnet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675888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675888"/>
            <a:ext cx="219456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36885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lotl_execution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6885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T1059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694176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wmic/ntdsutil/netsh/rundll32 chains, encoded PowerShell, deep trees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5196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4251960"/>
            <a:ext cx="2194560" cy="25603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42646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privilege_escalation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2646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42702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Group adds (Domain Admins), sudo abuse, token manipulation, delegation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828032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4828032"/>
            <a:ext cx="2194560" cy="256032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484073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defense_evasion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8407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T1562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AV exclusions, log clearing, agent tampering, timestomping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404104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5404104"/>
            <a:ext cx="2194560" cy="25603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920" y="541680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insider_hoarding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54168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T1074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542239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Steady sensitive access increase, bulk downloads, data staging over months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603504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57200" y="6035040"/>
            <a:ext cx="91440" cy="54864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1520" y="6053328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projection = cosine(drift_vector, concept_embedding). Top 3 returned with MITRE IDs. Result: "Entity drifting toward lateral_movement (0.82, T1021) + lotl_execution (0.71, T1059)" -- actionable, mappable, auditable.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OTHER UEBA projects drift direction onto MITRE techniques. This is the core innovation.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ENTITY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Entity Fusion: Solving Identity Fragmentation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One human = 10+ identifiers across 6+ systems. Without fusion, lateral movement is invisible.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06424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ONE PERSON = 10+ IDENTIFIERS  (John Smith, Tier-2 SOC Analyst)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463040" cy="22860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84150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Active Directory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415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CORP\jsmith / S-1-5-21-...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75688"/>
            <a:ext cx="1463040" cy="22860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0883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Azure AD (Entra)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0883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john.smith@corp.mil / ObjectId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22576"/>
            <a:ext cx="146304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33527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Okta SSO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33527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john.smith@corp.mil / 00u1a2b3c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69464"/>
            <a:ext cx="1463040" cy="228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58216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AWS IAM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58216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arn:aws:iam::842:user/jsmith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16352"/>
            <a:ext cx="1463040" cy="228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28290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Kubernetes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28290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system:sa:soc:jsmith-sa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63240"/>
            <a:ext cx="1463040" cy="22860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07594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CrowdStrike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0759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aid:abc123 / JSMITH-WS01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310128"/>
            <a:ext cx="1463040" cy="22860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3228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VPN/RADIUS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3228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jsmith@corp.mil (cert DN)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57016"/>
            <a:ext cx="146304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356971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Splunk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356971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src_user=jsmith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03904"/>
            <a:ext cx="1463040" cy="228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381660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PKI/CAC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381660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CN=SMITH.JOHN.Q.123456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50792"/>
            <a:ext cx="1463040" cy="228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406349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TACACS+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406349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scadia Code"/>
              </a:defRPr>
            </a:pPr>
            <a:r>
              <a:t>jsmith (net device auth)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6B1F"/>
                </a:solidFill>
                <a:latin typeface="Calibri"/>
              </a:defRPr>
            </a:pPr>
            <a:r>
              <a:t>=&gt;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0" y="1828800"/>
            <a:ext cx="5943600" cy="274320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86400" y="1828800"/>
            <a:ext cx="91440" cy="2743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760720" y="187451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RESOLVED ENTITY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21488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entity_uuid: e7a2b3c4-9f1d-4e8b-a2c7-3d5f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24688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Resolution layers:</a:t>
            </a:r>
          </a:p>
          <a:p>
            <a:pPr>
              <a:spcBef>
                <a:spcPts val="400"/>
              </a:spcBef>
              <a:defRPr sz="950" b="0">
                <a:solidFill>
                  <a:srgbClr val="2D3748"/>
                </a:solidFill>
                <a:latin typeface="Calibri"/>
              </a:defRPr>
            </a:pPr>
            <a:r>
              <a:t>1. Deterministic: email match (AD + AAD + Okta + VPN)</a:t>
            </a:r>
          </a:p>
          <a:p>
            <a:pPr>
              <a:spcBef>
                <a:spcPts val="400"/>
              </a:spcBef>
              <a:defRPr sz="950" b="0">
                <a:solidFill>
                  <a:srgbClr val="2D3748"/>
                </a:solidFill>
                <a:latin typeface="Calibri"/>
              </a:defRPr>
            </a:pPr>
            <a:r>
              <a:t>2. Deterministic: EDIPI from CAC matches HR record</a:t>
            </a:r>
          </a:p>
          <a:p>
            <a:pPr>
              <a:spcBef>
                <a:spcPts val="400"/>
              </a:spcBef>
              <a:defRPr sz="950" b="0">
                <a:solidFill>
                  <a:srgbClr val="2D3748"/>
                </a:solidFill>
                <a:latin typeface="Calibri"/>
              </a:defRPr>
            </a:pPr>
            <a:r>
              <a:t>3. Probabilistic: CrowdStrike agent on hostname</a:t>
            </a:r>
          </a:p>
          <a:p>
            <a:pPr>
              <a:spcBef>
                <a:spcPts val="400"/>
              </a:spcBef>
              <a:defRPr sz="950" b="0">
                <a:solidFill>
                  <a:srgbClr val="2D3748"/>
                </a:solidFill>
                <a:latin typeface="Calibri"/>
              </a:defRPr>
            </a:pPr>
            <a:r>
              <a:t>4. Graph: connected component = all 10 identifiers</a:t>
            </a:r>
          </a:p>
          <a:p>
            <a:pPr>
              <a:spcBef>
                <a:spcPts val="400"/>
              </a:spcBef>
              <a:defRPr sz="6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All 5 signals from ALL sources feed ONE embedding.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Lateral across 5 systems = 1 strong signal.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754880"/>
            <a:ext cx="5303520" cy="1554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7200" y="4754880"/>
            <a:ext cx="91440" cy="1554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48006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WITHOUT ENTITY FUSION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029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AD: 1 normal logon (score 0.3)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AAD: 1 normal sign-in (score 0.25)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AWS: 1 normal login (score 0.2)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K8s: 1 normal kubectl (score 0.15)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4 alerts below threshold. No correlation.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4754880"/>
            <a:ext cx="5303520" cy="1554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217920" y="4754880"/>
            <a:ext cx="91440" cy="15544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92240" y="48006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WITH ENTITY FUSION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5029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ONE entity, ALL events fused: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4 cross-system logins in 1 hour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Composite drift: 0.23 (significant)</a:t>
            </a:r>
          </a:p>
          <a:p>
            <a:pPr>
              <a:spcBef>
                <a:spcPts val="400"/>
              </a:spcBef>
              <a:defRPr sz="1000" b="1">
                <a:solidFill>
                  <a:srgbClr val="0891B2"/>
                </a:solidFill>
                <a:latin typeface="Calibri"/>
              </a:defRPr>
            </a:pPr>
            <a:r>
              <a:t>1 HIGH alert: lateral_movement (0.82)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OTHER UEBA resolves 10+ identity systems into a unified behavioral entity. This is infrastructure-level innovation.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ENTITY SIGNATURE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4-Component Entity Signature: Forensic-Grade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Per entity, per window: identity proof + behavioral state + explainability + tamper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05156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356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 IDENTITY-GRAPH HASH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4173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SHA-256 of entity resolution graph (all linked IDs + correlation edges + confidence)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2880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Proves WHO was resolved. Detects identity graph manipulation. Full audit trail.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14600"/>
            <a:ext cx="1106424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91440" cy="105156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5786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2. BEHAVIORAL EMBEDDING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5603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1536-d vector from embedding model (text-embedding-3-small or local SLM)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97180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IS the behavioral state. Enables drift, direction, peer comparison, kill-chain reconstruction.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1106424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91440" cy="105156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703320"/>
            <a:ext cx="274320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7216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3. STRUCTURAL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7033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JSONB document with all ~30 raw feature values: {"auth":{"logon_count":47,"failure_rate":0.032,...}}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11480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Explainability: which specific metric drove the drift? Auditable numbers at detection 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00600"/>
            <a:ext cx="1106424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800600"/>
            <a:ext cx="91440" cy="105156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4846320"/>
            <a:ext cx="2743200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8646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4. HMAC-CHAINED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8463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HMAC-SHA256: HMAC(prev_hmac + embedding_hash + features_hash + timestamp)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25780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Tamper-evident chain. Modifying ANY past snapshot breaks ALL subsequent HMACs. Court-admissible.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94360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5943600"/>
            <a:ext cx="91440" cy="54864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5961888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Together: WHO was resolved (hash) + WHAT they did (embedding) + WHY the embedding looks that way (features) + WHEN it happened with proof of non-tampering (HMAC chain). Forensic-grade. Court-admissible. JWICS-deployable.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NO OTHER UEBA produces tamper-evident, forensic-grade behavioral evidence chains. This is novel.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2  --  ACECARD UEBA  --  ABAC TRUST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ABAC Trust State Machine: Proportional Enforcement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Not binary lockout. Graduated, reversible, proportional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0058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2103120" cy="320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435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TRUSTED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4173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TRIGGER: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60020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health &gt; 70, no CUSUM concern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8288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ACTION: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1168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Normal operations. Standard access. Baseline monitoring.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4884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Default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468880"/>
            <a:ext cx="1106424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468880"/>
            <a:ext cx="91440" cy="100584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514600"/>
            <a:ext cx="2103120" cy="32004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5328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ELEVATED_WATCH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5146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862A"/>
                </a:solidFill>
                <a:latin typeface="Calibri"/>
              </a:defRPr>
            </a:pPr>
            <a:r>
              <a:t>TRIGGER: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69748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health &lt; 70 OR cusum &gt; 2*sigma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9260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862A"/>
                </a:solidFill>
                <a:latin typeface="Calibri"/>
              </a:defRPr>
            </a:pPr>
            <a:r>
              <a:t>ACTION: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10896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Step-up MFA. Increased log verbosity. Analyst notification.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2461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Reversal: health &gt; 75 for 24h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566160"/>
            <a:ext cx="1106424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3566160"/>
            <a:ext cx="91440" cy="10058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3611880"/>
            <a:ext cx="2103120" cy="320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6301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6118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TRIGGER: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79476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health &lt; 40 OR cusum &gt; 3.5*sigma OR concept &gt; 0.55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0233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ACTION: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20624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Read-only access. Lateral blocked. Incident ticket created.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34340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Reversal: analyst + health &gt; 60 for 48h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663440"/>
            <a:ext cx="1106424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4663440"/>
            <a:ext cx="91440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4709160"/>
            <a:ext cx="210312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4727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BLOCKED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7091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TRIGGER: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89204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health &lt; 20 OR cusum ALARM (4*sigma) OR concept &gt; 0.70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1206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ACTION: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5303520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All access revoked. Sessions terminated. IR team notified.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4406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Reversal: IR team manual ONLY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Detection to enforcement: &lt; 5 minutes. System improves with analyst feedback. False positive = auto-adjusts baseline.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9048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99048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3  --  INTEGRATION  --  COMBINED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End-to-End Architecture: 22CT Preemptive + ACECARD UEBA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603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6984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256032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90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Threat Intel (CVE, CTI, IOCs)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47672"/>
            <a:ext cx="256032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0208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Defense Config (NGFW, IAM, SASE)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256032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5511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Telemetry (logs, netflow, EDR)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08376"/>
            <a:ext cx="256032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081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Schema (MITRE ATT&amp;CK/D3FEND)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051560"/>
            <a:ext cx="3840480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46120" y="1069848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1 -- 22CT PREEMPTIVE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1417320"/>
            <a:ext cx="3840480" cy="384048"/>
          </a:xfrm>
          <a:prstGeom prst="roundRect">
            <a:avLst/>
          </a:prstGeom>
          <a:solidFill>
            <a:srgbClr val="FDE5D4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37560" y="147218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Attack Intelligence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1856232"/>
            <a:ext cx="3840480" cy="384048"/>
          </a:xfrm>
          <a:prstGeom prst="roundRect">
            <a:avLst/>
          </a:prstGeom>
          <a:solidFill>
            <a:srgbClr val="FDE5D4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37560" y="191109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Defense Intelligence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2295144"/>
            <a:ext cx="3840480" cy="384048"/>
          </a:xfrm>
          <a:prstGeom prst="roundRect">
            <a:avLst/>
          </a:prstGeom>
          <a:solidFill>
            <a:srgbClr val="FDE5D4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37560" y="235000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Remediation Intelligence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734056"/>
            <a:ext cx="3840480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46120" y="2761488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30540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Hardened posture (config verified)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Verified SOC playbooks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MITRE TTP proof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1051560"/>
            <a:ext cx="448056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69480" y="106984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2 -- ACECARD UEBA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1417320"/>
            <a:ext cx="4480560" cy="384048"/>
          </a:xfrm>
          <a:prstGeom prst="roundRect">
            <a:avLst/>
          </a:prstGeom>
          <a:solidFill>
            <a:srgbClr val="E0F2F7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60920" y="147218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5 Signal Summarizers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0" y="1856232"/>
            <a:ext cx="4480560" cy="384048"/>
          </a:xfrm>
          <a:prstGeom prst="roundRect">
            <a:avLst/>
          </a:prstGeom>
          <a:solidFill>
            <a:srgbClr val="E0F2F7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60920" y="191109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Trajectory Analysis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2295144"/>
            <a:ext cx="4480560" cy="384048"/>
          </a:xfrm>
          <a:prstGeom prst="roundRect">
            <a:avLst/>
          </a:prstGeom>
          <a:solidFill>
            <a:srgbClr val="E0F2F7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60920" y="235000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Drift Direction (8 MITRE concepts)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2734056"/>
            <a:ext cx="448056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69480" y="2761488"/>
            <a:ext cx="4389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305409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5-tier alerts with MITRE mapping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33101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ABAC trust enforcement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35661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7-chart dashboard + SOAR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394960"/>
            <a:ext cx="112471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541324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8862A"/>
                </a:solidFill>
                <a:latin typeface="Calibri"/>
              </a:defRPr>
            </a:pPr>
            <a:r>
              <a:t>Shared vocabulary: MITRE ATT&amp;CK technique IDs  |  Entity UUIDs  |  Verified TTP coverage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Two layers. One vocabulary. Zero gaps between preemption and detection.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3  --  INTEGRATION  -- 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22CT Preemptive + ACECARD: The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Four concrete integration points. Each makes both products stronger.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0972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48640" cy="10972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691640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1732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22CT MITRE Coverage Map -&gt; ACECARD Concept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78308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ACECARD loads 22CT's verified TTP list as high-confidence concepts. Alert load drops 30-50% because unpreempted TTPs get priority weight.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9144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548640" cy="10972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880360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6060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22CT Verified Findings -&gt; ACECARD ABAC Trust Floor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97180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Entities that touch 22CT-flagged exposed assets are immediately elevated in ABAC. Step-up MFA triggered on assets with active preemptive finding.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4904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749040"/>
            <a:ext cx="91440" cy="109728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749040"/>
            <a:ext cx="548640" cy="109728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4069080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79476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ACECARD Confirmed TPs -&gt; 22CT Threat-Intel Feed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16052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Behavioral detections feed back as IOCs into 22CT's threat-intel pipeline. Loop: ACECARD detection -&gt; 22CT blocks the C2 path for all other entities.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37760"/>
            <a:ext cx="11064240" cy="10972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91440" cy="109728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4937760"/>
            <a:ext cx="548640" cy="109728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5257800"/>
            <a:ext cx="5120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98348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Shared Vocabulary: MITRE Technique IDs &amp; Entity UUIDs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34924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Single entity model across both layers. MITRE technique ID is the rosetta stone: preemption proof + behavioral alert share the same TTP label.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These four flows are why 22CT Preemptive + ACECARD is a system, not a bundle.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3  --  INTEGRATION  --  VOLT TYPHOON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Volt Typhoon Walkthrough: Both Layers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Phase-by-phase: what 22CT preempts, what ACECARD detects, what gets blocked.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463040" cy="34747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280160"/>
            <a:ext cx="2926080" cy="3474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57400" y="1298448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ATTACKER 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280160"/>
            <a:ext cx="3291840" cy="34747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74920" y="1298448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22CT PREEMPTS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280160"/>
            <a:ext cx="3291840" cy="3474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298448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ACECARD DETECTS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691640"/>
            <a:ext cx="1124712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7170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Phase 1</a:t>
            </a:r>
            <a:br/>
            <a:r>
              <a:t>0-12h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17170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SOHO router VPN cred reuse (KV botnet)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7170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T1133 segmentation verified; zero-trust path proved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7170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libri"/>
              </a:defRPr>
            </a:pPr>
            <a:r>
              <a:t>Auth: off_hours spikes, drift 0.08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87752"/>
            <a:ext cx="1124712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613152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Phase 2</a:t>
            </a:r>
            <a:br/>
            <a:r>
              <a:t>12-36h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613152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wmic, ntdsutil, netsh, rundll32 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613152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T1059 EDR script-control coverage proved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613152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libri"/>
              </a:defRPr>
            </a:pPr>
            <a:r>
              <a:t>Process: lolbin 0-&gt;7, CUSUM alarm T+47min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483864"/>
            <a:ext cx="1124712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509264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Phase 3</a:t>
            </a:r>
            <a:br/>
            <a:r>
              <a:t>36-72h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3509264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RDP/WinRM to Domain Controllers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509264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T1021 SMB shadow rule detected, micro-seg 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509264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libri"/>
              </a:defRPr>
            </a:pPr>
            <a:r>
              <a:t>Network: unique_dest 3-&gt;18, z=6.17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379976"/>
            <a:ext cx="1124712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405376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Phase 4</a:t>
            </a:r>
            <a:br/>
            <a:r>
              <a:t>72-96h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405376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Scheduled tasks, registry persistence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405376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T1556 config drift catches baseline deviation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405376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libri"/>
              </a:defRPr>
            </a:pPr>
            <a:r>
              <a:t>Identity: svc_acct spike, T1078 flag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276088"/>
            <a:ext cx="1124712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5301488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Phase 5</a:t>
            </a:r>
            <a:br/>
            <a:r>
              <a:t>96h+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5301488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Cred harvest, NTDS.dit, network mapping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30148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T1003 egress filtering verified; ntdsutil blocked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30148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libri"/>
              </a:defRPr>
            </a:pPr>
            <a:r>
              <a:t>File: sensitive_access 0-&gt;24, CRITICAL -&gt; BLOCKED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Layer 1 closes the door. Layer 2 watches the room. Together: Volt Typhoon has nowhere to hide.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3  --  INTEGRATION  --  SALT TYPHOON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Salt Typhoon Walkthrough: Both Layers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Salt Typhoon wins by going slow. CUSUM accumulates the small drifts. 30-day rolling baseline adapts.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463040" cy="34747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280160"/>
            <a:ext cx="2926080" cy="3474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57400" y="1298448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ATTACKER 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280160"/>
            <a:ext cx="3291840" cy="34747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74920" y="1298448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22CT PREEMPTS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280160"/>
            <a:ext cx="3291840" cy="3474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298448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ACECARD DETECTS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691640"/>
            <a:ext cx="1124712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7170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Phase 1</a:t>
            </a:r>
            <a:br/>
            <a:r>
              <a:t>0-24h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17170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CVE-2023-20198 IOS XE exploit (/webui/)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7170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T1190 WAF/mgmt-plane ACL blocks /webui/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7170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libri"/>
              </a:defRPr>
            </a:pPr>
            <a:r>
              <a:t>Network: anomalous mgmt-plane IP surfaced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87752"/>
            <a:ext cx="1124712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613152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Phase 2</a:t>
            </a:r>
            <a:br/>
            <a:r>
              <a:t>1-7d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613152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Local admin account + AAA config mod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613152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T1556 config drift detects baseline diff &lt;1hr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613152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libri"/>
              </a:defRPr>
            </a:pPr>
            <a:r>
              <a:t>Identity: new SID linked, priv_esc flag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483864"/>
            <a:ext cx="1124712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509264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Phase 3</a:t>
            </a:r>
            <a:br/>
            <a:r>
              <a:t>7-30d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3509264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TACACS+ capture on TCP/49 via pcap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509264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Mgmt-plane segmentation, on-box capture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509264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libri"/>
              </a:defRPr>
            </a:pPr>
            <a:r>
              <a:t>Process: tcpdump outside window, CUSUM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379976"/>
            <a:ext cx="1124712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405376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Phase 4</a:t>
            </a:r>
            <a:br/>
            <a:r>
              <a:t>30-90d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405376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JumbledPath pivot chains, GRE tunnel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405376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Outbound C2 IPs blocked; GRE peer verified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405376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libri"/>
              </a:defRPr>
            </a:pPr>
            <a:r>
              <a:t>Composite: same entity across 4 hops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276088"/>
            <a:ext cx="1124712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5301488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Phase 5</a:t>
            </a:r>
            <a:br/>
            <a:r>
              <a:t>90d+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5301488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GRE exfil, CALEA CDR/metadata harvest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530148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A4D8C"/>
                </a:solidFill>
                <a:latin typeface="Calibri"/>
              </a:defRPr>
            </a:pPr>
            <a:r>
              <a:t>GRE peer verified; CALEA-zone segmentation proved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30148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0891B2"/>
                </a:solidFill>
                <a:latin typeface="Calibri"/>
              </a:defRPr>
            </a:pPr>
            <a:r>
              <a:t>Network: data_exfil 0.44, CUSUM 4-sigma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Salt Typhoon wins by going slow. CUSUM accumulates sub-threshold drift. 30-day rolling baseline -- dwell of years -&gt; alarms in days.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9048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99048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3  --  INTEGRATION  --  COVERAGE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Combined Coverage: Which Layer Owns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adversary capability owned by the right layer. Preemption first, behavioral as backstop.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06424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Adversary 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298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298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298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2984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Why This Layer Owns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64592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6713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Edge-device CVE exploitation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6713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6713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7800" y="1719072"/>
            <a:ext cx="1005840" cy="2194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57800" y="17282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6713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Config is the gap -- formal proof patch enforced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103120"/>
            <a:ext cx="1106424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1285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Misconfigured / shadowed FW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1285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1285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2176272"/>
            <a:ext cx="1005840" cy="2194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57800" y="21854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285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Math model finds shadows across multi-vendor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56032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25857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Router ACL tampering / drift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25857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A6878"/>
                </a:solidFill>
                <a:latin typeface="Calibri"/>
              </a:defRPr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63440" y="25857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57800" y="2633472"/>
            <a:ext cx="1005840" cy="2194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57800" y="26426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5857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Config drift re-verifies hourly vs baseline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017520"/>
            <a:ext cx="1106424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30429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C2 to known malicious infra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0429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0429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57800" y="3090672"/>
            <a:ext cx="1005840" cy="219456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57800" y="30998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BOTH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0429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Preemptive blocks known; ACECARD catches unknown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47472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35001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Compromised valid accounts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35001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35001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57800" y="354787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257800" y="35570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5001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Policy-allowed traffic; only drift reveals abuse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3931920"/>
            <a:ext cx="1106424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39573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Living-off-the-Land (T1059)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39573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39573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400507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257800" y="40142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39573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lotl_execution concept + process signal shift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438912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8640" y="44145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Cross-domain lateral movement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44145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63440" y="44145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57800" y="446227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57800" y="44714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4145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Entity fusion joins all identities -&gt; one drift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4846320"/>
            <a:ext cx="1106424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48640" y="48717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Slow APT (months/years)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0" y="48717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63440" y="48717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57800" y="491947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257800" y="49286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48717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CUSUM 4-sigma accumulates sub-threshold drift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" y="530352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48640" y="53289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Zero-day / unknown TTPs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0" y="53289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63440" y="53289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257800" y="537667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257800" y="53858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0" y="53289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No MITRE label yet -&gt; behavioral anomaly only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7200" y="5760720"/>
            <a:ext cx="11064240" cy="4389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8640" y="5786120"/>
            <a:ext cx="3474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libri"/>
              </a:defRPr>
            </a:pPr>
            <a:r>
              <a:t>Insider threat / data hoarding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0" y="57861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A6878"/>
                </a:solidFill>
                <a:latin typeface="Calibri"/>
              </a:defRPr>
            </a:pPr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663440" y="5786120"/>
            <a:ext cx="457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A6878"/>
                </a:solidFill>
                <a:latin typeface="Calibri"/>
              </a:defRPr>
            </a:pPr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257800" y="583387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257800" y="584301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578612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insider_hoarding (T1074) + cohort z-score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Together: the attack surface never existed (Preemptive) OR the attack is detected and contained within hours (ACECARD + ABAC)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3  --  INTEGRATION  --  COMPLEMENTARY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Complementary Tools: What Rounds Out Defense-in-Depth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22CT Preemptive + ACECARD is the core. These technologies close residual gaps.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83464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8346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99032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EDR/XDR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CrowdStrike, MS Defender, SentinelOne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In-memory LOTL, process trees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Integration: Feeds ACECARD process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371600"/>
            <a:ext cx="283464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1371600"/>
            <a:ext cx="2834640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1399032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Email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691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Proofpoint, MS Defender for O365, Abnormal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011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Primary initial-access vector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31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Integration: Feeds identity 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371600"/>
            <a:ext cx="283464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6C2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92240" y="1371600"/>
            <a:ext cx="2834640" cy="27432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1399032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691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Vectra, ExtraHop, Darktrace, Corelight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011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East-west packet inspection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331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Integration: Feeds network signal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1371600"/>
            <a:ext cx="283464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09760" y="1371600"/>
            <a:ext cx="283464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0" y="1399032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SIEM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16916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Splunk, Sentinel, Chronicle, Elastic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0116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Log aggregation, retention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331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Integration: ACECARD reads from SIEM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200400"/>
            <a:ext cx="283464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3200400"/>
            <a:ext cx="2834640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227832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SOAR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520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XSOAR, Splunk SOAR, Tines, Torq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840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Automated playbooks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1605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Integration: Receives alerts with MITRE + ABAC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74720" y="3200400"/>
            <a:ext cx="283464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474720" y="3200400"/>
            <a:ext cx="28346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66160" y="3227832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Identity/ZTNA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3520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Okta, Entra, Ping, Zscaler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3840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Phishing-resistant MFA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41605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Integration: Step-up MFA from ABAC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40" y="3200400"/>
            <a:ext cx="283464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92240" y="3200400"/>
            <a:ext cx="283464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3680" y="3227832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OT/ICS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3520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Dragos, Claroty, Nozomi, TXOne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3840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OT protocol awareness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41605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Integration: Models IT/OT boundary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09760" y="3200400"/>
            <a:ext cx="283464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B88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509760" y="3200400"/>
            <a:ext cx="2834640" cy="27432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01200" y="3227832"/>
            <a:ext cx="2651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Deception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35204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Thinkst Canary, Acalvio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38404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High-fidelity tripwires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41605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libri"/>
              </a:defRPr>
            </a:pPr>
            <a:r>
              <a:t>Integration: ACECARD correlates canary alerts with drift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22CT Preemptive + ACECARD is the core. EDR + Email + NDR close the remaining gaps for full defense-in-depth.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3  --  INTEGRATION  --  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Reference Architecture: Comprehensive Defense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Five layers. Every layer has a job.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286000" cy="7772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1. THREAT 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371600"/>
            <a:ext cx="886968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20" y="155448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CISA/NSA/FBI Advisories  |  Vendor PSIRTs  |  Commercial CTI Feeds  |  MITRE ATT&amp;CK / D3FEND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2286000" cy="7772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2. PREEMPTIVE LAYER  (22CT Preemptive)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240280"/>
            <a:ext cx="886968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17520" y="242316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Attack Intelligence  |  Defense Intelligence  |  Remediation Intelligence  |  Continuous Re-Verify (hourly + on config change)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2286000" cy="777240"/>
          </a:xfrm>
          <a:prstGeom prst="rect">
            <a:avLst/>
          </a:prstGeom>
          <a:solidFill>
            <a:srgbClr val="16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3. CONTROL PLANE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3108960"/>
            <a:ext cx="886968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166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17520" y="32918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NGFW / IPS / WAF  |  Identity (IAM/PAM/IdP)  |  EDR / XDR  |  Email / Web / DLP  |  ZTNA / SASE / CASB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77640"/>
            <a:ext cx="2286000" cy="7772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0690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4. BEHAVIORAL LAYER  (ACECARD UEBA)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3977640"/>
            <a:ext cx="886968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17520" y="416052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5 Signal Summarizers  |  1536-d Embedding  |  Trajectory Analysis  |  Drift Direction (8 MITRE concepts)  |  ABAC Trust Loop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46320"/>
            <a:ext cx="2286000" cy="77724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9377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5. RESPONSE &amp; AUDIT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34640" y="4846320"/>
            <a:ext cx="886968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6C2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17520" y="502920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SIEM / Data Lake  |  SOAR / Playbooks  |  ServiceNow / JIRA Service Mgmt  |  Audit / Compliance / Forensics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Each layer has a defined owner and a defined job. No gaps. No overlaps. No ambiguity about what defeats what.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3  --  INTEGRATION  -- 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Verdict: What the Combined Stack Delivers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91440" cy="5029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WHAT IT COVERS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83664"/>
            <a:ext cx="109728" cy="10972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Every known MITRE TTP for Volt + Salt Typhoon -- preempted at config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231136"/>
            <a:ext cx="109728" cy="10972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1762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Living-off-the-Land tradecraft -- caught as behavioral drift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578608"/>
            <a:ext cx="109728" cy="10972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52374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Cross-domain identity fusion -- one trajectory across AD/AAD/AWS/Okta/K8s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926080"/>
            <a:ext cx="109728" cy="10972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87121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Zero-day &amp; unmapped TTPs -- caught as deviation from baseline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273552"/>
            <a:ext cx="109728" cy="10972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2186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Insider threat &amp; valid-account abuse -- cohort z-score + cosine drift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621024"/>
            <a:ext cx="109728" cy="10972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566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Long-dwell stealth -- CUSUM 4-sigma on rolling 30-day baseline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371600"/>
            <a:ext cx="5486400" cy="5029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1371600"/>
            <a:ext cx="91440" cy="5029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13898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REMAINING GAPS (BY DESIGN)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1883664"/>
            <a:ext cx="109728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18288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Endpoint runtime enforcement -- pair with CrowdStrike / MS Defender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2231136"/>
            <a:ext cx="109728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21762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Email &amp; phishing -- pair with Proofpoint / Defender for O365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578608"/>
            <a:ext cx="109728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252374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OT/ICS protocols -- pair with Dragos / Claroty / Nozomi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2926080"/>
            <a:ext cx="109728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0" y="287121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Physical &amp; supply-chain -- pair with TPRM platforms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273552"/>
            <a:ext cx="109728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0" y="32186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Human factors -- awareness training + tabletops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22CT Preemptive + ACECARD UEBA = comprehensive defense against Volt + Salt Typhoon. Add EDR + Email + NDR for full defense-in-depth.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9048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99048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 3  --  INNOVATION PROOF  --  NOBODY ELSE HAS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What Exists vs. 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Systematic comparison of our innovations against every commercial UEBA and preemptive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73152" cy="43891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30556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Formal verification of 2^8000 config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305560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Pentests sample. ASM enumerates. Nobody PROVES.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1353312"/>
            <a:ext cx="1828800" cy="228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0" y="136245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22CT PREEMPT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46504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746504"/>
            <a:ext cx="73152" cy="438912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1771904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Zero false positives / zero false negatives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1771904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Mathematical guarantee, not probabilistic.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1819656"/>
            <a:ext cx="1828800" cy="228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0" y="18288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22CT PREEMPT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212848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2212848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238248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Behavioral embedding in unified 1536-d 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238248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Industry uses features/rules. We use vectors.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2286000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0" y="22951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679192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2679192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2704592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Per-signal drift decomposition (5 individual)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704592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Others embed once. We embed 6x for attribution.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2752344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0" y="276148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145536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3145536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3170936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CUSUM on embedding trajectories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3170936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Nobody applies sequential change-point to vectors.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3218688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01200" y="322783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611880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" y="3611880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3637280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Drift direction with MITRE technique mapping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3637280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"Drifting toward T1021" -- no other UEBA does this.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0" y="3685032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01200" y="369417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078224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7200" y="4078224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4103624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Entity fusion across 10+ identity systems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4103624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Commercial UEBA: 1-3 sources max. We fuse 10+.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01200" y="4151376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01200" y="416052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44568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57200" y="4544568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4569968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HMAC-chained forensic evidence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4569968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Tamper-evident behavioral chains. Novel.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01200" y="4617720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601200" y="462686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010912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57200" y="5010912"/>
            <a:ext cx="73152" cy="43891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0080" y="5036312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ABAC trust loop with behavioral triggers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0" y="5036312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Detection + enforcement in one system. &lt;5 min.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01200" y="5084064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601200" y="50932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 ONLY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5477256"/>
            <a:ext cx="11064240" cy="43891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57200" y="5477256"/>
            <a:ext cx="73152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0080" y="5502656"/>
            <a:ext cx="5029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Preemptive + behavioral in one platform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60720" y="5502656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Nobody combines formal config proof + behavioral AI.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01200" y="5550408"/>
            <a:ext cx="1828800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601200" y="555955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COMBINED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8862A"/>
                </a:solidFill>
                <a:latin typeface="Calibri"/>
              </a:defRPr>
            </a:pPr>
            <a:r>
              <a:t>Combined: 10 innovations that do not exist anywhere else in the industry. This is not incremental improvement.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REFERENCE  --  KEY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Key Numbers to Memorize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84632" y="122529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2435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5+ 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2435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Volt Typhoon dwell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4632" y="163677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165506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4+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65506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Salt Typhoon dwell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1168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4632" y="204825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206654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200+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06654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Telcos compromised by Salt Typhoon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2316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4632" y="245973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247802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47802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US telecoms confirmed compromised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83464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4632" y="287121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28895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99%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288950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FW breaches = misconfig (Gartner)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24612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84632" y="328269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33009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~20%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3009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Attacks stopped by KEV patching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65760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84632" y="369417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371246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2^8000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371246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Config state space (cannot be sampled)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06908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84632" y="410565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412394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50M+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412394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Rule combinations 22CT reasons over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8056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84632" y="451713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0352" y="453542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453542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False positives (mathematical proof)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89204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84632" y="492861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0352" y="49469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494690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False negatives (exhaustive reasoning)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30352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84632" y="534009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30352" y="53583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&lt;1 hour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28800" y="53583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Config drift detection time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118872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45352" y="122529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91072" y="12435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1,536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12435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Embedding dims per signal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160020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245352" y="163677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91072" y="165506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9,216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89520" y="165506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Total dims (6 x 1536) per entity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17920" y="201168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245352" y="204825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91072" y="206654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89520" y="206654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Behavioral signals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242316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245352" y="245973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91072" y="247802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9520" y="247802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MITRE threat concepts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17920" y="283464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245352" y="287121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91072" y="28895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4-sigma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89520" y="288950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CUSUM alarm threshold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17920" y="324612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245352" y="328269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91072" y="33009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&lt;3 sec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89520" y="33009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Event to analysis per entity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17920" y="365760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245352" y="369417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291072" y="371246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10K/hr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89520" y="371246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Entities per 4-vCPU worker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217920" y="406908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245352" y="410565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291072" y="412394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$90M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89520" y="412394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22CT Army SOC/MDR contract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217920" y="448056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245352" y="451713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291072" y="453542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800+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89520" y="453542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Cleared analysts on contract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217920" y="489204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6245352" y="492861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291072" y="49469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90 days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589520" y="494690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Contract to first detection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217920" y="5303520"/>
            <a:ext cx="5486400" cy="38404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6245352" y="5340096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291072" y="535838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IL5/IL6/JWICS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589520" y="535838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Three enclave support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t>BUILD YOUR DOME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B0C0"/>
                </a:solidFill>
                <a:latin typeface="Calibri"/>
              </a:defRPr>
            </a:pPr>
            <a:r>
              <a:t>Preemptive closes the door. ACECARD watches the room.</a:t>
            </a:r>
            <a:br/>
            <a:r>
              <a:t>Together: comprehensive defense achieved.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090"/>
                </a:solidFill>
                <a:latin typeface="Calibri"/>
              </a:defRPr>
            </a:pPr>
            <a:r>
              <a:t>22nd Century Technologies Inc.  |  Contact: ravindra.shukla@gmail.com  |  CFIC Augusta GA  |  May 6,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B0C0"/>
                </a:solidFill>
                <a:latin typeface="Calibri"/>
              </a:defRPr>
            </a:pPr>
            <a:r>
              <a:t>PREEMPTIVE: Formal mathematical proof that every known TTP path is blocked.</a:t>
            </a:r>
            <a:br/>
            <a:r>
              <a:t>BEHAVIORAL: Continuous 1536-d trajectory intelligence that catches what preemption cannot.</a:t>
            </a:r>
            <a:br/>
            <a:r>
              <a:t>INTEGRATED: Shared MITRE vocabulary, trust-floor coupling, closed-loop threat intel.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APPENDIX A  --  MATHEMATICAL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CUSUM Algorithm: Full Mathematical Derivation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Page's Cumulative Sum (1954) -- sequential change-point detection applied to behavioral embedding drift.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286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STEP 1: BEHAVIORAL DRIFT MEASUREMENT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For each entity e at time window t: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drift(e, t) = 1 - cosine_sim(V(e,t), V(e,t-1))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V(e,t) = 1536-d composite behavioral embedding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V(e,t-1) = previous window embedding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Range: 0.0 (identical) to 2.0 (opposite)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Typical healthy entity: drift ~ 0.02-0.05 per window</a:t>
            </a:r>
          </a:p>
          <a:p>
            <a:pPr>
              <a:spcBef>
                <a:spcPts val="400"/>
              </a:spcBef>
              <a:defRPr sz="1000" b="0">
                <a:solidFill>
                  <a:srgbClr val="C0392B"/>
                </a:solidFill>
                <a:latin typeface="Calibri"/>
              </a:defRPr>
            </a:pPr>
            <a:r>
              <a:t>Compromised entity: drift ~ 0.06-0.15 per window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2860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91440" cy="22860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6B1F"/>
                </a:solidFill>
                <a:latin typeface="Calibri"/>
              </a:defRPr>
            </a:pPr>
            <a:r>
              <a:t>STEP 2: BASELINE ESTIMATION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91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Rolling baseline over N=30 windows: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mu(e) = mean(drift(e, t-N .. t-1))</a:t>
            </a:r>
          </a:p>
          <a:p>
            <a:pPr>
              <a:spcBef>
                <a:spcPts val="2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sigma(e) = stdev(drift(e, t-N .. t-1))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mu captures the entity's NORMAL drift rate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sigma captures how much that rate naturally varies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Example: mu=0.03, sigma=0.03</a:t>
            </a:r>
          </a:p>
          <a:p>
            <a:pPr>
              <a:spcBef>
                <a:spcPts val="400"/>
              </a:spcBef>
              <a:defRPr sz="1000" b="0">
                <a:solidFill>
                  <a:srgbClr val="5A6878"/>
                </a:solidFill>
                <a:latin typeface="Calibri"/>
              </a:defRPr>
            </a:pPr>
            <a:r>
              <a:t>This entity normally drifts ~0.03/window +/- 0.03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5303520" cy="2743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91440" cy="2743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STEP 3: CUSUM ACCUMULATION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Two parameters control sensitivity: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k (slack) = 0.5 * sigma  (allowable noise)</a:t>
            </a:r>
          </a:p>
          <a:p>
            <a:pPr>
              <a:spcBef>
                <a:spcPts val="2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h (threshold) = 4 * sigma  (alarm level)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The CUSUM statistic:</a:t>
            </a:r>
          </a:p>
          <a:p>
            <a:pPr>
              <a:spcBef>
                <a:spcPts val="200"/>
              </a:spcBef>
              <a:defRPr sz="1200" b="1">
                <a:solidFill>
                  <a:srgbClr val="C0392B"/>
                </a:solidFill>
                <a:latin typeface="Calibri"/>
              </a:defRPr>
            </a:pPr>
            <a:r>
              <a:t>S(t) = max(0,  S(t-1) + drift(t) - mu - k)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Key properties: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  S(t) can only increase when drift &gt; mu + k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  S(t) resets to 0 when drift returns to normal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  S(t) ACCUMULATES excess drift over time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  ALARM when S(t) &gt;= 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40480"/>
            <a:ext cx="5303520" cy="2743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91440" cy="2743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886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STEP 4: WORKED EXAMPLE (VOLT TYPHOON)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1605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Entity baseline: mu=0.03, sigma=0.03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k = 0.5 * 0.03 = 0.015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h = 4 * 0.03 = 0.12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APT drift per window = 0.06 (below threshold!)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Fixed threshold = 0.15 --&gt; NEVER fires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CUSUM accumulation: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  Window 1: S = 0 + 0.06 - 0.03 - 0.015 = 0.015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  Window 2: S = 0.015 + 0.015 = 0.030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  Window 3: S = 0.030 + 0.015 = 0.045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  Window 4: S = 0.045 + 0.015 = 0.060</a:t>
            </a:r>
          </a:p>
          <a:p>
            <a:pPr>
              <a:spcBef>
                <a:spcPts val="400"/>
              </a:spcBef>
              <a:defRPr sz="900" b="0">
                <a:solidFill>
                  <a:srgbClr val="5A6878"/>
                </a:solidFill>
                <a:latin typeface="Calibri"/>
              </a:defRPr>
            </a:pPr>
            <a:r>
              <a:t>  ...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  Window 8: S = 0.120 &gt;= h = 0.12  --&gt;  ALARM!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100" b="1">
                <a:solidFill>
                  <a:srgbClr val="0891B2"/>
                </a:solidFill>
                <a:latin typeface="Calibri"/>
              </a:defRPr>
            </a:pPr>
            <a:r>
              <a:t>Dwell time: 5 YEARS (threshold) vs 8 HOURS (CUSUM)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APPENDIX A (cont.)  --  CUSUM vs 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Why CUSUM Beats Every Alternative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Systematic comparison of sequential detection methods for behavioral embedding drift.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5486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THE CORE INSIGHT: Slow APTs produce drift that NEVER exceeds a fixed threshold in any single window. CUSUM detects these by accumulating small excesses over time -- the mathematical equivalent of "death by a thousand cuts."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82880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1214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103120"/>
            <a:ext cx="274320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31720" y="212140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FORMULA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103120"/>
            <a:ext cx="274320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4920" y="212140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STRENGTH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103120"/>
            <a:ext cx="3749039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20" y="21214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WEAKNESS / VERDICT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68880"/>
            <a:ext cx="1106424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468880"/>
            <a:ext cx="73152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2494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Fixed Threshold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494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scadia Code"/>
              </a:defRPr>
            </a:pPr>
            <a:r>
              <a:t>Alert if drift(t) &gt; 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494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Simple, low compute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4942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Misses slow drift entirely. T=0.15: Volt Typhoon undetected for 5+ years.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73552"/>
            <a:ext cx="1106424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273552"/>
            <a:ext cx="73152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29895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Z-Score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298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scadia Code"/>
              </a:defRPr>
            </a:pPr>
            <a:r>
              <a:t>Alert if (drift(t)-mu)/sigma &gt; 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29895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Adapts to entity 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298952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Still single-window. z=3: needs 3-sigma spike. Misses gradual shift.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078224"/>
            <a:ext cx="1106424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4078224"/>
            <a:ext cx="73152" cy="7772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10362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EWMA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103624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scadia Code"/>
              </a:defRPr>
            </a:pPr>
            <a:r>
              <a:t>Z(t) = lambda*drift(t) + (1-lambda)*Z(t-1)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103624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Smooths noise, catches trends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103624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Lambda tuning fragile. Decays old signal. No formal ARL guarantee.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882896"/>
            <a:ext cx="1106424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4882896"/>
            <a:ext cx="73152" cy="7772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490829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CUSUM (Ours)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4908296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scadia Code"/>
              </a:defRPr>
            </a:pPr>
            <a:r>
              <a:t>S(t) = max(0, S(t-1)+drift(t)-mu-k)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908296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Accumulates excess. Resets on return.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908296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Optimal: minimizes detection delay for given false alarm rate (Lorden 1971).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760720"/>
            <a:ext cx="11064240" cy="7315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200" y="5760720"/>
            <a:ext cx="91440" cy="73152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5779008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862A"/>
                </a:solidFill>
                <a:latin typeface="Calibri"/>
              </a:defRPr>
            </a:pPr>
            <a:r>
              <a:t>THEORETICAL GUARANTEE (Lorden 1971, Moustakides 1986)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0350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CUSUM is MINIMAX OPTIMAL: among all sequential tests with the same false-alarm rate (ARL0), CUSUM minimizes the worst-case detection delay. This is a proven mathematical result, not an empirical claim. No other method can detect faster without increasing false alarms.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APPENDIX B  --  MITRE ATT&amp;CK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MITRE ATT&amp;CK Technique IDs Used in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Industry-standard adversary behavior taxonomy maintained by MITRE Corporation (attack.mitre.org).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280160"/>
            <a:ext cx="210312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0020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TECHNIQUE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280160"/>
            <a:ext cx="164592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12984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TACTIC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280160"/>
            <a:ext cx="621792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49240" y="129844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DESCRIPTION &amp; RELEVANCE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64592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1737360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75564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1671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Credential Dumping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16713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Credential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167132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Stealing passwords, hashes, tickets from OS. Includes LSASS, SAM, NTDS.dit, DCSync, Kerberoasting.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221992"/>
            <a:ext cx="11064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313432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33172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22473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Remote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224739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Lateral Movement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247392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Moving between systems via RDP, SMB/Windows Admin Shares, SSH, WinRM. Key Volt Typhoon technique.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798064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2889504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290779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282346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Exfiltration Over C2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282346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Exfiltration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2823464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Stealing data through the existing command-and-control channel rather than a separate connection.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374136"/>
            <a:ext cx="11064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3465576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3483864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T1059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339953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Command &amp; Scripting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3399536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Execution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3399536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Running commands via PowerShell, cmd, wmic, VBScript. Core Living-off-the-Land technique.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950208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4041648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40599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T1071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0200" y="39756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Application Layer Protocol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3320" y="397560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Command &amp; Control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49240" y="3975608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C2 communication over HTTP/S, DNS, or other standard protocols to blend with normal traffic.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526280"/>
            <a:ext cx="11064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7200" y="4617720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463600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T1074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00200" y="4551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Data Staged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03320" y="45516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Collection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9240" y="455168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Collecting and staging data in a central location before exfiltration. Key insider threat indicator.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102352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57200" y="5193792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02920" y="521208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T1078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00200" y="51277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Valid Accounts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03320" y="512775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Defense Evasion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49240" y="5127752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Using stolen legitimate credentials. Passes every config-based check by design.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5678424"/>
            <a:ext cx="1106424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57200" y="5769864"/>
            <a:ext cx="10058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02920" y="578815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Code"/>
              </a:defRPr>
            </a:pPr>
            <a:r>
              <a:t>T1562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00200" y="570382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Impair Defenses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03320" y="570382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Defense Evasion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49240" y="5703824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Disabling or modifying security tools: AV exclusions, log clearing, agent tampering, firewall rules.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6309360"/>
            <a:ext cx="11064240" cy="3657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57200" y="6309360"/>
            <a:ext cx="91440" cy="36576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1520" y="632764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ACECARD drift direction projects behavioral drift onto these exact technique embeddings. "Drifting toward T1021 at 0.82" = actionable, auditable, MITRE-mapped intelligence.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APPENDIX B (cont.)  --  VOLT &amp; SALT TYPHOON ATT&amp;CK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Complete MITRE ATT&amp;CK Mapping: Volt Typhoon (G1017) &amp; Salt Typhoon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All techniques observed in CISA advisories AA24-038A and AA25-239A.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28016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8930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TECHNIQUE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280160"/>
            <a:ext cx="228600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83080" y="12893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280160"/>
            <a:ext cx="53035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69080" y="128930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1280160"/>
            <a:ext cx="219456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72600" y="12893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581912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5946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T1190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15946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Exploit Public-Facing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15946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Fortinet, Ivanti, Versa, PAN-OS CVEs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1609344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0" y="161848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888236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19009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T1133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19009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External Remote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190093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VPN/SASE exploitation for initial access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1915668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0" y="192481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194560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22072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T1078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22072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Valid Accounts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22072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Stolen credentials from ntdsutil / LSASS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18320" y="2221992"/>
            <a:ext cx="914400" cy="2011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18320" y="223113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VT+ST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500884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25135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T1059.001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251358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PowerShell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251358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Encoded commands, download cradles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0" y="2528316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18320" y="25374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2807208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48640" y="28199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T1047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83080" y="28199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WMI (wmic)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281990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Remote execution via WMI for LoTL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18320" y="2834640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418320" y="284378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3113532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31262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T1003.003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83080" y="312623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NTDS (ntdsutil)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69080" y="312623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Domain controller NTDS.dit extraction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18320" y="3140964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18320" y="31501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3419856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8640" y="343255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T1003.001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83080" y="34325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LSASS Memory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9080" y="343255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Credential harvesting from LSASS process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3447288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418320" y="34564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3726180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48640" y="373888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T1021.002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83080" y="37388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SMB/Admin Shares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69080" y="373888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Lateral via C$ and ADMIN$ shares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18320" y="3753612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418320" y="376275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4032504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48640" y="40452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T1021.001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83080" y="40452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Remote Desktop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69080" y="404520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RDP lateral movement with stolen creds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18320" y="4059936"/>
            <a:ext cx="914400" cy="2011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418320" y="40690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VT+ST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4338828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48640" y="43515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T1071.001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83080" y="43515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Web Protocols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69080" y="435152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HTTPS C2, KV Botnet communication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418320" y="4366260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418320" y="437540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4645152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48640" y="46578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T1090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83080" y="465785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Proxy (KV Botnet)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69080" y="465785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Compromised SOHO routers as proxy infra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18320" y="4672584"/>
            <a:ext cx="914400" cy="201168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418320" y="46817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57200" y="4951476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48640" y="496417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T1136.001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783080" y="49641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Create Local Account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69080" y="496417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Rogue admin accounts on Cisco IOS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418320" y="4978908"/>
            <a:ext cx="914400" cy="20116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418320" y="49880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57200" y="5257800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48640" y="52705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T1556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83080" y="527050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Modify Auth Process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069080" y="52705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TACACS+ credential capture (TCP/49)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418320" y="5285232"/>
            <a:ext cx="914400" cy="20116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418320" y="529437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57200" y="5564124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48640" y="5576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T1572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783080" y="55768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Protocol Tunneling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69080" y="557682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GRE tunnels between compromised routers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418320" y="5591556"/>
            <a:ext cx="914400" cy="20116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418320" y="56007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57200" y="5870448"/>
            <a:ext cx="11064240" cy="292608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48640" y="58831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T1041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783080" y="588314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Exfil Over C2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69080" y="588314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CDR/metadata exfiltration, CALEA access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418320" y="5897880"/>
            <a:ext cx="914400" cy="20116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418320" y="590702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200" y="6176772"/>
            <a:ext cx="11064240" cy="2926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48640" y="61894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0B1F3A"/>
                </a:solidFill>
                <a:latin typeface="Cascadia Code"/>
              </a:defRPr>
            </a:pPr>
            <a:r>
              <a:t>T1562.001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783080" y="618947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Disable Security Tools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69080" y="61894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Log clearing, ACL modification for evasion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418320" y="6204204"/>
            <a:ext cx="914400" cy="2011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418320" y="621334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VT+ST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" y="6537960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Sources: MITRE ATT&amp;CK v15; CISA AA24-038A (Volt Typhoon); CISA AA25-239A (Salt Typhoon); Microsoft Threat Intelligence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APPENDIX C  --  TECHNICAL 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Key Technical Terms &amp; Metrics Explained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Plain-language definitions for every technical term used in this deck.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3152" cy="8046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97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Cohort z-score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397000"/>
            <a:ext cx="8321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How far one entity's drift is from its PEER GROUP average. If all 50 sysadmins drift ~0.03 and one drifts 0.14, z = (0.14 - 0.03) / 0.018 = 6.17. z &gt; 3 is extreme. This entity behaves radically differently from everyone with the same role.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12848"/>
            <a:ext cx="1106424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73152" cy="8046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238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Drift (cosine distance)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238248"/>
            <a:ext cx="8321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How much an entity's behavioral embedding changed between two time windows. drift = 1 - cosine_similarity(V_now, V_previous). Range: 0.0 (identical) to 2.0 (opposite). Healthy: ~0.02-0.05. Compromised: ~0.06-0.15.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54096"/>
            <a:ext cx="1106424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054096"/>
            <a:ext cx="73152" cy="8046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0794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CUSUM (Cumulative Sum)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079496"/>
            <a:ext cx="8321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Sequential change-point detection algorithm (Page, 1954). Accumulates small behavioral drifts over time. Catches slow APT campaigns that NEVER cross a fixed threshold in any single window. S(t) = max(0, S(t-1) + drift(t) - mu - k). Alarm when S(t) &gt;= 4*sigma.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95344"/>
            <a:ext cx="1106424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895344"/>
            <a:ext cx="73152" cy="8046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9207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Drift Direction (concept alignment)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920744"/>
            <a:ext cx="8321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Cosine projection of the drift VECTOR onto 8 MITRE threat concept embeddings. Answers "WHAT is this entity becoming?" not just "something changed." Example: "drifting toward lateral_movement (T1021) at cosine 0.82."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36592"/>
            <a:ext cx="1106424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736592"/>
            <a:ext cx="73152" cy="8046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7619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1536-d Embedding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761992"/>
            <a:ext cx="8321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A 1,536-dimensional vector that captures the behavioral STATE of an entity. Generated by encoding behavioral metrics as natural language, then embedding via OpenAI text-embedding-3-small (or local SLM for IL6/JWICS). All entities live in the same vector space.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577840"/>
            <a:ext cx="1106424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5577840"/>
            <a:ext cx="73152" cy="80467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603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Entity 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603240"/>
            <a:ext cx="83210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Resolving 10+ identity system identifiers (AD, AAD, Okta, AWS, K8s, CrowdStrike, VPN, etc.) into a single entity_uuid. Without this, one attacker appears as 10 unrelated users.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APPENDIX C (cont.)  --  SIGNAL METRICS 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Behavioral Signal Metrics: What Each Number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The raw metrics inside each of the 5 behavioral signals.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0642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92860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PROCESS SIGNAL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81912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946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lolbin_count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59461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Count of Living-off-the-Land Binaries executed (wmic, certutil, ntdsutil, rundll32, mshta, etc.). These are legitimate Windows tools weaponized by attackers. 0 is normal for most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39112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0518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cmdline_entropy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5181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Shannon entropy of command-line arguments. Low (1.0-2.0) = readable commands like "dir C:\Users". High (3.0+) = Base64-encoded or obfuscated payloads. Volt Typhoon uses encoded PowerShell.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96312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5090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parent_child_depth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50901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Depth of the process tree. Normal: explorer &gt; cmd &gt; dir (depth 2). Attack: winword &gt; cmd &gt; powershell &gt; wmic &gt; rundll32 &gt; cmd (depth 5+). Deep trees = chained execution.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53512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9662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scripting_engine_calls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96621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Count of PowerShell, VBScript, WScript, cscript invocations per window. 0 is normal for non-admin users. 14 in one window = automated attack script running.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410712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4234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unsigned_ratio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42341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Fraction of executed binaries without valid code signatures. High ratio = custom malware or tampered tools.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41064"/>
            <a:ext cx="11064240" cy="27432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953764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AUTH SIGNAL METRICS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42816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2555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failure_rate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255516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Ratio of failed to total logon attempts. Sudden spike = brute force or credential stuffing.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700016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7127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off_hours_ratio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712716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Fraction of logons outside normal working hours. Spike = compromised account used by attacker in different timezone.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157216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51699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impossible_travel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169916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Logons from locations that are geographically impossible given time between events. NYC at 2:00 PM, Beijing at 2:15 PM = compromised credential.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614416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56271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mfa_skip_ratio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5627116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Fraction of sessions bypassing MFA. Token theft or legacy auth exploitation.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144768"/>
            <a:ext cx="1106424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6157468"/>
            <a:ext cx="10698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NETWORK SIGNAL METRICS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6446520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64592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beacon_score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64592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Regularity of outbound connections. C2 beacons call home at fixed intervals. Score 0.0=random, 1.0=perfectly periodic. KV Botnet and JumbledPath have scores &gt; 0.7.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903720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69164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bytes_out_ratio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69164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Outbound vs inbound data ratio. Normal users download more than upload. Ratio inversion (upload &gt; download) = data exfiltration.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7360920"/>
            <a:ext cx="1106424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" y="73736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B1F3A"/>
                </a:solidFill>
                <a:latin typeface="Cascadia Code"/>
              </a:defRPr>
            </a:pPr>
            <a:r>
              <a:t>dns_query_rate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73736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DNS queries per hour. Spike = DNS tunneling for C2 or exfiltration.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1359</TotalTime>
  <Words>10885</Words>
  <Application>Microsoft Office PowerPoint</Application>
  <PresentationFormat>Widescreen</PresentationFormat>
  <Paragraphs>1375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Ravindra Shukla</cp:lastModifiedBy>
  <cp:revision>2</cp:revision>
  <dcterms:created xsi:type="dcterms:W3CDTF">2013-01-27T09:14:16Z</dcterms:created>
  <dcterms:modified xsi:type="dcterms:W3CDTF">2026-05-04T14:20:27Z</dcterms:modified>
  <cp:category/>
</cp:coreProperties>
</file>