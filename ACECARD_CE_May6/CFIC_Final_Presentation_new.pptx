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57" r:id="rId3"/>
    <p:sldId id="276" r:id="rId4"/>
    <p:sldId id="258" r:id="rId5"/>
    <p:sldId id="259" r:id="rId6"/>
    <p:sldId id="260" r:id="rId7"/>
    <p:sldId id="277" r:id="rId8"/>
    <p:sldId id="278" r:id="rId9"/>
    <p:sldId id="279" r:id="rId10"/>
    <p:sldId id="280" r:id="rId11"/>
    <p:sldId id="281" r:id="rId12"/>
    <p:sldId id="282" r:id="rId13"/>
    <p:sldId id="283" r:id="rId14"/>
    <p:sldId id="284" r:id="rId15"/>
    <p:sldId id="286" r:id="rId16"/>
    <p:sldId id="287" r:id="rId17"/>
    <p:sldId id="288" r:id="rId18"/>
    <p:sldId id="289" r:id="rId19"/>
    <p:sldId id="290" r:id="rId20"/>
    <p:sldId id="291" r:id="rId21"/>
    <p:sldId id="292" r:id="rId22"/>
    <p:sldId id="293" r:id="rId23"/>
    <p:sldId id="294" r:id="rId24"/>
    <p:sldId id="295" r:id="rId25"/>
    <p:sldId id="261" r:id="rId26"/>
    <p:sldId id="262" r:id="rId27"/>
    <p:sldId id="263" r:id="rId28"/>
    <p:sldId id="264" r:id="rId29"/>
    <p:sldId id="265" r:id="rId30"/>
    <p:sldId id="266" r:id="rId31"/>
    <p:sldId id="267" r:id="rId32"/>
    <p:sldId id="268" r:id="rId33"/>
    <p:sldId id="269" r:id="rId34"/>
    <p:sldId id="270" r:id="rId35"/>
    <p:sldId id="296" r:id="rId36"/>
    <p:sldId id="297" r:id="rId37"/>
    <p:sldId id="298" r:id="rId38"/>
    <p:sldId id="299" r:id="rId39"/>
    <p:sldId id="300" r:id="rId40"/>
    <p:sldId id="301" r:id="rId41"/>
    <p:sldId id="302" r:id="rId42"/>
    <p:sldId id="303" r:id="rId43"/>
    <p:sldId id="304" r:id="rId44"/>
    <p:sldId id="271" r:id="rId45"/>
    <p:sldId id="272" r:id="rId46"/>
    <p:sldId id="273" r:id="rId47"/>
    <p:sldId id="274" r:id="rId48"/>
    <p:sldId id="275" r:id="rId49"/>
    <p:sldId id="285"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2" d="100"/>
          <a:sy n="102" d="100"/>
        </p:scale>
        <p:origin x="96" y="1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17748D-4342-4181-80F7-C48FF8FB2FC2}" type="datetimeFigureOut">
              <a:rPr lang="en-US" smtClean="0"/>
              <a:t>5/3/2026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D9E18B-7C71-47CC-85C6-6C43FD2DF455}" type="slidenum">
              <a:rPr lang="en-US" smtClean="0"/>
              <a:t>‹#›</a:t>
            </a:fld>
            <a:endParaRPr lang="en-US"/>
          </a:p>
        </p:txBody>
      </p:sp>
    </p:spTree>
    <p:extLst>
      <p:ext uri="{BB962C8B-B14F-4D97-AF65-F5344CB8AC3E}">
        <p14:creationId xmlns:p14="http://schemas.microsoft.com/office/powerpoint/2010/main" val="2783836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D9E18B-7C71-47CC-85C6-6C43FD2DF455}" type="slidenum">
              <a:rPr lang="en-US" smtClean="0"/>
              <a:t>1</a:t>
            </a:fld>
            <a:endParaRPr lang="en-US"/>
          </a:p>
        </p:txBody>
      </p:sp>
    </p:spTree>
    <p:extLst>
      <p:ext uri="{BB962C8B-B14F-4D97-AF65-F5344CB8AC3E}">
        <p14:creationId xmlns:p14="http://schemas.microsoft.com/office/powerpoint/2010/main" val="3201782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056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42A"/>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10332720" cy="457200"/>
          </a:xfrm>
          <a:prstGeom prst="rect">
            <a:avLst/>
          </a:prstGeom>
          <a:noFill/>
        </p:spPr>
        <p:txBody>
          <a:bodyPr wrap="square">
            <a:spAutoFit/>
          </a:bodyPr>
          <a:lstStyle/>
          <a:p>
            <a:pPr algn="ctr">
              <a:defRPr sz="2000" b="1">
                <a:solidFill>
                  <a:srgbClr val="B8862A"/>
                </a:solidFill>
                <a:latin typeface="Georgia"/>
              </a:defRPr>
            </a:pPr>
            <a:r>
              <a:t>22nd Century Technologies Inc.</a:t>
            </a:r>
          </a:p>
        </p:txBody>
      </p:sp>
      <p:sp>
        <p:nvSpPr>
          <p:cNvPr id="3" name="TextBox 2"/>
          <p:cNvSpPr txBox="1"/>
          <p:nvPr/>
        </p:nvSpPr>
        <p:spPr>
          <a:xfrm>
            <a:off x="914400" y="2011680"/>
            <a:ext cx="10332720" cy="1097280"/>
          </a:xfrm>
          <a:prstGeom prst="rect">
            <a:avLst/>
          </a:prstGeom>
          <a:noFill/>
        </p:spPr>
        <p:txBody>
          <a:bodyPr wrap="square">
            <a:spAutoFit/>
          </a:bodyPr>
          <a:lstStyle/>
          <a:p>
            <a:pPr algn="ctr">
              <a:defRPr sz="3600" b="1">
                <a:solidFill>
                  <a:srgbClr val="FFFFFF"/>
                </a:solidFill>
                <a:latin typeface="Georgia"/>
              </a:defRPr>
            </a:pPr>
            <a:r>
              <a:t>CONTAINERIZED BEHAVIORAL CYBER DEFENSE</a:t>
            </a:r>
            <a:br/>
            <a:r>
              <a:t>FOR GABRIEL NIMBUS</a:t>
            </a:r>
          </a:p>
        </p:txBody>
      </p:sp>
      <p:sp>
        <p:nvSpPr>
          <p:cNvPr id="4" name="TextBox 3"/>
          <p:cNvSpPr txBox="1"/>
          <p:nvPr/>
        </p:nvSpPr>
        <p:spPr>
          <a:xfrm>
            <a:off x="839244" y="3657600"/>
            <a:ext cx="10332720" cy="457200"/>
          </a:xfrm>
          <a:prstGeom prst="rect">
            <a:avLst/>
          </a:prstGeom>
          <a:noFill/>
        </p:spPr>
        <p:txBody>
          <a:bodyPr wrap="square">
            <a:spAutoFit/>
          </a:bodyPr>
          <a:lstStyle/>
          <a:p>
            <a:pPr algn="ctr">
              <a:defRPr sz="1600" b="0">
                <a:solidFill>
                  <a:srgbClr val="A0B0C0"/>
                </a:solidFill>
                <a:latin typeface="Calibri"/>
              </a:defRPr>
            </a:pPr>
            <a:r>
              <a:rPr dirty="0"/>
              <a:t>Preemptive Posture Verification  +  ACECARD UEBA Behavioral Intelligence</a:t>
            </a:r>
          </a:p>
        </p:txBody>
      </p:sp>
      <p:sp>
        <p:nvSpPr>
          <p:cNvPr id="5" name="Rounded Rectangle 4"/>
          <p:cNvSpPr/>
          <p:nvPr/>
        </p:nvSpPr>
        <p:spPr>
          <a:xfrm>
            <a:off x="1371600" y="4389120"/>
            <a:ext cx="4389120" cy="914400"/>
          </a:xfrm>
          <a:prstGeom prst="roundRect">
            <a:avLst/>
          </a:prstGeom>
          <a:noFill/>
          <a:ln w="12700">
            <a:solidFill>
              <a:srgbClr val="F26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54480" y="4434840"/>
            <a:ext cx="4023360" cy="228600"/>
          </a:xfrm>
          <a:prstGeom prst="rect">
            <a:avLst/>
          </a:prstGeom>
          <a:noFill/>
        </p:spPr>
        <p:txBody>
          <a:bodyPr wrap="square">
            <a:spAutoFit/>
          </a:bodyPr>
          <a:lstStyle/>
          <a:p>
            <a:pPr algn="ctr">
              <a:defRPr sz="1000" b="1">
                <a:solidFill>
                  <a:srgbClr val="F26B1F"/>
                </a:solidFill>
                <a:latin typeface="Calibri"/>
              </a:defRPr>
            </a:pPr>
            <a:r>
              <a:t>PREEMPTIVE LAYER</a:t>
            </a:r>
          </a:p>
        </p:txBody>
      </p:sp>
      <p:sp>
        <p:nvSpPr>
          <p:cNvPr id="7" name="TextBox 6"/>
          <p:cNvSpPr txBox="1"/>
          <p:nvPr/>
        </p:nvSpPr>
        <p:spPr>
          <a:xfrm>
            <a:off x="1554480" y="4709160"/>
            <a:ext cx="4023360" cy="457200"/>
          </a:xfrm>
          <a:prstGeom prst="rect">
            <a:avLst/>
          </a:prstGeom>
          <a:noFill/>
        </p:spPr>
        <p:txBody>
          <a:bodyPr wrap="square">
            <a:spAutoFit/>
          </a:bodyPr>
          <a:lstStyle/>
          <a:p>
            <a:pPr algn="ctr">
              <a:defRPr sz="1100" b="0">
                <a:solidFill>
                  <a:srgbClr val="CCDDEE"/>
                </a:solidFill>
                <a:latin typeface="Calibri"/>
              </a:defRPr>
            </a:pPr>
            <a:r>
              <a:t>Mathematically verifies every defensive control</a:t>
            </a:r>
            <a:br/>
            <a:r>
              <a:t>closes every known TTP</a:t>
            </a:r>
          </a:p>
        </p:txBody>
      </p:sp>
      <p:sp>
        <p:nvSpPr>
          <p:cNvPr id="8" name="Rounded Rectangle 7"/>
          <p:cNvSpPr/>
          <p:nvPr/>
        </p:nvSpPr>
        <p:spPr>
          <a:xfrm>
            <a:off x="6400800" y="4389120"/>
            <a:ext cx="4389120" cy="914400"/>
          </a:xfrm>
          <a:prstGeom prst="roundRect">
            <a:avLst/>
          </a:prstGeom>
          <a:no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4434840"/>
            <a:ext cx="4023360" cy="228600"/>
          </a:xfrm>
          <a:prstGeom prst="rect">
            <a:avLst/>
          </a:prstGeom>
          <a:noFill/>
        </p:spPr>
        <p:txBody>
          <a:bodyPr wrap="square">
            <a:spAutoFit/>
          </a:bodyPr>
          <a:lstStyle/>
          <a:p>
            <a:pPr algn="ctr">
              <a:defRPr sz="1000" b="1">
                <a:solidFill>
                  <a:srgbClr val="0891B2"/>
                </a:solidFill>
                <a:latin typeface="Calibri"/>
              </a:defRPr>
            </a:pPr>
            <a:r>
              <a:t>BEHAVIORAL LAYER -- ACECARD UEBA</a:t>
            </a:r>
          </a:p>
        </p:txBody>
      </p:sp>
      <p:sp>
        <p:nvSpPr>
          <p:cNvPr id="10" name="TextBox 9"/>
          <p:cNvSpPr txBox="1"/>
          <p:nvPr/>
        </p:nvSpPr>
        <p:spPr>
          <a:xfrm>
            <a:off x="6583680" y="4709160"/>
            <a:ext cx="4023360" cy="457200"/>
          </a:xfrm>
          <a:prstGeom prst="rect">
            <a:avLst/>
          </a:prstGeom>
          <a:noFill/>
        </p:spPr>
        <p:txBody>
          <a:bodyPr wrap="square">
            <a:spAutoFit/>
          </a:bodyPr>
          <a:lstStyle/>
          <a:p>
            <a:pPr algn="ctr">
              <a:defRPr sz="1100" b="0">
                <a:solidFill>
                  <a:srgbClr val="CCDDEE"/>
                </a:solidFill>
                <a:latin typeface="Calibri"/>
              </a:defRPr>
            </a:pPr>
            <a:r>
              <a:t>Continuous 1536-d behavioral trajectories</a:t>
            </a:r>
            <a:br/>
            <a:r>
              <a:t>with MITRE-mapped drift direction</a:t>
            </a:r>
          </a:p>
        </p:txBody>
      </p:sp>
      <p:sp>
        <p:nvSpPr>
          <p:cNvPr id="11" name="TextBox 10"/>
          <p:cNvSpPr txBox="1"/>
          <p:nvPr/>
        </p:nvSpPr>
        <p:spPr>
          <a:xfrm>
            <a:off x="914400" y="5669280"/>
            <a:ext cx="10332720" cy="274320"/>
          </a:xfrm>
          <a:prstGeom prst="rect">
            <a:avLst/>
          </a:prstGeom>
          <a:noFill/>
        </p:spPr>
        <p:txBody>
          <a:bodyPr wrap="square">
            <a:spAutoFit/>
          </a:bodyPr>
          <a:lstStyle/>
          <a:p>
            <a:pPr algn="ctr">
              <a:defRPr sz="1200" b="1">
                <a:solidFill>
                  <a:srgbClr val="B8862A"/>
                </a:solidFill>
                <a:latin typeface="Calibri"/>
              </a:defRPr>
            </a:pPr>
            <a:r>
              <a:t>Cloud-Native  |  Containerized (K8s/Iron Bank)  |  IL5/IL6/JWICS  |  cATO-Aligned</a:t>
            </a:r>
          </a:p>
        </p:txBody>
      </p:sp>
      <p:sp>
        <p:nvSpPr>
          <p:cNvPr id="12" name="TextBox 11"/>
          <p:cNvSpPr txBox="1"/>
          <p:nvPr/>
        </p:nvSpPr>
        <p:spPr>
          <a:xfrm>
            <a:off x="914400" y="6217920"/>
            <a:ext cx="10332720" cy="365760"/>
          </a:xfrm>
          <a:prstGeom prst="rect">
            <a:avLst/>
          </a:prstGeom>
          <a:noFill/>
        </p:spPr>
        <p:txBody>
          <a:bodyPr wrap="square">
            <a:spAutoFit/>
          </a:bodyPr>
          <a:lstStyle/>
          <a:p>
            <a:pPr algn="ctr">
              <a:defRPr sz="1100" b="0">
                <a:solidFill>
                  <a:srgbClr val="708090"/>
                </a:solidFill>
                <a:latin typeface="Calibri"/>
              </a:defRPr>
            </a:pPr>
            <a:r>
              <a:t>CFIC Collaboration Event  |  Augusta, GA  |  May 6, 2026  |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PROBLEM STATEMENT</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Four Limiting Factors in Current Cyber Defense</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What Volt Typhoon (5+ yr dwell) and Salt Typhoon (200+ telcos) exploit -- and why current tools miss them.</a:t>
            </a:r>
          </a:p>
        </p:txBody>
      </p:sp>
      <p:sp>
        <p:nvSpPr>
          <p:cNvPr id="6" name="Rounded Rectangle 5"/>
          <p:cNvSpPr/>
          <p:nvPr/>
        </p:nvSpPr>
        <p:spPr>
          <a:xfrm>
            <a:off x="457200" y="1280160"/>
            <a:ext cx="11064240" cy="1143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9144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280160"/>
            <a:ext cx="64008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417320"/>
            <a:ext cx="548640" cy="365760"/>
          </a:xfrm>
          <a:prstGeom prst="rect">
            <a:avLst/>
          </a:prstGeom>
          <a:noFill/>
        </p:spPr>
        <p:txBody>
          <a:bodyPr wrap="square">
            <a:spAutoFit/>
          </a:bodyPr>
          <a:lstStyle/>
          <a:p>
            <a:pPr algn="ctr">
              <a:defRPr sz="2000" b="1">
                <a:solidFill>
                  <a:srgbClr val="FFFFFF"/>
                </a:solidFill>
                <a:latin typeface="Georgia"/>
              </a:defRPr>
            </a:pPr>
            <a:r>
              <a:t>01</a:t>
            </a:r>
          </a:p>
        </p:txBody>
      </p:sp>
      <p:sp>
        <p:nvSpPr>
          <p:cNvPr id="10" name="TextBox 9"/>
          <p:cNvSpPr txBox="1"/>
          <p:nvPr/>
        </p:nvSpPr>
        <p:spPr>
          <a:xfrm>
            <a:off x="1280160" y="1325880"/>
            <a:ext cx="9966960" cy="274320"/>
          </a:xfrm>
          <a:prstGeom prst="rect">
            <a:avLst/>
          </a:prstGeom>
          <a:noFill/>
        </p:spPr>
        <p:txBody>
          <a:bodyPr wrap="square">
            <a:spAutoFit/>
          </a:bodyPr>
          <a:lstStyle/>
          <a:p>
            <a:pPr algn="l">
              <a:defRPr sz="1300" b="1">
                <a:solidFill>
                  <a:srgbClr val="0B1F3A"/>
                </a:solidFill>
                <a:latin typeface="Calibri"/>
              </a:defRPr>
            </a:pPr>
            <a:r>
              <a:t>Configuration Gaps Are Never PROVEN Closed</a:t>
            </a:r>
          </a:p>
        </p:txBody>
      </p:sp>
      <p:sp>
        <p:nvSpPr>
          <p:cNvPr id="11" name="TextBox 10"/>
          <p:cNvSpPr txBox="1"/>
          <p:nvPr/>
        </p:nvSpPr>
        <p:spPr>
          <a:xfrm>
            <a:off x="1280160" y="1600200"/>
            <a:ext cx="9966960" cy="365760"/>
          </a:xfrm>
          <a:prstGeom prst="rect">
            <a:avLst/>
          </a:prstGeom>
          <a:noFill/>
        </p:spPr>
        <p:txBody>
          <a:bodyPr wrap="square">
            <a:spAutoFit/>
          </a:bodyPr>
          <a:lstStyle/>
          <a:p>
            <a:pPr algn="l">
              <a:defRPr sz="950" b="0">
                <a:solidFill>
                  <a:srgbClr val="2D3748"/>
                </a:solidFill>
                <a:latin typeface="Calibri"/>
              </a:defRPr>
            </a:pPr>
            <a:r>
              <a:t>99% of firewall breaches are misconfiguration (Gartner). Pentests sample. ASM enumerates. Nobody PROVES. 2^8000 config state space cannot be sampled adequately.</a:t>
            </a:r>
          </a:p>
        </p:txBody>
      </p:sp>
      <p:sp>
        <p:nvSpPr>
          <p:cNvPr id="12" name="TextBox 11"/>
          <p:cNvSpPr txBox="1"/>
          <p:nvPr/>
        </p:nvSpPr>
        <p:spPr>
          <a:xfrm>
            <a:off x="1280160" y="2057400"/>
            <a:ext cx="9966960" cy="320040"/>
          </a:xfrm>
          <a:prstGeom prst="rect">
            <a:avLst/>
          </a:prstGeom>
          <a:noFill/>
        </p:spPr>
        <p:txBody>
          <a:bodyPr wrap="square">
            <a:spAutoFit/>
          </a:bodyPr>
          <a:lstStyle/>
          <a:p>
            <a:pPr algn="l">
              <a:defRPr sz="900" b="1">
                <a:solidFill>
                  <a:srgbClr val="C0392B"/>
                </a:solidFill>
                <a:latin typeface="Calibri"/>
              </a:defRPr>
            </a:pPr>
            <a:r>
              <a:t>CONSEQUENCE:  Both Typhoons enter via unpatched/misconfigured edge devices (Fortinet, Cisco IOS XE, Ivanti, PAN).</a:t>
            </a:r>
          </a:p>
        </p:txBody>
      </p:sp>
      <p:sp>
        <p:nvSpPr>
          <p:cNvPr id="13" name="Rounded Rectangle 12"/>
          <p:cNvSpPr/>
          <p:nvPr/>
        </p:nvSpPr>
        <p:spPr>
          <a:xfrm>
            <a:off x="457200" y="2487168"/>
            <a:ext cx="11064240" cy="1143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487168"/>
            <a:ext cx="9144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487168"/>
            <a:ext cx="64008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2624328"/>
            <a:ext cx="548640" cy="365760"/>
          </a:xfrm>
          <a:prstGeom prst="rect">
            <a:avLst/>
          </a:prstGeom>
          <a:noFill/>
        </p:spPr>
        <p:txBody>
          <a:bodyPr wrap="square">
            <a:spAutoFit/>
          </a:bodyPr>
          <a:lstStyle/>
          <a:p>
            <a:pPr algn="ctr">
              <a:defRPr sz="2000" b="1">
                <a:solidFill>
                  <a:srgbClr val="FFFFFF"/>
                </a:solidFill>
                <a:latin typeface="Georgia"/>
              </a:defRPr>
            </a:pPr>
            <a:r>
              <a:t>02</a:t>
            </a:r>
          </a:p>
        </p:txBody>
      </p:sp>
      <p:sp>
        <p:nvSpPr>
          <p:cNvPr id="17" name="TextBox 16"/>
          <p:cNvSpPr txBox="1"/>
          <p:nvPr/>
        </p:nvSpPr>
        <p:spPr>
          <a:xfrm>
            <a:off x="1280160" y="2532888"/>
            <a:ext cx="9966960" cy="274320"/>
          </a:xfrm>
          <a:prstGeom prst="rect">
            <a:avLst/>
          </a:prstGeom>
          <a:noFill/>
        </p:spPr>
        <p:txBody>
          <a:bodyPr wrap="square">
            <a:spAutoFit/>
          </a:bodyPr>
          <a:lstStyle/>
          <a:p>
            <a:pPr algn="l">
              <a:defRPr sz="1300" b="1">
                <a:solidFill>
                  <a:srgbClr val="0B1F3A"/>
                </a:solidFill>
                <a:latin typeface="Calibri"/>
              </a:defRPr>
            </a:pPr>
            <a:r>
              <a:t>Behavioral Detection Has No Direction</a:t>
            </a:r>
          </a:p>
        </p:txBody>
      </p:sp>
      <p:sp>
        <p:nvSpPr>
          <p:cNvPr id="18" name="TextBox 17"/>
          <p:cNvSpPr txBox="1"/>
          <p:nvPr/>
        </p:nvSpPr>
        <p:spPr>
          <a:xfrm>
            <a:off x="1280160" y="2807208"/>
            <a:ext cx="9966960" cy="365760"/>
          </a:xfrm>
          <a:prstGeom prst="rect">
            <a:avLst/>
          </a:prstGeom>
          <a:noFill/>
        </p:spPr>
        <p:txBody>
          <a:bodyPr wrap="square">
            <a:spAutoFit/>
          </a:bodyPr>
          <a:lstStyle/>
          <a:p>
            <a:pPr algn="l">
              <a:defRPr sz="950" b="0">
                <a:solidFill>
                  <a:srgbClr val="2D3748"/>
                </a:solidFill>
                <a:latin typeface="Calibri"/>
              </a:defRPr>
            </a:pPr>
            <a:r>
              <a:t>"User is 87% anomalous" -- anomalous HOW? Threshold-based scoring misses Living-off-the-Land because every tool used (wmic, ntdsutil, netsh) is a legitimate admin binary.</a:t>
            </a:r>
          </a:p>
        </p:txBody>
      </p:sp>
      <p:sp>
        <p:nvSpPr>
          <p:cNvPr id="19" name="TextBox 18"/>
          <p:cNvSpPr txBox="1"/>
          <p:nvPr/>
        </p:nvSpPr>
        <p:spPr>
          <a:xfrm>
            <a:off x="1280160" y="3264408"/>
            <a:ext cx="9966960" cy="320040"/>
          </a:xfrm>
          <a:prstGeom prst="rect">
            <a:avLst/>
          </a:prstGeom>
          <a:noFill/>
        </p:spPr>
        <p:txBody>
          <a:bodyPr wrap="square">
            <a:spAutoFit/>
          </a:bodyPr>
          <a:lstStyle/>
          <a:p>
            <a:pPr algn="l">
              <a:defRPr sz="900" b="1">
                <a:solidFill>
                  <a:srgbClr val="C0392B"/>
                </a:solidFill>
                <a:latin typeface="Calibri"/>
              </a:defRPr>
            </a:pPr>
            <a:r>
              <a:t>CONSEQUENCE:  Volt Typhoon operated BELOW every threshold for 5+ years. No single metric ever crossed a line.</a:t>
            </a:r>
          </a:p>
        </p:txBody>
      </p:sp>
      <p:sp>
        <p:nvSpPr>
          <p:cNvPr id="20" name="Rounded Rectangle 19"/>
          <p:cNvSpPr/>
          <p:nvPr/>
        </p:nvSpPr>
        <p:spPr>
          <a:xfrm>
            <a:off x="457200" y="3694176"/>
            <a:ext cx="11064240" cy="1143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3694176"/>
            <a:ext cx="9144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3694176"/>
            <a:ext cx="64008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3831336"/>
            <a:ext cx="548640" cy="365760"/>
          </a:xfrm>
          <a:prstGeom prst="rect">
            <a:avLst/>
          </a:prstGeom>
          <a:noFill/>
        </p:spPr>
        <p:txBody>
          <a:bodyPr wrap="square">
            <a:spAutoFit/>
          </a:bodyPr>
          <a:lstStyle/>
          <a:p>
            <a:pPr algn="ctr">
              <a:defRPr sz="2000" b="1">
                <a:solidFill>
                  <a:srgbClr val="FFFFFF"/>
                </a:solidFill>
                <a:latin typeface="Georgia"/>
              </a:defRPr>
            </a:pPr>
            <a:r>
              <a:t>03</a:t>
            </a:r>
          </a:p>
        </p:txBody>
      </p:sp>
      <p:sp>
        <p:nvSpPr>
          <p:cNvPr id="24" name="TextBox 23"/>
          <p:cNvSpPr txBox="1"/>
          <p:nvPr/>
        </p:nvSpPr>
        <p:spPr>
          <a:xfrm>
            <a:off x="1280160" y="3739896"/>
            <a:ext cx="9966960" cy="274320"/>
          </a:xfrm>
          <a:prstGeom prst="rect">
            <a:avLst/>
          </a:prstGeom>
          <a:noFill/>
        </p:spPr>
        <p:txBody>
          <a:bodyPr wrap="square">
            <a:spAutoFit/>
          </a:bodyPr>
          <a:lstStyle/>
          <a:p>
            <a:pPr algn="l">
              <a:defRPr sz="1300" b="1">
                <a:solidFill>
                  <a:srgbClr val="0B1F3A"/>
                </a:solidFill>
                <a:latin typeface="Calibri"/>
              </a:defRPr>
            </a:pPr>
            <a:r>
              <a:t>Identity Is Fragmented Across 10+ Systems</a:t>
            </a:r>
          </a:p>
        </p:txBody>
      </p:sp>
      <p:sp>
        <p:nvSpPr>
          <p:cNvPr id="25" name="TextBox 24"/>
          <p:cNvSpPr txBox="1"/>
          <p:nvPr/>
        </p:nvSpPr>
        <p:spPr>
          <a:xfrm>
            <a:off x="1280160" y="4014216"/>
            <a:ext cx="9966960" cy="365760"/>
          </a:xfrm>
          <a:prstGeom prst="rect">
            <a:avLst/>
          </a:prstGeom>
          <a:noFill/>
        </p:spPr>
        <p:txBody>
          <a:bodyPr wrap="square">
            <a:spAutoFit/>
          </a:bodyPr>
          <a:lstStyle/>
          <a:p>
            <a:pPr algn="l">
              <a:defRPr sz="950" b="0">
                <a:solidFill>
                  <a:srgbClr val="2D3748"/>
                </a:solidFill>
                <a:latin typeface="Calibri"/>
              </a:defRPr>
            </a:pPr>
            <a:r>
              <a:t>AD, AAD, Okta, AWS IAM, K8s, CrowdStrike, VPN, Splunk, PKI, TACACS+. Each sees one identifier. Cross-domain lateral movement reads as 4 unrelated weak signals.</a:t>
            </a:r>
          </a:p>
        </p:txBody>
      </p:sp>
      <p:sp>
        <p:nvSpPr>
          <p:cNvPr id="26" name="TextBox 25"/>
          <p:cNvSpPr txBox="1"/>
          <p:nvPr/>
        </p:nvSpPr>
        <p:spPr>
          <a:xfrm>
            <a:off x="1280160" y="4471416"/>
            <a:ext cx="9966960" cy="320040"/>
          </a:xfrm>
          <a:prstGeom prst="rect">
            <a:avLst/>
          </a:prstGeom>
          <a:noFill/>
        </p:spPr>
        <p:txBody>
          <a:bodyPr wrap="square">
            <a:spAutoFit/>
          </a:bodyPr>
          <a:lstStyle/>
          <a:p>
            <a:pPr algn="l">
              <a:defRPr sz="900" b="1">
                <a:solidFill>
                  <a:srgbClr val="C0392B"/>
                </a:solidFill>
                <a:latin typeface="Calibri"/>
              </a:defRPr>
            </a:pPr>
            <a:r>
              <a:t>CONSEQUENCE:  One attacker = 10 unrelated identities. No correlation. No composite trajectory.</a:t>
            </a:r>
          </a:p>
        </p:txBody>
      </p:sp>
      <p:sp>
        <p:nvSpPr>
          <p:cNvPr id="27" name="Rounded Rectangle 26"/>
          <p:cNvSpPr/>
          <p:nvPr/>
        </p:nvSpPr>
        <p:spPr>
          <a:xfrm>
            <a:off x="457200" y="4901184"/>
            <a:ext cx="11064240" cy="1143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4901184"/>
            <a:ext cx="9144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4901184"/>
            <a:ext cx="640080" cy="1143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5038344"/>
            <a:ext cx="548640" cy="365760"/>
          </a:xfrm>
          <a:prstGeom prst="rect">
            <a:avLst/>
          </a:prstGeom>
          <a:noFill/>
        </p:spPr>
        <p:txBody>
          <a:bodyPr wrap="square">
            <a:spAutoFit/>
          </a:bodyPr>
          <a:lstStyle/>
          <a:p>
            <a:pPr algn="ctr">
              <a:defRPr sz="2000" b="1">
                <a:solidFill>
                  <a:srgbClr val="FFFFFF"/>
                </a:solidFill>
                <a:latin typeface="Georgia"/>
              </a:defRPr>
            </a:pPr>
            <a:r>
              <a:t>04</a:t>
            </a:r>
          </a:p>
        </p:txBody>
      </p:sp>
      <p:sp>
        <p:nvSpPr>
          <p:cNvPr id="31" name="TextBox 30"/>
          <p:cNvSpPr txBox="1"/>
          <p:nvPr/>
        </p:nvSpPr>
        <p:spPr>
          <a:xfrm>
            <a:off x="1280160" y="4946904"/>
            <a:ext cx="9966960" cy="274320"/>
          </a:xfrm>
          <a:prstGeom prst="rect">
            <a:avLst/>
          </a:prstGeom>
          <a:noFill/>
        </p:spPr>
        <p:txBody>
          <a:bodyPr wrap="square">
            <a:spAutoFit/>
          </a:bodyPr>
          <a:lstStyle/>
          <a:p>
            <a:pPr algn="l">
              <a:defRPr sz="1300" b="1">
                <a:solidFill>
                  <a:srgbClr val="0B1F3A"/>
                </a:solidFill>
                <a:latin typeface="Calibri"/>
              </a:defRPr>
            </a:pPr>
            <a:r>
              <a:t>No Cloud-Native Behavioral Platform for Gabriel Nimbus</a:t>
            </a:r>
          </a:p>
        </p:txBody>
      </p:sp>
      <p:sp>
        <p:nvSpPr>
          <p:cNvPr id="32" name="TextBox 31"/>
          <p:cNvSpPr txBox="1"/>
          <p:nvPr/>
        </p:nvSpPr>
        <p:spPr>
          <a:xfrm>
            <a:off x="1280160" y="5221224"/>
            <a:ext cx="9966960" cy="365760"/>
          </a:xfrm>
          <a:prstGeom prst="rect">
            <a:avLst/>
          </a:prstGeom>
          <a:noFill/>
        </p:spPr>
        <p:txBody>
          <a:bodyPr wrap="square">
            <a:spAutoFit/>
          </a:bodyPr>
          <a:lstStyle/>
          <a:p>
            <a:pPr algn="l">
              <a:defRPr sz="950" b="0">
                <a:solidFill>
                  <a:srgbClr val="2D3748"/>
                </a:solidFill>
                <a:latin typeface="Calibri"/>
              </a:defRPr>
            </a:pPr>
            <a:r>
              <a:t>Current UEBA tools are SaaS-only or legacy on-prem. No containerized, K8s-native solution exists that can deploy into Gabriel Nimbus at IL5/IL6 with cATO alignment.</a:t>
            </a:r>
          </a:p>
        </p:txBody>
      </p:sp>
      <p:sp>
        <p:nvSpPr>
          <p:cNvPr id="33" name="TextBox 32"/>
          <p:cNvSpPr txBox="1"/>
          <p:nvPr/>
        </p:nvSpPr>
        <p:spPr>
          <a:xfrm>
            <a:off x="1280160" y="5678424"/>
            <a:ext cx="9966960" cy="320040"/>
          </a:xfrm>
          <a:prstGeom prst="rect">
            <a:avLst/>
          </a:prstGeom>
          <a:noFill/>
        </p:spPr>
        <p:txBody>
          <a:bodyPr wrap="square">
            <a:spAutoFit/>
          </a:bodyPr>
          <a:lstStyle/>
          <a:p>
            <a:pPr algn="l">
              <a:defRPr sz="900" b="1">
                <a:solidFill>
                  <a:srgbClr val="C0392B"/>
                </a:solidFill>
                <a:latin typeface="Calibri"/>
              </a:defRPr>
            </a:pPr>
            <a:r>
              <a:t>CONSEQUENCE:  ARCYBER needs behavioral intelligence INSIDE the classified big data platform, not outside it.</a:t>
            </a:r>
          </a:p>
        </p:txBody>
      </p:sp>
      <p:sp>
        <p:nvSpPr>
          <p:cNvPr id="34" name="Rectangle 33"/>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These four gaps define the attack surface Volt Typhoon and Salt Typhoon exploit. Our solution closes all four.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Why Current Defenses Fail Against These Adversaries</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Two structural gaps — one in preemption, one in detection — that traditional tooling cannot close.</a:t>
            </a:r>
            <a:endParaRPr lang="en-US" sz="1300" dirty="0"/>
          </a:p>
        </p:txBody>
      </p:sp>
      <p:sp>
        <p:nvSpPr>
          <p:cNvPr id="4" name="Shape 2"/>
          <p:cNvSpPr/>
          <p:nvPr/>
        </p:nvSpPr>
        <p:spPr>
          <a:xfrm>
            <a:off x="457200" y="1371600"/>
            <a:ext cx="5486400" cy="4937760"/>
          </a:xfrm>
          <a:prstGeom prst="rect">
            <a:avLst/>
          </a:prstGeom>
          <a:solidFill>
            <a:srgbClr val="F7F8FA"/>
          </a:solidFill>
          <a:ln w="12700">
            <a:solidFill>
              <a:srgbClr val="E5E9EE"/>
            </a:solidFill>
            <a:prstDash val="solid"/>
          </a:ln>
        </p:spPr>
        <p:txBody>
          <a:bodyPr/>
          <a:lstStyle/>
          <a:p>
            <a:endParaRPr lang="en-US"/>
          </a:p>
        </p:txBody>
      </p:sp>
      <p:sp>
        <p:nvSpPr>
          <p:cNvPr id="5" name="Shape 3"/>
          <p:cNvSpPr/>
          <p:nvPr/>
        </p:nvSpPr>
        <p:spPr>
          <a:xfrm>
            <a:off x="457200" y="1371600"/>
            <a:ext cx="5486400" cy="502920"/>
          </a:xfrm>
          <a:prstGeom prst="rect">
            <a:avLst/>
          </a:prstGeom>
          <a:solidFill>
            <a:srgbClr val="2D3748"/>
          </a:solidFill>
          <a:ln/>
        </p:spPr>
        <p:txBody>
          <a:bodyPr/>
          <a:lstStyle/>
          <a:p>
            <a:endParaRPr lang="en-US"/>
          </a:p>
        </p:txBody>
      </p:sp>
      <p:sp>
        <p:nvSpPr>
          <p:cNvPr id="6" name="Text 4"/>
          <p:cNvSpPr/>
          <p:nvPr/>
        </p:nvSpPr>
        <p:spPr>
          <a:xfrm>
            <a:off x="640080" y="1371600"/>
            <a:ext cx="5120640" cy="50292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PREEMPTIVE LAYER FAILS</a:t>
            </a:r>
            <a:endParaRPr lang="en-US" sz="1300" dirty="0"/>
          </a:p>
        </p:txBody>
      </p:sp>
      <p:sp>
        <p:nvSpPr>
          <p:cNvPr id="7" name="Shape 5"/>
          <p:cNvSpPr/>
          <p:nvPr/>
        </p:nvSpPr>
        <p:spPr>
          <a:xfrm>
            <a:off x="640080" y="2057400"/>
            <a:ext cx="73152" cy="868680"/>
          </a:xfrm>
          <a:prstGeom prst="rect">
            <a:avLst/>
          </a:prstGeom>
          <a:solidFill>
            <a:srgbClr val="C0392B"/>
          </a:solidFill>
          <a:ln/>
        </p:spPr>
        <p:txBody>
          <a:bodyPr/>
          <a:lstStyle/>
          <a:p>
            <a:endParaRPr lang="en-US"/>
          </a:p>
        </p:txBody>
      </p:sp>
      <p:sp>
        <p:nvSpPr>
          <p:cNvPr id="8" name="Text 6"/>
          <p:cNvSpPr/>
          <p:nvPr/>
        </p:nvSpPr>
        <p:spPr>
          <a:xfrm>
            <a:off x="822960" y="205740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99% of firewall breaches are misconfiguration</a:t>
            </a:r>
            <a:endParaRPr lang="en-US" sz="1300" dirty="0"/>
          </a:p>
        </p:txBody>
      </p:sp>
      <p:sp>
        <p:nvSpPr>
          <p:cNvPr id="9" name="Text 7"/>
          <p:cNvSpPr/>
          <p:nvPr/>
        </p:nvSpPr>
        <p:spPr>
          <a:xfrm>
            <a:off x="822960" y="242316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Gartner. Both Typhoons exploit unpatched, mis-set NGFWs and VPNs.</a:t>
            </a:r>
            <a:endParaRPr lang="en-US" sz="1150" dirty="0"/>
          </a:p>
        </p:txBody>
      </p:sp>
      <p:sp>
        <p:nvSpPr>
          <p:cNvPr id="10" name="Shape 8"/>
          <p:cNvSpPr/>
          <p:nvPr/>
        </p:nvSpPr>
        <p:spPr>
          <a:xfrm>
            <a:off x="640080" y="3108960"/>
            <a:ext cx="73152" cy="868680"/>
          </a:xfrm>
          <a:prstGeom prst="rect">
            <a:avLst/>
          </a:prstGeom>
          <a:solidFill>
            <a:srgbClr val="C0392B"/>
          </a:solidFill>
          <a:ln/>
        </p:spPr>
        <p:txBody>
          <a:bodyPr/>
          <a:lstStyle/>
          <a:p>
            <a:endParaRPr lang="en-US"/>
          </a:p>
        </p:txBody>
      </p:sp>
      <p:sp>
        <p:nvSpPr>
          <p:cNvPr id="11" name="Text 9"/>
          <p:cNvSpPr/>
          <p:nvPr/>
        </p:nvSpPr>
        <p:spPr>
          <a:xfrm>
            <a:off x="822960" y="310896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KEV patching covers only ~20% of attacks</a:t>
            </a:r>
            <a:endParaRPr lang="en-US" sz="1300" dirty="0"/>
          </a:p>
        </p:txBody>
      </p:sp>
      <p:sp>
        <p:nvSpPr>
          <p:cNvPr id="12" name="Text 10"/>
          <p:cNvSpPr/>
          <p:nvPr/>
        </p:nvSpPr>
        <p:spPr>
          <a:xfrm>
            <a:off x="822960" y="347472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The other 80% — most Salt Typhoon paths — have no CVE patch.</a:t>
            </a:r>
            <a:endParaRPr lang="en-US" sz="1150" dirty="0"/>
          </a:p>
        </p:txBody>
      </p:sp>
      <p:sp>
        <p:nvSpPr>
          <p:cNvPr id="13" name="Shape 11"/>
          <p:cNvSpPr/>
          <p:nvPr/>
        </p:nvSpPr>
        <p:spPr>
          <a:xfrm>
            <a:off x="640080" y="4160520"/>
            <a:ext cx="73152" cy="868680"/>
          </a:xfrm>
          <a:prstGeom prst="rect">
            <a:avLst/>
          </a:prstGeom>
          <a:solidFill>
            <a:srgbClr val="C0392B"/>
          </a:solidFill>
          <a:ln/>
        </p:spPr>
        <p:txBody>
          <a:bodyPr/>
          <a:lstStyle/>
          <a:p>
            <a:endParaRPr lang="en-US"/>
          </a:p>
        </p:txBody>
      </p:sp>
      <p:sp>
        <p:nvSpPr>
          <p:cNvPr id="14" name="Text 12"/>
          <p:cNvSpPr/>
          <p:nvPr/>
        </p:nvSpPr>
        <p:spPr>
          <a:xfrm>
            <a:off x="822960" y="416052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ASM/BAS only sample the 2^8000 state space</a:t>
            </a:r>
            <a:endParaRPr lang="en-US" sz="1300" dirty="0"/>
          </a:p>
        </p:txBody>
      </p:sp>
      <p:sp>
        <p:nvSpPr>
          <p:cNvPr id="15" name="Text 13"/>
          <p:cNvSpPr/>
          <p:nvPr/>
        </p:nvSpPr>
        <p:spPr>
          <a:xfrm>
            <a:off x="822960" y="452628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Cannot prove protection. Coverage is statistical, not deterministic.</a:t>
            </a:r>
            <a:endParaRPr lang="en-US" sz="1150" dirty="0"/>
          </a:p>
        </p:txBody>
      </p:sp>
      <p:sp>
        <p:nvSpPr>
          <p:cNvPr id="16" name="Shape 14"/>
          <p:cNvSpPr/>
          <p:nvPr/>
        </p:nvSpPr>
        <p:spPr>
          <a:xfrm>
            <a:off x="640080" y="5212080"/>
            <a:ext cx="73152" cy="868680"/>
          </a:xfrm>
          <a:prstGeom prst="rect">
            <a:avLst/>
          </a:prstGeom>
          <a:solidFill>
            <a:srgbClr val="C0392B"/>
          </a:solidFill>
          <a:ln/>
        </p:spPr>
        <p:txBody>
          <a:bodyPr/>
          <a:lstStyle/>
          <a:p>
            <a:endParaRPr lang="en-US"/>
          </a:p>
        </p:txBody>
      </p:sp>
      <p:sp>
        <p:nvSpPr>
          <p:cNvPr id="17" name="Text 15"/>
          <p:cNvSpPr/>
          <p:nvPr/>
        </p:nvSpPr>
        <p:spPr>
          <a:xfrm>
            <a:off x="822960" y="521208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Config drift goes unverified</a:t>
            </a:r>
            <a:endParaRPr lang="en-US" sz="1300" dirty="0"/>
          </a:p>
        </p:txBody>
      </p:sp>
      <p:sp>
        <p:nvSpPr>
          <p:cNvPr id="18" name="Text 16"/>
          <p:cNvSpPr/>
          <p:nvPr/>
        </p:nvSpPr>
        <p:spPr>
          <a:xfrm>
            <a:off x="822960" y="557784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Salt Typhoon modifies router ACLs. Drift-detection is reactive, not preemptive.</a:t>
            </a:r>
            <a:endParaRPr lang="en-US" sz="1150" dirty="0"/>
          </a:p>
        </p:txBody>
      </p:sp>
      <p:sp>
        <p:nvSpPr>
          <p:cNvPr id="19" name="Shape 17"/>
          <p:cNvSpPr/>
          <p:nvPr/>
        </p:nvSpPr>
        <p:spPr>
          <a:xfrm>
            <a:off x="6217920" y="1371600"/>
            <a:ext cx="5486400" cy="4937760"/>
          </a:xfrm>
          <a:prstGeom prst="rect">
            <a:avLst/>
          </a:prstGeom>
          <a:solidFill>
            <a:srgbClr val="F7F8FA"/>
          </a:solidFill>
          <a:ln w="12700">
            <a:solidFill>
              <a:srgbClr val="E5E9EE"/>
            </a:solidFill>
            <a:prstDash val="solid"/>
          </a:ln>
        </p:spPr>
        <p:txBody>
          <a:bodyPr/>
          <a:lstStyle/>
          <a:p>
            <a:endParaRPr lang="en-US"/>
          </a:p>
        </p:txBody>
      </p:sp>
      <p:sp>
        <p:nvSpPr>
          <p:cNvPr id="20" name="Shape 18"/>
          <p:cNvSpPr/>
          <p:nvPr/>
        </p:nvSpPr>
        <p:spPr>
          <a:xfrm>
            <a:off x="6217920" y="1371600"/>
            <a:ext cx="5486400" cy="502920"/>
          </a:xfrm>
          <a:prstGeom prst="rect">
            <a:avLst/>
          </a:prstGeom>
          <a:solidFill>
            <a:srgbClr val="2D3748"/>
          </a:solidFill>
          <a:ln/>
        </p:spPr>
        <p:txBody>
          <a:bodyPr/>
          <a:lstStyle/>
          <a:p>
            <a:endParaRPr lang="en-US"/>
          </a:p>
        </p:txBody>
      </p:sp>
      <p:sp>
        <p:nvSpPr>
          <p:cNvPr id="21" name="Text 19"/>
          <p:cNvSpPr/>
          <p:nvPr/>
        </p:nvSpPr>
        <p:spPr>
          <a:xfrm>
            <a:off x="6400800" y="1371600"/>
            <a:ext cx="5120640" cy="50292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BEHAVIORAL LAYER FAILS</a:t>
            </a:r>
            <a:endParaRPr lang="en-US" sz="1300" dirty="0"/>
          </a:p>
        </p:txBody>
      </p:sp>
      <p:sp>
        <p:nvSpPr>
          <p:cNvPr id="22" name="Shape 20"/>
          <p:cNvSpPr/>
          <p:nvPr/>
        </p:nvSpPr>
        <p:spPr>
          <a:xfrm>
            <a:off x="6400800" y="2057400"/>
            <a:ext cx="73152" cy="868680"/>
          </a:xfrm>
          <a:prstGeom prst="rect">
            <a:avLst/>
          </a:prstGeom>
          <a:solidFill>
            <a:srgbClr val="C0392B"/>
          </a:solidFill>
          <a:ln/>
        </p:spPr>
        <p:txBody>
          <a:bodyPr/>
          <a:lstStyle/>
          <a:p>
            <a:endParaRPr lang="en-US"/>
          </a:p>
        </p:txBody>
      </p:sp>
      <p:sp>
        <p:nvSpPr>
          <p:cNvPr id="23" name="Text 21"/>
          <p:cNvSpPr/>
          <p:nvPr/>
        </p:nvSpPr>
        <p:spPr>
          <a:xfrm>
            <a:off x="6583680" y="205740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Threshold scoring misses LoTL</a:t>
            </a:r>
            <a:endParaRPr lang="en-US" sz="1300" dirty="0"/>
          </a:p>
        </p:txBody>
      </p:sp>
      <p:sp>
        <p:nvSpPr>
          <p:cNvPr id="24" name="Text 22"/>
          <p:cNvSpPr/>
          <p:nvPr/>
        </p:nvSpPr>
        <p:spPr>
          <a:xfrm>
            <a:off x="6583680" y="242316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Volt Typhoon's process tree was 'normal' at every step. ntdsutil never crosses a threshold.</a:t>
            </a:r>
            <a:endParaRPr lang="en-US" sz="1150" dirty="0"/>
          </a:p>
        </p:txBody>
      </p:sp>
      <p:sp>
        <p:nvSpPr>
          <p:cNvPr id="25" name="Shape 23"/>
          <p:cNvSpPr/>
          <p:nvPr/>
        </p:nvSpPr>
        <p:spPr>
          <a:xfrm>
            <a:off x="6400800" y="3108960"/>
            <a:ext cx="73152" cy="868680"/>
          </a:xfrm>
          <a:prstGeom prst="rect">
            <a:avLst/>
          </a:prstGeom>
          <a:solidFill>
            <a:srgbClr val="C0392B"/>
          </a:solidFill>
          <a:ln/>
        </p:spPr>
        <p:txBody>
          <a:bodyPr/>
          <a:lstStyle/>
          <a:p>
            <a:endParaRPr lang="en-US"/>
          </a:p>
        </p:txBody>
      </p:sp>
      <p:sp>
        <p:nvSpPr>
          <p:cNvPr id="26" name="Text 24"/>
          <p:cNvSpPr/>
          <p:nvPr/>
        </p:nvSpPr>
        <p:spPr>
          <a:xfrm>
            <a:off x="6583680" y="310896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Per-source siloed analytics fragment identity</a:t>
            </a:r>
            <a:endParaRPr lang="en-US" sz="1300" dirty="0"/>
          </a:p>
        </p:txBody>
      </p:sp>
      <p:sp>
        <p:nvSpPr>
          <p:cNvPr id="27" name="Text 25"/>
          <p:cNvSpPr/>
          <p:nvPr/>
        </p:nvSpPr>
        <p:spPr>
          <a:xfrm>
            <a:off x="6583680" y="347472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AD, AAD, AWS, Okta, K8s each see one identifier — lateral movement reads as 4 weak signals.</a:t>
            </a:r>
            <a:endParaRPr lang="en-US" sz="1150" dirty="0"/>
          </a:p>
        </p:txBody>
      </p:sp>
      <p:sp>
        <p:nvSpPr>
          <p:cNvPr id="28" name="Shape 26"/>
          <p:cNvSpPr/>
          <p:nvPr/>
        </p:nvSpPr>
        <p:spPr>
          <a:xfrm>
            <a:off x="6400800" y="4160520"/>
            <a:ext cx="73152" cy="868680"/>
          </a:xfrm>
          <a:prstGeom prst="rect">
            <a:avLst/>
          </a:prstGeom>
          <a:solidFill>
            <a:srgbClr val="C0392B"/>
          </a:solidFill>
          <a:ln/>
        </p:spPr>
        <p:txBody>
          <a:bodyPr/>
          <a:lstStyle/>
          <a:p>
            <a:endParaRPr lang="en-US"/>
          </a:p>
        </p:txBody>
      </p:sp>
      <p:sp>
        <p:nvSpPr>
          <p:cNvPr id="29" name="Text 27"/>
          <p:cNvSpPr/>
          <p:nvPr/>
        </p:nvSpPr>
        <p:spPr>
          <a:xfrm>
            <a:off x="6583680" y="416052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Static rules decay monthly</a:t>
            </a:r>
            <a:endParaRPr lang="en-US" sz="1300" dirty="0"/>
          </a:p>
        </p:txBody>
      </p:sp>
      <p:sp>
        <p:nvSpPr>
          <p:cNvPr id="30" name="Text 28"/>
          <p:cNvSpPr/>
          <p:nvPr/>
        </p:nvSpPr>
        <p:spPr>
          <a:xfrm>
            <a:off x="6583680" y="452628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PRC actors test against published Sigma rules before campaigns. Coverage decays by month.</a:t>
            </a:r>
            <a:endParaRPr lang="en-US" sz="1150" dirty="0"/>
          </a:p>
        </p:txBody>
      </p:sp>
      <p:sp>
        <p:nvSpPr>
          <p:cNvPr id="31" name="Shape 29"/>
          <p:cNvSpPr/>
          <p:nvPr/>
        </p:nvSpPr>
        <p:spPr>
          <a:xfrm>
            <a:off x="6400800" y="5212080"/>
            <a:ext cx="73152" cy="868680"/>
          </a:xfrm>
          <a:prstGeom prst="rect">
            <a:avLst/>
          </a:prstGeom>
          <a:solidFill>
            <a:srgbClr val="C0392B"/>
          </a:solidFill>
          <a:ln/>
        </p:spPr>
        <p:txBody>
          <a:bodyPr/>
          <a:lstStyle/>
          <a:p>
            <a:endParaRPr lang="en-US"/>
          </a:p>
        </p:txBody>
      </p:sp>
      <p:sp>
        <p:nvSpPr>
          <p:cNvPr id="32" name="Text 30"/>
          <p:cNvSpPr/>
          <p:nvPr/>
        </p:nvSpPr>
        <p:spPr>
          <a:xfrm>
            <a:off x="6583680" y="521208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6583680" y="557784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Analyst gets '87% anomalous' — no hypothesis, no MITRE mapping. Triage time blows out.</a:t>
            </a:r>
            <a:endParaRPr lang="en-US" sz="1150" dirty="0"/>
          </a:p>
        </p:txBody>
      </p:sp>
      <p:sp>
        <p:nvSpPr>
          <p:cNvPr id="34" name="Text 32"/>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Result: Volt Typhoon dwelled 5+ years. Salt Typhoon dwelled 4+ years. Neither was caught by config-only or behavior-only defenses.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OUR SOLUTION</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The Two-Layer Answer: Preemptive + Behavioral</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Preemptive verification shrinks the attack surface mathematically. ACECARD detects what remains behaviorally.</a:t>
            </a:r>
          </a:p>
        </p:txBody>
      </p:sp>
      <p:sp>
        <p:nvSpPr>
          <p:cNvPr id="6" name="Rounded Rectangle 5"/>
          <p:cNvSpPr/>
          <p:nvPr/>
        </p:nvSpPr>
        <p:spPr>
          <a:xfrm>
            <a:off x="457200" y="1371600"/>
            <a:ext cx="5303520" cy="4846320"/>
          </a:xfrm>
          <a:prstGeom prst="roundRect">
            <a:avLst/>
          </a:prstGeom>
          <a:solidFill>
            <a:srgbClr val="FDE5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371600"/>
            <a:ext cx="5303520" cy="4572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389888"/>
            <a:ext cx="4937760" cy="411480"/>
          </a:xfrm>
          <a:prstGeom prst="rect">
            <a:avLst/>
          </a:prstGeom>
          <a:noFill/>
        </p:spPr>
        <p:txBody>
          <a:bodyPr wrap="square">
            <a:spAutoFit/>
          </a:bodyPr>
          <a:lstStyle/>
          <a:p>
            <a:pPr algn="l">
              <a:defRPr sz="1300" b="1">
                <a:solidFill>
                  <a:srgbClr val="FFFFFF"/>
                </a:solidFill>
                <a:latin typeface="Calibri"/>
              </a:defRPr>
            </a:pPr>
            <a:r>
              <a:t>LAYER 1 -- PREEMPTIVE POSTURE VERIFICATION</a:t>
            </a:r>
          </a:p>
        </p:txBody>
      </p:sp>
      <p:sp>
        <p:nvSpPr>
          <p:cNvPr id="9" name="TextBox 8"/>
          <p:cNvSpPr txBox="1"/>
          <p:nvPr/>
        </p:nvSpPr>
        <p:spPr>
          <a:xfrm>
            <a:off x="731520" y="1920240"/>
            <a:ext cx="4846320" cy="228600"/>
          </a:xfrm>
          <a:prstGeom prst="rect">
            <a:avLst/>
          </a:prstGeom>
          <a:noFill/>
        </p:spPr>
        <p:txBody>
          <a:bodyPr wrap="square">
            <a:spAutoFit/>
          </a:bodyPr>
          <a:lstStyle/>
          <a:p>
            <a:pPr algn="l">
              <a:defRPr sz="1000" b="1">
                <a:solidFill>
                  <a:srgbClr val="F26B1F"/>
                </a:solidFill>
                <a:latin typeface="Calibri"/>
              </a:defRPr>
            </a:pPr>
            <a:r>
              <a:t>CLOSES PROBLEM 1</a:t>
            </a:r>
          </a:p>
        </p:txBody>
      </p:sp>
      <p:sp>
        <p:nvSpPr>
          <p:cNvPr id="10" name="TextBox 9"/>
          <p:cNvSpPr txBox="1"/>
          <p:nvPr/>
        </p:nvSpPr>
        <p:spPr>
          <a:xfrm>
            <a:off x="731520" y="2194560"/>
            <a:ext cx="4846320" cy="3200400"/>
          </a:xfrm>
          <a:prstGeom prst="rect">
            <a:avLst/>
          </a:prstGeom>
          <a:noFill/>
        </p:spPr>
        <p:txBody>
          <a:bodyPr wrap="square">
            <a:spAutoFit/>
          </a:bodyPr>
          <a:lstStyle/>
          <a:p>
            <a:pPr algn="l">
              <a:defRPr sz="1100" b="0">
                <a:solidFill>
                  <a:srgbClr val="2D3748"/>
                </a:solidFill>
                <a:latin typeface="Calibri"/>
              </a:defRPr>
            </a:pPr>
            <a:r>
              <a:t>Formal mathematical model of every NGFW, IPS, IdP, SASE, WAF.</a:t>
            </a:r>
          </a:p>
          <a:p>
            <a:pPr>
              <a:spcBef>
                <a:spcPts val="400"/>
              </a:spcBef>
              <a:defRPr sz="1100" b="0">
                <a:solidFill>
                  <a:srgbClr val="2D3748"/>
                </a:solidFill>
                <a:latin typeface="Calibri"/>
              </a:defRPr>
            </a:pPr>
            <a:r>
              <a:t>Reasons exhaustively over 2^8000 state space.</a:t>
            </a:r>
          </a:p>
          <a:p>
            <a:pPr>
              <a:spcBef>
                <a:spcPts val="400"/>
              </a:spcBef>
              <a:defRPr sz="600" b="0">
                <a:solidFill>
                  <a:srgbClr val="5A6878"/>
                </a:solidFill>
                <a:latin typeface="Calibri"/>
              </a:defRPr>
            </a:pPr>
            <a:endParaRPr/>
          </a:p>
          <a:p>
            <a:pPr>
              <a:spcBef>
                <a:spcPts val="400"/>
              </a:spcBef>
              <a:defRPr sz="1000" b="1">
                <a:solidFill>
                  <a:srgbClr val="F26B1F"/>
                </a:solidFill>
                <a:latin typeface="Calibri"/>
              </a:defRPr>
            </a:pPr>
            <a:r>
              <a:t>THREE INTELLIGENCES:</a:t>
            </a:r>
          </a:p>
          <a:p>
            <a:pPr>
              <a:spcBef>
                <a:spcPts val="400"/>
              </a:spcBef>
              <a:defRPr sz="1000" b="0">
                <a:solidFill>
                  <a:srgbClr val="2D3748"/>
                </a:solidFill>
                <a:latin typeface="Calibri"/>
              </a:defRPr>
            </a:pPr>
            <a:r>
              <a:t>Attack: MITRE-enriched attack graphs from CVE/CTI/IOC feeds</a:t>
            </a:r>
          </a:p>
          <a:p>
            <a:pPr>
              <a:spcBef>
                <a:spcPts val="400"/>
              </a:spcBef>
              <a:defRPr sz="1000" b="0">
                <a:solidFill>
                  <a:srgbClr val="2D3748"/>
                </a:solidFill>
                <a:latin typeface="Calibri"/>
              </a:defRPr>
            </a:pPr>
            <a:r>
              <a:t>Defense: Symbolic Model of Computation -- exhaustive reasoning</a:t>
            </a:r>
          </a:p>
          <a:p>
            <a:pPr>
              <a:spcBef>
                <a:spcPts val="400"/>
              </a:spcBef>
              <a:defRPr sz="1000" b="0">
                <a:solidFill>
                  <a:srgbClr val="2D3748"/>
                </a:solidFill>
                <a:latin typeface="Calibri"/>
              </a:defRPr>
            </a:pPr>
            <a:r>
              <a:t>Remediation: Vendor-specific fixes, no new errors</a:t>
            </a:r>
          </a:p>
          <a:p>
            <a:pPr>
              <a:spcBef>
                <a:spcPts val="400"/>
              </a:spcBef>
              <a:defRPr sz="600" b="0">
                <a:solidFill>
                  <a:srgbClr val="5A6878"/>
                </a:solidFill>
                <a:latin typeface="Calibri"/>
              </a:defRPr>
            </a:pPr>
            <a:endParaRPr/>
          </a:p>
          <a:p>
            <a:pPr>
              <a:spcBef>
                <a:spcPts val="400"/>
              </a:spcBef>
              <a:defRPr sz="1000" b="1">
                <a:solidFill>
                  <a:srgbClr val="0B1F3A"/>
                </a:solidFill>
                <a:latin typeface="Calibri"/>
              </a:defRPr>
            </a:pPr>
            <a:r>
              <a:t>MATHEMATICAL GUARANTEE:</a:t>
            </a:r>
          </a:p>
          <a:p>
            <a:pPr>
              <a:spcBef>
                <a:spcPts val="400"/>
              </a:spcBef>
              <a:defRPr sz="1100" b="1">
                <a:solidFill>
                  <a:srgbClr val="0B1F3A"/>
                </a:solidFill>
                <a:latin typeface="Calibri"/>
              </a:defRPr>
            </a:pPr>
            <a:r>
              <a:t>Zero false positives. Zero false negatives.</a:t>
            </a:r>
          </a:p>
          <a:p>
            <a:pPr>
              <a:spcBef>
                <a:spcPts val="400"/>
              </a:spcBef>
              <a:defRPr sz="1100" b="1">
                <a:solidFill>
                  <a:srgbClr val="0B1F3A"/>
                </a:solidFill>
                <a:latin typeface="Calibri"/>
              </a:defRPr>
            </a:pPr>
            <a:r>
              <a:t>Complete reasoning, not sampling.</a:t>
            </a:r>
          </a:p>
          <a:p>
            <a:pPr>
              <a:spcBef>
                <a:spcPts val="400"/>
              </a:spcBef>
              <a:defRPr sz="1000" b="0">
                <a:solidFill>
                  <a:srgbClr val="2D3748"/>
                </a:solidFill>
                <a:latin typeface="Calibri"/>
              </a:defRPr>
            </a:pPr>
            <a:r>
              <a:t>Re-verified hourly + on every config change.</a:t>
            </a:r>
          </a:p>
        </p:txBody>
      </p:sp>
      <p:sp>
        <p:nvSpPr>
          <p:cNvPr id="11" name="Rounded Rectangle 10"/>
          <p:cNvSpPr/>
          <p:nvPr/>
        </p:nvSpPr>
        <p:spPr>
          <a:xfrm>
            <a:off x="6217920" y="1371600"/>
            <a:ext cx="5303520" cy="4846320"/>
          </a:xfrm>
          <a:prstGeom prst="roundRect">
            <a:avLst/>
          </a:prstGeom>
          <a:solidFill>
            <a:srgbClr val="E0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371600"/>
            <a:ext cx="5303520" cy="4572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389888"/>
            <a:ext cx="4937760" cy="411480"/>
          </a:xfrm>
          <a:prstGeom prst="rect">
            <a:avLst/>
          </a:prstGeom>
          <a:noFill/>
        </p:spPr>
        <p:txBody>
          <a:bodyPr wrap="square">
            <a:spAutoFit/>
          </a:bodyPr>
          <a:lstStyle/>
          <a:p>
            <a:pPr algn="l">
              <a:defRPr sz="1300" b="1">
                <a:solidFill>
                  <a:srgbClr val="FFFFFF"/>
                </a:solidFill>
                <a:latin typeface="Calibri"/>
              </a:defRPr>
            </a:pPr>
            <a:r>
              <a:t>LAYER 2 -- ACECARD UEBA (BEHAVIORAL)</a:t>
            </a:r>
          </a:p>
        </p:txBody>
      </p:sp>
      <p:sp>
        <p:nvSpPr>
          <p:cNvPr id="14" name="TextBox 13"/>
          <p:cNvSpPr txBox="1"/>
          <p:nvPr/>
        </p:nvSpPr>
        <p:spPr>
          <a:xfrm>
            <a:off x="6492240" y="1920240"/>
            <a:ext cx="4846320" cy="228600"/>
          </a:xfrm>
          <a:prstGeom prst="rect">
            <a:avLst/>
          </a:prstGeom>
          <a:noFill/>
        </p:spPr>
        <p:txBody>
          <a:bodyPr wrap="square">
            <a:spAutoFit/>
          </a:bodyPr>
          <a:lstStyle/>
          <a:p>
            <a:pPr algn="l">
              <a:defRPr sz="1000" b="1">
                <a:solidFill>
                  <a:srgbClr val="0891B2"/>
                </a:solidFill>
                <a:latin typeface="Calibri"/>
              </a:defRPr>
            </a:pPr>
            <a:r>
              <a:t>CLOSES PROBLEMS 2, 3, 4</a:t>
            </a:r>
          </a:p>
        </p:txBody>
      </p:sp>
      <p:sp>
        <p:nvSpPr>
          <p:cNvPr id="15" name="TextBox 14"/>
          <p:cNvSpPr txBox="1"/>
          <p:nvPr/>
        </p:nvSpPr>
        <p:spPr>
          <a:xfrm>
            <a:off x="6492240" y="2194560"/>
            <a:ext cx="4846320" cy="3200400"/>
          </a:xfrm>
          <a:prstGeom prst="rect">
            <a:avLst/>
          </a:prstGeom>
          <a:noFill/>
        </p:spPr>
        <p:txBody>
          <a:bodyPr wrap="square">
            <a:spAutoFit/>
          </a:bodyPr>
          <a:lstStyle/>
          <a:p>
            <a:pPr algn="l">
              <a:defRPr sz="1100" b="0">
                <a:solidFill>
                  <a:srgbClr val="2D3748"/>
                </a:solidFill>
                <a:latin typeface="Calibri"/>
              </a:defRPr>
            </a:pPr>
            <a:r>
              <a:t>Embeds 5 behavioral signals into 1536-d vectors per entity per hour.</a:t>
            </a:r>
          </a:p>
          <a:p>
            <a:pPr>
              <a:spcBef>
                <a:spcPts val="400"/>
              </a:spcBef>
              <a:defRPr sz="1100" b="0">
                <a:solidFill>
                  <a:srgbClr val="2D3748"/>
                </a:solidFill>
                <a:latin typeface="Calibri"/>
              </a:defRPr>
            </a:pPr>
            <a:r>
              <a:t>Tracks behavioral TRAJECTORY, not just anomaly score.</a:t>
            </a:r>
          </a:p>
          <a:p>
            <a:pPr>
              <a:spcBef>
                <a:spcPts val="400"/>
              </a:spcBef>
              <a:defRPr sz="600" b="0">
                <a:solidFill>
                  <a:srgbClr val="5A6878"/>
                </a:solidFill>
                <a:latin typeface="Calibri"/>
              </a:defRPr>
            </a:pPr>
            <a:endParaRPr/>
          </a:p>
          <a:p>
            <a:pPr>
              <a:spcBef>
                <a:spcPts val="400"/>
              </a:spcBef>
              <a:defRPr sz="1000" b="1">
                <a:solidFill>
                  <a:srgbClr val="0891B2"/>
                </a:solidFill>
                <a:latin typeface="Calibri"/>
              </a:defRPr>
            </a:pPr>
            <a:r>
              <a:t>FOUR INNOVATIONS:</a:t>
            </a:r>
          </a:p>
          <a:p>
            <a:pPr>
              <a:spcBef>
                <a:spcPts val="400"/>
              </a:spcBef>
              <a:defRPr sz="1000" b="0">
                <a:solidFill>
                  <a:srgbClr val="2D3748"/>
                </a:solidFill>
                <a:latin typeface="Calibri"/>
              </a:defRPr>
            </a:pPr>
            <a:r>
              <a:t>1. CUSUM change-point catches sub-threshold drift (Problem 2)</a:t>
            </a:r>
          </a:p>
          <a:p>
            <a:pPr>
              <a:spcBef>
                <a:spcPts val="400"/>
              </a:spcBef>
              <a:defRPr sz="1000" b="0">
                <a:solidFill>
                  <a:srgbClr val="2D3748"/>
                </a:solidFill>
                <a:latin typeface="Calibri"/>
              </a:defRPr>
            </a:pPr>
            <a:r>
              <a:t>2. Drift DIRECTION with MITRE mapping -- "drifting toward T1021" (Problem 2)</a:t>
            </a:r>
          </a:p>
          <a:p>
            <a:pPr>
              <a:spcBef>
                <a:spcPts val="400"/>
              </a:spcBef>
              <a:defRPr sz="1000" b="0">
                <a:solidFill>
                  <a:srgbClr val="2D3748"/>
                </a:solidFill>
                <a:latin typeface="Calibri"/>
              </a:defRPr>
            </a:pPr>
            <a:r>
              <a:t>3. Entity fusion across 10+ identity systems (Problem 3)</a:t>
            </a:r>
          </a:p>
          <a:p>
            <a:pPr>
              <a:spcBef>
                <a:spcPts val="400"/>
              </a:spcBef>
              <a:defRPr sz="1000" b="0">
                <a:solidFill>
                  <a:srgbClr val="2D3748"/>
                </a:solidFill>
                <a:latin typeface="Calibri"/>
              </a:defRPr>
            </a:pPr>
            <a:r>
              <a:t>4. Containerized K8s-native for Gabriel Nimbus (Problem 4)</a:t>
            </a:r>
          </a:p>
          <a:p>
            <a:pPr>
              <a:spcBef>
                <a:spcPts val="400"/>
              </a:spcBef>
              <a:defRPr sz="600" b="0">
                <a:solidFill>
                  <a:srgbClr val="5A6878"/>
                </a:solidFill>
                <a:latin typeface="Calibri"/>
              </a:defRPr>
            </a:pPr>
            <a:endParaRPr/>
          </a:p>
          <a:p>
            <a:pPr>
              <a:spcBef>
                <a:spcPts val="400"/>
              </a:spcBef>
              <a:defRPr sz="1000" b="1">
                <a:solidFill>
                  <a:srgbClr val="0B1F3A"/>
                </a:solidFill>
                <a:latin typeface="Calibri"/>
              </a:defRPr>
            </a:pPr>
            <a:r>
              <a:t>STRUCTURAL INNOVATION:</a:t>
            </a:r>
          </a:p>
          <a:p>
            <a:pPr>
              <a:spcBef>
                <a:spcPts val="400"/>
              </a:spcBef>
              <a:defRPr sz="1100" b="1">
                <a:solidFill>
                  <a:srgbClr val="0B1F3A"/>
                </a:solidFill>
                <a:latin typeface="Calibri"/>
              </a:defRPr>
            </a:pPr>
            <a:r>
              <a:t>Not what is anomalous -- what they are BECOMING.</a:t>
            </a:r>
          </a:p>
          <a:p>
            <a:pPr>
              <a:spcBef>
                <a:spcPts val="400"/>
              </a:spcBef>
              <a:defRPr sz="1100" b="1">
                <a:solidFill>
                  <a:srgbClr val="0B1F3A"/>
                </a:solidFill>
                <a:latin typeface="Calibri"/>
              </a:defRPr>
            </a:pPr>
            <a:r>
              <a:t>Direction, not just magnitude.</a:t>
            </a:r>
          </a:p>
        </p:txBody>
      </p:sp>
      <p:sp>
        <p:nvSpPr>
          <p:cNvPr id="16" name="Rectangle 15"/>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Together: the attack surface never existed (Preemptive) OR the attack is detected within hours (ACECARD + ABAC)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LAYER 1 -- PREEMPTIVE</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Close the Door Before They Knock</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Three intelligences working together -- from threat intel to verified remediation.</a:t>
            </a:r>
          </a:p>
        </p:txBody>
      </p:sp>
      <p:sp>
        <p:nvSpPr>
          <p:cNvPr id="6" name="Rounded Rectangle 5"/>
          <p:cNvSpPr/>
          <p:nvPr/>
        </p:nvSpPr>
        <p:spPr>
          <a:xfrm>
            <a:off x="457200" y="1371600"/>
            <a:ext cx="3657600" cy="1645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371600"/>
            <a:ext cx="91440" cy="1645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417320"/>
            <a:ext cx="3200400" cy="182880"/>
          </a:xfrm>
          <a:prstGeom prst="rect">
            <a:avLst/>
          </a:prstGeom>
          <a:noFill/>
        </p:spPr>
        <p:txBody>
          <a:bodyPr wrap="square">
            <a:spAutoFit/>
          </a:bodyPr>
          <a:lstStyle/>
          <a:p>
            <a:pPr algn="l">
              <a:defRPr sz="900" b="1">
                <a:solidFill>
                  <a:srgbClr val="C0392B"/>
                </a:solidFill>
                <a:latin typeface="Calibri"/>
              </a:defRPr>
            </a:pPr>
            <a:r>
              <a:t>PROBLEM</a:t>
            </a:r>
          </a:p>
        </p:txBody>
      </p:sp>
      <p:sp>
        <p:nvSpPr>
          <p:cNvPr id="9" name="TextBox 8"/>
          <p:cNvSpPr txBox="1"/>
          <p:nvPr/>
        </p:nvSpPr>
        <p:spPr>
          <a:xfrm>
            <a:off x="731520" y="1600200"/>
            <a:ext cx="3200400" cy="457200"/>
          </a:xfrm>
          <a:prstGeom prst="rect">
            <a:avLst/>
          </a:prstGeom>
          <a:noFill/>
        </p:spPr>
        <p:txBody>
          <a:bodyPr wrap="square">
            <a:spAutoFit/>
          </a:bodyPr>
          <a:lstStyle/>
          <a:p>
            <a:pPr algn="l">
              <a:defRPr sz="1200" b="1">
                <a:solidFill>
                  <a:srgbClr val="0B1F3A"/>
                </a:solidFill>
                <a:latin typeface="Calibri"/>
              </a:defRPr>
            </a:pPr>
            <a:r>
              <a:t>Analyze All Known</a:t>
            </a:r>
            <a:br/>
            <a:r>
              <a:t>Threat Intelligence</a:t>
            </a:r>
          </a:p>
        </p:txBody>
      </p:sp>
      <p:sp>
        <p:nvSpPr>
          <p:cNvPr id="10" name="TextBox 9"/>
          <p:cNvSpPr txBox="1"/>
          <p:nvPr/>
        </p:nvSpPr>
        <p:spPr>
          <a:xfrm>
            <a:off x="731520" y="2148840"/>
            <a:ext cx="3200400" cy="548640"/>
          </a:xfrm>
          <a:prstGeom prst="rect">
            <a:avLst/>
          </a:prstGeom>
          <a:noFill/>
        </p:spPr>
        <p:txBody>
          <a:bodyPr wrap="square">
            <a:spAutoFit/>
          </a:bodyPr>
          <a:lstStyle/>
          <a:p>
            <a:pPr algn="l">
              <a:defRPr sz="950" b="0">
                <a:solidFill>
                  <a:srgbClr val="2D3748"/>
                </a:solidFill>
                <a:latin typeface="Calibri"/>
              </a:defRPr>
            </a:pPr>
            <a:r>
              <a:t>Terabytes of CVE, advisories, CTI, IOCs, IOAs, PSIRTs</a:t>
            </a:r>
          </a:p>
        </p:txBody>
      </p:sp>
      <p:sp>
        <p:nvSpPr>
          <p:cNvPr id="11" name="Rounded Rectangle 10"/>
          <p:cNvSpPr/>
          <p:nvPr/>
        </p:nvSpPr>
        <p:spPr>
          <a:xfrm>
            <a:off x="457200" y="3200400"/>
            <a:ext cx="3657600" cy="27432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3200400"/>
            <a:ext cx="91440" cy="27432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246120"/>
            <a:ext cx="3200400" cy="182880"/>
          </a:xfrm>
          <a:prstGeom prst="rect">
            <a:avLst/>
          </a:prstGeom>
          <a:noFill/>
        </p:spPr>
        <p:txBody>
          <a:bodyPr wrap="square">
            <a:spAutoFit/>
          </a:bodyPr>
          <a:lstStyle/>
          <a:p>
            <a:pPr algn="l">
              <a:defRPr sz="900" b="1">
                <a:solidFill>
                  <a:srgbClr val="F26B1F"/>
                </a:solidFill>
                <a:latin typeface="Calibri"/>
              </a:defRPr>
            </a:pPr>
            <a:r>
              <a:t>SOLUTION</a:t>
            </a:r>
          </a:p>
        </p:txBody>
      </p:sp>
      <p:sp>
        <p:nvSpPr>
          <p:cNvPr id="14" name="TextBox 13"/>
          <p:cNvSpPr txBox="1"/>
          <p:nvPr/>
        </p:nvSpPr>
        <p:spPr>
          <a:xfrm>
            <a:off x="731520" y="3429000"/>
            <a:ext cx="3200400" cy="274320"/>
          </a:xfrm>
          <a:prstGeom prst="rect">
            <a:avLst/>
          </a:prstGeom>
          <a:noFill/>
        </p:spPr>
        <p:txBody>
          <a:bodyPr wrap="square">
            <a:spAutoFit/>
          </a:bodyPr>
          <a:lstStyle/>
          <a:p>
            <a:pPr algn="l">
              <a:defRPr sz="1200" b="1">
                <a:solidFill>
                  <a:srgbClr val="0B1F3A"/>
                </a:solidFill>
                <a:latin typeface="Calibri"/>
              </a:defRPr>
            </a:pPr>
            <a:r>
              <a:t>Attack Intelligence</a:t>
            </a:r>
          </a:p>
        </p:txBody>
      </p:sp>
      <p:sp>
        <p:nvSpPr>
          <p:cNvPr id="15" name="TextBox 14"/>
          <p:cNvSpPr txBox="1"/>
          <p:nvPr/>
        </p:nvSpPr>
        <p:spPr>
          <a:xfrm>
            <a:off x="731520" y="3794760"/>
            <a:ext cx="3200400" cy="1920240"/>
          </a:xfrm>
          <a:prstGeom prst="rect">
            <a:avLst/>
          </a:prstGeom>
          <a:noFill/>
        </p:spPr>
        <p:txBody>
          <a:bodyPr wrap="square">
            <a:spAutoFit/>
          </a:bodyPr>
          <a:lstStyle/>
          <a:p>
            <a:pPr algn="l">
              <a:defRPr sz="1000" b="0">
                <a:solidFill>
                  <a:srgbClr val="2D3748"/>
                </a:solidFill>
                <a:latin typeface="Calibri"/>
              </a:defRPr>
            </a:pPr>
            <a:r>
              <a:t>MITRE-enriched attack graphs via ML/NLP/LLM pipeline. Full TTP coverage of Volt Typhoon (G1017) and Salt Typhoon. Auto-updates on new advisory.</a:t>
            </a:r>
          </a:p>
        </p:txBody>
      </p:sp>
      <p:sp>
        <p:nvSpPr>
          <p:cNvPr id="16" name="Rounded Rectangle 15"/>
          <p:cNvSpPr/>
          <p:nvPr/>
        </p:nvSpPr>
        <p:spPr>
          <a:xfrm>
            <a:off x="4389120" y="1371600"/>
            <a:ext cx="3657600" cy="1645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89120" y="1371600"/>
            <a:ext cx="91440" cy="1645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63440" y="1417320"/>
            <a:ext cx="3200400" cy="182880"/>
          </a:xfrm>
          <a:prstGeom prst="rect">
            <a:avLst/>
          </a:prstGeom>
          <a:noFill/>
        </p:spPr>
        <p:txBody>
          <a:bodyPr wrap="square">
            <a:spAutoFit/>
          </a:bodyPr>
          <a:lstStyle/>
          <a:p>
            <a:pPr algn="l">
              <a:defRPr sz="900" b="1">
                <a:solidFill>
                  <a:srgbClr val="C0392B"/>
                </a:solidFill>
                <a:latin typeface="Calibri"/>
              </a:defRPr>
            </a:pPr>
            <a:r>
              <a:t>PROBLEM</a:t>
            </a:r>
          </a:p>
        </p:txBody>
      </p:sp>
      <p:sp>
        <p:nvSpPr>
          <p:cNvPr id="19" name="TextBox 18"/>
          <p:cNvSpPr txBox="1"/>
          <p:nvPr/>
        </p:nvSpPr>
        <p:spPr>
          <a:xfrm>
            <a:off x="4663440" y="1600200"/>
            <a:ext cx="3200400" cy="457200"/>
          </a:xfrm>
          <a:prstGeom prst="rect">
            <a:avLst/>
          </a:prstGeom>
          <a:noFill/>
        </p:spPr>
        <p:txBody>
          <a:bodyPr wrap="square">
            <a:spAutoFit/>
          </a:bodyPr>
          <a:lstStyle/>
          <a:p>
            <a:pPr algn="l">
              <a:defRPr sz="1200" b="1">
                <a:solidFill>
                  <a:srgbClr val="0B1F3A"/>
                </a:solidFill>
                <a:latin typeface="Calibri"/>
              </a:defRPr>
            </a:pPr>
            <a:r>
              <a:t>Identify Every</a:t>
            </a:r>
            <a:br/>
            <a:r>
              <a:t>Defensive Control Gap</a:t>
            </a:r>
          </a:p>
        </p:txBody>
      </p:sp>
      <p:sp>
        <p:nvSpPr>
          <p:cNvPr id="20" name="TextBox 19"/>
          <p:cNvSpPr txBox="1"/>
          <p:nvPr/>
        </p:nvSpPr>
        <p:spPr>
          <a:xfrm>
            <a:off x="4663440" y="2148840"/>
            <a:ext cx="3200400" cy="548640"/>
          </a:xfrm>
          <a:prstGeom prst="rect">
            <a:avLst/>
          </a:prstGeom>
          <a:noFill/>
        </p:spPr>
        <p:txBody>
          <a:bodyPr wrap="square">
            <a:spAutoFit/>
          </a:bodyPr>
          <a:lstStyle/>
          <a:p>
            <a:pPr algn="l">
              <a:defRPr sz="950" b="0">
                <a:solidFill>
                  <a:srgbClr val="2D3748"/>
                </a:solidFill>
                <a:latin typeface="Calibri"/>
              </a:defRPr>
            </a:pPr>
            <a:r>
              <a:t>Exponential combination of NGFW, IdP, IPS, SASE, WAF configs</a:t>
            </a:r>
          </a:p>
        </p:txBody>
      </p:sp>
      <p:sp>
        <p:nvSpPr>
          <p:cNvPr id="21" name="Rounded Rectangle 20"/>
          <p:cNvSpPr/>
          <p:nvPr/>
        </p:nvSpPr>
        <p:spPr>
          <a:xfrm>
            <a:off x="4389120" y="3200400"/>
            <a:ext cx="3657600" cy="27432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89120" y="3200400"/>
            <a:ext cx="91440" cy="27432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63440" y="3246120"/>
            <a:ext cx="3200400" cy="182880"/>
          </a:xfrm>
          <a:prstGeom prst="rect">
            <a:avLst/>
          </a:prstGeom>
          <a:noFill/>
        </p:spPr>
        <p:txBody>
          <a:bodyPr wrap="square">
            <a:spAutoFit/>
          </a:bodyPr>
          <a:lstStyle/>
          <a:p>
            <a:pPr algn="l">
              <a:defRPr sz="900" b="1">
                <a:solidFill>
                  <a:srgbClr val="F26B1F"/>
                </a:solidFill>
                <a:latin typeface="Calibri"/>
              </a:defRPr>
            </a:pPr>
            <a:r>
              <a:t>SOLUTION</a:t>
            </a:r>
          </a:p>
        </p:txBody>
      </p:sp>
      <p:sp>
        <p:nvSpPr>
          <p:cNvPr id="24" name="TextBox 23"/>
          <p:cNvSpPr txBox="1"/>
          <p:nvPr/>
        </p:nvSpPr>
        <p:spPr>
          <a:xfrm>
            <a:off x="4663440" y="3429000"/>
            <a:ext cx="3200400" cy="274320"/>
          </a:xfrm>
          <a:prstGeom prst="rect">
            <a:avLst/>
          </a:prstGeom>
          <a:noFill/>
        </p:spPr>
        <p:txBody>
          <a:bodyPr wrap="square">
            <a:spAutoFit/>
          </a:bodyPr>
          <a:lstStyle/>
          <a:p>
            <a:pPr algn="l">
              <a:defRPr sz="1200" b="1">
                <a:solidFill>
                  <a:srgbClr val="0B1F3A"/>
                </a:solidFill>
                <a:latin typeface="Calibri"/>
              </a:defRPr>
            </a:pPr>
            <a:r>
              <a:t>Defense Intelligence</a:t>
            </a:r>
          </a:p>
        </p:txBody>
      </p:sp>
      <p:sp>
        <p:nvSpPr>
          <p:cNvPr id="25" name="TextBox 24"/>
          <p:cNvSpPr txBox="1"/>
          <p:nvPr/>
        </p:nvSpPr>
        <p:spPr>
          <a:xfrm>
            <a:off x="4663440" y="3794760"/>
            <a:ext cx="3200400" cy="1920240"/>
          </a:xfrm>
          <a:prstGeom prst="rect">
            <a:avLst/>
          </a:prstGeom>
          <a:noFill/>
        </p:spPr>
        <p:txBody>
          <a:bodyPr wrap="square">
            <a:spAutoFit/>
          </a:bodyPr>
          <a:lstStyle/>
          <a:p>
            <a:pPr algn="l">
              <a:defRPr sz="1000" b="0">
                <a:solidFill>
                  <a:srgbClr val="2D3748"/>
                </a:solidFill>
                <a:latin typeface="Calibri"/>
              </a:defRPr>
            </a:pPr>
            <a:r>
              <a:t>Symbolic Model of Computation. Formal mathematical model -- exhaustively reasons over 2^8000 state space. No sampling. Every path analyzed.</a:t>
            </a:r>
          </a:p>
        </p:txBody>
      </p:sp>
      <p:sp>
        <p:nvSpPr>
          <p:cNvPr id="26" name="Rounded Rectangle 25"/>
          <p:cNvSpPr/>
          <p:nvPr/>
        </p:nvSpPr>
        <p:spPr>
          <a:xfrm>
            <a:off x="8321040" y="1371600"/>
            <a:ext cx="3657600" cy="1645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321040" y="1371600"/>
            <a:ext cx="91440" cy="1645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95360" y="1417320"/>
            <a:ext cx="3200400" cy="182880"/>
          </a:xfrm>
          <a:prstGeom prst="rect">
            <a:avLst/>
          </a:prstGeom>
          <a:noFill/>
        </p:spPr>
        <p:txBody>
          <a:bodyPr wrap="square">
            <a:spAutoFit/>
          </a:bodyPr>
          <a:lstStyle/>
          <a:p>
            <a:pPr algn="l">
              <a:defRPr sz="900" b="1">
                <a:solidFill>
                  <a:srgbClr val="C0392B"/>
                </a:solidFill>
                <a:latin typeface="Calibri"/>
              </a:defRPr>
            </a:pPr>
            <a:r>
              <a:t>PROBLEM</a:t>
            </a:r>
          </a:p>
        </p:txBody>
      </p:sp>
      <p:sp>
        <p:nvSpPr>
          <p:cNvPr id="29" name="TextBox 28"/>
          <p:cNvSpPr txBox="1"/>
          <p:nvPr/>
        </p:nvSpPr>
        <p:spPr>
          <a:xfrm>
            <a:off x="8595360" y="1600200"/>
            <a:ext cx="3200400" cy="457200"/>
          </a:xfrm>
          <a:prstGeom prst="rect">
            <a:avLst/>
          </a:prstGeom>
          <a:noFill/>
        </p:spPr>
        <p:txBody>
          <a:bodyPr wrap="square">
            <a:spAutoFit/>
          </a:bodyPr>
          <a:lstStyle/>
          <a:p>
            <a:pPr algn="l">
              <a:defRPr sz="1200" b="1">
                <a:solidFill>
                  <a:srgbClr val="0B1F3A"/>
                </a:solidFill>
                <a:latin typeface="Calibri"/>
              </a:defRPr>
            </a:pPr>
            <a:r>
              <a:t>Prescribe Correct</a:t>
            </a:r>
            <a:br/>
            <a:r>
              <a:t>Configurations</a:t>
            </a:r>
          </a:p>
        </p:txBody>
      </p:sp>
      <p:sp>
        <p:nvSpPr>
          <p:cNvPr id="30" name="TextBox 29"/>
          <p:cNvSpPr txBox="1"/>
          <p:nvPr/>
        </p:nvSpPr>
        <p:spPr>
          <a:xfrm>
            <a:off x="8595360" y="2148840"/>
            <a:ext cx="3200400" cy="548640"/>
          </a:xfrm>
          <a:prstGeom prst="rect">
            <a:avLst/>
          </a:prstGeom>
          <a:noFill/>
        </p:spPr>
        <p:txBody>
          <a:bodyPr wrap="square">
            <a:spAutoFit/>
          </a:bodyPr>
          <a:lstStyle/>
          <a:p>
            <a:pPr algn="l">
              <a:defRPr sz="950" b="0">
                <a:solidFill>
                  <a:srgbClr val="2D3748"/>
                </a:solidFill>
                <a:latin typeface="Calibri"/>
              </a:defRPr>
            </a:pPr>
            <a:r>
              <a:t>Without creating new errors or business disruption</a:t>
            </a:r>
          </a:p>
        </p:txBody>
      </p:sp>
      <p:sp>
        <p:nvSpPr>
          <p:cNvPr id="31" name="Rounded Rectangle 30"/>
          <p:cNvSpPr/>
          <p:nvPr/>
        </p:nvSpPr>
        <p:spPr>
          <a:xfrm>
            <a:off x="8321040" y="3200400"/>
            <a:ext cx="3657600" cy="27432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321040" y="3200400"/>
            <a:ext cx="91440" cy="27432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95360" y="3246120"/>
            <a:ext cx="3200400" cy="182880"/>
          </a:xfrm>
          <a:prstGeom prst="rect">
            <a:avLst/>
          </a:prstGeom>
          <a:noFill/>
        </p:spPr>
        <p:txBody>
          <a:bodyPr wrap="square">
            <a:spAutoFit/>
          </a:bodyPr>
          <a:lstStyle/>
          <a:p>
            <a:pPr algn="l">
              <a:defRPr sz="900" b="1">
                <a:solidFill>
                  <a:srgbClr val="F26B1F"/>
                </a:solidFill>
                <a:latin typeface="Calibri"/>
              </a:defRPr>
            </a:pPr>
            <a:r>
              <a:t>SOLUTION</a:t>
            </a:r>
          </a:p>
        </p:txBody>
      </p:sp>
      <p:sp>
        <p:nvSpPr>
          <p:cNvPr id="34" name="TextBox 33"/>
          <p:cNvSpPr txBox="1"/>
          <p:nvPr/>
        </p:nvSpPr>
        <p:spPr>
          <a:xfrm>
            <a:off x="8595360" y="3429000"/>
            <a:ext cx="3200400" cy="274320"/>
          </a:xfrm>
          <a:prstGeom prst="rect">
            <a:avLst/>
          </a:prstGeom>
          <a:noFill/>
        </p:spPr>
        <p:txBody>
          <a:bodyPr wrap="square">
            <a:spAutoFit/>
          </a:bodyPr>
          <a:lstStyle/>
          <a:p>
            <a:pPr algn="l">
              <a:defRPr sz="1200" b="1">
                <a:solidFill>
                  <a:srgbClr val="0B1F3A"/>
                </a:solidFill>
                <a:latin typeface="Calibri"/>
              </a:defRPr>
            </a:pPr>
            <a:r>
              <a:t>Remediation Intelligence</a:t>
            </a:r>
          </a:p>
        </p:txBody>
      </p:sp>
      <p:sp>
        <p:nvSpPr>
          <p:cNvPr id="35" name="TextBox 34"/>
          <p:cNvSpPr txBox="1"/>
          <p:nvPr/>
        </p:nvSpPr>
        <p:spPr>
          <a:xfrm>
            <a:off x="8595360" y="3794760"/>
            <a:ext cx="3200400" cy="1920240"/>
          </a:xfrm>
          <a:prstGeom prst="rect">
            <a:avLst/>
          </a:prstGeom>
          <a:noFill/>
        </p:spPr>
        <p:txBody>
          <a:bodyPr wrap="square">
            <a:spAutoFit/>
          </a:bodyPr>
          <a:lstStyle/>
          <a:p>
            <a:pPr algn="l">
              <a:defRPr sz="1000" b="0">
                <a:solidFill>
                  <a:srgbClr val="2D3748"/>
                </a:solidFill>
                <a:latin typeface="Calibri"/>
              </a:defRPr>
            </a:pPr>
            <a:r>
              <a:t>Guardrailed agentic-AI reasoners. Risk-prioritized, vendor-specific fixes. No false positives. No false negatives.</a:t>
            </a:r>
          </a:p>
        </p:txBody>
      </p:sp>
      <p:sp>
        <p:nvSpPr>
          <p:cNvPr id="36" name="Rectangle 35"/>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Supports PAN, Fortinet, Cisco, Check Point. SaaS, on-prem, and air-gapped deployments.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LAYER 1 -- PREEMPTIVE</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How Preemptive Stops Both Typhoons -- Phase by Phase</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Configuration weakness is the entry point for both groups. We mathematically prove those weaknesses do not exist.</a:t>
            </a:r>
          </a:p>
        </p:txBody>
      </p:sp>
      <p:sp>
        <p:nvSpPr>
          <p:cNvPr id="6" name="Rectangle 5"/>
          <p:cNvSpPr/>
          <p:nvPr/>
        </p:nvSpPr>
        <p:spPr>
          <a:xfrm>
            <a:off x="457200" y="1280160"/>
            <a:ext cx="64008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98448"/>
            <a:ext cx="548640" cy="274320"/>
          </a:xfrm>
          <a:prstGeom prst="rect">
            <a:avLst/>
          </a:prstGeom>
          <a:noFill/>
        </p:spPr>
        <p:txBody>
          <a:bodyPr wrap="square">
            <a:spAutoFit/>
          </a:bodyPr>
          <a:lstStyle/>
          <a:p>
            <a:pPr algn="ctr">
              <a:defRPr sz="900" b="1">
                <a:solidFill>
                  <a:srgbClr val="FFFFFF"/>
                </a:solidFill>
                <a:latin typeface="Calibri"/>
              </a:defRPr>
            </a:pPr>
            <a:r>
              <a:t>PHASE</a:t>
            </a:r>
          </a:p>
        </p:txBody>
      </p:sp>
      <p:sp>
        <p:nvSpPr>
          <p:cNvPr id="8" name="Rectangle 7"/>
          <p:cNvSpPr/>
          <p:nvPr/>
        </p:nvSpPr>
        <p:spPr>
          <a:xfrm>
            <a:off x="1097280" y="1280160"/>
            <a:ext cx="3200400" cy="3200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1298448"/>
            <a:ext cx="3108960" cy="274320"/>
          </a:xfrm>
          <a:prstGeom prst="rect">
            <a:avLst/>
          </a:prstGeom>
          <a:noFill/>
        </p:spPr>
        <p:txBody>
          <a:bodyPr wrap="square">
            <a:spAutoFit/>
          </a:bodyPr>
          <a:lstStyle/>
          <a:p>
            <a:pPr algn="l">
              <a:defRPr sz="900" b="1">
                <a:solidFill>
                  <a:srgbClr val="FFFFFF"/>
                </a:solidFill>
                <a:latin typeface="Calibri"/>
              </a:defRPr>
            </a:pPr>
            <a:r>
              <a:t>ATTACKER BEHAVIOR</a:t>
            </a:r>
          </a:p>
        </p:txBody>
      </p:sp>
      <p:sp>
        <p:nvSpPr>
          <p:cNvPr id="10" name="Rectangle 9"/>
          <p:cNvSpPr/>
          <p:nvPr/>
        </p:nvSpPr>
        <p:spPr>
          <a:xfrm>
            <a:off x="4297680" y="1280160"/>
            <a:ext cx="3657600" cy="32004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1298448"/>
            <a:ext cx="3566160" cy="274320"/>
          </a:xfrm>
          <a:prstGeom prst="rect">
            <a:avLst/>
          </a:prstGeom>
          <a:noFill/>
        </p:spPr>
        <p:txBody>
          <a:bodyPr wrap="square">
            <a:spAutoFit/>
          </a:bodyPr>
          <a:lstStyle/>
          <a:p>
            <a:pPr algn="l">
              <a:defRPr sz="900" b="1">
                <a:solidFill>
                  <a:srgbClr val="FFFFFF"/>
                </a:solidFill>
                <a:latin typeface="Calibri"/>
              </a:defRPr>
            </a:pPr>
            <a:r>
              <a:t>HOW WE PREEMPT IT</a:t>
            </a:r>
          </a:p>
        </p:txBody>
      </p:sp>
      <p:sp>
        <p:nvSpPr>
          <p:cNvPr id="12" name="Rectangle 11"/>
          <p:cNvSpPr/>
          <p:nvPr/>
        </p:nvSpPr>
        <p:spPr>
          <a:xfrm>
            <a:off x="7955279" y="1280160"/>
            <a:ext cx="356616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0" y="1298448"/>
            <a:ext cx="3474720" cy="274320"/>
          </a:xfrm>
          <a:prstGeom prst="rect">
            <a:avLst/>
          </a:prstGeom>
          <a:noFill/>
        </p:spPr>
        <p:txBody>
          <a:bodyPr wrap="square">
            <a:spAutoFit/>
          </a:bodyPr>
          <a:lstStyle/>
          <a:p>
            <a:pPr algn="l">
              <a:defRPr sz="900" b="1">
                <a:solidFill>
                  <a:srgbClr val="FFFFFF"/>
                </a:solidFill>
                <a:latin typeface="Calibri"/>
              </a:defRPr>
            </a:pPr>
            <a:r>
              <a:t>IF BYPASSED: ACECARD DETECTS</a:t>
            </a:r>
          </a:p>
        </p:txBody>
      </p:sp>
      <p:sp>
        <p:nvSpPr>
          <p:cNvPr id="14" name="Rounded Rectangle 13"/>
          <p:cNvSpPr/>
          <p:nvPr/>
        </p:nvSpPr>
        <p:spPr>
          <a:xfrm>
            <a:off x="457200" y="1691640"/>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717040"/>
            <a:ext cx="594360" cy="822960"/>
          </a:xfrm>
          <a:prstGeom prst="rect">
            <a:avLst/>
          </a:prstGeom>
          <a:noFill/>
        </p:spPr>
        <p:txBody>
          <a:bodyPr wrap="square">
            <a:spAutoFit/>
          </a:bodyPr>
          <a:lstStyle/>
          <a:p>
            <a:pPr algn="ctr">
              <a:defRPr sz="850" b="1">
                <a:solidFill>
                  <a:srgbClr val="0B1F3A"/>
                </a:solidFill>
                <a:latin typeface="Calibri"/>
              </a:defRPr>
            </a:pPr>
            <a:r>
              <a:t>Initial</a:t>
            </a:r>
            <a:br/>
            <a:r>
              <a:t>Access</a:t>
            </a:r>
          </a:p>
        </p:txBody>
      </p:sp>
      <p:sp>
        <p:nvSpPr>
          <p:cNvPr id="16" name="TextBox 15"/>
          <p:cNvSpPr txBox="1"/>
          <p:nvPr/>
        </p:nvSpPr>
        <p:spPr>
          <a:xfrm>
            <a:off x="1188720" y="1717040"/>
            <a:ext cx="3063240" cy="822960"/>
          </a:xfrm>
          <a:prstGeom prst="rect">
            <a:avLst/>
          </a:prstGeom>
          <a:noFill/>
        </p:spPr>
        <p:txBody>
          <a:bodyPr wrap="square">
            <a:spAutoFit/>
          </a:bodyPr>
          <a:lstStyle/>
          <a:p>
            <a:pPr algn="l">
              <a:defRPr sz="900" b="0">
                <a:solidFill>
                  <a:srgbClr val="2D3748"/>
                </a:solidFill>
                <a:latin typeface="Calibri"/>
              </a:defRPr>
            </a:pPr>
            <a:r>
              <a:t>Edge CVE exploit (Fortinet, Cisco IOS XE, Ivanti, PAN)</a:t>
            </a:r>
          </a:p>
        </p:txBody>
      </p:sp>
      <p:sp>
        <p:nvSpPr>
          <p:cNvPr id="17" name="TextBox 16"/>
          <p:cNvSpPr txBox="1"/>
          <p:nvPr/>
        </p:nvSpPr>
        <p:spPr>
          <a:xfrm>
            <a:off x="4389120" y="1717040"/>
            <a:ext cx="3474720" cy="822960"/>
          </a:xfrm>
          <a:prstGeom prst="rect">
            <a:avLst/>
          </a:prstGeom>
          <a:noFill/>
        </p:spPr>
        <p:txBody>
          <a:bodyPr wrap="square">
            <a:spAutoFit/>
          </a:bodyPr>
          <a:lstStyle/>
          <a:p>
            <a:pPr algn="l">
              <a:defRPr sz="900" b="0">
                <a:solidFill>
                  <a:srgbClr val="1A4D8C"/>
                </a:solidFill>
                <a:latin typeface="Calibri"/>
              </a:defRPr>
            </a:pPr>
            <a:r>
              <a:t>IPS signature + WAF verified; compensating controls proven</a:t>
            </a:r>
          </a:p>
        </p:txBody>
      </p:sp>
      <p:sp>
        <p:nvSpPr>
          <p:cNvPr id="18" name="TextBox 17"/>
          <p:cNvSpPr txBox="1"/>
          <p:nvPr/>
        </p:nvSpPr>
        <p:spPr>
          <a:xfrm>
            <a:off x="8046720" y="1717040"/>
            <a:ext cx="3474720" cy="822960"/>
          </a:xfrm>
          <a:prstGeom prst="rect">
            <a:avLst/>
          </a:prstGeom>
          <a:noFill/>
        </p:spPr>
        <p:txBody>
          <a:bodyPr wrap="square">
            <a:spAutoFit/>
          </a:bodyPr>
          <a:lstStyle/>
          <a:p>
            <a:pPr algn="l">
              <a:defRPr sz="900" b="0">
                <a:solidFill>
                  <a:srgbClr val="0891B2"/>
                </a:solidFill>
                <a:latin typeface="Calibri"/>
              </a:defRPr>
            </a:pPr>
            <a:r>
              <a:t>Auth: anomalous mgmt-plane source IP, drift 0.08</a:t>
            </a:r>
          </a:p>
        </p:txBody>
      </p:sp>
      <p:sp>
        <p:nvSpPr>
          <p:cNvPr id="19" name="Rounded Rectangle 18"/>
          <p:cNvSpPr/>
          <p:nvPr/>
        </p:nvSpPr>
        <p:spPr>
          <a:xfrm>
            <a:off x="457200" y="2587752"/>
            <a:ext cx="11064240" cy="868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2613152"/>
            <a:ext cx="594360" cy="822960"/>
          </a:xfrm>
          <a:prstGeom prst="rect">
            <a:avLst/>
          </a:prstGeom>
          <a:noFill/>
        </p:spPr>
        <p:txBody>
          <a:bodyPr wrap="square">
            <a:spAutoFit/>
          </a:bodyPr>
          <a:lstStyle/>
          <a:p>
            <a:pPr algn="ctr">
              <a:defRPr sz="850" b="1">
                <a:solidFill>
                  <a:srgbClr val="0B1F3A"/>
                </a:solidFill>
                <a:latin typeface="Calibri"/>
              </a:defRPr>
            </a:pPr>
            <a:r>
              <a:t>Credential</a:t>
            </a:r>
            <a:br/>
            <a:r>
              <a:t>Access</a:t>
            </a:r>
          </a:p>
        </p:txBody>
      </p:sp>
      <p:sp>
        <p:nvSpPr>
          <p:cNvPr id="21" name="TextBox 20"/>
          <p:cNvSpPr txBox="1"/>
          <p:nvPr/>
        </p:nvSpPr>
        <p:spPr>
          <a:xfrm>
            <a:off x="1188720" y="2613152"/>
            <a:ext cx="3063240" cy="822960"/>
          </a:xfrm>
          <a:prstGeom prst="rect">
            <a:avLst/>
          </a:prstGeom>
          <a:noFill/>
        </p:spPr>
        <p:txBody>
          <a:bodyPr wrap="square">
            <a:spAutoFit/>
          </a:bodyPr>
          <a:lstStyle/>
          <a:p>
            <a:pPr algn="l">
              <a:defRPr sz="900" b="0">
                <a:solidFill>
                  <a:srgbClr val="2D3748"/>
                </a:solidFill>
                <a:latin typeface="Calibri"/>
              </a:defRPr>
            </a:pPr>
            <a:r>
              <a:t>ntdsutil NTDS.dit dump; LSASS extraction; TACACS+ capture</a:t>
            </a:r>
          </a:p>
        </p:txBody>
      </p:sp>
      <p:sp>
        <p:nvSpPr>
          <p:cNvPr id="22" name="TextBox 21"/>
          <p:cNvSpPr txBox="1"/>
          <p:nvPr/>
        </p:nvSpPr>
        <p:spPr>
          <a:xfrm>
            <a:off x="4389120" y="2613152"/>
            <a:ext cx="3474720" cy="822960"/>
          </a:xfrm>
          <a:prstGeom prst="rect">
            <a:avLst/>
          </a:prstGeom>
          <a:noFill/>
        </p:spPr>
        <p:txBody>
          <a:bodyPr wrap="square">
            <a:spAutoFit/>
          </a:bodyPr>
          <a:lstStyle/>
          <a:p>
            <a:pPr algn="l">
              <a:defRPr sz="900" b="0">
                <a:solidFill>
                  <a:srgbClr val="1A4D8C"/>
                </a:solidFill>
                <a:latin typeface="Calibri"/>
              </a:defRPr>
            </a:pPr>
            <a:r>
              <a:t>EDR coverage verified; script-control blocks ntdsutil for non-admin</a:t>
            </a:r>
          </a:p>
        </p:txBody>
      </p:sp>
      <p:sp>
        <p:nvSpPr>
          <p:cNvPr id="23" name="TextBox 22"/>
          <p:cNvSpPr txBox="1"/>
          <p:nvPr/>
        </p:nvSpPr>
        <p:spPr>
          <a:xfrm>
            <a:off x="8046720" y="2613152"/>
            <a:ext cx="3474720" cy="822960"/>
          </a:xfrm>
          <a:prstGeom prst="rect">
            <a:avLst/>
          </a:prstGeom>
          <a:noFill/>
        </p:spPr>
        <p:txBody>
          <a:bodyPr wrap="square">
            <a:spAutoFit/>
          </a:bodyPr>
          <a:lstStyle/>
          <a:p>
            <a:pPr algn="l">
              <a:defRPr sz="900" b="0">
                <a:solidFill>
                  <a:srgbClr val="0891B2"/>
                </a:solidFill>
                <a:latin typeface="Calibri"/>
              </a:defRPr>
            </a:pPr>
            <a:r>
              <a:t>Process: lolbin_count 0-&gt;7, CUSUM alarm @ T+47min</a:t>
            </a:r>
          </a:p>
        </p:txBody>
      </p:sp>
      <p:sp>
        <p:nvSpPr>
          <p:cNvPr id="24" name="Rounded Rectangle 23"/>
          <p:cNvSpPr/>
          <p:nvPr/>
        </p:nvSpPr>
        <p:spPr>
          <a:xfrm>
            <a:off x="457200" y="3483864"/>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3509264"/>
            <a:ext cx="594360" cy="822960"/>
          </a:xfrm>
          <a:prstGeom prst="rect">
            <a:avLst/>
          </a:prstGeom>
          <a:noFill/>
        </p:spPr>
        <p:txBody>
          <a:bodyPr wrap="square">
            <a:spAutoFit/>
          </a:bodyPr>
          <a:lstStyle/>
          <a:p>
            <a:pPr algn="ctr">
              <a:defRPr sz="850" b="1">
                <a:solidFill>
                  <a:srgbClr val="0B1F3A"/>
                </a:solidFill>
                <a:latin typeface="Calibri"/>
              </a:defRPr>
            </a:pPr>
            <a:r>
              <a:t>Lateral</a:t>
            </a:r>
            <a:br/>
            <a:r>
              <a:t>Movement</a:t>
            </a:r>
          </a:p>
        </p:txBody>
      </p:sp>
      <p:sp>
        <p:nvSpPr>
          <p:cNvPr id="26" name="TextBox 25"/>
          <p:cNvSpPr txBox="1"/>
          <p:nvPr/>
        </p:nvSpPr>
        <p:spPr>
          <a:xfrm>
            <a:off x="1188720" y="3509264"/>
            <a:ext cx="3063240" cy="822960"/>
          </a:xfrm>
          <a:prstGeom prst="rect">
            <a:avLst/>
          </a:prstGeom>
          <a:noFill/>
        </p:spPr>
        <p:txBody>
          <a:bodyPr wrap="square">
            <a:spAutoFit/>
          </a:bodyPr>
          <a:lstStyle/>
          <a:p>
            <a:pPr algn="l">
              <a:defRPr sz="900" b="0">
                <a:solidFill>
                  <a:srgbClr val="2D3748"/>
                </a:solidFill>
                <a:latin typeface="Calibri"/>
              </a:defRPr>
            </a:pPr>
            <a:r>
              <a:t>SMB/RDP/WinRM to DCs; cross-tenant pivots</a:t>
            </a:r>
          </a:p>
        </p:txBody>
      </p:sp>
      <p:sp>
        <p:nvSpPr>
          <p:cNvPr id="27" name="TextBox 26"/>
          <p:cNvSpPr txBox="1"/>
          <p:nvPr/>
        </p:nvSpPr>
        <p:spPr>
          <a:xfrm>
            <a:off x="4389120" y="3509264"/>
            <a:ext cx="3474720" cy="822960"/>
          </a:xfrm>
          <a:prstGeom prst="rect">
            <a:avLst/>
          </a:prstGeom>
          <a:noFill/>
        </p:spPr>
        <p:txBody>
          <a:bodyPr wrap="square">
            <a:spAutoFit/>
          </a:bodyPr>
          <a:lstStyle/>
          <a:p>
            <a:pPr algn="l">
              <a:defRPr sz="900" b="0">
                <a:solidFill>
                  <a:srgbClr val="1A4D8C"/>
                </a:solidFill>
                <a:latin typeface="Calibri"/>
              </a:defRPr>
            </a:pPr>
            <a:r>
              <a:t>SMB inspection shadow detected + remediated; micro-segmentation proven</a:t>
            </a:r>
          </a:p>
        </p:txBody>
      </p:sp>
      <p:sp>
        <p:nvSpPr>
          <p:cNvPr id="28" name="TextBox 27"/>
          <p:cNvSpPr txBox="1"/>
          <p:nvPr/>
        </p:nvSpPr>
        <p:spPr>
          <a:xfrm>
            <a:off x="8046720" y="3509264"/>
            <a:ext cx="3474720" cy="822960"/>
          </a:xfrm>
          <a:prstGeom prst="rect">
            <a:avLst/>
          </a:prstGeom>
          <a:noFill/>
        </p:spPr>
        <p:txBody>
          <a:bodyPr wrap="square">
            <a:spAutoFit/>
          </a:bodyPr>
          <a:lstStyle/>
          <a:p>
            <a:pPr algn="l">
              <a:defRPr sz="900" b="0">
                <a:solidFill>
                  <a:srgbClr val="0891B2"/>
                </a:solidFill>
                <a:latin typeface="Calibri"/>
              </a:defRPr>
            </a:pPr>
            <a:r>
              <a:t>Network: unique_dest 3-&gt;18, cohort z=6.17, HIGH alert</a:t>
            </a:r>
          </a:p>
        </p:txBody>
      </p:sp>
      <p:sp>
        <p:nvSpPr>
          <p:cNvPr id="29" name="Rounded Rectangle 28"/>
          <p:cNvSpPr/>
          <p:nvPr/>
        </p:nvSpPr>
        <p:spPr>
          <a:xfrm>
            <a:off x="457200" y="4379976"/>
            <a:ext cx="11064240" cy="868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4405376"/>
            <a:ext cx="594360" cy="822960"/>
          </a:xfrm>
          <a:prstGeom prst="rect">
            <a:avLst/>
          </a:prstGeom>
          <a:noFill/>
        </p:spPr>
        <p:txBody>
          <a:bodyPr wrap="square">
            <a:spAutoFit/>
          </a:bodyPr>
          <a:lstStyle/>
          <a:p>
            <a:pPr algn="ctr">
              <a:defRPr sz="850" b="1">
                <a:solidFill>
                  <a:srgbClr val="0B1F3A"/>
                </a:solidFill>
                <a:latin typeface="Calibri"/>
              </a:defRPr>
            </a:pPr>
            <a:r>
              <a:t>Persistence</a:t>
            </a:r>
          </a:p>
        </p:txBody>
      </p:sp>
      <p:sp>
        <p:nvSpPr>
          <p:cNvPr id="31" name="TextBox 30"/>
          <p:cNvSpPr txBox="1"/>
          <p:nvPr/>
        </p:nvSpPr>
        <p:spPr>
          <a:xfrm>
            <a:off x="1188720" y="4405376"/>
            <a:ext cx="3063240" cy="822960"/>
          </a:xfrm>
          <a:prstGeom prst="rect">
            <a:avLst/>
          </a:prstGeom>
          <a:noFill/>
        </p:spPr>
        <p:txBody>
          <a:bodyPr wrap="square">
            <a:spAutoFit/>
          </a:bodyPr>
          <a:lstStyle/>
          <a:p>
            <a:pPr algn="l">
              <a:defRPr sz="900" b="0">
                <a:solidFill>
                  <a:srgbClr val="2D3748"/>
                </a:solidFill>
                <a:latin typeface="Calibri"/>
              </a:defRPr>
            </a:pPr>
            <a:r>
              <a:t>Web shells; local accounts; ACL modification; GRE tunnels</a:t>
            </a:r>
          </a:p>
        </p:txBody>
      </p:sp>
      <p:sp>
        <p:nvSpPr>
          <p:cNvPr id="32" name="TextBox 31"/>
          <p:cNvSpPr txBox="1"/>
          <p:nvPr/>
        </p:nvSpPr>
        <p:spPr>
          <a:xfrm>
            <a:off x="4389120" y="4405376"/>
            <a:ext cx="3474720" cy="822960"/>
          </a:xfrm>
          <a:prstGeom prst="rect">
            <a:avLst/>
          </a:prstGeom>
          <a:noFill/>
        </p:spPr>
        <p:txBody>
          <a:bodyPr wrap="square">
            <a:spAutoFit/>
          </a:bodyPr>
          <a:lstStyle/>
          <a:p>
            <a:pPr algn="l">
              <a:defRPr sz="900" b="0">
                <a:solidFill>
                  <a:srgbClr val="1A4D8C"/>
                </a:solidFill>
                <a:latin typeface="Calibri"/>
              </a:defRPr>
            </a:pPr>
            <a:r>
              <a:t>Config Drift catches baseline deviation within 1 hour</a:t>
            </a:r>
          </a:p>
        </p:txBody>
      </p:sp>
      <p:sp>
        <p:nvSpPr>
          <p:cNvPr id="33" name="TextBox 32"/>
          <p:cNvSpPr txBox="1"/>
          <p:nvPr/>
        </p:nvSpPr>
        <p:spPr>
          <a:xfrm>
            <a:off x="8046720" y="4405376"/>
            <a:ext cx="3474720" cy="822960"/>
          </a:xfrm>
          <a:prstGeom prst="rect">
            <a:avLst/>
          </a:prstGeom>
          <a:noFill/>
        </p:spPr>
        <p:txBody>
          <a:bodyPr wrap="square">
            <a:spAutoFit/>
          </a:bodyPr>
          <a:lstStyle/>
          <a:p>
            <a:pPr algn="l">
              <a:defRPr sz="900" b="0">
                <a:solidFill>
                  <a:srgbClr val="0891B2"/>
                </a:solidFill>
                <a:latin typeface="Calibri"/>
              </a:defRPr>
            </a:pPr>
            <a:r>
              <a:t>Identity: svc_acct spikes, group_adds, drift toward T1078</a:t>
            </a:r>
          </a:p>
        </p:txBody>
      </p:sp>
      <p:sp>
        <p:nvSpPr>
          <p:cNvPr id="34" name="Rounded Rectangle 33"/>
          <p:cNvSpPr/>
          <p:nvPr/>
        </p:nvSpPr>
        <p:spPr>
          <a:xfrm>
            <a:off x="457200" y="5276088"/>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2920" y="5301488"/>
            <a:ext cx="594360" cy="822960"/>
          </a:xfrm>
          <a:prstGeom prst="rect">
            <a:avLst/>
          </a:prstGeom>
          <a:noFill/>
        </p:spPr>
        <p:txBody>
          <a:bodyPr wrap="square">
            <a:spAutoFit/>
          </a:bodyPr>
          <a:lstStyle/>
          <a:p>
            <a:pPr algn="ctr">
              <a:defRPr sz="850" b="1">
                <a:solidFill>
                  <a:srgbClr val="0B1F3A"/>
                </a:solidFill>
                <a:latin typeface="Calibri"/>
              </a:defRPr>
            </a:pPr>
            <a:r>
              <a:t>Exfiltration</a:t>
            </a:r>
          </a:p>
        </p:txBody>
      </p:sp>
      <p:sp>
        <p:nvSpPr>
          <p:cNvPr id="36" name="TextBox 35"/>
          <p:cNvSpPr txBox="1"/>
          <p:nvPr/>
        </p:nvSpPr>
        <p:spPr>
          <a:xfrm>
            <a:off x="1188720" y="5301488"/>
            <a:ext cx="3063240" cy="822960"/>
          </a:xfrm>
          <a:prstGeom prst="rect">
            <a:avLst/>
          </a:prstGeom>
          <a:noFill/>
        </p:spPr>
        <p:txBody>
          <a:bodyPr wrap="square">
            <a:spAutoFit/>
          </a:bodyPr>
          <a:lstStyle/>
          <a:p>
            <a:pPr algn="l">
              <a:defRPr sz="900" b="0">
                <a:solidFill>
                  <a:srgbClr val="2D3748"/>
                </a:solidFill>
                <a:latin typeface="Calibri"/>
              </a:defRPr>
            </a:pPr>
            <a:r>
              <a:t>CDR/metadata exfil; C2 to KV botnet / JumbledPath</a:t>
            </a:r>
          </a:p>
        </p:txBody>
      </p:sp>
      <p:sp>
        <p:nvSpPr>
          <p:cNvPr id="37" name="TextBox 36"/>
          <p:cNvSpPr txBox="1"/>
          <p:nvPr/>
        </p:nvSpPr>
        <p:spPr>
          <a:xfrm>
            <a:off x="4389120" y="5301488"/>
            <a:ext cx="3474720" cy="822960"/>
          </a:xfrm>
          <a:prstGeom prst="rect">
            <a:avLst/>
          </a:prstGeom>
          <a:noFill/>
        </p:spPr>
        <p:txBody>
          <a:bodyPr wrap="square">
            <a:spAutoFit/>
          </a:bodyPr>
          <a:lstStyle/>
          <a:p>
            <a:pPr algn="l">
              <a:defRPr sz="900" b="0">
                <a:solidFill>
                  <a:srgbClr val="1A4D8C"/>
                </a:solidFill>
                <a:latin typeface="Calibri"/>
              </a:defRPr>
            </a:pPr>
            <a:r>
              <a:t>Egress filtering proven; C2 IPs blocked all zones</a:t>
            </a:r>
          </a:p>
        </p:txBody>
      </p:sp>
      <p:sp>
        <p:nvSpPr>
          <p:cNvPr id="38" name="TextBox 37"/>
          <p:cNvSpPr txBox="1"/>
          <p:nvPr/>
        </p:nvSpPr>
        <p:spPr>
          <a:xfrm>
            <a:off x="8046720" y="5301488"/>
            <a:ext cx="3474720" cy="822960"/>
          </a:xfrm>
          <a:prstGeom prst="rect">
            <a:avLst/>
          </a:prstGeom>
          <a:noFill/>
        </p:spPr>
        <p:txBody>
          <a:bodyPr wrap="square">
            <a:spAutoFit/>
          </a:bodyPr>
          <a:lstStyle/>
          <a:p>
            <a:pPr algn="l">
              <a:defRPr sz="900" b="0">
                <a:solidFill>
                  <a:srgbClr val="0891B2"/>
                </a:solidFill>
                <a:latin typeface="Calibri"/>
              </a:defRPr>
            </a:pPr>
            <a:r>
              <a:t>File: sensitive_access rises, CRITICAL -&gt; ABAC BLOCKED</a:t>
            </a:r>
          </a:p>
        </p:txBody>
      </p:sp>
      <p:sp>
        <p:nvSpPr>
          <p:cNvPr id="39" name="Rectangle 38"/>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Both Typhoons defeated: config gaps never exist (Preemptive) + behavioral drift caught in hours (ACECARD)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PREEMPTIVE LAYER</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Preemptive Approach: Close the Door Before They Knock</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Mathematically rigorous, preemptive cyber defense — Complete, Continuous, Verifiable</a:t>
            </a:r>
            <a:endParaRPr lang="en-US" sz="1300" dirty="0"/>
          </a:p>
        </p:txBody>
      </p:sp>
      <p:sp>
        <p:nvSpPr>
          <p:cNvPr id="6" name="Shape 4"/>
          <p:cNvSpPr/>
          <p:nvPr/>
        </p:nvSpPr>
        <p:spPr>
          <a:xfrm>
            <a:off x="457200" y="1554480"/>
            <a:ext cx="3657600" cy="173736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554480"/>
            <a:ext cx="91440" cy="1737360"/>
          </a:xfrm>
          <a:prstGeom prst="rect">
            <a:avLst/>
          </a:prstGeom>
          <a:solidFill>
            <a:srgbClr val="C0392B"/>
          </a:solidFill>
          <a:ln/>
        </p:spPr>
        <p:txBody>
          <a:bodyPr/>
          <a:lstStyle/>
          <a:p>
            <a:endParaRPr lang="en-US"/>
          </a:p>
        </p:txBody>
      </p:sp>
      <p:sp>
        <p:nvSpPr>
          <p:cNvPr id="8" name="Text 6"/>
          <p:cNvSpPr/>
          <p:nvPr/>
        </p:nvSpPr>
        <p:spPr>
          <a:xfrm>
            <a:off x="685800" y="1691640"/>
            <a:ext cx="3291840" cy="274320"/>
          </a:xfrm>
          <a:prstGeom prst="rect">
            <a:avLst/>
          </a:prstGeom>
          <a:noFill/>
          <a:ln/>
        </p:spPr>
        <p:txBody>
          <a:bodyPr wrap="square" lIns="0" tIns="0" rIns="0" bIns="0" rtlCol="0" anchor="ctr"/>
          <a:lstStyle/>
          <a:p>
            <a:pPr marL="0" indent="0">
              <a:buNone/>
            </a:pPr>
            <a:r>
              <a:rPr lang="en-US" sz="1000" b="1" kern="0" spc="400" dirty="0">
                <a:solidFill>
                  <a:srgbClr val="C0392B"/>
                </a:solidFill>
                <a:latin typeface="Calibri" pitchFamily="34" charset="0"/>
                <a:ea typeface="Calibri" pitchFamily="34" charset="-122"/>
                <a:cs typeface="Calibri" pitchFamily="34" charset="-120"/>
              </a:rPr>
              <a:t>PROBLEM</a:t>
            </a:r>
            <a:endParaRPr lang="en-US" sz="1000" dirty="0"/>
          </a:p>
        </p:txBody>
      </p:sp>
      <p:sp>
        <p:nvSpPr>
          <p:cNvPr id="9" name="Text 7"/>
          <p:cNvSpPr/>
          <p:nvPr/>
        </p:nvSpPr>
        <p:spPr>
          <a:xfrm>
            <a:off x="685800" y="1965960"/>
            <a:ext cx="3291840" cy="5943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Analyze All Known Threat Intelligence</a:t>
            </a:r>
            <a:endParaRPr lang="en-US" sz="1400" dirty="0"/>
          </a:p>
        </p:txBody>
      </p:sp>
      <p:sp>
        <p:nvSpPr>
          <p:cNvPr id="10" name="Text 8"/>
          <p:cNvSpPr/>
          <p:nvPr/>
        </p:nvSpPr>
        <p:spPr>
          <a:xfrm>
            <a:off x="685800" y="2606040"/>
            <a:ext cx="3291840" cy="594360"/>
          </a:xfrm>
          <a:prstGeom prst="rect">
            <a:avLst/>
          </a:prstGeom>
          <a:noFill/>
          <a:ln/>
        </p:spPr>
        <p:txBody>
          <a:bodyPr wrap="square" lIns="0" tIns="0" rIns="0" bIns="0" rtlCol="0" anchor="t"/>
          <a:lstStyle/>
          <a:p>
            <a:pPr marL="0" indent="0">
              <a:buNone/>
            </a:pPr>
            <a:r>
              <a:rPr lang="en-US" sz="1100" i="1" dirty="0">
                <a:solidFill>
                  <a:srgbClr val="2D3748"/>
                </a:solidFill>
                <a:latin typeface="Calibri" pitchFamily="34" charset="0"/>
                <a:ea typeface="Calibri" pitchFamily="34" charset="-122"/>
                <a:cs typeface="Calibri" pitchFamily="34" charset="-120"/>
              </a:rPr>
              <a:t>Terabytes of CVE, advisories, CTI, IOCs, IOAs, PSIRTs</a:t>
            </a:r>
            <a:endParaRPr lang="en-US" sz="1100" dirty="0"/>
          </a:p>
        </p:txBody>
      </p:sp>
      <p:sp>
        <p:nvSpPr>
          <p:cNvPr id="11" name="Shape 9"/>
          <p:cNvSpPr/>
          <p:nvPr/>
        </p:nvSpPr>
        <p:spPr>
          <a:xfrm rot="10800000">
            <a:off x="2148840" y="3429000"/>
            <a:ext cx="274320" cy="228600"/>
          </a:xfrm>
          <a:prstGeom prst="rtTriangle">
            <a:avLst/>
          </a:prstGeom>
          <a:solidFill>
            <a:srgbClr val="F26B1F"/>
          </a:solidFill>
          <a:ln/>
        </p:spPr>
        <p:txBody>
          <a:bodyPr/>
          <a:lstStyle/>
          <a:p>
            <a:endParaRPr lang="en-US"/>
          </a:p>
        </p:txBody>
      </p:sp>
      <p:sp>
        <p:nvSpPr>
          <p:cNvPr id="12" name="Shape 10"/>
          <p:cNvSpPr/>
          <p:nvPr/>
        </p:nvSpPr>
        <p:spPr>
          <a:xfrm>
            <a:off x="457200" y="3794760"/>
            <a:ext cx="3657600" cy="2194560"/>
          </a:xfrm>
          <a:prstGeom prst="rect">
            <a:avLst/>
          </a:prstGeom>
          <a:solidFill>
            <a:srgbClr val="F7F8FA"/>
          </a:solidFill>
          <a:ln w="12700">
            <a:solidFill>
              <a:srgbClr val="F26B1F"/>
            </a:solidFill>
            <a:prstDash val="solid"/>
          </a:ln>
        </p:spPr>
        <p:txBody>
          <a:bodyPr/>
          <a:lstStyle/>
          <a:p>
            <a:endParaRPr lang="en-US"/>
          </a:p>
        </p:txBody>
      </p:sp>
      <p:sp>
        <p:nvSpPr>
          <p:cNvPr id="13" name="Shape 11"/>
          <p:cNvSpPr/>
          <p:nvPr/>
        </p:nvSpPr>
        <p:spPr>
          <a:xfrm>
            <a:off x="457200" y="3794760"/>
            <a:ext cx="91440" cy="2194560"/>
          </a:xfrm>
          <a:prstGeom prst="rect">
            <a:avLst/>
          </a:prstGeom>
          <a:solidFill>
            <a:srgbClr val="F26B1F"/>
          </a:solidFill>
          <a:ln/>
        </p:spPr>
        <p:txBody>
          <a:bodyPr/>
          <a:lstStyle/>
          <a:p>
            <a:endParaRPr lang="en-US"/>
          </a:p>
        </p:txBody>
      </p:sp>
      <p:sp>
        <p:nvSpPr>
          <p:cNvPr id="14" name="Text 12"/>
          <p:cNvSpPr/>
          <p:nvPr/>
        </p:nvSpPr>
        <p:spPr>
          <a:xfrm>
            <a:off x="685800" y="3931920"/>
            <a:ext cx="329184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SOLUTION</a:t>
            </a:r>
            <a:endParaRPr lang="en-US" sz="1000" dirty="0"/>
          </a:p>
        </p:txBody>
      </p:sp>
      <p:sp>
        <p:nvSpPr>
          <p:cNvPr id="15" name="Text 13"/>
          <p:cNvSpPr/>
          <p:nvPr/>
        </p:nvSpPr>
        <p:spPr>
          <a:xfrm>
            <a:off x="685800" y="4206240"/>
            <a:ext cx="3291840" cy="4114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Attack Intelligence</a:t>
            </a:r>
            <a:endParaRPr lang="en-US" sz="1400" dirty="0"/>
          </a:p>
        </p:txBody>
      </p:sp>
      <p:sp>
        <p:nvSpPr>
          <p:cNvPr id="16" name="Text 14"/>
          <p:cNvSpPr/>
          <p:nvPr/>
        </p:nvSpPr>
        <p:spPr>
          <a:xfrm>
            <a:off x="685800" y="4663440"/>
            <a:ext cx="3291840" cy="128016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MITRE-enriched attack graphs built by ML/NLP/LLM pipeline. Full TTP coverage of Volt Typhoon (G1017) and Salt Typhoon.</a:t>
            </a:r>
            <a:endParaRPr lang="en-US" sz="1150" dirty="0"/>
          </a:p>
        </p:txBody>
      </p:sp>
      <p:sp>
        <p:nvSpPr>
          <p:cNvPr id="17" name="Shape 15"/>
          <p:cNvSpPr/>
          <p:nvPr/>
        </p:nvSpPr>
        <p:spPr>
          <a:xfrm>
            <a:off x="4389120" y="1554480"/>
            <a:ext cx="3657600" cy="1737360"/>
          </a:xfrm>
          <a:prstGeom prst="rect">
            <a:avLst/>
          </a:prstGeom>
          <a:solidFill>
            <a:srgbClr val="F7F8FA"/>
          </a:solidFill>
          <a:ln w="12700">
            <a:solidFill>
              <a:srgbClr val="E5E9EE"/>
            </a:solidFill>
            <a:prstDash val="solid"/>
          </a:ln>
        </p:spPr>
        <p:txBody>
          <a:bodyPr/>
          <a:lstStyle/>
          <a:p>
            <a:endParaRPr lang="en-US"/>
          </a:p>
        </p:txBody>
      </p:sp>
      <p:sp>
        <p:nvSpPr>
          <p:cNvPr id="18" name="Shape 16"/>
          <p:cNvSpPr/>
          <p:nvPr/>
        </p:nvSpPr>
        <p:spPr>
          <a:xfrm>
            <a:off x="4389120" y="1554480"/>
            <a:ext cx="91440" cy="1737360"/>
          </a:xfrm>
          <a:prstGeom prst="rect">
            <a:avLst/>
          </a:prstGeom>
          <a:solidFill>
            <a:srgbClr val="C0392B"/>
          </a:solidFill>
          <a:ln/>
        </p:spPr>
        <p:txBody>
          <a:bodyPr/>
          <a:lstStyle/>
          <a:p>
            <a:endParaRPr lang="en-US"/>
          </a:p>
        </p:txBody>
      </p:sp>
      <p:sp>
        <p:nvSpPr>
          <p:cNvPr id="19" name="Text 17"/>
          <p:cNvSpPr/>
          <p:nvPr/>
        </p:nvSpPr>
        <p:spPr>
          <a:xfrm>
            <a:off x="4617720" y="1691640"/>
            <a:ext cx="3291840" cy="274320"/>
          </a:xfrm>
          <a:prstGeom prst="rect">
            <a:avLst/>
          </a:prstGeom>
          <a:noFill/>
          <a:ln/>
        </p:spPr>
        <p:txBody>
          <a:bodyPr wrap="square" lIns="0" tIns="0" rIns="0" bIns="0" rtlCol="0" anchor="ctr"/>
          <a:lstStyle/>
          <a:p>
            <a:pPr marL="0" indent="0">
              <a:buNone/>
            </a:pPr>
            <a:r>
              <a:rPr lang="en-US" sz="1000" b="1" kern="0" spc="400" dirty="0">
                <a:solidFill>
                  <a:srgbClr val="C0392B"/>
                </a:solidFill>
                <a:latin typeface="Calibri" pitchFamily="34" charset="0"/>
                <a:ea typeface="Calibri" pitchFamily="34" charset="-122"/>
                <a:cs typeface="Calibri" pitchFamily="34" charset="-120"/>
              </a:rPr>
              <a:t>PROBLEM</a:t>
            </a:r>
            <a:endParaRPr lang="en-US" sz="1000" dirty="0"/>
          </a:p>
        </p:txBody>
      </p:sp>
      <p:sp>
        <p:nvSpPr>
          <p:cNvPr id="20" name="Text 18"/>
          <p:cNvSpPr/>
          <p:nvPr/>
        </p:nvSpPr>
        <p:spPr>
          <a:xfrm>
            <a:off x="4617720" y="1965960"/>
            <a:ext cx="3291840" cy="5943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Identify Every Defensive Control Gap</a:t>
            </a:r>
            <a:endParaRPr lang="en-US" sz="1400" dirty="0"/>
          </a:p>
        </p:txBody>
      </p:sp>
      <p:sp>
        <p:nvSpPr>
          <p:cNvPr id="21" name="Text 19"/>
          <p:cNvSpPr/>
          <p:nvPr/>
        </p:nvSpPr>
        <p:spPr>
          <a:xfrm>
            <a:off x="4617720" y="2606040"/>
            <a:ext cx="3291840" cy="594360"/>
          </a:xfrm>
          <a:prstGeom prst="rect">
            <a:avLst/>
          </a:prstGeom>
          <a:noFill/>
          <a:ln/>
        </p:spPr>
        <p:txBody>
          <a:bodyPr wrap="square" lIns="0" tIns="0" rIns="0" bIns="0" rtlCol="0" anchor="t"/>
          <a:lstStyle/>
          <a:p>
            <a:pPr marL="0" indent="0">
              <a:buNone/>
            </a:pPr>
            <a:r>
              <a:rPr lang="en-US" sz="1100" i="1" dirty="0">
                <a:solidFill>
                  <a:srgbClr val="2D3748"/>
                </a:solidFill>
                <a:latin typeface="Calibri" pitchFamily="34" charset="0"/>
                <a:ea typeface="Calibri" pitchFamily="34" charset="-122"/>
                <a:cs typeface="Calibri" pitchFamily="34" charset="-120"/>
              </a:rPr>
              <a:t>Exponential combination of NGFW, IdP, IPS, SASE, WAF configs</a:t>
            </a:r>
            <a:endParaRPr lang="en-US" sz="1100" dirty="0"/>
          </a:p>
        </p:txBody>
      </p:sp>
      <p:sp>
        <p:nvSpPr>
          <p:cNvPr id="22" name="Shape 20"/>
          <p:cNvSpPr/>
          <p:nvPr/>
        </p:nvSpPr>
        <p:spPr>
          <a:xfrm rot="10800000">
            <a:off x="6080760" y="3429000"/>
            <a:ext cx="274320" cy="228600"/>
          </a:xfrm>
          <a:prstGeom prst="rtTriangle">
            <a:avLst/>
          </a:prstGeom>
          <a:solidFill>
            <a:srgbClr val="F26B1F"/>
          </a:solidFill>
          <a:ln/>
        </p:spPr>
        <p:txBody>
          <a:bodyPr/>
          <a:lstStyle/>
          <a:p>
            <a:endParaRPr lang="en-US"/>
          </a:p>
        </p:txBody>
      </p:sp>
      <p:sp>
        <p:nvSpPr>
          <p:cNvPr id="23" name="Shape 21"/>
          <p:cNvSpPr/>
          <p:nvPr/>
        </p:nvSpPr>
        <p:spPr>
          <a:xfrm>
            <a:off x="4389120" y="3794760"/>
            <a:ext cx="3657600" cy="2194560"/>
          </a:xfrm>
          <a:prstGeom prst="rect">
            <a:avLst/>
          </a:prstGeom>
          <a:solidFill>
            <a:srgbClr val="F7F8FA"/>
          </a:solidFill>
          <a:ln w="12700">
            <a:solidFill>
              <a:srgbClr val="F26B1F"/>
            </a:solidFill>
            <a:prstDash val="solid"/>
          </a:ln>
        </p:spPr>
        <p:txBody>
          <a:bodyPr/>
          <a:lstStyle/>
          <a:p>
            <a:endParaRPr lang="en-US"/>
          </a:p>
        </p:txBody>
      </p:sp>
      <p:sp>
        <p:nvSpPr>
          <p:cNvPr id="24" name="Shape 22"/>
          <p:cNvSpPr/>
          <p:nvPr/>
        </p:nvSpPr>
        <p:spPr>
          <a:xfrm>
            <a:off x="4389120" y="3794760"/>
            <a:ext cx="91440" cy="2194560"/>
          </a:xfrm>
          <a:prstGeom prst="rect">
            <a:avLst/>
          </a:prstGeom>
          <a:solidFill>
            <a:srgbClr val="F26B1F"/>
          </a:solidFill>
          <a:ln/>
        </p:spPr>
        <p:txBody>
          <a:bodyPr/>
          <a:lstStyle/>
          <a:p>
            <a:endParaRPr lang="en-US"/>
          </a:p>
        </p:txBody>
      </p:sp>
      <p:sp>
        <p:nvSpPr>
          <p:cNvPr id="25" name="Text 23"/>
          <p:cNvSpPr/>
          <p:nvPr/>
        </p:nvSpPr>
        <p:spPr>
          <a:xfrm>
            <a:off x="4617720" y="3931920"/>
            <a:ext cx="329184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SOLUTION</a:t>
            </a:r>
            <a:endParaRPr lang="en-US" sz="1000" dirty="0"/>
          </a:p>
        </p:txBody>
      </p:sp>
      <p:sp>
        <p:nvSpPr>
          <p:cNvPr id="26" name="Text 24"/>
          <p:cNvSpPr/>
          <p:nvPr/>
        </p:nvSpPr>
        <p:spPr>
          <a:xfrm>
            <a:off x="4617720" y="4206240"/>
            <a:ext cx="3291840" cy="4114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Defense Intelligence</a:t>
            </a:r>
            <a:endParaRPr lang="en-US" sz="1400" dirty="0"/>
          </a:p>
        </p:txBody>
      </p:sp>
      <p:sp>
        <p:nvSpPr>
          <p:cNvPr id="27" name="Text 25"/>
          <p:cNvSpPr/>
          <p:nvPr/>
        </p:nvSpPr>
        <p:spPr>
          <a:xfrm>
            <a:off x="4617720" y="4663440"/>
            <a:ext cx="3291840" cy="128016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Symbolic Model of Computation. Formal mathematical model — exhaustively reasons over the 2^8000 state space. No sampling.</a:t>
            </a:r>
            <a:endParaRPr lang="en-US" sz="1150" dirty="0"/>
          </a:p>
        </p:txBody>
      </p:sp>
      <p:sp>
        <p:nvSpPr>
          <p:cNvPr id="28" name="Shape 26"/>
          <p:cNvSpPr/>
          <p:nvPr/>
        </p:nvSpPr>
        <p:spPr>
          <a:xfrm>
            <a:off x="8321040" y="1554480"/>
            <a:ext cx="3657600" cy="1737360"/>
          </a:xfrm>
          <a:prstGeom prst="rect">
            <a:avLst/>
          </a:prstGeom>
          <a:solidFill>
            <a:srgbClr val="F7F8FA"/>
          </a:solidFill>
          <a:ln w="12700">
            <a:solidFill>
              <a:srgbClr val="E5E9EE"/>
            </a:solidFill>
            <a:prstDash val="solid"/>
          </a:ln>
        </p:spPr>
        <p:txBody>
          <a:bodyPr/>
          <a:lstStyle/>
          <a:p>
            <a:endParaRPr lang="en-US"/>
          </a:p>
        </p:txBody>
      </p:sp>
      <p:sp>
        <p:nvSpPr>
          <p:cNvPr id="29" name="Shape 27"/>
          <p:cNvSpPr/>
          <p:nvPr/>
        </p:nvSpPr>
        <p:spPr>
          <a:xfrm>
            <a:off x="8321040" y="1554480"/>
            <a:ext cx="91440" cy="1737360"/>
          </a:xfrm>
          <a:prstGeom prst="rect">
            <a:avLst/>
          </a:prstGeom>
          <a:solidFill>
            <a:srgbClr val="C0392B"/>
          </a:solidFill>
          <a:ln/>
        </p:spPr>
        <p:txBody>
          <a:bodyPr/>
          <a:lstStyle/>
          <a:p>
            <a:endParaRPr lang="en-US"/>
          </a:p>
        </p:txBody>
      </p:sp>
      <p:sp>
        <p:nvSpPr>
          <p:cNvPr id="30" name="Text 28"/>
          <p:cNvSpPr/>
          <p:nvPr/>
        </p:nvSpPr>
        <p:spPr>
          <a:xfrm>
            <a:off x="8549640" y="1691640"/>
            <a:ext cx="3291840" cy="274320"/>
          </a:xfrm>
          <a:prstGeom prst="rect">
            <a:avLst/>
          </a:prstGeom>
          <a:noFill/>
          <a:ln/>
        </p:spPr>
        <p:txBody>
          <a:bodyPr wrap="square" lIns="0" tIns="0" rIns="0" bIns="0" rtlCol="0" anchor="ctr"/>
          <a:lstStyle/>
          <a:p>
            <a:pPr marL="0" indent="0">
              <a:buNone/>
            </a:pPr>
            <a:r>
              <a:rPr lang="en-US" sz="1000" b="1" kern="0" spc="400" dirty="0">
                <a:solidFill>
                  <a:srgbClr val="C0392B"/>
                </a:solidFill>
                <a:latin typeface="Calibri" pitchFamily="34" charset="0"/>
                <a:ea typeface="Calibri" pitchFamily="34" charset="-122"/>
                <a:cs typeface="Calibri" pitchFamily="34" charset="-120"/>
              </a:rPr>
              <a:t>PROBLEM</a:t>
            </a:r>
            <a:endParaRPr lang="en-US" sz="1000" dirty="0"/>
          </a:p>
        </p:txBody>
      </p:sp>
      <p:sp>
        <p:nvSpPr>
          <p:cNvPr id="31" name="Text 29"/>
          <p:cNvSpPr/>
          <p:nvPr/>
        </p:nvSpPr>
        <p:spPr>
          <a:xfrm>
            <a:off x="8549640" y="1965960"/>
            <a:ext cx="3291840" cy="5943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Prescribe Correct Configurations</a:t>
            </a:r>
            <a:endParaRPr lang="en-US" sz="1400" dirty="0"/>
          </a:p>
        </p:txBody>
      </p:sp>
      <p:sp>
        <p:nvSpPr>
          <p:cNvPr id="32" name="Text 30"/>
          <p:cNvSpPr/>
          <p:nvPr/>
        </p:nvSpPr>
        <p:spPr>
          <a:xfrm>
            <a:off x="8549640" y="2606040"/>
            <a:ext cx="3291840" cy="594360"/>
          </a:xfrm>
          <a:prstGeom prst="rect">
            <a:avLst/>
          </a:prstGeom>
          <a:noFill/>
          <a:ln/>
        </p:spPr>
        <p:txBody>
          <a:bodyPr wrap="square" lIns="0" tIns="0" rIns="0" bIns="0" rtlCol="0" anchor="t"/>
          <a:lstStyle/>
          <a:p>
            <a:pPr marL="0" indent="0">
              <a:buNone/>
            </a:pPr>
            <a:r>
              <a:rPr lang="en-US" sz="1100" i="1" dirty="0">
                <a:solidFill>
                  <a:srgbClr val="2D3748"/>
                </a:solidFill>
                <a:latin typeface="Calibri" pitchFamily="34" charset="0"/>
                <a:ea typeface="Calibri" pitchFamily="34" charset="-122"/>
                <a:cs typeface="Calibri" pitchFamily="34" charset="-120"/>
              </a:rPr>
              <a:t>Without creating new errors or business disruption</a:t>
            </a:r>
            <a:endParaRPr lang="en-US" sz="1100" dirty="0"/>
          </a:p>
        </p:txBody>
      </p:sp>
      <p:sp>
        <p:nvSpPr>
          <p:cNvPr id="33" name="Shape 31"/>
          <p:cNvSpPr/>
          <p:nvPr/>
        </p:nvSpPr>
        <p:spPr>
          <a:xfrm rot="10800000">
            <a:off x="10012680" y="3429000"/>
            <a:ext cx="274320" cy="228600"/>
          </a:xfrm>
          <a:prstGeom prst="rtTriangle">
            <a:avLst/>
          </a:prstGeom>
          <a:solidFill>
            <a:srgbClr val="F26B1F"/>
          </a:solidFill>
          <a:ln/>
        </p:spPr>
        <p:txBody>
          <a:bodyPr/>
          <a:lstStyle/>
          <a:p>
            <a:endParaRPr lang="en-US"/>
          </a:p>
        </p:txBody>
      </p:sp>
      <p:sp>
        <p:nvSpPr>
          <p:cNvPr id="34" name="Shape 32"/>
          <p:cNvSpPr/>
          <p:nvPr/>
        </p:nvSpPr>
        <p:spPr>
          <a:xfrm>
            <a:off x="8321040" y="3794760"/>
            <a:ext cx="3657600" cy="2194560"/>
          </a:xfrm>
          <a:prstGeom prst="rect">
            <a:avLst/>
          </a:prstGeom>
          <a:solidFill>
            <a:srgbClr val="F7F8FA"/>
          </a:solidFill>
          <a:ln w="12700">
            <a:solidFill>
              <a:srgbClr val="F26B1F"/>
            </a:solidFill>
            <a:prstDash val="solid"/>
          </a:ln>
        </p:spPr>
        <p:txBody>
          <a:bodyPr/>
          <a:lstStyle/>
          <a:p>
            <a:endParaRPr lang="en-US"/>
          </a:p>
        </p:txBody>
      </p:sp>
      <p:sp>
        <p:nvSpPr>
          <p:cNvPr id="35" name="Shape 33"/>
          <p:cNvSpPr/>
          <p:nvPr/>
        </p:nvSpPr>
        <p:spPr>
          <a:xfrm>
            <a:off x="8321040" y="3794760"/>
            <a:ext cx="91440" cy="2194560"/>
          </a:xfrm>
          <a:prstGeom prst="rect">
            <a:avLst/>
          </a:prstGeom>
          <a:solidFill>
            <a:srgbClr val="F26B1F"/>
          </a:solidFill>
          <a:ln/>
        </p:spPr>
        <p:txBody>
          <a:bodyPr/>
          <a:lstStyle/>
          <a:p>
            <a:endParaRPr lang="en-US"/>
          </a:p>
        </p:txBody>
      </p:sp>
      <p:sp>
        <p:nvSpPr>
          <p:cNvPr id="36" name="Text 34"/>
          <p:cNvSpPr/>
          <p:nvPr/>
        </p:nvSpPr>
        <p:spPr>
          <a:xfrm>
            <a:off x="8549640" y="3931920"/>
            <a:ext cx="329184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SOLUTION</a:t>
            </a:r>
            <a:endParaRPr lang="en-US" sz="1000" dirty="0"/>
          </a:p>
        </p:txBody>
      </p:sp>
      <p:sp>
        <p:nvSpPr>
          <p:cNvPr id="37" name="Text 35"/>
          <p:cNvSpPr/>
          <p:nvPr/>
        </p:nvSpPr>
        <p:spPr>
          <a:xfrm>
            <a:off x="8549640" y="4206240"/>
            <a:ext cx="3291840" cy="41148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Remediation Intelligence</a:t>
            </a:r>
            <a:endParaRPr lang="en-US" sz="1400" dirty="0"/>
          </a:p>
        </p:txBody>
      </p:sp>
      <p:sp>
        <p:nvSpPr>
          <p:cNvPr id="38" name="Text 36"/>
          <p:cNvSpPr/>
          <p:nvPr/>
        </p:nvSpPr>
        <p:spPr>
          <a:xfrm>
            <a:off x="8549640" y="4663440"/>
            <a:ext cx="3291840" cy="128016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Grounded agentic-AI reasoners. Risk-prioritized, vendor-specific fixes. No false positives. No false negatives.</a:t>
            </a:r>
            <a:endParaRPr lang="en-US" sz="1150" dirty="0"/>
          </a:p>
        </p:txBody>
      </p:sp>
      <p:sp>
        <p:nvSpPr>
          <p:cNvPr id="39" name="Shape 37"/>
          <p:cNvSpPr/>
          <p:nvPr/>
        </p:nvSpPr>
        <p:spPr>
          <a:xfrm>
            <a:off x="457200" y="6172200"/>
            <a:ext cx="11247120" cy="457200"/>
          </a:xfrm>
          <a:prstGeom prst="rect">
            <a:avLst/>
          </a:prstGeom>
          <a:solidFill>
            <a:srgbClr val="0B1F3A"/>
          </a:solidFill>
          <a:ln/>
        </p:spPr>
        <p:txBody>
          <a:bodyPr/>
          <a:lstStyle/>
          <a:p>
            <a:endParaRPr lang="en-US"/>
          </a:p>
        </p:txBody>
      </p:sp>
      <p:sp>
        <p:nvSpPr>
          <p:cNvPr id="40" name="Text 38"/>
          <p:cNvSpPr/>
          <p:nvPr/>
        </p:nvSpPr>
        <p:spPr>
          <a:xfrm>
            <a:off x="640080" y="6172200"/>
            <a:ext cx="10972800" cy="45720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The world's first Mathematically Rigorous — Complete, Preemptive, Continuous, Verifiable — Cyber Defense Management Platform.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Preemptive —  OPERATIONAL FLOW</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How RigorOS Operates: Inputs → Reasoning → Continuous Remediation</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SaaS, on-prem, and air-gapped deployments. Integrates with ServiceNow, JIRA, and major SOC ticketing.</a:t>
            </a:r>
            <a:endParaRPr lang="en-US" sz="1200" dirty="0"/>
          </a:p>
        </p:txBody>
      </p:sp>
      <p:sp>
        <p:nvSpPr>
          <p:cNvPr id="6" name="Shape 4"/>
          <p:cNvSpPr/>
          <p:nvPr/>
        </p:nvSpPr>
        <p:spPr>
          <a:xfrm>
            <a:off x="457200" y="1508760"/>
            <a:ext cx="2377440" cy="484632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508760"/>
            <a:ext cx="2377440" cy="457200"/>
          </a:xfrm>
          <a:prstGeom prst="rect">
            <a:avLst/>
          </a:prstGeom>
          <a:solidFill>
            <a:srgbClr val="2D3748"/>
          </a:solidFill>
          <a:ln/>
        </p:spPr>
        <p:txBody>
          <a:bodyPr/>
          <a:lstStyle/>
          <a:p>
            <a:endParaRPr lang="en-US"/>
          </a:p>
        </p:txBody>
      </p:sp>
      <p:sp>
        <p:nvSpPr>
          <p:cNvPr id="8" name="Text 6"/>
          <p:cNvSpPr/>
          <p:nvPr/>
        </p:nvSpPr>
        <p:spPr>
          <a:xfrm>
            <a:off x="457200" y="1508760"/>
            <a:ext cx="2377440" cy="45720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INPUTS</a:t>
            </a:r>
            <a:endParaRPr lang="en-US" sz="1200" dirty="0"/>
          </a:p>
        </p:txBody>
      </p:sp>
      <p:sp>
        <p:nvSpPr>
          <p:cNvPr id="9" name="Text 7"/>
          <p:cNvSpPr/>
          <p:nvPr/>
        </p:nvSpPr>
        <p:spPr>
          <a:xfrm>
            <a:off x="594360" y="2103120"/>
            <a:ext cx="2194560" cy="274320"/>
          </a:xfrm>
          <a:prstGeom prst="rect">
            <a:avLst/>
          </a:prstGeom>
          <a:noFill/>
          <a:ln/>
        </p:spPr>
        <p:txBody>
          <a:bodyPr wrap="square" lIns="0" tIns="0" rIns="0" bIns="0" rtlCol="0" anchor="ctr"/>
          <a:lstStyle/>
          <a:p>
            <a:pPr marL="0" indent="0">
              <a:buNone/>
            </a:pPr>
            <a:r>
              <a:rPr lang="en-US" sz="1100" b="1" dirty="0">
                <a:solidFill>
                  <a:srgbClr val="F26B1F"/>
                </a:solidFill>
                <a:latin typeface="Calibri" pitchFamily="34" charset="0"/>
                <a:ea typeface="Calibri" pitchFamily="34" charset="-122"/>
                <a:cs typeface="Calibri" pitchFamily="34" charset="-120"/>
              </a:rPr>
              <a:t>Threat Intelligence</a:t>
            </a:r>
            <a:endParaRPr lang="en-US" sz="1100" dirty="0"/>
          </a:p>
        </p:txBody>
      </p:sp>
      <p:sp>
        <p:nvSpPr>
          <p:cNvPr id="10" name="Text 8"/>
          <p:cNvSpPr/>
          <p:nvPr/>
        </p:nvSpPr>
        <p:spPr>
          <a:xfrm>
            <a:off x="594360" y="2377440"/>
            <a:ext cx="2194560" cy="64008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CVE, advisories, CTI,</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IOCs, IOAs, PSIRTs</a:t>
            </a:r>
            <a:endParaRPr lang="en-US" sz="1000" dirty="0"/>
          </a:p>
        </p:txBody>
      </p:sp>
      <p:sp>
        <p:nvSpPr>
          <p:cNvPr id="11" name="Text 9"/>
          <p:cNvSpPr/>
          <p:nvPr/>
        </p:nvSpPr>
        <p:spPr>
          <a:xfrm>
            <a:off x="594360" y="3246120"/>
            <a:ext cx="2194560" cy="274320"/>
          </a:xfrm>
          <a:prstGeom prst="rect">
            <a:avLst/>
          </a:prstGeom>
          <a:noFill/>
          <a:ln/>
        </p:spPr>
        <p:txBody>
          <a:bodyPr wrap="square" lIns="0" tIns="0" rIns="0" bIns="0" rtlCol="0" anchor="ctr"/>
          <a:lstStyle/>
          <a:p>
            <a:pPr marL="0" indent="0">
              <a:buNone/>
            </a:pPr>
            <a:r>
              <a:rPr lang="en-US" sz="1100" b="1" dirty="0">
                <a:solidFill>
                  <a:srgbClr val="F26B1F"/>
                </a:solidFill>
                <a:latin typeface="Calibri" pitchFamily="34" charset="0"/>
                <a:ea typeface="Calibri" pitchFamily="34" charset="-122"/>
                <a:cs typeface="Calibri" pitchFamily="34" charset="-120"/>
              </a:rPr>
              <a:t>Tech Controls Config</a:t>
            </a:r>
            <a:endParaRPr lang="en-US" sz="1100" dirty="0"/>
          </a:p>
        </p:txBody>
      </p:sp>
      <p:sp>
        <p:nvSpPr>
          <p:cNvPr id="12" name="Text 10"/>
          <p:cNvSpPr/>
          <p:nvPr/>
        </p:nvSpPr>
        <p:spPr>
          <a:xfrm>
            <a:off x="594360" y="3520440"/>
            <a:ext cx="2194560" cy="64008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NGFW, IdP, IAM, IPS,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EPP, SASE, WAF rules</a:t>
            </a:r>
            <a:endParaRPr lang="en-US" sz="1000" dirty="0"/>
          </a:p>
        </p:txBody>
      </p:sp>
      <p:sp>
        <p:nvSpPr>
          <p:cNvPr id="13" name="Text 11"/>
          <p:cNvSpPr/>
          <p:nvPr/>
        </p:nvSpPr>
        <p:spPr>
          <a:xfrm>
            <a:off x="594360" y="4389120"/>
            <a:ext cx="2194560" cy="274320"/>
          </a:xfrm>
          <a:prstGeom prst="rect">
            <a:avLst/>
          </a:prstGeom>
          <a:noFill/>
          <a:ln/>
        </p:spPr>
        <p:txBody>
          <a:bodyPr wrap="square" lIns="0" tIns="0" rIns="0" bIns="0" rtlCol="0" anchor="ctr"/>
          <a:lstStyle/>
          <a:p>
            <a:pPr marL="0" indent="0">
              <a:buNone/>
            </a:pPr>
            <a:r>
              <a:rPr lang="en-US" sz="1100" b="1" dirty="0">
                <a:solidFill>
                  <a:srgbClr val="F26B1F"/>
                </a:solidFill>
                <a:latin typeface="Calibri" pitchFamily="34" charset="0"/>
                <a:ea typeface="Calibri" pitchFamily="34" charset="-122"/>
                <a:cs typeface="Calibri" pitchFamily="34" charset="-120"/>
              </a:rPr>
              <a:t>Grounded World Models</a:t>
            </a:r>
            <a:endParaRPr lang="en-US" sz="1100" dirty="0"/>
          </a:p>
        </p:txBody>
      </p:sp>
      <p:sp>
        <p:nvSpPr>
          <p:cNvPr id="14" name="Text 12"/>
          <p:cNvSpPr/>
          <p:nvPr/>
        </p:nvSpPr>
        <p:spPr>
          <a:xfrm>
            <a:off x="594360" y="4663440"/>
            <a:ext cx="2194560" cy="64008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Vendor capabilities,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MITRE ATT&amp;CK / D3FEND</a:t>
            </a:r>
            <a:endParaRPr lang="en-US" sz="1000" dirty="0"/>
          </a:p>
        </p:txBody>
      </p:sp>
      <p:sp>
        <p:nvSpPr>
          <p:cNvPr id="15" name="Shape 13"/>
          <p:cNvSpPr/>
          <p:nvPr/>
        </p:nvSpPr>
        <p:spPr>
          <a:xfrm rot="5400000">
            <a:off x="2926080" y="3794760"/>
            <a:ext cx="274320" cy="274320"/>
          </a:xfrm>
          <a:prstGeom prst="rtTriangle">
            <a:avLst/>
          </a:prstGeom>
          <a:solidFill>
            <a:srgbClr val="F26B1F"/>
          </a:solidFill>
          <a:ln/>
        </p:spPr>
        <p:txBody>
          <a:bodyPr/>
          <a:lstStyle/>
          <a:p>
            <a:endParaRPr lang="en-US"/>
          </a:p>
        </p:txBody>
      </p:sp>
      <p:sp>
        <p:nvSpPr>
          <p:cNvPr id="16" name="Shape 14"/>
          <p:cNvSpPr/>
          <p:nvPr/>
        </p:nvSpPr>
        <p:spPr>
          <a:xfrm>
            <a:off x="3337560" y="1508760"/>
            <a:ext cx="3749040" cy="4846320"/>
          </a:xfrm>
          <a:prstGeom prst="rect">
            <a:avLst/>
          </a:prstGeom>
          <a:solidFill>
            <a:srgbClr val="FDE5D4"/>
          </a:solidFill>
          <a:ln w="25400">
            <a:solidFill>
              <a:srgbClr val="F26B1F"/>
            </a:solidFill>
            <a:prstDash val="solid"/>
          </a:ln>
        </p:spPr>
        <p:txBody>
          <a:bodyPr/>
          <a:lstStyle/>
          <a:p>
            <a:endParaRPr lang="en-US"/>
          </a:p>
        </p:txBody>
      </p:sp>
      <p:sp>
        <p:nvSpPr>
          <p:cNvPr id="17" name="Shape 15"/>
          <p:cNvSpPr/>
          <p:nvPr/>
        </p:nvSpPr>
        <p:spPr>
          <a:xfrm>
            <a:off x="3337560" y="1508760"/>
            <a:ext cx="3749040" cy="457200"/>
          </a:xfrm>
          <a:prstGeom prst="rect">
            <a:avLst/>
          </a:prstGeom>
          <a:solidFill>
            <a:srgbClr val="F26B1F"/>
          </a:solidFill>
          <a:ln/>
        </p:spPr>
        <p:txBody>
          <a:bodyPr/>
          <a:lstStyle/>
          <a:p>
            <a:endParaRPr lang="en-US"/>
          </a:p>
        </p:txBody>
      </p:sp>
      <p:sp>
        <p:nvSpPr>
          <p:cNvPr id="18" name="Text 16"/>
          <p:cNvSpPr/>
          <p:nvPr/>
        </p:nvSpPr>
        <p:spPr>
          <a:xfrm>
            <a:off x="3337560" y="1508760"/>
            <a:ext cx="3749040" cy="45720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RIGOR ENGINE</a:t>
            </a:r>
            <a:endParaRPr lang="en-US" sz="1200" dirty="0"/>
          </a:p>
        </p:txBody>
      </p:sp>
      <p:sp>
        <p:nvSpPr>
          <p:cNvPr id="19" name="Shape 17"/>
          <p:cNvSpPr/>
          <p:nvPr/>
        </p:nvSpPr>
        <p:spPr>
          <a:xfrm>
            <a:off x="3520440" y="2148840"/>
            <a:ext cx="3383280" cy="1325880"/>
          </a:xfrm>
          <a:prstGeom prst="rect">
            <a:avLst/>
          </a:prstGeom>
          <a:solidFill>
            <a:srgbClr val="FFFFFF"/>
          </a:solidFill>
          <a:ln w="9525">
            <a:solidFill>
              <a:srgbClr val="F26B1F"/>
            </a:solidFill>
            <a:prstDash val="solid"/>
          </a:ln>
        </p:spPr>
        <p:txBody>
          <a:bodyPr/>
          <a:lstStyle/>
          <a:p>
            <a:endParaRPr lang="en-US"/>
          </a:p>
        </p:txBody>
      </p:sp>
      <p:sp>
        <p:nvSpPr>
          <p:cNvPr id="20" name="Text 18"/>
          <p:cNvSpPr/>
          <p:nvPr/>
        </p:nvSpPr>
        <p:spPr>
          <a:xfrm>
            <a:off x="3611880" y="2194560"/>
            <a:ext cx="3200400" cy="32004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1. Identify Risk-Prioritized Control Gaps</a:t>
            </a:r>
            <a:endParaRPr lang="en-US" sz="1100" dirty="0"/>
          </a:p>
        </p:txBody>
      </p:sp>
      <p:sp>
        <p:nvSpPr>
          <p:cNvPr id="21" name="Text 19"/>
          <p:cNvSpPr/>
          <p:nvPr/>
        </p:nvSpPr>
        <p:spPr>
          <a:xfrm>
            <a:off x="3611880" y="2514600"/>
            <a:ext cx="3200400" cy="9144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Three pre-built tech pillars: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Model attacks from threat intel</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Model customer cyber defenses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Reason about control gaps</a:t>
            </a:r>
            <a:endParaRPr lang="en-US" sz="1000" dirty="0"/>
          </a:p>
        </p:txBody>
      </p:sp>
      <p:sp>
        <p:nvSpPr>
          <p:cNvPr id="22" name="Shape 20"/>
          <p:cNvSpPr/>
          <p:nvPr/>
        </p:nvSpPr>
        <p:spPr>
          <a:xfrm>
            <a:off x="3520440" y="3611880"/>
            <a:ext cx="3383280" cy="1325880"/>
          </a:xfrm>
          <a:prstGeom prst="rect">
            <a:avLst/>
          </a:prstGeom>
          <a:solidFill>
            <a:srgbClr val="FFFFFF"/>
          </a:solidFill>
          <a:ln w="9525">
            <a:solidFill>
              <a:srgbClr val="F26B1F"/>
            </a:solidFill>
            <a:prstDash val="solid"/>
          </a:ln>
        </p:spPr>
        <p:txBody>
          <a:bodyPr/>
          <a:lstStyle/>
          <a:p>
            <a:endParaRPr lang="en-US"/>
          </a:p>
        </p:txBody>
      </p:sp>
      <p:sp>
        <p:nvSpPr>
          <p:cNvPr id="23" name="Text 21"/>
          <p:cNvSpPr/>
          <p:nvPr/>
        </p:nvSpPr>
        <p:spPr>
          <a:xfrm>
            <a:off x="3611880" y="3657600"/>
            <a:ext cx="3200400" cy="32004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2. Generate Remediations</a:t>
            </a:r>
            <a:endParaRPr lang="en-US" sz="1100" dirty="0"/>
          </a:p>
        </p:txBody>
      </p:sp>
      <p:sp>
        <p:nvSpPr>
          <p:cNvPr id="24" name="Text 22"/>
          <p:cNvSpPr/>
          <p:nvPr/>
        </p:nvSpPr>
        <p:spPr>
          <a:xfrm>
            <a:off x="3611880" y="3977640"/>
            <a:ext cx="3200400" cy="9144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 Risk-prioritized fixes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Vendor-specific playbooks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Alerts to SOC + Control Admin</a:t>
            </a:r>
            <a:endParaRPr lang="en-US" sz="1000" dirty="0"/>
          </a:p>
        </p:txBody>
      </p:sp>
      <p:sp>
        <p:nvSpPr>
          <p:cNvPr id="25" name="Shape 23"/>
          <p:cNvSpPr/>
          <p:nvPr/>
        </p:nvSpPr>
        <p:spPr>
          <a:xfrm>
            <a:off x="3520440" y="4892040"/>
            <a:ext cx="3383280" cy="1325880"/>
          </a:xfrm>
          <a:prstGeom prst="rect">
            <a:avLst/>
          </a:prstGeom>
          <a:solidFill>
            <a:srgbClr val="FFFFFF"/>
          </a:solidFill>
          <a:ln w="9525">
            <a:solidFill>
              <a:srgbClr val="F26B1F"/>
            </a:solidFill>
            <a:prstDash val="solid"/>
          </a:ln>
        </p:spPr>
        <p:txBody>
          <a:bodyPr/>
          <a:lstStyle/>
          <a:p>
            <a:endParaRPr lang="en-US"/>
          </a:p>
        </p:txBody>
      </p:sp>
      <p:sp>
        <p:nvSpPr>
          <p:cNvPr id="26" name="Text 24"/>
          <p:cNvSpPr/>
          <p:nvPr/>
        </p:nvSpPr>
        <p:spPr>
          <a:xfrm>
            <a:off x="3611880" y="4937760"/>
            <a:ext cx="3200400" cy="32004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3. Fix Control Gaps</a:t>
            </a:r>
            <a:endParaRPr lang="en-US" sz="1100" dirty="0"/>
          </a:p>
        </p:txBody>
      </p:sp>
      <p:sp>
        <p:nvSpPr>
          <p:cNvPr id="27" name="Text 25"/>
          <p:cNvSpPr/>
          <p:nvPr/>
        </p:nvSpPr>
        <p:spPr>
          <a:xfrm>
            <a:off x="3611880" y="5257800"/>
            <a:ext cx="3200400" cy="9144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 Apply remediations (optional)</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Validate remediations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Re-verify continuously</a:t>
            </a:r>
            <a:endParaRPr lang="en-US" sz="1000" dirty="0"/>
          </a:p>
        </p:txBody>
      </p:sp>
      <p:sp>
        <p:nvSpPr>
          <p:cNvPr id="28" name="Shape 26"/>
          <p:cNvSpPr/>
          <p:nvPr/>
        </p:nvSpPr>
        <p:spPr>
          <a:xfrm rot="5400000">
            <a:off x="7178040" y="3794760"/>
            <a:ext cx="274320" cy="274320"/>
          </a:xfrm>
          <a:prstGeom prst="rtTriangle">
            <a:avLst/>
          </a:prstGeom>
          <a:solidFill>
            <a:srgbClr val="F26B1F"/>
          </a:solidFill>
          <a:ln/>
        </p:spPr>
        <p:txBody>
          <a:bodyPr/>
          <a:lstStyle/>
          <a:p>
            <a:endParaRPr lang="en-US"/>
          </a:p>
        </p:txBody>
      </p:sp>
      <p:sp>
        <p:nvSpPr>
          <p:cNvPr id="29" name="Shape 27"/>
          <p:cNvSpPr/>
          <p:nvPr/>
        </p:nvSpPr>
        <p:spPr>
          <a:xfrm>
            <a:off x="7589520" y="1508760"/>
            <a:ext cx="4114800" cy="4846320"/>
          </a:xfrm>
          <a:prstGeom prst="rect">
            <a:avLst/>
          </a:prstGeom>
          <a:solidFill>
            <a:srgbClr val="F7F8FA"/>
          </a:solidFill>
          <a:ln w="12700">
            <a:solidFill>
              <a:srgbClr val="E5E9EE"/>
            </a:solidFill>
            <a:prstDash val="solid"/>
          </a:ln>
        </p:spPr>
        <p:txBody>
          <a:bodyPr/>
          <a:lstStyle/>
          <a:p>
            <a:endParaRPr lang="en-US"/>
          </a:p>
        </p:txBody>
      </p:sp>
      <p:sp>
        <p:nvSpPr>
          <p:cNvPr id="30" name="Shape 28"/>
          <p:cNvSpPr/>
          <p:nvPr/>
        </p:nvSpPr>
        <p:spPr>
          <a:xfrm>
            <a:off x="7589520" y="1508760"/>
            <a:ext cx="4114800" cy="457200"/>
          </a:xfrm>
          <a:prstGeom prst="rect">
            <a:avLst/>
          </a:prstGeom>
          <a:solidFill>
            <a:srgbClr val="0B1F3A"/>
          </a:solidFill>
          <a:ln/>
        </p:spPr>
        <p:txBody>
          <a:bodyPr/>
          <a:lstStyle/>
          <a:p>
            <a:endParaRPr lang="en-US"/>
          </a:p>
        </p:txBody>
      </p:sp>
      <p:sp>
        <p:nvSpPr>
          <p:cNvPr id="31" name="Text 29"/>
          <p:cNvSpPr/>
          <p:nvPr/>
        </p:nvSpPr>
        <p:spPr>
          <a:xfrm>
            <a:off x="7589520" y="1508760"/>
            <a:ext cx="411480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CONTINUOUS PREEMPTIVE ASSURANCE</a:t>
            </a:r>
            <a:endParaRPr lang="en-US" sz="1100" dirty="0"/>
          </a:p>
        </p:txBody>
      </p:sp>
      <p:sp>
        <p:nvSpPr>
          <p:cNvPr id="32" name="Text 30"/>
          <p:cNvSpPr/>
          <p:nvPr/>
        </p:nvSpPr>
        <p:spPr>
          <a:xfrm>
            <a:off x="7772400" y="2103120"/>
            <a:ext cx="3749040" cy="274320"/>
          </a:xfrm>
          <a:prstGeom prst="rect">
            <a:avLst/>
          </a:prstGeom>
          <a:noFill/>
          <a:ln/>
        </p:spPr>
        <p:txBody>
          <a:bodyPr wrap="square" lIns="0" tIns="0" rIns="0" bIns="0" rtlCol="0" anchor="ctr"/>
          <a:lstStyle/>
          <a:p>
            <a:pPr marL="0" indent="0">
              <a:buNone/>
            </a:pPr>
            <a:r>
              <a:rPr lang="en-US" sz="1200" b="1" dirty="0">
                <a:solidFill>
                  <a:srgbClr val="F26B1F"/>
                </a:solidFill>
                <a:latin typeface="Calibri" pitchFamily="34" charset="0"/>
                <a:ea typeface="Calibri" pitchFamily="34" charset="-122"/>
                <a:cs typeface="Calibri" pitchFamily="34" charset="-120"/>
              </a:rPr>
              <a:t>Findings Review</a:t>
            </a:r>
            <a:endParaRPr lang="en-US" sz="1200" dirty="0"/>
          </a:p>
        </p:txBody>
      </p:sp>
      <p:sp>
        <p:nvSpPr>
          <p:cNvPr id="33" name="Text 31"/>
          <p:cNvSpPr/>
          <p:nvPr/>
        </p:nvSpPr>
        <p:spPr>
          <a:xfrm>
            <a:off x="7772400" y="2423160"/>
            <a:ext cx="374904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Risk-prioritized control gap findings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Vendor-specific remediation playbooks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Mathematical proof — no false positives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Mathematical proof — no false negatives</a:t>
            </a:r>
            <a:endParaRPr lang="en-US" sz="1050" dirty="0"/>
          </a:p>
        </p:txBody>
      </p:sp>
      <p:sp>
        <p:nvSpPr>
          <p:cNvPr id="34" name="Text 32"/>
          <p:cNvSpPr/>
          <p:nvPr/>
        </p:nvSpPr>
        <p:spPr>
          <a:xfrm>
            <a:off x="7772400" y="4023360"/>
            <a:ext cx="3749040" cy="274320"/>
          </a:xfrm>
          <a:prstGeom prst="rect">
            <a:avLst/>
          </a:prstGeom>
          <a:noFill/>
          <a:ln/>
        </p:spPr>
        <p:txBody>
          <a:bodyPr wrap="square" lIns="0" tIns="0" rIns="0" bIns="0" rtlCol="0" anchor="ctr"/>
          <a:lstStyle/>
          <a:p>
            <a:pPr marL="0" indent="0">
              <a:buNone/>
            </a:pPr>
            <a:r>
              <a:rPr lang="en-US" sz="1200" b="1" dirty="0">
                <a:solidFill>
                  <a:srgbClr val="F26B1F"/>
                </a:solidFill>
                <a:latin typeface="Calibri" pitchFamily="34" charset="0"/>
                <a:ea typeface="Calibri" pitchFamily="34" charset="-122"/>
                <a:cs typeface="Calibri" pitchFamily="34" charset="-120"/>
              </a:rPr>
              <a:t>Continuous Remediation</a:t>
            </a:r>
            <a:endParaRPr lang="en-US" sz="1200" dirty="0"/>
          </a:p>
        </p:txBody>
      </p:sp>
      <p:sp>
        <p:nvSpPr>
          <p:cNvPr id="35" name="Text 33"/>
          <p:cNvSpPr/>
          <p:nvPr/>
        </p:nvSpPr>
        <p:spPr>
          <a:xfrm>
            <a:off x="7772400" y="4343400"/>
            <a:ext cx="374904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SOC and control admin workflows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ServiceNow / JIRA integration</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Auto re-verification on every config change</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Auto re-verification on every threat-feed update</a:t>
            </a:r>
            <a:endParaRPr lang="en-US" sz="1050" dirty="0"/>
          </a:p>
        </p:txBody>
      </p:sp>
      <p:sp>
        <p:nvSpPr>
          <p:cNvPr id="36" name="Text 34"/>
          <p:cNvSpPr/>
          <p:nvPr/>
        </p:nvSpPr>
        <p:spPr>
          <a:xfrm>
            <a:off x="7772400" y="5897880"/>
            <a:ext cx="3749040" cy="41148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Currently supports leading N-S and E-W perimeter NGFWs (PAN, Fortinet, Cisco, Check Point). Identity, SASE, and additional vendors on the roadmap.</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—STOPPING VOLT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Preemptive  Stops Volt Typhoon — Phase by Phase</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Volt Typhoon needs configuration weakness to enter and pivot. Rigor mathematically proves those weaknesses don't exist — before they're exploited.</a:t>
            </a:r>
            <a:endParaRPr lang="en-US" sz="1300" dirty="0"/>
          </a:p>
        </p:txBody>
      </p:sp>
      <p:sp>
        <p:nvSpPr>
          <p:cNvPr id="6" name="Shape 4"/>
          <p:cNvSpPr/>
          <p:nvPr/>
        </p:nvSpPr>
        <p:spPr>
          <a:xfrm>
            <a:off x="457200" y="1325880"/>
            <a:ext cx="1371600" cy="365760"/>
          </a:xfrm>
          <a:prstGeom prst="rect">
            <a:avLst/>
          </a:prstGeom>
          <a:solidFill>
            <a:srgbClr val="0B1F3A"/>
          </a:solidFill>
          <a:ln/>
        </p:spPr>
        <p:txBody>
          <a:bodyPr/>
          <a:lstStyle/>
          <a:p>
            <a:endParaRPr lang="en-US"/>
          </a:p>
        </p:txBody>
      </p:sp>
      <p:sp>
        <p:nvSpPr>
          <p:cNvPr id="7" name="Text 5"/>
          <p:cNvSpPr/>
          <p:nvPr/>
        </p:nvSpPr>
        <p:spPr>
          <a:xfrm>
            <a:off x="502920" y="1325880"/>
            <a:ext cx="1280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8" name="Shape 6"/>
          <p:cNvSpPr/>
          <p:nvPr/>
        </p:nvSpPr>
        <p:spPr>
          <a:xfrm>
            <a:off x="1828800" y="1325880"/>
            <a:ext cx="4297680" cy="365760"/>
          </a:xfrm>
          <a:prstGeom prst="rect">
            <a:avLst/>
          </a:prstGeom>
          <a:solidFill>
            <a:srgbClr val="C0392B"/>
          </a:solidFill>
          <a:ln/>
        </p:spPr>
        <p:txBody>
          <a:bodyPr/>
          <a:lstStyle/>
          <a:p>
            <a:endParaRPr lang="en-US"/>
          </a:p>
        </p:txBody>
      </p:sp>
      <p:sp>
        <p:nvSpPr>
          <p:cNvPr id="9" name="Text 7"/>
          <p:cNvSpPr/>
          <p:nvPr/>
        </p:nvSpPr>
        <p:spPr>
          <a:xfrm>
            <a:off x="1920240" y="1325880"/>
            <a:ext cx="42062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VOLT TYPHOON BEHAVIOR</a:t>
            </a:r>
            <a:endParaRPr lang="en-US" sz="1100" dirty="0"/>
          </a:p>
        </p:txBody>
      </p:sp>
      <p:sp>
        <p:nvSpPr>
          <p:cNvPr id="10" name="Shape 8"/>
          <p:cNvSpPr/>
          <p:nvPr/>
        </p:nvSpPr>
        <p:spPr>
          <a:xfrm>
            <a:off x="6126480" y="1325880"/>
            <a:ext cx="5577840" cy="365760"/>
          </a:xfrm>
          <a:prstGeom prst="rect">
            <a:avLst/>
          </a:prstGeom>
          <a:solidFill>
            <a:srgbClr val="F26B1F"/>
          </a:solidFill>
          <a:ln/>
        </p:spPr>
        <p:txBody>
          <a:bodyPr/>
          <a:lstStyle/>
          <a:p>
            <a:endParaRPr lang="en-US"/>
          </a:p>
        </p:txBody>
      </p:sp>
      <p:sp>
        <p:nvSpPr>
          <p:cNvPr id="11" name="Text 9"/>
          <p:cNvSpPr/>
          <p:nvPr/>
        </p:nvSpPr>
        <p:spPr>
          <a:xfrm>
            <a:off x="6217920" y="1325880"/>
            <a:ext cx="548640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HOW RIGOR AI STOPS IT</a:t>
            </a:r>
            <a:endParaRPr lang="en-US" sz="1100" dirty="0"/>
          </a:p>
        </p:txBody>
      </p:sp>
      <p:sp>
        <p:nvSpPr>
          <p:cNvPr id="12" name="Shape 10"/>
          <p:cNvSpPr/>
          <p:nvPr/>
        </p:nvSpPr>
        <p:spPr>
          <a:xfrm>
            <a:off x="457200" y="1691640"/>
            <a:ext cx="11247120" cy="978408"/>
          </a:xfrm>
          <a:prstGeom prst="rect">
            <a:avLst/>
          </a:prstGeom>
          <a:solidFill>
            <a:srgbClr val="F7F8FA"/>
          </a:solidFill>
          <a:ln w="6350">
            <a:solidFill>
              <a:srgbClr val="E5E9EE"/>
            </a:solidFill>
            <a:prstDash val="solid"/>
          </a:ln>
        </p:spPr>
        <p:txBody>
          <a:bodyPr/>
          <a:lstStyle/>
          <a:p>
            <a:endParaRPr lang="en-US"/>
          </a:p>
        </p:txBody>
      </p:sp>
      <p:sp>
        <p:nvSpPr>
          <p:cNvPr id="13" name="Text 11"/>
          <p:cNvSpPr/>
          <p:nvPr/>
        </p:nvSpPr>
        <p:spPr>
          <a:xfrm>
            <a:off x="548640" y="1737360"/>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1
</a:t>
            </a:r>
            <a:r>
              <a:rPr lang="en-US" sz="950" b="1" dirty="0">
                <a:solidFill>
                  <a:srgbClr val="0B1F3A"/>
                </a:solidFill>
                <a:latin typeface="Calibri" pitchFamily="34" charset="0"/>
                <a:ea typeface="Calibri" pitchFamily="34" charset="-122"/>
                <a:cs typeface="Calibri" pitchFamily="34" charset="-120"/>
              </a:rPr>
              <a:t>Initial Access — Edge Device Exploitation</a:t>
            </a:r>
            <a:endParaRPr lang="en-US" sz="1000" dirty="0"/>
          </a:p>
        </p:txBody>
      </p:sp>
      <p:sp>
        <p:nvSpPr>
          <p:cNvPr id="14" name="Text 12"/>
          <p:cNvSpPr/>
          <p:nvPr/>
        </p:nvSpPr>
        <p:spPr>
          <a:xfrm>
            <a:off x="1920240" y="1755648"/>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Volt Typhoon scans for unpatched Fortinet, Ivanti, Versa Director, Cisco edge devices. Exploits CVE-2023-20198 / CVE-2024-21887 / CVE-2024-3400 to land on the perimeter.</a:t>
            </a:r>
            <a:endParaRPr lang="en-US" sz="900" dirty="0"/>
          </a:p>
        </p:txBody>
      </p:sp>
      <p:sp>
        <p:nvSpPr>
          <p:cNvPr id="15" name="Text 13"/>
          <p:cNvSpPr/>
          <p:nvPr/>
        </p:nvSpPr>
        <p:spPr>
          <a:xfrm>
            <a:off x="6217920" y="1755648"/>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Attack Intel ingests CISA / NSA / vendor PSIRT advisories the moment they publish. Defense Intel formally proves every exposed NGFW, VPN, SASE has the corresponding IPS signature, threat-feed deny rule, or version-blocking policy enforced. If patch is unavailable, Rigor identifies the compensating control. Result: edge CVE has no exploitable path.</a:t>
            </a:r>
            <a:endParaRPr lang="en-US" sz="900" dirty="0"/>
          </a:p>
        </p:txBody>
      </p:sp>
      <p:sp>
        <p:nvSpPr>
          <p:cNvPr id="16" name="Shape 14"/>
          <p:cNvSpPr/>
          <p:nvPr/>
        </p:nvSpPr>
        <p:spPr>
          <a:xfrm>
            <a:off x="457200" y="2670048"/>
            <a:ext cx="11247120" cy="978408"/>
          </a:xfrm>
          <a:prstGeom prst="rect">
            <a:avLst/>
          </a:prstGeom>
          <a:solidFill>
            <a:srgbClr val="FFFFFF"/>
          </a:solidFill>
          <a:ln w="6350">
            <a:solidFill>
              <a:srgbClr val="E5E9EE"/>
            </a:solidFill>
            <a:prstDash val="solid"/>
          </a:ln>
        </p:spPr>
        <p:txBody>
          <a:bodyPr/>
          <a:lstStyle/>
          <a:p>
            <a:endParaRPr lang="en-US"/>
          </a:p>
        </p:txBody>
      </p:sp>
      <p:sp>
        <p:nvSpPr>
          <p:cNvPr id="17" name="Text 15"/>
          <p:cNvSpPr/>
          <p:nvPr/>
        </p:nvSpPr>
        <p:spPr>
          <a:xfrm>
            <a:off x="548640" y="2715768"/>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2
</a:t>
            </a:r>
            <a:r>
              <a:rPr lang="en-US" sz="950" b="1" dirty="0">
                <a:solidFill>
                  <a:srgbClr val="0B1F3A"/>
                </a:solidFill>
                <a:latin typeface="Calibri" pitchFamily="34" charset="0"/>
                <a:ea typeface="Calibri" pitchFamily="34" charset="-122"/>
                <a:cs typeface="Calibri" pitchFamily="34" charset="-120"/>
              </a:rPr>
              <a:t>Persistence — Web Shells &amp; SOHO Router Pivots</a:t>
            </a:r>
            <a:endParaRPr lang="en-US" sz="1000" dirty="0"/>
          </a:p>
        </p:txBody>
      </p:sp>
      <p:sp>
        <p:nvSpPr>
          <p:cNvPr id="18" name="Text 16"/>
          <p:cNvSpPr/>
          <p:nvPr/>
        </p:nvSpPr>
        <p:spPr>
          <a:xfrm>
            <a:off x="1920240" y="2734056"/>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Drops .aspx / .jspx web shells. Routes C2 traffic through KV botnet of compromised SOHO routers (ASUS, Cisco, D-Link, NETGEAR, Zyxel) to mask origin.</a:t>
            </a:r>
            <a:endParaRPr lang="en-US" sz="900" dirty="0"/>
          </a:p>
        </p:txBody>
      </p:sp>
      <p:sp>
        <p:nvSpPr>
          <p:cNvPr id="19" name="Text 17"/>
          <p:cNvSpPr/>
          <p:nvPr/>
        </p:nvSpPr>
        <p:spPr>
          <a:xfrm>
            <a:off x="6217920" y="2734056"/>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models every threat-feed IP, domain, ASN, and known-bad SOHO device fingerprint as a denied destination. Symbolic Model of Computation proves the 50M+ rule combinations across N-S and E-W firewalls all block these flows. Web shell upload paths are blocked at the WAF — Rigor verifies the WAF has the correct inspection profile loaded.</a:t>
            </a:r>
            <a:endParaRPr lang="en-US" sz="900" dirty="0"/>
          </a:p>
        </p:txBody>
      </p:sp>
      <p:sp>
        <p:nvSpPr>
          <p:cNvPr id="20" name="Shape 18"/>
          <p:cNvSpPr/>
          <p:nvPr/>
        </p:nvSpPr>
        <p:spPr>
          <a:xfrm>
            <a:off x="457200" y="3648456"/>
            <a:ext cx="11247120" cy="978408"/>
          </a:xfrm>
          <a:prstGeom prst="rect">
            <a:avLst/>
          </a:prstGeom>
          <a:solidFill>
            <a:srgbClr val="F7F8FA"/>
          </a:solidFill>
          <a:ln w="6350">
            <a:solidFill>
              <a:srgbClr val="E5E9EE"/>
            </a:solidFill>
            <a:prstDash val="solid"/>
          </a:ln>
        </p:spPr>
        <p:txBody>
          <a:bodyPr/>
          <a:lstStyle/>
          <a:p>
            <a:endParaRPr lang="en-US"/>
          </a:p>
        </p:txBody>
      </p:sp>
      <p:sp>
        <p:nvSpPr>
          <p:cNvPr id="21" name="Text 19"/>
          <p:cNvSpPr/>
          <p:nvPr/>
        </p:nvSpPr>
        <p:spPr>
          <a:xfrm>
            <a:off x="548640" y="3694176"/>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3
</a:t>
            </a:r>
            <a:r>
              <a:rPr lang="en-US" sz="950" b="1" dirty="0">
                <a:solidFill>
                  <a:srgbClr val="0B1F3A"/>
                </a:solidFill>
                <a:latin typeface="Calibri" pitchFamily="34" charset="0"/>
                <a:ea typeface="Calibri" pitchFamily="34" charset="-122"/>
                <a:cs typeface="Calibri" pitchFamily="34" charset="-120"/>
              </a:rPr>
              <a:t>Credential Access — ntdsutil / LSASS Dumping</a:t>
            </a:r>
            <a:endParaRPr lang="en-US" sz="1000" dirty="0"/>
          </a:p>
        </p:txBody>
      </p:sp>
      <p:sp>
        <p:nvSpPr>
          <p:cNvPr id="22" name="Text 20"/>
          <p:cNvSpPr/>
          <p:nvPr/>
        </p:nvSpPr>
        <p:spPr>
          <a:xfrm>
            <a:off x="1920240" y="3712464"/>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Uses ntdsutil.exe to dump NTDS.dit. Extracts LSASS memory. Exfiltrates Active Directory credentials to C2.</a:t>
            </a:r>
            <a:endParaRPr lang="en-US" sz="900" dirty="0"/>
          </a:p>
        </p:txBody>
      </p:sp>
      <p:sp>
        <p:nvSpPr>
          <p:cNvPr id="23" name="Text 21"/>
          <p:cNvSpPr/>
          <p:nvPr/>
        </p:nvSpPr>
        <p:spPr>
          <a:xfrm>
            <a:off x="6217920" y="3712464"/>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verifies the EDR/EPP coverage is enabled on every domain controller and that the script-control profile blocks ntdsutil execution by non-admin contexts. Verifies egress filtering blocks credential exfil to known C2 ranges. Where coverage is missing, Rigor generates the exact vendor-specific fix.</a:t>
            </a:r>
            <a:endParaRPr lang="en-US" sz="900" dirty="0"/>
          </a:p>
        </p:txBody>
      </p:sp>
      <p:sp>
        <p:nvSpPr>
          <p:cNvPr id="24" name="Shape 22"/>
          <p:cNvSpPr/>
          <p:nvPr/>
        </p:nvSpPr>
        <p:spPr>
          <a:xfrm>
            <a:off x="457200" y="4626864"/>
            <a:ext cx="11247120" cy="978408"/>
          </a:xfrm>
          <a:prstGeom prst="rect">
            <a:avLst/>
          </a:prstGeom>
          <a:solidFill>
            <a:srgbClr val="FFFFFF"/>
          </a:solidFill>
          <a:ln w="6350">
            <a:solidFill>
              <a:srgbClr val="E5E9EE"/>
            </a:solidFill>
            <a:prstDash val="solid"/>
          </a:ln>
        </p:spPr>
        <p:txBody>
          <a:bodyPr/>
          <a:lstStyle/>
          <a:p>
            <a:endParaRPr lang="en-US"/>
          </a:p>
        </p:txBody>
      </p:sp>
      <p:sp>
        <p:nvSpPr>
          <p:cNvPr id="25" name="Text 23"/>
          <p:cNvSpPr/>
          <p:nvPr/>
        </p:nvSpPr>
        <p:spPr>
          <a:xfrm>
            <a:off x="548640" y="4672584"/>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4
</a:t>
            </a:r>
            <a:r>
              <a:rPr lang="en-US" sz="950" b="1" dirty="0">
                <a:solidFill>
                  <a:srgbClr val="0B1F3A"/>
                </a:solidFill>
                <a:latin typeface="Calibri" pitchFamily="34" charset="0"/>
                <a:ea typeface="Calibri" pitchFamily="34" charset="-122"/>
                <a:cs typeface="Calibri" pitchFamily="34" charset="-120"/>
              </a:rPr>
              <a:t>Lateral Movement — SMB / RDP / WinRM</a:t>
            </a:r>
            <a:endParaRPr lang="en-US" sz="1000" dirty="0"/>
          </a:p>
        </p:txBody>
      </p:sp>
      <p:sp>
        <p:nvSpPr>
          <p:cNvPr id="26" name="Text 24"/>
          <p:cNvSpPr/>
          <p:nvPr/>
        </p:nvSpPr>
        <p:spPr>
          <a:xfrm>
            <a:off x="1920240" y="4690872"/>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Pivots laterally between branches and domain controllers using SMB, RDP, WinRM. Targets ICS/SCADA documentation, network diagrams, operations manuals.</a:t>
            </a:r>
            <a:endParaRPr lang="en-US" sz="900" dirty="0"/>
          </a:p>
        </p:txBody>
      </p:sp>
      <p:sp>
        <p:nvSpPr>
          <p:cNvPr id="27" name="Text 25"/>
          <p:cNvSpPr/>
          <p:nvPr/>
        </p:nvSpPr>
        <p:spPr>
          <a:xfrm>
            <a:off x="6217920" y="4690872"/>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Real customer case: Rigor exposed an SMB inspection profile shadowed by 3 higher-priority firewall rules — allowed unprotected SMBv1 between branches. Rigor mathematically proves zero-trust segmentation intent end-to-end: no path from compromised branch to OT/ICS zones unless explicitly authorized.</a:t>
            </a:r>
            <a:endParaRPr lang="en-US" sz="900" dirty="0"/>
          </a:p>
        </p:txBody>
      </p:sp>
      <p:sp>
        <p:nvSpPr>
          <p:cNvPr id="28" name="Shape 26"/>
          <p:cNvSpPr/>
          <p:nvPr/>
        </p:nvSpPr>
        <p:spPr>
          <a:xfrm>
            <a:off x="457200" y="5605272"/>
            <a:ext cx="11247120" cy="978408"/>
          </a:xfrm>
          <a:prstGeom prst="rect">
            <a:avLst/>
          </a:prstGeom>
          <a:solidFill>
            <a:srgbClr val="F7F8FA"/>
          </a:solidFill>
          <a:ln w="6350">
            <a:solidFill>
              <a:srgbClr val="E5E9EE"/>
            </a:solidFill>
            <a:prstDash val="solid"/>
          </a:ln>
        </p:spPr>
        <p:txBody>
          <a:bodyPr/>
          <a:lstStyle/>
          <a:p>
            <a:endParaRPr lang="en-US"/>
          </a:p>
        </p:txBody>
      </p:sp>
      <p:sp>
        <p:nvSpPr>
          <p:cNvPr id="29" name="Text 27"/>
          <p:cNvSpPr/>
          <p:nvPr/>
        </p:nvSpPr>
        <p:spPr>
          <a:xfrm>
            <a:off x="548640" y="5650992"/>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5
</a:t>
            </a:r>
            <a:r>
              <a:rPr lang="en-US" sz="950" b="1" dirty="0">
                <a:solidFill>
                  <a:srgbClr val="0B1F3A"/>
                </a:solidFill>
                <a:latin typeface="Calibri" pitchFamily="34" charset="0"/>
                <a:ea typeface="Calibri" pitchFamily="34" charset="-122"/>
                <a:cs typeface="Calibri" pitchFamily="34" charset="-120"/>
              </a:rPr>
              <a:t>Pre-positioning &amp; Defense Evasion</a:t>
            </a:r>
            <a:endParaRPr lang="en-US" sz="1000" dirty="0"/>
          </a:p>
        </p:txBody>
      </p:sp>
      <p:sp>
        <p:nvSpPr>
          <p:cNvPr id="30" name="Text 28"/>
          <p:cNvSpPr/>
          <p:nvPr/>
        </p:nvSpPr>
        <p:spPr>
          <a:xfrm>
            <a:off x="1920240" y="5669280"/>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Clears Windows Security event logs. Deletes Most-Recently-Used registry keys. Maintains multi-year dwell. Pre-positions for sabotage during a future crisis.</a:t>
            </a:r>
            <a:endParaRPr lang="en-US" sz="900" dirty="0"/>
          </a:p>
        </p:txBody>
      </p:sp>
      <p:sp>
        <p:nvSpPr>
          <p:cNvPr id="31" name="Text 29"/>
          <p:cNvSpPr/>
          <p:nvPr/>
        </p:nvSpPr>
        <p:spPr>
          <a:xfrm>
            <a:off x="6217920" y="5669280"/>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Configuration Drift Management use case continuously verifies live config against approved baseline. Any unauthorized change to logging, audit, or segmentation rules is flagged the moment it deviates. Rigor closes the configuration attack surface before the attacker can use it.</a:t>
            </a:r>
            <a:endParaRPr lang="en-US" sz="900" dirty="0"/>
          </a:p>
        </p:txBody>
      </p:sp>
      <p:sp>
        <p:nvSpPr>
          <p:cNvPr id="32" name="Text 30"/>
          <p:cNvSpPr/>
          <p:nvPr/>
        </p:nvSpPr>
        <p:spPr>
          <a:xfrm>
            <a:off x="457200" y="6492240"/>
            <a:ext cx="11247120" cy="32004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Bottom line: Rigor doesn't detect Volt Typhoon — it removes the configuration attack surface they need to operate. The ATT&amp;CK techniques in MITRE Group G1017 are mapped; the defensive controls are mathematically verified.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—STOPPING SALT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Preemptive Stops Salt Typhoon — Carrier-Scale Edge Defense</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Salt Typhoon lives on misconfigured Cisco/Ivanti/PAN edge gear and uses ACL tampering for persistence. Rigor verifies every config every hour against an approved baseline.</a:t>
            </a:r>
            <a:endParaRPr lang="en-US" sz="1300" dirty="0"/>
          </a:p>
        </p:txBody>
      </p:sp>
      <p:sp>
        <p:nvSpPr>
          <p:cNvPr id="6" name="Shape 4"/>
          <p:cNvSpPr/>
          <p:nvPr/>
        </p:nvSpPr>
        <p:spPr>
          <a:xfrm>
            <a:off x="457200" y="1325880"/>
            <a:ext cx="1371600" cy="365760"/>
          </a:xfrm>
          <a:prstGeom prst="rect">
            <a:avLst/>
          </a:prstGeom>
          <a:solidFill>
            <a:srgbClr val="0B1F3A"/>
          </a:solidFill>
          <a:ln/>
        </p:spPr>
        <p:txBody>
          <a:bodyPr/>
          <a:lstStyle/>
          <a:p>
            <a:endParaRPr lang="en-US"/>
          </a:p>
        </p:txBody>
      </p:sp>
      <p:sp>
        <p:nvSpPr>
          <p:cNvPr id="7" name="Text 5"/>
          <p:cNvSpPr/>
          <p:nvPr/>
        </p:nvSpPr>
        <p:spPr>
          <a:xfrm>
            <a:off x="502920" y="1325880"/>
            <a:ext cx="1280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8" name="Shape 6"/>
          <p:cNvSpPr/>
          <p:nvPr/>
        </p:nvSpPr>
        <p:spPr>
          <a:xfrm>
            <a:off x="1828800" y="1325880"/>
            <a:ext cx="4297680" cy="365760"/>
          </a:xfrm>
          <a:prstGeom prst="rect">
            <a:avLst/>
          </a:prstGeom>
          <a:solidFill>
            <a:srgbClr val="C0392B"/>
          </a:solidFill>
          <a:ln/>
        </p:spPr>
        <p:txBody>
          <a:bodyPr/>
          <a:lstStyle/>
          <a:p>
            <a:endParaRPr lang="en-US"/>
          </a:p>
        </p:txBody>
      </p:sp>
      <p:sp>
        <p:nvSpPr>
          <p:cNvPr id="9" name="Text 7"/>
          <p:cNvSpPr/>
          <p:nvPr/>
        </p:nvSpPr>
        <p:spPr>
          <a:xfrm>
            <a:off x="1920240" y="1325880"/>
            <a:ext cx="42062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SALT TYPHOON BEHAVIOR</a:t>
            </a:r>
            <a:endParaRPr lang="en-US" sz="1100" dirty="0"/>
          </a:p>
        </p:txBody>
      </p:sp>
      <p:sp>
        <p:nvSpPr>
          <p:cNvPr id="10" name="Shape 8"/>
          <p:cNvSpPr/>
          <p:nvPr/>
        </p:nvSpPr>
        <p:spPr>
          <a:xfrm>
            <a:off x="6126480" y="1325880"/>
            <a:ext cx="5577840" cy="365760"/>
          </a:xfrm>
          <a:prstGeom prst="rect">
            <a:avLst/>
          </a:prstGeom>
          <a:solidFill>
            <a:srgbClr val="F26B1F"/>
          </a:solidFill>
          <a:ln/>
        </p:spPr>
        <p:txBody>
          <a:bodyPr/>
          <a:lstStyle/>
          <a:p>
            <a:endParaRPr lang="en-US"/>
          </a:p>
        </p:txBody>
      </p:sp>
      <p:sp>
        <p:nvSpPr>
          <p:cNvPr id="11" name="Text 9"/>
          <p:cNvSpPr/>
          <p:nvPr/>
        </p:nvSpPr>
        <p:spPr>
          <a:xfrm>
            <a:off x="6217920" y="1325880"/>
            <a:ext cx="548640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HOW RIGOR AI STOPS IT</a:t>
            </a:r>
            <a:endParaRPr lang="en-US" sz="1100" dirty="0"/>
          </a:p>
        </p:txBody>
      </p:sp>
      <p:sp>
        <p:nvSpPr>
          <p:cNvPr id="12" name="Shape 10"/>
          <p:cNvSpPr/>
          <p:nvPr/>
        </p:nvSpPr>
        <p:spPr>
          <a:xfrm>
            <a:off x="457200" y="1691640"/>
            <a:ext cx="11247120" cy="978408"/>
          </a:xfrm>
          <a:prstGeom prst="rect">
            <a:avLst/>
          </a:prstGeom>
          <a:solidFill>
            <a:srgbClr val="F7F8FA"/>
          </a:solidFill>
          <a:ln w="6350">
            <a:solidFill>
              <a:srgbClr val="E5E9EE"/>
            </a:solidFill>
            <a:prstDash val="solid"/>
          </a:ln>
        </p:spPr>
        <p:txBody>
          <a:bodyPr/>
          <a:lstStyle/>
          <a:p>
            <a:endParaRPr lang="en-US"/>
          </a:p>
        </p:txBody>
      </p:sp>
      <p:sp>
        <p:nvSpPr>
          <p:cNvPr id="13" name="Text 11"/>
          <p:cNvSpPr/>
          <p:nvPr/>
        </p:nvSpPr>
        <p:spPr>
          <a:xfrm>
            <a:off x="548640" y="1737360"/>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1
</a:t>
            </a:r>
            <a:r>
              <a:rPr lang="en-US" sz="950" b="1" dirty="0">
                <a:solidFill>
                  <a:srgbClr val="0B1F3A"/>
                </a:solidFill>
                <a:latin typeface="Calibri" pitchFamily="34" charset="0"/>
                <a:ea typeface="Calibri" pitchFamily="34" charset="-122"/>
                <a:cs typeface="Calibri" pitchFamily="34" charset="-120"/>
              </a:rPr>
              <a:t>Edge Exploitation — CVE-2023-20198 / CVE-2018-0171</a:t>
            </a:r>
            <a:endParaRPr lang="en-US" sz="1000" dirty="0"/>
          </a:p>
        </p:txBody>
      </p:sp>
      <p:sp>
        <p:nvSpPr>
          <p:cNvPr id="14" name="Text 12"/>
          <p:cNvSpPr/>
          <p:nvPr/>
        </p:nvSpPr>
        <p:spPr>
          <a:xfrm>
            <a:off x="1920240" y="1755648"/>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Exploits unpatched Cisco IOS XE web UI to gain level-15 (root) admin. Also exploits Smart Install (CVE-2018-0171), Ivanti Connect Secure (CVE-2024-21887), PAN GlobalProtect (CVE-2024-3400), Citrix NetScaler (CVE-2025-5777). 1,000+ Cisco devices targeted Dec 2024 – Jan 2025.</a:t>
            </a:r>
            <a:endParaRPr lang="en-US" sz="900" dirty="0"/>
          </a:p>
        </p:txBody>
      </p:sp>
      <p:sp>
        <p:nvSpPr>
          <p:cNvPr id="15" name="Text 13"/>
          <p:cNvSpPr/>
          <p:nvPr/>
        </p:nvSpPr>
        <p:spPr>
          <a:xfrm>
            <a:off x="6217920" y="1755648"/>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CVE-to-control mapping is automatic. Every device exposing IOS XE web UI to the internet → flagged as a coverage gap before exploitation. Rigor proves the WAF / management-plane ACL blocks public access to /webui/. For each unpatched CVE, Rigor identifies the exact compensating control (disable Smart Install, restrict mgmt-plane, IPS signature SID).</a:t>
            </a:r>
            <a:endParaRPr lang="en-US" sz="900" dirty="0"/>
          </a:p>
        </p:txBody>
      </p:sp>
      <p:sp>
        <p:nvSpPr>
          <p:cNvPr id="16" name="Shape 14"/>
          <p:cNvSpPr/>
          <p:nvPr/>
        </p:nvSpPr>
        <p:spPr>
          <a:xfrm>
            <a:off x="457200" y="2670048"/>
            <a:ext cx="11247120" cy="978408"/>
          </a:xfrm>
          <a:prstGeom prst="rect">
            <a:avLst/>
          </a:prstGeom>
          <a:solidFill>
            <a:srgbClr val="FFFFFF"/>
          </a:solidFill>
          <a:ln w="6350">
            <a:solidFill>
              <a:srgbClr val="E5E9EE"/>
            </a:solidFill>
            <a:prstDash val="solid"/>
          </a:ln>
        </p:spPr>
        <p:txBody>
          <a:bodyPr/>
          <a:lstStyle/>
          <a:p>
            <a:endParaRPr lang="en-US"/>
          </a:p>
        </p:txBody>
      </p:sp>
      <p:sp>
        <p:nvSpPr>
          <p:cNvPr id="17" name="Text 15"/>
          <p:cNvSpPr/>
          <p:nvPr/>
        </p:nvSpPr>
        <p:spPr>
          <a:xfrm>
            <a:off x="548640" y="2715768"/>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2
</a:t>
            </a:r>
            <a:r>
              <a:rPr lang="en-US" sz="950" b="1" dirty="0">
                <a:solidFill>
                  <a:srgbClr val="0B1F3A"/>
                </a:solidFill>
                <a:latin typeface="Calibri" pitchFamily="34" charset="0"/>
                <a:ea typeface="Calibri" pitchFamily="34" charset="-122"/>
                <a:cs typeface="Calibri" pitchFamily="34" charset="-120"/>
              </a:rPr>
              <a:t>Persistence — Account Creation &amp; ACL Modification</a:t>
            </a:r>
            <a:endParaRPr lang="en-US" sz="1000" dirty="0"/>
          </a:p>
        </p:txBody>
      </p:sp>
      <p:sp>
        <p:nvSpPr>
          <p:cNvPr id="18" name="Text 16"/>
          <p:cNvSpPr/>
          <p:nvPr/>
        </p:nvSpPr>
        <p:spPr>
          <a:xfrm>
            <a:off x="1920240" y="2734056"/>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Creates local privileged accounts. Modifies router ACLs to whitelist attacker IP ranges. Enables Guest Shell, sshd_operns, opens non-standard ports. Maintains 3+ years of access in some victim networks (Cisco Talos).</a:t>
            </a:r>
            <a:endParaRPr lang="en-US" sz="900" dirty="0"/>
          </a:p>
        </p:txBody>
      </p:sp>
      <p:sp>
        <p:nvSpPr>
          <p:cNvPr id="19" name="Text 17"/>
          <p:cNvSpPr/>
          <p:nvPr/>
        </p:nvSpPr>
        <p:spPr>
          <a:xfrm>
            <a:off x="6217920" y="2734056"/>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Configuration Drift Management use case: Rigor takes the approved baseline of every router ACL, AAA config, and management-plane policy. Compares live state every hour. Any unauthorized account creation, ACL change, or service enablement → immediate gap finding with the exact diff. The attacker's persistence mechanism becomes visible in the same window it's introduced.</a:t>
            </a:r>
            <a:endParaRPr lang="en-US" sz="900" dirty="0"/>
          </a:p>
        </p:txBody>
      </p:sp>
      <p:sp>
        <p:nvSpPr>
          <p:cNvPr id="20" name="Shape 18"/>
          <p:cNvSpPr/>
          <p:nvPr/>
        </p:nvSpPr>
        <p:spPr>
          <a:xfrm>
            <a:off x="457200" y="3648456"/>
            <a:ext cx="11247120" cy="978408"/>
          </a:xfrm>
          <a:prstGeom prst="rect">
            <a:avLst/>
          </a:prstGeom>
          <a:solidFill>
            <a:srgbClr val="F7F8FA"/>
          </a:solidFill>
          <a:ln w="6350">
            <a:solidFill>
              <a:srgbClr val="E5E9EE"/>
            </a:solidFill>
            <a:prstDash val="solid"/>
          </a:ln>
        </p:spPr>
        <p:txBody>
          <a:bodyPr/>
          <a:lstStyle/>
          <a:p>
            <a:endParaRPr lang="en-US"/>
          </a:p>
        </p:txBody>
      </p:sp>
      <p:sp>
        <p:nvSpPr>
          <p:cNvPr id="21" name="Text 19"/>
          <p:cNvSpPr/>
          <p:nvPr/>
        </p:nvSpPr>
        <p:spPr>
          <a:xfrm>
            <a:off x="548640" y="3694176"/>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3
</a:t>
            </a:r>
            <a:r>
              <a:rPr lang="en-US" sz="950" b="1" dirty="0">
                <a:solidFill>
                  <a:srgbClr val="0B1F3A"/>
                </a:solidFill>
                <a:latin typeface="Calibri" pitchFamily="34" charset="0"/>
                <a:ea typeface="Calibri" pitchFamily="34" charset="-122"/>
                <a:cs typeface="Calibri" pitchFamily="34" charset="-120"/>
              </a:rPr>
              <a:t>Lateral Movement — TACACS+ Capture &amp; JumbledPath</a:t>
            </a:r>
            <a:endParaRPr lang="en-US" sz="1000" dirty="0"/>
          </a:p>
        </p:txBody>
      </p:sp>
      <p:sp>
        <p:nvSpPr>
          <p:cNvPr id="22" name="Text 20"/>
          <p:cNvSpPr/>
          <p:nvPr/>
        </p:nvSpPr>
        <p:spPr>
          <a:xfrm>
            <a:off x="1920240" y="3712464"/>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Captures TACACS+ traffic on TCP/49 using on-box packet capture. Harvests credentials. Uses custom JumbledPath malware to chain remote connections across compromised devices. Pivots between telcos using shared trust relationships.</a:t>
            </a:r>
            <a:endParaRPr lang="en-US" sz="900" dirty="0"/>
          </a:p>
        </p:txBody>
      </p:sp>
      <p:sp>
        <p:nvSpPr>
          <p:cNvPr id="23" name="Text 21"/>
          <p:cNvSpPr/>
          <p:nvPr/>
        </p:nvSpPr>
        <p:spPr>
          <a:xfrm>
            <a:off x="6217920" y="3712464"/>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proves management-plane segmentation: TACACS+ servers and edge devices are in dedicated mgmt VRF, with deny-by-default flow rules between provider environments. Verifies on-box packet-capture privileges are restricted. Models inter-tenant trust paths formally — surfaces any inadvertent cross-tenant route.</a:t>
            </a:r>
            <a:endParaRPr lang="en-US" sz="900" dirty="0"/>
          </a:p>
        </p:txBody>
      </p:sp>
      <p:sp>
        <p:nvSpPr>
          <p:cNvPr id="24" name="Shape 22"/>
          <p:cNvSpPr/>
          <p:nvPr/>
        </p:nvSpPr>
        <p:spPr>
          <a:xfrm>
            <a:off x="457200" y="4626864"/>
            <a:ext cx="11247120" cy="978408"/>
          </a:xfrm>
          <a:prstGeom prst="rect">
            <a:avLst/>
          </a:prstGeom>
          <a:solidFill>
            <a:srgbClr val="FFFFFF"/>
          </a:solidFill>
          <a:ln w="6350">
            <a:solidFill>
              <a:srgbClr val="E5E9EE"/>
            </a:solidFill>
            <a:prstDash val="solid"/>
          </a:ln>
        </p:spPr>
        <p:txBody>
          <a:bodyPr/>
          <a:lstStyle/>
          <a:p>
            <a:endParaRPr lang="en-US"/>
          </a:p>
        </p:txBody>
      </p:sp>
      <p:sp>
        <p:nvSpPr>
          <p:cNvPr id="25" name="Text 23"/>
          <p:cNvSpPr/>
          <p:nvPr/>
        </p:nvSpPr>
        <p:spPr>
          <a:xfrm>
            <a:off x="548640" y="4672584"/>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4
</a:t>
            </a:r>
            <a:r>
              <a:rPr lang="en-US" sz="950" b="1" dirty="0">
                <a:solidFill>
                  <a:srgbClr val="0B1F3A"/>
                </a:solidFill>
                <a:latin typeface="Calibri" pitchFamily="34" charset="0"/>
                <a:ea typeface="Calibri" pitchFamily="34" charset="-122"/>
                <a:cs typeface="Calibri" pitchFamily="34" charset="-120"/>
              </a:rPr>
              <a:t>Collection — GhostSpider, Demodex, GRE Tunnels</a:t>
            </a:r>
            <a:endParaRPr lang="en-US" sz="1000" dirty="0"/>
          </a:p>
        </p:txBody>
      </p:sp>
      <p:sp>
        <p:nvSpPr>
          <p:cNvPr id="26" name="Text 24"/>
          <p:cNvSpPr/>
          <p:nvPr/>
        </p:nvSpPr>
        <p:spPr>
          <a:xfrm>
            <a:off x="1920240" y="4690872"/>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Implants GhostSpider, Demodex, SnappyBee on routers. Configures GRE tunnels to siphon traffic. Targets CALEA lawful-intercept systems. Captures CDR / metadata / SMS / voice.</a:t>
            </a:r>
            <a:endParaRPr lang="en-US" sz="900" dirty="0"/>
          </a:p>
        </p:txBody>
      </p:sp>
      <p:sp>
        <p:nvSpPr>
          <p:cNvPr id="27" name="Text 25"/>
          <p:cNvSpPr/>
          <p:nvPr/>
        </p:nvSpPr>
        <p:spPr>
          <a:xfrm>
            <a:off x="6217920" y="4690872"/>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models every threat-feed IP / domain associated with C2 (GhostSpider, JumbledPath) and proves outbound rules block them across all internal zones. Verifies GRE tunnel termination is restricted to authorized peers. CALEA-zone segmentation intent is mathematically held end-to-end — no path from data plane to lawful-intercept gear.</a:t>
            </a:r>
            <a:endParaRPr lang="en-US" sz="900" dirty="0"/>
          </a:p>
        </p:txBody>
      </p:sp>
      <p:sp>
        <p:nvSpPr>
          <p:cNvPr id="28" name="Shape 26"/>
          <p:cNvSpPr/>
          <p:nvPr/>
        </p:nvSpPr>
        <p:spPr>
          <a:xfrm>
            <a:off x="457200" y="5605272"/>
            <a:ext cx="11247120" cy="978408"/>
          </a:xfrm>
          <a:prstGeom prst="rect">
            <a:avLst/>
          </a:prstGeom>
          <a:solidFill>
            <a:srgbClr val="F7F8FA"/>
          </a:solidFill>
          <a:ln w="6350">
            <a:solidFill>
              <a:srgbClr val="E5E9EE"/>
            </a:solidFill>
            <a:prstDash val="solid"/>
          </a:ln>
        </p:spPr>
        <p:txBody>
          <a:bodyPr/>
          <a:lstStyle/>
          <a:p>
            <a:endParaRPr lang="en-US"/>
          </a:p>
        </p:txBody>
      </p:sp>
      <p:sp>
        <p:nvSpPr>
          <p:cNvPr id="29" name="Text 27"/>
          <p:cNvSpPr/>
          <p:nvPr/>
        </p:nvSpPr>
        <p:spPr>
          <a:xfrm>
            <a:off x="548640" y="5650992"/>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5
</a:t>
            </a:r>
            <a:r>
              <a:rPr lang="en-US" sz="950" b="1" dirty="0">
                <a:solidFill>
                  <a:srgbClr val="0B1F3A"/>
                </a:solidFill>
                <a:latin typeface="Calibri" pitchFamily="34" charset="0"/>
                <a:ea typeface="Calibri" pitchFamily="34" charset="-122"/>
                <a:cs typeface="Calibri" pitchFamily="34" charset="-120"/>
              </a:rPr>
              <a:t>Long-Term Espionage — Multi-Year Stealth</a:t>
            </a:r>
            <a:endParaRPr lang="en-US" sz="1000" dirty="0"/>
          </a:p>
        </p:txBody>
      </p:sp>
      <p:sp>
        <p:nvSpPr>
          <p:cNvPr id="30" name="Text 28"/>
          <p:cNvSpPr/>
          <p:nvPr/>
        </p:nvSpPr>
        <p:spPr>
          <a:xfrm>
            <a:off x="1920240" y="5669280"/>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Slow, persistent CDR/metadata exfiltration. Years of dwell time. Encrypts C2. Clears logs. Uses LOTL on network gear (Guest Shell, Linux container).</a:t>
            </a:r>
            <a:endParaRPr lang="en-US" sz="900" dirty="0"/>
          </a:p>
        </p:txBody>
      </p:sp>
      <p:sp>
        <p:nvSpPr>
          <p:cNvPr id="31" name="Text 29"/>
          <p:cNvSpPr/>
          <p:nvPr/>
        </p:nvSpPr>
        <p:spPr>
          <a:xfrm>
            <a:off x="6217920" y="5669280"/>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preemptive verification is continuous — re-verified on every config change, every threat-feed update, every CVE publication. Every "new normal" requires explicit authorization in the baseline. Salt Typhoon's persistence depends on a config that drifts from the approved baseline; Rigor makes that drift visible the moment it happens.</a:t>
            </a:r>
            <a:endParaRPr lang="en-US" sz="900" dirty="0"/>
          </a:p>
        </p:txBody>
      </p:sp>
      <p:sp>
        <p:nvSpPr>
          <p:cNvPr id="32" name="Text 30"/>
          <p:cNvSpPr/>
          <p:nvPr/>
        </p:nvSpPr>
        <p:spPr>
          <a:xfrm>
            <a:off x="457200" y="6492240"/>
            <a:ext cx="11247120" cy="32004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Bottom line: Salt Typhoon's tradecraft is config-resident — they live in router ACLs, AAA configs, and mgmt-plane policies. Rigor's continuous baseline verification is the antidote.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VOLT TYPHOON COVERAGE</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How Rigor AI Preempts Volt Typhoon — TTP by TTP</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MITRE technique → formal control gap query → mathematically verified blocking configuration</a:t>
            </a:r>
            <a:endParaRPr lang="en-US" sz="1200" dirty="0"/>
          </a:p>
        </p:txBody>
      </p:sp>
      <p:graphicFrame>
        <p:nvGraphicFramePr>
          <p:cNvPr id="10" name="Table 0"/>
          <p:cNvGraphicFramePr>
            <a:graphicFrameLocks noGrp="1"/>
          </p:cNvGraphicFramePr>
          <p:nvPr/>
        </p:nvGraphicFramePr>
        <p:xfrm>
          <a:off x="457200" y="1371600"/>
          <a:ext cx="11247120" cy="5120640"/>
        </p:xfrm>
        <a:graphic>
          <a:graphicData uri="http://schemas.openxmlformats.org/drawingml/2006/table">
            <a:tbl>
              <a:tblPr/>
              <a:tblGrid>
                <a:gridCol w="24688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64008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MITRE Technique</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Volt Typhoon Behavior</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Rigor AI Preemptive Action</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T1190  Exploit Public-Facing App</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Exploits unpatched Fortinet, Versa Director, Ivanti, PAN edge devices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Formally verifies every NGFW/SASE/WAF rule blocks known CVE traffic; flags weak/missing inspection profiles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T1133  External Remote Services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Abuses VPN, RDP gateways with stolen valid accounts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Proves zero-trust segmentation intent; surfaces shadowed allow-rules that bypass MFA enforcement</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T1021.002  SMB / Admin Shares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Lateral movement via SMBv1, admin shares between branches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Real customer case: 3 higher-priority rules shadowed SMB IPS profile — Rigor closed the lateral path</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T1003  OS Credential Dumping</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ntdsutil, LSASS dumps; credentials exfiltrated to C2</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Verifies egress filtering blocks C2 destinations; ensures EDR/IPS profiles cover credential-theft signatures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T1071  C2 over SOHO Routers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KV botnet relays C2 through compromised home/SMB routers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Models threat-feed IPs/domains; proves outbound rules block them across all internal zones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T1059  PowerShell / LOLBins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In-memory exec via wmic, ntdsutil, netsh; log evasion</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Verifies EDR/EPP coverage in policy; identifies hosts where script-control profile is not applied</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T1078  Valid Accounts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Pivots laterally with stolen credentials across trust zones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IdP/IAM coverage modeled; inter-zone trust paths surfaced and constrained → handed to ACECARD for behavioral check</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4"/>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Source: MITRE ATT&amp;CK Group G1017 (Volt Typhoon); CISA AA24-038A; Microsoft Threat Intelligence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SALT TYPHOON COVERAGE</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How Rigor AI Preempts Salt Typhoon — TTP by TTP</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Carrier-scale telecom intrusions: edge CVEs, ACL tampering, GhostSpider implants, layered C2</a:t>
            </a:r>
            <a:endParaRPr lang="en-US" sz="1200" dirty="0"/>
          </a:p>
        </p:txBody>
      </p:sp>
      <p:graphicFrame>
        <p:nvGraphicFramePr>
          <p:cNvPr id="11" name="Table 0"/>
          <p:cNvGraphicFramePr>
            <a:graphicFrameLocks noGrp="1"/>
          </p:cNvGraphicFramePr>
          <p:nvPr/>
        </p:nvGraphicFramePr>
        <p:xfrm>
          <a:off x="457200" y="1371600"/>
          <a:ext cx="11247120" cy="4754880"/>
        </p:xfrm>
        <a:graphic>
          <a:graphicData uri="http://schemas.openxmlformats.org/drawingml/2006/table">
            <a:tbl>
              <a:tblPr/>
              <a:tblGrid>
                <a:gridCol w="24688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5943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MITRE Technique</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Salt Typhoon Behavior</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Rigor AI Preemptive Action</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T1190  Edge Device CVEs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Exploits Cisco IOS XE, Ivanti Connect Secure, NetScaler (CVE-2025-5777), PAN GlobalProtect</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Models every CVE → required IPS/inspection profile; proves it is enabled on every relevant rule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T1556  Modify Auth Process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Alters router ACLs, AAA configs to grant persistent access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Configuration Drift Mgmt use case: continuously verifies live config against approved golden baseline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T1542  Pre-OS Boot / Firmware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GhostSpider, Demodex, SnappyBee implants on routers/switches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Mgmt-plane segmentation verified; out-of-band paths to network gear mathematically restricted</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T1071  C2 / Layered Infra</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DLL sideloading, SoftEther VPN obfuscation, GRE tunnels, multi-hop C2</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Threat-feed IPs/domains formally checked across 50M+ address combinations; gaps preempted</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T1078  Valid Accounts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Pivots from carrier infra into enterprise tenants via shared identity</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IdP/IAM coverage modeled; inter-tenant trust paths surfaced → ACECARD detects abuse behaviorally</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T1040  Network Sniffing</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Captures call records, SMS, CALEA wiretap data on carrier gear</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Verifies critical-segmentation intent end-to-end; proves no path from compromised edge to data plane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T1041  Exfiltration over C2</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Steady CDR/metadata exfil over months — low and slow</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Egress rules verified; data-plane DLP coverage modeled → ACECARD catches steady drift</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4"/>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Source: CISA AA25-239A; FBI/NSA/Five-Eyes Joint Advisory Aug 2025; MITRE ATT&amp;CK; Vectra &amp; Darktrace research</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USE CASES</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Nine Rigor AI Use Cases — Each Closes a Typhoon Attack Vector</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RigorOS ships with nine pre-built reasoning templates. Five directly preempt Volt + Salt Typhoon TTPs.</a:t>
            </a:r>
            <a:endParaRPr lang="en-US" sz="1300" dirty="0"/>
          </a:p>
        </p:txBody>
      </p:sp>
      <p:sp>
        <p:nvSpPr>
          <p:cNvPr id="6" name="Shape 4"/>
          <p:cNvSpPr/>
          <p:nvPr/>
        </p:nvSpPr>
        <p:spPr>
          <a:xfrm>
            <a:off x="457200" y="1371600"/>
            <a:ext cx="3703320" cy="1417320"/>
          </a:xfrm>
          <a:prstGeom prst="rect">
            <a:avLst/>
          </a:prstGeom>
          <a:solidFill>
            <a:srgbClr val="FFFFFF"/>
          </a:solidFill>
          <a:ln w="6350">
            <a:solidFill>
              <a:srgbClr val="E5E9EE"/>
            </a:solidFill>
            <a:prstDash val="solid"/>
          </a:ln>
        </p:spPr>
        <p:txBody>
          <a:bodyPr/>
          <a:lstStyle/>
          <a:p>
            <a:endParaRPr lang="en-US"/>
          </a:p>
        </p:txBody>
      </p:sp>
      <p:sp>
        <p:nvSpPr>
          <p:cNvPr id="7" name="Shape 5"/>
          <p:cNvSpPr/>
          <p:nvPr/>
        </p:nvSpPr>
        <p:spPr>
          <a:xfrm>
            <a:off x="457200" y="1371600"/>
            <a:ext cx="3703320" cy="292608"/>
          </a:xfrm>
          <a:prstGeom prst="rect">
            <a:avLst/>
          </a:prstGeom>
          <a:solidFill>
            <a:srgbClr val="F26B1F"/>
          </a:solidFill>
          <a:ln/>
        </p:spPr>
        <p:txBody>
          <a:bodyPr/>
          <a:lstStyle/>
          <a:p>
            <a:endParaRPr lang="en-US"/>
          </a:p>
        </p:txBody>
      </p:sp>
      <p:sp>
        <p:nvSpPr>
          <p:cNvPr id="8" name="Text 6"/>
          <p:cNvSpPr/>
          <p:nvPr/>
        </p:nvSpPr>
        <p:spPr>
          <a:xfrm>
            <a:off x="566928" y="137160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01   Preemptive Cyber Defense</a:t>
            </a:r>
            <a:endParaRPr lang="en-US" sz="1100" dirty="0"/>
          </a:p>
        </p:txBody>
      </p:sp>
      <p:sp>
        <p:nvSpPr>
          <p:cNvPr id="9" name="Text 7"/>
          <p:cNvSpPr/>
          <p:nvPr/>
        </p:nvSpPr>
        <p:spPr>
          <a:xfrm>
            <a:off x="594360" y="173736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Continuous ML/NLP/LLM ingestion of threat intel + vendor capability models + customer config → mathematical proof that every TTP path is blocked.</a:t>
            </a:r>
            <a:endParaRPr lang="en-US" sz="950" dirty="0"/>
          </a:p>
        </p:txBody>
      </p:sp>
      <p:sp>
        <p:nvSpPr>
          <p:cNvPr id="10" name="Text 8"/>
          <p:cNvSpPr/>
          <p:nvPr/>
        </p:nvSpPr>
        <p:spPr>
          <a:xfrm>
            <a:off x="594360" y="242316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Volt T1190, T1133, T1071, T1003 / Salt T1190, T1556</a:t>
            </a:r>
            <a:endParaRPr lang="en-US" sz="850" dirty="0"/>
          </a:p>
        </p:txBody>
      </p:sp>
      <p:sp>
        <p:nvSpPr>
          <p:cNvPr id="11" name="Shape 9"/>
          <p:cNvSpPr/>
          <p:nvPr/>
        </p:nvSpPr>
        <p:spPr>
          <a:xfrm>
            <a:off x="4297680" y="1371600"/>
            <a:ext cx="3703320" cy="1417320"/>
          </a:xfrm>
          <a:prstGeom prst="rect">
            <a:avLst/>
          </a:prstGeom>
          <a:solidFill>
            <a:srgbClr val="FFFFFF"/>
          </a:solidFill>
          <a:ln w="6350">
            <a:solidFill>
              <a:srgbClr val="E5E9EE"/>
            </a:solidFill>
            <a:prstDash val="solid"/>
          </a:ln>
        </p:spPr>
        <p:txBody>
          <a:bodyPr/>
          <a:lstStyle/>
          <a:p>
            <a:endParaRPr lang="en-US"/>
          </a:p>
        </p:txBody>
      </p:sp>
      <p:sp>
        <p:nvSpPr>
          <p:cNvPr id="12" name="Shape 10"/>
          <p:cNvSpPr/>
          <p:nvPr/>
        </p:nvSpPr>
        <p:spPr>
          <a:xfrm>
            <a:off x="4297680" y="1371600"/>
            <a:ext cx="3703320" cy="292608"/>
          </a:xfrm>
          <a:prstGeom prst="rect">
            <a:avLst/>
          </a:prstGeom>
          <a:solidFill>
            <a:srgbClr val="F26B1F"/>
          </a:solidFill>
          <a:ln/>
        </p:spPr>
        <p:txBody>
          <a:bodyPr/>
          <a:lstStyle/>
          <a:p>
            <a:endParaRPr lang="en-US"/>
          </a:p>
        </p:txBody>
      </p:sp>
      <p:sp>
        <p:nvSpPr>
          <p:cNvPr id="13" name="Text 11"/>
          <p:cNvSpPr/>
          <p:nvPr/>
        </p:nvSpPr>
        <p:spPr>
          <a:xfrm>
            <a:off x="4407408" y="137160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02   Configuration Drift Management</a:t>
            </a:r>
            <a:endParaRPr lang="en-US" sz="1100" dirty="0"/>
          </a:p>
        </p:txBody>
      </p:sp>
      <p:sp>
        <p:nvSpPr>
          <p:cNvPr id="14" name="Text 12"/>
          <p:cNvSpPr/>
          <p:nvPr/>
        </p:nvSpPr>
        <p:spPr>
          <a:xfrm>
            <a:off x="4434840" y="173736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Compares live config against approved golden baseline every hour. Surfaces any unauthorized change with the exact diff and attribution.</a:t>
            </a:r>
            <a:endParaRPr lang="en-US" sz="950" dirty="0"/>
          </a:p>
        </p:txBody>
      </p:sp>
      <p:sp>
        <p:nvSpPr>
          <p:cNvPr id="15" name="Text 13"/>
          <p:cNvSpPr/>
          <p:nvPr/>
        </p:nvSpPr>
        <p:spPr>
          <a:xfrm>
            <a:off x="4434840" y="242316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Salt Typhoon's ACL tampering, Guest Shell enablement, local account creation</a:t>
            </a:r>
            <a:endParaRPr lang="en-US" sz="850" dirty="0"/>
          </a:p>
        </p:txBody>
      </p:sp>
      <p:sp>
        <p:nvSpPr>
          <p:cNvPr id="16" name="Shape 14"/>
          <p:cNvSpPr/>
          <p:nvPr/>
        </p:nvSpPr>
        <p:spPr>
          <a:xfrm>
            <a:off x="8138160" y="1371600"/>
            <a:ext cx="3703320" cy="1417320"/>
          </a:xfrm>
          <a:prstGeom prst="rect">
            <a:avLst/>
          </a:prstGeom>
          <a:solidFill>
            <a:srgbClr val="FFFFFF"/>
          </a:solidFill>
          <a:ln w="6350">
            <a:solidFill>
              <a:srgbClr val="E5E9EE"/>
            </a:solidFill>
            <a:prstDash val="solid"/>
          </a:ln>
        </p:spPr>
        <p:txBody>
          <a:bodyPr/>
          <a:lstStyle/>
          <a:p>
            <a:endParaRPr lang="en-US"/>
          </a:p>
        </p:txBody>
      </p:sp>
      <p:sp>
        <p:nvSpPr>
          <p:cNvPr id="17" name="Shape 15"/>
          <p:cNvSpPr/>
          <p:nvPr/>
        </p:nvSpPr>
        <p:spPr>
          <a:xfrm>
            <a:off x="8138160" y="1371600"/>
            <a:ext cx="3703320" cy="292608"/>
          </a:xfrm>
          <a:prstGeom prst="rect">
            <a:avLst/>
          </a:prstGeom>
          <a:solidFill>
            <a:srgbClr val="F26B1F"/>
          </a:solidFill>
          <a:ln/>
        </p:spPr>
        <p:txBody>
          <a:bodyPr/>
          <a:lstStyle/>
          <a:p>
            <a:endParaRPr lang="en-US"/>
          </a:p>
        </p:txBody>
      </p:sp>
      <p:sp>
        <p:nvSpPr>
          <p:cNvPr id="18" name="Text 16"/>
          <p:cNvSpPr/>
          <p:nvPr/>
        </p:nvSpPr>
        <p:spPr>
          <a:xfrm>
            <a:off x="8247888" y="137160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03   Formal Policy Analysis</a:t>
            </a:r>
            <a:endParaRPr lang="en-US" sz="1100" dirty="0"/>
          </a:p>
        </p:txBody>
      </p:sp>
      <p:sp>
        <p:nvSpPr>
          <p:cNvPr id="19" name="Text 17"/>
          <p:cNvSpPr/>
          <p:nvPr/>
        </p:nvSpPr>
        <p:spPr>
          <a:xfrm>
            <a:off x="8275320" y="173736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Reasons over the entire 2^8000 firewall rule state space. Finds shadow rules, conflicts, weak inspection — across multi-vendor estates.</a:t>
            </a:r>
            <a:endParaRPr lang="en-US" sz="950" dirty="0"/>
          </a:p>
        </p:txBody>
      </p:sp>
      <p:sp>
        <p:nvSpPr>
          <p:cNvPr id="20" name="Text 18"/>
          <p:cNvSpPr/>
          <p:nvPr/>
        </p:nvSpPr>
        <p:spPr>
          <a:xfrm>
            <a:off x="8275320" y="242316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SMB lateral-movement paths, shadowed inspection profiles, allow-by-mistake gaps</a:t>
            </a:r>
            <a:endParaRPr lang="en-US" sz="850" dirty="0"/>
          </a:p>
        </p:txBody>
      </p:sp>
      <p:sp>
        <p:nvSpPr>
          <p:cNvPr id="21" name="Shape 19"/>
          <p:cNvSpPr/>
          <p:nvPr/>
        </p:nvSpPr>
        <p:spPr>
          <a:xfrm>
            <a:off x="457200" y="2880360"/>
            <a:ext cx="3703320" cy="14173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457200" y="2880360"/>
            <a:ext cx="3703320" cy="292608"/>
          </a:xfrm>
          <a:prstGeom prst="rect">
            <a:avLst/>
          </a:prstGeom>
          <a:solidFill>
            <a:srgbClr val="F26B1F"/>
          </a:solidFill>
          <a:ln/>
        </p:spPr>
        <p:txBody>
          <a:bodyPr/>
          <a:lstStyle/>
          <a:p>
            <a:endParaRPr lang="en-US"/>
          </a:p>
        </p:txBody>
      </p:sp>
      <p:sp>
        <p:nvSpPr>
          <p:cNvPr id="23" name="Text 21"/>
          <p:cNvSpPr/>
          <p:nvPr/>
        </p:nvSpPr>
        <p:spPr>
          <a:xfrm>
            <a:off x="566928" y="288036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04   Preemptive ASM (External)</a:t>
            </a:r>
            <a:endParaRPr lang="en-US" sz="1100" dirty="0"/>
          </a:p>
        </p:txBody>
      </p:sp>
      <p:sp>
        <p:nvSpPr>
          <p:cNvPr id="24" name="Text 22"/>
          <p:cNvSpPr/>
          <p:nvPr/>
        </p:nvSpPr>
        <p:spPr>
          <a:xfrm>
            <a:off x="594360" y="324612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Continuously scans external attack surface. Maps every exposed asset to compensating controls. Proves no exposed CVE has an exploitable path.</a:t>
            </a:r>
            <a:endParaRPr lang="en-US" sz="950" dirty="0"/>
          </a:p>
        </p:txBody>
      </p:sp>
      <p:sp>
        <p:nvSpPr>
          <p:cNvPr id="25" name="Text 23"/>
          <p:cNvSpPr/>
          <p:nvPr/>
        </p:nvSpPr>
        <p:spPr>
          <a:xfrm>
            <a:off x="594360" y="393192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Edge-device CVE exploitation (CVE-2023-20198, CVE-2024-3400, etc.)</a:t>
            </a:r>
            <a:endParaRPr lang="en-US" sz="850" dirty="0"/>
          </a:p>
        </p:txBody>
      </p:sp>
      <p:sp>
        <p:nvSpPr>
          <p:cNvPr id="26" name="Shape 24"/>
          <p:cNvSpPr/>
          <p:nvPr/>
        </p:nvSpPr>
        <p:spPr>
          <a:xfrm>
            <a:off x="4297680" y="2880360"/>
            <a:ext cx="3703320" cy="1417320"/>
          </a:xfrm>
          <a:prstGeom prst="rect">
            <a:avLst/>
          </a:prstGeom>
          <a:solidFill>
            <a:srgbClr val="FFFFFF"/>
          </a:solidFill>
          <a:ln w="6350">
            <a:solidFill>
              <a:srgbClr val="E5E9EE"/>
            </a:solidFill>
            <a:prstDash val="solid"/>
          </a:ln>
        </p:spPr>
        <p:txBody>
          <a:bodyPr/>
          <a:lstStyle/>
          <a:p>
            <a:endParaRPr lang="en-US"/>
          </a:p>
        </p:txBody>
      </p:sp>
      <p:sp>
        <p:nvSpPr>
          <p:cNvPr id="27" name="Shape 25"/>
          <p:cNvSpPr/>
          <p:nvPr/>
        </p:nvSpPr>
        <p:spPr>
          <a:xfrm>
            <a:off x="4297680" y="2880360"/>
            <a:ext cx="3703320" cy="292608"/>
          </a:xfrm>
          <a:prstGeom prst="rect">
            <a:avLst/>
          </a:prstGeom>
          <a:solidFill>
            <a:srgbClr val="F26B1F"/>
          </a:solidFill>
          <a:ln/>
        </p:spPr>
        <p:txBody>
          <a:bodyPr/>
          <a:lstStyle/>
          <a:p>
            <a:endParaRPr lang="en-US"/>
          </a:p>
        </p:txBody>
      </p:sp>
      <p:sp>
        <p:nvSpPr>
          <p:cNvPr id="28" name="Text 26"/>
          <p:cNvSpPr/>
          <p:nvPr/>
        </p:nvSpPr>
        <p:spPr>
          <a:xfrm>
            <a:off x="4407408" y="288036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05   Internal Attack Surface Mgmt</a:t>
            </a:r>
            <a:endParaRPr lang="en-US" sz="1100" dirty="0"/>
          </a:p>
        </p:txBody>
      </p:sp>
      <p:sp>
        <p:nvSpPr>
          <p:cNvPr id="29" name="Text 27"/>
          <p:cNvSpPr/>
          <p:nvPr/>
        </p:nvSpPr>
        <p:spPr>
          <a:xfrm>
            <a:off x="4434840" y="324612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Models internal attack paths from any compromised host to crown-jewel assets. Surfaces inter-zone trust violations.</a:t>
            </a:r>
            <a:endParaRPr lang="en-US" sz="950" dirty="0"/>
          </a:p>
        </p:txBody>
      </p:sp>
      <p:sp>
        <p:nvSpPr>
          <p:cNvPr id="30" name="Text 28"/>
          <p:cNvSpPr/>
          <p:nvPr/>
        </p:nvSpPr>
        <p:spPr>
          <a:xfrm>
            <a:off x="4434840" y="393192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Cross-tenant pivots (Salt Typhoon telco → enterprise), branch-to-OT pivots</a:t>
            </a:r>
            <a:endParaRPr lang="en-US" sz="850" dirty="0"/>
          </a:p>
        </p:txBody>
      </p:sp>
      <p:sp>
        <p:nvSpPr>
          <p:cNvPr id="31" name="Shape 29"/>
          <p:cNvSpPr/>
          <p:nvPr/>
        </p:nvSpPr>
        <p:spPr>
          <a:xfrm>
            <a:off x="8138160" y="2880360"/>
            <a:ext cx="3703320" cy="1417320"/>
          </a:xfrm>
          <a:prstGeom prst="rect">
            <a:avLst/>
          </a:prstGeom>
          <a:solidFill>
            <a:srgbClr val="FFFFFF"/>
          </a:solidFill>
          <a:ln w="6350">
            <a:solidFill>
              <a:srgbClr val="E5E9EE"/>
            </a:solidFill>
            <a:prstDash val="solid"/>
          </a:ln>
        </p:spPr>
        <p:txBody>
          <a:bodyPr/>
          <a:lstStyle/>
          <a:p>
            <a:endParaRPr lang="en-US"/>
          </a:p>
        </p:txBody>
      </p:sp>
      <p:sp>
        <p:nvSpPr>
          <p:cNvPr id="32" name="Shape 30"/>
          <p:cNvSpPr/>
          <p:nvPr/>
        </p:nvSpPr>
        <p:spPr>
          <a:xfrm>
            <a:off x="8138160" y="2880360"/>
            <a:ext cx="3703320" cy="292608"/>
          </a:xfrm>
          <a:prstGeom prst="rect">
            <a:avLst/>
          </a:prstGeom>
          <a:solidFill>
            <a:srgbClr val="1C7293"/>
          </a:solidFill>
          <a:ln/>
        </p:spPr>
        <p:txBody>
          <a:bodyPr/>
          <a:lstStyle/>
          <a:p>
            <a:endParaRPr lang="en-US"/>
          </a:p>
        </p:txBody>
      </p:sp>
      <p:sp>
        <p:nvSpPr>
          <p:cNvPr id="33" name="Text 31"/>
          <p:cNvSpPr/>
          <p:nvPr/>
        </p:nvSpPr>
        <p:spPr>
          <a:xfrm>
            <a:off x="8247888" y="288036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06   NIST 800-53 / Zero-Trust Verification</a:t>
            </a:r>
            <a:endParaRPr lang="en-US" sz="1100" dirty="0"/>
          </a:p>
        </p:txBody>
      </p:sp>
      <p:sp>
        <p:nvSpPr>
          <p:cNvPr id="34" name="Text 32"/>
          <p:cNvSpPr/>
          <p:nvPr/>
        </p:nvSpPr>
        <p:spPr>
          <a:xfrm>
            <a:off x="8275320" y="324612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Formally proves zero-trust segmentation intent holds end-to-end. Maps every control to NIST CSF / 800-53 / D3FEND.</a:t>
            </a:r>
            <a:endParaRPr lang="en-US" sz="950" dirty="0"/>
          </a:p>
        </p:txBody>
      </p:sp>
      <p:sp>
        <p:nvSpPr>
          <p:cNvPr id="35" name="Text 33"/>
          <p:cNvSpPr/>
          <p:nvPr/>
        </p:nvSpPr>
        <p:spPr>
          <a:xfrm>
            <a:off x="8275320" y="393192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Compliance-as-code: continuous SP800-207 verification</a:t>
            </a:r>
            <a:endParaRPr lang="en-US" sz="850" dirty="0"/>
          </a:p>
        </p:txBody>
      </p:sp>
      <p:sp>
        <p:nvSpPr>
          <p:cNvPr id="36" name="Shape 34"/>
          <p:cNvSpPr/>
          <p:nvPr/>
        </p:nvSpPr>
        <p:spPr>
          <a:xfrm>
            <a:off x="457200" y="4389120"/>
            <a:ext cx="3703320" cy="1417320"/>
          </a:xfrm>
          <a:prstGeom prst="rect">
            <a:avLst/>
          </a:prstGeom>
          <a:solidFill>
            <a:srgbClr val="FFFFFF"/>
          </a:solidFill>
          <a:ln w="6350">
            <a:solidFill>
              <a:srgbClr val="E5E9EE"/>
            </a:solidFill>
            <a:prstDash val="solid"/>
          </a:ln>
        </p:spPr>
        <p:txBody>
          <a:bodyPr/>
          <a:lstStyle/>
          <a:p>
            <a:endParaRPr lang="en-US"/>
          </a:p>
        </p:txBody>
      </p:sp>
      <p:sp>
        <p:nvSpPr>
          <p:cNvPr id="37" name="Shape 35"/>
          <p:cNvSpPr/>
          <p:nvPr/>
        </p:nvSpPr>
        <p:spPr>
          <a:xfrm>
            <a:off x="457200" y="4389120"/>
            <a:ext cx="3703320" cy="292608"/>
          </a:xfrm>
          <a:prstGeom prst="rect">
            <a:avLst/>
          </a:prstGeom>
          <a:solidFill>
            <a:srgbClr val="1C7293"/>
          </a:solidFill>
          <a:ln/>
        </p:spPr>
        <p:txBody>
          <a:bodyPr/>
          <a:lstStyle/>
          <a:p>
            <a:endParaRPr lang="en-US"/>
          </a:p>
        </p:txBody>
      </p:sp>
      <p:sp>
        <p:nvSpPr>
          <p:cNvPr id="38" name="Text 36"/>
          <p:cNvSpPr/>
          <p:nvPr/>
        </p:nvSpPr>
        <p:spPr>
          <a:xfrm>
            <a:off x="566928" y="438912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07   Vendor Migration Safety</a:t>
            </a:r>
            <a:endParaRPr lang="en-US" sz="1100" dirty="0"/>
          </a:p>
        </p:txBody>
      </p:sp>
      <p:sp>
        <p:nvSpPr>
          <p:cNvPr id="39" name="Text 37"/>
          <p:cNvSpPr/>
          <p:nvPr/>
        </p:nvSpPr>
        <p:spPr>
          <a:xfrm>
            <a:off x="594360" y="475488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Models the before/after config when migrating between NGFW vendors. Proves no security regression.</a:t>
            </a:r>
            <a:endParaRPr lang="en-US" sz="950" dirty="0"/>
          </a:p>
        </p:txBody>
      </p:sp>
      <p:sp>
        <p:nvSpPr>
          <p:cNvPr id="40" name="Text 38"/>
          <p:cNvSpPr/>
          <p:nvPr/>
        </p:nvSpPr>
        <p:spPr>
          <a:xfrm>
            <a:off x="594360" y="544068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Risk during PAN→Fortinet migrations, Cisco→Palo refresh cycles</a:t>
            </a:r>
            <a:endParaRPr lang="en-US" sz="850" dirty="0"/>
          </a:p>
        </p:txBody>
      </p:sp>
      <p:sp>
        <p:nvSpPr>
          <p:cNvPr id="41" name="Shape 39"/>
          <p:cNvSpPr/>
          <p:nvPr/>
        </p:nvSpPr>
        <p:spPr>
          <a:xfrm>
            <a:off x="4297680" y="4389120"/>
            <a:ext cx="3703320" cy="1417320"/>
          </a:xfrm>
          <a:prstGeom prst="rect">
            <a:avLst/>
          </a:prstGeom>
          <a:solidFill>
            <a:srgbClr val="FFFFFF"/>
          </a:solidFill>
          <a:ln w="6350">
            <a:solidFill>
              <a:srgbClr val="E5E9EE"/>
            </a:solidFill>
            <a:prstDash val="solid"/>
          </a:ln>
        </p:spPr>
        <p:txBody>
          <a:bodyPr/>
          <a:lstStyle/>
          <a:p>
            <a:endParaRPr lang="en-US"/>
          </a:p>
        </p:txBody>
      </p:sp>
      <p:sp>
        <p:nvSpPr>
          <p:cNvPr id="42" name="Shape 40"/>
          <p:cNvSpPr/>
          <p:nvPr/>
        </p:nvSpPr>
        <p:spPr>
          <a:xfrm>
            <a:off x="4297680" y="4389120"/>
            <a:ext cx="3703320" cy="292608"/>
          </a:xfrm>
          <a:prstGeom prst="rect">
            <a:avLst/>
          </a:prstGeom>
          <a:solidFill>
            <a:srgbClr val="1C7293"/>
          </a:solidFill>
          <a:ln/>
        </p:spPr>
        <p:txBody>
          <a:bodyPr/>
          <a:lstStyle/>
          <a:p>
            <a:endParaRPr lang="en-US"/>
          </a:p>
        </p:txBody>
      </p:sp>
      <p:sp>
        <p:nvSpPr>
          <p:cNvPr id="43" name="Text 41"/>
          <p:cNvSpPr/>
          <p:nvPr/>
        </p:nvSpPr>
        <p:spPr>
          <a:xfrm>
            <a:off x="4407408" y="438912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08   Mergers &amp; Acquisitions Due Diligence</a:t>
            </a:r>
            <a:endParaRPr lang="en-US" sz="1100" dirty="0"/>
          </a:p>
        </p:txBody>
      </p:sp>
      <p:sp>
        <p:nvSpPr>
          <p:cNvPr id="44" name="Text 42"/>
          <p:cNvSpPr/>
          <p:nvPr/>
        </p:nvSpPr>
        <p:spPr>
          <a:xfrm>
            <a:off x="4434840" y="475488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Models combined defense posture pre-merger. Surfaces what gaps the acquired entity introduces.</a:t>
            </a:r>
            <a:endParaRPr lang="en-US" sz="950" dirty="0"/>
          </a:p>
        </p:txBody>
      </p:sp>
      <p:sp>
        <p:nvSpPr>
          <p:cNvPr id="45" name="Text 43"/>
          <p:cNvSpPr/>
          <p:nvPr/>
        </p:nvSpPr>
        <p:spPr>
          <a:xfrm>
            <a:off x="4434840" y="544068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Inherited misconfigurations, undocumented trust paths</a:t>
            </a:r>
            <a:endParaRPr lang="en-US" sz="850" dirty="0"/>
          </a:p>
        </p:txBody>
      </p:sp>
      <p:sp>
        <p:nvSpPr>
          <p:cNvPr id="46" name="Shape 44"/>
          <p:cNvSpPr/>
          <p:nvPr/>
        </p:nvSpPr>
        <p:spPr>
          <a:xfrm>
            <a:off x="8138160" y="4389120"/>
            <a:ext cx="3703320" cy="1417320"/>
          </a:xfrm>
          <a:prstGeom prst="rect">
            <a:avLst/>
          </a:prstGeom>
          <a:solidFill>
            <a:srgbClr val="FFFFFF"/>
          </a:solidFill>
          <a:ln w="6350">
            <a:solidFill>
              <a:srgbClr val="E5E9EE"/>
            </a:solidFill>
            <a:prstDash val="solid"/>
          </a:ln>
        </p:spPr>
        <p:txBody>
          <a:bodyPr/>
          <a:lstStyle/>
          <a:p>
            <a:endParaRPr lang="en-US"/>
          </a:p>
        </p:txBody>
      </p:sp>
      <p:sp>
        <p:nvSpPr>
          <p:cNvPr id="47" name="Shape 45"/>
          <p:cNvSpPr/>
          <p:nvPr/>
        </p:nvSpPr>
        <p:spPr>
          <a:xfrm>
            <a:off x="8138160" y="4389120"/>
            <a:ext cx="3703320" cy="292608"/>
          </a:xfrm>
          <a:prstGeom prst="rect">
            <a:avLst/>
          </a:prstGeom>
          <a:solidFill>
            <a:srgbClr val="1C7293"/>
          </a:solidFill>
          <a:ln/>
        </p:spPr>
        <p:txBody>
          <a:bodyPr/>
          <a:lstStyle/>
          <a:p>
            <a:endParaRPr lang="en-US"/>
          </a:p>
        </p:txBody>
      </p:sp>
      <p:sp>
        <p:nvSpPr>
          <p:cNvPr id="48" name="Text 46"/>
          <p:cNvSpPr/>
          <p:nvPr/>
        </p:nvSpPr>
        <p:spPr>
          <a:xfrm>
            <a:off x="8247888" y="438912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09   Third-Party / Supply Chain</a:t>
            </a:r>
            <a:endParaRPr lang="en-US" sz="1100" dirty="0"/>
          </a:p>
        </p:txBody>
      </p:sp>
      <p:sp>
        <p:nvSpPr>
          <p:cNvPr id="49" name="Text 47"/>
          <p:cNvSpPr/>
          <p:nvPr/>
        </p:nvSpPr>
        <p:spPr>
          <a:xfrm>
            <a:off x="8275320" y="475488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Extends EASM scan coverage across third-party ecosystem. Real example: EU national agency proved compliance across 12 government agencies.</a:t>
            </a:r>
            <a:endParaRPr lang="en-US" sz="950" dirty="0"/>
          </a:p>
        </p:txBody>
      </p:sp>
      <p:sp>
        <p:nvSpPr>
          <p:cNvPr id="50" name="Text 48"/>
          <p:cNvSpPr/>
          <p:nvPr/>
        </p:nvSpPr>
        <p:spPr>
          <a:xfrm>
            <a:off x="8275320" y="544068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Supply-chain pivots, third-party VPN footholds (Volt Typhoon vector)</a:t>
            </a:r>
            <a:endParaRPr lang="en-US" sz="850" dirty="0"/>
          </a:p>
        </p:txBody>
      </p:sp>
      <p:sp>
        <p:nvSpPr>
          <p:cNvPr id="51" name="Text 49"/>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Use cases 1-5 are direct Volt/Salt counters. Use cases 6-9 extend Rigor's value across the broader cyber operating model.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HONEST ASSESSMENT</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Where Rigor Needs Help — Why ACECARD Belongs Next to It</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Rigor closes the configuration attack surface mathematically. But three classes of attack remain — exactly where Volt and Salt Typhoon also operate.</a:t>
            </a:r>
            <a:endParaRPr lang="en-US" sz="1300" dirty="0"/>
          </a:p>
        </p:txBody>
      </p:sp>
      <p:sp>
        <p:nvSpPr>
          <p:cNvPr id="6" name="Shape 4"/>
          <p:cNvSpPr/>
          <p:nvPr/>
        </p:nvSpPr>
        <p:spPr>
          <a:xfrm>
            <a:off x="457200" y="1371600"/>
            <a:ext cx="11247120" cy="1645920"/>
          </a:xfrm>
          <a:prstGeom prst="rect">
            <a:avLst/>
          </a:prstGeom>
          <a:solidFill>
            <a:srgbClr val="F7F8FA"/>
          </a:solidFill>
          <a:ln w="6350">
            <a:solidFill>
              <a:srgbClr val="E5E9EE"/>
            </a:solidFill>
            <a:prstDash val="solid"/>
          </a:ln>
        </p:spPr>
        <p:txBody>
          <a:bodyPr/>
          <a:lstStyle/>
          <a:p>
            <a:endParaRPr lang="en-US"/>
          </a:p>
        </p:txBody>
      </p:sp>
      <p:sp>
        <p:nvSpPr>
          <p:cNvPr id="7" name="Shape 5"/>
          <p:cNvSpPr/>
          <p:nvPr/>
        </p:nvSpPr>
        <p:spPr>
          <a:xfrm>
            <a:off x="457200" y="1371600"/>
            <a:ext cx="73152" cy="1645920"/>
          </a:xfrm>
          <a:prstGeom prst="rect">
            <a:avLst/>
          </a:prstGeom>
          <a:solidFill>
            <a:srgbClr val="F26B1F"/>
          </a:solidFill>
          <a:ln/>
        </p:spPr>
        <p:txBody>
          <a:bodyPr/>
          <a:lstStyle/>
          <a:p>
            <a:endParaRPr lang="en-US"/>
          </a:p>
        </p:txBody>
      </p:sp>
      <p:sp>
        <p:nvSpPr>
          <p:cNvPr id="8" name="Text 6"/>
          <p:cNvSpPr/>
          <p:nvPr/>
        </p:nvSpPr>
        <p:spPr>
          <a:xfrm>
            <a:off x="640080" y="1463040"/>
            <a:ext cx="59436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1. Zero-Day &amp; Unknown TTPs</a:t>
            </a:r>
            <a:endParaRPr lang="en-US" sz="1300" dirty="0"/>
          </a:p>
        </p:txBody>
      </p:sp>
      <p:sp>
        <p:nvSpPr>
          <p:cNvPr id="9" name="Text 7"/>
          <p:cNvSpPr/>
          <p:nvPr/>
        </p:nvSpPr>
        <p:spPr>
          <a:xfrm>
            <a:off x="640080" y="1783080"/>
            <a:ext cx="5943600" cy="59436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Rigor preempts every TTP that's been mapped to MITRE ATT&amp;CK. A genuine zero-day with no signature, no IOC, no MITRE mapping yet has nothing for Rigor to formally prove against.</a:t>
            </a:r>
            <a:endParaRPr lang="en-US" sz="1000" dirty="0"/>
          </a:p>
        </p:txBody>
      </p:sp>
      <p:sp>
        <p:nvSpPr>
          <p:cNvPr id="10" name="Text 8"/>
          <p:cNvSpPr/>
          <p:nvPr/>
        </p:nvSpPr>
        <p:spPr>
          <a:xfrm>
            <a:off x="640080" y="2377440"/>
            <a:ext cx="5943600" cy="50292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Example: A Volt Typhoon exploit chain published the day after Rigor's threat-intel sync. Rigor catches it on the next sync cycle (minutes-hours). In the gap, behavioral detection is the only line of defense.</a:t>
            </a:r>
            <a:endParaRPr lang="en-US" sz="900" dirty="0"/>
          </a:p>
        </p:txBody>
      </p:sp>
      <p:sp>
        <p:nvSpPr>
          <p:cNvPr id="11" name="Shape 9"/>
          <p:cNvSpPr/>
          <p:nvPr/>
        </p:nvSpPr>
        <p:spPr>
          <a:xfrm>
            <a:off x="6858000" y="1463040"/>
            <a:ext cx="4754880" cy="1463040"/>
          </a:xfrm>
          <a:prstGeom prst="rect">
            <a:avLst/>
          </a:prstGeom>
          <a:solidFill>
            <a:srgbClr val="0B1F3A"/>
          </a:solidFill>
          <a:ln/>
        </p:spPr>
        <p:txBody>
          <a:bodyPr/>
          <a:lstStyle/>
          <a:p>
            <a:endParaRPr lang="en-US"/>
          </a:p>
        </p:txBody>
      </p:sp>
      <p:sp>
        <p:nvSpPr>
          <p:cNvPr id="12" name="Text 10"/>
          <p:cNvSpPr/>
          <p:nvPr/>
        </p:nvSpPr>
        <p:spPr>
          <a:xfrm>
            <a:off x="6995160" y="1554480"/>
            <a:ext cx="4480560" cy="274320"/>
          </a:xfrm>
          <a:prstGeom prst="rect">
            <a:avLst/>
          </a:prstGeom>
          <a:noFill/>
          <a:ln/>
        </p:spPr>
        <p:txBody>
          <a:bodyPr wrap="square" lIns="0" tIns="0" rIns="0" bIns="0" rtlCol="0" anchor="t"/>
          <a:lstStyle/>
          <a:p>
            <a:pPr marL="0" indent="0">
              <a:buNone/>
            </a:pPr>
            <a:r>
              <a:rPr lang="en-US" sz="1000" b="1" kern="0" spc="30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13" name="Text 11"/>
          <p:cNvSpPr/>
          <p:nvPr/>
        </p:nvSpPr>
        <p:spPr>
          <a:xfrm>
            <a:off x="6995160" y="1874520"/>
            <a:ext cx="4480560" cy="105156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 ACECARD UEBA detects the resulting behavioral drift even with no MITRE label.</a:t>
            </a:r>
            <a:endParaRPr lang="en-US" sz="1100" dirty="0"/>
          </a:p>
        </p:txBody>
      </p:sp>
      <p:sp>
        <p:nvSpPr>
          <p:cNvPr id="14" name="Shape 12"/>
          <p:cNvSpPr/>
          <p:nvPr/>
        </p:nvSpPr>
        <p:spPr>
          <a:xfrm>
            <a:off x="457200" y="3063240"/>
            <a:ext cx="11247120" cy="16459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457200" y="3063240"/>
            <a:ext cx="73152" cy="1645920"/>
          </a:xfrm>
          <a:prstGeom prst="rect">
            <a:avLst/>
          </a:prstGeom>
          <a:solidFill>
            <a:srgbClr val="F26B1F"/>
          </a:solidFill>
          <a:ln/>
        </p:spPr>
        <p:txBody>
          <a:bodyPr/>
          <a:lstStyle/>
          <a:p>
            <a:endParaRPr lang="en-US"/>
          </a:p>
        </p:txBody>
      </p:sp>
      <p:sp>
        <p:nvSpPr>
          <p:cNvPr id="16" name="Text 14"/>
          <p:cNvSpPr/>
          <p:nvPr/>
        </p:nvSpPr>
        <p:spPr>
          <a:xfrm>
            <a:off x="640080" y="3154680"/>
            <a:ext cx="59436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2. Compromised Valid Accounts</a:t>
            </a:r>
            <a:endParaRPr lang="en-US" sz="1300" dirty="0"/>
          </a:p>
        </p:txBody>
      </p:sp>
      <p:sp>
        <p:nvSpPr>
          <p:cNvPr id="17" name="Text 15"/>
          <p:cNvSpPr/>
          <p:nvPr/>
        </p:nvSpPr>
        <p:spPr>
          <a:xfrm>
            <a:off x="640080" y="3474720"/>
            <a:ext cx="5943600" cy="59436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Volt Typhoon and Salt Typhoon both abuse stolen, valid credentials. A correctly-configured firewall, IdP, and EDR will allow that traffic — by design. Configuration is not the attack surface here; behavior is.</a:t>
            </a:r>
            <a:endParaRPr lang="en-US" sz="1000" dirty="0"/>
          </a:p>
        </p:txBody>
      </p:sp>
      <p:sp>
        <p:nvSpPr>
          <p:cNvPr id="18" name="Text 16"/>
          <p:cNvSpPr/>
          <p:nvPr/>
        </p:nvSpPr>
        <p:spPr>
          <a:xfrm>
            <a:off x="640080" y="4069080"/>
            <a:ext cx="5943600" cy="50292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Example: Salt Typhoon harvests TACACS+ credentials from a router PCAP, then logs in as a legitimate network admin. Every Rigor-verified control says "approved." The attacker walks past the gate using a real key.</a:t>
            </a:r>
            <a:endParaRPr lang="en-US" sz="900" dirty="0"/>
          </a:p>
        </p:txBody>
      </p:sp>
      <p:sp>
        <p:nvSpPr>
          <p:cNvPr id="19" name="Shape 17"/>
          <p:cNvSpPr/>
          <p:nvPr/>
        </p:nvSpPr>
        <p:spPr>
          <a:xfrm>
            <a:off x="6858000" y="3154680"/>
            <a:ext cx="4754880" cy="1463040"/>
          </a:xfrm>
          <a:prstGeom prst="rect">
            <a:avLst/>
          </a:prstGeom>
          <a:solidFill>
            <a:srgbClr val="0B1F3A"/>
          </a:solidFill>
          <a:ln/>
        </p:spPr>
        <p:txBody>
          <a:bodyPr/>
          <a:lstStyle/>
          <a:p>
            <a:endParaRPr lang="en-US"/>
          </a:p>
        </p:txBody>
      </p:sp>
      <p:sp>
        <p:nvSpPr>
          <p:cNvPr id="20" name="Text 18"/>
          <p:cNvSpPr/>
          <p:nvPr/>
        </p:nvSpPr>
        <p:spPr>
          <a:xfrm>
            <a:off x="6995160" y="3246120"/>
            <a:ext cx="4480560" cy="274320"/>
          </a:xfrm>
          <a:prstGeom prst="rect">
            <a:avLst/>
          </a:prstGeom>
          <a:noFill/>
          <a:ln/>
        </p:spPr>
        <p:txBody>
          <a:bodyPr wrap="square" lIns="0" tIns="0" rIns="0" bIns="0" rtlCol="0" anchor="t"/>
          <a:lstStyle/>
          <a:p>
            <a:pPr marL="0" indent="0">
              <a:buNone/>
            </a:pPr>
            <a:r>
              <a:rPr lang="en-US" sz="1000" b="1" kern="0" spc="30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21" name="Text 19"/>
          <p:cNvSpPr/>
          <p:nvPr/>
        </p:nvSpPr>
        <p:spPr>
          <a:xfrm>
            <a:off x="6995160" y="3566160"/>
            <a:ext cx="4480560" cy="105156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 ACECARD's cohort z-score and cosine drift catch the abuse — same admin, structurally different behavior.</a:t>
            </a:r>
            <a:endParaRPr lang="en-US" sz="1100" dirty="0"/>
          </a:p>
        </p:txBody>
      </p:sp>
      <p:sp>
        <p:nvSpPr>
          <p:cNvPr id="22" name="Shape 20"/>
          <p:cNvSpPr/>
          <p:nvPr/>
        </p:nvSpPr>
        <p:spPr>
          <a:xfrm>
            <a:off x="457200" y="4754880"/>
            <a:ext cx="11247120" cy="1645920"/>
          </a:xfrm>
          <a:prstGeom prst="rect">
            <a:avLst/>
          </a:prstGeom>
          <a:solidFill>
            <a:srgbClr val="F7F8FA"/>
          </a:solidFill>
          <a:ln w="6350">
            <a:solidFill>
              <a:srgbClr val="E5E9EE"/>
            </a:solidFill>
            <a:prstDash val="solid"/>
          </a:ln>
        </p:spPr>
        <p:txBody>
          <a:bodyPr/>
          <a:lstStyle/>
          <a:p>
            <a:endParaRPr lang="en-US"/>
          </a:p>
        </p:txBody>
      </p:sp>
      <p:sp>
        <p:nvSpPr>
          <p:cNvPr id="23" name="Shape 21"/>
          <p:cNvSpPr/>
          <p:nvPr/>
        </p:nvSpPr>
        <p:spPr>
          <a:xfrm>
            <a:off x="457200" y="4754880"/>
            <a:ext cx="73152" cy="1645920"/>
          </a:xfrm>
          <a:prstGeom prst="rect">
            <a:avLst/>
          </a:prstGeom>
          <a:solidFill>
            <a:srgbClr val="F26B1F"/>
          </a:solidFill>
          <a:ln/>
        </p:spPr>
        <p:txBody>
          <a:bodyPr/>
          <a:lstStyle/>
          <a:p>
            <a:endParaRPr lang="en-US"/>
          </a:p>
        </p:txBody>
      </p:sp>
      <p:sp>
        <p:nvSpPr>
          <p:cNvPr id="24" name="Text 22"/>
          <p:cNvSpPr/>
          <p:nvPr/>
        </p:nvSpPr>
        <p:spPr>
          <a:xfrm>
            <a:off x="640080" y="4846320"/>
            <a:ext cx="59436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3. Living-off-the-Land Tradecraft</a:t>
            </a:r>
            <a:endParaRPr lang="en-US" sz="1300" dirty="0"/>
          </a:p>
        </p:txBody>
      </p:sp>
      <p:sp>
        <p:nvSpPr>
          <p:cNvPr id="25" name="Text 23"/>
          <p:cNvSpPr/>
          <p:nvPr/>
        </p:nvSpPr>
        <p:spPr>
          <a:xfrm>
            <a:off x="640080" y="5166360"/>
            <a:ext cx="5943600" cy="59436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ntdsutil, wmic, netsh, rundll32, PowerShell — every binary Volt Typhoon uses is a legitimate Windows administrative tool. EDR script-control profiles can restrict them, and Rigor verifies those profiles are deployed. But sysadmins also use these tools daily — restricting them entirely is operationally infeasible.</a:t>
            </a:r>
            <a:endParaRPr lang="en-US" sz="1000" dirty="0"/>
          </a:p>
        </p:txBody>
      </p:sp>
      <p:sp>
        <p:nvSpPr>
          <p:cNvPr id="26" name="Text 24"/>
          <p:cNvSpPr/>
          <p:nvPr/>
        </p:nvSpPr>
        <p:spPr>
          <a:xfrm>
            <a:off x="640080" y="5760720"/>
            <a:ext cx="5943600" cy="50292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Example: Volt Typhoon runs ntdsutil.exe ifm "create full c:\temp" — a real administrative command. Rigor verifies EDR coverage is on. The command itself is the threat — only behavioral context separates the admin from the adversary.</a:t>
            </a:r>
            <a:endParaRPr lang="en-US" sz="900" dirty="0"/>
          </a:p>
        </p:txBody>
      </p:sp>
      <p:sp>
        <p:nvSpPr>
          <p:cNvPr id="27" name="Shape 25"/>
          <p:cNvSpPr/>
          <p:nvPr/>
        </p:nvSpPr>
        <p:spPr>
          <a:xfrm>
            <a:off x="6858000" y="4846320"/>
            <a:ext cx="4754880" cy="1463040"/>
          </a:xfrm>
          <a:prstGeom prst="rect">
            <a:avLst/>
          </a:prstGeom>
          <a:solidFill>
            <a:srgbClr val="0B1F3A"/>
          </a:solidFill>
          <a:ln/>
        </p:spPr>
        <p:txBody>
          <a:bodyPr/>
          <a:lstStyle/>
          <a:p>
            <a:endParaRPr lang="en-US"/>
          </a:p>
        </p:txBody>
      </p:sp>
      <p:sp>
        <p:nvSpPr>
          <p:cNvPr id="28" name="Text 26"/>
          <p:cNvSpPr/>
          <p:nvPr/>
        </p:nvSpPr>
        <p:spPr>
          <a:xfrm>
            <a:off x="6995160" y="4937760"/>
            <a:ext cx="4480560" cy="274320"/>
          </a:xfrm>
          <a:prstGeom prst="rect">
            <a:avLst/>
          </a:prstGeom>
          <a:noFill/>
          <a:ln/>
        </p:spPr>
        <p:txBody>
          <a:bodyPr wrap="square" lIns="0" tIns="0" rIns="0" bIns="0" rtlCol="0" anchor="t"/>
          <a:lstStyle/>
          <a:p>
            <a:pPr marL="0" indent="0">
              <a:buNone/>
            </a:pPr>
            <a:r>
              <a:rPr lang="en-US" sz="1000" b="1" kern="0" spc="30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29" name="Text 27"/>
          <p:cNvSpPr/>
          <p:nvPr/>
        </p:nvSpPr>
        <p:spPr>
          <a:xfrm>
            <a:off x="6995160" y="5257800"/>
            <a:ext cx="4480560" cy="105156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 ACECARD's process signal embedding sees the structural shift in command-line entropy + parent-child depth + lolbin_count.</a:t>
            </a:r>
            <a:endParaRPr lang="en-US" sz="1100" dirty="0"/>
          </a:p>
        </p:txBody>
      </p:sp>
      <p:sp>
        <p:nvSpPr>
          <p:cNvPr id="30" name="Text 28"/>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These three gaps define the role of behavioral analytics. ACECARD UEBA is engineered specifically to operate inside the verified perimeter Rigor produces.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BEHAVIORAL LAYER  —  ACECARD UEBA</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Why Current UEBA Misses Volt Typhoon</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Both campaigns relied on Living-off-the-Land tradecraft. Both walked past commercial UEBA tooling for years.</a:t>
            </a:r>
            <a:endParaRPr lang="en-US" sz="1300" dirty="0"/>
          </a:p>
        </p:txBody>
      </p:sp>
      <p:sp>
        <p:nvSpPr>
          <p:cNvPr id="6" name="Shape 4"/>
          <p:cNvSpPr/>
          <p:nvPr/>
        </p:nvSpPr>
        <p:spPr>
          <a:xfrm>
            <a:off x="457200" y="1463040"/>
            <a:ext cx="3200400" cy="1097280"/>
          </a:xfrm>
          <a:prstGeom prst="rect">
            <a:avLst/>
          </a:prstGeom>
          <a:solidFill>
            <a:srgbClr val="0B1F3A"/>
          </a:solidFill>
          <a:ln/>
        </p:spPr>
        <p:txBody>
          <a:bodyPr/>
          <a:lstStyle/>
          <a:p>
            <a:endParaRPr lang="en-US"/>
          </a:p>
        </p:txBody>
      </p:sp>
      <p:sp>
        <p:nvSpPr>
          <p:cNvPr id="7" name="Text 5"/>
          <p:cNvSpPr/>
          <p:nvPr/>
        </p:nvSpPr>
        <p:spPr>
          <a:xfrm>
            <a:off x="457200" y="1508760"/>
            <a:ext cx="3200400" cy="640080"/>
          </a:xfrm>
          <a:prstGeom prst="rect">
            <a:avLst/>
          </a:prstGeom>
          <a:noFill/>
          <a:ln/>
        </p:spPr>
        <p:txBody>
          <a:bodyPr wrap="square" lIns="0" tIns="0" rIns="0" bIns="0" rtlCol="0" anchor="ctr"/>
          <a:lstStyle/>
          <a:p>
            <a:pPr marL="0" indent="0" algn="ctr">
              <a:buNone/>
            </a:pPr>
            <a:r>
              <a:rPr lang="en-US" sz="3600" b="1" dirty="0">
                <a:solidFill>
                  <a:srgbClr val="F26B1F"/>
                </a:solidFill>
                <a:latin typeface="Georgia" pitchFamily="34" charset="0"/>
                <a:ea typeface="Georgia" pitchFamily="34" charset="-122"/>
                <a:cs typeface="Georgia" pitchFamily="34" charset="-120"/>
              </a:rPr>
              <a:t>≥ 5 yrs</a:t>
            </a:r>
            <a:endParaRPr lang="en-US" sz="3600" dirty="0"/>
          </a:p>
        </p:txBody>
      </p:sp>
      <p:sp>
        <p:nvSpPr>
          <p:cNvPr id="8" name="Text 6"/>
          <p:cNvSpPr/>
          <p:nvPr/>
        </p:nvSpPr>
        <p:spPr>
          <a:xfrm>
            <a:off x="457200" y="2103120"/>
            <a:ext cx="3200400" cy="457200"/>
          </a:xfrm>
          <a:prstGeom prst="rect">
            <a:avLst/>
          </a:prstGeom>
          <a:noFill/>
          <a:ln/>
        </p:spPr>
        <p:txBody>
          <a:bodyPr wrap="square" lIns="0" tIns="0" rIns="0" bIns="0" rtlCol="0" anchor="ctr"/>
          <a:lstStyle/>
          <a:p>
            <a:pPr marL="0" indent="0" algn="ctr">
              <a:buNone/>
            </a:pPr>
            <a:r>
              <a:rPr lang="en-US" sz="1000" i="1" dirty="0">
                <a:solidFill>
                  <a:srgbClr val="FFFFFF"/>
                </a:solidFill>
                <a:latin typeface="Calibri" pitchFamily="34" charset="0"/>
                <a:ea typeface="Calibri" pitchFamily="34" charset="-122"/>
                <a:cs typeface="Calibri" pitchFamily="34" charset="-120"/>
              </a:rPr>
              <a:t>Volt Typhoon undetected dwell</a:t>
            </a:r>
            <a:endParaRPr lang="en-US" sz="1000" dirty="0"/>
          </a:p>
          <a:p>
            <a:pPr marL="0" indent="0" algn="ctr">
              <a:buNone/>
            </a:pPr>
            <a:r>
              <a:rPr lang="en-US" sz="1000" i="1" dirty="0">
                <a:solidFill>
                  <a:srgbClr val="FFFFFF"/>
                </a:solidFill>
                <a:latin typeface="Calibri" pitchFamily="34" charset="0"/>
                <a:ea typeface="Calibri" pitchFamily="34" charset="-122"/>
                <a:cs typeface="Calibri" pitchFamily="34" charset="-120"/>
              </a:rPr>
              <a:t>in U.S. critical infrastructure</a:t>
            </a:r>
            <a:endParaRPr lang="en-US" sz="1000" dirty="0"/>
          </a:p>
        </p:txBody>
      </p:sp>
      <p:sp>
        <p:nvSpPr>
          <p:cNvPr id="9" name="Text 7"/>
          <p:cNvSpPr/>
          <p:nvPr/>
        </p:nvSpPr>
        <p:spPr>
          <a:xfrm>
            <a:off x="3840480" y="1554480"/>
            <a:ext cx="7772400" cy="36576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The Four Structural Gaps in Commercial UEBA</a:t>
            </a:r>
            <a:endParaRPr lang="en-US" sz="1400" dirty="0"/>
          </a:p>
        </p:txBody>
      </p:sp>
      <p:sp>
        <p:nvSpPr>
          <p:cNvPr id="10" name="Text 8"/>
          <p:cNvSpPr/>
          <p:nvPr/>
        </p:nvSpPr>
        <p:spPr>
          <a:xfrm>
            <a:off x="3840480" y="1920240"/>
            <a:ext cx="7772400" cy="548640"/>
          </a:xfrm>
          <a:prstGeom prst="rect">
            <a:avLst/>
          </a:prstGeom>
          <a:noFill/>
          <a:ln/>
        </p:spPr>
        <p:txBody>
          <a:bodyPr wrap="square" lIns="0" tIns="0" rIns="0" bIns="0" rtlCol="0" anchor="ctr"/>
          <a:lstStyle/>
          <a:p>
            <a:pPr marL="0" indent="0">
              <a:buNone/>
            </a:pPr>
            <a:r>
              <a:rPr lang="en-US" sz="1150" i="1" dirty="0">
                <a:solidFill>
                  <a:srgbClr val="2D3748"/>
                </a:solidFill>
                <a:latin typeface="Calibri" pitchFamily="34" charset="0"/>
                <a:ea typeface="Calibri" pitchFamily="34" charset="-122"/>
                <a:cs typeface="Calibri" pitchFamily="34" charset="-120"/>
              </a:rPr>
              <a:t>Each one is exactly the gap Volt Typhoon and Salt Typhoon exploit.</a:t>
            </a:r>
            <a:endParaRPr lang="en-US" sz="1150" dirty="0"/>
          </a:p>
        </p:txBody>
      </p:sp>
      <p:sp>
        <p:nvSpPr>
          <p:cNvPr id="11" name="Shape 9"/>
          <p:cNvSpPr/>
          <p:nvPr/>
        </p:nvSpPr>
        <p:spPr>
          <a:xfrm>
            <a:off x="457200" y="2743200"/>
            <a:ext cx="5394960" cy="1783080"/>
          </a:xfrm>
          <a:prstGeom prst="rect">
            <a:avLst/>
          </a:prstGeom>
          <a:solidFill>
            <a:srgbClr val="F7F8FA"/>
          </a:solidFill>
          <a:ln w="12700">
            <a:solidFill>
              <a:srgbClr val="E5E9EE"/>
            </a:solidFill>
            <a:prstDash val="solid"/>
          </a:ln>
        </p:spPr>
        <p:txBody>
          <a:bodyPr/>
          <a:lstStyle/>
          <a:p>
            <a:endParaRPr lang="en-US"/>
          </a:p>
        </p:txBody>
      </p:sp>
      <p:sp>
        <p:nvSpPr>
          <p:cNvPr id="12" name="Shape 10"/>
          <p:cNvSpPr/>
          <p:nvPr/>
        </p:nvSpPr>
        <p:spPr>
          <a:xfrm>
            <a:off x="457200" y="2743200"/>
            <a:ext cx="640080" cy="1783080"/>
          </a:xfrm>
          <a:prstGeom prst="rect">
            <a:avLst/>
          </a:prstGeom>
          <a:solidFill>
            <a:srgbClr val="C0392B"/>
          </a:solidFill>
          <a:ln/>
        </p:spPr>
        <p:txBody>
          <a:bodyPr/>
          <a:lstStyle/>
          <a:p>
            <a:endParaRPr lang="en-US"/>
          </a:p>
        </p:txBody>
      </p:sp>
      <p:sp>
        <p:nvSpPr>
          <p:cNvPr id="13" name="Text 11"/>
          <p:cNvSpPr/>
          <p:nvPr/>
        </p:nvSpPr>
        <p:spPr>
          <a:xfrm>
            <a:off x="457200" y="283464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01</a:t>
            </a:r>
            <a:endParaRPr lang="en-US" sz="1800" dirty="0"/>
          </a:p>
        </p:txBody>
      </p:sp>
      <p:sp>
        <p:nvSpPr>
          <p:cNvPr id="14" name="Text 12"/>
          <p:cNvSpPr/>
          <p:nvPr/>
        </p:nvSpPr>
        <p:spPr>
          <a:xfrm>
            <a:off x="1234440" y="283464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Threshold-based scoring</a:t>
            </a:r>
            <a:endParaRPr lang="en-US" sz="1300" dirty="0"/>
          </a:p>
        </p:txBody>
      </p:sp>
      <p:sp>
        <p:nvSpPr>
          <p:cNvPr id="15" name="Text 13"/>
          <p:cNvSpPr/>
          <p:nvPr/>
        </p:nvSpPr>
        <p:spPr>
          <a:xfrm>
            <a:off x="1234440" y="324612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Alerts fire only when a metric crosses a fixed line. LoTL never crosses thresholds — every binary used (ntdsutil, rundll32, vssadmin, netsh) is a legitimate Windows tool used by sysadmins daily.</a:t>
            </a:r>
            <a:endParaRPr lang="en-US" sz="1050" dirty="0"/>
          </a:p>
        </p:txBody>
      </p:sp>
      <p:sp>
        <p:nvSpPr>
          <p:cNvPr id="16" name="Text 14"/>
          <p:cNvSpPr/>
          <p:nvPr/>
        </p:nvSpPr>
        <p:spPr>
          <a:xfrm>
            <a:off x="1234440" y="411480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Volt Typhoon's process tree was within 'normal' thresholds at every step.</a:t>
            </a:r>
            <a:endParaRPr lang="en-US" sz="900" dirty="0"/>
          </a:p>
        </p:txBody>
      </p:sp>
      <p:sp>
        <p:nvSpPr>
          <p:cNvPr id="17" name="Shape 15"/>
          <p:cNvSpPr/>
          <p:nvPr/>
        </p:nvSpPr>
        <p:spPr>
          <a:xfrm>
            <a:off x="6309360" y="2743200"/>
            <a:ext cx="5394960" cy="1783080"/>
          </a:xfrm>
          <a:prstGeom prst="rect">
            <a:avLst/>
          </a:prstGeom>
          <a:solidFill>
            <a:srgbClr val="F7F8FA"/>
          </a:solidFill>
          <a:ln w="12700">
            <a:solidFill>
              <a:srgbClr val="E5E9EE"/>
            </a:solidFill>
            <a:prstDash val="solid"/>
          </a:ln>
        </p:spPr>
        <p:txBody>
          <a:bodyPr/>
          <a:lstStyle/>
          <a:p>
            <a:endParaRPr lang="en-US"/>
          </a:p>
        </p:txBody>
      </p:sp>
      <p:sp>
        <p:nvSpPr>
          <p:cNvPr id="18" name="Shape 16"/>
          <p:cNvSpPr/>
          <p:nvPr/>
        </p:nvSpPr>
        <p:spPr>
          <a:xfrm>
            <a:off x="6309360" y="2743200"/>
            <a:ext cx="640080" cy="1783080"/>
          </a:xfrm>
          <a:prstGeom prst="rect">
            <a:avLst/>
          </a:prstGeom>
          <a:solidFill>
            <a:srgbClr val="C0392B"/>
          </a:solidFill>
          <a:ln/>
        </p:spPr>
        <p:txBody>
          <a:bodyPr/>
          <a:lstStyle/>
          <a:p>
            <a:endParaRPr lang="en-US"/>
          </a:p>
        </p:txBody>
      </p:sp>
      <p:sp>
        <p:nvSpPr>
          <p:cNvPr id="19" name="Text 17"/>
          <p:cNvSpPr/>
          <p:nvPr/>
        </p:nvSpPr>
        <p:spPr>
          <a:xfrm>
            <a:off x="6309360" y="283464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02</a:t>
            </a:r>
            <a:endParaRPr lang="en-US" sz="1800" dirty="0"/>
          </a:p>
        </p:txBody>
      </p:sp>
      <p:sp>
        <p:nvSpPr>
          <p:cNvPr id="20" name="Text 18"/>
          <p:cNvSpPr/>
          <p:nvPr/>
        </p:nvSpPr>
        <p:spPr>
          <a:xfrm>
            <a:off x="7086600" y="283464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Per-source siloed analytics</a:t>
            </a:r>
            <a:endParaRPr lang="en-US" sz="1300" dirty="0"/>
          </a:p>
        </p:txBody>
      </p:sp>
      <p:sp>
        <p:nvSpPr>
          <p:cNvPr id="21" name="Text 19"/>
          <p:cNvSpPr/>
          <p:nvPr/>
        </p:nvSpPr>
        <p:spPr>
          <a:xfrm>
            <a:off x="7086600" y="324612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Each tool sees one identity. AD sees `jsmith@corp`, AAD sees `john.smith@corp.com`, AWS sees `arn:aws:iam::842:user/jsmith`. Without entity resolution, lateral movement reads as 4 unrelated weak signals.</a:t>
            </a:r>
            <a:endParaRPr lang="en-US" sz="1050" dirty="0"/>
          </a:p>
        </p:txBody>
      </p:sp>
      <p:sp>
        <p:nvSpPr>
          <p:cNvPr id="22" name="Text 20"/>
          <p:cNvSpPr/>
          <p:nvPr/>
        </p:nvSpPr>
        <p:spPr>
          <a:xfrm>
            <a:off x="7086600" y="411480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Cross-domain attack chains never escalate above per-source noise.</a:t>
            </a:r>
            <a:endParaRPr lang="en-US" sz="900" dirty="0"/>
          </a:p>
        </p:txBody>
      </p:sp>
      <p:sp>
        <p:nvSpPr>
          <p:cNvPr id="23" name="Shape 21"/>
          <p:cNvSpPr/>
          <p:nvPr/>
        </p:nvSpPr>
        <p:spPr>
          <a:xfrm>
            <a:off x="457200" y="4617720"/>
            <a:ext cx="5394960" cy="1783080"/>
          </a:xfrm>
          <a:prstGeom prst="rect">
            <a:avLst/>
          </a:prstGeom>
          <a:solidFill>
            <a:srgbClr val="F7F8FA"/>
          </a:solidFill>
          <a:ln w="12700">
            <a:solidFill>
              <a:srgbClr val="E5E9EE"/>
            </a:solidFill>
            <a:prstDash val="solid"/>
          </a:ln>
        </p:spPr>
        <p:txBody>
          <a:bodyPr/>
          <a:lstStyle/>
          <a:p>
            <a:endParaRPr lang="en-US"/>
          </a:p>
        </p:txBody>
      </p:sp>
      <p:sp>
        <p:nvSpPr>
          <p:cNvPr id="24" name="Shape 22"/>
          <p:cNvSpPr/>
          <p:nvPr/>
        </p:nvSpPr>
        <p:spPr>
          <a:xfrm>
            <a:off x="457200" y="4617720"/>
            <a:ext cx="640080" cy="1783080"/>
          </a:xfrm>
          <a:prstGeom prst="rect">
            <a:avLst/>
          </a:prstGeom>
          <a:solidFill>
            <a:srgbClr val="C0392B"/>
          </a:solidFill>
          <a:ln/>
        </p:spPr>
        <p:txBody>
          <a:bodyPr/>
          <a:lstStyle/>
          <a:p>
            <a:endParaRPr lang="en-US"/>
          </a:p>
        </p:txBody>
      </p:sp>
      <p:sp>
        <p:nvSpPr>
          <p:cNvPr id="25" name="Text 23"/>
          <p:cNvSpPr/>
          <p:nvPr/>
        </p:nvSpPr>
        <p:spPr>
          <a:xfrm>
            <a:off x="457200" y="470916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03</a:t>
            </a:r>
            <a:endParaRPr lang="en-US" sz="1800" dirty="0"/>
          </a:p>
        </p:txBody>
      </p:sp>
      <p:sp>
        <p:nvSpPr>
          <p:cNvPr id="26" name="Text 24"/>
          <p:cNvSpPr/>
          <p:nvPr/>
        </p:nvSpPr>
        <p:spPr>
          <a:xfrm>
            <a:off x="1234440" y="470916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Static rules, decaying coverage</a:t>
            </a:r>
            <a:endParaRPr lang="en-US" sz="1300" dirty="0"/>
          </a:p>
        </p:txBody>
      </p:sp>
      <p:sp>
        <p:nvSpPr>
          <p:cNvPr id="27" name="Text 25"/>
          <p:cNvSpPr/>
          <p:nvPr/>
        </p:nvSpPr>
        <p:spPr>
          <a:xfrm>
            <a:off x="1234440" y="512064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Sigma/CAR rules require maintenance debt — adversary TTPs evolve faster than rule libraries. PRC actors actively test against published detections before campaigns.</a:t>
            </a:r>
            <a:endParaRPr lang="en-US" sz="1050" dirty="0"/>
          </a:p>
        </p:txBody>
      </p:sp>
      <p:sp>
        <p:nvSpPr>
          <p:cNvPr id="28" name="Text 26"/>
          <p:cNvSpPr/>
          <p:nvPr/>
        </p:nvSpPr>
        <p:spPr>
          <a:xfrm>
            <a:off x="1234440" y="598932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By the time a Sigma rule is published, the tradecraft has moved on.</a:t>
            </a:r>
            <a:endParaRPr lang="en-US" sz="900" dirty="0"/>
          </a:p>
        </p:txBody>
      </p:sp>
      <p:sp>
        <p:nvSpPr>
          <p:cNvPr id="29" name="Shape 27"/>
          <p:cNvSpPr/>
          <p:nvPr/>
        </p:nvSpPr>
        <p:spPr>
          <a:xfrm>
            <a:off x="6309360" y="4617720"/>
            <a:ext cx="5394960" cy="1783080"/>
          </a:xfrm>
          <a:prstGeom prst="rect">
            <a:avLst/>
          </a:prstGeom>
          <a:solidFill>
            <a:srgbClr val="F7F8FA"/>
          </a:solidFill>
          <a:ln w="12700">
            <a:solidFill>
              <a:srgbClr val="E5E9EE"/>
            </a:solidFill>
            <a:prstDash val="solid"/>
          </a:ln>
        </p:spPr>
        <p:txBody>
          <a:bodyPr/>
          <a:lstStyle/>
          <a:p>
            <a:endParaRPr lang="en-US"/>
          </a:p>
        </p:txBody>
      </p:sp>
      <p:sp>
        <p:nvSpPr>
          <p:cNvPr id="30" name="Shape 28"/>
          <p:cNvSpPr/>
          <p:nvPr/>
        </p:nvSpPr>
        <p:spPr>
          <a:xfrm>
            <a:off x="6309360" y="4617720"/>
            <a:ext cx="640080" cy="1783080"/>
          </a:xfrm>
          <a:prstGeom prst="rect">
            <a:avLst/>
          </a:prstGeom>
          <a:solidFill>
            <a:srgbClr val="C0392B"/>
          </a:solidFill>
          <a:ln/>
        </p:spPr>
        <p:txBody>
          <a:bodyPr/>
          <a:lstStyle/>
          <a:p>
            <a:endParaRPr lang="en-US"/>
          </a:p>
        </p:txBody>
      </p:sp>
      <p:sp>
        <p:nvSpPr>
          <p:cNvPr id="31" name="Text 29"/>
          <p:cNvSpPr/>
          <p:nvPr/>
        </p:nvSpPr>
        <p:spPr>
          <a:xfrm>
            <a:off x="6309360" y="470916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04</a:t>
            </a:r>
            <a:endParaRPr lang="en-US" sz="1800" dirty="0"/>
          </a:p>
        </p:txBody>
      </p:sp>
      <p:sp>
        <p:nvSpPr>
          <p:cNvPr id="32" name="Text 30"/>
          <p:cNvSpPr/>
          <p:nvPr/>
        </p:nvSpPr>
        <p:spPr>
          <a:xfrm>
            <a:off x="7086600" y="470916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7086600" y="512064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Traditional UEBA produces 'user is anomalous (87%)' with no indication of WHAT the anomaly resembles. Analyst gets a number, not a hypothesis. Triage time blows out.</a:t>
            </a:r>
            <a:endParaRPr lang="en-US" sz="1050" dirty="0"/>
          </a:p>
        </p:txBody>
      </p:sp>
      <p:sp>
        <p:nvSpPr>
          <p:cNvPr id="34" name="Text 32"/>
          <p:cNvSpPr/>
          <p:nvPr/>
        </p:nvSpPr>
        <p:spPr>
          <a:xfrm>
            <a:off x="7086600" y="598932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Mean time to investigate exceeds dwell window — even when detected.</a:t>
            </a:r>
            <a:endParaRPr lang="en-US" sz="900" dirty="0"/>
          </a:p>
        </p:txBody>
      </p:sp>
      <p:sp>
        <p:nvSpPr>
          <p:cNvPr id="35" name="Text 33"/>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What's needed: continuous behavioral trajectories  ·  cross-source identity fusion  ·  explainable, MITRE-mapped drift direction.</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STRUCTURAL INNOVATIONS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Three Innovations That Close the Gap</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Not anomaly scores. Not rule libraries. Behavioral trajectory geometry.</a:t>
            </a:r>
            <a:endParaRPr lang="en-US" sz="1300" dirty="0"/>
          </a:p>
        </p:txBody>
      </p:sp>
      <p:sp>
        <p:nvSpPr>
          <p:cNvPr id="6" name="Shape 4"/>
          <p:cNvSpPr/>
          <p:nvPr/>
        </p:nvSpPr>
        <p:spPr>
          <a:xfrm>
            <a:off x="45720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7" name="Shape 5"/>
          <p:cNvSpPr/>
          <p:nvPr/>
        </p:nvSpPr>
        <p:spPr>
          <a:xfrm>
            <a:off x="457200" y="1463040"/>
            <a:ext cx="3657600" cy="457200"/>
          </a:xfrm>
          <a:prstGeom prst="rect">
            <a:avLst/>
          </a:prstGeom>
          <a:solidFill>
            <a:srgbClr val="0891B2"/>
          </a:solidFill>
          <a:ln/>
        </p:spPr>
        <p:txBody>
          <a:bodyPr/>
          <a:lstStyle/>
          <a:p>
            <a:endParaRPr lang="en-US"/>
          </a:p>
        </p:txBody>
      </p:sp>
      <p:sp>
        <p:nvSpPr>
          <p:cNvPr id="8" name="Text 6"/>
          <p:cNvSpPr/>
          <p:nvPr/>
        </p:nvSpPr>
        <p:spPr>
          <a:xfrm>
            <a:off x="59436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01</a:t>
            </a:r>
            <a:endParaRPr lang="en-US" sz="1600" dirty="0"/>
          </a:p>
        </p:txBody>
      </p:sp>
      <p:sp>
        <p:nvSpPr>
          <p:cNvPr id="9" name="Text 7"/>
          <p:cNvSpPr/>
          <p:nvPr/>
        </p:nvSpPr>
        <p:spPr>
          <a:xfrm>
            <a:off x="109728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Behavioral Trajectories</a:t>
            </a:r>
            <a:endParaRPr lang="en-US" sz="1400" dirty="0"/>
          </a:p>
        </p:txBody>
      </p:sp>
      <p:sp>
        <p:nvSpPr>
          <p:cNvPr id="10" name="Text 8"/>
          <p:cNvSpPr/>
          <p:nvPr/>
        </p:nvSpPr>
        <p:spPr>
          <a:xfrm>
            <a:off x="64008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Time-series shape, not anomaly score</a:t>
            </a:r>
            <a:endParaRPr lang="en-US" sz="1100" dirty="0"/>
          </a:p>
        </p:txBody>
      </p:sp>
      <p:sp>
        <p:nvSpPr>
          <p:cNvPr id="11" name="Text 9"/>
          <p:cNvSpPr/>
          <p:nvPr/>
        </p:nvSpPr>
        <p:spPr>
          <a:xfrm>
            <a:off x="64008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12" name="Text 10"/>
          <p:cNvSpPr/>
          <p:nvPr/>
        </p:nvSpPr>
        <p:spPr>
          <a:xfrm>
            <a:off x="64008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Each entity carries a 1536-d behavioral embedding per hour. Trajectory analytics compute cosine drift, velocity, acceleration, and CUSUM change-points on the embedding sequence.</a:t>
            </a:r>
            <a:endParaRPr lang="en-US" sz="1050" dirty="0"/>
          </a:p>
        </p:txBody>
      </p:sp>
      <p:sp>
        <p:nvSpPr>
          <p:cNvPr id="13" name="Text 11"/>
          <p:cNvSpPr/>
          <p:nvPr/>
        </p:nvSpPr>
        <p:spPr>
          <a:xfrm>
            <a:off x="64008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14" name="Text 12"/>
          <p:cNvSpPr/>
          <p:nvPr/>
        </p:nvSpPr>
        <p:spPr>
          <a:xfrm>
            <a:off x="64008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Low-and-slow LoTL that never crosses any single threshold — the exact failure mode of AA24-038A.</a:t>
            </a:r>
            <a:endParaRPr lang="en-US" sz="1050" dirty="0"/>
          </a:p>
        </p:txBody>
      </p:sp>
      <p:sp>
        <p:nvSpPr>
          <p:cNvPr id="15" name="Shape 13"/>
          <p:cNvSpPr/>
          <p:nvPr/>
        </p:nvSpPr>
        <p:spPr>
          <a:xfrm>
            <a:off x="64008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16" name="Text 14"/>
          <p:cNvSpPr/>
          <p:nvPr/>
        </p:nvSpPr>
        <p:spPr>
          <a:xfrm>
            <a:off x="73152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User has 87 failed logins → alert</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User's behavior shape changed structurally over 6 hours → CUSUM alarm with directional context</a:t>
            </a:r>
            <a:endParaRPr lang="en-US" sz="900" dirty="0"/>
          </a:p>
        </p:txBody>
      </p:sp>
      <p:sp>
        <p:nvSpPr>
          <p:cNvPr id="17" name="Shape 15"/>
          <p:cNvSpPr/>
          <p:nvPr/>
        </p:nvSpPr>
        <p:spPr>
          <a:xfrm>
            <a:off x="429768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18" name="Shape 16"/>
          <p:cNvSpPr/>
          <p:nvPr/>
        </p:nvSpPr>
        <p:spPr>
          <a:xfrm>
            <a:off x="4297680" y="1463040"/>
            <a:ext cx="3657600" cy="457200"/>
          </a:xfrm>
          <a:prstGeom prst="rect">
            <a:avLst/>
          </a:prstGeom>
          <a:solidFill>
            <a:srgbClr val="0891B2"/>
          </a:solidFill>
          <a:ln/>
        </p:spPr>
        <p:txBody>
          <a:bodyPr/>
          <a:lstStyle/>
          <a:p>
            <a:endParaRPr lang="en-US"/>
          </a:p>
        </p:txBody>
      </p:sp>
      <p:sp>
        <p:nvSpPr>
          <p:cNvPr id="19" name="Text 17"/>
          <p:cNvSpPr/>
          <p:nvPr/>
        </p:nvSpPr>
        <p:spPr>
          <a:xfrm>
            <a:off x="443484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02</a:t>
            </a:r>
            <a:endParaRPr lang="en-US" sz="1600" dirty="0"/>
          </a:p>
        </p:txBody>
      </p:sp>
      <p:sp>
        <p:nvSpPr>
          <p:cNvPr id="20" name="Text 18"/>
          <p:cNvSpPr/>
          <p:nvPr/>
        </p:nvSpPr>
        <p:spPr>
          <a:xfrm>
            <a:off x="493776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Composite Digital Signature</a:t>
            </a:r>
            <a:endParaRPr lang="en-US" sz="1400" dirty="0"/>
          </a:p>
        </p:txBody>
      </p:sp>
      <p:sp>
        <p:nvSpPr>
          <p:cNvPr id="21" name="Text 19"/>
          <p:cNvSpPr/>
          <p:nvPr/>
        </p:nvSpPr>
        <p:spPr>
          <a:xfrm>
            <a:off x="448056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Cross-source identity fusion as join key</a:t>
            </a:r>
            <a:endParaRPr lang="en-US" sz="1100" dirty="0"/>
          </a:p>
        </p:txBody>
      </p:sp>
      <p:sp>
        <p:nvSpPr>
          <p:cNvPr id="22" name="Text 20"/>
          <p:cNvSpPr/>
          <p:nvPr/>
        </p:nvSpPr>
        <p:spPr>
          <a:xfrm>
            <a:off x="448056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23" name="Text 21"/>
          <p:cNvSpPr/>
          <p:nvPr/>
        </p:nvSpPr>
        <p:spPr>
          <a:xfrm>
            <a:off x="448056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Every entity gets a 4-component signature per window: identity-graph hash, behavioral embedding, structural features, and an HMAC-chained trajectory history. Stable across sources, tamper-evident across time.</a:t>
            </a:r>
            <a:endParaRPr lang="en-US" sz="1050" dirty="0"/>
          </a:p>
        </p:txBody>
      </p:sp>
      <p:sp>
        <p:nvSpPr>
          <p:cNvPr id="24" name="Text 22"/>
          <p:cNvSpPr/>
          <p:nvPr/>
        </p:nvSpPr>
        <p:spPr>
          <a:xfrm>
            <a:off x="448056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25" name="Text 23"/>
          <p:cNvSpPr/>
          <p:nvPr/>
        </p:nvSpPr>
        <p:spPr>
          <a:xfrm>
            <a:off x="448056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Cross-domain attack chains where lateral movement traverses 4 identity systems on the same human operator.</a:t>
            </a:r>
            <a:endParaRPr lang="en-US" sz="1050" dirty="0"/>
          </a:p>
        </p:txBody>
      </p:sp>
      <p:sp>
        <p:nvSpPr>
          <p:cNvPr id="26" name="Shape 24"/>
          <p:cNvSpPr/>
          <p:nvPr/>
        </p:nvSpPr>
        <p:spPr>
          <a:xfrm>
            <a:off x="448056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27" name="Text 25"/>
          <p:cNvSpPr/>
          <p:nvPr/>
        </p:nvSpPr>
        <p:spPr>
          <a:xfrm>
            <a:off x="457200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AD anomaly + AAD anomaly + AWS anomaly = 3 weak signals, 3 tickets</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Same entity_uuid across all 4 sources = one trajectory, one high-confidence alert</a:t>
            </a:r>
            <a:endParaRPr lang="en-US" sz="900" dirty="0"/>
          </a:p>
        </p:txBody>
      </p:sp>
      <p:sp>
        <p:nvSpPr>
          <p:cNvPr id="28" name="Shape 26"/>
          <p:cNvSpPr/>
          <p:nvPr/>
        </p:nvSpPr>
        <p:spPr>
          <a:xfrm>
            <a:off x="813816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29" name="Shape 27"/>
          <p:cNvSpPr/>
          <p:nvPr/>
        </p:nvSpPr>
        <p:spPr>
          <a:xfrm>
            <a:off x="8138160" y="1463040"/>
            <a:ext cx="3657600" cy="457200"/>
          </a:xfrm>
          <a:prstGeom prst="rect">
            <a:avLst/>
          </a:prstGeom>
          <a:solidFill>
            <a:srgbClr val="0891B2"/>
          </a:solidFill>
          <a:ln/>
        </p:spPr>
        <p:txBody>
          <a:bodyPr/>
          <a:lstStyle/>
          <a:p>
            <a:endParaRPr lang="en-US"/>
          </a:p>
        </p:txBody>
      </p:sp>
      <p:sp>
        <p:nvSpPr>
          <p:cNvPr id="30" name="Text 28"/>
          <p:cNvSpPr/>
          <p:nvPr/>
        </p:nvSpPr>
        <p:spPr>
          <a:xfrm>
            <a:off x="827532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03</a:t>
            </a:r>
            <a:endParaRPr lang="en-US" sz="1600" dirty="0"/>
          </a:p>
        </p:txBody>
      </p:sp>
      <p:sp>
        <p:nvSpPr>
          <p:cNvPr id="31" name="Text 29"/>
          <p:cNvSpPr/>
          <p:nvPr/>
        </p:nvSpPr>
        <p:spPr>
          <a:xfrm>
            <a:off x="877824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Drift Direction with ATT&amp;CK</a:t>
            </a:r>
            <a:endParaRPr lang="en-US" sz="1400" dirty="0"/>
          </a:p>
        </p:txBody>
      </p:sp>
      <p:sp>
        <p:nvSpPr>
          <p:cNvPr id="32" name="Text 30"/>
          <p:cNvSpPr/>
          <p:nvPr/>
        </p:nvSpPr>
        <p:spPr>
          <a:xfrm>
            <a:off x="832104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Directional, mapped hypothesis</a:t>
            </a:r>
            <a:endParaRPr lang="en-US" sz="1100" dirty="0"/>
          </a:p>
        </p:txBody>
      </p:sp>
      <p:sp>
        <p:nvSpPr>
          <p:cNvPr id="33" name="Text 31"/>
          <p:cNvSpPr/>
          <p:nvPr/>
        </p:nvSpPr>
        <p:spPr>
          <a:xfrm>
            <a:off x="832104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34" name="Text 32"/>
          <p:cNvSpPr/>
          <p:nvPr/>
        </p:nvSpPr>
        <p:spPr>
          <a:xfrm>
            <a:off x="832104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When drift is detected, the drift vector (V_current − V_baseline) is projected via cosine similarity onto 8 pre-embedded threat-concept vectors. Top-3 concepts returned with MITRE ATT&amp;CK technique IDs.</a:t>
            </a:r>
            <a:endParaRPr lang="en-US" sz="1050" dirty="0"/>
          </a:p>
        </p:txBody>
      </p:sp>
      <p:sp>
        <p:nvSpPr>
          <p:cNvPr id="35" name="Text 33"/>
          <p:cNvSpPr/>
          <p:nvPr/>
        </p:nvSpPr>
        <p:spPr>
          <a:xfrm>
            <a:off x="832104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36" name="Text 34"/>
          <p:cNvSpPr/>
          <p:nvPr/>
        </p:nvSpPr>
        <p:spPr>
          <a:xfrm>
            <a:off x="832104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Analyst gets a directional hypothesis with ATT&amp;CK technique IDs ready for SOAR playbook lookup.</a:t>
            </a:r>
            <a:endParaRPr lang="en-US" sz="1050" dirty="0"/>
          </a:p>
        </p:txBody>
      </p:sp>
      <p:sp>
        <p:nvSpPr>
          <p:cNvPr id="37" name="Shape 35"/>
          <p:cNvSpPr/>
          <p:nvPr/>
        </p:nvSpPr>
        <p:spPr>
          <a:xfrm>
            <a:off x="832104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38" name="Text 36"/>
          <p:cNvSpPr/>
          <p:nvPr/>
        </p:nvSpPr>
        <p:spPr>
          <a:xfrm>
            <a:off x="841248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User jsmith risk score: 87</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jsmith drifting toward lateral_movement (0.78), credential_dumping (0.45) — T1021, T1003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THE MATH</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Math of Behavioral Drift</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piece is well-known math. The innovation is the integration: continuous embeddings + trajectory analytics + concept projection + identity fusion as one pipeline.</a:t>
            </a:r>
            <a:endParaRPr lang="en-US" sz="1200" dirty="0"/>
          </a:p>
        </p:txBody>
      </p:sp>
      <p:sp>
        <p:nvSpPr>
          <p:cNvPr id="6" name="Shape 4"/>
          <p:cNvSpPr/>
          <p:nvPr/>
        </p:nvSpPr>
        <p:spPr>
          <a:xfrm>
            <a:off x="457200" y="1463040"/>
            <a:ext cx="5394960" cy="246888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594360" y="1627632"/>
            <a:ext cx="502920" cy="502920"/>
          </a:xfrm>
          <a:prstGeom prst="ellipse">
            <a:avLst/>
          </a:prstGeom>
          <a:solidFill>
            <a:srgbClr val="0891B2"/>
          </a:solidFill>
          <a:ln/>
        </p:spPr>
        <p:txBody>
          <a:bodyPr/>
          <a:lstStyle/>
          <a:p>
            <a:endParaRPr lang="en-US"/>
          </a:p>
        </p:txBody>
      </p:sp>
      <p:sp>
        <p:nvSpPr>
          <p:cNvPr id="8" name="Text 6"/>
          <p:cNvSpPr/>
          <p:nvPr/>
        </p:nvSpPr>
        <p:spPr>
          <a:xfrm>
            <a:off x="594360" y="162763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A</a:t>
            </a:r>
            <a:endParaRPr lang="en-US" sz="2200" dirty="0"/>
          </a:p>
        </p:txBody>
      </p:sp>
      <p:sp>
        <p:nvSpPr>
          <p:cNvPr id="9" name="Text 7"/>
          <p:cNvSpPr/>
          <p:nvPr/>
        </p:nvSpPr>
        <p:spPr>
          <a:xfrm>
            <a:off x="1234440" y="164592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The Behavioral Embedding</a:t>
            </a:r>
            <a:endParaRPr lang="en-US" sz="1400" dirty="0"/>
          </a:p>
        </p:txBody>
      </p:sp>
      <p:sp>
        <p:nvSpPr>
          <p:cNvPr id="10" name="Shape 8"/>
          <p:cNvSpPr/>
          <p:nvPr/>
        </p:nvSpPr>
        <p:spPr>
          <a:xfrm>
            <a:off x="1234440" y="2103120"/>
            <a:ext cx="4480560" cy="777240"/>
          </a:xfrm>
          <a:prstGeom prst="rect">
            <a:avLst/>
          </a:prstGeom>
          <a:solidFill>
            <a:srgbClr val="0B1F3A"/>
          </a:solidFill>
          <a:ln/>
        </p:spPr>
        <p:txBody>
          <a:bodyPr/>
          <a:lstStyle/>
          <a:p>
            <a:endParaRPr lang="en-US"/>
          </a:p>
        </p:txBody>
      </p:sp>
      <p:sp>
        <p:nvSpPr>
          <p:cNvPr id="11" name="Text 9"/>
          <p:cNvSpPr/>
          <p:nvPr/>
        </p:nvSpPr>
        <p:spPr>
          <a:xfrm>
            <a:off x="1325880" y="214884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V_t = embed("auth: ... | process: ... | network: ... | file: ... | identity: ...")</a:t>
            </a:r>
            <a:endParaRPr lang="en-US" sz="1000" dirty="0"/>
          </a:p>
        </p:txBody>
      </p:sp>
      <p:sp>
        <p:nvSpPr>
          <p:cNvPr id="12" name="Text 10"/>
          <p:cNvSpPr/>
          <p:nvPr/>
        </p:nvSpPr>
        <p:spPr>
          <a:xfrm>
            <a:off x="640080" y="297180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Five signal summarizers (auth, process, network, file, identity) emit structured text per entity per window. Concatenation is embedded by text-embedding-3-small into a 1536-d unit vector. Vector arithmetic on behavior — same algebraic surface as text retrieval, but the 'document' is the entity's behavior in a window.</a:t>
            </a:r>
            <a:endParaRPr lang="en-US" sz="1050" dirty="0"/>
          </a:p>
        </p:txBody>
      </p:sp>
      <p:sp>
        <p:nvSpPr>
          <p:cNvPr id="13" name="Shape 11"/>
          <p:cNvSpPr/>
          <p:nvPr/>
        </p:nvSpPr>
        <p:spPr>
          <a:xfrm>
            <a:off x="6309360" y="1463040"/>
            <a:ext cx="5394960" cy="2468880"/>
          </a:xfrm>
          <a:prstGeom prst="rect">
            <a:avLst/>
          </a:prstGeom>
          <a:solidFill>
            <a:srgbClr val="F7F8FA"/>
          </a:solidFill>
          <a:ln w="12700">
            <a:solidFill>
              <a:srgbClr val="E5E9EE"/>
            </a:solidFill>
            <a:prstDash val="solid"/>
          </a:ln>
        </p:spPr>
        <p:txBody>
          <a:bodyPr/>
          <a:lstStyle/>
          <a:p>
            <a:endParaRPr lang="en-US"/>
          </a:p>
        </p:txBody>
      </p:sp>
      <p:sp>
        <p:nvSpPr>
          <p:cNvPr id="14" name="Shape 12"/>
          <p:cNvSpPr/>
          <p:nvPr/>
        </p:nvSpPr>
        <p:spPr>
          <a:xfrm>
            <a:off x="6446520" y="1627632"/>
            <a:ext cx="502920" cy="502920"/>
          </a:xfrm>
          <a:prstGeom prst="ellipse">
            <a:avLst/>
          </a:prstGeom>
          <a:solidFill>
            <a:srgbClr val="0891B2"/>
          </a:solidFill>
          <a:ln/>
        </p:spPr>
        <p:txBody>
          <a:bodyPr/>
          <a:lstStyle/>
          <a:p>
            <a:endParaRPr lang="en-US"/>
          </a:p>
        </p:txBody>
      </p:sp>
      <p:sp>
        <p:nvSpPr>
          <p:cNvPr id="15" name="Text 13"/>
          <p:cNvSpPr/>
          <p:nvPr/>
        </p:nvSpPr>
        <p:spPr>
          <a:xfrm>
            <a:off x="6446520" y="162763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B</a:t>
            </a:r>
            <a:endParaRPr lang="en-US" sz="2200" dirty="0"/>
          </a:p>
        </p:txBody>
      </p:sp>
      <p:sp>
        <p:nvSpPr>
          <p:cNvPr id="16" name="Text 14"/>
          <p:cNvSpPr/>
          <p:nvPr/>
        </p:nvSpPr>
        <p:spPr>
          <a:xfrm>
            <a:off x="7086600" y="164592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Cosine Drift Geometry</a:t>
            </a:r>
            <a:endParaRPr lang="en-US" sz="1400" dirty="0"/>
          </a:p>
        </p:txBody>
      </p:sp>
      <p:sp>
        <p:nvSpPr>
          <p:cNvPr id="17" name="Shape 15"/>
          <p:cNvSpPr/>
          <p:nvPr/>
        </p:nvSpPr>
        <p:spPr>
          <a:xfrm>
            <a:off x="7086600" y="2103120"/>
            <a:ext cx="4480560" cy="777240"/>
          </a:xfrm>
          <a:prstGeom prst="rect">
            <a:avLst/>
          </a:prstGeom>
          <a:solidFill>
            <a:srgbClr val="0B1F3A"/>
          </a:solidFill>
          <a:ln/>
        </p:spPr>
        <p:txBody>
          <a:bodyPr/>
          <a:lstStyle/>
          <a:p>
            <a:endParaRPr lang="en-US"/>
          </a:p>
        </p:txBody>
      </p:sp>
      <p:sp>
        <p:nvSpPr>
          <p:cNvPr id="18" name="Text 16"/>
          <p:cNvSpPr/>
          <p:nvPr/>
        </p:nvSpPr>
        <p:spPr>
          <a:xfrm>
            <a:off x="7178040" y="214884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drift(t) = 1 − (V_t · V_baseline)</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 [0, 2],  typical [0, 0.3]</a:t>
            </a:r>
            <a:endParaRPr lang="en-US" sz="1000" dirty="0"/>
          </a:p>
        </p:txBody>
      </p:sp>
      <p:sp>
        <p:nvSpPr>
          <p:cNvPr id="19" name="Text 17"/>
          <p:cNvSpPr/>
          <p:nvPr/>
        </p:nvSpPr>
        <p:spPr>
          <a:xfrm>
            <a:off x="6492240" y="297180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All embeddings live on a unit hypersphere. 'How different is this window from baseline?' becomes the angle between two unit vectors. Magnitude-invariant — captures shape change, not volume change. 0.0 = identical. 0.05 = noticeable. 0.15+ = anomalous.</a:t>
            </a:r>
            <a:endParaRPr lang="en-US" sz="1050" dirty="0"/>
          </a:p>
        </p:txBody>
      </p:sp>
      <p:sp>
        <p:nvSpPr>
          <p:cNvPr id="20" name="Shape 18"/>
          <p:cNvSpPr/>
          <p:nvPr/>
        </p:nvSpPr>
        <p:spPr>
          <a:xfrm>
            <a:off x="457200" y="4069080"/>
            <a:ext cx="5394960" cy="2468880"/>
          </a:xfrm>
          <a:prstGeom prst="rect">
            <a:avLst/>
          </a:prstGeom>
          <a:solidFill>
            <a:srgbClr val="F7F8FA"/>
          </a:solidFill>
          <a:ln w="12700">
            <a:solidFill>
              <a:srgbClr val="E5E9EE"/>
            </a:solidFill>
            <a:prstDash val="solid"/>
          </a:ln>
        </p:spPr>
        <p:txBody>
          <a:bodyPr/>
          <a:lstStyle/>
          <a:p>
            <a:endParaRPr lang="en-US"/>
          </a:p>
        </p:txBody>
      </p:sp>
      <p:sp>
        <p:nvSpPr>
          <p:cNvPr id="21" name="Shape 19"/>
          <p:cNvSpPr/>
          <p:nvPr/>
        </p:nvSpPr>
        <p:spPr>
          <a:xfrm>
            <a:off x="594360" y="4233672"/>
            <a:ext cx="502920" cy="502920"/>
          </a:xfrm>
          <a:prstGeom prst="ellipse">
            <a:avLst/>
          </a:prstGeom>
          <a:solidFill>
            <a:srgbClr val="0891B2"/>
          </a:solidFill>
          <a:ln/>
        </p:spPr>
        <p:txBody>
          <a:bodyPr/>
          <a:lstStyle/>
          <a:p>
            <a:endParaRPr lang="en-US"/>
          </a:p>
        </p:txBody>
      </p:sp>
      <p:sp>
        <p:nvSpPr>
          <p:cNvPr id="22" name="Text 20"/>
          <p:cNvSpPr/>
          <p:nvPr/>
        </p:nvSpPr>
        <p:spPr>
          <a:xfrm>
            <a:off x="59436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C</a:t>
            </a:r>
            <a:endParaRPr lang="en-US" sz="2200" dirty="0"/>
          </a:p>
        </p:txBody>
      </p:sp>
      <p:sp>
        <p:nvSpPr>
          <p:cNvPr id="23" name="Text 21"/>
          <p:cNvSpPr/>
          <p:nvPr/>
        </p:nvSpPr>
        <p:spPr>
          <a:xfrm>
            <a:off x="1234440" y="425196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CUSUM Change-Point</a:t>
            </a:r>
            <a:endParaRPr lang="en-US" sz="1400" dirty="0"/>
          </a:p>
        </p:txBody>
      </p:sp>
      <p:sp>
        <p:nvSpPr>
          <p:cNvPr id="24" name="Shape 22"/>
          <p:cNvSpPr/>
          <p:nvPr/>
        </p:nvSpPr>
        <p:spPr>
          <a:xfrm>
            <a:off x="1234440" y="4709160"/>
            <a:ext cx="4480560" cy="777240"/>
          </a:xfrm>
          <a:prstGeom prst="rect">
            <a:avLst/>
          </a:prstGeom>
          <a:solidFill>
            <a:srgbClr val="0B1F3A"/>
          </a:solidFill>
          <a:ln/>
        </p:spPr>
        <p:txBody>
          <a:bodyPr/>
          <a:lstStyle/>
          <a:p>
            <a:endParaRPr lang="en-US"/>
          </a:p>
        </p:txBody>
      </p:sp>
      <p:sp>
        <p:nvSpPr>
          <p:cNvPr id="25" name="Text 23"/>
          <p:cNvSpPr/>
          <p:nvPr/>
        </p:nvSpPr>
        <p:spPr>
          <a:xfrm>
            <a:off x="1325880" y="475488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alarm if S⁺ &gt; 4σ  or  S⁻ &gt; 4σ</a:t>
            </a:r>
            <a:endParaRPr lang="en-US" sz="1000" dirty="0"/>
          </a:p>
        </p:txBody>
      </p:sp>
      <p:sp>
        <p:nvSpPr>
          <p:cNvPr id="26" name="Text 24"/>
          <p:cNvSpPr/>
          <p:nvPr/>
        </p:nvSpPr>
        <p:spPr>
          <a:xfrm>
            <a:off x="640080" y="557784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Two-sided CUSUM accumulates signed deviation from baseline mean μ with slack k. Alarms when cumulative deviation exceeds 4σ — then resets. Exact-window detection, not gradual smoothing. Independent of static thresholds — adapts to per-entity μ and σ.</a:t>
            </a:r>
            <a:endParaRPr lang="en-US" sz="1050" dirty="0"/>
          </a:p>
        </p:txBody>
      </p:sp>
      <p:sp>
        <p:nvSpPr>
          <p:cNvPr id="27" name="Shape 25"/>
          <p:cNvSpPr/>
          <p:nvPr/>
        </p:nvSpPr>
        <p:spPr>
          <a:xfrm>
            <a:off x="6309360" y="4069080"/>
            <a:ext cx="5394960" cy="2468880"/>
          </a:xfrm>
          <a:prstGeom prst="rect">
            <a:avLst/>
          </a:prstGeom>
          <a:solidFill>
            <a:srgbClr val="F7F8FA"/>
          </a:solidFill>
          <a:ln w="12700">
            <a:solidFill>
              <a:srgbClr val="E5E9EE"/>
            </a:solidFill>
            <a:prstDash val="solid"/>
          </a:ln>
        </p:spPr>
        <p:txBody>
          <a:bodyPr/>
          <a:lstStyle/>
          <a:p>
            <a:endParaRPr lang="en-US"/>
          </a:p>
        </p:txBody>
      </p:sp>
      <p:sp>
        <p:nvSpPr>
          <p:cNvPr id="28" name="Shape 26"/>
          <p:cNvSpPr/>
          <p:nvPr/>
        </p:nvSpPr>
        <p:spPr>
          <a:xfrm>
            <a:off x="6446520" y="4233672"/>
            <a:ext cx="502920" cy="502920"/>
          </a:xfrm>
          <a:prstGeom prst="ellipse">
            <a:avLst/>
          </a:prstGeom>
          <a:solidFill>
            <a:srgbClr val="0891B2"/>
          </a:solidFill>
          <a:ln/>
        </p:spPr>
        <p:txBody>
          <a:bodyPr/>
          <a:lstStyle/>
          <a:p>
            <a:endParaRPr lang="en-US"/>
          </a:p>
        </p:txBody>
      </p:sp>
      <p:sp>
        <p:nvSpPr>
          <p:cNvPr id="29" name="Text 27"/>
          <p:cNvSpPr/>
          <p:nvPr/>
        </p:nvSpPr>
        <p:spPr>
          <a:xfrm>
            <a:off x="644652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D</a:t>
            </a:r>
            <a:endParaRPr lang="en-US" sz="2200" dirty="0"/>
          </a:p>
        </p:txBody>
      </p:sp>
      <p:sp>
        <p:nvSpPr>
          <p:cNvPr id="30" name="Text 28"/>
          <p:cNvSpPr/>
          <p:nvPr/>
        </p:nvSpPr>
        <p:spPr>
          <a:xfrm>
            <a:off x="7086600" y="425196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Drift-Direction Projection</a:t>
            </a:r>
            <a:endParaRPr lang="en-US" sz="1400" dirty="0"/>
          </a:p>
        </p:txBody>
      </p:sp>
      <p:sp>
        <p:nvSpPr>
          <p:cNvPr id="31" name="Shape 29"/>
          <p:cNvSpPr/>
          <p:nvPr/>
        </p:nvSpPr>
        <p:spPr>
          <a:xfrm>
            <a:off x="7086600" y="4709160"/>
            <a:ext cx="4480560" cy="777240"/>
          </a:xfrm>
          <a:prstGeom prst="rect">
            <a:avLst/>
          </a:prstGeom>
          <a:solidFill>
            <a:srgbClr val="0B1F3A"/>
          </a:solidFill>
          <a:ln/>
        </p:spPr>
        <p:txBody>
          <a:bodyPr/>
          <a:lstStyle/>
          <a:p>
            <a:endParaRPr lang="en-US"/>
          </a:p>
        </p:txBody>
      </p:sp>
      <p:sp>
        <p:nvSpPr>
          <p:cNvPr id="32" name="Text 30"/>
          <p:cNvSpPr/>
          <p:nvPr/>
        </p:nvSpPr>
        <p:spPr>
          <a:xfrm>
            <a:off x="7178040" y="475488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drift_vec = V_current − V_baseline</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proj(c) = cos(drift_vec, embed(concept_c))</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argmax_top3(proj) → ATT&amp;CK IDs</a:t>
            </a:r>
            <a:endParaRPr lang="en-US" sz="1000" dirty="0"/>
          </a:p>
        </p:txBody>
      </p:sp>
      <p:sp>
        <p:nvSpPr>
          <p:cNvPr id="33" name="Text 31"/>
          <p:cNvSpPr/>
          <p:nvPr/>
        </p:nvSpPr>
        <p:spPr>
          <a:xfrm>
            <a:off x="6492240" y="557784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Eight threat concepts pre-embedded once at startup. Direction is the cosine projection of the drift vector onto each concept vector — top-3 returned with ATT&amp;CK IDs. Magnitude tells you SOMETHING happened. Direction tells you WHAT it resembles. Built-in explainability.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THE FIVE SIGNALS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Five Behavioral Signals → One 1536-d Vector</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signal summarized as structured text, all five concatenated, embedded by text-embedding-3-small (or air-gapped Phi-4/Mistral for JWICS).</a:t>
            </a:r>
            <a:endParaRPr lang="en-US" sz="1200" dirty="0"/>
          </a:p>
        </p:txBody>
      </p:sp>
      <p:sp>
        <p:nvSpPr>
          <p:cNvPr id="6" name="Shape 4"/>
          <p:cNvSpPr/>
          <p:nvPr/>
        </p:nvSpPr>
        <p:spPr>
          <a:xfrm>
            <a:off x="457200" y="1463040"/>
            <a:ext cx="11247120" cy="77724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594360" y="1645920"/>
            <a:ext cx="457200" cy="457200"/>
          </a:xfrm>
          <a:prstGeom prst="ellipse">
            <a:avLst/>
          </a:prstGeom>
          <a:solidFill>
            <a:srgbClr val="0891B2"/>
          </a:solidFill>
          <a:ln/>
        </p:spPr>
        <p:txBody>
          <a:bodyPr/>
          <a:lstStyle/>
          <a:p>
            <a:endParaRPr lang="en-US"/>
          </a:p>
        </p:txBody>
      </p:sp>
      <p:sp>
        <p:nvSpPr>
          <p:cNvPr id="8" name="Text 6"/>
          <p:cNvSpPr/>
          <p:nvPr/>
        </p:nvSpPr>
        <p:spPr>
          <a:xfrm>
            <a:off x="594360" y="16459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9" name="Text 7"/>
          <p:cNvSpPr/>
          <p:nvPr/>
        </p:nvSpPr>
        <p:spPr>
          <a:xfrm>
            <a:off x="1188720" y="1508760"/>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AUTH</a:t>
            </a:r>
            <a:endParaRPr lang="en-US" sz="1600" dirty="0"/>
          </a:p>
        </p:txBody>
      </p:sp>
      <p:sp>
        <p:nvSpPr>
          <p:cNvPr id="10" name="Text 8"/>
          <p:cNvSpPr/>
          <p:nvPr/>
        </p:nvSpPr>
        <p:spPr>
          <a:xfrm>
            <a:off x="2606040" y="1554480"/>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11" name="Text 9"/>
          <p:cNvSpPr/>
          <p:nvPr/>
        </p:nvSpPr>
        <p:spPr>
          <a:xfrm>
            <a:off x="2606040" y="1783080"/>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Win 4624/4625/4768/4769, Linux auth, Okta, Azure AD</a:t>
            </a:r>
            <a:endParaRPr lang="en-US" sz="1000" dirty="0"/>
          </a:p>
        </p:txBody>
      </p:sp>
      <p:sp>
        <p:nvSpPr>
          <p:cNvPr id="12" name="Text 10"/>
          <p:cNvSpPr/>
          <p:nvPr/>
        </p:nvSpPr>
        <p:spPr>
          <a:xfrm>
            <a:off x="6537960" y="1554480"/>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13" name="Text 11"/>
          <p:cNvSpPr/>
          <p:nvPr/>
        </p:nvSpPr>
        <p:spPr>
          <a:xfrm>
            <a:off x="6537960" y="1783080"/>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logon_count, failure_rate, unique_hosts, kerberos_ticket_types, off_hours_ratio, impossible_travel</a:t>
            </a:r>
            <a:endParaRPr lang="en-US" sz="1000" dirty="0"/>
          </a:p>
        </p:txBody>
      </p:sp>
      <p:sp>
        <p:nvSpPr>
          <p:cNvPr id="14" name="Shape 12"/>
          <p:cNvSpPr/>
          <p:nvPr/>
        </p:nvSpPr>
        <p:spPr>
          <a:xfrm>
            <a:off x="457200" y="2304288"/>
            <a:ext cx="11247120" cy="777240"/>
          </a:xfrm>
          <a:prstGeom prst="rect">
            <a:avLst/>
          </a:prstGeom>
          <a:solidFill>
            <a:srgbClr val="F7F8FA"/>
          </a:solidFill>
          <a:ln w="12700">
            <a:solidFill>
              <a:srgbClr val="E5E9EE"/>
            </a:solidFill>
            <a:prstDash val="solid"/>
          </a:ln>
        </p:spPr>
        <p:txBody>
          <a:bodyPr/>
          <a:lstStyle/>
          <a:p>
            <a:endParaRPr lang="en-US"/>
          </a:p>
        </p:txBody>
      </p:sp>
      <p:sp>
        <p:nvSpPr>
          <p:cNvPr id="15" name="Shape 13"/>
          <p:cNvSpPr/>
          <p:nvPr/>
        </p:nvSpPr>
        <p:spPr>
          <a:xfrm>
            <a:off x="594360" y="2487168"/>
            <a:ext cx="457200" cy="457200"/>
          </a:xfrm>
          <a:prstGeom prst="ellipse">
            <a:avLst/>
          </a:prstGeom>
          <a:solidFill>
            <a:srgbClr val="0891B2"/>
          </a:solidFill>
          <a:ln/>
        </p:spPr>
        <p:txBody>
          <a:bodyPr/>
          <a:lstStyle/>
          <a:p>
            <a:endParaRPr lang="en-US"/>
          </a:p>
        </p:txBody>
      </p:sp>
      <p:sp>
        <p:nvSpPr>
          <p:cNvPr id="16" name="Text 14"/>
          <p:cNvSpPr/>
          <p:nvPr/>
        </p:nvSpPr>
        <p:spPr>
          <a:xfrm>
            <a:off x="594360" y="24871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17" name="Text 15"/>
          <p:cNvSpPr/>
          <p:nvPr/>
        </p:nvSpPr>
        <p:spPr>
          <a:xfrm>
            <a:off x="1188720" y="2350008"/>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PROCESS</a:t>
            </a:r>
            <a:endParaRPr lang="en-US" sz="1600" dirty="0"/>
          </a:p>
        </p:txBody>
      </p:sp>
      <p:sp>
        <p:nvSpPr>
          <p:cNvPr id="18" name="Text 16"/>
          <p:cNvSpPr/>
          <p:nvPr/>
        </p:nvSpPr>
        <p:spPr>
          <a:xfrm>
            <a:off x="2606040" y="2395728"/>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19" name="Text 17"/>
          <p:cNvSpPr/>
          <p:nvPr/>
        </p:nvSpPr>
        <p:spPr>
          <a:xfrm>
            <a:off x="2606040" y="2624328"/>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Sysmon EID 1/3, EDR (CrowdStrike, Defender), auditd EXECVE</a:t>
            </a:r>
            <a:endParaRPr lang="en-US" sz="1000" dirty="0"/>
          </a:p>
        </p:txBody>
      </p:sp>
      <p:sp>
        <p:nvSpPr>
          <p:cNvPr id="20" name="Text 18"/>
          <p:cNvSpPr/>
          <p:nvPr/>
        </p:nvSpPr>
        <p:spPr>
          <a:xfrm>
            <a:off x="6537960" y="2395728"/>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21" name="Text 19"/>
          <p:cNvSpPr/>
          <p:nvPr/>
        </p:nvSpPr>
        <p:spPr>
          <a:xfrm>
            <a:off x="6537960" y="2624328"/>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unique_processes, cmdline_entropy, parent_child_depth, lolbin_count, unsigned_ratio, new_process_rate</a:t>
            </a:r>
            <a:endParaRPr lang="en-US" sz="1000" dirty="0"/>
          </a:p>
        </p:txBody>
      </p:sp>
      <p:sp>
        <p:nvSpPr>
          <p:cNvPr id="22" name="Shape 20"/>
          <p:cNvSpPr/>
          <p:nvPr/>
        </p:nvSpPr>
        <p:spPr>
          <a:xfrm>
            <a:off x="457200" y="3145536"/>
            <a:ext cx="11247120" cy="777240"/>
          </a:xfrm>
          <a:prstGeom prst="rect">
            <a:avLst/>
          </a:prstGeom>
          <a:solidFill>
            <a:srgbClr val="F7F8FA"/>
          </a:solidFill>
          <a:ln w="12700">
            <a:solidFill>
              <a:srgbClr val="E5E9EE"/>
            </a:solidFill>
            <a:prstDash val="solid"/>
          </a:ln>
        </p:spPr>
        <p:txBody>
          <a:bodyPr/>
          <a:lstStyle/>
          <a:p>
            <a:endParaRPr lang="en-US"/>
          </a:p>
        </p:txBody>
      </p:sp>
      <p:sp>
        <p:nvSpPr>
          <p:cNvPr id="23" name="Shape 21"/>
          <p:cNvSpPr/>
          <p:nvPr/>
        </p:nvSpPr>
        <p:spPr>
          <a:xfrm>
            <a:off x="594360" y="3328416"/>
            <a:ext cx="457200" cy="457200"/>
          </a:xfrm>
          <a:prstGeom prst="ellipse">
            <a:avLst/>
          </a:prstGeom>
          <a:solidFill>
            <a:srgbClr val="0891B2"/>
          </a:solidFill>
          <a:ln/>
        </p:spPr>
        <p:txBody>
          <a:bodyPr/>
          <a:lstStyle/>
          <a:p>
            <a:endParaRPr lang="en-US"/>
          </a:p>
        </p:txBody>
      </p:sp>
      <p:sp>
        <p:nvSpPr>
          <p:cNvPr id="24" name="Text 22"/>
          <p:cNvSpPr/>
          <p:nvPr/>
        </p:nvSpPr>
        <p:spPr>
          <a:xfrm>
            <a:off x="594360" y="33284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25" name="Text 23"/>
          <p:cNvSpPr/>
          <p:nvPr/>
        </p:nvSpPr>
        <p:spPr>
          <a:xfrm>
            <a:off x="1188720" y="3191256"/>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NETWORK</a:t>
            </a:r>
            <a:endParaRPr lang="en-US" sz="1600" dirty="0"/>
          </a:p>
        </p:txBody>
      </p:sp>
      <p:sp>
        <p:nvSpPr>
          <p:cNvPr id="26" name="Text 24"/>
          <p:cNvSpPr/>
          <p:nvPr/>
        </p:nvSpPr>
        <p:spPr>
          <a:xfrm>
            <a:off x="2606040" y="3236976"/>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27" name="Text 25"/>
          <p:cNvSpPr/>
          <p:nvPr/>
        </p:nvSpPr>
        <p:spPr>
          <a:xfrm>
            <a:off x="2606040" y="3465576"/>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NetFlow, Zeek conn.log, Palo Alto, Fortinet syslog</a:t>
            </a:r>
            <a:endParaRPr lang="en-US" sz="1000" dirty="0"/>
          </a:p>
        </p:txBody>
      </p:sp>
      <p:sp>
        <p:nvSpPr>
          <p:cNvPr id="28" name="Text 26"/>
          <p:cNvSpPr/>
          <p:nvPr/>
        </p:nvSpPr>
        <p:spPr>
          <a:xfrm>
            <a:off x="6537960" y="3236976"/>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29" name="Text 27"/>
          <p:cNvSpPr/>
          <p:nvPr/>
        </p:nvSpPr>
        <p:spPr>
          <a:xfrm>
            <a:off x="6537960" y="3465576"/>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unique_dest_ips, bytes_out, port_diversity, dns_query_rate, beacon_score, geo_anomaly_count</a:t>
            </a:r>
            <a:endParaRPr lang="en-US" sz="1000" dirty="0"/>
          </a:p>
        </p:txBody>
      </p:sp>
      <p:sp>
        <p:nvSpPr>
          <p:cNvPr id="30" name="Shape 28"/>
          <p:cNvSpPr/>
          <p:nvPr/>
        </p:nvSpPr>
        <p:spPr>
          <a:xfrm>
            <a:off x="457200" y="3986784"/>
            <a:ext cx="11247120" cy="777240"/>
          </a:xfrm>
          <a:prstGeom prst="rect">
            <a:avLst/>
          </a:prstGeom>
          <a:solidFill>
            <a:srgbClr val="F7F8FA"/>
          </a:solidFill>
          <a:ln w="12700">
            <a:solidFill>
              <a:srgbClr val="E5E9EE"/>
            </a:solidFill>
            <a:prstDash val="solid"/>
          </a:ln>
        </p:spPr>
        <p:txBody>
          <a:bodyPr/>
          <a:lstStyle/>
          <a:p>
            <a:endParaRPr lang="en-US"/>
          </a:p>
        </p:txBody>
      </p:sp>
      <p:sp>
        <p:nvSpPr>
          <p:cNvPr id="31" name="Shape 29"/>
          <p:cNvSpPr/>
          <p:nvPr/>
        </p:nvSpPr>
        <p:spPr>
          <a:xfrm>
            <a:off x="594360" y="4169664"/>
            <a:ext cx="457200" cy="457200"/>
          </a:xfrm>
          <a:prstGeom prst="ellipse">
            <a:avLst/>
          </a:prstGeom>
          <a:solidFill>
            <a:srgbClr val="0891B2"/>
          </a:solidFill>
          <a:ln/>
        </p:spPr>
        <p:txBody>
          <a:bodyPr/>
          <a:lstStyle/>
          <a:p>
            <a:endParaRPr lang="en-US"/>
          </a:p>
        </p:txBody>
      </p:sp>
      <p:sp>
        <p:nvSpPr>
          <p:cNvPr id="32" name="Text 30"/>
          <p:cNvSpPr/>
          <p:nvPr/>
        </p:nvSpPr>
        <p:spPr>
          <a:xfrm>
            <a:off x="594360" y="416966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33" name="Text 31"/>
          <p:cNvSpPr/>
          <p:nvPr/>
        </p:nvSpPr>
        <p:spPr>
          <a:xfrm>
            <a:off x="1188720" y="4032504"/>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FILE</a:t>
            </a:r>
            <a:endParaRPr lang="en-US" sz="1600" dirty="0"/>
          </a:p>
        </p:txBody>
      </p:sp>
      <p:sp>
        <p:nvSpPr>
          <p:cNvPr id="34" name="Text 32"/>
          <p:cNvSpPr/>
          <p:nvPr/>
        </p:nvSpPr>
        <p:spPr>
          <a:xfrm>
            <a:off x="2606040" y="4078224"/>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35" name="Text 33"/>
          <p:cNvSpPr/>
          <p:nvPr/>
        </p:nvSpPr>
        <p:spPr>
          <a:xfrm>
            <a:off x="2606040" y="4306824"/>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Sysmon EID 11, Windows file audit (4663), DLP</a:t>
            </a:r>
            <a:endParaRPr lang="en-US" sz="1000" dirty="0"/>
          </a:p>
        </p:txBody>
      </p:sp>
      <p:sp>
        <p:nvSpPr>
          <p:cNvPr id="36" name="Text 34"/>
          <p:cNvSpPr/>
          <p:nvPr/>
        </p:nvSpPr>
        <p:spPr>
          <a:xfrm>
            <a:off x="6537960" y="4078224"/>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37" name="Text 35"/>
          <p:cNvSpPr/>
          <p:nvPr/>
        </p:nvSpPr>
        <p:spPr>
          <a:xfrm>
            <a:off x="6537960" y="4306824"/>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files_created, files_deleted, sensitive_access_count, archive_creates, bulk_ops_flag, extension_change_rate</a:t>
            </a:r>
            <a:endParaRPr lang="en-US" sz="1000" dirty="0"/>
          </a:p>
        </p:txBody>
      </p:sp>
      <p:sp>
        <p:nvSpPr>
          <p:cNvPr id="38" name="Shape 36"/>
          <p:cNvSpPr/>
          <p:nvPr/>
        </p:nvSpPr>
        <p:spPr>
          <a:xfrm>
            <a:off x="457200" y="4828032"/>
            <a:ext cx="11247120" cy="77724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594360" y="5010912"/>
            <a:ext cx="457200" cy="457200"/>
          </a:xfrm>
          <a:prstGeom prst="ellipse">
            <a:avLst/>
          </a:prstGeom>
          <a:solidFill>
            <a:srgbClr val="0891B2"/>
          </a:solidFill>
          <a:ln/>
        </p:spPr>
        <p:txBody>
          <a:bodyPr/>
          <a:lstStyle/>
          <a:p>
            <a:endParaRPr lang="en-US"/>
          </a:p>
        </p:txBody>
      </p:sp>
      <p:sp>
        <p:nvSpPr>
          <p:cNvPr id="40" name="Text 38"/>
          <p:cNvSpPr/>
          <p:nvPr/>
        </p:nvSpPr>
        <p:spPr>
          <a:xfrm>
            <a:off x="594360" y="501091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5</a:t>
            </a:r>
            <a:endParaRPr lang="en-US" sz="1800" dirty="0"/>
          </a:p>
        </p:txBody>
      </p:sp>
      <p:sp>
        <p:nvSpPr>
          <p:cNvPr id="41" name="Text 39"/>
          <p:cNvSpPr/>
          <p:nvPr/>
        </p:nvSpPr>
        <p:spPr>
          <a:xfrm>
            <a:off x="1188720" y="4873752"/>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IDENTITY</a:t>
            </a:r>
            <a:endParaRPr lang="en-US" sz="1600" dirty="0"/>
          </a:p>
        </p:txBody>
      </p:sp>
      <p:sp>
        <p:nvSpPr>
          <p:cNvPr id="42" name="Text 40"/>
          <p:cNvSpPr/>
          <p:nvPr/>
        </p:nvSpPr>
        <p:spPr>
          <a:xfrm>
            <a:off x="2606040" y="4919472"/>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43" name="Text 41"/>
          <p:cNvSpPr/>
          <p:nvPr/>
        </p:nvSpPr>
        <p:spPr>
          <a:xfrm>
            <a:off x="2606040" y="5148072"/>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Win 4672, AWS CloudTrail, K8s audit, AD changes</a:t>
            </a:r>
            <a:endParaRPr lang="en-US" sz="1000" dirty="0"/>
          </a:p>
        </p:txBody>
      </p:sp>
      <p:sp>
        <p:nvSpPr>
          <p:cNvPr id="44" name="Text 42"/>
          <p:cNvSpPr/>
          <p:nvPr/>
        </p:nvSpPr>
        <p:spPr>
          <a:xfrm>
            <a:off x="6537960" y="4919472"/>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45" name="Text 43"/>
          <p:cNvSpPr/>
          <p:nvPr/>
        </p:nvSpPr>
        <p:spPr>
          <a:xfrm>
            <a:off x="6537960" y="5148072"/>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priv_escalations, group_adds, mfa_bypass_attempts, role_changes, service_acct_use, admin_actions</a:t>
            </a:r>
            <a:endParaRPr lang="en-US" sz="1000" dirty="0"/>
          </a:p>
        </p:txBody>
      </p:sp>
      <p:sp>
        <p:nvSpPr>
          <p:cNvPr id="46" name="Shape 44"/>
          <p:cNvSpPr/>
          <p:nvPr/>
        </p:nvSpPr>
        <p:spPr>
          <a:xfrm>
            <a:off x="457200" y="5760720"/>
            <a:ext cx="11247120" cy="777240"/>
          </a:xfrm>
          <a:prstGeom prst="rect">
            <a:avLst/>
          </a:prstGeom>
          <a:solidFill>
            <a:srgbClr val="0B1F3A"/>
          </a:solidFill>
          <a:ln/>
        </p:spPr>
        <p:txBody>
          <a:bodyPr/>
          <a:lstStyle/>
          <a:p>
            <a:endParaRPr lang="en-US"/>
          </a:p>
        </p:txBody>
      </p:sp>
      <p:sp>
        <p:nvSpPr>
          <p:cNvPr id="47" name="Text 45"/>
          <p:cNvSpPr/>
          <p:nvPr/>
        </p:nvSpPr>
        <p:spPr>
          <a:xfrm>
            <a:off x="640080" y="5852160"/>
            <a:ext cx="13716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FUSION</a:t>
            </a:r>
            <a:endParaRPr lang="en-US" sz="1100" dirty="0"/>
          </a:p>
        </p:txBody>
      </p:sp>
      <p:sp>
        <p:nvSpPr>
          <p:cNvPr id="48" name="Text 46"/>
          <p:cNvSpPr/>
          <p:nvPr/>
        </p:nvSpPr>
        <p:spPr>
          <a:xfrm>
            <a:off x="640080" y="6080760"/>
            <a:ext cx="10972800" cy="411480"/>
          </a:xfrm>
          <a:prstGeom prst="rect">
            <a:avLst/>
          </a:prstGeom>
          <a:noFill/>
          <a:ln/>
        </p:spPr>
        <p:txBody>
          <a:bodyPr wrap="square" lIns="0" tIns="0" rIns="0" bIns="0" rtlCol="0" anchor="t"/>
          <a:lstStyle/>
          <a:p>
            <a:pPr marL="0" indent="0">
              <a:buNone/>
            </a:pPr>
            <a:r>
              <a:rPr lang="en-US" sz="1100" i="1" dirty="0">
                <a:solidFill>
                  <a:srgbClr val="FFFFFF"/>
                </a:solidFill>
                <a:latin typeface="Calibri" pitchFamily="34" charset="0"/>
                <a:ea typeface="Calibri" pitchFamily="34" charset="-122"/>
                <a:cs typeface="Calibri" pitchFamily="34" charset="-120"/>
              </a:rPr>
              <a:t>All 5 signal texts → concatenated → text-embedding-3-small (1536-d) → one fused vector per (entity, window). 1-hour windows by default. No raw event content sent to provider — only summarized metrics. NFR-5 compliant.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PIPELINE &amp; TRAJECTORY</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Embedding Pipeline → Trajectory Analysis Engine</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FR-2 / FR-3 / FR-4: Per-entity, per-window behavioral fingerprint → trajectory metrics from the embedding time series.</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PIPELINE (FR-2)</a:t>
            </a:r>
            <a:endParaRPr lang="en-US" sz="1100" dirty="0"/>
          </a:p>
        </p:txBody>
      </p:sp>
      <p:sp>
        <p:nvSpPr>
          <p:cNvPr id="7" name="Shape 5"/>
          <p:cNvSpPr/>
          <p:nvPr/>
        </p:nvSpPr>
        <p:spPr>
          <a:xfrm>
            <a:off x="457200"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8" name="Shape 6"/>
          <p:cNvSpPr/>
          <p:nvPr/>
        </p:nvSpPr>
        <p:spPr>
          <a:xfrm>
            <a:off x="457200" y="1783080"/>
            <a:ext cx="1828800" cy="274320"/>
          </a:xfrm>
          <a:prstGeom prst="rect">
            <a:avLst/>
          </a:prstGeom>
          <a:solidFill>
            <a:srgbClr val="0891B2"/>
          </a:solidFill>
          <a:ln/>
        </p:spPr>
        <p:txBody>
          <a:bodyPr/>
          <a:lstStyle/>
          <a:p>
            <a:endParaRPr lang="en-US"/>
          </a:p>
        </p:txBody>
      </p:sp>
      <p:sp>
        <p:nvSpPr>
          <p:cNvPr id="9" name="Text 7"/>
          <p:cNvSpPr/>
          <p:nvPr/>
        </p:nvSpPr>
        <p:spPr>
          <a:xfrm>
            <a:off x="502920"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1  INGEST</a:t>
            </a:r>
            <a:endParaRPr lang="en-US" sz="1000" dirty="0"/>
          </a:p>
        </p:txBody>
      </p:sp>
      <p:sp>
        <p:nvSpPr>
          <p:cNvPr id="10" name="Text 8"/>
          <p:cNvSpPr/>
          <p:nvPr/>
        </p:nvSpPr>
        <p:spPr>
          <a:xfrm>
            <a:off x="548640"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Raw events arrive via ECS / OCSF / STIX 2.1 normalized schema</a:t>
            </a:r>
            <a:endParaRPr lang="en-US" sz="950" dirty="0"/>
          </a:p>
        </p:txBody>
      </p:sp>
      <p:sp>
        <p:nvSpPr>
          <p:cNvPr id="11" name="Shape 9"/>
          <p:cNvSpPr/>
          <p:nvPr/>
        </p:nvSpPr>
        <p:spPr>
          <a:xfrm>
            <a:off x="2350008"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12" name="Shape 10"/>
          <p:cNvSpPr/>
          <p:nvPr/>
        </p:nvSpPr>
        <p:spPr>
          <a:xfrm>
            <a:off x="2350008" y="1783080"/>
            <a:ext cx="1828800" cy="274320"/>
          </a:xfrm>
          <a:prstGeom prst="rect">
            <a:avLst/>
          </a:prstGeom>
          <a:solidFill>
            <a:srgbClr val="0891B2"/>
          </a:solidFill>
          <a:ln/>
        </p:spPr>
        <p:txBody>
          <a:bodyPr/>
          <a:lstStyle/>
          <a:p>
            <a:endParaRPr lang="en-US"/>
          </a:p>
        </p:txBody>
      </p:sp>
      <p:sp>
        <p:nvSpPr>
          <p:cNvPr id="13" name="Text 11"/>
          <p:cNvSpPr/>
          <p:nvPr/>
        </p:nvSpPr>
        <p:spPr>
          <a:xfrm>
            <a:off x="2395728"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2  WINDOW</a:t>
            </a:r>
            <a:endParaRPr lang="en-US" sz="1000" dirty="0"/>
          </a:p>
        </p:txBody>
      </p:sp>
      <p:sp>
        <p:nvSpPr>
          <p:cNvPr id="14" name="Text 12"/>
          <p:cNvSpPr/>
          <p:nvPr/>
        </p:nvSpPr>
        <p:spPr>
          <a:xfrm>
            <a:off x="2441448"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Aggregate into 1-hour time windows per entity_uuid</a:t>
            </a:r>
            <a:endParaRPr lang="en-US" sz="950" dirty="0"/>
          </a:p>
        </p:txBody>
      </p:sp>
      <p:sp>
        <p:nvSpPr>
          <p:cNvPr id="15" name="Shape 13"/>
          <p:cNvSpPr/>
          <p:nvPr/>
        </p:nvSpPr>
        <p:spPr>
          <a:xfrm>
            <a:off x="4242816"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16" name="Shape 14"/>
          <p:cNvSpPr/>
          <p:nvPr/>
        </p:nvSpPr>
        <p:spPr>
          <a:xfrm>
            <a:off x="4242816" y="1783080"/>
            <a:ext cx="1828800" cy="274320"/>
          </a:xfrm>
          <a:prstGeom prst="rect">
            <a:avLst/>
          </a:prstGeom>
          <a:solidFill>
            <a:srgbClr val="0891B2"/>
          </a:solidFill>
          <a:ln/>
        </p:spPr>
        <p:txBody>
          <a:bodyPr/>
          <a:lstStyle/>
          <a:p>
            <a:endParaRPr lang="en-US"/>
          </a:p>
        </p:txBody>
      </p:sp>
      <p:sp>
        <p:nvSpPr>
          <p:cNvPr id="17" name="Text 15"/>
          <p:cNvSpPr/>
          <p:nvPr/>
        </p:nvSpPr>
        <p:spPr>
          <a:xfrm>
            <a:off x="4288536"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3  SUMMARIZE</a:t>
            </a:r>
            <a:endParaRPr lang="en-US" sz="1000" dirty="0"/>
          </a:p>
        </p:txBody>
      </p:sp>
      <p:sp>
        <p:nvSpPr>
          <p:cNvPr id="18" name="Text 16"/>
          <p:cNvSpPr/>
          <p:nvPr/>
        </p:nvSpPr>
        <p:spPr>
          <a:xfrm>
            <a:off x="4334256"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5 signal summarizers produce structured text (metrics only)</a:t>
            </a:r>
            <a:endParaRPr lang="en-US" sz="950" dirty="0"/>
          </a:p>
        </p:txBody>
      </p:sp>
      <p:sp>
        <p:nvSpPr>
          <p:cNvPr id="19" name="Shape 17"/>
          <p:cNvSpPr/>
          <p:nvPr/>
        </p:nvSpPr>
        <p:spPr>
          <a:xfrm>
            <a:off x="6135624"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0" name="Shape 18"/>
          <p:cNvSpPr/>
          <p:nvPr/>
        </p:nvSpPr>
        <p:spPr>
          <a:xfrm>
            <a:off x="6135624" y="1783080"/>
            <a:ext cx="1828800" cy="274320"/>
          </a:xfrm>
          <a:prstGeom prst="rect">
            <a:avLst/>
          </a:prstGeom>
          <a:solidFill>
            <a:srgbClr val="0891B2"/>
          </a:solidFill>
          <a:ln/>
        </p:spPr>
        <p:txBody>
          <a:bodyPr/>
          <a:lstStyle/>
          <a:p>
            <a:endParaRPr lang="en-US"/>
          </a:p>
        </p:txBody>
      </p:sp>
      <p:sp>
        <p:nvSpPr>
          <p:cNvPr id="21" name="Text 19"/>
          <p:cNvSpPr/>
          <p:nvPr/>
        </p:nvSpPr>
        <p:spPr>
          <a:xfrm>
            <a:off x="6181344"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4  HASH</a:t>
            </a:r>
            <a:endParaRPr lang="en-US" sz="1000" dirty="0"/>
          </a:p>
        </p:txBody>
      </p:sp>
      <p:sp>
        <p:nvSpPr>
          <p:cNvPr id="22" name="Text 20"/>
          <p:cNvSpPr/>
          <p:nvPr/>
        </p:nvSpPr>
        <p:spPr>
          <a:xfrm>
            <a:off x="6227064"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Entity IDs hashed before embedding (NFR-5 privacy)</a:t>
            </a:r>
            <a:endParaRPr lang="en-US" sz="950" dirty="0"/>
          </a:p>
        </p:txBody>
      </p:sp>
      <p:sp>
        <p:nvSpPr>
          <p:cNvPr id="23" name="Shape 21"/>
          <p:cNvSpPr/>
          <p:nvPr/>
        </p:nvSpPr>
        <p:spPr>
          <a:xfrm>
            <a:off x="8028432"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4" name="Shape 22"/>
          <p:cNvSpPr/>
          <p:nvPr/>
        </p:nvSpPr>
        <p:spPr>
          <a:xfrm>
            <a:off x="8028432" y="1783080"/>
            <a:ext cx="1828800" cy="274320"/>
          </a:xfrm>
          <a:prstGeom prst="rect">
            <a:avLst/>
          </a:prstGeom>
          <a:solidFill>
            <a:srgbClr val="0891B2"/>
          </a:solidFill>
          <a:ln/>
        </p:spPr>
        <p:txBody>
          <a:bodyPr/>
          <a:lstStyle/>
          <a:p>
            <a:endParaRPr lang="en-US"/>
          </a:p>
        </p:txBody>
      </p:sp>
      <p:sp>
        <p:nvSpPr>
          <p:cNvPr id="25" name="Text 23"/>
          <p:cNvSpPr/>
          <p:nvPr/>
        </p:nvSpPr>
        <p:spPr>
          <a:xfrm>
            <a:off x="8074152"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5  EMBED</a:t>
            </a:r>
            <a:endParaRPr lang="en-US" sz="1000" dirty="0"/>
          </a:p>
        </p:txBody>
      </p:sp>
      <p:sp>
        <p:nvSpPr>
          <p:cNvPr id="26" name="Text 24"/>
          <p:cNvSpPr/>
          <p:nvPr/>
        </p:nvSpPr>
        <p:spPr>
          <a:xfrm>
            <a:off x="8119872"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Concatenated text → text-embedding-3-small → 1536-d vector</a:t>
            </a:r>
            <a:endParaRPr lang="en-US" sz="950" dirty="0"/>
          </a:p>
        </p:txBody>
      </p:sp>
      <p:sp>
        <p:nvSpPr>
          <p:cNvPr id="27" name="Shape 25"/>
          <p:cNvSpPr/>
          <p:nvPr/>
        </p:nvSpPr>
        <p:spPr>
          <a:xfrm>
            <a:off x="9921240"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8" name="Shape 26"/>
          <p:cNvSpPr/>
          <p:nvPr/>
        </p:nvSpPr>
        <p:spPr>
          <a:xfrm>
            <a:off x="9921240" y="1783080"/>
            <a:ext cx="1828800" cy="274320"/>
          </a:xfrm>
          <a:prstGeom prst="rect">
            <a:avLst/>
          </a:prstGeom>
          <a:solidFill>
            <a:srgbClr val="0891B2"/>
          </a:solidFill>
          <a:ln/>
        </p:spPr>
        <p:txBody>
          <a:bodyPr/>
          <a:lstStyle/>
          <a:p>
            <a:endParaRPr lang="en-US"/>
          </a:p>
        </p:txBody>
      </p:sp>
      <p:sp>
        <p:nvSpPr>
          <p:cNvPr id="29" name="Text 27"/>
          <p:cNvSpPr/>
          <p:nvPr/>
        </p:nvSpPr>
        <p:spPr>
          <a:xfrm>
            <a:off x="9966960"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6  STORE</a:t>
            </a:r>
            <a:endParaRPr lang="en-US" sz="1000" dirty="0"/>
          </a:p>
        </p:txBody>
      </p:sp>
      <p:sp>
        <p:nvSpPr>
          <p:cNvPr id="30" name="Text 28"/>
          <p:cNvSpPr/>
          <p:nvPr/>
        </p:nvSpPr>
        <p:spPr>
          <a:xfrm>
            <a:off x="10012680"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Vector stored in pgvector with entity_uuid, window, signature_id</a:t>
            </a:r>
            <a:endParaRPr lang="en-US" sz="950" dirty="0"/>
          </a:p>
        </p:txBody>
      </p:sp>
      <p:sp>
        <p:nvSpPr>
          <p:cNvPr id="31" name="Text 29"/>
          <p:cNvSpPr/>
          <p:nvPr/>
        </p:nvSpPr>
        <p:spPr>
          <a:xfrm>
            <a:off x="457200" y="329184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TRAJECTORY ANALYSIS (FR-4) — per-window metrics from the embedding time series</a:t>
            </a:r>
            <a:endParaRPr lang="en-US" sz="1100" dirty="0"/>
          </a:p>
        </p:txBody>
      </p:sp>
      <p:sp>
        <p:nvSpPr>
          <p:cNvPr id="32" name="Shape 30"/>
          <p:cNvSpPr/>
          <p:nvPr/>
        </p:nvSpPr>
        <p:spPr>
          <a:xfrm>
            <a:off x="457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33" name="Shape 31"/>
          <p:cNvSpPr/>
          <p:nvPr/>
        </p:nvSpPr>
        <p:spPr>
          <a:xfrm>
            <a:off x="457200" y="3611880"/>
            <a:ext cx="2103120" cy="365760"/>
          </a:xfrm>
          <a:prstGeom prst="rect">
            <a:avLst/>
          </a:prstGeom>
          <a:solidFill>
            <a:srgbClr val="0B1F3A"/>
          </a:solidFill>
          <a:ln/>
        </p:spPr>
        <p:txBody>
          <a:bodyPr/>
          <a:lstStyle/>
          <a:p>
            <a:endParaRPr lang="en-US"/>
          </a:p>
        </p:txBody>
      </p:sp>
      <p:sp>
        <p:nvSpPr>
          <p:cNvPr id="34" name="Text 32"/>
          <p:cNvSpPr/>
          <p:nvPr/>
        </p:nvSpPr>
        <p:spPr>
          <a:xfrm>
            <a:off x="548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Cosine Drift</a:t>
            </a:r>
            <a:endParaRPr lang="en-US" sz="1100" dirty="0"/>
          </a:p>
        </p:txBody>
      </p:sp>
      <p:sp>
        <p:nvSpPr>
          <p:cNvPr id="35" name="Shape 33"/>
          <p:cNvSpPr/>
          <p:nvPr/>
        </p:nvSpPr>
        <p:spPr>
          <a:xfrm>
            <a:off x="548640" y="4114800"/>
            <a:ext cx="1920240" cy="640080"/>
          </a:xfrm>
          <a:prstGeom prst="rect">
            <a:avLst/>
          </a:prstGeom>
          <a:solidFill>
            <a:srgbClr val="FDE5D4"/>
          </a:solidFill>
          <a:ln/>
        </p:spPr>
        <p:txBody>
          <a:bodyPr/>
          <a:lstStyle/>
          <a:p>
            <a:endParaRPr lang="en-US"/>
          </a:p>
        </p:txBody>
      </p:sp>
      <p:sp>
        <p:nvSpPr>
          <p:cNvPr id="36" name="Text 34"/>
          <p:cNvSpPr/>
          <p:nvPr/>
        </p:nvSpPr>
        <p:spPr>
          <a:xfrm>
            <a:off x="594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drift(t) = 1 − cos(V_t, V_baseline)</a:t>
            </a:r>
            <a:endParaRPr lang="en-US" sz="900" dirty="0"/>
          </a:p>
        </p:txBody>
      </p:sp>
      <p:sp>
        <p:nvSpPr>
          <p:cNvPr id="37" name="Text 35"/>
          <p:cNvSpPr/>
          <p:nvPr/>
        </p:nvSpPr>
        <p:spPr>
          <a:xfrm>
            <a:off x="594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How different is this window from baseline?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0.0 = identical · 0.05 = noticeable · 0.15+ = anomalous</a:t>
            </a:r>
            <a:endParaRPr lang="en-US" sz="1000" dirty="0"/>
          </a:p>
        </p:txBody>
      </p:sp>
      <p:sp>
        <p:nvSpPr>
          <p:cNvPr id="38" name="Shape 36"/>
          <p:cNvSpPr/>
          <p:nvPr/>
        </p:nvSpPr>
        <p:spPr>
          <a:xfrm>
            <a:off x="2743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2743200" y="3611880"/>
            <a:ext cx="2103120" cy="365760"/>
          </a:xfrm>
          <a:prstGeom prst="rect">
            <a:avLst/>
          </a:prstGeom>
          <a:solidFill>
            <a:srgbClr val="0B1F3A"/>
          </a:solidFill>
          <a:ln/>
        </p:spPr>
        <p:txBody>
          <a:bodyPr/>
          <a:lstStyle/>
          <a:p>
            <a:endParaRPr lang="en-US"/>
          </a:p>
        </p:txBody>
      </p:sp>
      <p:sp>
        <p:nvSpPr>
          <p:cNvPr id="40" name="Text 38"/>
          <p:cNvSpPr/>
          <p:nvPr/>
        </p:nvSpPr>
        <p:spPr>
          <a:xfrm>
            <a:off x="2834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Velocity</a:t>
            </a:r>
            <a:endParaRPr lang="en-US" sz="1100" dirty="0"/>
          </a:p>
        </p:txBody>
      </p:sp>
      <p:sp>
        <p:nvSpPr>
          <p:cNvPr id="41" name="Shape 39"/>
          <p:cNvSpPr/>
          <p:nvPr/>
        </p:nvSpPr>
        <p:spPr>
          <a:xfrm>
            <a:off x="2834640" y="4114800"/>
            <a:ext cx="1920240" cy="640080"/>
          </a:xfrm>
          <a:prstGeom prst="rect">
            <a:avLst/>
          </a:prstGeom>
          <a:solidFill>
            <a:srgbClr val="FDE5D4"/>
          </a:solidFill>
          <a:ln/>
        </p:spPr>
        <p:txBody>
          <a:bodyPr/>
          <a:lstStyle/>
          <a:p>
            <a:endParaRPr lang="en-US"/>
          </a:p>
        </p:txBody>
      </p:sp>
      <p:sp>
        <p:nvSpPr>
          <p:cNvPr id="42" name="Text 40"/>
          <p:cNvSpPr/>
          <p:nvPr/>
        </p:nvSpPr>
        <p:spPr>
          <a:xfrm>
            <a:off x="2880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vel(t) = drift(t) − drift(t−1)</a:t>
            </a:r>
            <a:endParaRPr lang="en-US" sz="900" dirty="0"/>
          </a:p>
        </p:txBody>
      </p:sp>
      <p:sp>
        <p:nvSpPr>
          <p:cNvPr id="43" name="Text 41"/>
          <p:cNvSpPr/>
          <p:nvPr/>
        </p:nvSpPr>
        <p:spPr>
          <a:xfrm>
            <a:off x="2880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Is the entity drifting faster?</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accelerating divergence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returning to baseline</a:t>
            </a:r>
            <a:endParaRPr lang="en-US" sz="1000" dirty="0"/>
          </a:p>
        </p:txBody>
      </p:sp>
      <p:sp>
        <p:nvSpPr>
          <p:cNvPr id="44" name="Shape 42"/>
          <p:cNvSpPr/>
          <p:nvPr/>
        </p:nvSpPr>
        <p:spPr>
          <a:xfrm>
            <a:off x="5029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45" name="Shape 43"/>
          <p:cNvSpPr/>
          <p:nvPr/>
        </p:nvSpPr>
        <p:spPr>
          <a:xfrm>
            <a:off x="5029200" y="3611880"/>
            <a:ext cx="2103120" cy="365760"/>
          </a:xfrm>
          <a:prstGeom prst="rect">
            <a:avLst/>
          </a:prstGeom>
          <a:solidFill>
            <a:srgbClr val="0B1F3A"/>
          </a:solidFill>
          <a:ln/>
        </p:spPr>
        <p:txBody>
          <a:bodyPr/>
          <a:lstStyle/>
          <a:p>
            <a:endParaRPr lang="en-US"/>
          </a:p>
        </p:txBody>
      </p:sp>
      <p:sp>
        <p:nvSpPr>
          <p:cNvPr id="46" name="Text 44"/>
          <p:cNvSpPr/>
          <p:nvPr/>
        </p:nvSpPr>
        <p:spPr>
          <a:xfrm>
            <a:off x="5120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Acceleration</a:t>
            </a:r>
            <a:endParaRPr lang="en-US" sz="1100" dirty="0"/>
          </a:p>
        </p:txBody>
      </p:sp>
      <p:sp>
        <p:nvSpPr>
          <p:cNvPr id="47" name="Shape 45"/>
          <p:cNvSpPr/>
          <p:nvPr/>
        </p:nvSpPr>
        <p:spPr>
          <a:xfrm>
            <a:off x="5120640" y="4114800"/>
            <a:ext cx="1920240" cy="640080"/>
          </a:xfrm>
          <a:prstGeom prst="rect">
            <a:avLst/>
          </a:prstGeom>
          <a:solidFill>
            <a:srgbClr val="FDE5D4"/>
          </a:solidFill>
          <a:ln/>
        </p:spPr>
        <p:txBody>
          <a:bodyPr/>
          <a:lstStyle/>
          <a:p>
            <a:endParaRPr lang="en-US"/>
          </a:p>
        </p:txBody>
      </p:sp>
      <p:sp>
        <p:nvSpPr>
          <p:cNvPr id="48" name="Text 46"/>
          <p:cNvSpPr/>
          <p:nvPr/>
        </p:nvSpPr>
        <p:spPr>
          <a:xfrm>
            <a:off x="5166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accel(t) = vel(t) − vel(t−1)</a:t>
            </a:r>
            <a:endParaRPr lang="en-US" sz="900" dirty="0"/>
          </a:p>
        </p:txBody>
      </p:sp>
      <p:sp>
        <p:nvSpPr>
          <p:cNvPr id="49" name="Text 47"/>
          <p:cNvSpPr/>
          <p:nvPr/>
        </p:nvSpPr>
        <p:spPr>
          <a:xfrm>
            <a:off x="5166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Is the drift rate itself changing?</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divergence speeding up</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Spike = regime shift</a:t>
            </a:r>
            <a:endParaRPr lang="en-US" sz="1000" dirty="0"/>
          </a:p>
        </p:txBody>
      </p:sp>
      <p:sp>
        <p:nvSpPr>
          <p:cNvPr id="50" name="Shape 48"/>
          <p:cNvSpPr/>
          <p:nvPr/>
        </p:nvSpPr>
        <p:spPr>
          <a:xfrm>
            <a:off x="7315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51" name="Shape 49"/>
          <p:cNvSpPr/>
          <p:nvPr/>
        </p:nvSpPr>
        <p:spPr>
          <a:xfrm>
            <a:off x="7315200" y="3611880"/>
            <a:ext cx="2103120" cy="365760"/>
          </a:xfrm>
          <a:prstGeom prst="rect">
            <a:avLst/>
          </a:prstGeom>
          <a:solidFill>
            <a:srgbClr val="0B1F3A"/>
          </a:solidFill>
          <a:ln/>
        </p:spPr>
        <p:txBody>
          <a:bodyPr/>
          <a:lstStyle/>
          <a:p>
            <a:endParaRPr lang="en-US"/>
          </a:p>
        </p:txBody>
      </p:sp>
      <p:sp>
        <p:nvSpPr>
          <p:cNvPr id="52" name="Text 50"/>
          <p:cNvSpPr/>
          <p:nvPr/>
        </p:nvSpPr>
        <p:spPr>
          <a:xfrm>
            <a:off x="7406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CUSUM Change-Pt</a:t>
            </a:r>
            <a:endParaRPr lang="en-US" sz="1100" dirty="0"/>
          </a:p>
        </p:txBody>
      </p:sp>
      <p:sp>
        <p:nvSpPr>
          <p:cNvPr id="53" name="Shape 51"/>
          <p:cNvSpPr/>
          <p:nvPr/>
        </p:nvSpPr>
        <p:spPr>
          <a:xfrm>
            <a:off x="7406640" y="4114800"/>
            <a:ext cx="1920240" cy="640080"/>
          </a:xfrm>
          <a:prstGeom prst="rect">
            <a:avLst/>
          </a:prstGeom>
          <a:solidFill>
            <a:srgbClr val="FDE5D4"/>
          </a:solidFill>
          <a:ln/>
        </p:spPr>
        <p:txBody>
          <a:bodyPr/>
          <a:lstStyle/>
          <a:p>
            <a:endParaRPr lang="en-US"/>
          </a:p>
        </p:txBody>
      </p:sp>
      <p:sp>
        <p:nvSpPr>
          <p:cNvPr id="54" name="Text 52"/>
          <p:cNvSpPr/>
          <p:nvPr/>
        </p:nvSpPr>
        <p:spPr>
          <a:xfrm>
            <a:off x="7452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alarm if S_t &gt; h = 4σ</a:t>
            </a:r>
            <a:endParaRPr lang="en-US" sz="900" dirty="0"/>
          </a:p>
        </p:txBody>
      </p:sp>
      <p:sp>
        <p:nvSpPr>
          <p:cNvPr id="55" name="Text 53"/>
          <p:cNvSpPr/>
          <p:nvPr/>
        </p:nvSpPr>
        <p:spPr>
          <a:xfrm>
            <a:off x="7452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Detects exact window where behavior structurally shifted.</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FR-7: threshold = 4σ</a:t>
            </a:r>
            <a:endParaRPr lang="en-US" sz="1000" dirty="0"/>
          </a:p>
        </p:txBody>
      </p:sp>
      <p:sp>
        <p:nvSpPr>
          <p:cNvPr id="56" name="Shape 54"/>
          <p:cNvSpPr/>
          <p:nvPr/>
        </p:nvSpPr>
        <p:spPr>
          <a:xfrm>
            <a:off x="9601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57" name="Shape 55"/>
          <p:cNvSpPr/>
          <p:nvPr/>
        </p:nvSpPr>
        <p:spPr>
          <a:xfrm>
            <a:off x="9601200" y="3611880"/>
            <a:ext cx="2103120" cy="365760"/>
          </a:xfrm>
          <a:prstGeom prst="rect">
            <a:avLst/>
          </a:prstGeom>
          <a:solidFill>
            <a:srgbClr val="0B1F3A"/>
          </a:solidFill>
          <a:ln/>
        </p:spPr>
        <p:txBody>
          <a:bodyPr/>
          <a:lstStyle/>
          <a:p>
            <a:endParaRPr lang="en-US"/>
          </a:p>
        </p:txBody>
      </p:sp>
      <p:sp>
        <p:nvSpPr>
          <p:cNvPr id="58" name="Text 56"/>
          <p:cNvSpPr/>
          <p:nvPr/>
        </p:nvSpPr>
        <p:spPr>
          <a:xfrm>
            <a:off x="9692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Health Score</a:t>
            </a:r>
            <a:endParaRPr lang="en-US" sz="1100" dirty="0"/>
          </a:p>
        </p:txBody>
      </p:sp>
      <p:sp>
        <p:nvSpPr>
          <p:cNvPr id="59" name="Shape 57"/>
          <p:cNvSpPr/>
          <p:nvPr/>
        </p:nvSpPr>
        <p:spPr>
          <a:xfrm>
            <a:off x="9692640" y="4114800"/>
            <a:ext cx="1920240" cy="640080"/>
          </a:xfrm>
          <a:prstGeom prst="rect">
            <a:avLst/>
          </a:prstGeom>
          <a:solidFill>
            <a:srgbClr val="FDE5D4"/>
          </a:solidFill>
          <a:ln/>
        </p:spPr>
        <p:txBody>
          <a:bodyPr/>
          <a:lstStyle/>
          <a:p>
            <a:endParaRPr lang="en-US"/>
          </a:p>
        </p:txBody>
      </p:sp>
      <p:sp>
        <p:nvSpPr>
          <p:cNvPr id="60" name="Text 58"/>
          <p:cNvSpPr/>
          <p:nvPr/>
        </p:nvSpPr>
        <p:spPr>
          <a:xfrm>
            <a:off x="9738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100 − w₁·drift − w₂·|vel| − w₃·|accel|</a:t>
            </a:r>
            <a:endParaRPr lang="en-US" sz="900" dirty="0"/>
          </a:p>
        </p:txBody>
      </p:sp>
      <p:sp>
        <p:nvSpPr>
          <p:cNvPr id="61" name="Text 59"/>
          <p:cNvSpPr/>
          <p:nvPr/>
        </p:nvSpPr>
        <p:spPr>
          <a:xfrm>
            <a:off x="9738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0–100 composite.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&lt;40 high severity</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&lt;70 + recent change-pt = medium</a:t>
            </a:r>
            <a:endParaRPr lang="en-US" sz="1000" dirty="0"/>
          </a:p>
        </p:txBody>
      </p:sp>
      <p:sp>
        <p:nvSpPr>
          <p:cNvPr id="62" name="Shape 60"/>
          <p:cNvSpPr/>
          <p:nvPr/>
        </p:nvSpPr>
        <p:spPr>
          <a:xfrm>
            <a:off x="457200" y="6400800"/>
            <a:ext cx="11247120" cy="365760"/>
          </a:xfrm>
          <a:prstGeom prst="rect">
            <a:avLst/>
          </a:prstGeom>
          <a:solidFill>
            <a:srgbClr val="0B1F3A"/>
          </a:solidFill>
          <a:ln/>
        </p:spPr>
        <p:txBody>
          <a:bodyPr/>
          <a:lstStyle/>
          <a:p>
            <a:endParaRPr lang="en-US"/>
          </a:p>
        </p:txBody>
      </p:sp>
      <p:sp>
        <p:nvSpPr>
          <p:cNvPr id="63" name="Text 61"/>
          <p:cNvSpPr/>
          <p:nvPr/>
        </p:nvSpPr>
        <p:spPr>
          <a:xfrm>
            <a:off x="640080" y="6400800"/>
            <a:ext cx="10972800" cy="365760"/>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Baseline: 30-day rolling centroid (configurable). Frozen mode available. Re-computed every 24h. HNSW index for cohort queries.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DETECTING VOLT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ACECARD Detects Volt Typhoon — Signal by Signal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When Volt Typhoon's LOTL behavior slips through configuration controls, ACECARD's 5 signal embeddings catch the structural drift. No single threshold. No static rule.</a:t>
            </a:r>
            <a:endParaRPr lang="en-US" sz="1300" dirty="0"/>
          </a:p>
        </p:txBody>
      </p:sp>
      <p:sp>
        <p:nvSpPr>
          <p:cNvPr id="6" name="Shape 4"/>
          <p:cNvSpPr/>
          <p:nvPr/>
        </p:nvSpPr>
        <p:spPr>
          <a:xfrm>
            <a:off x="457200" y="1325880"/>
            <a:ext cx="1280160" cy="365760"/>
          </a:xfrm>
          <a:prstGeom prst="rect">
            <a:avLst/>
          </a:prstGeom>
          <a:solidFill>
            <a:srgbClr val="0B1F3A"/>
          </a:solidFill>
          <a:ln/>
        </p:spPr>
        <p:txBody>
          <a:bodyPr/>
          <a:lstStyle/>
          <a:p>
            <a:endParaRPr lang="en-US"/>
          </a:p>
        </p:txBody>
      </p:sp>
      <p:sp>
        <p:nvSpPr>
          <p:cNvPr id="7" name="Text 5"/>
          <p:cNvSpPr/>
          <p:nvPr/>
        </p:nvSpPr>
        <p:spPr>
          <a:xfrm>
            <a:off x="502920" y="1325880"/>
            <a:ext cx="11887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txBody>
          <a:bodyPr/>
          <a:lstStyle/>
          <a:p>
            <a:endParaRPr lang="en-US"/>
          </a:p>
        </p:txBody>
      </p:sp>
      <p:sp>
        <p:nvSpPr>
          <p:cNvPr id="9" name="Text 7"/>
          <p:cNvSpPr/>
          <p:nvPr/>
        </p:nvSpPr>
        <p:spPr>
          <a:xfrm>
            <a:off x="1828800" y="1325880"/>
            <a:ext cx="40233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VOLT TYPHOON BEHAVIOR (LOTL)</a:t>
            </a:r>
            <a:endParaRPr lang="en-US" sz="1100" dirty="0"/>
          </a:p>
        </p:txBody>
      </p:sp>
      <p:sp>
        <p:nvSpPr>
          <p:cNvPr id="10" name="Shape 8"/>
          <p:cNvSpPr/>
          <p:nvPr/>
        </p:nvSpPr>
        <p:spPr>
          <a:xfrm>
            <a:off x="5852160" y="1325880"/>
            <a:ext cx="3657600" cy="365760"/>
          </a:xfrm>
          <a:prstGeom prst="rect">
            <a:avLst/>
          </a:prstGeom>
          <a:solidFill>
            <a:srgbClr val="0891B2"/>
          </a:solidFill>
          <a:ln/>
        </p:spPr>
        <p:txBody>
          <a:bodyPr/>
          <a:lstStyle/>
          <a:p>
            <a:endParaRPr lang="en-US"/>
          </a:p>
        </p:txBody>
      </p:sp>
      <p:sp>
        <p:nvSpPr>
          <p:cNvPr id="11" name="Text 9"/>
          <p:cNvSpPr/>
          <p:nvPr/>
        </p:nvSpPr>
        <p:spPr>
          <a:xfrm>
            <a:off x="5943600" y="1325880"/>
            <a:ext cx="3566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txBody>
          <a:bodyPr/>
          <a:lstStyle/>
          <a:p>
            <a:endParaRPr lang="en-US"/>
          </a:p>
        </p:txBody>
      </p:sp>
      <p:sp>
        <p:nvSpPr>
          <p:cNvPr id="13" name="Text 11"/>
          <p:cNvSpPr/>
          <p:nvPr/>
        </p:nvSpPr>
        <p:spPr>
          <a:xfrm>
            <a:off x="9601200" y="1325880"/>
            <a:ext cx="21031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548640" y="1856232"/>
            <a:ext cx="502920" cy="502920"/>
          </a:xfrm>
          <a:prstGeom prst="ellipse">
            <a:avLst/>
          </a:prstGeom>
          <a:solidFill>
            <a:srgbClr val="0891B2"/>
          </a:solidFill>
          <a:ln/>
        </p:spPr>
        <p:txBody>
          <a:bodyPr/>
          <a:lstStyle/>
          <a:p>
            <a:endParaRPr lang="en-US"/>
          </a:p>
        </p:txBody>
      </p:sp>
      <p:sp>
        <p:nvSpPr>
          <p:cNvPr id="16" name="Text 14"/>
          <p:cNvSpPr/>
          <p:nvPr/>
        </p:nvSpPr>
        <p:spPr>
          <a:xfrm>
            <a:off x="548640" y="18562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Volt Typhoon authenticates with stolen valid AD credentials. Logs into 12 new hosts. Uses Kerberos TGTs. Off-hours activity from a finance analyst account.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 signal embedding shifts: unique_hosts 0.3→12, kerberos_tgt 1→14, off_hours_ratio 0.0→0.7. Cohort z-score for finance_analyst peers: 6.17. Critical pivot.</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 = 0.142  /  cohort z = 6.17</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548640" y="2816352"/>
            <a:ext cx="502920" cy="502920"/>
          </a:xfrm>
          <a:prstGeom prst="ellipse">
            <a:avLst/>
          </a:prstGeom>
          <a:solidFill>
            <a:srgbClr val="0891B2"/>
          </a:solidFill>
          <a:ln/>
        </p:spPr>
        <p:txBody>
          <a:bodyPr/>
          <a:lstStyle/>
          <a:p>
            <a:endParaRPr lang="en-US"/>
          </a:p>
        </p:txBody>
      </p:sp>
      <p:sp>
        <p:nvSpPr>
          <p:cNvPr id="23" name="Text 21"/>
          <p:cNvSpPr/>
          <p:nvPr/>
        </p:nvSpPr>
        <p:spPr>
          <a:xfrm>
            <a:off x="548640" y="28163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Runs wmic.exe, ntdsutil.exe, netsh.exe, rundll32.exe — all legitimate Windows tools. Calls PowerShell with encoded commands. Spawns nested cmd.exe chains.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signal embedding shifts: lolbin_count 0→7, cmdline_entropy 1.4→3.2, parent_child_depth 2→5, scripting_engine_calls 0→14. CUSUM 4σ alarm fires within 1 hour.</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lolbin_count: 0 → 7  /  CUSUM alarm @ T+47min</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548640" y="3776472"/>
            <a:ext cx="502920" cy="502920"/>
          </a:xfrm>
          <a:prstGeom prst="ellipse">
            <a:avLst/>
          </a:prstGeom>
          <a:solidFill>
            <a:srgbClr val="0891B2"/>
          </a:solidFill>
          <a:ln/>
        </p:spPr>
        <p:txBody>
          <a:bodyPr/>
          <a:lstStyle/>
          <a:p>
            <a:endParaRPr lang="en-US"/>
          </a:p>
        </p:txBody>
      </p:sp>
      <p:sp>
        <p:nvSpPr>
          <p:cNvPr id="30" name="Text 28"/>
          <p:cNvSpPr/>
          <p:nvPr/>
        </p:nvSpPr>
        <p:spPr>
          <a:xfrm>
            <a:off x="548640" y="37764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C2 traffic to KV botnet (compromised SOHO routers). New unique destinations. Encrypted payloads. Slow beaconing to mask presence.</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embedding shifts: unique_dest_ips 3→18, beacon_score 0.05→0.42, encrypted_pct 0.4→0.95. Top destination: known KV botnet ASN (cross-referenced with threat intel).</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c2_beaconing (T1071) score 0.71</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6" name="Shape 34"/>
          <p:cNvSpPr/>
          <p:nvPr/>
        </p:nvSpPr>
        <p:spPr>
          <a:xfrm>
            <a:off x="548640" y="4736592"/>
            <a:ext cx="502920" cy="502920"/>
          </a:xfrm>
          <a:prstGeom prst="ellipse">
            <a:avLst/>
          </a:prstGeom>
          <a:solidFill>
            <a:srgbClr val="0891B2"/>
          </a:solidFill>
          <a:ln/>
        </p:spPr>
        <p:txBody>
          <a:bodyPr/>
          <a:lstStyle/>
          <a:p>
            <a:endParaRPr lang="en-US"/>
          </a:p>
        </p:txBody>
      </p:sp>
      <p:sp>
        <p:nvSpPr>
          <p:cNvPr id="37" name="Text 35"/>
          <p:cNvSpPr/>
          <p:nvPr/>
        </p:nvSpPr>
        <p:spPr>
          <a:xfrm>
            <a:off x="548640" y="473659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Web shells dropped (.aspx, .jspx). Bulk file access on file servers. NTDS.dit copied. 7-Zip used to compress data with password.</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File signal embedding shifts: files_created spike, sensitive_access_count 0→24, archive_creates 0→3, bulk_ops_flag=true, extension_change_rate elevated.</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insider_data_hoarding (T1074) 0.58</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3" name="Shape 41"/>
          <p:cNvSpPr/>
          <p:nvPr/>
        </p:nvSpPr>
        <p:spPr>
          <a:xfrm>
            <a:off x="548640" y="5696712"/>
            <a:ext cx="502920" cy="502920"/>
          </a:xfrm>
          <a:prstGeom prst="ellipse">
            <a:avLst/>
          </a:prstGeom>
          <a:solidFill>
            <a:srgbClr val="0891B2"/>
          </a:solidFill>
          <a:ln/>
        </p:spPr>
        <p:txBody>
          <a:bodyPr/>
          <a:lstStyle/>
          <a:p>
            <a:endParaRPr lang="en-US"/>
          </a:p>
        </p:txBody>
      </p:sp>
      <p:sp>
        <p:nvSpPr>
          <p:cNvPr id="44" name="Text 42"/>
          <p:cNvSpPr/>
          <p:nvPr/>
        </p:nvSpPr>
        <p:spPr>
          <a:xfrm>
            <a:off x="548640" y="56967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Privilege escalation via token manipulation. Group additions to administrative OUs. Service account use spikes. Domain admin actions.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 signal embedding shifts: priv_esc 0→3, group_adds 0→2, svc_acct_use 5→47, admin_actions 1→18. Identity-graph hash changes — new linked SIDs.</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privilege_escalation (T1078) 0.66</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Result: 5 signals → 1 fused 1536-d trajectory. CUSUM alarms in window T+47min. Drift direction projects to lateral_movement (0.78) + credential_dumping (0.61). HIGH severity alert with MITRE T1021, T1003 ready for SOAR playbook.</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DETECTING SALT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ACECARD Detects Salt Typhoon — Slow, Long-Dwell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Salt Typhoon dwells for years. ACECARD's 30-day rolling baseline + CUSUM change-point detection surfaces the gradual structural drift that no threshold catches.</a:t>
            </a:r>
            <a:endParaRPr lang="en-US" sz="1300" dirty="0"/>
          </a:p>
        </p:txBody>
      </p:sp>
      <p:sp>
        <p:nvSpPr>
          <p:cNvPr id="6" name="Shape 4"/>
          <p:cNvSpPr/>
          <p:nvPr/>
        </p:nvSpPr>
        <p:spPr>
          <a:xfrm>
            <a:off x="457200" y="1325880"/>
            <a:ext cx="1280160" cy="365760"/>
          </a:xfrm>
          <a:prstGeom prst="rect">
            <a:avLst/>
          </a:prstGeom>
          <a:solidFill>
            <a:srgbClr val="0B1F3A"/>
          </a:solidFill>
          <a:ln/>
        </p:spPr>
        <p:txBody>
          <a:bodyPr/>
          <a:lstStyle/>
          <a:p>
            <a:endParaRPr lang="en-US"/>
          </a:p>
        </p:txBody>
      </p:sp>
      <p:sp>
        <p:nvSpPr>
          <p:cNvPr id="7" name="Text 5"/>
          <p:cNvSpPr/>
          <p:nvPr/>
        </p:nvSpPr>
        <p:spPr>
          <a:xfrm>
            <a:off x="502920" y="1325880"/>
            <a:ext cx="11887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txBody>
          <a:bodyPr/>
          <a:lstStyle/>
          <a:p>
            <a:endParaRPr lang="en-US"/>
          </a:p>
        </p:txBody>
      </p:sp>
      <p:sp>
        <p:nvSpPr>
          <p:cNvPr id="9" name="Text 7"/>
          <p:cNvSpPr/>
          <p:nvPr/>
        </p:nvSpPr>
        <p:spPr>
          <a:xfrm>
            <a:off x="1828800" y="1325880"/>
            <a:ext cx="4023360" cy="36576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SALT TYPHOON BEHAVIOR (NETWORK GEAR)</a:t>
            </a:r>
            <a:endParaRPr lang="en-US" sz="1100" dirty="0"/>
          </a:p>
        </p:txBody>
      </p:sp>
      <p:sp>
        <p:nvSpPr>
          <p:cNvPr id="10" name="Shape 8"/>
          <p:cNvSpPr/>
          <p:nvPr/>
        </p:nvSpPr>
        <p:spPr>
          <a:xfrm>
            <a:off x="5852160" y="1325880"/>
            <a:ext cx="3657600" cy="365760"/>
          </a:xfrm>
          <a:prstGeom prst="rect">
            <a:avLst/>
          </a:prstGeom>
          <a:solidFill>
            <a:srgbClr val="0891B2"/>
          </a:solidFill>
          <a:ln/>
        </p:spPr>
        <p:txBody>
          <a:bodyPr/>
          <a:lstStyle/>
          <a:p>
            <a:endParaRPr lang="en-US"/>
          </a:p>
        </p:txBody>
      </p:sp>
      <p:sp>
        <p:nvSpPr>
          <p:cNvPr id="11" name="Text 9"/>
          <p:cNvSpPr/>
          <p:nvPr/>
        </p:nvSpPr>
        <p:spPr>
          <a:xfrm>
            <a:off x="5943600" y="1325880"/>
            <a:ext cx="3566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txBody>
          <a:bodyPr/>
          <a:lstStyle/>
          <a:p>
            <a:endParaRPr lang="en-US"/>
          </a:p>
        </p:txBody>
      </p:sp>
      <p:sp>
        <p:nvSpPr>
          <p:cNvPr id="13" name="Text 11"/>
          <p:cNvSpPr/>
          <p:nvPr/>
        </p:nvSpPr>
        <p:spPr>
          <a:xfrm>
            <a:off x="9601200" y="1325880"/>
            <a:ext cx="21031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548640" y="1856232"/>
            <a:ext cx="502920" cy="502920"/>
          </a:xfrm>
          <a:prstGeom prst="ellipse">
            <a:avLst/>
          </a:prstGeom>
          <a:solidFill>
            <a:srgbClr val="0891B2"/>
          </a:solidFill>
          <a:ln/>
        </p:spPr>
        <p:txBody>
          <a:bodyPr/>
          <a:lstStyle/>
          <a:p>
            <a:endParaRPr lang="en-US"/>
          </a:p>
        </p:txBody>
      </p:sp>
      <p:sp>
        <p:nvSpPr>
          <p:cNvPr id="16" name="Text 14"/>
          <p:cNvSpPr/>
          <p:nvPr/>
        </p:nvSpPr>
        <p:spPr>
          <a:xfrm>
            <a:off x="548640" y="18562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Logs in via stolen TACACS+ credentials harvested from router PCAP. Uses legitimate network-engineer credentials. Off-hours admin access from previously-unused jump host.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 embedding shifts subtly over weeks. unique_hosts grows from 5 → 18 over 14 days. off_hours_ratio creeps from 0.1 → 0.45. Cosine drift accumulates: 0.04 → 0.11 over 30 days.</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Slow drift caught by CUSUM 4σ</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548640" y="2816352"/>
            <a:ext cx="502920" cy="502920"/>
          </a:xfrm>
          <a:prstGeom prst="ellipse">
            <a:avLst/>
          </a:prstGeom>
          <a:solidFill>
            <a:srgbClr val="0891B2"/>
          </a:solidFill>
          <a:ln/>
        </p:spPr>
        <p:txBody>
          <a:bodyPr/>
          <a:lstStyle/>
          <a:p>
            <a:endParaRPr lang="en-US"/>
          </a:p>
        </p:txBody>
      </p:sp>
      <p:sp>
        <p:nvSpPr>
          <p:cNvPr id="23" name="Text 21"/>
          <p:cNvSpPr/>
          <p:nvPr/>
        </p:nvSpPr>
        <p:spPr>
          <a:xfrm>
            <a:off x="548640" y="28163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Enables Guest Shell on Cisco IOS XR. Runs JumbledPath ELF binary. Uses on-box packet capture (tcpdump). Modifies routing config via legitimate-looking commands.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embedding for network-device entities shifts. Guest Shell enablement = new cmdline pattern. JumbledPath process tree differs from sysadmin baseline.</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defense_evasion (T1562) 0.49</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548640" y="3776472"/>
            <a:ext cx="502920" cy="502920"/>
          </a:xfrm>
          <a:prstGeom prst="ellipse">
            <a:avLst/>
          </a:prstGeom>
          <a:solidFill>
            <a:srgbClr val="0891B2"/>
          </a:solidFill>
          <a:ln/>
        </p:spPr>
        <p:txBody>
          <a:bodyPr/>
          <a:lstStyle/>
          <a:p>
            <a:endParaRPr lang="en-US"/>
          </a:p>
        </p:txBody>
      </p:sp>
      <p:sp>
        <p:nvSpPr>
          <p:cNvPr id="30" name="Text 28"/>
          <p:cNvSpPr/>
          <p:nvPr/>
        </p:nvSpPr>
        <p:spPr>
          <a:xfrm>
            <a:off x="548640" y="37764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Sets up GRE tunnels on compromised routers. Slow CDR/metadata exfiltration over months. Encrypted C2 to JumbledPath jump hosts.</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embedding for the router entity shifts: new GRE peer, bytes_out grows linearly over weeks (low but persistent), beacon_score elevates on management interface.</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data_exfiltration (T1041) 0.44 — sustained</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6" name="Shape 34"/>
          <p:cNvSpPr/>
          <p:nvPr/>
        </p:nvSpPr>
        <p:spPr>
          <a:xfrm>
            <a:off x="548640" y="4736592"/>
            <a:ext cx="502920" cy="502920"/>
          </a:xfrm>
          <a:prstGeom prst="ellipse">
            <a:avLst/>
          </a:prstGeom>
          <a:solidFill>
            <a:srgbClr val="0891B2"/>
          </a:solidFill>
          <a:ln/>
        </p:spPr>
        <p:txBody>
          <a:bodyPr/>
          <a:lstStyle/>
          <a:p>
            <a:endParaRPr lang="en-US"/>
          </a:p>
        </p:txBody>
      </p:sp>
      <p:sp>
        <p:nvSpPr>
          <p:cNvPr id="37" name="Text 35"/>
          <p:cNvSpPr/>
          <p:nvPr/>
        </p:nvSpPr>
        <p:spPr>
          <a:xfrm>
            <a:off x="548640" y="473659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Modifies router startup-config (NVRAM). Stages PCAPs in on-box Linux container. Touches CALEA-zone config files with elevated privileges.</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File signal embedding for router entities reflects config writes outside normal change windows. sensitive_access_count rises on CALEA-zone files. archive_creates spikes.</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defense_evasion (T1562)</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3" name="Shape 41"/>
          <p:cNvSpPr/>
          <p:nvPr/>
        </p:nvSpPr>
        <p:spPr>
          <a:xfrm>
            <a:off x="548640" y="5696712"/>
            <a:ext cx="502920" cy="502920"/>
          </a:xfrm>
          <a:prstGeom prst="ellipse">
            <a:avLst/>
          </a:prstGeom>
          <a:solidFill>
            <a:srgbClr val="0891B2"/>
          </a:solidFill>
          <a:ln/>
        </p:spPr>
        <p:txBody>
          <a:bodyPr/>
          <a:lstStyle/>
          <a:p>
            <a:endParaRPr lang="en-US"/>
          </a:p>
        </p:txBody>
      </p:sp>
      <p:sp>
        <p:nvSpPr>
          <p:cNvPr id="44" name="Text 42"/>
          <p:cNvSpPr/>
          <p:nvPr/>
        </p:nvSpPr>
        <p:spPr>
          <a:xfrm>
            <a:off x="548640" y="56967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Creates local privileged accounts on routers. Modifies AAA config (TACACS+ → local). Adds attacker IP to ACL allowlists. Enables sshd_operns service for root access.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Identity-graph hash for router entities changes — new linked accounts detected. priv_escalations 0→3 on network gear. role_changes counter increments on AAA config diff.</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privilege_escalation (T1078) 0.71</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Salt Typhoon's tradecraft is below all single-window thresholds — they win by going slow. CUSUM accumulates the small drifts; the 30-day rolling baseline shifts the moment the baseline itself becomes anomalous vs. the cohort.</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DRIFT DIRECTION</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Drift Direction: What Is the Entity Drifting Toward?</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FR-5: Cosine projection onto 8 named threat concepts with MITRE ATT&amp;CK mapping. Top-3 returned per alert.</a:t>
            </a:r>
            <a:endParaRPr lang="en-US" sz="1200" dirty="0"/>
          </a:p>
        </p:txBody>
      </p:sp>
      <p:sp>
        <p:nvSpPr>
          <p:cNvPr id="6" name="Shape 4"/>
          <p:cNvSpPr/>
          <p:nvPr/>
        </p:nvSpPr>
        <p:spPr>
          <a:xfrm>
            <a:off x="457200" y="1417320"/>
            <a:ext cx="11247120" cy="502920"/>
          </a:xfrm>
          <a:prstGeom prst="rect">
            <a:avLst/>
          </a:prstGeom>
          <a:solidFill>
            <a:srgbClr val="0B1F3A"/>
          </a:solidFill>
          <a:ln/>
        </p:spPr>
        <p:txBody>
          <a:bodyPr/>
          <a:lstStyle/>
          <a:p>
            <a:endParaRPr lang="en-US"/>
          </a:p>
        </p:txBody>
      </p:sp>
      <p:sp>
        <p:nvSpPr>
          <p:cNvPr id="7" name="Text 5"/>
          <p:cNvSpPr/>
          <p:nvPr/>
        </p:nvSpPr>
        <p:spPr>
          <a:xfrm>
            <a:off x="640080" y="1417320"/>
            <a:ext cx="10972800" cy="502920"/>
          </a:xfrm>
          <a:prstGeom prst="rect">
            <a:avLst/>
          </a:prstGeom>
          <a:noFill/>
          <a:ln/>
        </p:spPr>
        <p:txBody>
          <a:bodyPr wrap="square" lIns="0" tIns="0" rIns="0" bIns="0" rtlCol="0" anchor="ctr"/>
          <a:lstStyle/>
          <a:p>
            <a:pPr marL="0" indent="0" algn="ctr">
              <a:buNone/>
            </a:pPr>
            <a:r>
              <a:rPr lang="en-US" sz="1200" b="1" dirty="0">
                <a:solidFill>
                  <a:srgbClr val="F26B1F"/>
                </a:solidFill>
                <a:latin typeface="Consolas" pitchFamily="34" charset="0"/>
                <a:ea typeface="Consolas" pitchFamily="34" charset="-122"/>
                <a:cs typeface="Consolas" pitchFamily="34" charset="-120"/>
              </a:rPr>
              <a:t>drift_vector = V_current − V_baseline    |    projection_score = cosine(drift_vector, concept_embedding)</a:t>
            </a:r>
            <a:endParaRPr lang="en-US" sz="1200" dirty="0"/>
          </a:p>
        </p:txBody>
      </p:sp>
      <p:graphicFrame>
        <p:nvGraphicFramePr>
          <p:cNvPr id="22" name="Table 0"/>
          <p:cNvGraphicFramePr>
            <a:graphicFrameLocks noGrp="1"/>
          </p:cNvGraphicFramePr>
          <p:nvPr/>
        </p:nvGraphicFramePr>
        <p:xfrm>
          <a:off x="457200" y="2103120"/>
          <a:ext cx="11247120" cy="3538728"/>
        </p:xfrm>
        <a:graphic>
          <a:graphicData uri="http://schemas.openxmlformats.org/drawingml/2006/table">
            <a:tbl>
              <a:tblPr/>
              <a:tblGrid>
                <a:gridCol w="27432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480560">
                  <a:extLst>
                    <a:ext uri="{9D8B030D-6E8A-4147-A177-3AD203B41FA5}">
                      <a16:colId xmlns:a16="http://schemas.microsoft.com/office/drawing/2014/main" val="20003"/>
                    </a:ext>
                  </a:extLst>
                </a:gridCol>
              </a:tblGrid>
              <a:tr h="39319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Threat Concept</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ATT&amp;CK ID</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Tactic</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Indicators</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extLst>
                  <a:ext uri="{0D108BD9-81ED-4DB2-BD59-A6C34878D82A}">
                    <a16:rowId xmlns:a16="http://schemas.microsoft.com/office/drawing/2014/main" val="10000"/>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credential_dumping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T1003</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Credential Access</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Mimikatz, LSASS dump, SAM extraction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lateral_movement</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T1021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Lateral Movement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RDP, SMB, WinRM, PsExec, pass-the-hash</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data_exfiltration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T1041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Exfiltration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Large uploads, DNS tunneling, cloud storage</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c2_beaconing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Command &amp; Control</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Regular intervals, encoded payloads, DGA</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lotl_execution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T1059</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Execution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PowerShell, WMI, certutil, mshta, rundll32</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privilege_escalation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T1078</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Privilege Escalation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Token manipulation, UAC bypass, sudo abuse</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defense_evasion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T1562</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Defense Evasion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Log clearing, AV disable, timestomp</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insider_data_hoarding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T1074</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Collection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Bulk downloads, USB staging, print spooling</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bl>
          </a:graphicData>
        </a:graphic>
      </p:graphicFrame>
      <p:sp>
        <p:nvSpPr>
          <p:cNvPr id="9" name="Shape 6"/>
          <p:cNvSpPr/>
          <p:nvPr/>
        </p:nvSpPr>
        <p:spPr>
          <a:xfrm>
            <a:off x="457200" y="6080760"/>
            <a:ext cx="11247120" cy="548640"/>
          </a:xfrm>
          <a:prstGeom prst="rect">
            <a:avLst/>
          </a:prstGeom>
          <a:solidFill>
            <a:srgbClr val="0B1F3A"/>
          </a:solidFill>
          <a:ln/>
        </p:spPr>
        <p:txBody>
          <a:bodyPr/>
          <a:lstStyle/>
          <a:p>
            <a:endParaRPr lang="en-US"/>
          </a:p>
        </p:txBody>
      </p:sp>
      <p:sp>
        <p:nvSpPr>
          <p:cNvPr id="10" name="Text 7"/>
          <p:cNvSpPr/>
          <p:nvPr/>
        </p:nvSpPr>
        <p:spPr>
          <a:xfrm>
            <a:off x="640080" y="6080760"/>
            <a:ext cx="10972800" cy="54864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OUTPUT  →  Top-3 concepts with projection scores + MITRE ATT&amp;CK technique IDs per alert window. Example: "jsmith drifting toward lateral_movement (0.78), credential_dumping (0.45) — T1021, T1003"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COHORT + ALERTING</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Peer Cohort Comparison + Calibrated Alert Tiers</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FR-6: A sysadmin logging into 30 hosts is normal. A finance analyst doing the same is anomalous. Cohort comparison adjusts for role context.</a:t>
            </a:r>
            <a:endParaRPr lang="en-US" sz="1200" dirty="0"/>
          </a:p>
        </p:txBody>
      </p:sp>
      <p:sp>
        <p:nvSpPr>
          <p:cNvPr id="6" name="Shape 4"/>
          <p:cNvSpPr/>
          <p:nvPr/>
        </p:nvSpPr>
        <p:spPr>
          <a:xfrm>
            <a:off x="457200" y="1417320"/>
            <a:ext cx="5486400" cy="493776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417320"/>
            <a:ext cx="5486400" cy="457200"/>
          </a:xfrm>
          <a:prstGeom prst="rect">
            <a:avLst/>
          </a:prstGeom>
          <a:solidFill>
            <a:srgbClr val="0B1F3A"/>
          </a:solidFill>
          <a:ln/>
        </p:spPr>
        <p:txBody>
          <a:bodyPr/>
          <a:lstStyle/>
          <a:p>
            <a:endParaRPr lang="en-US"/>
          </a:p>
        </p:txBody>
      </p:sp>
      <p:sp>
        <p:nvSpPr>
          <p:cNvPr id="8" name="Text 6"/>
          <p:cNvSpPr/>
          <p:nvPr/>
        </p:nvSpPr>
        <p:spPr>
          <a:xfrm>
            <a:off x="640080" y="1417320"/>
            <a:ext cx="5303520" cy="45720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PEER COHORT (FR-6)</a:t>
            </a:r>
            <a:endParaRPr lang="en-US" sz="1200" dirty="0"/>
          </a:p>
        </p:txBody>
      </p:sp>
      <p:sp>
        <p:nvSpPr>
          <p:cNvPr id="9" name="Text 7"/>
          <p:cNvSpPr/>
          <p:nvPr/>
        </p:nvSpPr>
        <p:spPr>
          <a:xfrm>
            <a:off x="685800" y="2011680"/>
            <a:ext cx="5029200" cy="365760"/>
          </a:xfrm>
          <a:prstGeom prst="rect">
            <a:avLst/>
          </a:prstGeom>
          <a:noFill/>
          <a:ln/>
        </p:spPr>
        <p:txBody>
          <a:bodyPr wrap="square" lIns="0" tIns="0" rIns="0" bIns="0" rtlCol="0" anchor="ctr"/>
          <a:lstStyle/>
          <a:p>
            <a:pPr marL="0" indent="0">
              <a:buNone/>
            </a:pPr>
            <a:r>
              <a:rPr lang="en-US" sz="1200" b="1" dirty="0">
                <a:solidFill>
                  <a:srgbClr val="F26B1F"/>
                </a:solidFill>
                <a:latin typeface="Consolas" pitchFamily="34" charset="0"/>
                <a:ea typeface="Consolas" pitchFamily="34" charset="-122"/>
                <a:cs typeface="Consolas" pitchFamily="34" charset="-120"/>
              </a:rPr>
              <a:t>z = (entity_drift − cohort_mean) / cohort_std</a:t>
            </a:r>
            <a:endParaRPr lang="en-US" sz="1200" dirty="0"/>
          </a:p>
        </p:txBody>
      </p:sp>
      <p:sp>
        <p:nvSpPr>
          <p:cNvPr id="10" name="Text 8"/>
          <p:cNvSpPr/>
          <p:nvPr/>
        </p:nvSpPr>
        <p:spPr>
          <a:xfrm>
            <a:off x="685800" y="2423160"/>
            <a:ext cx="5029200" cy="457200"/>
          </a:xfrm>
          <a:prstGeom prst="rect">
            <a:avLst/>
          </a:prstGeom>
          <a:noFill/>
          <a:ln/>
        </p:spPr>
        <p:txBody>
          <a:bodyPr wrap="square" lIns="0" tIns="0" rIns="0" bIns="0" rtlCol="0" anchor="ctr"/>
          <a:lstStyle/>
          <a:p>
            <a:pPr marL="0" indent="0">
              <a:buNone/>
            </a:pPr>
            <a:r>
              <a:rPr lang="en-US" sz="1050" i="1" dirty="0">
                <a:solidFill>
                  <a:srgbClr val="2D3748"/>
                </a:solidFill>
                <a:latin typeface="Calibri" pitchFamily="34" charset="0"/>
                <a:ea typeface="Calibri" pitchFamily="34" charset="-122"/>
                <a:cs typeface="Calibri" pitchFamily="34" charset="-120"/>
              </a:rPr>
              <a:t>Flag outlier if z &gt; 2.0  ·  Min cohort size: 5  ·  Cohort = role / OU / security group from AD/LDAP/IAM</a:t>
            </a:r>
            <a:endParaRPr lang="en-US" sz="1050" dirty="0"/>
          </a:p>
        </p:txBody>
      </p:sp>
      <p:sp>
        <p:nvSpPr>
          <p:cNvPr id="11" name="Text 9"/>
          <p:cNvSpPr/>
          <p:nvPr/>
        </p:nvSpPr>
        <p:spPr>
          <a:xfrm>
            <a:off x="685800" y="2971800"/>
            <a:ext cx="5029200" cy="274320"/>
          </a:xfrm>
          <a:prstGeom prst="rect">
            <a:avLst/>
          </a:prstGeom>
          <a:noFill/>
          <a:ln/>
        </p:spPr>
        <p:txBody>
          <a:bodyPr wrap="square" lIns="0" tIns="0" rIns="0" bIns="0" rtlCol="0" anchor="ctr"/>
          <a:lstStyle/>
          <a:p>
            <a:pPr marL="0" indent="0">
              <a:buNone/>
            </a:pPr>
            <a:r>
              <a:rPr lang="en-US" sz="1100" b="1" kern="0" spc="300" dirty="0">
                <a:solidFill>
                  <a:srgbClr val="F26B1F"/>
                </a:solidFill>
                <a:latin typeface="Calibri" pitchFamily="34" charset="0"/>
                <a:ea typeface="Calibri" pitchFamily="34" charset="-122"/>
                <a:cs typeface="Calibri" pitchFamily="34" charset="-120"/>
              </a:rPr>
              <a:t>EXAMPLE — Lateral Movement Detection</a:t>
            </a:r>
            <a:endParaRPr lang="en-US" sz="1100" dirty="0"/>
          </a:p>
        </p:txBody>
      </p:sp>
      <p:sp>
        <p:nvSpPr>
          <p:cNvPr id="12" name="Text 10"/>
          <p:cNvSpPr/>
          <p:nvPr/>
        </p:nvSpPr>
        <p:spPr>
          <a:xfrm>
            <a:off x="685800" y="3246120"/>
            <a:ext cx="5029200" cy="365760"/>
          </a:xfrm>
          <a:prstGeom prst="rect">
            <a:avLst/>
          </a:prstGeom>
          <a:noFill/>
          <a:ln/>
        </p:spPr>
        <p:txBody>
          <a:bodyPr wrap="square" lIns="0" tIns="0" rIns="0" bIns="0" rtlCol="0" anchor="ctr"/>
          <a:lstStyle/>
          <a:p>
            <a:pPr marL="0" indent="0">
              <a:buNone/>
            </a:pPr>
            <a:r>
              <a:rPr lang="en-US" sz="1050" i="1" dirty="0">
                <a:solidFill>
                  <a:srgbClr val="2D3748"/>
                </a:solidFill>
                <a:latin typeface="Calibri" pitchFamily="34" charset="0"/>
                <a:ea typeface="Calibri" pitchFamily="34" charset="-122"/>
                <a:cs typeface="Calibri" pitchFamily="34" charset="-120"/>
              </a:rPr>
              <a:t>Entity: jsmith (financial_analyst, cohort = 42 peers) · Window: 2026-05-02 14:00Z</a:t>
            </a:r>
            <a:endParaRPr lang="en-US" sz="1050" dirty="0"/>
          </a:p>
        </p:txBody>
      </p:sp>
      <p:sp>
        <p:nvSpPr>
          <p:cNvPr id="13" name="Text 11"/>
          <p:cNvSpPr/>
          <p:nvPr/>
        </p:nvSpPr>
        <p:spPr>
          <a:xfrm>
            <a:off x="777240" y="3703320"/>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jsmith drift:</a:t>
            </a:r>
            <a:endParaRPr lang="en-US" sz="1050" dirty="0"/>
          </a:p>
        </p:txBody>
      </p:sp>
      <p:sp>
        <p:nvSpPr>
          <p:cNvPr id="14" name="Text 12"/>
          <p:cNvSpPr/>
          <p:nvPr/>
        </p:nvSpPr>
        <p:spPr>
          <a:xfrm>
            <a:off x="2194560" y="3703320"/>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0.142</a:t>
            </a:r>
            <a:endParaRPr lang="en-US" sz="1200" dirty="0"/>
          </a:p>
        </p:txBody>
      </p:sp>
      <p:sp>
        <p:nvSpPr>
          <p:cNvPr id="15" name="Text 13"/>
          <p:cNvSpPr/>
          <p:nvPr/>
        </p:nvSpPr>
        <p:spPr>
          <a:xfrm>
            <a:off x="3063240" y="3703320"/>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(38 failed logons to 12 new hosts)</a:t>
            </a:r>
            <a:endParaRPr lang="en-US" sz="950" dirty="0"/>
          </a:p>
        </p:txBody>
      </p:sp>
      <p:sp>
        <p:nvSpPr>
          <p:cNvPr id="16" name="Text 14"/>
          <p:cNvSpPr/>
          <p:nvPr/>
        </p:nvSpPr>
        <p:spPr>
          <a:xfrm>
            <a:off x="777240" y="4087368"/>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Cohort mean:</a:t>
            </a:r>
            <a:endParaRPr lang="en-US" sz="1050" dirty="0"/>
          </a:p>
        </p:txBody>
      </p:sp>
      <p:sp>
        <p:nvSpPr>
          <p:cNvPr id="17" name="Text 15"/>
          <p:cNvSpPr/>
          <p:nvPr/>
        </p:nvSpPr>
        <p:spPr>
          <a:xfrm>
            <a:off x="2194560" y="4087368"/>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0.031</a:t>
            </a:r>
            <a:endParaRPr lang="en-US" sz="1200" dirty="0"/>
          </a:p>
        </p:txBody>
      </p:sp>
      <p:sp>
        <p:nvSpPr>
          <p:cNvPr id="18" name="Text 16"/>
          <p:cNvSpPr/>
          <p:nvPr/>
        </p:nvSpPr>
        <p:spPr>
          <a:xfrm>
            <a:off x="3063240" y="4087368"/>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(peers avg 2.1 failed, 0.3 new hosts)</a:t>
            </a:r>
            <a:endParaRPr lang="en-US" sz="950" dirty="0"/>
          </a:p>
        </p:txBody>
      </p:sp>
      <p:sp>
        <p:nvSpPr>
          <p:cNvPr id="19" name="Text 17"/>
          <p:cNvSpPr/>
          <p:nvPr/>
        </p:nvSpPr>
        <p:spPr>
          <a:xfrm>
            <a:off x="777240" y="4471416"/>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Cohort std:</a:t>
            </a:r>
            <a:endParaRPr lang="en-US" sz="1050" dirty="0"/>
          </a:p>
        </p:txBody>
      </p:sp>
      <p:sp>
        <p:nvSpPr>
          <p:cNvPr id="20" name="Text 18"/>
          <p:cNvSpPr/>
          <p:nvPr/>
        </p:nvSpPr>
        <p:spPr>
          <a:xfrm>
            <a:off x="2194560" y="4471416"/>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0.018</a:t>
            </a:r>
            <a:endParaRPr lang="en-US" sz="1200" dirty="0"/>
          </a:p>
        </p:txBody>
      </p:sp>
      <p:sp>
        <p:nvSpPr>
          <p:cNvPr id="21" name="Text 19"/>
          <p:cNvSpPr/>
          <p:nvPr/>
        </p:nvSpPr>
        <p:spPr>
          <a:xfrm>
            <a:off x="3063240" y="4471416"/>
            <a:ext cx="2606040" cy="320040"/>
          </a:xfrm>
          <a:prstGeom prst="rect">
            <a:avLst/>
          </a:prstGeom>
          <a:noFill/>
          <a:ln/>
        </p:spPr>
        <p:txBody>
          <a:bodyPr wrap="square" lIns="0" tIns="0" rIns="0" bIns="0" rtlCol="0" anchor="ctr"/>
          <a:lstStyle/>
          <a:p>
            <a:pPr marL="0" indent="0">
              <a:buNone/>
            </a:pPr>
            <a:endParaRPr lang="en-US" sz="950" dirty="0"/>
          </a:p>
        </p:txBody>
      </p:sp>
      <p:sp>
        <p:nvSpPr>
          <p:cNvPr id="22" name="Text 20"/>
          <p:cNvSpPr/>
          <p:nvPr/>
        </p:nvSpPr>
        <p:spPr>
          <a:xfrm>
            <a:off x="777240" y="4855464"/>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z-score:</a:t>
            </a:r>
            <a:endParaRPr lang="en-US" sz="1050" dirty="0"/>
          </a:p>
        </p:txBody>
      </p:sp>
      <p:sp>
        <p:nvSpPr>
          <p:cNvPr id="23" name="Text 21"/>
          <p:cNvSpPr/>
          <p:nvPr/>
        </p:nvSpPr>
        <p:spPr>
          <a:xfrm>
            <a:off x="2194560" y="4855464"/>
            <a:ext cx="822960" cy="320040"/>
          </a:xfrm>
          <a:prstGeom prst="rect">
            <a:avLst/>
          </a:prstGeom>
          <a:noFill/>
          <a:ln/>
        </p:spPr>
        <p:txBody>
          <a:bodyPr wrap="square" lIns="0" tIns="0" rIns="0" bIns="0" rtlCol="0" anchor="ctr"/>
          <a:lstStyle/>
          <a:p>
            <a:pPr marL="0" indent="0">
              <a:buNone/>
            </a:pPr>
            <a:r>
              <a:rPr lang="en-US" sz="1200" b="1" dirty="0">
                <a:solidFill>
                  <a:srgbClr val="C0392B"/>
                </a:solidFill>
                <a:latin typeface="Consolas" pitchFamily="34" charset="0"/>
                <a:ea typeface="Consolas" pitchFamily="34" charset="-122"/>
                <a:cs typeface="Consolas" pitchFamily="34" charset="-120"/>
              </a:rPr>
              <a:t>6.17</a:t>
            </a:r>
            <a:endParaRPr lang="en-US" sz="1200" dirty="0"/>
          </a:p>
        </p:txBody>
      </p:sp>
      <p:sp>
        <p:nvSpPr>
          <p:cNvPr id="24" name="Text 22"/>
          <p:cNvSpPr/>
          <p:nvPr/>
        </p:nvSpPr>
        <p:spPr>
          <a:xfrm>
            <a:off x="3063240" y="4855464"/>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&gt;&gt;&gt; OUTLIER (z &gt; 2.0)</a:t>
            </a:r>
            <a:endParaRPr lang="en-US" sz="950" dirty="0"/>
          </a:p>
        </p:txBody>
      </p:sp>
      <p:sp>
        <p:nvSpPr>
          <p:cNvPr id="25" name="Shape 23"/>
          <p:cNvSpPr/>
          <p:nvPr/>
        </p:nvSpPr>
        <p:spPr>
          <a:xfrm>
            <a:off x="685800" y="5349240"/>
            <a:ext cx="5029200" cy="868680"/>
          </a:xfrm>
          <a:prstGeom prst="rect">
            <a:avLst/>
          </a:prstGeom>
          <a:solidFill>
            <a:srgbClr val="0B1F3A"/>
          </a:solidFill>
          <a:ln/>
        </p:spPr>
        <p:txBody>
          <a:bodyPr/>
          <a:lstStyle/>
          <a:p>
            <a:endParaRPr lang="en-US"/>
          </a:p>
        </p:txBody>
      </p:sp>
      <p:sp>
        <p:nvSpPr>
          <p:cNvPr id="26" name="Text 24"/>
          <p:cNvSpPr/>
          <p:nvPr/>
        </p:nvSpPr>
        <p:spPr>
          <a:xfrm>
            <a:off x="777240" y="5394960"/>
            <a:ext cx="4846320" cy="777240"/>
          </a:xfrm>
          <a:prstGeom prst="rect">
            <a:avLst/>
          </a:prstGeom>
          <a:noFill/>
          <a:ln/>
        </p:spPr>
        <p:txBody>
          <a:bodyPr wrap="square" lIns="0" tIns="0" rIns="0" bIns="0" rtlCol="0" anchor="t"/>
          <a:lstStyle/>
          <a:p>
            <a:pPr marL="0" indent="0">
              <a:buNone/>
            </a:pPr>
            <a:r>
              <a:rPr lang="en-US" sz="950" b="1" dirty="0">
                <a:solidFill>
                  <a:srgbClr val="F26B1F"/>
                </a:solidFill>
                <a:latin typeface="Calibri" pitchFamily="34" charset="0"/>
                <a:ea typeface="Calibri" pitchFamily="34" charset="-122"/>
                <a:cs typeface="Calibri" pitchFamily="34" charset="-120"/>
              </a:rPr>
              <a:t>Drift direction:  </a:t>
            </a:r>
            <a:r>
              <a:rPr lang="en-US" sz="950" dirty="0">
                <a:solidFill>
                  <a:srgbClr val="FFFFFF"/>
                </a:solidFill>
                <a:latin typeface="Calibri" pitchFamily="34" charset="0"/>
                <a:ea typeface="Calibri" pitchFamily="34" charset="-122"/>
                <a:cs typeface="Calibri" pitchFamily="34" charset="-120"/>
              </a:rPr>
              <a:t>lateral_movement (0.78), credential_dumping (0.45)</a:t>
            </a:r>
            <a:endParaRPr lang="en-US" sz="950" dirty="0"/>
          </a:p>
          <a:p>
            <a:pPr marL="0" indent="0">
              <a:buNone/>
            </a:pPr>
            <a:r>
              <a:rPr lang="en-US" sz="950" b="1" dirty="0">
                <a:solidFill>
                  <a:srgbClr val="F26B1F"/>
                </a:solidFill>
                <a:latin typeface="Calibri" pitchFamily="34" charset="0"/>
                <a:ea typeface="Calibri" pitchFamily="34" charset="-122"/>
                <a:cs typeface="Calibri" pitchFamily="34" charset="-120"/>
              </a:rPr>
              <a:t>MITRE:  </a:t>
            </a:r>
            <a:r>
              <a:rPr lang="en-US" sz="950" dirty="0">
                <a:solidFill>
                  <a:srgbClr val="FFFFFF"/>
                </a:solidFill>
                <a:latin typeface="Calibri" pitchFamily="34" charset="0"/>
                <a:ea typeface="Calibri" pitchFamily="34" charset="-122"/>
                <a:cs typeface="Calibri" pitchFamily="34" charset="-120"/>
              </a:rPr>
              <a:t>T1021 (Remote Services), T1003 (Credential Dumping)</a:t>
            </a:r>
            <a:endParaRPr lang="en-US" sz="950" dirty="0"/>
          </a:p>
          <a:p>
            <a:pPr marL="0" indent="0">
              <a:buNone/>
            </a:pPr>
            <a:r>
              <a:rPr lang="en-US" sz="950" b="1" dirty="0">
                <a:solidFill>
                  <a:srgbClr val="F26B1F"/>
                </a:solidFill>
                <a:latin typeface="Calibri" pitchFamily="34" charset="0"/>
                <a:ea typeface="Calibri" pitchFamily="34" charset="-122"/>
                <a:cs typeface="Calibri" pitchFamily="34" charset="-120"/>
              </a:rPr>
              <a:t>Action:  </a:t>
            </a:r>
            <a:r>
              <a:rPr lang="en-US" sz="950" dirty="0">
                <a:solidFill>
                  <a:srgbClr val="FFFFFF"/>
                </a:solidFill>
                <a:latin typeface="Calibri" pitchFamily="34" charset="0"/>
                <a:ea typeface="Calibri" pitchFamily="34" charset="-122"/>
                <a:cs typeface="Calibri" pitchFamily="34" charset="-120"/>
              </a:rPr>
              <a:t>HIGH severity → SOAR playbook triggered</a:t>
            </a:r>
            <a:endParaRPr lang="en-US" sz="950" dirty="0"/>
          </a:p>
        </p:txBody>
      </p:sp>
      <p:sp>
        <p:nvSpPr>
          <p:cNvPr id="27" name="Shape 25"/>
          <p:cNvSpPr/>
          <p:nvPr/>
        </p:nvSpPr>
        <p:spPr>
          <a:xfrm>
            <a:off x="6217920" y="1417320"/>
            <a:ext cx="5486400" cy="4937760"/>
          </a:xfrm>
          <a:prstGeom prst="rect">
            <a:avLst/>
          </a:prstGeom>
          <a:solidFill>
            <a:srgbClr val="F7F8FA"/>
          </a:solidFill>
          <a:ln w="12700">
            <a:solidFill>
              <a:srgbClr val="E5E9EE"/>
            </a:solidFill>
            <a:prstDash val="solid"/>
          </a:ln>
        </p:spPr>
        <p:txBody>
          <a:bodyPr/>
          <a:lstStyle/>
          <a:p>
            <a:endParaRPr lang="en-US"/>
          </a:p>
        </p:txBody>
      </p:sp>
      <p:sp>
        <p:nvSpPr>
          <p:cNvPr id="28" name="Shape 26"/>
          <p:cNvSpPr/>
          <p:nvPr/>
        </p:nvSpPr>
        <p:spPr>
          <a:xfrm>
            <a:off x="6217920" y="1417320"/>
            <a:ext cx="5486400" cy="457200"/>
          </a:xfrm>
          <a:prstGeom prst="rect">
            <a:avLst/>
          </a:prstGeom>
          <a:solidFill>
            <a:srgbClr val="0B1F3A"/>
          </a:solidFill>
          <a:ln/>
        </p:spPr>
        <p:txBody>
          <a:bodyPr/>
          <a:lstStyle/>
          <a:p>
            <a:endParaRPr lang="en-US"/>
          </a:p>
        </p:txBody>
      </p:sp>
      <p:sp>
        <p:nvSpPr>
          <p:cNvPr id="29" name="Text 27"/>
          <p:cNvSpPr/>
          <p:nvPr/>
        </p:nvSpPr>
        <p:spPr>
          <a:xfrm>
            <a:off x="6400800" y="1417320"/>
            <a:ext cx="5303520" cy="45720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ALERT TIERS (FR-7)</a:t>
            </a:r>
            <a:endParaRPr lang="en-US" sz="1200" dirty="0"/>
          </a:p>
        </p:txBody>
      </p:sp>
      <p:sp>
        <p:nvSpPr>
          <p:cNvPr id="30" name="Shape 28"/>
          <p:cNvSpPr/>
          <p:nvPr/>
        </p:nvSpPr>
        <p:spPr>
          <a:xfrm>
            <a:off x="6400800" y="2011680"/>
            <a:ext cx="5120640" cy="777240"/>
          </a:xfrm>
          <a:prstGeom prst="rect">
            <a:avLst/>
          </a:prstGeom>
          <a:solidFill>
            <a:srgbClr val="FFFFFF"/>
          </a:solidFill>
          <a:ln w="12700">
            <a:solidFill>
              <a:srgbClr val="E5E9EE"/>
            </a:solidFill>
            <a:prstDash val="solid"/>
          </a:ln>
        </p:spPr>
        <p:txBody>
          <a:bodyPr/>
          <a:lstStyle/>
          <a:p>
            <a:endParaRPr lang="en-US"/>
          </a:p>
        </p:txBody>
      </p:sp>
      <p:sp>
        <p:nvSpPr>
          <p:cNvPr id="31" name="Shape 29"/>
          <p:cNvSpPr/>
          <p:nvPr/>
        </p:nvSpPr>
        <p:spPr>
          <a:xfrm>
            <a:off x="6400800" y="2011680"/>
            <a:ext cx="868680" cy="777240"/>
          </a:xfrm>
          <a:prstGeom prst="rect">
            <a:avLst/>
          </a:prstGeom>
          <a:solidFill>
            <a:srgbClr val="C0392B"/>
          </a:solidFill>
          <a:ln/>
        </p:spPr>
        <p:txBody>
          <a:bodyPr/>
          <a:lstStyle/>
          <a:p>
            <a:endParaRPr lang="en-US"/>
          </a:p>
        </p:txBody>
      </p:sp>
      <p:sp>
        <p:nvSpPr>
          <p:cNvPr id="32" name="Text 30"/>
          <p:cNvSpPr/>
          <p:nvPr/>
        </p:nvSpPr>
        <p:spPr>
          <a:xfrm>
            <a:off x="6400800" y="2011680"/>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CRITICAL</a:t>
            </a:r>
            <a:endParaRPr lang="en-US" sz="1100" dirty="0"/>
          </a:p>
        </p:txBody>
      </p:sp>
      <p:sp>
        <p:nvSpPr>
          <p:cNvPr id="33" name="Text 31"/>
          <p:cNvSpPr/>
          <p:nvPr/>
        </p:nvSpPr>
        <p:spPr>
          <a:xfrm>
            <a:off x="7360920" y="2057400"/>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40</a:t>
            </a:r>
            <a:endParaRPr lang="en-US" sz="950" dirty="0"/>
          </a:p>
        </p:txBody>
      </p:sp>
      <p:sp>
        <p:nvSpPr>
          <p:cNvPr id="34" name="Text 32"/>
          <p:cNvSpPr/>
          <p:nvPr/>
        </p:nvSpPr>
        <p:spPr>
          <a:xfrm>
            <a:off x="7360920" y="2304288"/>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Immediate SOC investigation</a:t>
            </a:r>
            <a:endParaRPr lang="en-US" sz="950" dirty="0"/>
          </a:p>
        </p:txBody>
      </p:sp>
      <p:sp>
        <p:nvSpPr>
          <p:cNvPr id="35" name="Text 33"/>
          <p:cNvSpPr/>
          <p:nvPr/>
        </p:nvSpPr>
        <p:spPr>
          <a:xfrm>
            <a:off x="7360920" y="2542032"/>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Multiple signals anomalous, CUSUM triggered, drift &gt; 0.15, velocity z &gt; 3</a:t>
            </a:r>
            <a:endParaRPr lang="en-US" sz="850" dirty="0"/>
          </a:p>
        </p:txBody>
      </p:sp>
      <p:sp>
        <p:nvSpPr>
          <p:cNvPr id="36" name="Shape 34"/>
          <p:cNvSpPr/>
          <p:nvPr/>
        </p:nvSpPr>
        <p:spPr>
          <a:xfrm>
            <a:off x="6400800" y="2862072"/>
            <a:ext cx="5120640" cy="777240"/>
          </a:xfrm>
          <a:prstGeom prst="rect">
            <a:avLst/>
          </a:prstGeom>
          <a:solidFill>
            <a:srgbClr val="FFFFFF"/>
          </a:solidFill>
          <a:ln w="12700">
            <a:solidFill>
              <a:srgbClr val="E5E9EE"/>
            </a:solidFill>
            <a:prstDash val="solid"/>
          </a:ln>
        </p:spPr>
        <p:txBody>
          <a:bodyPr/>
          <a:lstStyle/>
          <a:p>
            <a:endParaRPr lang="en-US"/>
          </a:p>
        </p:txBody>
      </p:sp>
      <p:sp>
        <p:nvSpPr>
          <p:cNvPr id="37" name="Shape 35"/>
          <p:cNvSpPr/>
          <p:nvPr/>
        </p:nvSpPr>
        <p:spPr>
          <a:xfrm>
            <a:off x="6400800" y="2862072"/>
            <a:ext cx="868680" cy="777240"/>
          </a:xfrm>
          <a:prstGeom prst="rect">
            <a:avLst/>
          </a:prstGeom>
          <a:solidFill>
            <a:srgbClr val="E67E22"/>
          </a:solidFill>
          <a:ln/>
        </p:spPr>
        <p:txBody>
          <a:bodyPr/>
          <a:lstStyle/>
          <a:p>
            <a:endParaRPr lang="en-US"/>
          </a:p>
        </p:txBody>
      </p:sp>
      <p:sp>
        <p:nvSpPr>
          <p:cNvPr id="38" name="Text 36"/>
          <p:cNvSpPr/>
          <p:nvPr/>
        </p:nvSpPr>
        <p:spPr>
          <a:xfrm>
            <a:off x="6400800" y="2862072"/>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HIGH</a:t>
            </a:r>
            <a:endParaRPr lang="en-US" sz="1100" dirty="0"/>
          </a:p>
        </p:txBody>
      </p:sp>
      <p:sp>
        <p:nvSpPr>
          <p:cNvPr id="39" name="Text 37"/>
          <p:cNvSpPr/>
          <p:nvPr/>
        </p:nvSpPr>
        <p:spPr>
          <a:xfrm>
            <a:off x="7360920" y="2907792"/>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40 OR Velocity z &gt; 3</a:t>
            </a:r>
            <a:endParaRPr lang="en-US" sz="950" dirty="0"/>
          </a:p>
        </p:txBody>
      </p:sp>
      <p:sp>
        <p:nvSpPr>
          <p:cNvPr id="40" name="Text 38"/>
          <p:cNvSpPr/>
          <p:nvPr/>
        </p:nvSpPr>
        <p:spPr>
          <a:xfrm>
            <a:off x="7360920" y="3154680"/>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Tier-2 triage in 15 min</a:t>
            </a:r>
            <a:endParaRPr lang="en-US" sz="950" dirty="0"/>
          </a:p>
        </p:txBody>
      </p:sp>
      <p:sp>
        <p:nvSpPr>
          <p:cNvPr id="41" name="Text 39"/>
          <p:cNvSpPr/>
          <p:nvPr/>
        </p:nvSpPr>
        <p:spPr>
          <a:xfrm>
            <a:off x="7360920" y="3392424"/>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Rapid behavioral divergence or composite health collapse</a:t>
            </a:r>
            <a:endParaRPr lang="en-US" sz="850" dirty="0"/>
          </a:p>
        </p:txBody>
      </p:sp>
      <p:sp>
        <p:nvSpPr>
          <p:cNvPr id="42" name="Shape 40"/>
          <p:cNvSpPr/>
          <p:nvPr/>
        </p:nvSpPr>
        <p:spPr>
          <a:xfrm>
            <a:off x="6400800" y="3712464"/>
            <a:ext cx="5120640" cy="777240"/>
          </a:xfrm>
          <a:prstGeom prst="rect">
            <a:avLst/>
          </a:prstGeom>
          <a:solidFill>
            <a:srgbClr val="FFFFFF"/>
          </a:solidFill>
          <a:ln w="12700">
            <a:solidFill>
              <a:srgbClr val="E5E9EE"/>
            </a:solidFill>
            <a:prstDash val="solid"/>
          </a:ln>
        </p:spPr>
        <p:txBody>
          <a:bodyPr/>
          <a:lstStyle/>
          <a:p>
            <a:endParaRPr lang="en-US"/>
          </a:p>
        </p:txBody>
      </p:sp>
      <p:sp>
        <p:nvSpPr>
          <p:cNvPr id="43" name="Shape 41"/>
          <p:cNvSpPr/>
          <p:nvPr/>
        </p:nvSpPr>
        <p:spPr>
          <a:xfrm>
            <a:off x="6400800" y="3712464"/>
            <a:ext cx="868680" cy="777240"/>
          </a:xfrm>
          <a:prstGeom prst="rect">
            <a:avLst/>
          </a:prstGeom>
          <a:solidFill>
            <a:srgbClr val="F4B400"/>
          </a:solidFill>
          <a:ln/>
        </p:spPr>
        <p:txBody>
          <a:bodyPr/>
          <a:lstStyle/>
          <a:p>
            <a:endParaRPr lang="en-US"/>
          </a:p>
        </p:txBody>
      </p:sp>
      <p:sp>
        <p:nvSpPr>
          <p:cNvPr id="44" name="Text 42"/>
          <p:cNvSpPr/>
          <p:nvPr/>
        </p:nvSpPr>
        <p:spPr>
          <a:xfrm>
            <a:off x="6400800" y="3712464"/>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MEDIUM</a:t>
            </a:r>
            <a:endParaRPr lang="en-US" sz="1100" dirty="0"/>
          </a:p>
        </p:txBody>
      </p:sp>
      <p:sp>
        <p:nvSpPr>
          <p:cNvPr id="45" name="Text 43"/>
          <p:cNvSpPr/>
          <p:nvPr/>
        </p:nvSpPr>
        <p:spPr>
          <a:xfrm>
            <a:off x="7360920" y="3758184"/>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70 + change-point in last 3 windows</a:t>
            </a:r>
            <a:endParaRPr lang="en-US" sz="950" dirty="0"/>
          </a:p>
        </p:txBody>
      </p:sp>
      <p:sp>
        <p:nvSpPr>
          <p:cNvPr id="46" name="Text 44"/>
          <p:cNvSpPr/>
          <p:nvPr/>
        </p:nvSpPr>
        <p:spPr>
          <a:xfrm>
            <a:off x="7360920" y="4005072"/>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Tier-1 review in 1 hour</a:t>
            </a:r>
            <a:endParaRPr lang="en-US" sz="950" dirty="0"/>
          </a:p>
        </p:txBody>
      </p:sp>
      <p:sp>
        <p:nvSpPr>
          <p:cNvPr id="47" name="Text 45"/>
          <p:cNvSpPr/>
          <p:nvPr/>
        </p:nvSpPr>
        <p:spPr>
          <a:xfrm>
            <a:off x="7360920" y="4242816"/>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Recent structural shift detected but not yet severe</a:t>
            </a:r>
            <a:endParaRPr lang="en-US" sz="850" dirty="0"/>
          </a:p>
        </p:txBody>
      </p:sp>
      <p:sp>
        <p:nvSpPr>
          <p:cNvPr id="48" name="Shape 46"/>
          <p:cNvSpPr/>
          <p:nvPr/>
        </p:nvSpPr>
        <p:spPr>
          <a:xfrm>
            <a:off x="6400800" y="4562856"/>
            <a:ext cx="5120640" cy="777240"/>
          </a:xfrm>
          <a:prstGeom prst="rect">
            <a:avLst/>
          </a:prstGeom>
          <a:solidFill>
            <a:srgbClr val="FFFFFF"/>
          </a:solidFill>
          <a:ln w="12700">
            <a:solidFill>
              <a:srgbClr val="E5E9EE"/>
            </a:solidFill>
            <a:prstDash val="solid"/>
          </a:ln>
        </p:spPr>
        <p:txBody>
          <a:bodyPr/>
          <a:lstStyle/>
          <a:p>
            <a:endParaRPr lang="en-US"/>
          </a:p>
        </p:txBody>
      </p:sp>
      <p:sp>
        <p:nvSpPr>
          <p:cNvPr id="49" name="Shape 47"/>
          <p:cNvSpPr/>
          <p:nvPr/>
        </p:nvSpPr>
        <p:spPr>
          <a:xfrm>
            <a:off x="6400800" y="4562856"/>
            <a:ext cx="868680" cy="777240"/>
          </a:xfrm>
          <a:prstGeom prst="rect">
            <a:avLst/>
          </a:prstGeom>
          <a:solidFill>
            <a:srgbClr val="5DADE2"/>
          </a:solidFill>
          <a:ln/>
        </p:spPr>
        <p:txBody>
          <a:bodyPr/>
          <a:lstStyle/>
          <a:p>
            <a:endParaRPr lang="en-US"/>
          </a:p>
        </p:txBody>
      </p:sp>
      <p:sp>
        <p:nvSpPr>
          <p:cNvPr id="50" name="Text 48"/>
          <p:cNvSpPr/>
          <p:nvPr/>
        </p:nvSpPr>
        <p:spPr>
          <a:xfrm>
            <a:off x="6400800" y="4562856"/>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LOW</a:t>
            </a:r>
            <a:endParaRPr lang="en-US" sz="1100" dirty="0"/>
          </a:p>
        </p:txBody>
      </p:sp>
      <p:sp>
        <p:nvSpPr>
          <p:cNvPr id="51" name="Text 49"/>
          <p:cNvSpPr/>
          <p:nvPr/>
        </p:nvSpPr>
        <p:spPr>
          <a:xfrm>
            <a:off x="7360920" y="4608576"/>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70–85 AND cohort z &gt; 2</a:t>
            </a:r>
            <a:endParaRPr lang="en-US" sz="950" dirty="0"/>
          </a:p>
        </p:txBody>
      </p:sp>
      <p:sp>
        <p:nvSpPr>
          <p:cNvPr id="52" name="Text 50"/>
          <p:cNvSpPr/>
          <p:nvPr/>
        </p:nvSpPr>
        <p:spPr>
          <a:xfrm>
            <a:off x="7360920" y="4855464"/>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Watchlist; auto-enrich context</a:t>
            </a:r>
            <a:endParaRPr lang="en-US" sz="950" dirty="0"/>
          </a:p>
        </p:txBody>
      </p:sp>
      <p:sp>
        <p:nvSpPr>
          <p:cNvPr id="53" name="Text 51"/>
          <p:cNvSpPr/>
          <p:nvPr/>
        </p:nvSpPr>
        <p:spPr>
          <a:xfrm>
            <a:off x="7360920" y="5093208"/>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Peer outlier but within normal drift range</a:t>
            </a:r>
            <a:endParaRPr lang="en-US" sz="850" dirty="0"/>
          </a:p>
        </p:txBody>
      </p:sp>
      <p:sp>
        <p:nvSpPr>
          <p:cNvPr id="54" name="Shape 52"/>
          <p:cNvSpPr/>
          <p:nvPr/>
        </p:nvSpPr>
        <p:spPr>
          <a:xfrm>
            <a:off x="6400800" y="5413248"/>
            <a:ext cx="5120640" cy="777240"/>
          </a:xfrm>
          <a:prstGeom prst="rect">
            <a:avLst/>
          </a:prstGeom>
          <a:solidFill>
            <a:srgbClr val="FFFFFF"/>
          </a:solidFill>
          <a:ln w="12700">
            <a:solidFill>
              <a:srgbClr val="E5E9EE"/>
            </a:solidFill>
            <a:prstDash val="solid"/>
          </a:ln>
        </p:spPr>
        <p:txBody>
          <a:bodyPr/>
          <a:lstStyle/>
          <a:p>
            <a:endParaRPr lang="en-US"/>
          </a:p>
        </p:txBody>
      </p:sp>
      <p:sp>
        <p:nvSpPr>
          <p:cNvPr id="55" name="Shape 53"/>
          <p:cNvSpPr/>
          <p:nvPr/>
        </p:nvSpPr>
        <p:spPr>
          <a:xfrm>
            <a:off x="6400800" y="5413248"/>
            <a:ext cx="868680" cy="777240"/>
          </a:xfrm>
          <a:prstGeom prst="rect">
            <a:avLst/>
          </a:prstGeom>
          <a:solidFill>
            <a:srgbClr val="5A6878"/>
          </a:solidFill>
          <a:ln/>
        </p:spPr>
        <p:txBody>
          <a:bodyPr/>
          <a:lstStyle/>
          <a:p>
            <a:endParaRPr lang="en-US"/>
          </a:p>
        </p:txBody>
      </p:sp>
      <p:sp>
        <p:nvSpPr>
          <p:cNvPr id="56" name="Text 54"/>
          <p:cNvSpPr/>
          <p:nvPr/>
        </p:nvSpPr>
        <p:spPr>
          <a:xfrm>
            <a:off x="6400800" y="5413248"/>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INFO</a:t>
            </a:r>
            <a:endParaRPr lang="en-US" sz="1100" dirty="0"/>
          </a:p>
        </p:txBody>
      </p:sp>
      <p:sp>
        <p:nvSpPr>
          <p:cNvPr id="57" name="Text 55"/>
          <p:cNvSpPr/>
          <p:nvPr/>
        </p:nvSpPr>
        <p:spPr>
          <a:xfrm>
            <a:off x="7360920" y="5458968"/>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Any CUSUM trigger (4σ)</a:t>
            </a:r>
            <a:endParaRPr lang="en-US" sz="950" dirty="0"/>
          </a:p>
        </p:txBody>
      </p:sp>
      <p:sp>
        <p:nvSpPr>
          <p:cNvPr id="58" name="Text 56"/>
          <p:cNvSpPr/>
          <p:nvPr/>
        </p:nvSpPr>
        <p:spPr>
          <a:xfrm>
            <a:off x="7360920" y="5705856"/>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Log for trend analysis</a:t>
            </a:r>
            <a:endParaRPr lang="en-US" sz="950" dirty="0"/>
          </a:p>
        </p:txBody>
      </p:sp>
      <p:sp>
        <p:nvSpPr>
          <p:cNvPr id="59" name="Text 57"/>
          <p:cNvSpPr/>
          <p:nvPr/>
        </p:nvSpPr>
        <p:spPr>
          <a:xfrm>
            <a:off x="7360920" y="5943600"/>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Structural change detected; may be benign (role change, new project)</a:t>
            </a:r>
            <a:endParaRPr lang="en-US" sz="850" dirty="0"/>
          </a:p>
        </p:txBody>
      </p:sp>
      <p:sp>
        <p:nvSpPr>
          <p:cNvPr id="60" name="Text 58"/>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FR-8: Analyst TP/FP feedback per alert feeds back as labeled data → threshold auto-tuning + ABAC trust tags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ABAC TRUST LOOP</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Analyst Feedback Loop &amp; ABAC Enforcement</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FR-8: Self-reinforcing tag loop. Every analyst verdict improves future detection AND adjusts access automatically.</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THE LOOP — closes in &lt;5 minutes from TP/FP click to ABAC tag update</a:t>
            </a:r>
            <a:endParaRPr lang="en-US" sz="1100" dirty="0"/>
          </a:p>
        </p:txBody>
      </p:sp>
      <p:sp>
        <p:nvSpPr>
          <p:cNvPr id="7" name="Shape 5"/>
          <p:cNvSpPr/>
          <p:nvPr/>
        </p:nvSpPr>
        <p:spPr>
          <a:xfrm>
            <a:off x="457200"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8" name="Shape 6"/>
          <p:cNvSpPr/>
          <p:nvPr/>
        </p:nvSpPr>
        <p:spPr>
          <a:xfrm>
            <a:off x="548640" y="1874520"/>
            <a:ext cx="411480" cy="411480"/>
          </a:xfrm>
          <a:prstGeom prst="ellipse">
            <a:avLst/>
          </a:prstGeom>
          <a:solidFill>
            <a:srgbClr val="0891B2"/>
          </a:solidFill>
          <a:ln/>
        </p:spPr>
        <p:txBody>
          <a:bodyPr/>
          <a:lstStyle/>
          <a:p>
            <a:endParaRPr lang="en-US"/>
          </a:p>
        </p:txBody>
      </p:sp>
      <p:sp>
        <p:nvSpPr>
          <p:cNvPr id="9" name="Text 7"/>
          <p:cNvSpPr/>
          <p:nvPr/>
        </p:nvSpPr>
        <p:spPr>
          <a:xfrm>
            <a:off x="548640"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Text 8"/>
          <p:cNvSpPr/>
          <p:nvPr/>
        </p:nvSpPr>
        <p:spPr>
          <a:xfrm>
            <a:off x="1005840"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ALERT</a:t>
            </a:r>
            <a:endParaRPr lang="en-US" sz="1100" dirty="0"/>
          </a:p>
        </p:txBody>
      </p:sp>
      <p:sp>
        <p:nvSpPr>
          <p:cNvPr id="11" name="Text 9"/>
          <p:cNvSpPr/>
          <p:nvPr/>
        </p:nvSpPr>
        <p:spPr>
          <a:xfrm>
            <a:off x="548640"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CUSUM/health/velocity triggers alert to SOC</a:t>
            </a:r>
            <a:endParaRPr lang="en-US" sz="950" dirty="0"/>
          </a:p>
        </p:txBody>
      </p:sp>
      <p:sp>
        <p:nvSpPr>
          <p:cNvPr id="12" name="Shape 10"/>
          <p:cNvSpPr/>
          <p:nvPr/>
        </p:nvSpPr>
        <p:spPr>
          <a:xfrm>
            <a:off x="2350008"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13" name="Shape 11"/>
          <p:cNvSpPr/>
          <p:nvPr/>
        </p:nvSpPr>
        <p:spPr>
          <a:xfrm>
            <a:off x="2441448" y="1874520"/>
            <a:ext cx="411480" cy="411480"/>
          </a:xfrm>
          <a:prstGeom prst="ellipse">
            <a:avLst/>
          </a:prstGeom>
          <a:solidFill>
            <a:srgbClr val="0891B2"/>
          </a:solidFill>
          <a:ln/>
        </p:spPr>
        <p:txBody>
          <a:bodyPr/>
          <a:lstStyle/>
          <a:p>
            <a:endParaRPr lang="en-US"/>
          </a:p>
        </p:txBody>
      </p:sp>
      <p:sp>
        <p:nvSpPr>
          <p:cNvPr id="14" name="Text 12"/>
          <p:cNvSpPr/>
          <p:nvPr/>
        </p:nvSpPr>
        <p:spPr>
          <a:xfrm>
            <a:off x="2441448"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Text 13"/>
          <p:cNvSpPr/>
          <p:nvPr/>
        </p:nvSpPr>
        <p:spPr>
          <a:xfrm>
            <a:off x="2898648"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TRIAGE</a:t>
            </a:r>
            <a:endParaRPr lang="en-US" sz="1100" dirty="0"/>
          </a:p>
        </p:txBody>
      </p:sp>
      <p:sp>
        <p:nvSpPr>
          <p:cNvPr id="16" name="Text 14"/>
          <p:cNvSpPr/>
          <p:nvPr/>
        </p:nvSpPr>
        <p:spPr>
          <a:xfrm>
            <a:off x="2441448"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Analyst investigates via 7-chart dashboard</a:t>
            </a:r>
            <a:endParaRPr lang="en-US" sz="950" dirty="0"/>
          </a:p>
        </p:txBody>
      </p:sp>
      <p:sp>
        <p:nvSpPr>
          <p:cNvPr id="17" name="Shape 15"/>
          <p:cNvSpPr/>
          <p:nvPr/>
        </p:nvSpPr>
        <p:spPr>
          <a:xfrm>
            <a:off x="4242816"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18" name="Shape 16"/>
          <p:cNvSpPr/>
          <p:nvPr/>
        </p:nvSpPr>
        <p:spPr>
          <a:xfrm>
            <a:off x="4334256" y="1874520"/>
            <a:ext cx="411480" cy="411480"/>
          </a:xfrm>
          <a:prstGeom prst="ellipse">
            <a:avLst/>
          </a:prstGeom>
          <a:solidFill>
            <a:srgbClr val="0891B2"/>
          </a:solidFill>
          <a:ln/>
        </p:spPr>
        <p:txBody>
          <a:bodyPr/>
          <a:lstStyle/>
          <a:p>
            <a:endParaRPr lang="en-US"/>
          </a:p>
        </p:txBody>
      </p:sp>
      <p:sp>
        <p:nvSpPr>
          <p:cNvPr id="19" name="Text 17"/>
          <p:cNvSpPr/>
          <p:nvPr/>
        </p:nvSpPr>
        <p:spPr>
          <a:xfrm>
            <a:off x="4334256"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20" name="Text 18"/>
          <p:cNvSpPr/>
          <p:nvPr/>
        </p:nvSpPr>
        <p:spPr>
          <a:xfrm>
            <a:off x="4791456"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VERDICT</a:t>
            </a:r>
            <a:endParaRPr lang="en-US" sz="1100" dirty="0"/>
          </a:p>
        </p:txBody>
      </p:sp>
      <p:sp>
        <p:nvSpPr>
          <p:cNvPr id="21" name="Text 19"/>
          <p:cNvSpPr/>
          <p:nvPr/>
        </p:nvSpPr>
        <p:spPr>
          <a:xfrm>
            <a:off x="4334256"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Analyst marks TP or FP with notes</a:t>
            </a:r>
            <a:endParaRPr lang="en-US" sz="950" dirty="0"/>
          </a:p>
        </p:txBody>
      </p:sp>
      <p:sp>
        <p:nvSpPr>
          <p:cNvPr id="22" name="Shape 20"/>
          <p:cNvSpPr/>
          <p:nvPr/>
        </p:nvSpPr>
        <p:spPr>
          <a:xfrm>
            <a:off x="6135624"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23" name="Shape 21"/>
          <p:cNvSpPr/>
          <p:nvPr/>
        </p:nvSpPr>
        <p:spPr>
          <a:xfrm>
            <a:off x="6227064" y="1874520"/>
            <a:ext cx="411480" cy="411480"/>
          </a:xfrm>
          <a:prstGeom prst="ellipse">
            <a:avLst/>
          </a:prstGeom>
          <a:solidFill>
            <a:srgbClr val="0891B2"/>
          </a:solidFill>
          <a:ln/>
        </p:spPr>
        <p:txBody>
          <a:bodyPr/>
          <a:lstStyle/>
          <a:p>
            <a:endParaRPr lang="en-US"/>
          </a:p>
        </p:txBody>
      </p:sp>
      <p:sp>
        <p:nvSpPr>
          <p:cNvPr id="24" name="Text 22"/>
          <p:cNvSpPr/>
          <p:nvPr/>
        </p:nvSpPr>
        <p:spPr>
          <a:xfrm>
            <a:off x="6227064"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25" name="Text 23"/>
          <p:cNvSpPr/>
          <p:nvPr/>
        </p:nvSpPr>
        <p:spPr>
          <a:xfrm>
            <a:off x="6684264"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LEARN</a:t>
            </a:r>
            <a:endParaRPr lang="en-US" sz="1100" dirty="0"/>
          </a:p>
        </p:txBody>
      </p:sp>
      <p:sp>
        <p:nvSpPr>
          <p:cNvPr id="26" name="Text 24"/>
          <p:cNvSpPr/>
          <p:nvPr/>
        </p:nvSpPr>
        <p:spPr>
          <a:xfrm>
            <a:off x="6227064"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Labeled data feeds threshold tuning model</a:t>
            </a:r>
            <a:endParaRPr lang="en-US" sz="950" dirty="0"/>
          </a:p>
        </p:txBody>
      </p:sp>
      <p:sp>
        <p:nvSpPr>
          <p:cNvPr id="27" name="Shape 25"/>
          <p:cNvSpPr/>
          <p:nvPr/>
        </p:nvSpPr>
        <p:spPr>
          <a:xfrm>
            <a:off x="8028432"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28" name="Shape 26"/>
          <p:cNvSpPr/>
          <p:nvPr/>
        </p:nvSpPr>
        <p:spPr>
          <a:xfrm>
            <a:off x="8119872" y="1874520"/>
            <a:ext cx="411480" cy="411480"/>
          </a:xfrm>
          <a:prstGeom prst="ellipse">
            <a:avLst/>
          </a:prstGeom>
          <a:solidFill>
            <a:srgbClr val="0891B2"/>
          </a:solidFill>
          <a:ln/>
        </p:spPr>
        <p:txBody>
          <a:bodyPr/>
          <a:lstStyle/>
          <a:p>
            <a:endParaRPr lang="en-US"/>
          </a:p>
        </p:txBody>
      </p:sp>
      <p:sp>
        <p:nvSpPr>
          <p:cNvPr id="29" name="Text 27"/>
          <p:cNvSpPr/>
          <p:nvPr/>
        </p:nvSpPr>
        <p:spPr>
          <a:xfrm>
            <a:off x="8119872"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5</a:t>
            </a:r>
            <a:endParaRPr lang="en-US" sz="1400" dirty="0"/>
          </a:p>
        </p:txBody>
      </p:sp>
      <p:sp>
        <p:nvSpPr>
          <p:cNvPr id="30" name="Text 28"/>
          <p:cNvSpPr/>
          <p:nvPr/>
        </p:nvSpPr>
        <p:spPr>
          <a:xfrm>
            <a:off x="8577072"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TAG</a:t>
            </a:r>
            <a:endParaRPr lang="en-US" sz="1100" dirty="0"/>
          </a:p>
        </p:txBody>
      </p:sp>
      <p:sp>
        <p:nvSpPr>
          <p:cNvPr id="31" name="Text 29"/>
          <p:cNvSpPr/>
          <p:nvPr/>
        </p:nvSpPr>
        <p:spPr>
          <a:xfrm>
            <a:off x="8119872"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Entity trust state updated in ABAC engine</a:t>
            </a:r>
            <a:endParaRPr lang="en-US" sz="950" dirty="0"/>
          </a:p>
        </p:txBody>
      </p:sp>
      <p:sp>
        <p:nvSpPr>
          <p:cNvPr id="32" name="Shape 30"/>
          <p:cNvSpPr/>
          <p:nvPr/>
        </p:nvSpPr>
        <p:spPr>
          <a:xfrm>
            <a:off x="9921240"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33" name="Shape 31"/>
          <p:cNvSpPr/>
          <p:nvPr/>
        </p:nvSpPr>
        <p:spPr>
          <a:xfrm>
            <a:off x="10012680" y="1874520"/>
            <a:ext cx="411480" cy="411480"/>
          </a:xfrm>
          <a:prstGeom prst="ellipse">
            <a:avLst/>
          </a:prstGeom>
          <a:solidFill>
            <a:srgbClr val="0891B2"/>
          </a:solidFill>
          <a:ln/>
        </p:spPr>
        <p:txBody>
          <a:bodyPr/>
          <a:lstStyle/>
          <a:p>
            <a:endParaRPr lang="en-US"/>
          </a:p>
        </p:txBody>
      </p:sp>
      <p:sp>
        <p:nvSpPr>
          <p:cNvPr id="34" name="Text 32"/>
          <p:cNvSpPr/>
          <p:nvPr/>
        </p:nvSpPr>
        <p:spPr>
          <a:xfrm>
            <a:off x="10012680"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6</a:t>
            </a:r>
            <a:endParaRPr lang="en-US" sz="1400" dirty="0"/>
          </a:p>
        </p:txBody>
      </p:sp>
      <p:sp>
        <p:nvSpPr>
          <p:cNvPr id="35" name="Text 33"/>
          <p:cNvSpPr/>
          <p:nvPr/>
        </p:nvSpPr>
        <p:spPr>
          <a:xfrm>
            <a:off x="10469880"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ENFORCE</a:t>
            </a:r>
            <a:endParaRPr lang="en-US" sz="1100" dirty="0"/>
          </a:p>
        </p:txBody>
      </p:sp>
      <p:sp>
        <p:nvSpPr>
          <p:cNvPr id="36" name="Text 34"/>
          <p:cNvSpPr/>
          <p:nvPr/>
        </p:nvSpPr>
        <p:spPr>
          <a:xfrm>
            <a:off x="10012680"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ABAC adjusts access: step-up MFA, restrict, block</a:t>
            </a:r>
            <a:endParaRPr lang="en-US" sz="950" dirty="0"/>
          </a:p>
        </p:txBody>
      </p:sp>
      <p:sp>
        <p:nvSpPr>
          <p:cNvPr id="37" name="Text 35"/>
          <p:cNvSpPr/>
          <p:nvPr/>
        </p:nvSpPr>
        <p:spPr>
          <a:xfrm>
            <a:off x="457200" y="320040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ABAC TRUST STATES — proportional response, not binary</a:t>
            </a:r>
            <a:endParaRPr lang="en-US" sz="1100" dirty="0"/>
          </a:p>
        </p:txBody>
      </p:sp>
      <p:sp>
        <p:nvSpPr>
          <p:cNvPr id="38" name="Shape 36"/>
          <p:cNvSpPr/>
          <p:nvPr/>
        </p:nvSpPr>
        <p:spPr>
          <a:xfrm>
            <a:off x="45720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457200" y="3520440"/>
            <a:ext cx="2811780" cy="502920"/>
          </a:xfrm>
          <a:prstGeom prst="rect">
            <a:avLst/>
          </a:prstGeom>
          <a:solidFill>
            <a:srgbClr val="2E7D32"/>
          </a:solidFill>
          <a:ln/>
        </p:spPr>
        <p:txBody>
          <a:bodyPr/>
          <a:lstStyle/>
          <a:p>
            <a:endParaRPr lang="en-US"/>
          </a:p>
        </p:txBody>
      </p:sp>
      <p:sp>
        <p:nvSpPr>
          <p:cNvPr id="40" name="Text 38"/>
          <p:cNvSpPr/>
          <p:nvPr/>
        </p:nvSpPr>
        <p:spPr>
          <a:xfrm>
            <a:off x="45720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TRUSTED</a:t>
            </a:r>
            <a:endParaRPr lang="en-US" sz="1300" dirty="0"/>
          </a:p>
        </p:txBody>
      </p:sp>
      <p:sp>
        <p:nvSpPr>
          <p:cNvPr id="41" name="Text 39"/>
          <p:cNvSpPr/>
          <p:nvPr/>
        </p:nvSpPr>
        <p:spPr>
          <a:xfrm>
            <a:off x="59436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42" name="Text 40"/>
          <p:cNvSpPr/>
          <p:nvPr/>
        </p:nvSpPr>
        <p:spPr>
          <a:xfrm>
            <a:off x="59436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 70, no recent alerts</a:t>
            </a:r>
            <a:endParaRPr lang="en-US" sz="1100" dirty="0"/>
          </a:p>
        </p:txBody>
      </p:sp>
      <p:sp>
        <p:nvSpPr>
          <p:cNvPr id="43" name="Text 41"/>
          <p:cNvSpPr/>
          <p:nvPr/>
        </p:nvSpPr>
        <p:spPr>
          <a:xfrm>
            <a:off x="59436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44" name="Text 42"/>
          <p:cNvSpPr/>
          <p:nvPr/>
        </p:nvSpPr>
        <p:spPr>
          <a:xfrm>
            <a:off x="59436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Normal access, standard MFA</a:t>
            </a:r>
            <a:endParaRPr lang="en-US" sz="1100" dirty="0"/>
          </a:p>
        </p:txBody>
      </p:sp>
      <p:sp>
        <p:nvSpPr>
          <p:cNvPr id="45" name="Shape 43"/>
          <p:cNvSpPr/>
          <p:nvPr/>
        </p:nvSpPr>
        <p:spPr>
          <a:xfrm>
            <a:off x="338328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46" name="Shape 44"/>
          <p:cNvSpPr/>
          <p:nvPr/>
        </p:nvSpPr>
        <p:spPr>
          <a:xfrm>
            <a:off x="3383280" y="3520440"/>
            <a:ext cx="2811780" cy="502920"/>
          </a:xfrm>
          <a:prstGeom prst="rect">
            <a:avLst/>
          </a:prstGeom>
          <a:solidFill>
            <a:srgbClr val="F4B400"/>
          </a:solidFill>
          <a:ln/>
        </p:spPr>
        <p:txBody>
          <a:bodyPr/>
          <a:lstStyle/>
          <a:p>
            <a:endParaRPr lang="en-US"/>
          </a:p>
        </p:txBody>
      </p:sp>
      <p:sp>
        <p:nvSpPr>
          <p:cNvPr id="47" name="Text 45"/>
          <p:cNvSpPr/>
          <p:nvPr/>
        </p:nvSpPr>
        <p:spPr>
          <a:xfrm>
            <a:off x="338328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ELEVATED_WATCH</a:t>
            </a:r>
            <a:endParaRPr lang="en-US" sz="1300" dirty="0"/>
          </a:p>
        </p:txBody>
      </p:sp>
      <p:sp>
        <p:nvSpPr>
          <p:cNvPr id="48" name="Text 46"/>
          <p:cNvSpPr/>
          <p:nvPr/>
        </p:nvSpPr>
        <p:spPr>
          <a:xfrm>
            <a:off x="352044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49" name="Text 47"/>
          <p:cNvSpPr/>
          <p:nvPr/>
        </p:nvSpPr>
        <p:spPr>
          <a:xfrm>
            <a:off x="352044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40–70 OR cohort z &gt; 2</a:t>
            </a:r>
            <a:endParaRPr lang="en-US" sz="1100" dirty="0"/>
          </a:p>
        </p:txBody>
      </p:sp>
      <p:sp>
        <p:nvSpPr>
          <p:cNvPr id="50" name="Text 48"/>
          <p:cNvSpPr/>
          <p:nvPr/>
        </p:nvSpPr>
        <p:spPr>
          <a:xfrm>
            <a:off x="352044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1" name="Text 49"/>
          <p:cNvSpPr/>
          <p:nvPr/>
        </p:nvSpPr>
        <p:spPr>
          <a:xfrm>
            <a:off x="352044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Step-up MFA on sensitive resources</a:t>
            </a:r>
            <a:endParaRPr lang="en-US" sz="1100" dirty="0"/>
          </a:p>
        </p:txBody>
      </p:sp>
      <p:sp>
        <p:nvSpPr>
          <p:cNvPr id="52" name="Shape 50"/>
          <p:cNvSpPr/>
          <p:nvPr/>
        </p:nvSpPr>
        <p:spPr>
          <a:xfrm>
            <a:off x="630936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53" name="Shape 51"/>
          <p:cNvSpPr/>
          <p:nvPr/>
        </p:nvSpPr>
        <p:spPr>
          <a:xfrm>
            <a:off x="6309360" y="3520440"/>
            <a:ext cx="2811780" cy="502920"/>
          </a:xfrm>
          <a:prstGeom prst="rect">
            <a:avLst/>
          </a:prstGeom>
          <a:solidFill>
            <a:srgbClr val="E67E22"/>
          </a:solidFill>
          <a:ln/>
        </p:spPr>
        <p:txBody>
          <a:bodyPr/>
          <a:lstStyle/>
          <a:p>
            <a:endParaRPr lang="en-US"/>
          </a:p>
        </p:txBody>
      </p:sp>
      <p:sp>
        <p:nvSpPr>
          <p:cNvPr id="54" name="Text 52"/>
          <p:cNvSpPr/>
          <p:nvPr/>
        </p:nvSpPr>
        <p:spPr>
          <a:xfrm>
            <a:off x="630936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RESTRICTED</a:t>
            </a:r>
            <a:endParaRPr lang="en-US" sz="1300" dirty="0"/>
          </a:p>
        </p:txBody>
      </p:sp>
      <p:sp>
        <p:nvSpPr>
          <p:cNvPr id="55" name="Text 53"/>
          <p:cNvSpPr/>
          <p:nvPr/>
        </p:nvSpPr>
        <p:spPr>
          <a:xfrm>
            <a:off x="644652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56" name="Text 54"/>
          <p:cNvSpPr/>
          <p:nvPr/>
        </p:nvSpPr>
        <p:spPr>
          <a:xfrm>
            <a:off x="644652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&lt; 40 OR TP alert confirmed</a:t>
            </a:r>
            <a:endParaRPr lang="en-US" sz="1100" dirty="0"/>
          </a:p>
        </p:txBody>
      </p:sp>
      <p:sp>
        <p:nvSpPr>
          <p:cNvPr id="57" name="Text 55"/>
          <p:cNvSpPr/>
          <p:nvPr/>
        </p:nvSpPr>
        <p:spPr>
          <a:xfrm>
            <a:off x="644652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8" name="Text 56"/>
          <p:cNvSpPr/>
          <p:nvPr/>
        </p:nvSpPr>
        <p:spPr>
          <a:xfrm>
            <a:off x="644652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Read-only access, no lateral movement</a:t>
            </a:r>
            <a:endParaRPr lang="en-US" sz="1100" dirty="0"/>
          </a:p>
        </p:txBody>
      </p:sp>
      <p:sp>
        <p:nvSpPr>
          <p:cNvPr id="59" name="Shape 57"/>
          <p:cNvSpPr/>
          <p:nvPr/>
        </p:nvSpPr>
        <p:spPr>
          <a:xfrm>
            <a:off x="923544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60" name="Shape 58"/>
          <p:cNvSpPr/>
          <p:nvPr/>
        </p:nvSpPr>
        <p:spPr>
          <a:xfrm>
            <a:off x="9235440" y="3520440"/>
            <a:ext cx="2811780" cy="502920"/>
          </a:xfrm>
          <a:prstGeom prst="rect">
            <a:avLst/>
          </a:prstGeom>
          <a:solidFill>
            <a:srgbClr val="C0392B"/>
          </a:solidFill>
          <a:ln/>
        </p:spPr>
        <p:txBody>
          <a:bodyPr/>
          <a:lstStyle/>
          <a:p>
            <a:endParaRPr lang="en-US"/>
          </a:p>
        </p:txBody>
      </p:sp>
      <p:sp>
        <p:nvSpPr>
          <p:cNvPr id="61" name="Text 59"/>
          <p:cNvSpPr/>
          <p:nvPr/>
        </p:nvSpPr>
        <p:spPr>
          <a:xfrm>
            <a:off x="923544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BLOCKED</a:t>
            </a:r>
            <a:endParaRPr lang="en-US" sz="1300" dirty="0"/>
          </a:p>
        </p:txBody>
      </p:sp>
      <p:sp>
        <p:nvSpPr>
          <p:cNvPr id="62" name="Text 60"/>
          <p:cNvSpPr/>
          <p:nvPr/>
        </p:nvSpPr>
        <p:spPr>
          <a:xfrm>
            <a:off x="937260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63" name="Text 61"/>
          <p:cNvSpPr/>
          <p:nvPr/>
        </p:nvSpPr>
        <p:spPr>
          <a:xfrm>
            <a:off x="937260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Active incident confirmed</a:t>
            </a:r>
            <a:endParaRPr lang="en-US" sz="1100" dirty="0"/>
          </a:p>
        </p:txBody>
      </p:sp>
      <p:sp>
        <p:nvSpPr>
          <p:cNvPr id="64" name="Text 62"/>
          <p:cNvSpPr/>
          <p:nvPr/>
        </p:nvSpPr>
        <p:spPr>
          <a:xfrm>
            <a:off x="937260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65" name="Text 63"/>
          <p:cNvSpPr/>
          <p:nvPr/>
        </p:nvSpPr>
        <p:spPr>
          <a:xfrm>
            <a:off x="937260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Account disabled, session terminated</a:t>
            </a:r>
            <a:endParaRPr lang="en-US" sz="1100" dirty="0"/>
          </a:p>
        </p:txBody>
      </p:sp>
      <p:sp>
        <p:nvSpPr>
          <p:cNvPr id="66" name="Shape 64"/>
          <p:cNvSpPr/>
          <p:nvPr/>
        </p:nvSpPr>
        <p:spPr>
          <a:xfrm>
            <a:off x="457200" y="6263640"/>
            <a:ext cx="11247120" cy="457200"/>
          </a:xfrm>
          <a:prstGeom prst="rect">
            <a:avLst/>
          </a:prstGeom>
          <a:solidFill>
            <a:srgbClr val="0B1F3A"/>
          </a:solidFill>
          <a:ln/>
        </p:spPr>
        <p:txBody>
          <a:bodyPr/>
          <a:lstStyle/>
          <a:p>
            <a:endParaRPr lang="en-US"/>
          </a:p>
        </p:txBody>
      </p:sp>
      <p:sp>
        <p:nvSpPr>
          <p:cNvPr id="67" name="Text 65"/>
          <p:cNvSpPr/>
          <p:nvPr/>
        </p:nvSpPr>
        <p:spPr>
          <a:xfrm>
            <a:off x="640080" y="6263640"/>
            <a:ext cx="10972800" cy="45720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Self-reinforcing: every TP label strengthens signal summarizers. Every FP raises thresholds for that role. ABAC enforcement is automatic — no manual ticket to disable account.</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LAYER 2 -- ACECARD UEBA</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Five Behavioral Signals Into One 1536-d Vector</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Each signal individually embedded (1536-d) + one fused composite. 6 vectors = 9,216 dimensions per entity.</a:t>
            </a:r>
          </a:p>
        </p:txBody>
      </p:sp>
      <p:sp>
        <p:nvSpPr>
          <p:cNvPr id="6" name="Rectangle 5"/>
          <p:cNvSpPr/>
          <p:nvPr/>
        </p:nvSpPr>
        <p:spPr>
          <a:xfrm>
            <a:off x="457200" y="1371600"/>
            <a:ext cx="2194560" cy="32004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89888"/>
            <a:ext cx="2194560" cy="274320"/>
          </a:xfrm>
          <a:prstGeom prst="rect">
            <a:avLst/>
          </a:prstGeom>
          <a:noFill/>
        </p:spPr>
        <p:txBody>
          <a:bodyPr wrap="square">
            <a:spAutoFit/>
          </a:bodyPr>
          <a:lstStyle/>
          <a:p>
            <a:pPr algn="ctr">
              <a:defRPr sz="1100" b="1">
                <a:solidFill>
                  <a:srgbClr val="FFFFFF"/>
                </a:solidFill>
                <a:latin typeface="Calibri"/>
              </a:defRPr>
            </a:pPr>
            <a:r>
              <a:t>AUTH</a:t>
            </a:r>
          </a:p>
        </p:txBody>
      </p:sp>
      <p:sp>
        <p:nvSpPr>
          <p:cNvPr id="8" name="Rounded Rectangle 7"/>
          <p:cNvSpPr/>
          <p:nvPr/>
        </p:nvSpPr>
        <p:spPr>
          <a:xfrm>
            <a:off x="457200" y="1737360"/>
            <a:ext cx="2194560" cy="1280160"/>
          </a:xfrm>
          <a:prstGeom prst="roundRect">
            <a:avLst/>
          </a:prstGeom>
          <a:solidFill>
            <a:srgbClr val="F7F8FA"/>
          </a:solidFill>
          <a:ln w="12700">
            <a:solidFill>
              <a:srgbClr val="1E4D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783080"/>
            <a:ext cx="2011680" cy="320040"/>
          </a:xfrm>
          <a:prstGeom prst="rect">
            <a:avLst/>
          </a:prstGeom>
          <a:noFill/>
        </p:spPr>
        <p:txBody>
          <a:bodyPr wrap="square">
            <a:spAutoFit/>
          </a:bodyPr>
          <a:lstStyle/>
          <a:p>
            <a:pPr algn="l">
              <a:defRPr sz="800" b="0">
                <a:solidFill>
                  <a:srgbClr val="5A6878"/>
                </a:solidFill>
                <a:latin typeface="Calibri"/>
              </a:defRPr>
            </a:pPr>
            <a:r>
              <a:t>Win 4624/4625/4768, Okta, AAD, AWS CloudTrail</a:t>
            </a:r>
          </a:p>
        </p:txBody>
      </p:sp>
      <p:sp>
        <p:nvSpPr>
          <p:cNvPr id="10" name="TextBox 9"/>
          <p:cNvSpPr txBox="1"/>
          <p:nvPr/>
        </p:nvSpPr>
        <p:spPr>
          <a:xfrm>
            <a:off x="548640" y="2148840"/>
            <a:ext cx="2011680" cy="822960"/>
          </a:xfrm>
          <a:prstGeom prst="rect">
            <a:avLst/>
          </a:prstGeom>
          <a:noFill/>
        </p:spPr>
        <p:txBody>
          <a:bodyPr wrap="square">
            <a:spAutoFit/>
          </a:bodyPr>
          <a:lstStyle/>
          <a:p>
            <a:pPr algn="l">
              <a:defRPr sz="800" b="1">
                <a:solidFill>
                  <a:srgbClr val="0B1F3A"/>
                </a:solidFill>
                <a:latin typeface="Cascadia Code"/>
              </a:defRPr>
            </a:pPr>
            <a:r>
              <a:t>logon_count, failure_rate, unique_hosts, off_hours_ratio, impossible_travel, mfa_skip_ratio</a:t>
            </a:r>
          </a:p>
        </p:txBody>
      </p:sp>
      <p:sp>
        <p:nvSpPr>
          <p:cNvPr id="11" name="Rectangle 10"/>
          <p:cNvSpPr/>
          <p:nvPr/>
        </p:nvSpPr>
        <p:spPr>
          <a:xfrm>
            <a:off x="2834640" y="1371600"/>
            <a:ext cx="2194560" cy="320040"/>
          </a:xfrm>
          <a:prstGeom prst="rect">
            <a:avLst/>
          </a:prstGeom>
          <a:solidFill>
            <a:srgbClr val="6C2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34640" y="1389888"/>
            <a:ext cx="2194560" cy="274320"/>
          </a:xfrm>
          <a:prstGeom prst="rect">
            <a:avLst/>
          </a:prstGeom>
          <a:noFill/>
        </p:spPr>
        <p:txBody>
          <a:bodyPr wrap="square">
            <a:spAutoFit/>
          </a:bodyPr>
          <a:lstStyle/>
          <a:p>
            <a:pPr algn="ctr">
              <a:defRPr sz="1100" b="1">
                <a:solidFill>
                  <a:srgbClr val="FFFFFF"/>
                </a:solidFill>
                <a:latin typeface="Calibri"/>
              </a:defRPr>
            </a:pPr>
            <a:r>
              <a:t>PROCESS</a:t>
            </a:r>
          </a:p>
        </p:txBody>
      </p:sp>
      <p:sp>
        <p:nvSpPr>
          <p:cNvPr id="13" name="Rounded Rectangle 12"/>
          <p:cNvSpPr/>
          <p:nvPr/>
        </p:nvSpPr>
        <p:spPr>
          <a:xfrm>
            <a:off x="2834640" y="1737360"/>
            <a:ext cx="2194560" cy="1280160"/>
          </a:xfrm>
          <a:prstGeom prst="roundRect">
            <a:avLst/>
          </a:prstGeom>
          <a:solidFill>
            <a:srgbClr val="F7F8FA"/>
          </a:solidFill>
          <a:ln w="12700">
            <a:solidFill>
              <a:srgbClr val="6C2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26080" y="1783080"/>
            <a:ext cx="2011680" cy="320040"/>
          </a:xfrm>
          <a:prstGeom prst="rect">
            <a:avLst/>
          </a:prstGeom>
          <a:noFill/>
        </p:spPr>
        <p:txBody>
          <a:bodyPr wrap="square">
            <a:spAutoFit/>
          </a:bodyPr>
          <a:lstStyle/>
          <a:p>
            <a:pPr algn="l">
              <a:defRPr sz="800" b="0">
                <a:solidFill>
                  <a:srgbClr val="5A6878"/>
                </a:solidFill>
                <a:latin typeface="Calibri"/>
              </a:defRPr>
            </a:pPr>
            <a:r>
              <a:t>Sysmon EID 1/3, CrowdStrike, Defender, auditd</a:t>
            </a:r>
          </a:p>
        </p:txBody>
      </p:sp>
      <p:sp>
        <p:nvSpPr>
          <p:cNvPr id="15" name="TextBox 14"/>
          <p:cNvSpPr txBox="1"/>
          <p:nvPr/>
        </p:nvSpPr>
        <p:spPr>
          <a:xfrm>
            <a:off x="2926080" y="2148840"/>
            <a:ext cx="2011680" cy="822960"/>
          </a:xfrm>
          <a:prstGeom prst="rect">
            <a:avLst/>
          </a:prstGeom>
          <a:noFill/>
        </p:spPr>
        <p:txBody>
          <a:bodyPr wrap="square">
            <a:spAutoFit/>
          </a:bodyPr>
          <a:lstStyle/>
          <a:p>
            <a:pPr algn="l">
              <a:defRPr sz="800" b="1">
                <a:solidFill>
                  <a:srgbClr val="0B1F3A"/>
                </a:solidFill>
                <a:latin typeface="Cascadia Code"/>
              </a:defRPr>
            </a:pPr>
            <a:r>
              <a:t>unique_processes, cmdline_entropy, lolbin_count, parent_child_depth, unsigned_ratio, encoded_cmd</a:t>
            </a:r>
          </a:p>
        </p:txBody>
      </p:sp>
      <p:sp>
        <p:nvSpPr>
          <p:cNvPr id="16" name="Rectangle 15"/>
          <p:cNvSpPr/>
          <p:nvPr/>
        </p:nvSpPr>
        <p:spPr>
          <a:xfrm>
            <a:off x="5212080" y="1371600"/>
            <a:ext cx="219456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12080" y="1389888"/>
            <a:ext cx="2194560" cy="274320"/>
          </a:xfrm>
          <a:prstGeom prst="rect">
            <a:avLst/>
          </a:prstGeom>
          <a:noFill/>
        </p:spPr>
        <p:txBody>
          <a:bodyPr wrap="square">
            <a:spAutoFit/>
          </a:bodyPr>
          <a:lstStyle/>
          <a:p>
            <a:pPr algn="ctr">
              <a:defRPr sz="1100" b="1">
                <a:solidFill>
                  <a:srgbClr val="FFFFFF"/>
                </a:solidFill>
                <a:latin typeface="Calibri"/>
              </a:defRPr>
            </a:pPr>
            <a:r>
              <a:t>NETWORK</a:t>
            </a:r>
          </a:p>
        </p:txBody>
      </p:sp>
      <p:sp>
        <p:nvSpPr>
          <p:cNvPr id="18" name="Rounded Rectangle 17"/>
          <p:cNvSpPr/>
          <p:nvPr/>
        </p:nvSpPr>
        <p:spPr>
          <a:xfrm>
            <a:off x="5212080" y="1737360"/>
            <a:ext cx="2194560" cy="1280160"/>
          </a:xfrm>
          <a:prstGeom prst="roundRect">
            <a:avLst/>
          </a:prstGeom>
          <a:solidFill>
            <a:srgbClr val="F7F8FA"/>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03520" y="1783080"/>
            <a:ext cx="2011680" cy="320040"/>
          </a:xfrm>
          <a:prstGeom prst="rect">
            <a:avLst/>
          </a:prstGeom>
          <a:noFill/>
        </p:spPr>
        <p:txBody>
          <a:bodyPr wrap="square">
            <a:spAutoFit/>
          </a:bodyPr>
          <a:lstStyle/>
          <a:p>
            <a:pPr algn="l">
              <a:defRPr sz="800" b="0">
                <a:solidFill>
                  <a:srgbClr val="5A6878"/>
                </a:solidFill>
                <a:latin typeface="Calibri"/>
              </a:defRPr>
            </a:pPr>
            <a:r>
              <a:t>NetFlow/IPFIX, Zeek, PAN-OS, FortiGate, VPC Flow</a:t>
            </a:r>
          </a:p>
        </p:txBody>
      </p:sp>
      <p:sp>
        <p:nvSpPr>
          <p:cNvPr id="20" name="TextBox 19"/>
          <p:cNvSpPr txBox="1"/>
          <p:nvPr/>
        </p:nvSpPr>
        <p:spPr>
          <a:xfrm>
            <a:off x="5303520" y="2148840"/>
            <a:ext cx="2011680" cy="822960"/>
          </a:xfrm>
          <a:prstGeom prst="rect">
            <a:avLst/>
          </a:prstGeom>
          <a:noFill/>
        </p:spPr>
        <p:txBody>
          <a:bodyPr wrap="square">
            <a:spAutoFit/>
          </a:bodyPr>
          <a:lstStyle/>
          <a:p>
            <a:pPr algn="l">
              <a:defRPr sz="800" b="1">
                <a:solidFill>
                  <a:srgbClr val="0B1F3A"/>
                </a:solidFill>
                <a:latin typeface="Cascadia Code"/>
              </a:defRPr>
            </a:pPr>
            <a:r>
              <a:t>unique_dest_ips, bytes_out_ratio, beacon_score, dns_query_rate, geo_anomaly, admin_share_access</a:t>
            </a:r>
          </a:p>
        </p:txBody>
      </p:sp>
      <p:sp>
        <p:nvSpPr>
          <p:cNvPr id="21" name="Rectangle 20"/>
          <p:cNvSpPr/>
          <p:nvPr/>
        </p:nvSpPr>
        <p:spPr>
          <a:xfrm>
            <a:off x="7589520" y="1371600"/>
            <a:ext cx="2194560" cy="32004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89520" y="1389888"/>
            <a:ext cx="2194560" cy="274320"/>
          </a:xfrm>
          <a:prstGeom prst="rect">
            <a:avLst/>
          </a:prstGeom>
          <a:noFill/>
        </p:spPr>
        <p:txBody>
          <a:bodyPr wrap="square">
            <a:spAutoFit/>
          </a:bodyPr>
          <a:lstStyle/>
          <a:p>
            <a:pPr algn="ctr">
              <a:defRPr sz="1100" b="1">
                <a:solidFill>
                  <a:srgbClr val="FFFFFF"/>
                </a:solidFill>
                <a:latin typeface="Calibri"/>
              </a:defRPr>
            </a:pPr>
            <a:r>
              <a:t>FILE</a:t>
            </a:r>
          </a:p>
        </p:txBody>
      </p:sp>
      <p:sp>
        <p:nvSpPr>
          <p:cNvPr id="23" name="Rounded Rectangle 22"/>
          <p:cNvSpPr/>
          <p:nvPr/>
        </p:nvSpPr>
        <p:spPr>
          <a:xfrm>
            <a:off x="7589520" y="1737360"/>
            <a:ext cx="2194560" cy="1280160"/>
          </a:xfrm>
          <a:prstGeom prst="roundRect">
            <a:avLst/>
          </a:prstGeom>
          <a:solidFill>
            <a:srgbClr val="F7F8FA"/>
          </a:solidFill>
          <a:ln w="12700">
            <a:solidFill>
              <a:srgbClr val="F26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680960" y="1783080"/>
            <a:ext cx="2011680" cy="320040"/>
          </a:xfrm>
          <a:prstGeom prst="rect">
            <a:avLst/>
          </a:prstGeom>
          <a:noFill/>
        </p:spPr>
        <p:txBody>
          <a:bodyPr wrap="square">
            <a:spAutoFit/>
          </a:bodyPr>
          <a:lstStyle/>
          <a:p>
            <a:pPr algn="l">
              <a:defRPr sz="800" b="0">
                <a:solidFill>
                  <a:srgbClr val="5A6878"/>
                </a:solidFill>
                <a:latin typeface="Calibri"/>
              </a:defRPr>
            </a:pPr>
            <a:r>
              <a:t>Sysmon EID 11, Win 4663, DLP, cloud storage</a:t>
            </a:r>
          </a:p>
        </p:txBody>
      </p:sp>
      <p:sp>
        <p:nvSpPr>
          <p:cNvPr id="25" name="TextBox 24"/>
          <p:cNvSpPr txBox="1"/>
          <p:nvPr/>
        </p:nvSpPr>
        <p:spPr>
          <a:xfrm>
            <a:off x="7680960" y="2148840"/>
            <a:ext cx="2011680" cy="822960"/>
          </a:xfrm>
          <a:prstGeom prst="rect">
            <a:avLst/>
          </a:prstGeom>
          <a:noFill/>
        </p:spPr>
        <p:txBody>
          <a:bodyPr wrap="square">
            <a:spAutoFit/>
          </a:bodyPr>
          <a:lstStyle/>
          <a:p>
            <a:pPr algn="l">
              <a:defRPr sz="800" b="1">
                <a:solidFill>
                  <a:srgbClr val="0B1F3A"/>
                </a:solidFill>
                <a:latin typeface="Cascadia Code"/>
              </a:defRPr>
            </a:pPr>
            <a:r>
              <a:t>files_created, files_deleted, sensitive_access, archive_creates, extension_changes, shadow_copy_ops</a:t>
            </a:r>
          </a:p>
        </p:txBody>
      </p:sp>
      <p:sp>
        <p:nvSpPr>
          <p:cNvPr id="26" name="Rectangle 25"/>
          <p:cNvSpPr/>
          <p:nvPr/>
        </p:nvSpPr>
        <p:spPr>
          <a:xfrm>
            <a:off x="9966960" y="1371600"/>
            <a:ext cx="2194560" cy="3200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966960" y="1389888"/>
            <a:ext cx="2194560" cy="274320"/>
          </a:xfrm>
          <a:prstGeom prst="rect">
            <a:avLst/>
          </a:prstGeom>
          <a:noFill/>
        </p:spPr>
        <p:txBody>
          <a:bodyPr wrap="square">
            <a:spAutoFit/>
          </a:bodyPr>
          <a:lstStyle/>
          <a:p>
            <a:pPr algn="ctr">
              <a:defRPr sz="1100" b="1">
                <a:solidFill>
                  <a:srgbClr val="FFFFFF"/>
                </a:solidFill>
                <a:latin typeface="Calibri"/>
              </a:defRPr>
            </a:pPr>
            <a:r>
              <a:t>IDENTITY</a:t>
            </a:r>
          </a:p>
        </p:txBody>
      </p:sp>
      <p:sp>
        <p:nvSpPr>
          <p:cNvPr id="28" name="Rounded Rectangle 27"/>
          <p:cNvSpPr/>
          <p:nvPr/>
        </p:nvSpPr>
        <p:spPr>
          <a:xfrm>
            <a:off x="9966960" y="1737360"/>
            <a:ext cx="2194560" cy="1280160"/>
          </a:xfrm>
          <a:prstGeom prst="roundRect">
            <a:avLst/>
          </a:prstGeom>
          <a:solidFill>
            <a:srgbClr val="F7F8FA"/>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58400" y="1783080"/>
            <a:ext cx="2011680" cy="320040"/>
          </a:xfrm>
          <a:prstGeom prst="rect">
            <a:avLst/>
          </a:prstGeom>
          <a:noFill/>
        </p:spPr>
        <p:txBody>
          <a:bodyPr wrap="square">
            <a:spAutoFit/>
          </a:bodyPr>
          <a:lstStyle/>
          <a:p>
            <a:pPr algn="l">
              <a:defRPr sz="800" b="0">
                <a:solidFill>
                  <a:srgbClr val="5A6878"/>
                </a:solidFill>
                <a:latin typeface="Calibri"/>
              </a:defRPr>
            </a:pPr>
            <a:r>
              <a:t>Win 4672/4728, CloudTrail IAM, K8s audit, AD change</a:t>
            </a:r>
          </a:p>
        </p:txBody>
      </p:sp>
      <p:sp>
        <p:nvSpPr>
          <p:cNvPr id="30" name="TextBox 29"/>
          <p:cNvSpPr txBox="1"/>
          <p:nvPr/>
        </p:nvSpPr>
        <p:spPr>
          <a:xfrm>
            <a:off x="10058400" y="2148840"/>
            <a:ext cx="2011680" cy="822960"/>
          </a:xfrm>
          <a:prstGeom prst="rect">
            <a:avLst/>
          </a:prstGeom>
          <a:noFill/>
        </p:spPr>
        <p:txBody>
          <a:bodyPr wrap="square">
            <a:spAutoFit/>
          </a:bodyPr>
          <a:lstStyle/>
          <a:p>
            <a:pPr algn="l">
              <a:defRPr sz="800" b="1">
                <a:solidFill>
                  <a:srgbClr val="0B1F3A"/>
                </a:solidFill>
                <a:latin typeface="Cascadia Code"/>
              </a:defRPr>
            </a:pPr>
            <a:r>
              <a:t>priv_escalations, group_adds, mfa_bypass, role_changes, service_acct_use, admin_actions</a:t>
            </a:r>
          </a:p>
        </p:txBody>
      </p:sp>
      <p:sp>
        <p:nvSpPr>
          <p:cNvPr id="31" name="Rectangle 30"/>
          <p:cNvSpPr/>
          <p:nvPr/>
        </p:nvSpPr>
        <p:spPr>
          <a:xfrm>
            <a:off x="457200" y="3200400"/>
            <a:ext cx="1106424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3218688"/>
            <a:ext cx="10698480" cy="320040"/>
          </a:xfrm>
          <a:prstGeom prst="rect">
            <a:avLst/>
          </a:prstGeom>
          <a:noFill/>
        </p:spPr>
        <p:txBody>
          <a:bodyPr wrap="square">
            <a:spAutoFit/>
          </a:bodyPr>
          <a:lstStyle/>
          <a:p>
            <a:pPr algn="ctr">
              <a:defRPr sz="1100" b="1">
                <a:solidFill>
                  <a:srgbClr val="B8862A"/>
                </a:solidFill>
                <a:latin typeface="Calibri"/>
              </a:defRPr>
            </a:pPr>
            <a:r>
              <a:t>All 5 concatenated -&gt; 1 COMPOSITE 1536-d vector (holistic entity behavioral state)  |  Total: 6 x 1,536 = 9,216 dims</a:t>
            </a:r>
          </a:p>
        </p:txBody>
      </p:sp>
      <p:sp>
        <p:nvSpPr>
          <p:cNvPr id="33" name="Rounded Rectangle 32"/>
          <p:cNvSpPr/>
          <p:nvPr/>
        </p:nvSpPr>
        <p:spPr>
          <a:xfrm>
            <a:off x="457200" y="3749039"/>
            <a:ext cx="3474720" cy="2286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57200" y="3749039"/>
            <a:ext cx="91440" cy="22860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3794760"/>
            <a:ext cx="3017520" cy="228600"/>
          </a:xfrm>
          <a:prstGeom prst="rect">
            <a:avLst/>
          </a:prstGeom>
          <a:noFill/>
        </p:spPr>
        <p:txBody>
          <a:bodyPr wrap="square">
            <a:spAutoFit/>
          </a:bodyPr>
          <a:lstStyle/>
          <a:p>
            <a:pPr algn="l">
              <a:defRPr sz="1100" b="1">
                <a:solidFill>
                  <a:srgbClr val="0891B2"/>
                </a:solidFill>
                <a:latin typeface="Calibri"/>
              </a:defRPr>
            </a:pPr>
            <a:r>
              <a:t>WHY EMBEDDING?</a:t>
            </a:r>
          </a:p>
        </p:txBody>
      </p:sp>
      <p:sp>
        <p:nvSpPr>
          <p:cNvPr id="36" name="TextBox 35"/>
          <p:cNvSpPr txBox="1"/>
          <p:nvPr/>
        </p:nvSpPr>
        <p:spPr>
          <a:xfrm>
            <a:off x="731520" y="4023360"/>
            <a:ext cx="3017520" cy="1828800"/>
          </a:xfrm>
          <a:prstGeom prst="rect">
            <a:avLst/>
          </a:prstGeom>
          <a:noFill/>
        </p:spPr>
        <p:txBody>
          <a:bodyPr wrap="square">
            <a:spAutoFit/>
          </a:bodyPr>
          <a:lstStyle/>
          <a:p>
            <a:pPr algn="l">
              <a:defRPr sz="1000" b="0">
                <a:solidFill>
                  <a:srgbClr val="2D3748"/>
                </a:solidFill>
                <a:latin typeface="Calibri"/>
              </a:defRPr>
            </a:pPr>
            <a:r>
              <a:t>Captures the SHAPE of behavior, not just metrics.</a:t>
            </a:r>
          </a:p>
          <a:p>
            <a:pPr>
              <a:spcBef>
                <a:spcPts val="400"/>
              </a:spcBef>
              <a:defRPr sz="1000" b="0">
                <a:solidFill>
                  <a:srgbClr val="2D3748"/>
                </a:solidFill>
                <a:latin typeface="Calibri"/>
              </a:defRPr>
            </a:pPr>
            <a:r>
              <a:t>Drift in shape = attack even if no metric spikes.</a:t>
            </a:r>
          </a:p>
          <a:p>
            <a:pPr>
              <a:spcBef>
                <a:spcPts val="400"/>
              </a:spcBef>
              <a:defRPr sz="1000" b="1">
                <a:solidFill>
                  <a:srgbClr val="0B1F3A"/>
                </a:solidFill>
                <a:latin typeface="Calibri"/>
              </a:defRPr>
            </a:pPr>
            <a:r>
              <a:t>Direction: "drifting toward T1021" not "87% anomalous"</a:t>
            </a:r>
          </a:p>
          <a:p>
            <a:pPr>
              <a:spcBef>
                <a:spcPts val="400"/>
              </a:spcBef>
              <a:defRPr sz="400" b="0">
                <a:solidFill>
                  <a:srgbClr val="5A6878"/>
                </a:solidFill>
                <a:latin typeface="Calibri"/>
              </a:defRPr>
            </a:pPr>
            <a:endParaRPr/>
          </a:p>
          <a:p>
            <a:pPr>
              <a:spcBef>
                <a:spcPts val="400"/>
              </a:spcBef>
              <a:defRPr sz="1000" b="0">
                <a:solidFill>
                  <a:srgbClr val="C0392B"/>
                </a:solidFill>
                <a:latin typeface="Calibri"/>
              </a:defRPr>
            </a:pPr>
            <a:r>
              <a:t>Traditional UEBA: rules + thresholds</a:t>
            </a:r>
          </a:p>
          <a:p>
            <a:pPr>
              <a:spcBef>
                <a:spcPts val="400"/>
              </a:spcBef>
              <a:defRPr sz="1000" b="1">
                <a:solidFill>
                  <a:srgbClr val="0891B2"/>
                </a:solidFill>
                <a:latin typeface="Calibri"/>
              </a:defRPr>
            </a:pPr>
            <a:r>
              <a:t>ACECARD: vector geometry + MITRE mapping</a:t>
            </a:r>
          </a:p>
        </p:txBody>
      </p:sp>
      <p:sp>
        <p:nvSpPr>
          <p:cNvPr id="37" name="Rounded Rectangle 36"/>
          <p:cNvSpPr/>
          <p:nvPr/>
        </p:nvSpPr>
        <p:spPr>
          <a:xfrm>
            <a:off x="4206240" y="3749039"/>
            <a:ext cx="3657600" cy="2286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206240" y="3749039"/>
            <a:ext cx="91440" cy="22860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80560" y="3794760"/>
            <a:ext cx="3200400" cy="228600"/>
          </a:xfrm>
          <a:prstGeom prst="rect">
            <a:avLst/>
          </a:prstGeom>
          <a:noFill/>
        </p:spPr>
        <p:txBody>
          <a:bodyPr wrap="square">
            <a:spAutoFit/>
          </a:bodyPr>
          <a:lstStyle/>
          <a:p>
            <a:pPr algn="l">
              <a:defRPr sz="1100" b="1">
                <a:solidFill>
                  <a:srgbClr val="F26B1F"/>
                </a:solidFill>
                <a:latin typeface="Calibri"/>
              </a:defRPr>
            </a:pPr>
            <a:r>
              <a:t>ENTITY FUSION (PROBLEM 3)</a:t>
            </a:r>
          </a:p>
        </p:txBody>
      </p:sp>
      <p:sp>
        <p:nvSpPr>
          <p:cNvPr id="40" name="TextBox 39"/>
          <p:cNvSpPr txBox="1"/>
          <p:nvPr/>
        </p:nvSpPr>
        <p:spPr>
          <a:xfrm>
            <a:off x="4480560" y="4023360"/>
            <a:ext cx="3200400" cy="1828800"/>
          </a:xfrm>
          <a:prstGeom prst="rect">
            <a:avLst/>
          </a:prstGeom>
          <a:noFill/>
        </p:spPr>
        <p:txBody>
          <a:bodyPr wrap="square">
            <a:spAutoFit/>
          </a:bodyPr>
          <a:lstStyle/>
          <a:p>
            <a:pPr algn="l">
              <a:defRPr sz="1000" b="0">
                <a:solidFill>
                  <a:srgbClr val="2D3748"/>
                </a:solidFill>
                <a:latin typeface="Calibri"/>
              </a:defRPr>
            </a:pPr>
            <a:r>
              <a:t>One entity_uuid resolves 10+ identity systems:</a:t>
            </a:r>
          </a:p>
          <a:p>
            <a:pPr>
              <a:spcBef>
                <a:spcPts val="400"/>
              </a:spcBef>
              <a:defRPr sz="1000" b="0">
                <a:solidFill>
                  <a:srgbClr val="2D3748"/>
                </a:solidFill>
                <a:latin typeface="Calibri"/>
              </a:defRPr>
            </a:pPr>
            <a:r>
              <a:t>AD, AAD, Okta, AWS, K8s, CrowdStrike,</a:t>
            </a:r>
          </a:p>
          <a:p>
            <a:pPr>
              <a:spcBef>
                <a:spcPts val="400"/>
              </a:spcBef>
              <a:defRPr sz="1000" b="0">
                <a:solidFill>
                  <a:srgbClr val="2D3748"/>
                </a:solidFill>
                <a:latin typeface="Calibri"/>
              </a:defRPr>
            </a:pPr>
            <a:r>
              <a:t>VPN, Splunk, PKI, TACACS+</a:t>
            </a:r>
          </a:p>
          <a:p>
            <a:pPr>
              <a:spcBef>
                <a:spcPts val="400"/>
              </a:spcBef>
              <a:defRPr sz="400" b="0">
                <a:solidFill>
                  <a:srgbClr val="5A6878"/>
                </a:solidFill>
                <a:latin typeface="Calibri"/>
              </a:defRPr>
            </a:pPr>
            <a:endParaRPr/>
          </a:p>
          <a:p>
            <a:pPr>
              <a:spcBef>
                <a:spcPts val="400"/>
              </a:spcBef>
              <a:defRPr sz="1000" b="0">
                <a:solidFill>
                  <a:srgbClr val="C0392B"/>
                </a:solidFill>
                <a:latin typeface="Calibri"/>
              </a:defRPr>
            </a:pPr>
            <a:r>
              <a:t>Without fusion: 4 weak signals, no alert</a:t>
            </a:r>
          </a:p>
          <a:p>
            <a:pPr>
              <a:spcBef>
                <a:spcPts val="400"/>
              </a:spcBef>
              <a:defRPr sz="1000" b="1">
                <a:solidFill>
                  <a:srgbClr val="0891B2"/>
                </a:solidFill>
                <a:latin typeface="Calibri"/>
              </a:defRPr>
            </a:pPr>
            <a:r>
              <a:t>With fusion: 1 strong trajectory, HIGH alert</a:t>
            </a:r>
          </a:p>
        </p:txBody>
      </p:sp>
      <p:sp>
        <p:nvSpPr>
          <p:cNvPr id="41" name="Rounded Rectangle 40"/>
          <p:cNvSpPr/>
          <p:nvPr/>
        </p:nvSpPr>
        <p:spPr>
          <a:xfrm>
            <a:off x="8046720" y="3749039"/>
            <a:ext cx="3474720" cy="2286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046720" y="3749039"/>
            <a:ext cx="91440" cy="2286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321040" y="3794760"/>
            <a:ext cx="3017520" cy="228600"/>
          </a:xfrm>
          <a:prstGeom prst="rect">
            <a:avLst/>
          </a:prstGeom>
          <a:noFill/>
        </p:spPr>
        <p:txBody>
          <a:bodyPr wrap="square">
            <a:spAutoFit/>
          </a:bodyPr>
          <a:lstStyle/>
          <a:p>
            <a:pPr algn="l">
              <a:defRPr sz="1100" b="1">
                <a:solidFill>
                  <a:srgbClr val="0B1F3A"/>
                </a:solidFill>
                <a:latin typeface="Calibri"/>
              </a:defRPr>
            </a:pPr>
            <a:r>
              <a:t>DEPLOYMENT OPTIONS</a:t>
            </a:r>
          </a:p>
        </p:txBody>
      </p:sp>
      <p:sp>
        <p:nvSpPr>
          <p:cNvPr id="44" name="TextBox 43"/>
          <p:cNvSpPr txBox="1"/>
          <p:nvPr/>
        </p:nvSpPr>
        <p:spPr>
          <a:xfrm>
            <a:off x="8321040" y="4023360"/>
            <a:ext cx="3017520" cy="1828800"/>
          </a:xfrm>
          <a:prstGeom prst="rect">
            <a:avLst/>
          </a:prstGeom>
          <a:noFill/>
        </p:spPr>
        <p:txBody>
          <a:bodyPr wrap="square">
            <a:spAutoFit/>
          </a:bodyPr>
          <a:lstStyle/>
          <a:p>
            <a:pPr algn="l">
              <a:defRPr sz="1000" b="0">
                <a:solidFill>
                  <a:srgbClr val="2D3748"/>
                </a:solidFill>
                <a:latin typeface="Calibri"/>
              </a:defRPr>
            </a:pPr>
            <a:r>
              <a:t>IL5: OpenAI text-embedding-3-small</a:t>
            </a:r>
          </a:p>
          <a:p>
            <a:pPr>
              <a:spcBef>
                <a:spcPts val="400"/>
              </a:spcBef>
              <a:defRPr sz="1000" b="0">
                <a:solidFill>
                  <a:srgbClr val="2D3748"/>
                </a:solidFill>
                <a:latin typeface="Calibri"/>
              </a:defRPr>
            </a:pPr>
            <a:r>
              <a:t>IL6: Local Phi-4 (14B) or Mistral 7B</a:t>
            </a:r>
          </a:p>
          <a:p>
            <a:pPr>
              <a:spcBef>
                <a:spcPts val="400"/>
              </a:spcBef>
              <a:defRPr sz="1000" b="0">
                <a:solidFill>
                  <a:srgbClr val="2D3748"/>
                </a:solidFill>
                <a:latin typeface="Calibri"/>
              </a:defRPr>
            </a:pPr>
            <a:r>
              <a:t>JWICS: Same SLM, air-gapped</a:t>
            </a:r>
          </a:p>
          <a:p>
            <a:pPr>
              <a:spcBef>
                <a:spcPts val="400"/>
              </a:spcBef>
              <a:defRPr sz="1000" b="1">
                <a:solidFill>
                  <a:srgbClr val="0B1F3A"/>
                </a:solidFill>
                <a:latin typeface="Calibri"/>
              </a:defRPr>
            </a:pPr>
            <a:r>
              <a:t>Switch: env var only, no code change</a:t>
            </a:r>
          </a:p>
          <a:p>
            <a:pPr>
              <a:spcBef>
                <a:spcPts val="400"/>
              </a:spcBef>
              <a:defRPr sz="400" b="0">
                <a:solidFill>
                  <a:srgbClr val="5A6878"/>
                </a:solidFill>
                <a:latin typeface="Calibri"/>
              </a:defRPr>
            </a:pPr>
            <a:endParaRPr/>
          </a:p>
          <a:p>
            <a:pPr>
              <a:spcBef>
                <a:spcPts val="400"/>
              </a:spcBef>
              <a:defRPr sz="1000" b="1">
                <a:solidFill>
                  <a:srgbClr val="B8862A"/>
                </a:solidFill>
                <a:latin typeface="Calibri"/>
              </a:defRPr>
            </a:pPr>
            <a:r>
              <a:t>PRIVACY: No raw event content sent.</a:t>
            </a:r>
          </a:p>
          <a:p>
            <a:pPr>
              <a:spcBef>
                <a:spcPts val="400"/>
              </a:spcBef>
              <a:defRPr sz="1000" b="0">
                <a:solidFill>
                  <a:srgbClr val="B8862A"/>
                </a:solidFill>
                <a:latin typeface="Calibri"/>
              </a:defRPr>
            </a:pPr>
            <a:r>
              <a:t>Only summarized metrics. No PII.</a:t>
            </a:r>
          </a:p>
        </p:txBody>
      </p:sp>
      <p:sp>
        <p:nvSpPr>
          <p:cNvPr id="45" name="Rectangle 44"/>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NOBODY embeds behavioral signals into a unified vector space with per-signal drift decomposition and entity fusion.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LAYER 2 -- ACECARD UEBA -- CUSUM</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CUSUM: Catching What Thresholds Miss</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Page's Cumulative Sum detects small, sustained behavioral shifts -- the Volt Typhoon signature.</a:t>
            </a:r>
          </a:p>
        </p:txBody>
      </p:sp>
      <p:sp>
        <p:nvSpPr>
          <p:cNvPr id="6" name="Rounded Rectangle 5"/>
          <p:cNvSpPr/>
          <p:nvPr/>
        </p:nvSpPr>
        <p:spPr>
          <a:xfrm>
            <a:off x="457200" y="1371600"/>
            <a:ext cx="5303520" cy="2286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371600"/>
            <a:ext cx="91440" cy="22860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417320"/>
            <a:ext cx="4846320" cy="228600"/>
          </a:xfrm>
          <a:prstGeom prst="rect">
            <a:avLst/>
          </a:prstGeom>
          <a:noFill/>
        </p:spPr>
        <p:txBody>
          <a:bodyPr wrap="square">
            <a:spAutoFit/>
          </a:bodyPr>
          <a:lstStyle/>
          <a:p>
            <a:pPr algn="l">
              <a:defRPr sz="1100" b="1">
                <a:solidFill>
                  <a:srgbClr val="0891B2"/>
                </a:solidFill>
                <a:latin typeface="Calibri"/>
              </a:defRPr>
            </a:pPr>
            <a:r>
              <a:t>THE ALGORITHM</a:t>
            </a:r>
          </a:p>
        </p:txBody>
      </p:sp>
      <p:sp>
        <p:nvSpPr>
          <p:cNvPr id="9" name="TextBox 8"/>
          <p:cNvSpPr txBox="1"/>
          <p:nvPr/>
        </p:nvSpPr>
        <p:spPr>
          <a:xfrm>
            <a:off x="731520" y="1691640"/>
            <a:ext cx="4846320" cy="1828800"/>
          </a:xfrm>
          <a:prstGeom prst="rect">
            <a:avLst/>
          </a:prstGeom>
          <a:noFill/>
        </p:spPr>
        <p:txBody>
          <a:bodyPr wrap="square">
            <a:spAutoFit/>
          </a:bodyPr>
          <a:lstStyle/>
          <a:p>
            <a:pPr algn="l">
              <a:defRPr sz="1200" b="1">
                <a:solidFill>
                  <a:srgbClr val="0B1F3A"/>
                </a:solidFill>
                <a:latin typeface="Cascadia Code"/>
              </a:defRPr>
            </a:pPr>
            <a:r>
              <a:t>S(t) = max(0, S(t-1) + drift(t) - (mu + k))</a:t>
            </a:r>
          </a:p>
          <a:p>
            <a:pPr>
              <a:spcBef>
                <a:spcPts val="400"/>
              </a:spcBef>
              <a:defRPr sz="400" b="0">
                <a:solidFill>
                  <a:srgbClr val="5A6878"/>
                </a:solidFill>
                <a:latin typeface="Calibri"/>
              </a:defRPr>
            </a:pPr>
            <a:endParaRPr/>
          </a:p>
          <a:p>
            <a:pPr>
              <a:spcBef>
                <a:spcPts val="400"/>
              </a:spcBef>
              <a:defRPr sz="1000" b="0">
                <a:solidFill>
                  <a:srgbClr val="2D3748"/>
                </a:solidFill>
                <a:latin typeface="Calibri"/>
              </a:defRPr>
            </a:pPr>
            <a:r>
              <a:t>S(t) = CUSUM statistic at time t</a:t>
            </a:r>
          </a:p>
          <a:p>
            <a:pPr>
              <a:spcBef>
                <a:spcPts val="400"/>
              </a:spcBef>
              <a:defRPr sz="1000" b="0">
                <a:solidFill>
                  <a:srgbClr val="2D3748"/>
                </a:solidFill>
                <a:latin typeface="Calibri"/>
              </a:defRPr>
            </a:pPr>
            <a:r>
              <a:t>drift(t) = cosine distance from baseline</a:t>
            </a:r>
          </a:p>
          <a:p>
            <a:pPr>
              <a:spcBef>
                <a:spcPts val="400"/>
              </a:spcBef>
              <a:defRPr sz="1000" b="0">
                <a:solidFill>
                  <a:srgbClr val="2D3748"/>
                </a:solidFill>
                <a:latin typeface="Calibri"/>
              </a:defRPr>
            </a:pPr>
            <a:r>
              <a:t>mu = expected mean drift (30-day rolling)</a:t>
            </a:r>
          </a:p>
          <a:p>
            <a:pPr>
              <a:spcBef>
                <a:spcPts val="400"/>
              </a:spcBef>
              <a:defRPr sz="1000" b="0">
                <a:solidFill>
                  <a:srgbClr val="2D3748"/>
                </a:solidFill>
                <a:latin typeface="Calibri"/>
              </a:defRPr>
            </a:pPr>
            <a:r>
              <a:t>k = slack = 0.5 * sigma (allowable noise)</a:t>
            </a:r>
          </a:p>
          <a:p>
            <a:pPr>
              <a:spcBef>
                <a:spcPts val="400"/>
              </a:spcBef>
              <a:defRPr sz="1100" b="1">
                <a:solidFill>
                  <a:srgbClr val="C0392B"/>
                </a:solidFill>
                <a:latin typeface="Calibri"/>
              </a:defRPr>
            </a:pPr>
            <a:r>
              <a:t>ALARM when S(t) &gt; h = 4 * sigma</a:t>
            </a:r>
          </a:p>
          <a:p>
            <a:pPr>
              <a:spcBef>
                <a:spcPts val="400"/>
              </a:spcBef>
              <a:defRPr sz="400" b="0">
                <a:solidFill>
                  <a:srgbClr val="5A6878"/>
                </a:solidFill>
                <a:latin typeface="Calibri"/>
              </a:defRPr>
            </a:pPr>
            <a:endParaRPr/>
          </a:p>
          <a:p>
            <a:pPr>
              <a:spcBef>
                <a:spcPts val="400"/>
              </a:spcBef>
              <a:defRPr sz="1000" b="0">
                <a:solidFill>
                  <a:srgbClr val="2D3748"/>
                </a:solidFill>
                <a:latin typeface="Calibri"/>
              </a:defRPr>
            </a:pPr>
            <a:r>
              <a:t>Resets to 0 when drift returns to normal.</a:t>
            </a:r>
          </a:p>
        </p:txBody>
      </p:sp>
      <p:sp>
        <p:nvSpPr>
          <p:cNvPr id="10" name="Rounded Rectangle 9"/>
          <p:cNvSpPr/>
          <p:nvPr/>
        </p:nvSpPr>
        <p:spPr>
          <a:xfrm>
            <a:off x="6217920" y="1371600"/>
            <a:ext cx="5303520" cy="2286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371600"/>
            <a:ext cx="91440" cy="22860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417320"/>
            <a:ext cx="4846320" cy="228600"/>
          </a:xfrm>
          <a:prstGeom prst="rect">
            <a:avLst/>
          </a:prstGeom>
          <a:noFill/>
        </p:spPr>
        <p:txBody>
          <a:bodyPr wrap="square">
            <a:spAutoFit/>
          </a:bodyPr>
          <a:lstStyle/>
          <a:p>
            <a:pPr algn="l">
              <a:defRPr sz="1100" b="1">
                <a:solidFill>
                  <a:srgbClr val="F26B1F"/>
                </a:solidFill>
                <a:latin typeface="Calibri"/>
              </a:defRPr>
            </a:pPr>
            <a:r>
              <a:t>WORKED EXAMPLE: VOLT TYPHOON</a:t>
            </a:r>
          </a:p>
        </p:txBody>
      </p:sp>
      <p:sp>
        <p:nvSpPr>
          <p:cNvPr id="13" name="TextBox 12"/>
          <p:cNvSpPr txBox="1"/>
          <p:nvPr/>
        </p:nvSpPr>
        <p:spPr>
          <a:xfrm>
            <a:off x="6492240" y="1691640"/>
            <a:ext cx="4846320" cy="1828800"/>
          </a:xfrm>
          <a:prstGeom prst="rect">
            <a:avLst/>
          </a:prstGeom>
          <a:noFill/>
        </p:spPr>
        <p:txBody>
          <a:bodyPr wrap="square">
            <a:spAutoFit/>
          </a:bodyPr>
          <a:lstStyle/>
          <a:p>
            <a:pPr algn="l">
              <a:defRPr sz="1000" b="0">
                <a:solidFill>
                  <a:srgbClr val="2D3748"/>
                </a:solidFill>
                <a:latin typeface="Calibri"/>
              </a:defRPr>
            </a:pPr>
            <a:r>
              <a:t>Baseline: mu=0.03, sigma=0.03</a:t>
            </a:r>
          </a:p>
          <a:p>
            <a:pPr>
              <a:spcBef>
                <a:spcPts val="400"/>
              </a:spcBef>
              <a:defRPr sz="1000" b="1">
                <a:solidFill>
                  <a:srgbClr val="0B1F3A"/>
                </a:solidFill>
                <a:latin typeface="Calibri"/>
              </a:defRPr>
            </a:pPr>
            <a:r>
              <a:t>k = 0.5 * 0.03 = 0.015</a:t>
            </a:r>
          </a:p>
          <a:p>
            <a:pPr>
              <a:spcBef>
                <a:spcPts val="400"/>
              </a:spcBef>
              <a:defRPr sz="1000" b="1">
                <a:solidFill>
                  <a:srgbClr val="0B1F3A"/>
                </a:solidFill>
                <a:latin typeface="Calibri"/>
              </a:defRPr>
            </a:pPr>
            <a:r>
              <a:t>h = 4 * 0.03 = 0.12</a:t>
            </a:r>
          </a:p>
          <a:p>
            <a:pPr>
              <a:spcBef>
                <a:spcPts val="400"/>
              </a:spcBef>
              <a:defRPr sz="400" b="0">
                <a:solidFill>
                  <a:srgbClr val="5A6878"/>
                </a:solidFill>
                <a:latin typeface="Calibri"/>
              </a:defRPr>
            </a:pPr>
            <a:endParaRPr/>
          </a:p>
          <a:p>
            <a:pPr>
              <a:spcBef>
                <a:spcPts val="400"/>
              </a:spcBef>
              <a:defRPr sz="1000" b="0">
                <a:solidFill>
                  <a:srgbClr val="2D3748"/>
                </a:solidFill>
                <a:latin typeface="Calibri"/>
              </a:defRPr>
            </a:pPr>
            <a:r>
              <a:t>APT drift per window = 0.06 (below threshold!)</a:t>
            </a:r>
          </a:p>
          <a:p>
            <a:pPr>
              <a:spcBef>
                <a:spcPts val="400"/>
              </a:spcBef>
              <a:defRPr sz="1000" b="1">
                <a:solidFill>
                  <a:srgbClr val="C0392B"/>
                </a:solidFill>
                <a:latin typeface="Calibri"/>
              </a:defRPr>
            </a:pPr>
            <a:r>
              <a:t>Fixed threshold = 0.15 --&gt; NEVER fires</a:t>
            </a:r>
          </a:p>
          <a:p>
            <a:pPr>
              <a:spcBef>
                <a:spcPts val="400"/>
              </a:spcBef>
              <a:defRPr sz="400" b="0">
                <a:solidFill>
                  <a:srgbClr val="5A6878"/>
                </a:solidFill>
                <a:latin typeface="Calibri"/>
              </a:defRPr>
            </a:pPr>
            <a:endParaRPr/>
          </a:p>
          <a:p>
            <a:pPr>
              <a:spcBef>
                <a:spcPts val="400"/>
              </a:spcBef>
              <a:defRPr sz="1000" b="0">
                <a:solidFill>
                  <a:srgbClr val="2D3748"/>
                </a:solidFill>
                <a:latin typeface="Calibri"/>
              </a:defRPr>
            </a:pPr>
            <a:r>
              <a:t>CUSUM accumulation:</a:t>
            </a:r>
          </a:p>
          <a:p>
            <a:pPr>
              <a:spcBef>
                <a:spcPts val="400"/>
              </a:spcBef>
              <a:defRPr sz="900" b="0">
                <a:solidFill>
                  <a:srgbClr val="2D3748"/>
                </a:solidFill>
                <a:latin typeface="Calibri"/>
              </a:defRPr>
            </a:pPr>
            <a:r>
              <a:t>  Excess per window: 0.06 - 0.03 - 0.015 = 0.015</a:t>
            </a:r>
          </a:p>
          <a:p>
            <a:pPr>
              <a:spcBef>
                <a:spcPts val="400"/>
              </a:spcBef>
              <a:defRPr sz="1000" b="1">
                <a:solidFill>
                  <a:srgbClr val="C0392B"/>
                </a:solidFill>
                <a:latin typeface="Calibri"/>
              </a:defRPr>
            </a:pPr>
            <a:r>
              <a:t>  ALARM in 0.12/0.015 = 8 windows (8 hours)</a:t>
            </a:r>
          </a:p>
        </p:txBody>
      </p:sp>
      <p:sp>
        <p:nvSpPr>
          <p:cNvPr id="14" name="Rounded Rectangle 13"/>
          <p:cNvSpPr/>
          <p:nvPr/>
        </p:nvSpPr>
        <p:spPr>
          <a:xfrm>
            <a:off x="457200" y="3840480"/>
            <a:ext cx="11064240" cy="22860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840480"/>
            <a:ext cx="91440" cy="2286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886200"/>
            <a:ext cx="10607040" cy="274320"/>
          </a:xfrm>
          <a:prstGeom prst="rect">
            <a:avLst/>
          </a:prstGeom>
          <a:noFill/>
        </p:spPr>
        <p:txBody>
          <a:bodyPr wrap="square">
            <a:spAutoFit/>
          </a:bodyPr>
          <a:lstStyle/>
          <a:p>
            <a:pPr algn="l">
              <a:defRPr sz="1300" b="1">
                <a:solidFill>
                  <a:srgbClr val="0B1F3A"/>
                </a:solidFill>
                <a:latin typeface="Calibri"/>
              </a:defRPr>
            </a:pPr>
            <a:r>
              <a:t>WHY CUSUM CATCHES VOLT TYPHOON BUT THRESHOLDS DO NOT</a:t>
            </a:r>
          </a:p>
        </p:txBody>
      </p:sp>
      <p:sp>
        <p:nvSpPr>
          <p:cNvPr id="17" name="Rectangle 16"/>
          <p:cNvSpPr/>
          <p:nvPr/>
        </p:nvSpPr>
        <p:spPr>
          <a:xfrm>
            <a:off x="731520" y="4297680"/>
            <a:ext cx="502920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315968"/>
            <a:ext cx="4937760" cy="237744"/>
          </a:xfrm>
          <a:prstGeom prst="rect">
            <a:avLst/>
          </a:prstGeom>
          <a:noFill/>
        </p:spPr>
        <p:txBody>
          <a:bodyPr wrap="square">
            <a:spAutoFit/>
          </a:bodyPr>
          <a:lstStyle/>
          <a:p>
            <a:pPr algn="l">
              <a:defRPr sz="1000" b="1">
                <a:solidFill>
                  <a:srgbClr val="FFFFFF"/>
                </a:solidFill>
                <a:latin typeface="Calibri"/>
              </a:defRPr>
            </a:pPr>
            <a:r>
              <a:t>FIXED THRESHOLD = 0.15</a:t>
            </a:r>
          </a:p>
        </p:txBody>
      </p:sp>
      <p:sp>
        <p:nvSpPr>
          <p:cNvPr id="19" name="TextBox 18"/>
          <p:cNvSpPr txBox="1"/>
          <p:nvPr/>
        </p:nvSpPr>
        <p:spPr>
          <a:xfrm>
            <a:off x="731520" y="4617720"/>
            <a:ext cx="5029200" cy="1188720"/>
          </a:xfrm>
          <a:prstGeom prst="rect">
            <a:avLst/>
          </a:prstGeom>
          <a:noFill/>
        </p:spPr>
        <p:txBody>
          <a:bodyPr wrap="square">
            <a:spAutoFit/>
          </a:bodyPr>
          <a:lstStyle/>
          <a:p>
            <a:pPr algn="l">
              <a:defRPr sz="1000" b="0">
                <a:solidFill>
                  <a:srgbClr val="2D3748"/>
                </a:solidFill>
                <a:latin typeface="Calibri"/>
              </a:defRPr>
            </a:pPr>
            <a:r>
              <a:t>Volt Typhoon drift per window = 0.01-0.04</a:t>
            </a:r>
          </a:p>
          <a:p>
            <a:pPr>
              <a:spcBef>
                <a:spcPts val="400"/>
              </a:spcBef>
              <a:defRPr sz="1000" b="1">
                <a:solidFill>
                  <a:srgbClr val="C0392B"/>
                </a:solidFill>
                <a:latin typeface="Calibri"/>
              </a:defRPr>
            </a:pPr>
            <a:r>
              <a:t>NEVER crosses 0.15. Ever.</a:t>
            </a:r>
          </a:p>
          <a:p>
            <a:pPr>
              <a:spcBef>
                <a:spcPts val="400"/>
              </a:spcBef>
              <a:defRPr sz="1000" b="1">
                <a:solidFill>
                  <a:srgbClr val="C0392B"/>
                </a:solidFill>
                <a:latin typeface="Calibri"/>
              </a:defRPr>
            </a:pPr>
            <a:r>
              <a:t>Attacker operates for 5+ YEARS undetected.</a:t>
            </a:r>
          </a:p>
          <a:p>
            <a:pPr>
              <a:spcBef>
                <a:spcPts val="400"/>
              </a:spcBef>
              <a:defRPr sz="1000" b="0">
                <a:solidFill>
                  <a:srgbClr val="C0392B"/>
                </a:solidFill>
                <a:latin typeface="Calibri"/>
              </a:defRPr>
            </a:pPr>
            <a:r>
              <a:t>Every commercial UEBA uses fixed thresholds.</a:t>
            </a:r>
          </a:p>
        </p:txBody>
      </p:sp>
      <p:sp>
        <p:nvSpPr>
          <p:cNvPr id="20" name="Rectangle 19"/>
          <p:cNvSpPr/>
          <p:nvPr/>
        </p:nvSpPr>
        <p:spPr>
          <a:xfrm>
            <a:off x="6217920" y="4297680"/>
            <a:ext cx="5029200"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63640" y="4315968"/>
            <a:ext cx="4937760" cy="237744"/>
          </a:xfrm>
          <a:prstGeom prst="rect">
            <a:avLst/>
          </a:prstGeom>
          <a:noFill/>
        </p:spPr>
        <p:txBody>
          <a:bodyPr wrap="square">
            <a:spAutoFit/>
          </a:bodyPr>
          <a:lstStyle/>
          <a:p>
            <a:pPr algn="l">
              <a:defRPr sz="1000" b="1">
                <a:solidFill>
                  <a:srgbClr val="FFFFFF"/>
                </a:solidFill>
                <a:latin typeface="Calibri"/>
              </a:defRPr>
            </a:pPr>
            <a:r>
              <a:t>CUSUM (h = 4*sigma = 0.12)</a:t>
            </a:r>
          </a:p>
        </p:txBody>
      </p:sp>
      <p:sp>
        <p:nvSpPr>
          <p:cNvPr id="22" name="TextBox 21"/>
          <p:cNvSpPr txBox="1"/>
          <p:nvPr/>
        </p:nvSpPr>
        <p:spPr>
          <a:xfrm>
            <a:off x="6217920" y="4617720"/>
            <a:ext cx="5029200" cy="1188720"/>
          </a:xfrm>
          <a:prstGeom prst="rect">
            <a:avLst/>
          </a:prstGeom>
          <a:noFill/>
        </p:spPr>
        <p:txBody>
          <a:bodyPr wrap="square">
            <a:spAutoFit/>
          </a:bodyPr>
          <a:lstStyle/>
          <a:p>
            <a:pPr algn="l">
              <a:defRPr sz="1000" b="0">
                <a:solidFill>
                  <a:srgbClr val="2D3748"/>
                </a:solidFill>
                <a:latin typeface="Calibri"/>
              </a:defRPr>
            </a:pPr>
            <a:r>
              <a:t>Same drift 0.03-0.04 ACCUMULATES over windows.</a:t>
            </a:r>
          </a:p>
          <a:p>
            <a:pPr>
              <a:spcBef>
                <a:spcPts val="400"/>
              </a:spcBef>
              <a:defRPr sz="1000" b="1">
                <a:solidFill>
                  <a:srgbClr val="0891B2"/>
                </a:solidFill>
                <a:latin typeface="Calibri"/>
              </a:defRPr>
            </a:pPr>
            <a:r>
              <a:t>CUSUM alarm in 4-8 days.</a:t>
            </a:r>
          </a:p>
          <a:p>
            <a:pPr>
              <a:spcBef>
                <a:spcPts val="400"/>
              </a:spcBef>
              <a:defRPr sz="1000" b="1">
                <a:solidFill>
                  <a:srgbClr val="0891B2"/>
                </a:solidFill>
                <a:latin typeface="Calibri"/>
              </a:defRPr>
            </a:pPr>
            <a:r>
              <a:t>Dwell time: YEARS --&gt; DAYS.</a:t>
            </a:r>
          </a:p>
          <a:p>
            <a:pPr>
              <a:spcBef>
                <a:spcPts val="400"/>
              </a:spcBef>
              <a:defRPr sz="1000" b="0">
                <a:solidFill>
                  <a:srgbClr val="0891B2"/>
                </a:solidFill>
                <a:latin typeface="Calibri"/>
              </a:defRPr>
            </a:pPr>
            <a:r>
              <a:t>Minimax optimal (Lorden 1971, Moustakides 1986).</a:t>
            </a:r>
          </a:p>
        </p:txBody>
      </p:sp>
      <p:sp>
        <p:nvSpPr>
          <p:cNvPr id="23" name="Rectangle 22"/>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NO COMMERCIAL UEBA uses CUSUM on behavioral embeddings. This is original research applied to cybersecurity.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LAYER 2 -- ACECARD UEBA -- DRIFT DIRECTION</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Drift Direction: What Is the Entity Becoming?</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Cosine projection onto 8 MITRE-mapped threat concepts. Not "87% anomalous" -- "drifting toward T1021 at 0.82."</a:t>
            </a:r>
          </a:p>
        </p:txBody>
      </p:sp>
      <p:sp>
        <p:nvSpPr>
          <p:cNvPr id="6" name="Rounded Rectangle 5"/>
          <p:cNvSpPr/>
          <p:nvPr/>
        </p:nvSpPr>
        <p:spPr>
          <a:xfrm>
            <a:off x="457200" y="1371600"/>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17320"/>
            <a:ext cx="2194560" cy="22860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426464"/>
            <a:ext cx="2103120" cy="201168"/>
          </a:xfrm>
          <a:prstGeom prst="rect">
            <a:avLst/>
          </a:prstGeom>
          <a:noFill/>
        </p:spPr>
        <p:txBody>
          <a:bodyPr wrap="square">
            <a:spAutoFit/>
          </a:bodyPr>
          <a:lstStyle/>
          <a:p>
            <a:pPr algn="ctr">
              <a:defRPr sz="950" b="1">
                <a:solidFill>
                  <a:srgbClr val="FFFFFF"/>
                </a:solidFill>
                <a:latin typeface="Calibri"/>
              </a:defRPr>
            </a:pPr>
            <a:r>
              <a:t>credential_dumping</a:t>
            </a:r>
          </a:p>
        </p:txBody>
      </p:sp>
      <p:sp>
        <p:nvSpPr>
          <p:cNvPr id="9" name="TextBox 8"/>
          <p:cNvSpPr txBox="1"/>
          <p:nvPr/>
        </p:nvSpPr>
        <p:spPr>
          <a:xfrm>
            <a:off x="2743200" y="1426464"/>
            <a:ext cx="731520" cy="201168"/>
          </a:xfrm>
          <a:prstGeom prst="rect">
            <a:avLst/>
          </a:prstGeom>
          <a:noFill/>
        </p:spPr>
        <p:txBody>
          <a:bodyPr wrap="square">
            <a:spAutoFit/>
          </a:bodyPr>
          <a:lstStyle/>
          <a:p>
            <a:pPr algn="l">
              <a:defRPr sz="1000" b="1">
                <a:solidFill>
                  <a:srgbClr val="0B1F3A"/>
                </a:solidFill>
                <a:latin typeface="Cascadia Code"/>
              </a:defRPr>
            </a:pPr>
            <a:r>
              <a:t>T1003</a:t>
            </a:r>
          </a:p>
        </p:txBody>
      </p:sp>
      <p:sp>
        <p:nvSpPr>
          <p:cNvPr id="10" name="TextBox 9"/>
          <p:cNvSpPr txBox="1"/>
          <p:nvPr/>
        </p:nvSpPr>
        <p:spPr>
          <a:xfrm>
            <a:off x="3566160" y="1389888"/>
            <a:ext cx="7772400" cy="457200"/>
          </a:xfrm>
          <a:prstGeom prst="rect">
            <a:avLst/>
          </a:prstGeom>
          <a:noFill/>
        </p:spPr>
        <p:txBody>
          <a:bodyPr wrap="square">
            <a:spAutoFit/>
          </a:bodyPr>
          <a:lstStyle/>
          <a:p>
            <a:pPr algn="l">
              <a:defRPr sz="950" b="0">
                <a:solidFill>
                  <a:srgbClr val="2D3748"/>
                </a:solidFill>
                <a:latin typeface="Calibri"/>
              </a:defRPr>
            </a:pPr>
            <a:r>
              <a:t>LSASS access, SAM reads, ntdsutil, DCSync, Kerberoasting</a:t>
            </a:r>
          </a:p>
        </p:txBody>
      </p:sp>
      <p:sp>
        <p:nvSpPr>
          <p:cNvPr id="11" name="Rounded Rectangle 10"/>
          <p:cNvSpPr/>
          <p:nvPr/>
        </p:nvSpPr>
        <p:spPr>
          <a:xfrm>
            <a:off x="457200" y="1901952"/>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947672"/>
            <a:ext cx="2194560" cy="228600"/>
          </a:xfrm>
          <a:prstGeom prst="rect">
            <a:avLst/>
          </a:prstGeom>
          <a:solidFill>
            <a:srgbClr val="6C2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1956816"/>
            <a:ext cx="2103120" cy="201168"/>
          </a:xfrm>
          <a:prstGeom prst="rect">
            <a:avLst/>
          </a:prstGeom>
          <a:noFill/>
        </p:spPr>
        <p:txBody>
          <a:bodyPr wrap="square">
            <a:spAutoFit/>
          </a:bodyPr>
          <a:lstStyle/>
          <a:p>
            <a:pPr algn="ctr">
              <a:defRPr sz="950" b="1">
                <a:solidFill>
                  <a:srgbClr val="FFFFFF"/>
                </a:solidFill>
                <a:latin typeface="Calibri"/>
              </a:defRPr>
            </a:pPr>
            <a:r>
              <a:t>lateral_movement</a:t>
            </a:r>
          </a:p>
        </p:txBody>
      </p:sp>
      <p:sp>
        <p:nvSpPr>
          <p:cNvPr id="14" name="TextBox 13"/>
          <p:cNvSpPr txBox="1"/>
          <p:nvPr/>
        </p:nvSpPr>
        <p:spPr>
          <a:xfrm>
            <a:off x="2743200" y="1956816"/>
            <a:ext cx="731520" cy="201168"/>
          </a:xfrm>
          <a:prstGeom prst="rect">
            <a:avLst/>
          </a:prstGeom>
          <a:noFill/>
        </p:spPr>
        <p:txBody>
          <a:bodyPr wrap="square">
            <a:spAutoFit/>
          </a:bodyPr>
          <a:lstStyle/>
          <a:p>
            <a:pPr algn="l">
              <a:defRPr sz="1000" b="1">
                <a:solidFill>
                  <a:srgbClr val="0B1F3A"/>
                </a:solidFill>
                <a:latin typeface="Cascadia Code"/>
              </a:defRPr>
            </a:pPr>
            <a:r>
              <a:t>T1021</a:t>
            </a:r>
          </a:p>
        </p:txBody>
      </p:sp>
      <p:sp>
        <p:nvSpPr>
          <p:cNvPr id="15" name="TextBox 14"/>
          <p:cNvSpPr txBox="1"/>
          <p:nvPr/>
        </p:nvSpPr>
        <p:spPr>
          <a:xfrm>
            <a:off x="3566160" y="1920240"/>
            <a:ext cx="7772400" cy="457200"/>
          </a:xfrm>
          <a:prstGeom prst="rect">
            <a:avLst/>
          </a:prstGeom>
          <a:noFill/>
        </p:spPr>
        <p:txBody>
          <a:bodyPr wrap="square">
            <a:spAutoFit/>
          </a:bodyPr>
          <a:lstStyle/>
          <a:p>
            <a:pPr algn="l">
              <a:defRPr sz="950" b="0">
                <a:solidFill>
                  <a:srgbClr val="2D3748"/>
                </a:solidFill>
                <a:latin typeface="Calibri"/>
              </a:defRPr>
            </a:pPr>
            <a:r>
              <a:t>RDP/WinRM/SSH to new hosts, admin shares, PtH/PtT</a:t>
            </a:r>
          </a:p>
        </p:txBody>
      </p:sp>
      <p:sp>
        <p:nvSpPr>
          <p:cNvPr id="16" name="Rounded Rectangle 15"/>
          <p:cNvSpPr/>
          <p:nvPr/>
        </p:nvSpPr>
        <p:spPr>
          <a:xfrm>
            <a:off x="457200" y="2432304"/>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2478024"/>
            <a:ext cx="219456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2487168"/>
            <a:ext cx="2103120" cy="201168"/>
          </a:xfrm>
          <a:prstGeom prst="rect">
            <a:avLst/>
          </a:prstGeom>
          <a:noFill/>
        </p:spPr>
        <p:txBody>
          <a:bodyPr wrap="square">
            <a:spAutoFit/>
          </a:bodyPr>
          <a:lstStyle/>
          <a:p>
            <a:pPr algn="ctr">
              <a:defRPr sz="950" b="1">
                <a:solidFill>
                  <a:srgbClr val="FFFFFF"/>
                </a:solidFill>
                <a:latin typeface="Calibri"/>
              </a:defRPr>
            </a:pPr>
            <a:r>
              <a:t>data_exfiltration</a:t>
            </a:r>
          </a:p>
        </p:txBody>
      </p:sp>
      <p:sp>
        <p:nvSpPr>
          <p:cNvPr id="19" name="TextBox 18"/>
          <p:cNvSpPr txBox="1"/>
          <p:nvPr/>
        </p:nvSpPr>
        <p:spPr>
          <a:xfrm>
            <a:off x="2743200" y="2487168"/>
            <a:ext cx="731520" cy="201168"/>
          </a:xfrm>
          <a:prstGeom prst="rect">
            <a:avLst/>
          </a:prstGeom>
          <a:noFill/>
        </p:spPr>
        <p:txBody>
          <a:bodyPr wrap="square">
            <a:spAutoFit/>
          </a:bodyPr>
          <a:lstStyle/>
          <a:p>
            <a:pPr algn="l">
              <a:defRPr sz="1000" b="1">
                <a:solidFill>
                  <a:srgbClr val="0B1F3A"/>
                </a:solidFill>
                <a:latin typeface="Cascadia Code"/>
              </a:defRPr>
            </a:pPr>
            <a:r>
              <a:t>T1041</a:t>
            </a:r>
          </a:p>
        </p:txBody>
      </p:sp>
      <p:sp>
        <p:nvSpPr>
          <p:cNvPr id="20" name="TextBox 19"/>
          <p:cNvSpPr txBox="1"/>
          <p:nvPr/>
        </p:nvSpPr>
        <p:spPr>
          <a:xfrm>
            <a:off x="3566160" y="2450592"/>
            <a:ext cx="7772400" cy="457200"/>
          </a:xfrm>
          <a:prstGeom prst="rect">
            <a:avLst/>
          </a:prstGeom>
          <a:noFill/>
        </p:spPr>
        <p:txBody>
          <a:bodyPr wrap="square">
            <a:spAutoFit/>
          </a:bodyPr>
          <a:lstStyle/>
          <a:p>
            <a:pPr algn="l">
              <a:defRPr sz="950" b="0">
                <a:solidFill>
                  <a:srgbClr val="2D3748"/>
                </a:solidFill>
                <a:latin typeface="Calibri"/>
              </a:defRPr>
            </a:pPr>
            <a:r>
              <a:t>Bytes-out inversion, archive staging, DNS tunneling, GRE tunneling</a:t>
            </a:r>
          </a:p>
        </p:txBody>
      </p:sp>
      <p:sp>
        <p:nvSpPr>
          <p:cNvPr id="21" name="Rounded Rectangle 20"/>
          <p:cNvSpPr/>
          <p:nvPr/>
        </p:nvSpPr>
        <p:spPr>
          <a:xfrm>
            <a:off x="457200" y="2962656"/>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3008376"/>
            <a:ext cx="2194560" cy="2286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3017520"/>
            <a:ext cx="2103120" cy="201168"/>
          </a:xfrm>
          <a:prstGeom prst="rect">
            <a:avLst/>
          </a:prstGeom>
          <a:noFill/>
        </p:spPr>
        <p:txBody>
          <a:bodyPr wrap="square">
            <a:spAutoFit/>
          </a:bodyPr>
          <a:lstStyle/>
          <a:p>
            <a:pPr algn="ctr">
              <a:defRPr sz="950" b="1">
                <a:solidFill>
                  <a:srgbClr val="FFFFFF"/>
                </a:solidFill>
                <a:latin typeface="Calibri"/>
              </a:defRPr>
            </a:pPr>
            <a:r>
              <a:t>c2_beaconing</a:t>
            </a:r>
          </a:p>
        </p:txBody>
      </p:sp>
      <p:sp>
        <p:nvSpPr>
          <p:cNvPr id="24" name="TextBox 23"/>
          <p:cNvSpPr txBox="1"/>
          <p:nvPr/>
        </p:nvSpPr>
        <p:spPr>
          <a:xfrm>
            <a:off x="2743200" y="3017520"/>
            <a:ext cx="731520" cy="201168"/>
          </a:xfrm>
          <a:prstGeom prst="rect">
            <a:avLst/>
          </a:prstGeom>
          <a:noFill/>
        </p:spPr>
        <p:txBody>
          <a:bodyPr wrap="square">
            <a:spAutoFit/>
          </a:bodyPr>
          <a:lstStyle/>
          <a:p>
            <a:pPr algn="l">
              <a:defRPr sz="1000" b="1">
                <a:solidFill>
                  <a:srgbClr val="0B1F3A"/>
                </a:solidFill>
                <a:latin typeface="Cascadia Code"/>
              </a:defRPr>
            </a:pPr>
            <a:r>
              <a:t>T1071</a:t>
            </a:r>
          </a:p>
        </p:txBody>
      </p:sp>
      <p:sp>
        <p:nvSpPr>
          <p:cNvPr id="25" name="TextBox 24"/>
          <p:cNvSpPr txBox="1"/>
          <p:nvPr/>
        </p:nvSpPr>
        <p:spPr>
          <a:xfrm>
            <a:off x="3566160" y="2980944"/>
            <a:ext cx="7772400" cy="457200"/>
          </a:xfrm>
          <a:prstGeom prst="rect">
            <a:avLst/>
          </a:prstGeom>
          <a:noFill/>
        </p:spPr>
        <p:txBody>
          <a:bodyPr wrap="square">
            <a:spAutoFit/>
          </a:bodyPr>
          <a:lstStyle/>
          <a:p>
            <a:pPr algn="l">
              <a:defRPr sz="950" b="0">
                <a:solidFill>
                  <a:srgbClr val="2D3748"/>
                </a:solidFill>
                <a:latin typeface="Calibri"/>
              </a:defRPr>
            </a:pPr>
            <a:r>
              <a:t>Regular-interval callbacks, DGA domains, KV botnet, JumbledPath</a:t>
            </a:r>
          </a:p>
        </p:txBody>
      </p:sp>
      <p:sp>
        <p:nvSpPr>
          <p:cNvPr id="26" name="Rounded Rectangle 25"/>
          <p:cNvSpPr/>
          <p:nvPr/>
        </p:nvSpPr>
        <p:spPr>
          <a:xfrm>
            <a:off x="457200" y="3493008"/>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3538728"/>
            <a:ext cx="219456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 y="3547872"/>
            <a:ext cx="2103120" cy="201168"/>
          </a:xfrm>
          <a:prstGeom prst="rect">
            <a:avLst/>
          </a:prstGeom>
          <a:noFill/>
        </p:spPr>
        <p:txBody>
          <a:bodyPr wrap="square">
            <a:spAutoFit/>
          </a:bodyPr>
          <a:lstStyle/>
          <a:p>
            <a:pPr algn="ctr">
              <a:defRPr sz="950" b="1">
                <a:solidFill>
                  <a:srgbClr val="FFFFFF"/>
                </a:solidFill>
                <a:latin typeface="Calibri"/>
              </a:defRPr>
            </a:pPr>
            <a:r>
              <a:t>lotl_execution</a:t>
            </a:r>
          </a:p>
        </p:txBody>
      </p:sp>
      <p:sp>
        <p:nvSpPr>
          <p:cNvPr id="29" name="TextBox 28"/>
          <p:cNvSpPr txBox="1"/>
          <p:nvPr/>
        </p:nvSpPr>
        <p:spPr>
          <a:xfrm>
            <a:off x="2743200" y="3547872"/>
            <a:ext cx="731520" cy="201168"/>
          </a:xfrm>
          <a:prstGeom prst="rect">
            <a:avLst/>
          </a:prstGeom>
          <a:noFill/>
        </p:spPr>
        <p:txBody>
          <a:bodyPr wrap="square">
            <a:spAutoFit/>
          </a:bodyPr>
          <a:lstStyle/>
          <a:p>
            <a:pPr algn="l">
              <a:defRPr sz="1000" b="1">
                <a:solidFill>
                  <a:srgbClr val="0B1F3A"/>
                </a:solidFill>
                <a:latin typeface="Cascadia Code"/>
              </a:defRPr>
            </a:pPr>
            <a:r>
              <a:t>T1059</a:t>
            </a:r>
          </a:p>
        </p:txBody>
      </p:sp>
      <p:sp>
        <p:nvSpPr>
          <p:cNvPr id="30" name="TextBox 29"/>
          <p:cNvSpPr txBox="1"/>
          <p:nvPr/>
        </p:nvSpPr>
        <p:spPr>
          <a:xfrm>
            <a:off x="3566160" y="3511296"/>
            <a:ext cx="7772400" cy="457200"/>
          </a:xfrm>
          <a:prstGeom prst="rect">
            <a:avLst/>
          </a:prstGeom>
          <a:noFill/>
        </p:spPr>
        <p:txBody>
          <a:bodyPr wrap="square">
            <a:spAutoFit/>
          </a:bodyPr>
          <a:lstStyle/>
          <a:p>
            <a:pPr algn="l">
              <a:defRPr sz="950" b="0">
                <a:solidFill>
                  <a:srgbClr val="2D3748"/>
                </a:solidFill>
                <a:latin typeface="Calibri"/>
              </a:defRPr>
            </a:pPr>
            <a:r>
              <a:t>wmic/ntdsutil/netsh/rundll32 chains, encoded PowerShell</a:t>
            </a:r>
          </a:p>
        </p:txBody>
      </p:sp>
      <p:sp>
        <p:nvSpPr>
          <p:cNvPr id="31" name="Rounded Rectangle 30"/>
          <p:cNvSpPr/>
          <p:nvPr/>
        </p:nvSpPr>
        <p:spPr>
          <a:xfrm>
            <a:off x="457200" y="4023360"/>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57200" y="4069080"/>
            <a:ext cx="2194560" cy="2286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02920" y="4078224"/>
            <a:ext cx="2103120" cy="201168"/>
          </a:xfrm>
          <a:prstGeom prst="rect">
            <a:avLst/>
          </a:prstGeom>
          <a:noFill/>
        </p:spPr>
        <p:txBody>
          <a:bodyPr wrap="square">
            <a:spAutoFit/>
          </a:bodyPr>
          <a:lstStyle/>
          <a:p>
            <a:pPr algn="ctr">
              <a:defRPr sz="950" b="1">
                <a:solidFill>
                  <a:srgbClr val="FFFFFF"/>
                </a:solidFill>
                <a:latin typeface="Calibri"/>
              </a:defRPr>
            </a:pPr>
            <a:r>
              <a:t>privilege_escalation</a:t>
            </a:r>
          </a:p>
        </p:txBody>
      </p:sp>
      <p:sp>
        <p:nvSpPr>
          <p:cNvPr id="34" name="TextBox 33"/>
          <p:cNvSpPr txBox="1"/>
          <p:nvPr/>
        </p:nvSpPr>
        <p:spPr>
          <a:xfrm>
            <a:off x="2743200" y="4078224"/>
            <a:ext cx="731520" cy="201168"/>
          </a:xfrm>
          <a:prstGeom prst="rect">
            <a:avLst/>
          </a:prstGeom>
          <a:noFill/>
        </p:spPr>
        <p:txBody>
          <a:bodyPr wrap="square">
            <a:spAutoFit/>
          </a:bodyPr>
          <a:lstStyle/>
          <a:p>
            <a:pPr algn="l">
              <a:defRPr sz="1000" b="1">
                <a:solidFill>
                  <a:srgbClr val="0B1F3A"/>
                </a:solidFill>
                <a:latin typeface="Cascadia Code"/>
              </a:defRPr>
            </a:pPr>
            <a:r>
              <a:t>T1078</a:t>
            </a:r>
          </a:p>
        </p:txBody>
      </p:sp>
      <p:sp>
        <p:nvSpPr>
          <p:cNvPr id="35" name="TextBox 34"/>
          <p:cNvSpPr txBox="1"/>
          <p:nvPr/>
        </p:nvSpPr>
        <p:spPr>
          <a:xfrm>
            <a:off x="3566160" y="4041648"/>
            <a:ext cx="7772400" cy="457200"/>
          </a:xfrm>
          <a:prstGeom prst="rect">
            <a:avLst/>
          </a:prstGeom>
          <a:noFill/>
        </p:spPr>
        <p:txBody>
          <a:bodyPr wrap="square">
            <a:spAutoFit/>
          </a:bodyPr>
          <a:lstStyle/>
          <a:p>
            <a:pPr algn="l">
              <a:defRPr sz="950" b="0">
                <a:solidFill>
                  <a:srgbClr val="2D3748"/>
                </a:solidFill>
                <a:latin typeface="Calibri"/>
              </a:defRPr>
            </a:pPr>
            <a:r>
              <a:t>Group adds (Domain Admins), sudo abuse, token manipulation</a:t>
            </a:r>
          </a:p>
        </p:txBody>
      </p:sp>
      <p:sp>
        <p:nvSpPr>
          <p:cNvPr id="36" name="Rounded Rectangle 35"/>
          <p:cNvSpPr/>
          <p:nvPr/>
        </p:nvSpPr>
        <p:spPr>
          <a:xfrm>
            <a:off x="457200" y="4553712"/>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7200" y="4599432"/>
            <a:ext cx="2194560" cy="228600"/>
          </a:xfrm>
          <a:prstGeom prst="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02920" y="4608576"/>
            <a:ext cx="2103120" cy="201168"/>
          </a:xfrm>
          <a:prstGeom prst="rect">
            <a:avLst/>
          </a:prstGeom>
          <a:noFill/>
        </p:spPr>
        <p:txBody>
          <a:bodyPr wrap="square">
            <a:spAutoFit/>
          </a:bodyPr>
          <a:lstStyle/>
          <a:p>
            <a:pPr algn="ctr">
              <a:defRPr sz="950" b="1">
                <a:solidFill>
                  <a:srgbClr val="FFFFFF"/>
                </a:solidFill>
                <a:latin typeface="Calibri"/>
              </a:defRPr>
            </a:pPr>
            <a:r>
              <a:t>defense_evasion</a:t>
            </a:r>
          </a:p>
        </p:txBody>
      </p:sp>
      <p:sp>
        <p:nvSpPr>
          <p:cNvPr id="39" name="TextBox 38"/>
          <p:cNvSpPr txBox="1"/>
          <p:nvPr/>
        </p:nvSpPr>
        <p:spPr>
          <a:xfrm>
            <a:off x="2743200" y="4608576"/>
            <a:ext cx="731520" cy="201168"/>
          </a:xfrm>
          <a:prstGeom prst="rect">
            <a:avLst/>
          </a:prstGeom>
          <a:noFill/>
        </p:spPr>
        <p:txBody>
          <a:bodyPr wrap="square">
            <a:spAutoFit/>
          </a:bodyPr>
          <a:lstStyle/>
          <a:p>
            <a:pPr algn="l">
              <a:defRPr sz="1000" b="1">
                <a:solidFill>
                  <a:srgbClr val="0B1F3A"/>
                </a:solidFill>
                <a:latin typeface="Cascadia Code"/>
              </a:defRPr>
            </a:pPr>
            <a:r>
              <a:t>T1562</a:t>
            </a:r>
          </a:p>
        </p:txBody>
      </p:sp>
      <p:sp>
        <p:nvSpPr>
          <p:cNvPr id="40" name="TextBox 39"/>
          <p:cNvSpPr txBox="1"/>
          <p:nvPr/>
        </p:nvSpPr>
        <p:spPr>
          <a:xfrm>
            <a:off x="3566160" y="4572000"/>
            <a:ext cx="7772400" cy="457200"/>
          </a:xfrm>
          <a:prstGeom prst="rect">
            <a:avLst/>
          </a:prstGeom>
          <a:noFill/>
        </p:spPr>
        <p:txBody>
          <a:bodyPr wrap="square">
            <a:spAutoFit/>
          </a:bodyPr>
          <a:lstStyle/>
          <a:p>
            <a:pPr algn="l">
              <a:defRPr sz="950" b="0">
                <a:solidFill>
                  <a:srgbClr val="2D3748"/>
                </a:solidFill>
                <a:latin typeface="Calibri"/>
              </a:defRPr>
            </a:pPr>
            <a:r>
              <a:t>AV exclusions, log clearing, agent tampering, ACL modification</a:t>
            </a:r>
          </a:p>
        </p:txBody>
      </p:sp>
      <p:sp>
        <p:nvSpPr>
          <p:cNvPr id="41" name="Rounded Rectangle 40"/>
          <p:cNvSpPr/>
          <p:nvPr/>
        </p:nvSpPr>
        <p:spPr>
          <a:xfrm>
            <a:off x="457200" y="5084064"/>
            <a:ext cx="11064240" cy="5029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57200" y="5129784"/>
            <a:ext cx="2194560" cy="2286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2920" y="5138928"/>
            <a:ext cx="2103120" cy="201168"/>
          </a:xfrm>
          <a:prstGeom prst="rect">
            <a:avLst/>
          </a:prstGeom>
          <a:noFill/>
        </p:spPr>
        <p:txBody>
          <a:bodyPr wrap="square">
            <a:spAutoFit/>
          </a:bodyPr>
          <a:lstStyle/>
          <a:p>
            <a:pPr algn="ctr">
              <a:defRPr sz="950" b="1">
                <a:solidFill>
                  <a:srgbClr val="FFFFFF"/>
                </a:solidFill>
                <a:latin typeface="Calibri"/>
              </a:defRPr>
            </a:pPr>
            <a:r>
              <a:t>insider_hoarding</a:t>
            </a:r>
          </a:p>
        </p:txBody>
      </p:sp>
      <p:sp>
        <p:nvSpPr>
          <p:cNvPr id="44" name="TextBox 43"/>
          <p:cNvSpPr txBox="1"/>
          <p:nvPr/>
        </p:nvSpPr>
        <p:spPr>
          <a:xfrm>
            <a:off x="2743200" y="5138928"/>
            <a:ext cx="731520" cy="201168"/>
          </a:xfrm>
          <a:prstGeom prst="rect">
            <a:avLst/>
          </a:prstGeom>
          <a:noFill/>
        </p:spPr>
        <p:txBody>
          <a:bodyPr wrap="square">
            <a:spAutoFit/>
          </a:bodyPr>
          <a:lstStyle/>
          <a:p>
            <a:pPr algn="l">
              <a:defRPr sz="1000" b="1">
                <a:solidFill>
                  <a:srgbClr val="0B1F3A"/>
                </a:solidFill>
                <a:latin typeface="Cascadia Code"/>
              </a:defRPr>
            </a:pPr>
            <a:r>
              <a:t>T1074</a:t>
            </a:r>
          </a:p>
        </p:txBody>
      </p:sp>
      <p:sp>
        <p:nvSpPr>
          <p:cNvPr id="45" name="TextBox 44"/>
          <p:cNvSpPr txBox="1"/>
          <p:nvPr/>
        </p:nvSpPr>
        <p:spPr>
          <a:xfrm>
            <a:off x="3566160" y="5102352"/>
            <a:ext cx="7772400" cy="457200"/>
          </a:xfrm>
          <a:prstGeom prst="rect">
            <a:avLst/>
          </a:prstGeom>
          <a:noFill/>
        </p:spPr>
        <p:txBody>
          <a:bodyPr wrap="square">
            <a:spAutoFit/>
          </a:bodyPr>
          <a:lstStyle/>
          <a:p>
            <a:pPr algn="l">
              <a:defRPr sz="950" b="0">
                <a:solidFill>
                  <a:srgbClr val="2D3748"/>
                </a:solidFill>
                <a:latin typeface="Calibri"/>
              </a:defRPr>
            </a:pPr>
            <a:r>
              <a:t>Steady sensitive access increase, bulk downloads, data staging</a:t>
            </a:r>
          </a:p>
        </p:txBody>
      </p:sp>
      <p:sp>
        <p:nvSpPr>
          <p:cNvPr id="46" name="Rounded Rectangle 45"/>
          <p:cNvSpPr/>
          <p:nvPr/>
        </p:nvSpPr>
        <p:spPr>
          <a:xfrm>
            <a:off x="457200" y="5669280"/>
            <a:ext cx="11064240" cy="54864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57200" y="5669280"/>
            <a:ext cx="91440" cy="548640"/>
          </a:xfrm>
          <a:prstGeom prst="rect">
            <a:avLst/>
          </a:prstGeom>
          <a:solidFill>
            <a:srgbClr val="B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31520" y="5687568"/>
            <a:ext cx="10607040" cy="502920"/>
          </a:xfrm>
          <a:prstGeom prst="rect">
            <a:avLst/>
          </a:prstGeom>
          <a:noFill/>
        </p:spPr>
        <p:txBody>
          <a:bodyPr wrap="square">
            <a:spAutoFit/>
          </a:bodyPr>
          <a:lstStyle/>
          <a:p>
            <a:pPr algn="l">
              <a:defRPr sz="1000" b="1">
                <a:solidFill>
                  <a:srgbClr val="0B1F3A"/>
                </a:solidFill>
                <a:latin typeface="Calibri"/>
              </a:defRPr>
            </a:pPr>
            <a:r>
              <a:t>projection = cosine(drift_vector, concept_embedding). Top 3 returned with MITRE IDs. Result: "Entity drifting toward lateral_movement (0.82, T1021) + lotl_execution (0.71, T1059)" -- actionable, mappable, auditable.</a:t>
            </a:r>
          </a:p>
        </p:txBody>
      </p:sp>
      <p:sp>
        <p:nvSpPr>
          <p:cNvPr id="49" name="Rectangle 48"/>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NO OTHER UEBA projects drift direction onto MITRE techniques. This is the core innovation.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LAYER 2 -- ACECARD UEBA -- COHORT + ALERTING</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Peer Cohort Comparison + Calibrated Alert Tiers</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A sysadmin logging into 30 hosts is normal. A finance analyst doing the same is anomalous.</a:t>
            </a:r>
          </a:p>
        </p:txBody>
      </p:sp>
      <p:sp>
        <p:nvSpPr>
          <p:cNvPr id="6" name="Rounded Rectangle 5"/>
          <p:cNvSpPr/>
          <p:nvPr/>
        </p:nvSpPr>
        <p:spPr>
          <a:xfrm>
            <a:off x="457200" y="1280160"/>
            <a:ext cx="5486400" cy="50292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91440" cy="50292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280160"/>
            <a:ext cx="548640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98448"/>
            <a:ext cx="5120640" cy="274320"/>
          </a:xfrm>
          <a:prstGeom prst="rect">
            <a:avLst/>
          </a:prstGeom>
          <a:noFill/>
        </p:spPr>
        <p:txBody>
          <a:bodyPr wrap="square">
            <a:spAutoFit/>
          </a:bodyPr>
          <a:lstStyle/>
          <a:p>
            <a:pPr algn="l">
              <a:defRPr sz="1100" b="1">
                <a:solidFill>
                  <a:srgbClr val="FFFFFF"/>
                </a:solidFill>
                <a:latin typeface="Calibri"/>
              </a:defRPr>
            </a:pPr>
            <a:r>
              <a:t>PEER COHORT</a:t>
            </a:r>
          </a:p>
        </p:txBody>
      </p:sp>
      <p:sp>
        <p:nvSpPr>
          <p:cNvPr id="10" name="TextBox 9"/>
          <p:cNvSpPr txBox="1"/>
          <p:nvPr/>
        </p:nvSpPr>
        <p:spPr>
          <a:xfrm>
            <a:off x="731520" y="1737360"/>
            <a:ext cx="5029200" cy="320040"/>
          </a:xfrm>
          <a:prstGeom prst="rect">
            <a:avLst/>
          </a:prstGeom>
          <a:noFill/>
        </p:spPr>
        <p:txBody>
          <a:bodyPr wrap="square">
            <a:spAutoFit/>
          </a:bodyPr>
          <a:lstStyle/>
          <a:p>
            <a:pPr algn="l">
              <a:defRPr sz="1200" b="1">
                <a:solidFill>
                  <a:srgbClr val="0891B2"/>
                </a:solidFill>
                <a:latin typeface="Cascadia Code"/>
              </a:defRPr>
            </a:pPr>
            <a:r>
              <a:t>z = (entity_drift - cohort_mean) / cohort_std</a:t>
            </a:r>
          </a:p>
        </p:txBody>
      </p:sp>
      <p:sp>
        <p:nvSpPr>
          <p:cNvPr id="11" name="TextBox 10"/>
          <p:cNvSpPr txBox="1"/>
          <p:nvPr/>
        </p:nvSpPr>
        <p:spPr>
          <a:xfrm>
            <a:off x="731520" y="2103120"/>
            <a:ext cx="5029200" cy="228600"/>
          </a:xfrm>
          <a:prstGeom prst="rect">
            <a:avLst/>
          </a:prstGeom>
          <a:noFill/>
        </p:spPr>
        <p:txBody>
          <a:bodyPr wrap="square">
            <a:spAutoFit/>
          </a:bodyPr>
          <a:lstStyle/>
          <a:p>
            <a:pPr algn="l">
              <a:defRPr sz="900" b="0">
                <a:solidFill>
                  <a:srgbClr val="5A6878"/>
                </a:solidFill>
                <a:latin typeface="Calibri"/>
              </a:defRPr>
            </a:pPr>
            <a:r>
              <a:t>Flag outlier if z &gt; 2.0  |  Cohort = role / OU / security group from AD/LDAP/IAM</a:t>
            </a:r>
          </a:p>
        </p:txBody>
      </p:sp>
      <p:sp>
        <p:nvSpPr>
          <p:cNvPr id="12" name="TextBox 11"/>
          <p:cNvSpPr txBox="1"/>
          <p:nvPr/>
        </p:nvSpPr>
        <p:spPr>
          <a:xfrm>
            <a:off x="731520" y="2468880"/>
            <a:ext cx="5029200" cy="274320"/>
          </a:xfrm>
          <a:prstGeom prst="rect">
            <a:avLst/>
          </a:prstGeom>
          <a:noFill/>
        </p:spPr>
        <p:txBody>
          <a:bodyPr wrap="square">
            <a:spAutoFit/>
          </a:bodyPr>
          <a:lstStyle/>
          <a:p>
            <a:pPr algn="l">
              <a:defRPr sz="1100" b="1">
                <a:solidFill>
                  <a:srgbClr val="F26B1F"/>
                </a:solidFill>
                <a:latin typeface="Calibri"/>
              </a:defRPr>
            </a:pPr>
            <a:r>
              <a:t>EXAMPLE -- Lateral Movement Detection</a:t>
            </a:r>
          </a:p>
        </p:txBody>
      </p:sp>
      <p:sp>
        <p:nvSpPr>
          <p:cNvPr id="13" name="TextBox 12"/>
          <p:cNvSpPr txBox="1"/>
          <p:nvPr/>
        </p:nvSpPr>
        <p:spPr>
          <a:xfrm>
            <a:off x="731520" y="2743200"/>
            <a:ext cx="5029200" cy="228600"/>
          </a:xfrm>
          <a:prstGeom prst="rect">
            <a:avLst/>
          </a:prstGeom>
          <a:noFill/>
        </p:spPr>
        <p:txBody>
          <a:bodyPr wrap="square">
            <a:spAutoFit/>
          </a:bodyPr>
          <a:lstStyle/>
          <a:p>
            <a:pPr algn="l">
              <a:defRPr sz="950" b="0">
                <a:solidFill>
                  <a:srgbClr val="2D3748"/>
                </a:solidFill>
                <a:latin typeface="Calibri"/>
              </a:defRPr>
            </a:pPr>
            <a:r>
              <a:t>Entity: jsmith (financial_analyst, cohort = 42 peers)</a:t>
            </a:r>
          </a:p>
        </p:txBody>
      </p:sp>
      <p:sp>
        <p:nvSpPr>
          <p:cNvPr id="14" name="TextBox 13"/>
          <p:cNvSpPr txBox="1"/>
          <p:nvPr/>
        </p:nvSpPr>
        <p:spPr>
          <a:xfrm>
            <a:off x="731520" y="3108960"/>
            <a:ext cx="1645920" cy="228600"/>
          </a:xfrm>
          <a:prstGeom prst="rect">
            <a:avLst/>
          </a:prstGeom>
          <a:noFill/>
        </p:spPr>
        <p:txBody>
          <a:bodyPr wrap="square">
            <a:spAutoFit/>
          </a:bodyPr>
          <a:lstStyle/>
          <a:p>
            <a:pPr algn="l">
              <a:defRPr sz="1000" b="0">
                <a:solidFill>
                  <a:srgbClr val="2D3748"/>
                </a:solidFill>
                <a:latin typeface="Calibri"/>
              </a:defRPr>
            </a:pPr>
            <a:r>
              <a:t>jsmith drift:</a:t>
            </a:r>
          </a:p>
        </p:txBody>
      </p:sp>
      <p:sp>
        <p:nvSpPr>
          <p:cNvPr id="15" name="TextBox 14"/>
          <p:cNvSpPr txBox="1"/>
          <p:nvPr/>
        </p:nvSpPr>
        <p:spPr>
          <a:xfrm>
            <a:off x="2560320" y="3108960"/>
            <a:ext cx="914400" cy="228600"/>
          </a:xfrm>
          <a:prstGeom prst="rect">
            <a:avLst/>
          </a:prstGeom>
          <a:noFill/>
        </p:spPr>
        <p:txBody>
          <a:bodyPr wrap="square">
            <a:spAutoFit/>
          </a:bodyPr>
          <a:lstStyle/>
          <a:p>
            <a:pPr algn="l">
              <a:defRPr sz="1300" b="1">
                <a:solidFill>
                  <a:srgbClr val="F26B1F"/>
                </a:solidFill>
                <a:latin typeface="Cascadia Code"/>
              </a:defRPr>
            </a:pPr>
            <a:r>
              <a:t>0.142</a:t>
            </a:r>
          </a:p>
        </p:txBody>
      </p:sp>
      <p:sp>
        <p:nvSpPr>
          <p:cNvPr id="16" name="TextBox 15"/>
          <p:cNvSpPr txBox="1"/>
          <p:nvPr/>
        </p:nvSpPr>
        <p:spPr>
          <a:xfrm>
            <a:off x="3566160" y="3108960"/>
            <a:ext cx="2286000" cy="228600"/>
          </a:xfrm>
          <a:prstGeom prst="rect">
            <a:avLst/>
          </a:prstGeom>
          <a:noFill/>
        </p:spPr>
        <p:txBody>
          <a:bodyPr wrap="square">
            <a:spAutoFit/>
          </a:bodyPr>
          <a:lstStyle/>
          <a:p>
            <a:pPr algn="l">
              <a:defRPr sz="850" b="0">
                <a:solidFill>
                  <a:srgbClr val="5A6878"/>
                </a:solidFill>
                <a:latin typeface="Calibri"/>
              </a:defRPr>
            </a:pPr>
            <a:r>
              <a:t>(38 failed logons to 12 new hosts)</a:t>
            </a:r>
          </a:p>
        </p:txBody>
      </p:sp>
      <p:sp>
        <p:nvSpPr>
          <p:cNvPr id="17" name="TextBox 16"/>
          <p:cNvSpPr txBox="1"/>
          <p:nvPr/>
        </p:nvSpPr>
        <p:spPr>
          <a:xfrm>
            <a:off x="731520" y="3383280"/>
            <a:ext cx="1645920" cy="228600"/>
          </a:xfrm>
          <a:prstGeom prst="rect">
            <a:avLst/>
          </a:prstGeom>
          <a:noFill/>
        </p:spPr>
        <p:txBody>
          <a:bodyPr wrap="square">
            <a:spAutoFit/>
          </a:bodyPr>
          <a:lstStyle/>
          <a:p>
            <a:pPr algn="l">
              <a:defRPr sz="1000" b="0">
                <a:solidFill>
                  <a:srgbClr val="2D3748"/>
                </a:solidFill>
                <a:latin typeface="Calibri"/>
              </a:defRPr>
            </a:pPr>
            <a:r>
              <a:t>Cohort mean:</a:t>
            </a:r>
          </a:p>
        </p:txBody>
      </p:sp>
      <p:sp>
        <p:nvSpPr>
          <p:cNvPr id="18" name="TextBox 17"/>
          <p:cNvSpPr txBox="1"/>
          <p:nvPr/>
        </p:nvSpPr>
        <p:spPr>
          <a:xfrm>
            <a:off x="2560320" y="3383280"/>
            <a:ext cx="914400" cy="228600"/>
          </a:xfrm>
          <a:prstGeom prst="rect">
            <a:avLst/>
          </a:prstGeom>
          <a:noFill/>
        </p:spPr>
        <p:txBody>
          <a:bodyPr wrap="square">
            <a:spAutoFit/>
          </a:bodyPr>
          <a:lstStyle/>
          <a:p>
            <a:pPr algn="l">
              <a:defRPr sz="1300" b="1">
                <a:solidFill>
                  <a:srgbClr val="F26B1F"/>
                </a:solidFill>
                <a:latin typeface="Cascadia Code"/>
              </a:defRPr>
            </a:pPr>
            <a:r>
              <a:t>0.031</a:t>
            </a:r>
          </a:p>
        </p:txBody>
      </p:sp>
      <p:sp>
        <p:nvSpPr>
          <p:cNvPr id="19" name="TextBox 18"/>
          <p:cNvSpPr txBox="1"/>
          <p:nvPr/>
        </p:nvSpPr>
        <p:spPr>
          <a:xfrm>
            <a:off x="3566160" y="3383280"/>
            <a:ext cx="2286000" cy="228600"/>
          </a:xfrm>
          <a:prstGeom prst="rect">
            <a:avLst/>
          </a:prstGeom>
          <a:noFill/>
        </p:spPr>
        <p:txBody>
          <a:bodyPr wrap="square">
            <a:spAutoFit/>
          </a:bodyPr>
          <a:lstStyle/>
          <a:p>
            <a:pPr algn="l">
              <a:defRPr sz="850" b="0">
                <a:solidFill>
                  <a:srgbClr val="5A6878"/>
                </a:solidFill>
                <a:latin typeface="Calibri"/>
              </a:defRPr>
            </a:pPr>
            <a:r>
              <a:t>(peers avg 2.1 failed, 0.3 new hosts)</a:t>
            </a:r>
          </a:p>
        </p:txBody>
      </p:sp>
      <p:sp>
        <p:nvSpPr>
          <p:cNvPr id="20" name="TextBox 19"/>
          <p:cNvSpPr txBox="1"/>
          <p:nvPr/>
        </p:nvSpPr>
        <p:spPr>
          <a:xfrm>
            <a:off x="731520" y="3657600"/>
            <a:ext cx="1645920" cy="228600"/>
          </a:xfrm>
          <a:prstGeom prst="rect">
            <a:avLst/>
          </a:prstGeom>
          <a:noFill/>
        </p:spPr>
        <p:txBody>
          <a:bodyPr wrap="square">
            <a:spAutoFit/>
          </a:bodyPr>
          <a:lstStyle/>
          <a:p>
            <a:pPr algn="l">
              <a:defRPr sz="1000" b="0">
                <a:solidFill>
                  <a:srgbClr val="2D3748"/>
                </a:solidFill>
                <a:latin typeface="Calibri"/>
              </a:defRPr>
            </a:pPr>
            <a:r>
              <a:t>Cohort std:</a:t>
            </a:r>
          </a:p>
        </p:txBody>
      </p:sp>
      <p:sp>
        <p:nvSpPr>
          <p:cNvPr id="21" name="TextBox 20"/>
          <p:cNvSpPr txBox="1"/>
          <p:nvPr/>
        </p:nvSpPr>
        <p:spPr>
          <a:xfrm>
            <a:off x="2560320" y="3657600"/>
            <a:ext cx="914400" cy="228600"/>
          </a:xfrm>
          <a:prstGeom prst="rect">
            <a:avLst/>
          </a:prstGeom>
          <a:noFill/>
        </p:spPr>
        <p:txBody>
          <a:bodyPr wrap="square">
            <a:spAutoFit/>
          </a:bodyPr>
          <a:lstStyle/>
          <a:p>
            <a:pPr algn="l">
              <a:defRPr sz="1300" b="1">
                <a:solidFill>
                  <a:srgbClr val="F26B1F"/>
                </a:solidFill>
                <a:latin typeface="Cascadia Code"/>
              </a:defRPr>
            </a:pPr>
            <a:r>
              <a:t>0.018</a:t>
            </a:r>
          </a:p>
        </p:txBody>
      </p:sp>
      <p:sp>
        <p:nvSpPr>
          <p:cNvPr id="22" name="TextBox 21"/>
          <p:cNvSpPr txBox="1"/>
          <p:nvPr/>
        </p:nvSpPr>
        <p:spPr>
          <a:xfrm>
            <a:off x="731520" y="3931920"/>
            <a:ext cx="1645920" cy="228600"/>
          </a:xfrm>
          <a:prstGeom prst="rect">
            <a:avLst/>
          </a:prstGeom>
          <a:noFill/>
        </p:spPr>
        <p:txBody>
          <a:bodyPr wrap="square">
            <a:spAutoFit/>
          </a:bodyPr>
          <a:lstStyle/>
          <a:p>
            <a:pPr algn="l">
              <a:defRPr sz="1000" b="0">
                <a:solidFill>
                  <a:srgbClr val="2D3748"/>
                </a:solidFill>
                <a:latin typeface="Calibri"/>
              </a:defRPr>
            </a:pPr>
            <a:r>
              <a:t>z-score:</a:t>
            </a:r>
          </a:p>
        </p:txBody>
      </p:sp>
      <p:sp>
        <p:nvSpPr>
          <p:cNvPr id="23" name="TextBox 22"/>
          <p:cNvSpPr txBox="1"/>
          <p:nvPr/>
        </p:nvSpPr>
        <p:spPr>
          <a:xfrm>
            <a:off x="2560320" y="3931920"/>
            <a:ext cx="914400" cy="228600"/>
          </a:xfrm>
          <a:prstGeom prst="rect">
            <a:avLst/>
          </a:prstGeom>
          <a:noFill/>
        </p:spPr>
        <p:txBody>
          <a:bodyPr wrap="square">
            <a:spAutoFit/>
          </a:bodyPr>
          <a:lstStyle/>
          <a:p>
            <a:pPr algn="l">
              <a:defRPr sz="1300" b="1">
                <a:solidFill>
                  <a:srgbClr val="C0392B"/>
                </a:solidFill>
                <a:latin typeface="Cascadia Code"/>
              </a:defRPr>
            </a:pPr>
            <a:r>
              <a:t>6.17</a:t>
            </a:r>
          </a:p>
        </p:txBody>
      </p:sp>
      <p:sp>
        <p:nvSpPr>
          <p:cNvPr id="24" name="TextBox 23"/>
          <p:cNvSpPr txBox="1"/>
          <p:nvPr/>
        </p:nvSpPr>
        <p:spPr>
          <a:xfrm>
            <a:off x="3566160" y="3931920"/>
            <a:ext cx="2286000" cy="228600"/>
          </a:xfrm>
          <a:prstGeom prst="rect">
            <a:avLst/>
          </a:prstGeom>
          <a:noFill/>
        </p:spPr>
        <p:txBody>
          <a:bodyPr wrap="square">
            <a:spAutoFit/>
          </a:bodyPr>
          <a:lstStyle/>
          <a:p>
            <a:pPr algn="l">
              <a:defRPr sz="850" b="0">
                <a:solidFill>
                  <a:srgbClr val="5A6878"/>
                </a:solidFill>
                <a:latin typeface="Calibri"/>
              </a:defRPr>
            </a:pPr>
            <a:r>
              <a:t>&gt;&gt;&gt; OUTLIER (z &gt; 2.0)</a:t>
            </a:r>
          </a:p>
        </p:txBody>
      </p:sp>
      <p:sp>
        <p:nvSpPr>
          <p:cNvPr id="25" name="Rounded Rectangle 24"/>
          <p:cNvSpPr/>
          <p:nvPr/>
        </p:nvSpPr>
        <p:spPr>
          <a:xfrm>
            <a:off x="731520" y="4297680"/>
            <a:ext cx="5029200" cy="1645920"/>
          </a:xfrm>
          <a:prstGeom prst="roundRect">
            <a:avLst/>
          </a:prstGeom>
          <a:solidFill>
            <a:srgbClr val="E0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4343400"/>
            <a:ext cx="4663440" cy="1463040"/>
          </a:xfrm>
          <a:prstGeom prst="rect">
            <a:avLst/>
          </a:prstGeom>
          <a:noFill/>
        </p:spPr>
        <p:txBody>
          <a:bodyPr wrap="square">
            <a:spAutoFit/>
          </a:bodyPr>
          <a:lstStyle/>
          <a:p>
            <a:pPr algn="l">
              <a:defRPr sz="950" b="1">
                <a:solidFill>
                  <a:srgbClr val="0891B2"/>
                </a:solidFill>
                <a:latin typeface="Calibri"/>
              </a:defRPr>
            </a:pPr>
            <a:r>
              <a:t>Drift direction:  lateral_movement (0.78), credential_dumping (0.45)</a:t>
            </a:r>
          </a:p>
          <a:p>
            <a:pPr>
              <a:spcBef>
                <a:spcPts val="400"/>
              </a:spcBef>
              <a:defRPr sz="950" b="1">
                <a:solidFill>
                  <a:srgbClr val="0B1F3A"/>
                </a:solidFill>
                <a:latin typeface="Calibri"/>
              </a:defRPr>
            </a:pPr>
            <a:r>
              <a:t>MITRE:  T1021 (Remote Services), T1003 (Credential Dumping)</a:t>
            </a:r>
          </a:p>
          <a:p>
            <a:pPr>
              <a:spcBef>
                <a:spcPts val="400"/>
              </a:spcBef>
              <a:defRPr sz="950" b="1">
                <a:solidFill>
                  <a:srgbClr val="F26B1F"/>
                </a:solidFill>
                <a:latin typeface="Calibri"/>
              </a:defRPr>
            </a:pPr>
            <a:r>
              <a:t>Action:  HIGH severity -&gt; SOAR playbook triggered</a:t>
            </a:r>
          </a:p>
        </p:txBody>
      </p:sp>
      <p:sp>
        <p:nvSpPr>
          <p:cNvPr id="27" name="Rounded Rectangle 26"/>
          <p:cNvSpPr/>
          <p:nvPr/>
        </p:nvSpPr>
        <p:spPr>
          <a:xfrm>
            <a:off x="6217920" y="1280160"/>
            <a:ext cx="5303520" cy="50292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17920" y="1280160"/>
            <a:ext cx="91440" cy="50292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17920" y="1280160"/>
            <a:ext cx="530352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0" y="1298448"/>
            <a:ext cx="4937760" cy="274320"/>
          </a:xfrm>
          <a:prstGeom prst="rect">
            <a:avLst/>
          </a:prstGeom>
          <a:noFill/>
        </p:spPr>
        <p:txBody>
          <a:bodyPr wrap="square">
            <a:spAutoFit/>
          </a:bodyPr>
          <a:lstStyle/>
          <a:p>
            <a:pPr algn="l">
              <a:defRPr sz="1100" b="1">
                <a:solidFill>
                  <a:srgbClr val="FFFFFF"/>
                </a:solidFill>
                <a:latin typeface="Calibri"/>
              </a:defRPr>
            </a:pPr>
            <a:r>
              <a:t>ALERT TIERS</a:t>
            </a:r>
          </a:p>
        </p:txBody>
      </p:sp>
      <p:sp>
        <p:nvSpPr>
          <p:cNvPr id="31" name="Rounded Rectangle 30"/>
          <p:cNvSpPr/>
          <p:nvPr/>
        </p:nvSpPr>
        <p:spPr>
          <a:xfrm>
            <a:off x="6400800" y="1737360"/>
            <a:ext cx="4937760" cy="868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400800" y="1783080"/>
            <a:ext cx="1005840" cy="7772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46520" y="1874520"/>
            <a:ext cx="914400" cy="365760"/>
          </a:xfrm>
          <a:prstGeom prst="rect">
            <a:avLst/>
          </a:prstGeom>
          <a:noFill/>
        </p:spPr>
        <p:txBody>
          <a:bodyPr wrap="square">
            <a:spAutoFit/>
          </a:bodyPr>
          <a:lstStyle/>
          <a:p>
            <a:pPr algn="ctr">
              <a:defRPr sz="1100" b="1">
                <a:solidFill>
                  <a:srgbClr val="FFFFFF"/>
                </a:solidFill>
                <a:latin typeface="Calibri"/>
              </a:defRPr>
            </a:pPr>
            <a:r>
              <a:t>CRITICAL</a:t>
            </a:r>
          </a:p>
        </p:txBody>
      </p:sp>
      <p:sp>
        <p:nvSpPr>
          <p:cNvPr id="34" name="TextBox 33"/>
          <p:cNvSpPr txBox="1"/>
          <p:nvPr/>
        </p:nvSpPr>
        <p:spPr>
          <a:xfrm>
            <a:off x="7498079" y="1783080"/>
            <a:ext cx="3749039" cy="228600"/>
          </a:xfrm>
          <a:prstGeom prst="rect">
            <a:avLst/>
          </a:prstGeom>
          <a:noFill/>
        </p:spPr>
        <p:txBody>
          <a:bodyPr wrap="square">
            <a:spAutoFit/>
          </a:bodyPr>
          <a:lstStyle/>
          <a:p>
            <a:pPr algn="l">
              <a:defRPr sz="900" b="1">
                <a:solidFill>
                  <a:srgbClr val="0B1F3A"/>
                </a:solidFill>
                <a:latin typeface="Cascadia Code"/>
              </a:defRPr>
            </a:pPr>
            <a:r>
              <a:t>Health &lt; 40</a:t>
            </a:r>
          </a:p>
        </p:txBody>
      </p:sp>
      <p:sp>
        <p:nvSpPr>
          <p:cNvPr id="35" name="TextBox 34"/>
          <p:cNvSpPr txBox="1"/>
          <p:nvPr/>
        </p:nvSpPr>
        <p:spPr>
          <a:xfrm>
            <a:off x="7498079" y="2011680"/>
            <a:ext cx="3749039" cy="228600"/>
          </a:xfrm>
          <a:prstGeom prst="rect">
            <a:avLst/>
          </a:prstGeom>
          <a:noFill/>
        </p:spPr>
        <p:txBody>
          <a:bodyPr wrap="square">
            <a:spAutoFit/>
          </a:bodyPr>
          <a:lstStyle/>
          <a:p>
            <a:pPr algn="l">
              <a:defRPr sz="900" b="1">
                <a:solidFill>
                  <a:srgbClr val="C0392B"/>
                </a:solidFill>
                <a:latin typeface="Calibri"/>
              </a:defRPr>
            </a:pPr>
            <a:r>
              <a:t>Immediate SOC investigation</a:t>
            </a:r>
          </a:p>
        </p:txBody>
      </p:sp>
      <p:sp>
        <p:nvSpPr>
          <p:cNvPr id="36" name="TextBox 35"/>
          <p:cNvSpPr txBox="1"/>
          <p:nvPr/>
        </p:nvSpPr>
        <p:spPr>
          <a:xfrm>
            <a:off x="7498079" y="2240280"/>
            <a:ext cx="3749039" cy="320040"/>
          </a:xfrm>
          <a:prstGeom prst="rect">
            <a:avLst/>
          </a:prstGeom>
          <a:noFill/>
        </p:spPr>
        <p:txBody>
          <a:bodyPr wrap="square">
            <a:spAutoFit/>
          </a:bodyPr>
          <a:lstStyle/>
          <a:p>
            <a:pPr algn="l">
              <a:defRPr sz="850" b="0">
                <a:solidFill>
                  <a:srgbClr val="5A6878"/>
                </a:solidFill>
                <a:latin typeface="Calibri"/>
              </a:defRPr>
            </a:pPr>
            <a:r>
              <a:t>Multiple signals anomalous, CUSUM triggered, drift &gt; 0.15</a:t>
            </a:r>
          </a:p>
        </p:txBody>
      </p:sp>
      <p:sp>
        <p:nvSpPr>
          <p:cNvPr id="37" name="Rounded Rectangle 36"/>
          <p:cNvSpPr/>
          <p:nvPr/>
        </p:nvSpPr>
        <p:spPr>
          <a:xfrm>
            <a:off x="6400800" y="2633472"/>
            <a:ext cx="4937760" cy="868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400800" y="2679192"/>
            <a:ext cx="1005840" cy="77724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46520" y="2770632"/>
            <a:ext cx="914400" cy="365760"/>
          </a:xfrm>
          <a:prstGeom prst="rect">
            <a:avLst/>
          </a:prstGeom>
          <a:noFill/>
        </p:spPr>
        <p:txBody>
          <a:bodyPr wrap="square">
            <a:spAutoFit/>
          </a:bodyPr>
          <a:lstStyle/>
          <a:p>
            <a:pPr algn="ctr">
              <a:defRPr sz="1100" b="1">
                <a:solidFill>
                  <a:srgbClr val="FFFFFF"/>
                </a:solidFill>
                <a:latin typeface="Calibri"/>
              </a:defRPr>
            </a:pPr>
            <a:r>
              <a:t>HIGH</a:t>
            </a:r>
          </a:p>
        </p:txBody>
      </p:sp>
      <p:sp>
        <p:nvSpPr>
          <p:cNvPr id="40" name="TextBox 39"/>
          <p:cNvSpPr txBox="1"/>
          <p:nvPr/>
        </p:nvSpPr>
        <p:spPr>
          <a:xfrm>
            <a:off x="7498079" y="2679192"/>
            <a:ext cx="3749039" cy="228600"/>
          </a:xfrm>
          <a:prstGeom prst="rect">
            <a:avLst/>
          </a:prstGeom>
          <a:noFill/>
        </p:spPr>
        <p:txBody>
          <a:bodyPr wrap="square">
            <a:spAutoFit/>
          </a:bodyPr>
          <a:lstStyle/>
          <a:p>
            <a:pPr algn="l">
              <a:defRPr sz="900" b="1">
                <a:solidFill>
                  <a:srgbClr val="0B1F3A"/>
                </a:solidFill>
                <a:latin typeface="Cascadia Code"/>
              </a:defRPr>
            </a:pPr>
            <a:r>
              <a:t>Health &lt; 40 OR Velocity z &gt; 3</a:t>
            </a:r>
          </a:p>
        </p:txBody>
      </p:sp>
      <p:sp>
        <p:nvSpPr>
          <p:cNvPr id="41" name="TextBox 40"/>
          <p:cNvSpPr txBox="1"/>
          <p:nvPr/>
        </p:nvSpPr>
        <p:spPr>
          <a:xfrm>
            <a:off x="7498079" y="2907792"/>
            <a:ext cx="3749039" cy="228600"/>
          </a:xfrm>
          <a:prstGeom prst="rect">
            <a:avLst/>
          </a:prstGeom>
          <a:noFill/>
        </p:spPr>
        <p:txBody>
          <a:bodyPr wrap="square">
            <a:spAutoFit/>
          </a:bodyPr>
          <a:lstStyle/>
          <a:p>
            <a:pPr algn="l">
              <a:defRPr sz="900" b="1">
                <a:solidFill>
                  <a:srgbClr val="F26B1F"/>
                </a:solidFill>
                <a:latin typeface="Calibri"/>
              </a:defRPr>
            </a:pPr>
            <a:r>
              <a:t>Tier-2 triage in 15 min</a:t>
            </a:r>
          </a:p>
        </p:txBody>
      </p:sp>
      <p:sp>
        <p:nvSpPr>
          <p:cNvPr id="42" name="TextBox 41"/>
          <p:cNvSpPr txBox="1"/>
          <p:nvPr/>
        </p:nvSpPr>
        <p:spPr>
          <a:xfrm>
            <a:off x="7498079" y="3136392"/>
            <a:ext cx="3749039" cy="320040"/>
          </a:xfrm>
          <a:prstGeom prst="rect">
            <a:avLst/>
          </a:prstGeom>
          <a:noFill/>
        </p:spPr>
        <p:txBody>
          <a:bodyPr wrap="square">
            <a:spAutoFit/>
          </a:bodyPr>
          <a:lstStyle/>
          <a:p>
            <a:pPr algn="l">
              <a:defRPr sz="850" b="0">
                <a:solidFill>
                  <a:srgbClr val="5A6878"/>
                </a:solidFill>
                <a:latin typeface="Calibri"/>
              </a:defRPr>
            </a:pPr>
            <a:r>
              <a:t>Rapid behavioral divergence or composite health collapse</a:t>
            </a:r>
          </a:p>
        </p:txBody>
      </p:sp>
      <p:sp>
        <p:nvSpPr>
          <p:cNvPr id="43" name="Rounded Rectangle 42"/>
          <p:cNvSpPr/>
          <p:nvPr/>
        </p:nvSpPr>
        <p:spPr>
          <a:xfrm>
            <a:off x="6400800" y="3529584"/>
            <a:ext cx="4937760" cy="868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400800" y="3575304"/>
            <a:ext cx="1005840" cy="777240"/>
          </a:xfrm>
          <a:prstGeom prst="rect">
            <a:avLst/>
          </a:prstGeom>
          <a:solidFill>
            <a:srgbClr val="B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46520" y="3666744"/>
            <a:ext cx="914400" cy="365760"/>
          </a:xfrm>
          <a:prstGeom prst="rect">
            <a:avLst/>
          </a:prstGeom>
          <a:noFill/>
        </p:spPr>
        <p:txBody>
          <a:bodyPr wrap="square">
            <a:spAutoFit/>
          </a:bodyPr>
          <a:lstStyle/>
          <a:p>
            <a:pPr algn="ctr">
              <a:defRPr sz="1100" b="1">
                <a:solidFill>
                  <a:srgbClr val="FFFFFF"/>
                </a:solidFill>
                <a:latin typeface="Calibri"/>
              </a:defRPr>
            </a:pPr>
            <a:r>
              <a:t>MEDIUM</a:t>
            </a:r>
          </a:p>
        </p:txBody>
      </p:sp>
      <p:sp>
        <p:nvSpPr>
          <p:cNvPr id="46" name="TextBox 45"/>
          <p:cNvSpPr txBox="1"/>
          <p:nvPr/>
        </p:nvSpPr>
        <p:spPr>
          <a:xfrm>
            <a:off x="7498079" y="3575304"/>
            <a:ext cx="3749039" cy="228600"/>
          </a:xfrm>
          <a:prstGeom prst="rect">
            <a:avLst/>
          </a:prstGeom>
          <a:noFill/>
        </p:spPr>
        <p:txBody>
          <a:bodyPr wrap="square">
            <a:spAutoFit/>
          </a:bodyPr>
          <a:lstStyle/>
          <a:p>
            <a:pPr algn="l">
              <a:defRPr sz="900" b="1">
                <a:solidFill>
                  <a:srgbClr val="0B1F3A"/>
                </a:solidFill>
                <a:latin typeface="Cascadia Code"/>
              </a:defRPr>
            </a:pPr>
            <a:r>
              <a:t>Health &lt; 70 + change-point</a:t>
            </a:r>
          </a:p>
        </p:txBody>
      </p:sp>
      <p:sp>
        <p:nvSpPr>
          <p:cNvPr id="47" name="TextBox 46"/>
          <p:cNvSpPr txBox="1"/>
          <p:nvPr/>
        </p:nvSpPr>
        <p:spPr>
          <a:xfrm>
            <a:off x="7498079" y="3803904"/>
            <a:ext cx="3749039" cy="228600"/>
          </a:xfrm>
          <a:prstGeom prst="rect">
            <a:avLst/>
          </a:prstGeom>
          <a:noFill/>
        </p:spPr>
        <p:txBody>
          <a:bodyPr wrap="square">
            <a:spAutoFit/>
          </a:bodyPr>
          <a:lstStyle/>
          <a:p>
            <a:pPr algn="l">
              <a:defRPr sz="900" b="1">
                <a:solidFill>
                  <a:srgbClr val="B8862A"/>
                </a:solidFill>
                <a:latin typeface="Calibri"/>
              </a:defRPr>
            </a:pPr>
            <a:r>
              <a:t>Tier-1 review in 1 hour</a:t>
            </a:r>
          </a:p>
        </p:txBody>
      </p:sp>
      <p:sp>
        <p:nvSpPr>
          <p:cNvPr id="48" name="TextBox 47"/>
          <p:cNvSpPr txBox="1"/>
          <p:nvPr/>
        </p:nvSpPr>
        <p:spPr>
          <a:xfrm>
            <a:off x="7498079" y="4032504"/>
            <a:ext cx="3749039" cy="320040"/>
          </a:xfrm>
          <a:prstGeom prst="rect">
            <a:avLst/>
          </a:prstGeom>
          <a:noFill/>
        </p:spPr>
        <p:txBody>
          <a:bodyPr wrap="square">
            <a:spAutoFit/>
          </a:bodyPr>
          <a:lstStyle/>
          <a:p>
            <a:pPr algn="l">
              <a:defRPr sz="850" b="0">
                <a:solidFill>
                  <a:srgbClr val="5A6878"/>
                </a:solidFill>
                <a:latin typeface="Calibri"/>
              </a:defRPr>
            </a:pPr>
            <a:r>
              <a:t>Recent structural shift detected but not yet severe</a:t>
            </a:r>
          </a:p>
        </p:txBody>
      </p:sp>
      <p:sp>
        <p:nvSpPr>
          <p:cNvPr id="49" name="Rounded Rectangle 48"/>
          <p:cNvSpPr/>
          <p:nvPr/>
        </p:nvSpPr>
        <p:spPr>
          <a:xfrm>
            <a:off x="6400800" y="4425696"/>
            <a:ext cx="4937760" cy="868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400800" y="4471416"/>
            <a:ext cx="1005840" cy="7772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46520" y="4562856"/>
            <a:ext cx="914400" cy="365760"/>
          </a:xfrm>
          <a:prstGeom prst="rect">
            <a:avLst/>
          </a:prstGeom>
          <a:noFill/>
        </p:spPr>
        <p:txBody>
          <a:bodyPr wrap="square">
            <a:spAutoFit/>
          </a:bodyPr>
          <a:lstStyle/>
          <a:p>
            <a:pPr algn="ctr">
              <a:defRPr sz="1100" b="1">
                <a:solidFill>
                  <a:srgbClr val="FFFFFF"/>
                </a:solidFill>
                <a:latin typeface="Calibri"/>
              </a:defRPr>
            </a:pPr>
            <a:r>
              <a:t>LOW</a:t>
            </a:r>
          </a:p>
        </p:txBody>
      </p:sp>
      <p:sp>
        <p:nvSpPr>
          <p:cNvPr id="52" name="TextBox 51"/>
          <p:cNvSpPr txBox="1"/>
          <p:nvPr/>
        </p:nvSpPr>
        <p:spPr>
          <a:xfrm>
            <a:off x="7498079" y="4471416"/>
            <a:ext cx="3749039" cy="228600"/>
          </a:xfrm>
          <a:prstGeom prst="rect">
            <a:avLst/>
          </a:prstGeom>
          <a:noFill/>
        </p:spPr>
        <p:txBody>
          <a:bodyPr wrap="square">
            <a:spAutoFit/>
          </a:bodyPr>
          <a:lstStyle/>
          <a:p>
            <a:pPr algn="l">
              <a:defRPr sz="900" b="1">
                <a:solidFill>
                  <a:srgbClr val="0B1F3A"/>
                </a:solidFill>
                <a:latin typeface="Cascadia Code"/>
              </a:defRPr>
            </a:pPr>
            <a:r>
              <a:t>Health 70-85 AND cohort z &gt; 2</a:t>
            </a:r>
          </a:p>
        </p:txBody>
      </p:sp>
      <p:sp>
        <p:nvSpPr>
          <p:cNvPr id="53" name="TextBox 52"/>
          <p:cNvSpPr txBox="1"/>
          <p:nvPr/>
        </p:nvSpPr>
        <p:spPr>
          <a:xfrm>
            <a:off x="7498079" y="4700016"/>
            <a:ext cx="3749039" cy="228600"/>
          </a:xfrm>
          <a:prstGeom prst="rect">
            <a:avLst/>
          </a:prstGeom>
          <a:noFill/>
        </p:spPr>
        <p:txBody>
          <a:bodyPr wrap="square">
            <a:spAutoFit/>
          </a:bodyPr>
          <a:lstStyle/>
          <a:p>
            <a:pPr algn="l">
              <a:defRPr sz="900" b="1">
                <a:solidFill>
                  <a:srgbClr val="0891B2"/>
                </a:solidFill>
                <a:latin typeface="Calibri"/>
              </a:defRPr>
            </a:pPr>
            <a:r>
              <a:t>Watchlist; auto-enrich</a:t>
            </a:r>
          </a:p>
        </p:txBody>
      </p:sp>
      <p:sp>
        <p:nvSpPr>
          <p:cNvPr id="54" name="TextBox 53"/>
          <p:cNvSpPr txBox="1"/>
          <p:nvPr/>
        </p:nvSpPr>
        <p:spPr>
          <a:xfrm>
            <a:off x="7498079" y="4928616"/>
            <a:ext cx="3749039" cy="320040"/>
          </a:xfrm>
          <a:prstGeom prst="rect">
            <a:avLst/>
          </a:prstGeom>
          <a:noFill/>
        </p:spPr>
        <p:txBody>
          <a:bodyPr wrap="square">
            <a:spAutoFit/>
          </a:bodyPr>
          <a:lstStyle/>
          <a:p>
            <a:pPr algn="l">
              <a:defRPr sz="850" b="0">
                <a:solidFill>
                  <a:srgbClr val="5A6878"/>
                </a:solidFill>
                <a:latin typeface="Calibri"/>
              </a:defRPr>
            </a:pPr>
            <a:r>
              <a:t>Peer outlier but within normal drift range</a:t>
            </a:r>
          </a:p>
        </p:txBody>
      </p:sp>
      <p:sp>
        <p:nvSpPr>
          <p:cNvPr id="55" name="Rounded Rectangle 54"/>
          <p:cNvSpPr/>
          <p:nvPr/>
        </p:nvSpPr>
        <p:spPr>
          <a:xfrm>
            <a:off x="6400800" y="5321808"/>
            <a:ext cx="4937760" cy="8686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400800" y="5367528"/>
            <a:ext cx="1005840" cy="777240"/>
          </a:xfrm>
          <a:prstGeom prst="rect">
            <a:avLst/>
          </a:prstGeom>
          <a:solidFill>
            <a:srgbClr val="5A6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446520" y="5458968"/>
            <a:ext cx="914400" cy="365760"/>
          </a:xfrm>
          <a:prstGeom prst="rect">
            <a:avLst/>
          </a:prstGeom>
          <a:noFill/>
        </p:spPr>
        <p:txBody>
          <a:bodyPr wrap="square">
            <a:spAutoFit/>
          </a:bodyPr>
          <a:lstStyle/>
          <a:p>
            <a:pPr algn="ctr">
              <a:defRPr sz="1100" b="1">
                <a:solidFill>
                  <a:srgbClr val="FFFFFF"/>
                </a:solidFill>
                <a:latin typeface="Calibri"/>
              </a:defRPr>
            </a:pPr>
            <a:r>
              <a:t>INFO</a:t>
            </a:r>
          </a:p>
        </p:txBody>
      </p:sp>
      <p:sp>
        <p:nvSpPr>
          <p:cNvPr id="58" name="TextBox 57"/>
          <p:cNvSpPr txBox="1"/>
          <p:nvPr/>
        </p:nvSpPr>
        <p:spPr>
          <a:xfrm>
            <a:off x="7498079" y="5367528"/>
            <a:ext cx="3749039" cy="228600"/>
          </a:xfrm>
          <a:prstGeom prst="rect">
            <a:avLst/>
          </a:prstGeom>
          <a:noFill/>
        </p:spPr>
        <p:txBody>
          <a:bodyPr wrap="square">
            <a:spAutoFit/>
          </a:bodyPr>
          <a:lstStyle/>
          <a:p>
            <a:pPr algn="l">
              <a:defRPr sz="900" b="1">
                <a:solidFill>
                  <a:srgbClr val="0B1F3A"/>
                </a:solidFill>
                <a:latin typeface="Cascadia Code"/>
              </a:defRPr>
            </a:pPr>
            <a:r>
              <a:t>Any CUSUM trigger (4-sigma)</a:t>
            </a:r>
          </a:p>
        </p:txBody>
      </p:sp>
      <p:sp>
        <p:nvSpPr>
          <p:cNvPr id="59" name="TextBox 58"/>
          <p:cNvSpPr txBox="1"/>
          <p:nvPr/>
        </p:nvSpPr>
        <p:spPr>
          <a:xfrm>
            <a:off x="7498079" y="5596128"/>
            <a:ext cx="3749039" cy="228600"/>
          </a:xfrm>
          <a:prstGeom prst="rect">
            <a:avLst/>
          </a:prstGeom>
          <a:noFill/>
        </p:spPr>
        <p:txBody>
          <a:bodyPr wrap="square">
            <a:spAutoFit/>
          </a:bodyPr>
          <a:lstStyle/>
          <a:p>
            <a:pPr algn="l">
              <a:defRPr sz="900" b="1">
                <a:solidFill>
                  <a:srgbClr val="5A6878"/>
                </a:solidFill>
                <a:latin typeface="Calibri"/>
              </a:defRPr>
            </a:pPr>
            <a:r>
              <a:t>Log for trend analysis</a:t>
            </a:r>
          </a:p>
        </p:txBody>
      </p:sp>
      <p:sp>
        <p:nvSpPr>
          <p:cNvPr id="60" name="TextBox 59"/>
          <p:cNvSpPr txBox="1"/>
          <p:nvPr/>
        </p:nvSpPr>
        <p:spPr>
          <a:xfrm>
            <a:off x="7498079" y="5824728"/>
            <a:ext cx="3749039" cy="320040"/>
          </a:xfrm>
          <a:prstGeom prst="rect">
            <a:avLst/>
          </a:prstGeom>
          <a:noFill/>
        </p:spPr>
        <p:txBody>
          <a:bodyPr wrap="square">
            <a:spAutoFit/>
          </a:bodyPr>
          <a:lstStyle/>
          <a:p>
            <a:pPr algn="l">
              <a:defRPr sz="850" b="0">
                <a:solidFill>
                  <a:srgbClr val="5A6878"/>
                </a:solidFill>
                <a:latin typeface="Calibri"/>
              </a:defRPr>
            </a:pPr>
            <a:r>
              <a:t>Structural change; may be benign (role change, new project)</a:t>
            </a:r>
          </a:p>
        </p:txBody>
      </p:sp>
      <p:sp>
        <p:nvSpPr>
          <p:cNvPr id="61" name="Rectangle 60"/>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Analyst TP/FP feedback per alert feeds back as labeled data -&gt; threshold auto-tuning + ABAC trust tags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LAYER 2 -- ACECARD UEBA -- ABAC</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ABAC Trust State Machine: Detection to Enforcement in &lt;5 Minutes</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Not binary lockout. Graduated, reversible, proportional response with analyst feedback loop.</a:t>
            </a:r>
          </a:p>
        </p:txBody>
      </p:sp>
      <p:sp>
        <p:nvSpPr>
          <p:cNvPr id="6" name="Rectangle 5"/>
          <p:cNvSpPr/>
          <p:nvPr/>
        </p:nvSpPr>
        <p:spPr>
          <a:xfrm>
            <a:off x="457200" y="1280160"/>
            <a:ext cx="1106424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298448"/>
            <a:ext cx="10698480" cy="274320"/>
          </a:xfrm>
          <a:prstGeom prst="rect">
            <a:avLst/>
          </a:prstGeom>
          <a:noFill/>
        </p:spPr>
        <p:txBody>
          <a:bodyPr wrap="square">
            <a:spAutoFit/>
          </a:bodyPr>
          <a:lstStyle/>
          <a:p>
            <a:pPr algn="ctr">
              <a:defRPr sz="1100" b="1">
                <a:solidFill>
                  <a:srgbClr val="FFFFFF"/>
                </a:solidFill>
                <a:latin typeface="Calibri"/>
              </a:defRPr>
            </a:pPr>
            <a:r>
              <a:t>THE LOOP -- closes in &lt;5 minutes from TP/FP click to ABAC tag update</a:t>
            </a:r>
          </a:p>
        </p:txBody>
      </p:sp>
      <p:sp>
        <p:nvSpPr>
          <p:cNvPr id="8" name="Rounded Rectangle 7"/>
          <p:cNvSpPr/>
          <p:nvPr/>
        </p:nvSpPr>
        <p:spPr>
          <a:xfrm>
            <a:off x="457200" y="1737360"/>
            <a:ext cx="1737360" cy="1097280"/>
          </a:xfrm>
          <a:prstGeom prst="roundRect">
            <a:avLst/>
          </a:prstGeom>
          <a:solidFill>
            <a:srgbClr val="F7F8FA"/>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783080"/>
            <a:ext cx="32004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0352" y="1801368"/>
            <a:ext cx="274320" cy="274320"/>
          </a:xfrm>
          <a:prstGeom prst="rect">
            <a:avLst/>
          </a:prstGeom>
          <a:noFill/>
        </p:spPr>
        <p:txBody>
          <a:bodyPr wrap="square">
            <a:spAutoFit/>
          </a:bodyPr>
          <a:lstStyle/>
          <a:p>
            <a:pPr algn="ctr">
              <a:defRPr sz="1400" b="1">
                <a:solidFill>
                  <a:srgbClr val="FFFFFF"/>
                </a:solidFill>
                <a:latin typeface="Calibri"/>
              </a:defRPr>
            </a:pPr>
            <a:r>
              <a:t>1</a:t>
            </a:r>
          </a:p>
        </p:txBody>
      </p:sp>
      <p:sp>
        <p:nvSpPr>
          <p:cNvPr id="11" name="TextBox 10"/>
          <p:cNvSpPr txBox="1"/>
          <p:nvPr/>
        </p:nvSpPr>
        <p:spPr>
          <a:xfrm>
            <a:off x="868680" y="1801368"/>
            <a:ext cx="1188720" cy="274320"/>
          </a:xfrm>
          <a:prstGeom prst="rect">
            <a:avLst/>
          </a:prstGeom>
          <a:noFill/>
        </p:spPr>
        <p:txBody>
          <a:bodyPr wrap="square">
            <a:spAutoFit/>
          </a:bodyPr>
          <a:lstStyle/>
          <a:p>
            <a:pPr algn="l">
              <a:defRPr sz="1000" b="1">
                <a:solidFill>
                  <a:srgbClr val="0B1F3A"/>
                </a:solidFill>
                <a:latin typeface="Calibri"/>
              </a:defRPr>
            </a:pPr>
            <a:r>
              <a:t>ALERT</a:t>
            </a:r>
          </a:p>
        </p:txBody>
      </p:sp>
      <p:sp>
        <p:nvSpPr>
          <p:cNvPr id="12" name="TextBox 11"/>
          <p:cNvSpPr txBox="1"/>
          <p:nvPr/>
        </p:nvSpPr>
        <p:spPr>
          <a:xfrm>
            <a:off x="868680" y="2148840"/>
            <a:ext cx="1188720" cy="548640"/>
          </a:xfrm>
          <a:prstGeom prst="rect">
            <a:avLst/>
          </a:prstGeom>
          <a:noFill/>
        </p:spPr>
        <p:txBody>
          <a:bodyPr wrap="square">
            <a:spAutoFit/>
          </a:bodyPr>
          <a:lstStyle/>
          <a:p>
            <a:pPr algn="l">
              <a:defRPr sz="850" b="0">
                <a:solidFill>
                  <a:srgbClr val="2D3748"/>
                </a:solidFill>
                <a:latin typeface="Calibri"/>
              </a:defRPr>
            </a:pPr>
            <a:r>
              <a:t>CUSUM/health</a:t>
            </a:r>
            <a:br/>
            <a:r>
              <a:t>triggers alert</a:t>
            </a:r>
          </a:p>
        </p:txBody>
      </p:sp>
      <p:sp>
        <p:nvSpPr>
          <p:cNvPr id="13" name="Rounded Rectangle 12"/>
          <p:cNvSpPr/>
          <p:nvPr/>
        </p:nvSpPr>
        <p:spPr>
          <a:xfrm>
            <a:off x="2286000" y="1737360"/>
            <a:ext cx="1737360" cy="1097280"/>
          </a:xfrm>
          <a:prstGeom prst="roundRect">
            <a:avLst/>
          </a:prstGeom>
          <a:solidFill>
            <a:srgbClr val="F7F8FA"/>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331720" y="1783080"/>
            <a:ext cx="32004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59152" y="1801368"/>
            <a:ext cx="274320" cy="274320"/>
          </a:xfrm>
          <a:prstGeom prst="rect">
            <a:avLst/>
          </a:prstGeom>
          <a:noFill/>
        </p:spPr>
        <p:txBody>
          <a:bodyPr wrap="square">
            <a:spAutoFit/>
          </a:bodyPr>
          <a:lstStyle/>
          <a:p>
            <a:pPr algn="ctr">
              <a:defRPr sz="1400" b="1">
                <a:solidFill>
                  <a:srgbClr val="FFFFFF"/>
                </a:solidFill>
                <a:latin typeface="Calibri"/>
              </a:defRPr>
            </a:pPr>
            <a:r>
              <a:t>2</a:t>
            </a:r>
          </a:p>
        </p:txBody>
      </p:sp>
      <p:sp>
        <p:nvSpPr>
          <p:cNvPr id="16" name="TextBox 15"/>
          <p:cNvSpPr txBox="1"/>
          <p:nvPr/>
        </p:nvSpPr>
        <p:spPr>
          <a:xfrm>
            <a:off x="2697480" y="1801368"/>
            <a:ext cx="1188720" cy="274320"/>
          </a:xfrm>
          <a:prstGeom prst="rect">
            <a:avLst/>
          </a:prstGeom>
          <a:noFill/>
        </p:spPr>
        <p:txBody>
          <a:bodyPr wrap="square">
            <a:spAutoFit/>
          </a:bodyPr>
          <a:lstStyle/>
          <a:p>
            <a:pPr algn="l">
              <a:defRPr sz="1000" b="1">
                <a:solidFill>
                  <a:srgbClr val="0B1F3A"/>
                </a:solidFill>
                <a:latin typeface="Calibri"/>
              </a:defRPr>
            </a:pPr>
            <a:r>
              <a:t>TRIAGE</a:t>
            </a:r>
          </a:p>
        </p:txBody>
      </p:sp>
      <p:sp>
        <p:nvSpPr>
          <p:cNvPr id="17" name="TextBox 16"/>
          <p:cNvSpPr txBox="1"/>
          <p:nvPr/>
        </p:nvSpPr>
        <p:spPr>
          <a:xfrm>
            <a:off x="2697480" y="2148840"/>
            <a:ext cx="1188720" cy="548640"/>
          </a:xfrm>
          <a:prstGeom prst="rect">
            <a:avLst/>
          </a:prstGeom>
          <a:noFill/>
        </p:spPr>
        <p:txBody>
          <a:bodyPr wrap="square">
            <a:spAutoFit/>
          </a:bodyPr>
          <a:lstStyle/>
          <a:p>
            <a:pPr algn="l">
              <a:defRPr sz="850" b="0">
                <a:solidFill>
                  <a:srgbClr val="2D3748"/>
                </a:solidFill>
                <a:latin typeface="Calibri"/>
              </a:defRPr>
            </a:pPr>
            <a:r>
              <a:t>Analyst reviews</a:t>
            </a:r>
            <a:br/>
            <a:r>
              <a:t>7-chart dashboard</a:t>
            </a:r>
          </a:p>
        </p:txBody>
      </p:sp>
      <p:sp>
        <p:nvSpPr>
          <p:cNvPr id="18" name="Rounded Rectangle 17"/>
          <p:cNvSpPr/>
          <p:nvPr/>
        </p:nvSpPr>
        <p:spPr>
          <a:xfrm>
            <a:off x="4114800" y="1737360"/>
            <a:ext cx="1737360" cy="1097280"/>
          </a:xfrm>
          <a:prstGeom prst="roundRect">
            <a:avLst/>
          </a:prstGeom>
          <a:solidFill>
            <a:srgbClr val="F7F8FA"/>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160520" y="1783080"/>
            <a:ext cx="32004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87952" y="1801368"/>
            <a:ext cx="274320" cy="274320"/>
          </a:xfrm>
          <a:prstGeom prst="rect">
            <a:avLst/>
          </a:prstGeom>
          <a:noFill/>
        </p:spPr>
        <p:txBody>
          <a:bodyPr wrap="square">
            <a:spAutoFit/>
          </a:bodyPr>
          <a:lstStyle/>
          <a:p>
            <a:pPr algn="ctr">
              <a:defRPr sz="1400" b="1">
                <a:solidFill>
                  <a:srgbClr val="FFFFFF"/>
                </a:solidFill>
                <a:latin typeface="Calibri"/>
              </a:defRPr>
            </a:pPr>
            <a:r>
              <a:t>3</a:t>
            </a:r>
          </a:p>
        </p:txBody>
      </p:sp>
      <p:sp>
        <p:nvSpPr>
          <p:cNvPr id="21" name="TextBox 20"/>
          <p:cNvSpPr txBox="1"/>
          <p:nvPr/>
        </p:nvSpPr>
        <p:spPr>
          <a:xfrm>
            <a:off x="4526280" y="1801368"/>
            <a:ext cx="1188720" cy="274320"/>
          </a:xfrm>
          <a:prstGeom prst="rect">
            <a:avLst/>
          </a:prstGeom>
          <a:noFill/>
        </p:spPr>
        <p:txBody>
          <a:bodyPr wrap="square">
            <a:spAutoFit/>
          </a:bodyPr>
          <a:lstStyle/>
          <a:p>
            <a:pPr algn="l">
              <a:defRPr sz="1000" b="1">
                <a:solidFill>
                  <a:srgbClr val="0B1F3A"/>
                </a:solidFill>
                <a:latin typeface="Calibri"/>
              </a:defRPr>
            </a:pPr>
            <a:r>
              <a:t>VERDICT</a:t>
            </a:r>
          </a:p>
        </p:txBody>
      </p:sp>
      <p:sp>
        <p:nvSpPr>
          <p:cNvPr id="22" name="TextBox 21"/>
          <p:cNvSpPr txBox="1"/>
          <p:nvPr/>
        </p:nvSpPr>
        <p:spPr>
          <a:xfrm>
            <a:off x="4526280" y="2148840"/>
            <a:ext cx="1188720" cy="548640"/>
          </a:xfrm>
          <a:prstGeom prst="rect">
            <a:avLst/>
          </a:prstGeom>
          <a:noFill/>
        </p:spPr>
        <p:txBody>
          <a:bodyPr wrap="square">
            <a:spAutoFit/>
          </a:bodyPr>
          <a:lstStyle/>
          <a:p>
            <a:pPr algn="l">
              <a:defRPr sz="850" b="0">
                <a:solidFill>
                  <a:srgbClr val="2D3748"/>
                </a:solidFill>
                <a:latin typeface="Calibri"/>
              </a:defRPr>
            </a:pPr>
            <a:r>
              <a:t>Analyst marks</a:t>
            </a:r>
            <a:br/>
            <a:r>
              <a:t>TP or FP</a:t>
            </a:r>
          </a:p>
        </p:txBody>
      </p:sp>
      <p:sp>
        <p:nvSpPr>
          <p:cNvPr id="23" name="Rounded Rectangle 22"/>
          <p:cNvSpPr/>
          <p:nvPr/>
        </p:nvSpPr>
        <p:spPr>
          <a:xfrm>
            <a:off x="5943600" y="1737360"/>
            <a:ext cx="1737360" cy="1097280"/>
          </a:xfrm>
          <a:prstGeom prst="roundRect">
            <a:avLst/>
          </a:prstGeom>
          <a:solidFill>
            <a:srgbClr val="F7F8FA"/>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989320" y="1783080"/>
            <a:ext cx="32004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016752" y="1801368"/>
            <a:ext cx="274320" cy="274320"/>
          </a:xfrm>
          <a:prstGeom prst="rect">
            <a:avLst/>
          </a:prstGeom>
          <a:noFill/>
        </p:spPr>
        <p:txBody>
          <a:bodyPr wrap="square">
            <a:spAutoFit/>
          </a:bodyPr>
          <a:lstStyle/>
          <a:p>
            <a:pPr algn="ctr">
              <a:defRPr sz="1400" b="1">
                <a:solidFill>
                  <a:srgbClr val="FFFFFF"/>
                </a:solidFill>
                <a:latin typeface="Calibri"/>
              </a:defRPr>
            </a:pPr>
            <a:r>
              <a:t>4</a:t>
            </a:r>
          </a:p>
        </p:txBody>
      </p:sp>
      <p:sp>
        <p:nvSpPr>
          <p:cNvPr id="26" name="TextBox 25"/>
          <p:cNvSpPr txBox="1"/>
          <p:nvPr/>
        </p:nvSpPr>
        <p:spPr>
          <a:xfrm>
            <a:off x="6355080" y="1801368"/>
            <a:ext cx="1188720" cy="274320"/>
          </a:xfrm>
          <a:prstGeom prst="rect">
            <a:avLst/>
          </a:prstGeom>
          <a:noFill/>
        </p:spPr>
        <p:txBody>
          <a:bodyPr wrap="square">
            <a:spAutoFit/>
          </a:bodyPr>
          <a:lstStyle/>
          <a:p>
            <a:pPr algn="l">
              <a:defRPr sz="1000" b="1">
                <a:solidFill>
                  <a:srgbClr val="0B1F3A"/>
                </a:solidFill>
                <a:latin typeface="Calibri"/>
              </a:defRPr>
            </a:pPr>
            <a:r>
              <a:t>LEARN</a:t>
            </a:r>
          </a:p>
        </p:txBody>
      </p:sp>
      <p:sp>
        <p:nvSpPr>
          <p:cNvPr id="27" name="TextBox 26"/>
          <p:cNvSpPr txBox="1"/>
          <p:nvPr/>
        </p:nvSpPr>
        <p:spPr>
          <a:xfrm>
            <a:off x="6355080" y="2148840"/>
            <a:ext cx="1188720" cy="548640"/>
          </a:xfrm>
          <a:prstGeom prst="rect">
            <a:avLst/>
          </a:prstGeom>
          <a:noFill/>
        </p:spPr>
        <p:txBody>
          <a:bodyPr wrap="square">
            <a:spAutoFit/>
          </a:bodyPr>
          <a:lstStyle/>
          <a:p>
            <a:pPr algn="l">
              <a:defRPr sz="850" b="0">
                <a:solidFill>
                  <a:srgbClr val="2D3748"/>
                </a:solidFill>
                <a:latin typeface="Calibri"/>
              </a:defRPr>
            </a:pPr>
            <a:r>
              <a:t>Labeled data feeds</a:t>
            </a:r>
            <a:br/>
            <a:r>
              <a:t>threshold tuning</a:t>
            </a:r>
          </a:p>
        </p:txBody>
      </p:sp>
      <p:sp>
        <p:nvSpPr>
          <p:cNvPr id="28" name="Rounded Rectangle 27"/>
          <p:cNvSpPr/>
          <p:nvPr/>
        </p:nvSpPr>
        <p:spPr>
          <a:xfrm>
            <a:off x="7772400" y="1737360"/>
            <a:ext cx="1737360" cy="1097280"/>
          </a:xfrm>
          <a:prstGeom prst="roundRect">
            <a:avLst/>
          </a:prstGeom>
          <a:solidFill>
            <a:srgbClr val="F7F8FA"/>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818120" y="1783080"/>
            <a:ext cx="32004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845552" y="1801368"/>
            <a:ext cx="274320" cy="274320"/>
          </a:xfrm>
          <a:prstGeom prst="rect">
            <a:avLst/>
          </a:prstGeom>
          <a:noFill/>
        </p:spPr>
        <p:txBody>
          <a:bodyPr wrap="square">
            <a:spAutoFit/>
          </a:bodyPr>
          <a:lstStyle/>
          <a:p>
            <a:pPr algn="ctr">
              <a:defRPr sz="1400" b="1">
                <a:solidFill>
                  <a:srgbClr val="FFFFFF"/>
                </a:solidFill>
                <a:latin typeface="Calibri"/>
              </a:defRPr>
            </a:pPr>
            <a:r>
              <a:t>5</a:t>
            </a:r>
          </a:p>
        </p:txBody>
      </p:sp>
      <p:sp>
        <p:nvSpPr>
          <p:cNvPr id="31" name="TextBox 30"/>
          <p:cNvSpPr txBox="1"/>
          <p:nvPr/>
        </p:nvSpPr>
        <p:spPr>
          <a:xfrm>
            <a:off x="8183880" y="1801368"/>
            <a:ext cx="1188720" cy="274320"/>
          </a:xfrm>
          <a:prstGeom prst="rect">
            <a:avLst/>
          </a:prstGeom>
          <a:noFill/>
        </p:spPr>
        <p:txBody>
          <a:bodyPr wrap="square">
            <a:spAutoFit/>
          </a:bodyPr>
          <a:lstStyle/>
          <a:p>
            <a:pPr algn="l">
              <a:defRPr sz="1000" b="1">
                <a:solidFill>
                  <a:srgbClr val="0B1F3A"/>
                </a:solidFill>
                <a:latin typeface="Calibri"/>
              </a:defRPr>
            </a:pPr>
            <a:r>
              <a:t>TAG</a:t>
            </a:r>
          </a:p>
        </p:txBody>
      </p:sp>
      <p:sp>
        <p:nvSpPr>
          <p:cNvPr id="32" name="TextBox 31"/>
          <p:cNvSpPr txBox="1"/>
          <p:nvPr/>
        </p:nvSpPr>
        <p:spPr>
          <a:xfrm>
            <a:off x="8183880" y="2148840"/>
            <a:ext cx="1188720" cy="548640"/>
          </a:xfrm>
          <a:prstGeom prst="rect">
            <a:avLst/>
          </a:prstGeom>
          <a:noFill/>
        </p:spPr>
        <p:txBody>
          <a:bodyPr wrap="square">
            <a:spAutoFit/>
          </a:bodyPr>
          <a:lstStyle/>
          <a:p>
            <a:pPr algn="l">
              <a:defRPr sz="850" b="0">
                <a:solidFill>
                  <a:srgbClr val="2D3748"/>
                </a:solidFill>
                <a:latin typeface="Calibri"/>
              </a:defRPr>
            </a:pPr>
            <a:r>
              <a:t>Entity trust state</a:t>
            </a:r>
            <a:br/>
            <a:r>
              <a:t>updated in ABAC</a:t>
            </a:r>
          </a:p>
        </p:txBody>
      </p:sp>
      <p:sp>
        <p:nvSpPr>
          <p:cNvPr id="33" name="Rounded Rectangle 32"/>
          <p:cNvSpPr/>
          <p:nvPr/>
        </p:nvSpPr>
        <p:spPr>
          <a:xfrm>
            <a:off x="9601200" y="1737360"/>
            <a:ext cx="1737360" cy="1097280"/>
          </a:xfrm>
          <a:prstGeom prst="roundRect">
            <a:avLst/>
          </a:prstGeom>
          <a:solidFill>
            <a:srgbClr val="F7F8FA"/>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646920" y="1783080"/>
            <a:ext cx="32004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74352" y="1801368"/>
            <a:ext cx="274320" cy="274320"/>
          </a:xfrm>
          <a:prstGeom prst="rect">
            <a:avLst/>
          </a:prstGeom>
          <a:noFill/>
        </p:spPr>
        <p:txBody>
          <a:bodyPr wrap="square">
            <a:spAutoFit/>
          </a:bodyPr>
          <a:lstStyle/>
          <a:p>
            <a:pPr algn="ctr">
              <a:defRPr sz="1400" b="1">
                <a:solidFill>
                  <a:srgbClr val="FFFFFF"/>
                </a:solidFill>
                <a:latin typeface="Calibri"/>
              </a:defRPr>
            </a:pPr>
            <a:r>
              <a:t>6</a:t>
            </a:r>
          </a:p>
        </p:txBody>
      </p:sp>
      <p:sp>
        <p:nvSpPr>
          <p:cNvPr id="36" name="TextBox 35"/>
          <p:cNvSpPr txBox="1"/>
          <p:nvPr/>
        </p:nvSpPr>
        <p:spPr>
          <a:xfrm>
            <a:off x="10012680" y="1801368"/>
            <a:ext cx="1188720" cy="274320"/>
          </a:xfrm>
          <a:prstGeom prst="rect">
            <a:avLst/>
          </a:prstGeom>
          <a:noFill/>
        </p:spPr>
        <p:txBody>
          <a:bodyPr wrap="square">
            <a:spAutoFit/>
          </a:bodyPr>
          <a:lstStyle/>
          <a:p>
            <a:pPr algn="l">
              <a:defRPr sz="1000" b="1">
                <a:solidFill>
                  <a:srgbClr val="0B1F3A"/>
                </a:solidFill>
                <a:latin typeface="Calibri"/>
              </a:defRPr>
            </a:pPr>
            <a:r>
              <a:t>ENFORCE</a:t>
            </a:r>
          </a:p>
        </p:txBody>
      </p:sp>
      <p:sp>
        <p:nvSpPr>
          <p:cNvPr id="37" name="TextBox 36"/>
          <p:cNvSpPr txBox="1"/>
          <p:nvPr/>
        </p:nvSpPr>
        <p:spPr>
          <a:xfrm>
            <a:off x="10012680" y="2148840"/>
            <a:ext cx="1188720" cy="548640"/>
          </a:xfrm>
          <a:prstGeom prst="rect">
            <a:avLst/>
          </a:prstGeom>
          <a:noFill/>
        </p:spPr>
        <p:txBody>
          <a:bodyPr wrap="square">
            <a:spAutoFit/>
          </a:bodyPr>
          <a:lstStyle/>
          <a:p>
            <a:pPr algn="l">
              <a:defRPr sz="850" b="0">
                <a:solidFill>
                  <a:srgbClr val="2D3748"/>
                </a:solidFill>
                <a:latin typeface="Calibri"/>
              </a:defRPr>
            </a:pPr>
            <a:r>
              <a:t>ABAC adjusts:</a:t>
            </a:r>
            <a:br/>
            <a:r>
              <a:t>MFA, restrict, block</a:t>
            </a:r>
          </a:p>
        </p:txBody>
      </p:sp>
      <p:sp>
        <p:nvSpPr>
          <p:cNvPr id="38" name="TextBox 37"/>
          <p:cNvSpPr txBox="1"/>
          <p:nvPr/>
        </p:nvSpPr>
        <p:spPr>
          <a:xfrm>
            <a:off x="457200" y="3017520"/>
            <a:ext cx="11064240" cy="274320"/>
          </a:xfrm>
          <a:prstGeom prst="rect">
            <a:avLst/>
          </a:prstGeom>
          <a:noFill/>
        </p:spPr>
        <p:txBody>
          <a:bodyPr wrap="square">
            <a:spAutoFit/>
          </a:bodyPr>
          <a:lstStyle/>
          <a:p>
            <a:pPr algn="l">
              <a:defRPr sz="1200" b="1">
                <a:solidFill>
                  <a:srgbClr val="0B1F3A"/>
                </a:solidFill>
                <a:latin typeface="Calibri"/>
              </a:defRPr>
            </a:pPr>
            <a:r>
              <a:t>ABAC TRUST STATES -- proportional response, not binary</a:t>
            </a:r>
          </a:p>
        </p:txBody>
      </p:sp>
      <p:sp>
        <p:nvSpPr>
          <p:cNvPr id="39" name="Rounded Rectangle 38"/>
          <p:cNvSpPr/>
          <p:nvPr/>
        </p:nvSpPr>
        <p:spPr>
          <a:xfrm>
            <a:off x="457200" y="3383280"/>
            <a:ext cx="11064240" cy="6400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57200" y="3474720"/>
            <a:ext cx="2103120"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02920" y="3493008"/>
            <a:ext cx="2011680" cy="237744"/>
          </a:xfrm>
          <a:prstGeom prst="rect">
            <a:avLst/>
          </a:prstGeom>
          <a:noFill/>
        </p:spPr>
        <p:txBody>
          <a:bodyPr wrap="square">
            <a:spAutoFit/>
          </a:bodyPr>
          <a:lstStyle/>
          <a:p>
            <a:pPr algn="ctr">
              <a:defRPr sz="1100" b="1">
                <a:solidFill>
                  <a:srgbClr val="FFFFFF"/>
                </a:solidFill>
                <a:latin typeface="Calibri"/>
              </a:defRPr>
            </a:pPr>
            <a:r>
              <a:t>TRUSTED</a:t>
            </a:r>
          </a:p>
        </p:txBody>
      </p:sp>
      <p:sp>
        <p:nvSpPr>
          <p:cNvPr id="42" name="TextBox 41"/>
          <p:cNvSpPr txBox="1"/>
          <p:nvPr/>
        </p:nvSpPr>
        <p:spPr>
          <a:xfrm>
            <a:off x="2743200" y="3429000"/>
            <a:ext cx="1097280" cy="182880"/>
          </a:xfrm>
          <a:prstGeom prst="rect">
            <a:avLst/>
          </a:prstGeom>
          <a:noFill/>
        </p:spPr>
        <p:txBody>
          <a:bodyPr wrap="square">
            <a:spAutoFit/>
          </a:bodyPr>
          <a:lstStyle/>
          <a:p>
            <a:pPr algn="l">
              <a:defRPr sz="800" b="1">
                <a:solidFill>
                  <a:srgbClr val="0891B2"/>
                </a:solidFill>
                <a:latin typeface="Calibri"/>
              </a:defRPr>
            </a:pPr>
            <a:r>
              <a:t>CONDITION:</a:t>
            </a:r>
          </a:p>
        </p:txBody>
      </p:sp>
      <p:sp>
        <p:nvSpPr>
          <p:cNvPr id="43" name="TextBox 42"/>
          <p:cNvSpPr txBox="1"/>
          <p:nvPr/>
        </p:nvSpPr>
        <p:spPr>
          <a:xfrm>
            <a:off x="2743200" y="3611880"/>
            <a:ext cx="4114800" cy="365760"/>
          </a:xfrm>
          <a:prstGeom prst="rect">
            <a:avLst/>
          </a:prstGeom>
          <a:noFill/>
        </p:spPr>
        <p:txBody>
          <a:bodyPr wrap="square">
            <a:spAutoFit/>
          </a:bodyPr>
          <a:lstStyle/>
          <a:p>
            <a:pPr algn="l">
              <a:defRPr sz="1000" b="0">
                <a:solidFill>
                  <a:srgbClr val="2D3748"/>
                </a:solidFill>
                <a:latin typeface="Calibri"/>
              </a:defRPr>
            </a:pPr>
            <a:r>
              <a:t>Health &gt;= 70, no recent alerts</a:t>
            </a:r>
          </a:p>
        </p:txBody>
      </p:sp>
      <p:sp>
        <p:nvSpPr>
          <p:cNvPr id="44" name="TextBox 43"/>
          <p:cNvSpPr txBox="1"/>
          <p:nvPr/>
        </p:nvSpPr>
        <p:spPr>
          <a:xfrm>
            <a:off x="6858000" y="3429000"/>
            <a:ext cx="1371600" cy="182880"/>
          </a:xfrm>
          <a:prstGeom prst="rect">
            <a:avLst/>
          </a:prstGeom>
          <a:noFill/>
        </p:spPr>
        <p:txBody>
          <a:bodyPr wrap="square">
            <a:spAutoFit/>
          </a:bodyPr>
          <a:lstStyle/>
          <a:p>
            <a:pPr algn="l">
              <a:defRPr sz="800" b="1">
                <a:solidFill>
                  <a:srgbClr val="0891B2"/>
                </a:solidFill>
                <a:latin typeface="Calibri"/>
              </a:defRPr>
            </a:pPr>
            <a:r>
              <a:t>ENFORCEMENT:</a:t>
            </a:r>
          </a:p>
        </p:txBody>
      </p:sp>
      <p:sp>
        <p:nvSpPr>
          <p:cNvPr id="45" name="TextBox 44"/>
          <p:cNvSpPr txBox="1"/>
          <p:nvPr/>
        </p:nvSpPr>
        <p:spPr>
          <a:xfrm>
            <a:off x="6858000" y="3611880"/>
            <a:ext cx="4389120" cy="365760"/>
          </a:xfrm>
          <a:prstGeom prst="rect">
            <a:avLst/>
          </a:prstGeom>
          <a:noFill/>
        </p:spPr>
        <p:txBody>
          <a:bodyPr wrap="square">
            <a:spAutoFit/>
          </a:bodyPr>
          <a:lstStyle/>
          <a:p>
            <a:pPr algn="l">
              <a:defRPr sz="1000" b="0">
                <a:solidFill>
                  <a:srgbClr val="2D3748"/>
                </a:solidFill>
                <a:latin typeface="Calibri"/>
              </a:defRPr>
            </a:pPr>
            <a:r>
              <a:t>Normal access, standard MFA</a:t>
            </a:r>
          </a:p>
        </p:txBody>
      </p:sp>
      <p:sp>
        <p:nvSpPr>
          <p:cNvPr id="46" name="Rounded Rectangle 45"/>
          <p:cNvSpPr/>
          <p:nvPr/>
        </p:nvSpPr>
        <p:spPr>
          <a:xfrm>
            <a:off x="457200" y="4050792"/>
            <a:ext cx="11064240" cy="6400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57200" y="4142232"/>
            <a:ext cx="2103120" cy="274320"/>
          </a:xfrm>
          <a:prstGeom prst="rect">
            <a:avLst/>
          </a:prstGeom>
          <a:solidFill>
            <a:srgbClr val="B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02920" y="4160520"/>
            <a:ext cx="2011680" cy="237744"/>
          </a:xfrm>
          <a:prstGeom prst="rect">
            <a:avLst/>
          </a:prstGeom>
          <a:noFill/>
        </p:spPr>
        <p:txBody>
          <a:bodyPr wrap="square">
            <a:spAutoFit/>
          </a:bodyPr>
          <a:lstStyle/>
          <a:p>
            <a:pPr algn="ctr">
              <a:defRPr sz="1100" b="1">
                <a:solidFill>
                  <a:srgbClr val="FFFFFF"/>
                </a:solidFill>
                <a:latin typeface="Calibri"/>
              </a:defRPr>
            </a:pPr>
            <a:r>
              <a:t>ELEVATED_WATCH</a:t>
            </a:r>
          </a:p>
        </p:txBody>
      </p:sp>
      <p:sp>
        <p:nvSpPr>
          <p:cNvPr id="49" name="TextBox 48"/>
          <p:cNvSpPr txBox="1"/>
          <p:nvPr/>
        </p:nvSpPr>
        <p:spPr>
          <a:xfrm>
            <a:off x="2743200" y="4096512"/>
            <a:ext cx="1097280" cy="182880"/>
          </a:xfrm>
          <a:prstGeom prst="rect">
            <a:avLst/>
          </a:prstGeom>
          <a:noFill/>
        </p:spPr>
        <p:txBody>
          <a:bodyPr wrap="square">
            <a:spAutoFit/>
          </a:bodyPr>
          <a:lstStyle/>
          <a:p>
            <a:pPr algn="l">
              <a:defRPr sz="800" b="1">
                <a:solidFill>
                  <a:srgbClr val="B8862A"/>
                </a:solidFill>
                <a:latin typeface="Calibri"/>
              </a:defRPr>
            </a:pPr>
            <a:r>
              <a:t>CONDITION:</a:t>
            </a:r>
          </a:p>
        </p:txBody>
      </p:sp>
      <p:sp>
        <p:nvSpPr>
          <p:cNvPr id="50" name="TextBox 49"/>
          <p:cNvSpPr txBox="1"/>
          <p:nvPr/>
        </p:nvSpPr>
        <p:spPr>
          <a:xfrm>
            <a:off x="2743200" y="4279392"/>
            <a:ext cx="4114800" cy="365760"/>
          </a:xfrm>
          <a:prstGeom prst="rect">
            <a:avLst/>
          </a:prstGeom>
          <a:noFill/>
        </p:spPr>
        <p:txBody>
          <a:bodyPr wrap="square">
            <a:spAutoFit/>
          </a:bodyPr>
          <a:lstStyle/>
          <a:p>
            <a:pPr algn="l">
              <a:defRPr sz="1000" b="0">
                <a:solidFill>
                  <a:srgbClr val="2D3748"/>
                </a:solidFill>
                <a:latin typeface="Calibri"/>
              </a:defRPr>
            </a:pPr>
            <a:r>
              <a:t>Health 40-70 OR cohort z &gt; 2</a:t>
            </a:r>
          </a:p>
        </p:txBody>
      </p:sp>
      <p:sp>
        <p:nvSpPr>
          <p:cNvPr id="51" name="TextBox 50"/>
          <p:cNvSpPr txBox="1"/>
          <p:nvPr/>
        </p:nvSpPr>
        <p:spPr>
          <a:xfrm>
            <a:off x="6858000" y="4096512"/>
            <a:ext cx="1371600" cy="182880"/>
          </a:xfrm>
          <a:prstGeom prst="rect">
            <a:avLst/>
          </a:prstGeom>
          <a:noFill/>
        </p:spPr>
        <p:txBody>
          <a:bodyPr wrap="square">
            <a:spAutoFit/>
          </a:bodyPr>
          <a:lstStyle/>
          <a:p>
            <a:pPr algn="l">
              <a:defRPr sz="800" b="1">
                <a:solidFill>
                  <a:srgbClr val="B8862A"/>
                </a:solidFill>
                <a:latin typeface="Calibri"/>
              </a:defRPr>
            </a:pPr>
            <a:r>
              <a:t>ENFORCEMENT:</a:t>
            </a:r>
          </a:p>
        </p:txBody>
      </p:sp>
      <p:sp>
        <p:nvSpPr>
          <p:cNvPr id="52" name="TextBox 51"/>
          <p:cNvSpPr txBox="1"/>
          <p:nvPr/>
        </p:nvSpPr>
        <p:spPr>
          <a:xfrm>
            <a:off x="6858000" y="4279392"/>
            <a:ext cx="4389120" cy="365760"/>
          </a:xfrm>
          <a:prstGeom prst="rect">
            <a:avLst/>
          </a:prstGeom>
          <a:noFill/>
        </p:spPr>
        <p:txBody>
          <a:bodyPr wrap="square">
            <a:spAutoFit/>
          </a:bodyPr>
          <a:lstStyle/>
          <a:p>
            <a:pPr algn="l">
              <a:defRPr sz="1000" b="0">
                <a:solidFill>
                  <a:srgbClr val="2D3748"/>
                </a:solidFill>
                <a:latin typeface="Calibri"/>
              </a:defRPr>
            </a:pPr>
            <a:r>
              <a:t>Step-up MFA on sensitive resources</a:t>
            </a:r>
          </a:p>
        </p:txBody>
      </p:sp>
      <p:sp>
        <p:nvSpPr>
          <p:cNvPr id="53" name="Rounded Rectangle 52"/>
          <p:cNvSpPr/>
          <p:nvPr/>
        </p:nvSpPr>
        <p:spPr>
          <a:xfrm>
            <a:off x="457200" y="4718304"/>
            <a:ext cx="11064240" cy="6400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57200" y="4809744"/>
            <a:ext cx="2103120" cy="27432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02920" y="4828032"/>
            <a:ext cx="2011680" cy="237744"/>
          </a:xfrm>
          <a:prstGeom prst="rect">
            <a:avLst/>
          </a:prstGeom>
          <a:noFill/>
        </p:spPr>
        <p:txBody>
          <a:bodyPr wrap="square">
            <a:spAutoFit/>
          </a:bodyPr>
          <a:lstStyle/>
          <a:p>
            <a:pPr algn="ctr">
              <a:defRPr sz="1100" b="1">
                <a:solidFill>
                  <a:srgbClr val="FFFFFF"/>
                </a:solidFill>
                <a:latin typeface="Calibri"/>
              </a:defRPr>
            </a:pPr>
            <a:r>
              <a:t>RESTRICTED</a:t>
            </a:r>
          </a:p>
        </p:txBody>
      </p:sp>
      <p:sp>
        <p:nvSpPr>
          <p:cNvPr id="56" name="TextBox 55"/>
          <p:cNvSpPr txBox="1"/>
          <p:nvPr/>
        </p:nvSpPr>
        <p:spPr>
          <a:xfrm>
            <a:off x="2743200" y="4764024"/>
            <a:ext cx="1097280" cy="182880"/>
          </a:xfrm>
          <a:prstGeom prst="rect">
            <a:avLst/>
          </a:prstGeom>
          <a:noFill/>
        </p:spPr>
        <p:txBody>
          <a:bodyPr wrap="square">
            <a:spAutoFit/>
          </a:bodyPr>
          <a:lstStyle/>
          <a:p>
            <a:pPr algn="l">
              <a:defRPr sz="800" b="1">
                <a:solidFill>
                  <a:srgbClr val="F26B1F"/>
                </a:solidFill>
                <a:latin typeface="Calibri"/>
              </a:defRPr>
            </a:pPr>
            <a:r>
              <a:t>CONDITION:</a:t>
            </a:r>
          </a:p>
        </p:txBody>
      </p:sp>
      <p:sp>
        <p:nvSpPr>
          <p:cNvPr id="57" name="TextBox 56"/>
          <p:cNvSpPr txBox="1"/>
          <p:nvPr/>
        </p:nvSpPr>
        <p:spPr>
          <a:xfrm>
            <a:off x="2743200" y="4946904"/>
            <a:ext cx="4114800" cy="365760"/>
          </a:xfrm>
          <a:prstGeom prst="rect">
            <a:avLst/>
          </a:prstGeom>
          <a:noFill/>
        </p:spPr>
        <p:txBody>
          <a:bodyPr wrap="square">
            <a:spAutoFit/>
          </a:bodyPr>
          <a:lstStyle/>
          <a:p>
            <a:pPr algn="l">
              <a:defRPr sz="1000" b="0">
                <a:solidFill>
                  <a:srgbClr val="2D3748"/>
                </a:solidFill>
                <a:latin typeface="Calibri"/>
              </a:defRPr>
            </a:pPr>
            <a:r>
              <a:t>Health &lt; 40 OR TP alert confirmed</a:t>
            </a:r>
          </a:p>
        </p:txBody>
      </p:sp>
      <p:sp>
        <p:nvSpPr>
          <p:cNvPr id="58" name="TextBox 57"/>
          <p:cNvSpPr txBox="1"/>
          <p:nvPr/>
        </p:nvSpPr>
        <p:spPr>
          <a:xfrm>
            <a:off x="6858000" y="4764024"/>
            <a:ext cx="1371600" cy="182880"/>
          </a:xfrm>
          <a:prstGeom prst="rect">
            <a:avLst/>
          </a:prstGeom>
          <a:noFill/>
        </p:spPr>
        <p:txBody>
          <a:bodyPr wrap="square">
            <a:spAutoFit/>
          </a:bodyPr>
          <a:lstStyle/>
          <a:p>
            <a:pPr algn="l">
              <a:defRPr sz="800" b="1">
                <a:solidFill>
                  <a:srgbClr val="F26B1F"/>
                </a:solidFill>
                <a:latin typeface="Calibri"/>
              </a:defRPr>
            </a:pPr>
            <a:r>
              <a:t>ENFORCEMENT:</a:t>
            </a:r>
          </a:p>
        </p:txBody>
      </p:sp>
      <p:sp>
        <p:nvSpPr>
          <p:cNvPr id="59" name="TextBox 58"/>
          <p:cNvSpPr txBox="1"/>
          <p:nvPr/>
        </p:nvSpPr>
        <p:spPr>
          <a:xfrm>
            <a:off x="6858000" y="4946904"/>
            <a:ext cx="4389120" cy="365760"/>
          </a:xfrm>
          <a:prstGeom prst="rect">
            <a:avLst/>
          </a:prstGeom>
          <a:noFill/>
        </p:spPr>
        <p:txBody>
          <a:bodyPr wrap="square">
            <a:spAutoFit/>
          </a:bodyPr>
          <a:lstStyle/>
          <a:p>
            <a:pPr algn="l">
              <a:defRPr sz="1000" b="0">
                <a:solidFill>
                  <a:srgbClr val="2D3748"/>
                </a:solidFill>
                <a:latin typeface="Calibri"/>
              </a:defRPr>
            </a:pPr>
            <a:r>
              <a:t>Read-only access, no lateral movement</a:t>
            </a:r>
          </a:p>
        </p:txBody>
      </p:sp>
      <p:sp>
        <p:nvSpPr>
          <p:cNvPr id="60" name="Rounded Rectangle 59"/>
          <p:cNvSpPr/>
          <p:nvPr/>
        </p:nvSpPr>
        <p:spPr>
          <a:xfrm>
            <a:off x="457200" y="5385816"/>
            <a:ext cx="11064240" cy="6400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457200" y="5477256"/>
            <a:ext cx="210312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2920" y="5495544"/>
            <a:ext cx="2011680" cy="237744"/>
          </a:xfrm>
          <a:prstGeom prst="rect">
            <a:avLst/>
          </a:prstGeom>
          <a:noFill/>
        </p:spPr>
        <p:txBody>
          <a:bodyPr wrap="square">
            <a:spAutoFit/>
          </a:bodyPr>
          <a:lstStyle/>
          <a:p>
            <a:pPr algn="ctr">
              <a:defRPr sz="1100" b="1">
                <a:solidFill>
                  <a:srgbClr val="FFFFFF"/>
                </a:solidFill>
                <a:latin typeface="Calibri"/>
              </a:defRPr>
            </a:pPr>
            <a:r>
              <a:t>BLOCKED</a:t>
            </a:r>
          </a:p>
        </p:txBody>
      </p:sp>
      <p:sp>
        <p:nvSpPr>
          <p:cNvPr id="63" name="TextBox 62"/>
          <p:cNvSpPr txBox="1"/>
          <p:nvPr/>
        </p:nvSpPr>
        <p:spPr>
          <a:xfrm>
            <a:off x="2743200" y="5431536"/>
            <a:ext cx="1097280" cy="182880"/>
          </a:xfrm>
          <a:prstGeom prst="rect">
            <a:avLst/>
          </a:prstGeom>
          <a:noFill/>
        </p:spPr>
        <p:txBody>
          <a:bodyPr wrap="square">
            <a:spAutoFit/>
          </a:bodyPr>
          <a:lstStyle/>
          <a:p>
            <a:pPr algn="l">
              <a:defRPr sz="800" b="1">
                <a:solidFill>
                  <a:srgbClr val="C0392B"/>
                </a:solidFill>
                <a:latin typeface="Calibri"/>
              </a:defRPr>
            </a:pPr>
            <a:r>
              <a:t>CONDITION:</a:t>
            </a:r>
          </a:p>
        </p:txBody>
      </p:sp>
      <p:sp>
        <p:nvSpPr>
          <p:cNvPr id="64" name="TextBox 63"/>
          <p:cNvSpPr txBox="1"/>
          <p:nvPr/>
        </p:nvSpPr>
        <p:spPr>
          <a:xfrm>
            <a:off x="2743200" y="5614416"/>
            <a:ext cx="4114800" cy="365760"/>
          </a:xfrm>
          <a:prstGeom prst="rect">
            <a:avLst/>
          </a:prstGeom>
          <a:noFill/>
        </p:spPr>
        <p:txBody>
          <a:bodyPr wrap="square">
            <a:spAutoFit/>
          </a:bodyPr>
          <a:lstStyle/>
          <a:p>
            <a:pPr algn="l">
              <a:defRPr sz="1000" b="0">
                <a:solidFill>
                  <a:srgbClr val="2D3748"/>
                </a:solidFill>
                <a:latin typeface="Calibri"/>
              </a:defRPr>
            </a:pPr>
            <a:r>
              <a:t>Active incident confirmed</a:t>
            </a:r>
          </a:p>
        </p:txBody>
      </p:sp>
      <p:sp>
        <p:nvSpPr>
          <p:cNvPr id="65" name="TextBox 64"/>
          <p:cNvSpPr txBox="1"/>
          <p:nvPr/>
        </p:nvSpPr>
        <p:spPr>
          <a:xfrm>
            <a:off x="6858000" y="5431536"/>
            <a:ext cx="1371600" cy="182880"/>
          </a:xfrm>
          <a:prstGeom prst="rect">
            <a:avLst/>
          </a:prstGeom>
          <a:noFill/>
        </p:spPr>
        <p:txBody>
          <a:bodyPr wrap="square">
            <a:spAutoFit/>
          </a:bodyPr>
          <a:lstStyle/>
          <a:p>
            <a:pPr algn="l">
              <a:defRPr sz="800" b="1">
                <a:solidFill>
                  <a:srgbClr val="C0392B"/>
                </a:solidFill>
                <a:latin typeface="Calibri"/>
              </a:defRPr>
            </a:pPr>
            <a:r>
              <a:t>ENFORCEMENT:</a:t>
            </a:r>
          </a:p>
        </p:txBody>
      </p:sp>
      <p:sp>
        <p:nvSpPr>
          <p:cNvPr id="66" name="TextBox 65"/>
          <p:cNvSpPr txBox="1"/>
          <p:nvPr/>
        </p:nvSpPr>
        <p:spPr>
          <a:xfrm>
            <a:off x="6858000" y="5614416"/>
            <a:ext cx="4389120" cy="365760"/>
          </a:xfrm>
          <a:prstGeom prst="rect">
            <a:avLst/>
          </a:prstGeom>
          <a:noFill/>
        </p:spPr>
        <p:txBody>
          <a:bodyPr wrap="square">
            <a:spAutoFit/>
          </a:bodyPr>
          <a:lstStyle/>
          <a:p>
            <a:pPr algn="l">
              <a:defRPr sz="1000" b="0">
                <a:solidFill>
                  <a:srgbClr val="2D3748"/>
                </a:solidFill>
                <a:latin typeface="Calibri"/>
              </a:defRPr>
            </a:pPr>
            <a:r>
              <a:t>Account disabled, session terminated</a:t>
            </a:r>
          </a:p>
        </p:txBody>
      </p:sp>
      <p:sp>
        <p:nvSpPr>
          <p:cNvPr id="67" name="Rectangle 66"/>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Self-reinforcing: TP label strengthens signals. FP raises thresholds for that role. ABAC enforcement is automatic.</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DEPLOYMENT -- GABRIEL NIMBUS</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Containerized Cloud-Native Architecture for Gabriel Nimbus</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Kubernetes-native. Iron Bank hardened images. IL5/IL6/JWICS. cATO-aligned.</a:t>
            </a:r>
          </a:p>
        </p:txBody>
      </p:sp>
      <p:sp>
        <p:nvSpPr>
          <p:cNvPr id="6" name="Rounded Rectangle 5"/>
          <p:cNvSpPr/>
          <p:nvPr/>
        </p:nvSpPr>
        <p:spPr>
          <a:xfrm>
            <a:off x="457200" y="1280160"/>
            <a:ext cx="11064240" cy="9144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91440" cy="914400"/>
          </a:xfrm>
          <a:prstGeom prst="rect">
            <a:avLst/>
          </a:prstGeom>
          <a:solidFill>
            <a:srgbClr val="6C2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280160"/>
            <a:ext cx="2560320" cy="320040"/>
          </a:xfrm>
          <a:prstGeom prst="rect">
            <a:avLst/>
          </a:prstGeom>
          <a:solidFill>
            <a:srgbClr val="6C2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98448"/>
            <a:ext cx="2468880" cy="274320"/>
          </a:xfrm>
          <a:prstGeom prst="rect">
            <a:avLst/>
          </a:prstGeom>
          <a:noFill/>
        </p:spPr>
        <p:txBody>
          <a:bodyPr wrap="square">
            <a:spAutoFit/>
          </a:bodyPr>
          <a:lstStyle/>
          <a:p>
            <a:pPr algn="ctr">
              <a:defRPr sz="900" b="1">
                <a:solidFill>
                  <a:srgbClr val="FFFFFF"/>
                </a:solidFill>
                <a:latin typeface="Calibri"/>
              </a:defRPr>
            </a:pPr>
            <a:r>
              <a:t>LAYER 5: PRESENTATION</a:t>
            </a:r>
          </a:p>
        </p:txBody>
      </p:sp>
      <p:sp>
        <p:nvSpPr>
          <p:cNvPr id="10" name="TextBox 9"/>
          <p:cNvSpPr txBox="1"/>
          <p:nvPr/>
        </p:nvSpPr>
        <p:spPr>
          <a:xfrm>
            <a:off x="3200400" y="1325880"/>
            <a:ext cx="8138160" cy="320040"/>
          </a:xfrm>
          <a:prstGeom prst="rect">
            <a:avLst/>
          </a:prstGeom>
          <a:noFill/>
        </p:spPr>
        <p:txBody>
          <a:bodyPr wrap="square">
            <a:spAutoFit/>
          </a:bodyPr>
          <a:lstStyle/>
          <a:p>
            <a:pPr algn="l">
              <a:defRPr sz="900" b="0">
                <a:solidFill>
                  <a:srgbClr val="2D3748"/>
                </a:solidFill>
                <a:latin typeface="Calibri"/>
              </a:defRPr>
            </a:pPr>
            <a:r>
              <a:t>Plotly Dash / React UI  |  7-chart entity dashboard  |  Alert feed  |  Kill-chain visualization  |  ABAC admin</a:t>
            </a:r>
          </a:p>
        </p:txBody>
      </p:sp>
      <p:sp>
        <p:nvSpPr>
          <p:cNvPr id="11" name="TextBox 10"/>
          <p:cNvSpPr txBox="1"/>
          <p:nvPr/>
        </p:nvSpPr>
        <p:spPr>
          <a:xfrm>
            <a:off x="3200400" y="1691640"/>
            <a:ext cx="8138160" cy="411480"/>
          </a:xfrm>
          <a:prstGeom prst="rect">
            <a:avLst/>
          </a:prstGeom>
          <a:noFill/>
        </p:spPr>
        <p:txBody>
          <a:bodyPr wrap="square">
            <a:spAutoFit/>
          </a:bodyPr>
          <a:lstStyle/>
          <a:p>
            <a:pPr algn="l">
              <a:defRPr sz="850" b="0">
                <a:solidFill>
                  <a:srgbClr val="5A6878"/>
                </a:solidFill>
                <a:latin typeface="Calibri"/>
              </a:defRPr>
            </a:pPr>
            <a:r>
              <a:t>CAC/PIV auth  |  Role-based access</a:t>
            </a:r>
          </a:p>
        </p:txBody>
      </p:sp>
      <p:sp>
        <p:nvSpPr>
          <p:cNvPr id="12" name="Rounded Rectangle 11"/>
          <p:cNvSpPr/>
          <p:nvPr/>
        </p:nvSpPr>
        <p:spPr>
          <a:xfrm>
            <a:off x="457200" y="2240280"/>
            <a:ext cx="11064240" cy="9144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2240280"/>
            <a:ext cx="91440" cy="9144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240280"/>
            <a:ext cx="256032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258568"/>
            <a:ext cx="2468880" cy="274320"/>
          </a:xfrm>
          <a:prstGeom prst="rect">
            <a:avLst/>
          </a:prstGeom>
          <a:noFill/>
        </p:spPr>
        <p:txBody>
          <a:bodyPr wrap="square">
            <a:spAutoFit/>
          </a:bodyPr>
          <a:lstStyle/>
          <a:p>
            <a:pPr algn="ctr">
              <a:defRPr sz="900" b="1">
                <a:solidFill>
                  <a:srgbClr val="FFFFFF"/>
                </a:solidFill>
                <a:latin typeface="Calibri"/>
              </a:defRPr>
            </a:pPr>
            <a:r>
              <a:t>LAYER 4: API GATEWAY</a:t>
            </a:r>
          </a:p>
        </p:txBody>
      </p:sp>
      <p:sp>
        <p:nvSpPr>
          <p:cNvPr id="16" name="TextBox 15"/>
          <p:cNvSpPr txBox="1"/>
          <p:nvPr/>
        </p:nvSpPr>
        <p:spPr>
          <a:xfrm>
            <a:off x="3200400" y="2286000"/>
            <a:ext cx="8138160" cy="320040"/>
          </a:xfrm>
          <a:prstGeom prst="rect">
            <a:avLst/>
          </a:prstGeom>
          <a:noFill/>
        </p:spPr>
        <p:txBody>
          <a:bodyPr wrap="square">
            <a:spAutoFit/>
          </a:bodyPr>
          <a:lstStyle/>
          <a:p>
            <a:pPr algn="l">
              <a:defRPr sz="900" b="0">
                <a:solidFill>
                  <a:srgbClr val="2D3748"/>
                </a:solidFill>
                <a:latin typeface="Calibri"/>
              </a:defRPr>
            </a:pPr>
            <a:r>
              <a:t>FastAPI (async)  |  REST + WebSocket  |  RBAC middleware  |  Rate limiting  |  OpenAPI docs</a:t>
            </a:r>
          </a:p>
        </p:txBody>
      </p:sp>
      <p:sp>
        <p:nvSpPr>
          <p:cNvPr id="17" name="TextBox 16"/>
          <p:cNvSpPr txBox="1"/>
          <p:nvPr/>
        </p:nvSpPr>
        <p:spPr>
          <a:xfrm>
            <a:off x="3200400" y="2651760"/>
            <a:ext cx="8138160" cy="411480"/>
          </a:xfrm>
          <a:prstGeom prst="rect">
            <a:avLst/>
          </a:prstGeom>
          <a:noFill/>
        </p:spPr>
        <p:txBody>
          <a:bodyPr wrap="square">
            <a:spAutoFit/>
          </a:bodyPr>
          <a:lstStyle/>
          <a:p>
            <a:pPr algn="l">
              <a:defRPr sz="850" b="0">
                <a:solidFill>
                  <a:srgbClr val="5A6878"/>
                </a:solidFill>
                <a:latin typeface="Calibri"/>
              </a:defRPr>
            </a:pPr>
            <a:r>
              <a:t>Istio service mesh  |  mTLS between services</a:t>
            </a:r>
          </a:p>
        </p:txBody>
      </p:sp>
      <p:sp>
        <p:nvSpPr>
          <p:cNvPr id="18" name="Rounded Rectangle 17"/>
          <p:cNvSpPr/>
          <p:nvPr/>
        </p:nvSpPr>
        <p:spPr>
          <a:xfrm>
            <a:off x="457200" y="3200400"/>
            <a:ext cx="11064240" cy="9144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3200400"/>
            <a:ext cx="91440" cy="9144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3200400"/>
            <a:ext cx="2560320" cy="32004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3218688"/>
            <a:ext cx="2468880" cy="274320"/>
          </a:xfrm>
          <a:prstGeom prst="rect">
            <a:avLst/>
          </a:prstGeom>
          <a:noFill/>
        </p:spPr>
        <p:txBody>
          <a:bodyPr wrap="square">
            <a:spAutoFit/>
          </a:bodyPr>
          <a:lstStyle/>
          <a:p>
            <a:pPr algn="ctr">
              <a:defRPr sz="900" b="1">
                <a:solidFill>
                  <a:srgbClr val="FFFFFF"/>
                </a:solidFill>
                <a:latin typeface="Calibri"/>
              </a:defRPr>
            </a:pPr>
            <a:r>
              <a:t>LAYER 3: BEHAVIORAL ENGINE</a:t>
            </a:r>
          </a:p>
        </p:txBody>
      </p:sp>
      <p:sp>
        <p:nvSpPr>
          <p:cNvPr id="22" name="TextBox 21"/>
          <p:cNvSpPr txBox="1"/>
          <p:nvPr/>
        </p:nvSpPr>
        <p:spPr>
          <a:xfrm>
            <a:off x="3200400" y="3246120"/>
            <a:ext cx="8138160" cy="320040"/>
          </a:xfrm>
          <a:prstGeom prst="rect">
            <a:avLst/>
          </a:prstGeom>
          <a:noFill/>
        </p:spPr>
        <p:txBody>
          <a:bodyPr wrap="square">
            <a:spAutoFit/>
          </a:bodyPr>
          <a:lstStyle/>
          <a:p>
            <a:pPr algn="l">
              <a:defRPr sz="900" b="0">
                <a:solidFill>
                  <a:srgbClr val="2D3748"/>
                </a:solidFill>
                <a:latin typeface="Calibri"/>
              </a:defRPr>
            </a:pPr>
            <a:r>
              <a:t>Signal Summarizers (5)  |  Embedding Pipeline  |  Trajectory Analysis  |  CUSUM  |  Drift Direction  |  Entity Fusion  |  ABAC Engine</a:t>
            </a:r>
          </a:p>
        </p:txBody>
      </p:sp>
      <p:sp>
        <p:nvSpPr>
          <p:cNvPr id="23" name="TextBox 22"/>
          <p:cNvSpPr txBox="1"/>
          <p:nvPr/>
        </p:nvSpPr>
        <p:spPr>
          <a:xfrm>
            <a:off x="3200400" y="3611880"/>
            <a:ext cx="8138160" cy="411480"/>
          </a:xfrm>
          <a:prstGeom prst="rect">
            <a:avLst/>
          </a:prstGeom>
          <a:noFill/>
        </p:spPr>
        <p:txBody>
          <a:bodyPr wrap="square">
            <a:spAutoFit/>
          </a:bodyPr>
          <a:lstStyle/>
          <a:p>
            <a:pPr algn="l">
              <a:defRPr sz="850" b="0">
                <a:solidFill>
                  <a:srgbClr val="5A6878"/>
                </a:solidFill>
                <a:latin typeface="Calibri"/>
              </a:defRPr>
            </a:pPr>
            <a:r>
              <a:t>Horizontal pod autoscaling  |  10K entities/hr per 4-vCPU pod</a:t>
            </a:r>
          </a:p>
        </p:txBody>
      </p:sp>
      <p:sp>
        <p:nvSpPr>
          <p:cNvPr id="24" name="Rounded Rectangle 23"/>
          <p:cNvSpPr/>
          <p:nvPr/>
        </p:nvSpPr>
        <p:spPr>
          <a:xfrm>
            <a:off x="457200" y="4160520"/>
            <a:ext cx="11064240" cy="9144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4160520"/>
            <a:ext cx="91440" cy="9144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4160520"/>
            <a:ext cx="256032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178808"/>
            <a:ext cx="2468880" cy="274320"/>
          </a:xfrm>
          <a:prstGeom prst="rect">
            <a:avLst/>
          </a:prstGeom>
          <a:noFill/>
        </p:spPr>
        <p:txBody>
          <a:bodyPr wrap="square">
            <a:spAutoFit/>
          </a:bodyPr>
          <a:lstStyle/>
          <a:p>
            <a:pPr algn="ctr">
              <a:defRPr sz="900" b="1">
                <a:solidFill>
                  <a:srgbClr val="FFFFFF"/>
                </a:solidFill>
                <a:latin typeface="Calibri"/>
              </a:defRPr>
            </a:pPr>
            <a:r>
              <a:t>LAYER 2: DATA PLANE</a:t>
            </a:r>
          </a:p>
        </p:txBody>
      </p:sp>
      <p:sp>
        <p:nvSpPr>
          <p:cNvPr id="28" name="TextBox 27"/>
          <p:cNvSpPr txBox="1"/>
          <p:nvPr/>
        </p:nvSpPr>
        <p:spPr>
          <a:xfrm>
            <a:off x="3200400" y="4206240"/>
            <a:ext cx="8138160" cy="320040"/>
          </a:xfrm>
          <a:prstGeom prst="rect">
            <a:avLst/>
          </a:prstGeom>
          <a:noFill/>
        </p:spPr>
        <p:txBody>
          <a:bodyPr wrap="square">
            <a:spAutoFit/>
          </a:bodyPr>
          <a:lstStyle/>
          <a:p>
            <a:pPr algn="l">
              <a:defRPr sz="900" b="0">
                <a:solidFill>
                  <a:srgbClr val="2D3748"/>
                </a:solidFill>
                <a:latin typeface="Calibri"/>
              </a:defRPr>
            </a:pPr>
            <a:r>
              <a:t>PostgreSQL + pgvector (HNSW)  |  TimescaleDB (time-series)  |  Redis (cache + pub/sub)  |  S3-compatible object store</a:t>
            </a:r>
          </a:p>
        </p:txBody>
      </p:sp>
      <p:sp>
        <p:nvSpPr>
          <p:cNvPr id="29" name="TextBox 28"/>
          <p:cNvSpPr txBox="1"/>
          <p:nvPr/>
        </p:nvSpPr>
        <p:spPr>
          <a:xfrm>
            <a:off x="3200400" y="4572000"/>
            <a:ext cx="8138160" cy="411480"/>
          </a:xfrm>
          <a:prstGeom prst="rect">
            <a:avLst/>
          </a:prstGeom>
          <a:noFill/>
        </p:spPr>
        <p:txBody>
          <a:bodyPr wrap="square">
            <a:spAutoFit/>
          </a:bodyPr>
          <a:lstStyle/>
          <a:p>
            <a:pPr algn="l">
              <a:defRPr sz="850" b="0">
                <a:solidFill>
                  <a:srgbClr val="5A6878"/>
                </a:solidFill>
                <a:latin typeface="Calibri"/>
              </a:defRPr>
            </a:pPr>
            <a:r>
              <a:t>Persistent volumes  |  Automated backups  |  Encryption at rest</a:t>
            </a:r>
          </a:p>
        </p:txBody>
      </p:sp>
      <p:sp>
        <p:nvSpPr>
          <p:cNvPr id="30" name="Rounded Rectangle 29"/>
          <p:cNvSpPr/>
          <p:nvPr/>
        </p:nvSpPr>
        <p:spPr>
          <a:xfrm>
            <a:off x="457200" y="5120640"/>
            <a:ext cx="11064240" cy="91440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5120640"/>
            <a:ext cx="91440" cy="914400"/>
          </a:xfrm>
          <a:prstGeom prst="rect">
            <a:avLst/>
          </a:prstGeom>
          <a:solidFill>
            <a:srgbClr val="16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57200" y="5120640"/>
            <a:ext cx="2560320" cy="320040"/>
          </a:xfrm>
          <a:prstGeom prst="rect">
            <a:avLst/>
          </a:prstGeom>
          <a:solidFill>
            <a:srgbClr val="16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02920" y="5138928"/>
            <a:ext cx="2468880" cy="274320"/>
          </a:xfrm>
          <a:prstGeom prst="rect">
            <a:avLst/>
          </a:prstGeom>
          <a:noFill/>
        </p:spPr>
        <p:txBody>
          <a:bodyPr wrap="square">
            <a:spAutoFit/>
          </a:bodyPr>
          <a:lstStyle/>
          <a:p>
            <a:pPr algn="ctr">
              <a:defRPr sz="900" b="1">
                <a:solidFill>
                  <a:srgbClr val="FFFFFF"/>
                </a:solidFill>
                <a:latin typeface="Calibri"/>
              </a:defRPr>
            </a:pPr>
            <a:r>
              <a:t>LAYER 1: INFRASTRUCTURE</a:t>
            </a:r>
          </a:p>
        </p:txBody>
      </p:sp>
      <p:sp>
        <p:nvSpPr>
          <p:cNvPr id="34" name="TextBox 33"/>
          <p:cNvSpPr txBox="1"/>
          <p:nvPr/>
        </p:nvSpPr>
        <p:spPr>
          <a:xfrm>
            <a:off x="3200400" y="5166360"/>
            <a:ext cx="8138160" cy="320040"/>
          </a:xfrm>
          <a:prstGeom prst="rect">
            <a:avLst/>
          </a:prstGeom>
          <a:noFill/>
        </p:spPr>
        <p:txBody>
          <a:bodyPr wrap="square">
            <a:spAutoFit/>
          </a:bodyPr>
          <a:lstStyle/>
          <a:p>
            <a:pPr algn="l">
              <a:defRPr sz="900" b="0">
                <a:solidFill>
                  <a:srgbClr val="2D3748"/>
                </a:solidFill>
                <a:latin typeface="Calibri"/>
              </a:defRPr>
            </a:pPr>
            <a:r>
              <a:t>Kubernetes (Big Bang / RKE2)  |  Iron Bank hardened containers  |  Istio  |  Fluentd  |  Prometheus + Grafana</a:t>
            </a:r>
          </a:p>
        </p:txBody>
      </p:sp>
      <p:sp>
        <p:nvSpPr>
          <p:cNvPr id="35" name="TextBox 34"/>
          <p:cNvSpPr txBox="1"/>
          <p:nvPr/>
        </p:nvSpPr>
        <p:spPr>
          <a:xfrm>
            <a:off x="3200400" y="5532120"/>
            <a:ext cx="8138160" cy="411480"/>
          </a:xfrm>
          <a:prstGeom prst="rect">
            <a:avLst/>
          </a:prstGeom>
          <a:noFill/>
        </p:spPr>
        <p:txBody>
          <a:bodyPr wrap="square">
            <a:spAutoFit/>
          </a:bodyPr>
          <a:lstStyle/>
          <a:p>
            <a:pPr algn="l">
              <a:defRPr sz="850" b="0">
                <a:solidFill>
                  <a:srgbClr val="5A6878"/>
                </a:solidFill>
                <a:latin typeface="Calibri"/>
              </a:defRPr>
            </a:pPr>
            <a:r>
              <a:t>cATO artifacts auto-generated  |  STIG-compliant  |  FIPS 140-2</a:t>
            </a:r>
          </a:p>
        </p:txBody>
      </p:sp>
      <p:sp>
        <p:nvSpPr>
          <p:cNvPr id="36" name="Rectangle 35"/>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Entire stack deploys via helm chart. Air-gapped: same containers, local SLM (Phi-4/Mistral), no external calls.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DEPLOYMENT -- DATA FLOW</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Data Flow: From Raw Telemetry to Actionable Alert</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End-to-end pipeline inside Gabriel Nimbus. No data leaves the enclave.</a:t>
            </a:r>
          </a:p>
        </p:txBody>
      </p:sp>
      <p:sp>
        <p:nvSpPr>
          <p:cNvPr id="6" name="Rounded Rectangle 5"/>
          <p:cNvSpPr/>
          <p:nvPr/>
        </p:nvSpPr>
        <p:spPr>
          <a:xfrm>
            <a:off x="457200" y="1280160"/>
            <a:ext cx="11064240" cy="77724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325880"/>
            <a:ext cx="548640" cy="685800"/>
          </a:xfrm>
          <a:prstGeom prst="rect">
            <a:avLst/>
          </a:prstGeom>
          <a:solidFill>
            <a:srgbClr val="16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71600"/>
            <a:ext cx="457200" cy="274320"/>
          </a:xfrm>
          <a:prstGeom prst="rect">
            <a:avLst/>
          </a:prstGeom>
          <a:noFill/>
        </p:spPr>
        <p:txBody>
          <a:bodyPr wrap="square">
            <a:spAutoFit/>
          </a:bodyPr>
          <a:lstStyle/>
          <a:p>
            <a:pPr algn="ctr">
              <a:defRPr sz="1800" b="1">
                <a:solidFill>
                  <a:srgbClr val="FFFFFF"/>
                </a:solidFill>
                <a:latin typeface="Georgia"/>
              </a:defRPr>
            </a:pPr>
            <a:r>
              <a:t>1</a:t>
            </a:r>
          </a:p>
        </p:txBody>
      </p:sp>
      <p:sp>
        <p:nvSpPr>
          <p:cNvPr id="9" name="TextBox 8"/>
          <p:cNvSpPr txBox="1"/>
          <p:nvPr/>
        </p:nvSpPr>
        <p:spPr>
          <a:xfrm>
            <a:off x="1097280" y="1325880"/>
            <a:ext cx="1097280" cy="274320"/>
          </a:xfrm>
          <a:prstGeom prst="rect">
            <a:avLst/>
          </a:prstGeom>
          <a:noFill/>
        </p:spPr>
        <p:txBody>
          <a:bodyPr wrap="square">
            <a:spAutoFit/>
          </a:bodyPr>
          <a:lstStyle/>
          <a:p>
            <a:pPr algn="l">
              <a:defRPr sz="1200" b="1">
                <a:solidFill>
                  <a:srgbClr val="166B3A"/>
                </a:solidFill>
                <a:latin typeface="Calibri"/>
              </a:defRPr>
            </a:pPr>
            <a:r>
              <a:t>INGEST</a:t>
            </a:r>
          </a:p>
        </p:txBody>
      </p:sp>
      <p:sp>
        <p:nvSpPr>
          <p:cNvPr id="10" name="TextBox 9"/>
          <p:cNvSpPr txBox="1"/>
          <p:nvPr/>
        </p:nvSpPr>
        <p:spPr>
          <a:xfrm>
            <a:off x="2286000" y="1325880"/>
            <a:ext cx="6858000" cy="365760"/>
          </a:xfrm>
          <a:prstGeom prst="rect">
            <a:avLst/>
          </a:prstGeom>
          <a:noFill/>
        </p:spPr>
        <p:txBody>
          <a:bodyPr wrap="square">
            <a:spAutoFit/>
          </a:bodyPr>
          <a:lstStyle/>
          <a:p>
            <a:pPr algn="l">
              <a:defRPr sz="950" b="0">
                <a:solidFill>
                  <a:srgbClr val="2D3748"/>
                </a:solidFill>
                <a:latin typeface="Calibri"/>
              </a:defRPr>
            </a:pPr>
            <a:r>
              <a:t>ECS / OCSF / STIX 2.1 normalized events arrive from SIEM, EDR, NetFlow, IdP, K8s audit logs.</a:t>
            </a:r>
          </a:p>
        </p:txBody>
      </p:sp>
      <p:sp>
        <p:nvSpPr>
          <p:cNvPr id="11" name="TextBox 10"/>
          <p:cNvSpPr txBox="1"/>
          <p:nvPr/>
        </p:nvSpPr>
        <p:spPr>
          <a:xfrm>
            <a:off x="2286000" y="1737360"/>
            <a:ext cx="6858000" cy="274320"/>
          </a:xfrm>
          <a:prstGeom prst="rect">
            <a:avLst/>
          </a:prstGeom>
          <a:noFill/>
        </p:spPr>
        <p:txBody>
          <a:bodyPr wrap="square">
            <a:spAutoFit/>
          </a:bodyPr>
          <a:lstStyle/>
          <a:p>
            <a:pPr algn="l">
              <a:defRPr sz="850" b="0">
                <a:solidFill>
                  <a:srgbClr val="5A6878"/>
                </a:solidFill>
                <a:latin typeface="Calibri"/>
              </a:defRPr>
            </a:pPr>
            <a:r>
              <a:t>Kafka / Fluentd input</a:t>
            </a:r>
          </a:p>
        </p:txBody>
      </p:sp>
      <p:sp>
        <p:nvSpPr>
          <p:cNvPr id="12" name="TextBox 11"/>
          <p:cNvSpPr txBox="1"/>
          <p:nvPr/>
        </p:nvSpPr>
        <p:spPr>
          <a:xfrm>
            <a:off x="9326880" y="1417320"/>
            <a:ext cx="2011680" cy="457200"/>
          </a:xfrm>
          <a:prstGeom prst="rect">
            <a:avLst/>
          </a:prstGeom>
          <a:noFill/>
        </p:spPr>
        <p:txBody>
          <a:bodyPr wrap="square">
            <a:spAutoFit/>
          </a:bodyPr>
          <a:lstStyle/>
          <a:p>
            <a:pPr algn="ctr">
              <a:defRPr sz="900" b="1">
                <a:solidFill>
                  <a:srgbClr val="166B3A"/>
                </a:solidFill>
                <a:latin typeface="Calibri"/>
              </a:defRPr>
            </a:pPr>
            <a:r>
              <a:t>&lt;3 sec per entity</a:t>
            </a:r>
          </a:p>
        </p:txBody>
      </p:sp>
      <p:sp>
        <p:nvSpPr>
          <p:cNvPr id="13" name="Rounded Rectangle 12"/>
          <p:cNvSpPr/>
          <p:nvPr/>
        </p:nvSpPr>
        <p:spPr>
          <a:xfrm>
            <a:off x="457200" y="2084832"/>
            <a:ext cx="11064240" cy="77724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130552"/>
            <a:ext cx="548640" cy="6858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176272"/>
            <a:ext cx="457200" cy="274320"/>
          </a:xfrm>
          <a:prstGeom prst="rect">
            <a:avLst/>
          </a:prstGeom>
          <a:noFill/>
        </p:spPr>
        <p:txBody>
          <a:bodyPr wrap="square">
            <a:spAutoFit/>
          </a:bodyPr>
          <a:lstStyle/>
          <a:p>
            <a:pPr algn="ctr">
              <a:defRPr sz="1800" b="1">
                <a:solidFill>
                  <a:srgbClr val="FFFFFF"/>
                </a:solidFill>
                <a:latin typeface="Georgia"/>
              </a:defRPr>
            </a:pPr>
            <a:r>
              <a:t>2</a:t>
            </a:r>
          </a:p>
        </p:txBody>
      </p:sp>
      <p:sp>
        <p:nvSpPr>
          <p:cNvPr id="16" name="TextBox 15"/>
          <p:cNvSpPr txBox="1"/>
          <p:nvPr/>
        </p:nvSpPr>
        <p:spPr>
          <a:xfrm>
            <a:off x="1097280" y="2130552"/>
            <a:ext cx="1097280" cy="274320"/>
          </a:xfrm>
          <a:prstGeom prst="rect">
            <a:avLst/>
          </a:prstGeom>
          <a:noFill/>
        </p:spPr>
        <p:txBody>
          <a:bodyPr wrap="square">
            <a:spAutoFit/>
          </a:bodyPr>
          <a:lstStyle/>
          <a:p>
            <a:pPr algn="l">
              <a:defRPr sz="1200" b="1">
                <a:solidFill>
                  <a:srgbClr val="0891B2"/>
                </a:solidFill>
                <a:latin typeface="Calibri"/>
              </a:defRPr>
            </a:pPr>
            <a:r>
              <a:t>WINDOW</a:t>
            </a:r>
          </a:p>
        </p:txBody>
      </p:sp>
      <p:sp>
        <p:nvSpPr>
          <p:cNvPr id="17" name="TextBox 16"/>
          <p:cNvSpPr txBox="1"/>
          <p:nvPr/>
        </p:nvSpPr>
        <p:spPr>
          <a:xfrm>
            <a:off x="2286000" y="2130552"/>
            <a:ext cx="6858000" cy="365760"/>
          </a:xfrm>
          <a:prstGeom prst="rect">
            <a:avLst/>
          </a:prstGeom>
          <a:noFill/>
        </p:spPr>
        <p:txBody>
          <a:bodyPr wrap="square">
            <a:spAutoFit/>
          </a:bodyPr>
          <a:lstStyle/>
          <a:p>
            <a:pPr algn="l">
              <a:defRPr sz="950" b="0">
                <a:solidFill>
                  <a:srgbClr val="2D3748"/>
                </a:solidFill>
                <a:latin typeface="Calibri"/>
              </a:defRPr>
            </a:pPr>
            <a:r>
              <a:t>Aggregate into 1-hour time windows per entity_uuid. Entity fusion resolves 10+ identity systems.</a:t>
            </a:r>
          </a:p>
        </p:txBody>
      </p:sp>
      <p:sp>
        <p:nvSpPr>
          <p:cNvPr id="18" name="TextBox 17"/>
          <p:cNvSpPr txBox="1"/>
          <p:nvPr/>
        </p:nvSpPr>
        <p:spPr>
          <a:xfrm>
            <a:off x="2286000" y="2542032"/>
            <a:ext cx="6858000" cy="274320"/>
          </a:xfrm>
          <a:prstGeom prst="rect">
            <a:avLst/>
          </a:prstGeom>
          <a:noFill/>
        </p:spPr>
        <p:txBody>
          <a:bodyPr wrap="square">
            <a:spAutoFit/>
          </a:bodyPr>
          <a:lstStyle/>
          <a:p>
            <a:pPr algn="l">
              <a:defRPr sz="850" b="0">
                <a:solidFill>
                  <a:srgbClr val="5A6878"/>
                </a:solidFill>
                <a:latin typeface="Calibri"/>
              </a:defRPr>
            </a:pPr>
            <a:r>
              <a:t>TimescaleDB hypertable</a:t>
            </a:r>
          </a:p>
        </p:txBody>
      </p:sp>
      <p:sp>
        <p:nvSpPr>
          <p:cNvPr id="19" name="TextBox 18"/>
          <p:cNvSpPr txBox="1"/>
          <p:nvPr/>
        </p:nvSpPr>
        <p:spPr>
          <a:xfrm>
            <a:off x="9326880" y="2221992"/>
            <a:ext cx="2011680" cy="457200"/>
          </a:xfrm>
          <a:prstGeom prst="rect">
            <a:avLst/>
          </a:prstGeom>
          <a:noFill/>
        </p:spPr>
        <p:txBody>
          <a:bodyPr wrap="square">
            <a:spAutoFit/>
          </a:bodyPr>
          <a:lstStyle/>
          <a:p>
            <a:pPr algn="ctr">
              <a:defRPr sz="900" b="1">
                <a:solidFill>
                  <a:srgbClr val="0891B2"/>
                </a:solidFill>
                <a:latin typeface="Calibri"/>
              </a:defRPr>
            </a:pPr>
            <a:r>
              <a:t>&lt;3 sec per entity</a:t>
            </a:r>
          </a:p>
        </p:txBody>
      </p:sp>
      <p:sp>
        <p:nvSpPr>
          <p:cNvPr id="20" name="Rounded Rectangle 19"/>
          <p:cNvSpPr/>
          <p:nvPr/>
        </p:nvSpPr>
        <p:spPr>
          <a:xfrm>
            <a:off x="457200" y="2889504"/>
            <a:ext cx="11064240" cy="77724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2935224"/>
            <a:ext cx="548640" cy="685800"/>
          </a:xfrm>
          <a:prstGeom prst="rect">
            <a:avLst/>
          </a:prstGeom>
          <a:solidFill>
            <a:srgbClr val="6C2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2980944"/>
            <a:ext cx="457200" cy="274320"/>
          </a:xfrm>
          <a:prstGeom prst="rect">
            <a:avLst/>
          </a:prstGeom>
          <a:noFill/>
        </p:spPr>
        <p:txBody>
          <a:bodyPr wrap="square">
            <a:spAutoFit/>
          </a:bodyPr>
          <a:lstStyle/>
          <a:p>
            <a:pPr algn="ctr">
              <a:defRPr sz="1800" b="1">
                <a:solidFill>
                  <a:srgbClr val="FFFFFF"/>
                </a:solidFill>
                <a:latin typeface="Georgia"/>
              </a:defRPr>
            </a:pPr>
            <a:r>
              <a:t>3</a:t>
            </a:r>
          </a:p>
        </p:txBody>
      </p:sp>
      <p:sp>
        <p:nvSpPr>
          <p:cNvPr id="23" name="TextBox 22"/>
          <p:cNvSpPr txBox="1"/>
          <p:nvPr/>
        </p:nvSpPr>
        <p:spPr>
          <a:xfrm>
            <a:off x="1097280" y="2935224"/>
            <a:ext cx="1097280" cy="274320"/>
          </a:xfrm>
          <a:prstGeom prst="rect">
            <a:avLst/>
          </a:prstGeom>
          <a:noFill/>
        </p:spPr>
        <p:txBody>
          <a:bodyPr wrap="square">
            <a:spAutoFit/>
          </a:bodyPr>
          <a:lstStyle/>
          <a:p>
            <a:pPr algn="l">
              <a:defRPr sz="1200" b="1">
                <a:solidFill>
                  <a:srgbClr val="6C2ED9"/>
                </a:solidFill>
                <a:latin typeface="Calibri"/>
              </a:defRPr>
            </a:pPr>
            <a:r>
              <a:t>SUMMARIZE</a:t>
            </a:r>
          </a:p>
        </p:txBody>
      </p:sp>
      <p:sp>
        <p:nvSpPr>
          <p:cNvPr id="24" name="TextBox 23"/>
          <p:cNvSpPr txBox="1"/>
          <p:nvPr/>
        </p:nvSpPr>
        <p:spPr>
          <a:xfrm>
            <a:off x="2286000" y="2935224"/>
            <a:ext cx="6858000" cy="365760"/>
          </a:xfrm>
          <a:prstGeom prst="rect">
            <a:avLst/>
          </a:prstGeom>
          <a:noFill/>
        </p:spPr>
        <p:txBody>
          <a:bodyPr wrap="square">
            <a:spAutoFit/>
          </a:bodyPr>
          <a:lstStyle/>
          <a:p>
            <a:pPr algn="l">
              <a:defRPr sz="950" b="0">
                <a:solidFill>
                  <a:srgbClr val="2D3748"/>
                </a:solidFill>
                <a:latin typeface="Calibri"/>
              </a:defRPr>
            </a:pPr>
            <a:r>
              <a:t>5 signal summarizers produce structured text (metrics only). No raw content. No PII.</a:t>
            </a:r>
          </a:p>
        </p:txBody>
      </p:sp>
      <p:sp>
        <p:nvSpPr>
          <p:cNvPr id="25" name="TextBox 24"/>
          <p:cNvSpPr txBox="1"/>
          <p:nvPr/>
        </p:nvSpPr>
        <p:spPr>
          <a:xfrm>
            <a:off x="2286000" y="3346704"/>
            <a:ext cx="6858000" cy="274320"/>
          </a:xfrm>
          <a:prstGeom prst="rect">
            <a:avLst/>
          </a:prstGeom>
          <a:noFill/>
        </p:spPr>
        <p:txBody>
          <a:bodyPr wrap="square">
            <a:spAutoFit/>
          </a:bodyPr>
          <a:lstStyle/>
          <a:p>
            <a:pPr algn="l">
              <a:defRPr sz="850" b="0">
                <a:solidFill>
                  <a:srgbClr val="5A6878"/>
                </a:solidFill>
                <a:latin typeface="Calibri"/>
              </a:defRPr>
            </a:pPr>
            <a:r>
              <a:t>Python workers (horizontal autoscale)</a:t>
            </a:r>
          </a:p>
        </p:txBody>
      </p:sp>
      <p:sp>
        <p:nvSpPr>
          <p:cNvPr id="26" name="TextBox 25"/>
          <p:cNvSpPr txBox="1"/>
          <p:nvPr/>
        </p:nvSpPr>
        <p:spPr>
          <a:xfrm>
            <a:off x="9326880" y="3026664"/>
            <a:ext cx="2011680" cy="457200"/>
          </a:xfrm>
          <a:prstGeom prst="rect">
            <a:avLst/>
          </a:prstGeom>
          <a:noFill/>
        </p:spPr>
        <p:txBody>
          <a:bodyPr wrap="square">
            <a:spAutoFit/>
          </a:bodyPr>
          <a:lstStyle/>
          <a:p>
            <a:pPr algn="ctr">
              <a:defRPr sz="900" b="1">
                <a:solidFill>
                  <a:srgbClr val="6C2ED9"/>
                </a:solidFill>
                <a:latin typeface="Calibri"/>
              </a:defRPr>
            </a:pPr>
            <a:r>
              <a:t>&lt;3 sec per entity</a:t>
            </a:r>
          </a:p>
        </p:txBody>
      </p:sp>
      <p:sp>
        <p:nvSpPr>
          <p:cNvPr id="27" name="Rounded Rectangle 26"/>
          <p:cNvSpPr/>
          <p:nvPr/>
        </p:nvSpPr>
        <p:spPr>
          <a:xfrm>
            <a:off x="457200" y="3694176"/>
            <a:ext cx="11064240" cy="77724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3739896"/>
            <a:ext cx="548640" cy="6858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3785616"/>
            <a:ext cx="457200" cy="274320"/>
          </a:xfrm>
          <a:prstGeom prst="rect">
            <a:avLst/>
          </a:prstGeom>
          <a:noFill/>
        </p:spPr>
        <p:txBody>
          <a:bodyPr wrap="square">
            <a:spAutoFit/>
          </a:bodyPr>
          <a:lstStyle/>
          <a:p>
            <a:pPr algn="ctr">
              <a:defRPr sz="1800" b="1">
                <a:solidFill>
                  <a:srgbClr val="FFFFFF"/>
                </a:solidFill>
                <a:latin typeface="Georgia"/>
              </a:defRPr>
            </a:pPr>
            <a:r>
              <a:t>4</a:t>
            </a:r>
          </a:p>
        </p:txBody>
      </p:sp>
      <p:sp>
        <p:nvSpPr>
          <p:cNvPr id="30" name="TextBox 29"/>
          <p:cNvSpPr txBox="1"/>
          <p:nvPr/>
        </p:nvSpPr>
        <p:spPr>
          <a:xfrm>
            <a:off x="1097280" y="3739896"/>
            <a:ext cx="1097280" cy="274320"/>
          </a:xfrm>
          <a:prstGeom prst="rect">
            <a:avLst/>
          </a:prstGeom>
          <a:noFill/>
        </p:spPr>
        <p:txBody>
          <a:bodyPr wrap="square">
            <a:spAutoFit/>
          </a:bodyPr>
          <a:lstStyle/>
          <a:p>
            <a:pPr algn="l">
              <a:defRPr sz="1200" b="1">
                <a:solidFill>
                  <a:srgbClr val="F26B1F"/>
                </a:solidFill>
                <a:latin typeface="Calibri"/>
              </a:defRPr>
            </a:pPr>
            <a:r>
              <a:t>EMBED</a:t>
            </a:r>
          </a:p>
        </p:txBody>
      </p:sp>
      <p:sp>
        <p:nvSpPr>
          <p:cNvPr id="31" name="TextBox 30"/>
          <p:cNvSpPr txBox="1"/>
          <p:nvPr/>
        </p:nvSpPr>
        <p:spPr>
          <a:xfrm>
            <a:off x="2286000" y="3739896"/>
            <a:ext cx="6858000" cy="365760"/>
          </a:xfrm>
          <a:prstGeom prst="rect">
            <a:avLst/>
          </a:prstGeom>
          <a:noFill/>
        </p:spPr>
        <p:txBody>
          <a:bodyPr wrap="square">
            <a:spAutoFit/>
          </a:bodyPr>
          <a:lstStyle/>
          <a:p>
            <a:pPr algn="l">
              <a:defRPr sz="950" b="0">
                <a:solidFill>
                  <a:srgbClr val="2D3748"/>
                </a:solidFill>
                <a:latin typeface="Calibri"/>
              </a:defRPr>
            </a:pPr>
            <a:r>
              <a:t>Concatenated signal text embedded into 1536-d vector. IL5: OpenAI API. IL6/JWICS: local Phi-4.</a:t>
            </a:r>
          </a:p>
        </p:txBody>
      </p:sp>
      <p:sp>
        <p:nvSpPr>
          <p:cNvPr id="32" name="TextBox 31"/>
          <p:cNvSpPr txBox="1"/>
          <p:nvPr/>
        </p:nvSpPr>
        <p:spPr>
          <a:xfrm>
            <a:off x="2286000" y="4151376"/>
            <a:ext cx="6858000" cy="274320"/>
          </a:xfrm>
          <a:prstGeom prst="rect">
            <a:avLst/>
          </a:prstGeom>
          <a:noFill/>
        </p:spPr>
        <p:txBody>
          <a:bodyPr wrap="square">
            <a:spAutoFit/>
          </a:bodyPr>
          <a:lstStyle/>
          <a:p>
            <a:pPr algn="l">
              <a:defRPr sz="850" b="0">
                <a:solidFill>
                  <a:srgbClr val="5A6878"/>
                </a:solidFill>
                <a:latin typeface="Calibri"/>
              </a:defRPr>
            </a:pPr>
            <a:r>
              <a:t>pgvector HNSW index</a:t>
            </a:r>
          </a:p>
        </p:txBody>
      </p:sp>
      <p:sp>
        <p:nvSpPr>
          <p:cNvPr id="33" name="TextBox 32"/>
          <p:cNvSpPr txBox="1"/>
          <p:nvPr/>
        </p:nvSpPr>
        <p:spPr>
          <a:xfrm>
            <a:off x="9326880" y="3831336"/>
            <a:ext cx="2011680" cy="457200"/>
          </a:xfrm>
          <a:prstGeom prst="rect">
            <a:avLst/>
          </a:prstGeom>
          <a:noFill/>
        </p:spPr>
        <p:txBody>
          <a:bodyPr wrap="square">
            <a:spAutoFit/>
          </a:bodyPr>
          <a:lstStyle/>
          <a:p>
            <a:pPr algn="ctr">
              <a:defRPr sz="900" b="1">
                <a:solidFill>
                  <a:srgbClr val="F26B1F"/>
                </a:solidFill>
                <a:latin typeface="Calibri"/>
              </a:defRPr>
            </a:pPr>
            <a:r>
              <a:t>env var switches model</a:t>
            </a:r>
          </a:p>
        </p:txBody>
      </p:sp>
      <p:sp>
        <p:nvSpPr>
          <p:cNvPr id="34" name="Rounded Rectangle 33"/>
          <p:cNvSpPr/>
          <p:nvPr/>
        </p:nvSpPr>
        <p:spPr>
          <a:xfrm>
            <a:off x="457200" y="4498848"/>
            <a:ext cx="11064240" cy="77724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57200" y="4544568"/>
            <a:ext cx="548640" cy="6858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 y="4590288"/>
            <a:ext cx="457200" cy="274320"/>
          </a:xfrm>
          <a:prstGeom prst="rect">
            <a:avLst/>
          </a:prstGeom>
          <a:noFill/>
        </p:spPr>
        <p:txBody>
          <a:bodyPr wrap="square">
            <a:spAutoFit/>
          </a:bodyPr>
          <a:lstStyle/>
          <a:p>
            <a:pPr algn="ctr">
              <a:defRPr sz="1800" b="1">
                <a:solidFill>
                  <a:srgbClr val="FFFFFF"/>
                </a:solidFill>
                <a:latin typeface="Georgia"/>
              </a:defRPr>
            </a:pPr>
            <a:r>
              <a:t>5</a:t>
            </a:r>
          </a:p>
        </p:txBody>
      </p:sp>
      <p:sp>
        <p:nvSpPr>
          <p:cNvPr id="37" name="TextBox 36"/>
          <p:cNvSpPr txBox="1"/>
          <p:nvPr/>
        </p:nvSpPr>
        <p:spPr>
          <a:xfrm>
            <a:off x="1097280" y="4544568"/>
            <a:ext cx="1097280" cy="274320"/>
          </a:xfrm>
          <a:prstGeom prst="rect">
            <a:avLst/>
          </a:prstGeom>
          <a:noFill/>
        </p:spPr>
        <p:txBody>
          <a:bodyPr wrap="square">
            <a:spAutoFit/>
          </a:bodyPr>
          <a:lstStyle/>
          <a:p>
            <a:pPr algn="l">
              <a:defRPr sz="1200" b="1">
                <a:solidFill>
                  <a:srgbClr val="0B1F3A"/>
                </a:solidFill>
                <a:latin typeface="Calibri"/>
              </a:defRPr>
            </a:pPr>
            <a:r>
              <a:t>ANALYZE</a:t>
            </a:r>
          </a:p>
        </p:txBody>
      </p:sp>
      <p:sp>
        <p:nvSpPr>
          <p:cNvPr id="38" name="TextBox 37"/>
          <p:cNvSpPr txBox="1"/>
          <p:nvPr/>
        </p:nvSpPr>
        <p:spPr>
          <a:xfrm>
            <a:off x="2286000" y="4544568"/>
            <a:ext cx="6858000" cy="365760"/>
          </a:xfrm>
          <a:prstGeom prst="rect">
            <a:avLst/>
          </a:prstGeom>
          <a:noFill/>
        </p:spPr>
        <p:txBody>
          <a:bodyPr wrap="square">
            <a:spAutoFit/>
          </a:bodyPr>
          <a:lstStyle/>
          <a:p>
            <a:pPr algn="l">
              <a:defRPr sz="950" b="0">
                <a:solidFill>
                  <a:srgbClr val="2D3748"/>
                </a:solidFill>
                <a:latin typeface="Calibri"/>
              </a:defRPr>
            </a:pPr>
            <a:r>
              <a:t>Trajectory analysis: cosine drift, velocity, acceleration, CUSUM 4-sigma, drift direction onto 8 concepts.</a:t>
            </a:r>
          </a:p>
        </p:txBody>
      </p:sp>
      <p:sp>
        <p:nvSpPr>
          <p:cNvPr id="39" name="TextBox 38"/>
          <p:cNvSpPr txBox="1"/>
          <p:nvPr/>
        </p:nvSpPr>
        <p:spPr>
          <a:xfrm>
            <a:off x="2286000" y="4956048"/>
            <a:ext cx="6858000" cy="274320"/>
          </a:xfrm>
          <a:prstGeom prst="rect">
            <a:avLst/>
          </a:prstGeom>
          <a:noFill/>
        </p:spPr>
        <p:txBody>
          <a:bodyPr wrap="square">
            <a:spAutoFit/>
          </a:bodyPr>
          <a:lstStyle/>
          <a:p>
            <a:pPr algn="l">
              <a:defRPr sz="850" b="0">
                <a:solidFill>
                  <a:srgbClr val="5A6878"/>
                </a:solidFill>
                <a:latin typeface="Calibri"/>
              </a:defRPr>
            </a:pPr>
            <a:r>
              <a:t>Per-entity, per-window computation</a:t>
            </a:r>
          </a:p>
        </p:txBody>
      </p:sp>
      <p:sp>
        <p:nvSpPr>
          <p:cNvPr id="40" name="TextBox 39"/>
          <p:cNvSpPr txBox="1"/>
          <p:nvPr/>
        </p:nvSpPr>
        <p:spPr>
          <a:xfrm>
            <a:off x="9326880" y="4636008"/>
            <a:ext cx="2011680" cy="457200"/>
          </a:xfrm>
          <a:prstGeom prst="rect">
            <a:avLst/>
          </a:prstGeom>
          <a:noFill/>
        </p:spPr>
        <p:txBody>
          <a:bodyPr wrap="square">
            <a:spAutoFit/>
          </a:bodyPr>
          <a:lstStyle/>
          <a:p>
            <a:pPr algn="ctr">
              <a:defRPr sz="900" b="1">
                <a:solidFill>
                  <a:srgbClr val="0B1F3A"/>
                </a:solidFill>
                <a:latin typeface="Calibri"/>
              </a:defRPr>
            </a:pPr>
            <a:r>
              <a:t>&lt;3 sec per entity</a:t>
            </a:r>
          </a:p>
        </p:txBody>
      </p:sp>
      <p:sp>
        <p:nvSpPr>
          <p:cNvPr id="41" name="Rounded Rectangle 40"/>
          <p:cNvSpPr/>
          <p:nvPr/>
        </p:nvSpPr>
        <p:spPr>
          <a:xfrm>
            <a:off x="457200" y="5303520"/>
            <a:ext cx="11064240" cy="77724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57200" y="5349240"/>
            <a:ext cx="548640" cy="6858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2920" y="5394960"/>
            <a:ext cx="457200" cy="274320"/>
          </a:xfrm>
          <a:prstGeom prst="rect">
            <a:avLst/>
          </a:prstGeom>
          <a:noFill/>
        </p:spPr>
        <p:txBody>
          <a:bodyPr wrap="square">
            <a:spAutoFit/>
          </a:bodyPr>
          <a:lstStyle/>
          <a:p>
            <a:pPr algn="ctr">
              <a:defRPr sz="1800" b="1">
                <a:solidFill>
                  <a:srgbClr val="FFFFFF"/>
                </a:solidFill>
                <a:latin typeface="Georgia"/>
              </a:defRPr>
            </a:pPr>
            <a:r>
              <a:t>6</a:t>
            </a:r>
          </a:p>
        </p:txBody>
      </p:sp>
      <p:sp>
        <p:nvSpPr>
          <p:cNvPr id="44" name="TextBox 43"/>
          <p:cNvSpPr txBox="1"/>
          <p:nvPr/>
        </p:nvSpPr>
        <p:spPr>
          <a:xfrm>
            <a:off x="1097280" y="5349240"/>
            <a:ext cx="1097280" cy="274320"/>
          </a:xfrm>
          <a:prstGeom prst="rect">
            <a:avLst/>
          </a:prstGeom>
          <a:noFill/>
        </p:spPr>
        <p:txBody>
          <a:bodyPr wrap="square">
            <a:spAutoFit/>
          </a:bodyPr>
          <a:lstStyle/>
          <a:p>
            <a:pPr algn="l">
              <a:defRPr sz="1200" b="1">
                <a:solidFill>
                  <a:srgbClr val="C0392B"/>
                </a:solidFill>
                <a:latin typeface="Calibri"/>
              </a:defRPr>
            </a:pPr>
            <a:r>
              <a:t>ALERT</a:t>
            </a:r>
          </a:p>
        </p:txBody>
      </p:sp>
      <p:sp>
        <p:nvSpPr>
          <p:cNvPr id="45" name="TextBox 44"/>
          <p:cNvSpPr txBox="1"/>
          <p:nvPr/>
        </p:nvSpPr>
        <p:spPr>
          <a:xfrm>
            <a:off x="2286000" y="5349240"/>
            <a:ext cx="6858000" cy="365760"/>
          </a:xfrm>
          <a:prstGeom prst="rect">
            <a:avLst/>
          </a:prstGeom>
          <a:noFill/>
        </p:spPr>
        <p:txBody>
          <a:bodyPr wrap="square">
            <a:spAutoFit/>
          </a:bodyPr>
          <a:lstStyle/>
          <a:p>
            <a:pPr algn="l">
              <a:defRPr sz="950" b="0">
                <a:solidFill>
                  <a:srgbClr val="2D3748"/>
                </a:solidFill>
                <a:latin typeface="Calibri"/>
              </a:defRPr>
            </a:pPr>
            <a:r>
              <a:t>Alert tiers (CRITICAL through INFO) with MITRE technique IDs, cohort z-score, ABAC trust state update.</a:t>
            </a:r>
          </a:p>
        </p:txBody>
      </p:sp>
      <p:sp>
        <p:nvSpPr>
          <p:cNvPr id="46" name="TextBox 45"/>
          <p:cNvSpPr txBox="1"/>
          <p:nvPr/>
        </p:nvSpPr>
        <p:spPr>
          <a:xfrm>
            <a:off x="2286000" y="5760720"/>
            <a:ext cx="6858000" cy="274320"/>
          </a:xfrm>
          <a:prstGeom prst="rect">
            <a:avLst/>
          </a:prstGeom>
          <a:noFill/>
        </p:spPr>
        <p:txBody>
          <a:bodyPr wrap="square">
            <a:spAutoFit/>
          </a:bodyPr>
          <a:lstStyle/>
          <a:p>
            <a:pPr algn="l">
              <a:defRPr sz="850" b="0">
                <a:solidFill>
                  <a:srgbClr val="5A6878"/>
                </a:solidFill>
                <a:latin typeface="Calibri"/>
              </a:defRPr>
            </a:pPr>
            <a:r>
              <a:t>WebSocket push to dashboard + SOAR webhook</a:t>
            </a:r>
          </a:p>
        </p:txBody>
      </p:sp>
      <p:sp>
        <p:nvSpPr>
          <p:cNvPr id="47" name="TextBox 46"/>
          <p:cNvSpPr txBox="1"/>
          <p:nvPr/>
        </p:nvSpPr>
        <p:spPr>
          <a:xfrm>
            <a:off x="9326880" y="5440680"/>
            <a:ext cx="2011680" cy="457200"/>
          </a:xfrm>
          <a:prstGeom prst="rect">
            <a:avLst/>
          </a:prstGeom>
          <a:noFill/>
        </p:spPr>
        <p:txBody>
          <a:bodyPr wrap="square">
            <a:spAutoFit/>
          </a:bodyPr>
          <a:lstStyle/>
          <a:p>
            <a:pPr algn="ctr">
              <a:defRPr sz="900" b="1">
                <a:solidFill>
                  <a:srgbClr val="C0392B"/>
                </a:solidFill>
                <a:latin typeface="Calibri"/>
              </a:defRPr>
            </a:pPr>
            <a:r>
              <a:t>&lt;3 sec per entity</a:t>
            </a:r>
          </a:p>
        </p:txBody>
      </p:sp>
      <p:sp>
        <p:nvSpPr>
          <p:cNvPr id="48" name="Rectangle 47"/>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Raw event to actionable alert: &lt;3 seconds per entity. 10K entities/hour per 4-vCPU pod. Horizontal autoscale.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6099048" cy="27432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9048" y="0"/>
            <a:ext cx="6099048"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INTEGRATION -- COMBINED ARCHITECTURE</a:t>
            </a:r>
          </a:p>
        </p:txBody>
      </p:sp>
      <p:sp>
        <p:nvSpPr>
          <p:cNvPr id="5" name="TextBox 4"/>
          <p:cNvSpPr txBox="1"/>
          <p:nvPr/>
        </p:nvSpPr>
        <p:spPr>
          <a:xfrm>
            <a:off x="457200" y="457200"/>
            <a:ext cx="11247120" cy="457200"/>
          </a:xfrm>
          <a:prstGeom prst="rect">
            <a:avLst/>
          </a:prstGeom>
          <a:noFill/>
        </p:spPr>
        <p:txBody>
          <a:bodyPr wrap="square">
            <a:spAutoFit/>
          </a:bodyPr>
          <a:lstStyle/>
          <a:p>
            <a:pPr algn="l">
              <a:defRPr sz="2400" b="1">
                <a:solidFill>
                  <a:srgbClr val="0B1F3A"/>
                </a:solidFill>
                <a:latin typeface="Georgia"/>
              </a:defRPr>
            </a:pPr>
            <a:r>
              <a:t>End-to-End Architecture: Preemptive + ACECARD UEBA</a:t>
            </a:r>
          </a:p>
        </p:txBody>
      </p:sp>
      <p:sp>
        <p:nvSpPr>
          <p:cNvPr id="6" name="TextBox 5"/>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Preemptive proves what cannot happen. ACECARD detects what is happening. Shared MITRE vocabulary.</a:t>
            </a:r>
          </a:p>
        </p:txBody>
      </p:sp>
      <p:sp>
        <p:nvSpPr>
          <p:cNvPr id="7" name="Rounded Rectangle 6"/>
          <p:cNvSpPr/>
          <p:nvPr/>
        </p:nvSpPr>
        <p:spPr>
          <a:xfrm>
            <a:off x="457200" y="1371600"/>
            <a:ext cx="2286000" cy="48463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371600"/>
            <a:ext cx="91440" cy="4846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371600"/>
            <a:ext cx="228600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389888"/>
            <a:ext cx="2103120" cy="274320"/>
          </a:xfrm>
          <a:prstGeom prst="rect">
            <a:avLst/>
          </a:prstGeom>
          <a:noFill/>
        </p:spPr>
        <p:txBody>
          <a:bodyPr wrap="square">
            <a:spAutoFit/>
          </a:bodyPr>
          <a:lstStyle/>
          <a:p>
            <a:pPr algn="ctr">
              <a:defRPr sz="1100" b="1">
                <a:solidFill>
                  <a:srgbClr val="FFFFFF"/>
                </a:solidFill>
                <a:latin typeface="Calibri"/>
              </a:defRPr>
            </a:pPr>
            <a:r>
              <a:t>INPUTS</a:t>
            </a:r>
          </a:p>
        </p:txBody>
      </p:sp>
      <p:sp>
        <p:nvSpPr>
          <p:cNvPr id="11" name="TextBox 10"/>
          <p:cNvSpPr txBox="1"/>
          <p:nvPr/>
        </p:nvSpPr>
        <p:spPr>
          <a:xfrm>
            <a:off x="640080" y="1828800"/>
            <a:ext cx="1920240" cy="182880"/>
          </a:xfrm>
          <a:prstGeom prst="rect">
            <a:avLst/>
          </a:prstGeom>
          <a:noFill/>
        </p:spPr>
        <p:txBody>
          <a:bodyPr wrap="square">
            <a:spAutoFit/>
          </a:bodyPr>
          <a:lstStyle/>
          <a:p>
            <a:pPr algn="l">
              <a:defRPr sz="1000" b="1">
                <a:solidFill>
                  <a:srgbClr val="F26B1F"/>
                </a:solidFill>
                <a:latin typeface="Calibri"/>
              </a:defRPr>
            </a:pPr>
            <a:r>
              <a:t>Threat Intel</a:t>
            </a:r>
          </a:p>
        </p:txBody>
      </p:sp>
      <p:sp>
        <p:nvSpPr>
          <p:cNvPr id="12" name="TextBox 11"/>
          <p:cNvSpPr txBox="1"/>
          <p:nvPr/>
        </p:nvSpPr>
        <p:spPr>
          <a:xfrm>
            <a:off x="640080" y="2011680"/>
            <a:ext cx="1920240" cy="320040"/>
          </a:xfrm>
          <a:prstGeom prst="rect">
            <a:avLst/>
          </a:prstGeom>
          <a:noFill/>
        </p:spPr>
        <p:txBody>
          <a:bodyPr wrap="square">
            <a:spAutoFit/>
          </a:bodyPr>
          <a:lstStyle/>
          <a:p>
            <a:pPr algn="l">
              <a:defRPr sz="800" b="0">
                <a:solidFill>
                  <a:srgbClr val="5A6878"/>
                </a:solidFill>
                <a:latin typeface="Calibri"/>
              </a:defRPr>
            </a:pPr>
            <a:r>
              <a:t>MITRE ATT&amp;CK, CISA, FBI, NSA, CTI feeds</a:t>
            </a:r>
          </a:p>
        </p:txBody>
      </p:sp>
      <p:sp>
        <p:nvSpPr>
          <p:cNvPr id="13" name="TextBox 12"/>
          <p:cNvSpPr txBox="1"/>
          <p:nvPr/>
        </p:nvSpPr>
        <p:spPr>
          <a:xfrm>
            <a:off x="640080" y="2377440"/>
            <a:ext cx="1920240" cy="182880"/>
          </a:xfrm>
          <a:prstGeom prst="rect">
            <a:avLst/>
          </a:prstGeom>
          <a:noFill/>
        </p:spPr>
        <p:txBody>
          <a:bodyPr wrap="square">
            <a:spAutoFit/>
          </a:bodyPr>
          <a:lstStyle/>
          <a:p>
            <a:pPr algn="l">
              <a:defRPr sz="1000" b="1">
                <a:solidFill>
                  <a:srgbClr val="F26B1F"/>
                </a:solidFill>
                <a:latin typeface="Calibri"/>
              </a:defRPr>
            </a:pPr>
            <a:r>
              <a:t>Defense Config</a:t>
            </a:r>
          </a:p>
        </p:txBody>
      </p:sp>
      <p:sp>
        <p:nvSpPr>
          <p:cNvPr id="14" name="TextBox 13"/>
          <p:cNvSpPr txBox="1"/>
          <p:nvPr/>
        </p:nvSpPr>
        <p:spPr>
          <a:xfrm>
            <a:off x="640080" y="2560320"/>
            <a:ext cx="1920240" cy="320040"/>
          </a:xfrm>
          <a:prstGeom prst="rect">
            <a:avLst/>
          </a:prstGeom>
          <a:noFill/>
        </p:spPr>
        <p:txBody>
          <a:bodyPr wrap="square">
            <a:spAutoFit/>
          </a:bodyPr>
          <a:lstStyle/>
          <a:p>
            <a:pPr algn="l">
              <a:defRPr sz="800" b="0">
                <a:solidFill>
                  <a:srgbClr val="5A6878"/>
                </a:solidFill>
                <a:latin typeface="Calibri"/>
              </a:defRPr>
            </a:pPr>
            <a:r>
              <a:t>NGFW, IPS, IdP, IAM, SASE, WAF rules</a:t>
            </a:r>
          </a:p>
        </p:txBody>
      </p:sp>
      <p:sp>
        <p:nvSpPr>
          <p:cNvPr id="15" name="TextBox 14"/>
          <p:cNvSpPr txBox="1"/>
          <p:nvPr/>
        </p:nvSpPr>
        <p:spPr>
          <a:xfrm>
            <a:off x="640080" y="2926080"/>
            <a:ext cx="1920240" cy="182880"/>
          </a:xfrm>
          <a:prstGeom prst="rect">
            <a:avLst/>
          </a:prstGeom>
          <a:noFill/>
        </p:spPr>
        <p:txBody>
          <a:bodyPr wrap="square">
            <a:spAutoFit/>
          </a:bodyPr>
          <a:lstStyle/>
          <a:p>
            <a:pPr algn="l">
              <a:defRPr sz="1000" b="1">
                <a:solidFill>
                  <a:srgbClr val="F26B1F"/>
                </a:solidFill>
                <a:latin typeface="Calibri"/>
              </a:defRPr>
            </a:pPr>
            <a:r>
              <a:t>Telemetry</a:t>
            </a:r>
          </a:p>
        </p:txBody>
      </p:sp>
      <p:sp>
        <p:nvSpPr>
          <p:cNvPr id="16" name="TextBox 15"/>
          <p:cNvSpPr txBox="1"/>
          <p:nvPr/>
        </p:nvSpPr>
        <p:spPr>
          <a:xfrm>
            <a:off x="640080" y="3108960"/>
            <a:ext cx="1920240" cy="320040"/>
          </a:xfrm>
          <a:prstGeom prst="rect">
            <a:avLst/>
          </a:prstGeom>
          <a:noFill/>
        </p:spPr>
        <p:txBody>
          <a:bodyPr wrap="square">
            <a:spAutoFit/>
          </a:bodyPr>
          <a:lstStyle/>
          <a:p>
            <a:pPr algn="l">
              <a:defRPr sz="800" b="0">
                <a:solidFill>
                  <a:srgbClr val="5A6878"/>
                </a:solidFill>
                <a:latin typeface="Calibri"/>
              </a:defRPr>
            </a:pPr>
            <a:r>
              <a:t>Win EventLog, Sysmon, EDR, NetFlow, Zeek, Okta, K8s</a:t>
            </a:r>
          </a:p>
        </p:txBody>
      </p:sp>
      <p:sp>
        <p:nvSpPr>
          <p:cNvPr id="17" name="TextBox 16"/>
          <p:cNvSpPr txBox="1"/>
          <p:nvPr/>
        </p:nvSpPr>
        <p:spPr>
          <a:xfrm>
            <a:off x="640080" y="3474720"/>
            <a:ext cx="1920240" cy="182880"/>
          </a:xfrm>
          <a:prstGeom prst="rect">
            <a:avLst/>
          </a:prstGeom>
          <a:noFill/>
        </p:spPr>
        <p:txBody>
          <a:bodyPr wrap="square">
            <a:spAutoFit/>
          </a:bodyPr>
          <a:lstStyle/>
          <a:p>
            <a:pPr algn="l">
              <a:defRPr sz="1000" b="1">
                <a:solidFill>
                  <a:srgbClr val="F26B1F"/>
                </a:solidFill>
                <a:latin typeface="Calibri"/>
              </a:defRPr>
            </a:pPr>
            <a:r>
              <a:t>Schema</a:t>
            </a:r>
          </a:p>
        </p:txBody>
      </p:sp>
      <p:sp>
        <p:nvSpPr>
          <p:cNvPr id="18" name="TextBox 17"/>
          <p:cNvSpPr txBox="1"/>
          <p:nvPr/>
        </p:nvSpPr>
        <p:spPr>
          <a:xfrm>
            <a:off x="640080" y="3657600"/>
            <a:ext cx="1920240" cy="320040"/>
          </a:xfrm>
          <a:prstGeom prst="rect">
            <a:avLst/>
          </a:prstGeom>
          <a:noFill/>
        </p:spPr>
        <p:txBody>
          <a:bodyPr wrap="square">
            <a:spAutoFit/>
          </a:bodyPr>
          <a:lstStyle/>
          <a:p>
            <a:pPr algn="l">
              <a:defRPr sz="800" b="0">
                <a:solidFill>
                  <a:srgbClr val="5A6878"/>
                </a:solidFill>
                <a:latin typeface="Calibri"/>
              </a:defRPr>
            </a:pPr>
            <a:r>
              <a:t>ECS, OCSF, STIX 2.1 normalized</a:t>
            </a:r>
          </a:p>
        </p:txBody>
      </p:sp>
      <p:sp>
        <p:nvSpPr>
          <p:cNvPr id="19" name="Rounded Rectangle 18"/>
          <p:cNvSpPr/>
          <p:nvPr/>
        </p:nvSpPr>
        <p:spPr>
          <a:xfrm>
            <a:off x="3017520" y="1371600"/>
            <a:ext cx="4114800" cy="4846320"/>
          </a:xfrm>
          <a:prstGeom prst="roundRect">
            <a:avLst/>
          </a:prstGeom>
          <a:solidFill>
            <a:srgbClr val="FDE5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017520" y="1371600"/>
            <a:ext cx="91440" cy="484632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017520" y="1371600"/>
            <a:ext cx="4114800" cy="32004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08960" y="1389888"/>
            <a:ext cx="3931920" cy="274320"/>
          </a:xfrm>
          <a:prstGeom prst="rect">
            <a:avLst/>
          </a:prstGeom>
          <a:noFill/>
        </p:spPr>
        <p:txBody>
          <a:bodyPr wrap="square">
            <a:spAutoFit/>
          </a:bodyPr>
          <a:lstStyle/>
          <a:p>
            <a:pPr algn="ctr">
              <a:defRPr sz="1100" b="1">
                <a:solidFill>
                  <a:srgbClr val="FFFFFF"/>
                </a:solidFill>
                <a:latin typeface="Calibri"/>
              </a:defRPr>
            </a:pPr>
            <a:r>
              <a:t>LAYER 1 -- PREEMPTIVE</a:t>
            </a:r>
          </a:p>
        </p:txBody>
      </p:sp>
      <p:sp>
        <p:nvSpPr>
          <p:cNvPr id="23" name="Rounded Rectangle 22"/>
          <p:cNvSpPr/>
          <p:nvPr/>
        </p:nvSpPr>
        <p:spPr>
          <a:xfrm>
            <a:off x="3200400" y="1828800"/>
            <a:ext cx="3749039"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383280" y="1874520"/>
            <a:ext cx="3383280" cy="640080"/>
          </a:xfrm>
          <a:prstGeom prst="rect">
            <a:avLst/>
          </a:prstGeom>
          <a:noFill/>
        </p:spPr>
        <p:txBody>
          <a:bodyPr wrap="square">
            <a:spAutoFit/>
          </a:bodyPr>
          <a:lstStyle/>
          <a:p>
            <a:pPr algn="l">
              <a:defRPr sz="950" b="0">
                <a:solidFill>
                  <a:srgbClr val="2D3748"/>
                </a:solidFill>
                <a:latin typeface="Calibri"/>
              </a:defRPr>
            </a:pPr>
            <a:r>
              <a:t>Attack Intelligence</a:t>
            </a:r>
            <a:br/>
            <a:r>
              <a:t>MITRE-enriched attack graphs</a:t>
            </a:r>
          </a:p>
        </p:txBody>
      </p:sp>
      <p:sp>
        <p:nvSpPr>
          <p:cNvPr id="25" name="Rounded Rectangle 24"/>
          <p:cNvSpPr/>
          <p:nvPr/>
        </p:nvSpPr>
        <p:spPr>
          <a:xfrm>
            <a:off x="3200400" y="2606040"/>
            <a:ext cx="3749039"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383280" y="2651760"/>
            <a:ext cx="3383280" cy="640080"/>
          </a:xfrm>
          <a:prstGeom prst="rect">
            <a:avLst/>
          </a:prstGeom>
          <a:noFill/>
        </p:spPr>
        <p:txBody>
          <a:bodyPr wrap="square">
            <a:spAutoFit/>
          </a:bodyPr>
          <a:lstStyle/>
          <a:p>
            <a:pPr algn="l">
              <a:defRPr sz="950" b="0">
                <a:solidFill>
                  <a:srgbClr val="2D3748"/>
                </a:solidFill>
                <a:latin typeface="Calibri"/>
              </a:defRPr>
            </a:pPr>
            <a:r>
              <a:t>Defense Intelligence</a:t>
            </a:r>
            <a:br/>
            <a:r>
              <a:t>Symbolic Model of Computation</a:t>
            </a:r>
          </a:p>
        </p:txBody>
      </p:sp>
      <p:sp>
        <p:nvSpPr>
          <p:cNvPr id="27" name="Rounded Rectangle 26"/>
          <p:cNvSpPr/>
          <p:nvPr/>
        </p:nvSpPr>
        <p:spPr>
          <a:xfrm>
            <a:off x="3200400" y="3383280"/>
            <a:ext cx="3749039"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83280" y="3429000"/>
            <a:ext cx="3383280" cy="640080"/>
          </a:xfrm>
          <a:prstGeom prst="rect">
            <a:avLst/>
          </a:prstGeom>
          <a:noFill/>
        </p:spPr>
        <p:txBody>
          <a:bodyPr wrap="square">
            <a:spAutoFit/>
          </a:bodyPr>
          <a:lstStyle/>
          <a:p>
            <a:pPr algn="l">
              <a:defRPr sz="950" b="0">
                <a:solidFill>
                  <a:srgbClr val="2D3748"/>
                </a:solidFill>
                <a:latin typeface="Calibri"/>
              </a:defRPr>
            </a:pPr>
            <a:r>
              <a:t>Remediation Intelligence</a:t>
            </a:r>
            <a:br/>
            <a:r>
              <a:t>Risk-prioritized config fixes</a:t>
            </a:r>
          </a:p>
        </p:txBody>
      </p:sp>
      <p:sp>
        <p:nvSpPr>
          <p:cNvPr id="29" name="Rounded Rectangle 28"/>
          <p:cNvSpPr/>
          <p:nvPr/>
        </p:nvSpPr>
        <p:spPr>
          <a:xfrm>
            <a:off x="3200400" y="4206240"/>
            <a:ext cx="3749039" cy="914400"/>
          </a:xfrm>
          <a:prstGeom prst="roundRect">
            <a:avLst/>
          </a:prstGeom>
          <a:solidFill>
            <a:srgbClr val="FFFFFF"/>
          </a:solidFill>
          <a:ln w="12700">
            <a:solidFill>
              <a:srgbClr val="F26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383280" y="4224528"/>
            <a:ext cx="3383280" cy="182880"/>
          </a:xfrm>
          <a:prstGeom prst="rect">
            <a:avLst/>
          </a:prstGeom>
          <a:noFill/>
        </p:spPr>
        <p:txBody>
          <a:bodyPr wrap="square">
            <a:spAutoFit/>
          </a:bodyPr>
          <a:lstStyle/>
          <a:p>
            <a:pPr algn="l">
              <a:defRPr sz="900" b="1">
                <a:solidFill>
                  <a:srgbClr val="F26B1F"/>
                </a:solidFill>
                <a:latin typeface="Calibri"/>
              </a:defRPr>
            </a:pPr>
            <a:r>
              <a:t>OUTPUT</a:t>
            </a:r>
          </a:p>
        </p:txBody>
      </p:sp>
      <p:sp>
        <p:nvSpPr>
          <p:cNvPr id="31" name="TextBox 30"/>
          <p:cNvSpPr txBox="1"/>
          <p:nvPr/>
        </p:nvSpPr>
        <p:spPr>
          <a:xfrm>
            <a:off x="3383280" y="4434840"/>
            <a:ext cx="3383280" cy="640080"/>
          </a:xfrm>
          <a:prstGeom prst="rect">
            <a:avLst/>
          </a:prstGeom>
          <a:noFill/>
        </p:spPr>
        <p:txBody>
          <a:bodyPr wrap="square">
            <a:spAutoFit/>
          </a:bodyPr>
          <a:lstStyle/>
          <a:p>
            <a:pPr algn="l">
              <a:defRPr sz="900" b="0">
                <a:solidFill>
                  <a:srgbClr val="2D3748"/>
                </a:solidFill>
                <a:latin typeface="Calibri"/>
              </a:defRPr>
            </a:pPr>
            <a:r>
              <a:t>Hardened defense posture</a:t>
            </a:r>
          </a:p>
          <a:p>
            <a:pPr>
              <a:spcBef>
                <a:spcPts val="400"/>
              </a:spcBef>
              <a:defRPr sz="900" b="0">
                <a:solidFill>
                  <a:srgbClr val="2D3748"/>
                </a:solidFill>
                <a:latin typeface="Calibri"/>
              </a:defRPr>
            </a:pPr>
            <a:r>
              <a:t>Verified SOC playbooks</a:t>
            </a:r>
          </a:p>
          <a:p>
            <a:pPr>
              <a:spcBef>
                <a:spcPts val="400"/>
              </a:spcBef>
              <a:defRPr sz="900" b="0">
                <a:solidFill>
                  <a:srgbClr val="2D3748"/>
                </a:solidFill>
                <a:latin typeface="Calibri"/>
              </a:defRPr>
            </a:pPr>
            <a:r>
              <a:t>MITRE TTP coverage proof</a:t>
            </a:r>
          </a:p>
        </p:txBody>
      </p:sp>
      <p:sp>
        <p:nvSpPr>
          <p:cNvPr id="32" name="Rounded Rectangle 31"/>
          <p:cNvSpPr/>
          <p:nvPr/>
        </p:nvSpPr>
        <p:spPr>
          <a:xfrm>
            <a:off x="7406640" y="1371600"/>
            <a:ext cx="4114800" cy="4846320"/>
          </a:xfrm>
          <a:prstGeom prst="roundRect">
            <a:avLst/>
          </a:prstGeom>
          <a:solidFill>
            <a:srgbClr val="E0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406640" y="1371600"/>
            <a:ext cx="91440" cy="4846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06640" y="1371600"/>
            <a:ext cx="411480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98079" y="1389888"/>
            <a:ext cx="3931920" cy="274320"/>
          </a:xfrm>
          <a:prstGeom prst="rect">
            <a:avLst/>
          </a:prstGeom>
          <a:noFill/>
        </p:spPr>
        <p:txBody>
          <a:bodyPr wrap="square">
            <a:spAutoFit/>
          </a:bodyPr>
          <a:lstStyle/>
          <a:p>
            <a:pPr algn="ctr">
              <a:defRPr sz="1100" b="1">
                <a:solidFill>
                  <a:srgbClr val="FFFFFF"/>
                </a:solidFill>
                <a:latin typeface="Calibri"/>
              </a:defRPr>
            </a:pPr>
            <a:r>
              <a:t>LAYER 2 -- ACECARD UEBA</a:t>
            </a:r>
          </a:p>
        </p:txBody>
      </p:sp>
      <p:sp>
        <p:nvSpPr>
          <p:cNvPr id="36" name="Rounded Rectangle 35"/>
          <p:cNvSpPr/>
          <p:nvPr/>
        </p:nvSpPr>
        <p:spPr>
          <a:xfrm>
            <a:off x="7589520" y="1828800"/>
            <a:ext cx="3749039"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72400" y="1874520"/>
            <a:ext cx="3383280" cy="640080"/>
          </a:xfrm>
          <a:prstGeom prst="rect">
            <a:avLst/>
          </a:prstGeom>
          <a:noFill/>
        </p:spPr>
        <p:txBody>
          <a:bodyPr wrap="square">
            <a:spAutoFit/>
          </a:bodyPr>
          <a:lstStyle/>
          <a:p>
            <a:pPr algn="l">
              <a:defRPr sz="950" b="0">
                <a:solidFill>
                  <a:srgbClr val="2D3748"/>
                </a:solidFill>
                <a:latin typeface="Calibri"/>
              </a:defRPr>
            </a:pPr>
            <a:r>
              <a:t>5 Signal Summarizers -&gt; 1536-d</a:t>
            </a:r>
            <a:br/>
            <a:r>
              <a:t>Auth, Process, Network, File, Identity</a:t>
            </a:r>
          </a:p>
        </p:txBody>
      </p:sp>
      <p:sp>
        <p:nvSpPr>
          <p:cNvPr id="38" name="Rounded Rectangle 37"/>
          <p:cNvSpPr/>
          <p:nvPr/>
        </p:nvSpPr>
        <p:spPr>
          <a:xfrm>
            <a:off x="7589520" y="2606040"/>
            <a:ext cx="3749039"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772400" y="2651760"/>
            <a:ext cx="3383280" cy="640080"/>
          </a:xfrm>
          <a:prstGeom prst="rect">
            <a:avLst/>
          </a:prstGeom>
          <a:noFill/>
        </p:spPr>
        <p:txBody>
          <a:bodyPr wrap="square">
            <a:spAutoFit/>
          </a:bodyPr>
          <a:lstStyle/>
          <a:p>
            <a:pPr algn="l">
              <a:defRPr sz="950" b="0">
                <a:solidFill>
                  <a:srgbClr val="2D3748"/>
                </a:solidFill>
                <a:latin typeface="Calibri"/>
              </a:defRPr>
            </a:pPr>
            <a:r>
              <a:t>Trajectory Analysis</a:t>
            </a:r>
            <a:br/>
            <a:r>
              <a:t>Cosine drift + velocity + CUSUM 4-sigma</a:t>
            </a:r>
          </a:p>
        </p:txBody>
      </p:sp>
      <p:sp>
        <p:nvSpPr>
          <p:cNvPr id="40" name="Rounded Rectangle 39"/>
          <p:cNvSpPr/>
          <p:nvPr/>
        </p:nvSpPr>
        <p:spPr>
          <a:xfrm>
            <a:off x="7589520" y="3383280"/>
            <a:ext cx="3749039"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772400" y="3429000"/>
            <a:ext cx="3383280" cy="640080"/>
          </a:xfrm>
          <a:prstGeom prst="rect">
            <a:avLst/>
          </a:prstGeom>
          <a:noFill/>
        </p:spPr>
        <p:txBody>
          <a:bodyPr wrap="square">
            <a:spAutoFit/>
          </a:bodyPr>
          <a:lstStyle/>
          <a:p>
            <a:pPr algn="l">
              <a:defRPr sz="950" b="0">
                <a:solidFill>
                  <a:srgbClr val="2D3748"/>
                </a:solidFill>
                <a:latin typeface="Calibri"/>
              </a:defRPr>
            </a:pPr>
            <a:r>
              <a:t>Drift Direction -&gt; 8 MITRE Concepts</a:t>
            </a:r>
            <a:br/>
            <a:r>
              <a:t>Top-3 projections -&gt; ATT&amp;CK technique IDs</a:t>
            </a:r>
          </a:p>
        </p:txBody>
      </p:sp>
      <p:sp>
        <p:nvSpPr>
          <p:cNvPr id="42" name="Rounded Rectangle 41"/>
          <p:cNvSpPr/>
          <p:nvPr/>
        </p:nvSpPr>
        <p:spPr>
          <a:xfrm>
            <a:off x="7589520" y="4206240"/>
            <a:ext cx="3749039" cy="914400"/>
          </a:xfrm>
          <a:prstGeom prst="roundRect">
            <a:avLst/>
          </a:prstGeom>
          <a:solidFill>
            <a:srgbClr val="FFFFFF"/>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772400" y="4224528"/>
            <a:ext cx="3383280" cy="182880"/>
          </a:xfrm>
          <a:prstGeom prst="rect">
            <a:avLst/>
          </a:prstGeom>
          <a:noFill/>
        </p:spPr>
        <p:txBody>
          <a:bodyPr wrap="square">
            <a:spAutoFit/>
          </a:bodyPr>
          <a:lstStyle/>
          <a:p>
            <a:pPr algn="l">
              <a:defRPr sz="900" b="1">
                <a:solidFill>
                  <a:srgbClr val="0891B2"/>
                </a:solidFill>
                <a:latin typeface="Calibri"/>
              </a:defRPr>
            </a:pPr>
            <a:r>
              <a:t>OUTPUT</a:t>
            </a:r>
          </a:p>
        </p:txBody>
      </p:sp>
      <p:sp>
        <p:nvSpPr>
          <p:cNvPr id="44" name="TextBox 43"/>
          <p:cNvSpPr txBox="1"/>
          <p:nvPr/>
        </p:nvSpPr>
        <p:spPr>
          <a:xfrm>
            <a:off x="7772400" y="4434840"/>
            <a:ext cx="3383280" cy="640080"/>
          </a:xfrm>
          <a:prstGeom prst="rect">
            <a:avLst/>
          </a:prstGeom>
          <a:noFill/>
        </p:spPr>
        <p:txBody>
          <a:bodyPr wrap="square">
            <a:spAutoFit/>
          </a:bodyPr>
          <a:lstStyle/>
          <a:p>
            <a:pPr algn="l">
              <a:defRPr sz="900" b="0">
                <a:solidFill>
                  <a:srgbClr val="2D3748"/>
                </a:solidFill>
                <a:latin typeface="Calibri"/>
              </a:defRPr>
            </a:pPr>
            <a:r>
              <a:t>5-tier alerts (CRITICAL -&gt; INFO)</a:t>
            </a:r>
          </a:p>
          <a:p>
            <a:pPr>
              <a:spcBef>
                <a:spcPts val="400"/>
              </a:spcBef>
              <a:defRPr sz="900" b="0">
                <a:solidFill>
                  <a:srgbClr val="2D3748"/>
                </a:solidFill>
                <a:latin typeface="Calibri"/>
              </a:defRPr>
            </a:pPr>
            <a:r>
              <a:t>ABAC trust state per entity</a:t>
            </a:r>
          </a:p>
          <a:p>
            <a:pPr>
              <a:spcBef>
                <a:spcPts val="400"/>
              </a:spcBef>
              <a:defRPr sz="900" b="0">
                <a:solidFill>
                  <a:srgbClr val="2D3748"/>
                </a:solidFill>
                <a:latin typeface="Calibri"/>
              </a:defRPr>
            </a:pPr>
            <a:r>
              <a:t>7-chart dashboard + SOAR hooks</a:t>
            </a:r>
          </a:p>
        </p:txBody>
      </p:sp>
      <p:sp>
        <p:nvSpPr>
          <p:cNvPr id="45" name="Rectangle 44"/>
          <p:cNvSpPr/>
          <p:nvPr/>
        </p:nvSpPr>
        <p:spPr>
          <a:xfrm>
            <a:off x="3017520" y="5303520"/>
            <a:ext cx="850392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200400" y="5321808"/>
            <a:ext cx="8138160" cy="274320"/>
          </a:xfrm>
          <a:prstGeom prst="rect">
            <a:avLst/>
          </a:prstGeom>
          <a:noFill/>
        </p:spPr>
        <p:txBody>
          <a:bodyPr wrap="square">
            <a:spAutoFit/>
          </a:bodyPr>
          <a:lstStyle/>
          <a:p>
            <a:pPr algn="ctr">
              <a:defRPr sz="900" b="1">
                <a:solidFill>
                  <a:srgbClr val="B8862A"/>
                </a:solidFill>
                <a:latin typeface="Calibri"/>
              </a:defRPr>
            </a:pPr>
            <a:r>
              <a:t>Shared vocabulary: MITRE ATT&amp;CK technique IDs  (T1003, T1021, T1041, T1059, T1071, T1078, T1190, T1556 ...)</a:t>
            </a:r>
          </a:p>
        </p:txBody>
      </p:sp>
      <p:sp>
        <p:nvSpPr>
          <p:cNvPr id="47" name="TextBox 46"/>
          <p:cNvSpPr txBox="1"/>
          <p:nvPr/>
        </p:nvSpPr>
        <p:spPr>
          <a:xfrm>
            <a:off x="457200" y="5760720"/>
            <a:ext cx="11064240" cy="182880"/>
          </a:xfrm>
          <a:prstGeom prst="rect">
            <a:avLst/>
          </a:prstGeom>
          <a:noFill/>
        </p:spPr>
        <p:txBody>
          <a:bodyPr wrap="square">
            <a:spAutoFit/>
          </a:bodyPr>
          <a:lstStyle/>
          <a:p>
            <a:pPr algn="ctr">
              <a:defRPr sz="900" b="0">
                <a:solidFill>
                  <a:srgbClr val="5A6878"/>
                </a:solidFill>
                <a:latin typeface="Calibri"/>
              </a:defRPr>
            </a:pPr>
            <a:r>
              <a:t>Iron Bank  |  Big Bang  |  IL5/IL6/JWICS  |  CAC/PIV  |  cATO-aligned</a:t>
            </a:r>
          </a:p>
        </p:txBody>
      </p:sp>
      <p:sp>
        <p:nvSpPr>
          <p:cNvPr id="48" name="Rectangle 47"/>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Both layers share MITRE ATT&amp;CK as their analytical vocabulary. One alert = what, which TTP, which entity, is config covered.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6099048" cy="27432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9048" y="0"/>
            <a:ext cx="6099048" cy="2743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COVERAGE MATRIX -- WHICH LAYER OWNS WHAT</a:t>
            </a:r>
          </a:p>
        </p:txBody>
      </p:sp>
      <p:sp>
        <p:nvSpPr>
          <p:cNvPr id="5" name="TextBox 4"/>
          <p:cNvSpPr txBox="1"/>
          <p:nvPr/>
        </p:nvSpPr>
        <p:spPr>
          <a:xfrm>
            <a:off x="457200" y="457200"/>
            <a:ext cx="11247120" cy="457200"/>
          </a:xfrm>
          <a:prstGeom prst="rect">
            <a:avLst/>
          </a:prstGeom>
          <a:noFill/>
        </p:spPr>
        <p:txBody>
          <a:bodyPr wrap="square">
            <a:spAutoFit/>
          </a:bodyPr>
          <a:lstStyle/>
          <a:p>
            <a:pPr algn="l">
              <a:defRPr sz="2400" b="1">
                <a:solidFill>
                  <a:srgbClr val="0B1F3A"/>
                </a:solidFill>
                <a:latin typeface="Georgia"/>
              </a:defRPr>
            </a:pPr>
            <a:r>
              <a:t>Combined Coverage: Preemptive First, Behavioral as Backstop</a:t>
            </a:r>
          </a:p>
        </p:txBody>
      </p:sp>
      <p:sp>
        <p:nvSpPr>
          <p:cNvPr id="6" name="Rectangle 5"/>
          <p:cNvSpPr/>
          <p:nvPr/>
        </p:nvSpPr>
        <p:spPr>
          <a:xfrm>
            <a:off x="457200" y="1097280"/>
            <a:ext cx="1106424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115568"/>
            <a:ext cx="3474720" cy="274320"/>
          </a:xfrm>
          <a:prstGeom prst="rect">
            <a:avLst/>
          </a:prstGeom>
          <a:noFill/>
        </p:spPr>
        <p:txBody>
          <a:bodyPr wrap="square">
            <a:spAutoFit/>
          </a:bodyPr>
          <a:lstStyle/>
          <a:p>
            <a:pPr algn="l">
              <a:defRPr sz="900" b="1">
                <a:solidFill>
                  <a:srgbClr val="FFFFFF"/>
                </a:solidFill>
                <a:latin typeface="Calibri"/>
              </a:defRPr>
            </a:pPr>
            <a:r>
              <a:t>Adversary Capability</a:t>
            </a:r>
          </a:p>
        </p:txBody>
      </p:sp>
      <p:sp>
        <p:nvSpPr>
          <p:cNvPr id="8" name="TextBox 7"/>
          <p:cNvSpPr txBox="1"/>
          <p:nvPr/>
        </p:nvSpPr>
        <p:spPr>
          <a:xfrm>
            <a:off x="4114800" y="1115568"/>
            <a:ext cx="457200" cy="274320"/>
          </a:xfrm>
          <a:prstGeom prst="rect">
            <a:avLst/>
          </a:prstGeom>
          <a:noFill/>
        </p:spPr>
        <p:txBody>
          <a:bodyPr wrap="square">
            <a:spAutoFit/>
          </a:bodyPr>
          <a:lstStyle/>
          <a:p>
            <a:pPr algn="ctr">
              <a:defRPr sz="900" b="1">
                <a:solidFill>
                  <a:srgbClr val="FFFFFF"/>
                </a:solidFill>
                <a:latin typeface="Calibri"/>
              </a:defRPr>
            </a:pPr>
            <a:r>
              <a:t>VT</a:t>
            </a:r>
          </a:p>
        </p:txBody>
      </p:sp>
      <p:sp>
        <p:nvSpPr>
          <p:cNvPr id="9" name="TextBox 8"/>
          <p:cNvSpPr txBox="1"/>
          <p:nvPr/>
        </p:nvSpPr>
        <p:spPr>
          <a:xfrm>
            <a:off x="4663440" y="1115568"/>
            <a:ext cx="457200" cy="274320"/>
          </a:xfrm>
          <a:prstGeom prst="rect">
            <a:avLst/>
          </a:prstGeom>
          <a:noFill/>
        </p:spPr>
        <p:txBody>
          <a:bodyPr wrap="square">
            <a:spAutoFit/>
          </a:bodyPr>
          <a:lstStyle/>
          <a:p>
            <a:pPr algn="ctr">
              <a:defRPr sz="900" b="1">
                <a:solidFill>
                  <a:srgbClr val="FFFFFF"/>
                </a:solidFill>
                <a:latin typeface="Calibri"/>
              </a:defRPr>
            </a:pPr>
            <a:r>
              <a:t>ST</a:t>
            </a:r>
          </a:p>
        </p:txBody>
      </p:sp>
      <p:sp>
        <p:nvSpPr>
          <p:cNvPr id="10" name="TextBox 9"/>
          <p:cNvSpPr txBox="1"/>
          <p:nvPr/>
        </p:nvSpPr>
        <p:spPr>
          <a:xfrm>
            <a:off x="5212080" y="1115568"/>
            <a:ext cx="1188720" cy="274320"/>
          </a:xfrm>
          <a:prstGeom prst="rect">
            <a:avLst/>
          </a:prstGeom>
          <a:noFill/>
        </p:spPr>
        <p:txBody>
          <a:bodyPr wrap="square">
            <a:spAutoFit/>
          </a:bodyPr>
          <a:lstStyle/>
          <a:p>
            <a:pPr algn="ctr">
              <a:defRPr sz="900" b="1">
                <a:solidFill>
                  <a:srgbClr val="FFFFFF"/>
                </a:solidFill>
                <a:latin typeface="Calibri"/>
              </a:defRPr>
            </a:pPr>
            <a:r>
              <a:t>Owner</a:t>
            </a:r>
          </a:p>
        </p:txBody>
      </p:sp>
      <p:sp>
        <p:nvSpPr>
          <p:cNvPr id="11" name="TextBox 10"/>
          <p:cNvSpPr txBox="1"/>
          <p:nvPr/>
        </p:nvSpPr>
        <p:spPr>
          <a:xfrm>
            <a:off x="6492240" y="1115568"/>
            <a:ext cx="5029200" cy="274320"/>
          </a:xfrm>
          <a:prstGeom prst="rect">
            <a:avLst/>
          </a:prstGeom>
          <a:noFill/>
        </p:spPr>
        <p:txBody>
          <a:bodyPr wrap="square">
            <a:spAutoFit/>
          </a:bodyPr>
          <a:lstStyle/>
          <a:p>
            <a:pPr algn="l">
              <a:defRPr sz="900" b="1">
                <a:solidFill>
                  <a:srgbClr val="FFFFFF"/>
                </a:solidFill>
                <a:latin typeface="Calibri"/>
              </a:defRPr>
            </a:pPr>
            <a:r>
              <a:t>Why This Layer</a:t>
            </a:r>
          </a:p>
        </p:txBody>
      </p:sp>
      <p:sp>
        <p:nvSpPr>
          <p:cNvPr id="12" name="Rounded Rectangle 11"/>
          <p:cNvSpPr/>
          <p:nvPr/>
        </p:nvSpPr>
        <p:spPr>
          <a:xfrm>
            <a:off x="457200" y="1463040"/>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1488440"/>
            <a:ext cx="3474720" cy="365760"/>
          </a:xfrm>
          <a:prstGeom prst="rect">
            <a:avLst/>
          </a:prstGeom>
          <a:noFill/>
        </p:spPr>
        <p:txBody>
          <a:bodyPr wrap="square">
            <a:spAutoFit/>
          </a:bodyPr>
          <a:lstStyle/>
          <a:p>
            <a:pPr algn="l">
              <a:defRPr sz="900" b="1">
                <a:solidFill>
                  <a:srgbClr val="0B1F3A"/>
                </a:solidFill>
                <a:latin typeface="Calibri"/>
              </a:defRPr>
            </a:pPr>
            <a:r>
              <a:t>Edge-device CVE exploitation</a:t>
            </a:r>
          </a:p>
        </p:txBody>
      </p:sp>
      <p:sp>
        <p:nvSpPr>
          <p:cNvPr id="14" name="TextBox 13"/>
          <p:cNvSpPr txBox="1"/>
          <p:nvPr/>
        </p:nvSpPr>
        <p:spPr>
          <a:xfrm>
            <a:off x="4114800" y="1488440"/>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15" name="TextBox 14"/>
          <p:cNvSpPr txBox="1"/>
          <p:nvPr/>
        </p:nvSpPr>
        <p:spPr>
          <a:xfrm>
            <a:off x="4663440" y="1488440"/>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16" name="Rectangle 15"/>
          <p:cNvSpPr/>
          <p:nvPr/>
        </p:nvSpPr>
        <p:spPr>
          <a:xfrm>
            <a:off x="5303520" y="1527048"/>
            <a:ext cx="1005840" cy="219456"/>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03520" y="1536192"/>
            <a:ext cx="1005840" cy="201168"/>
          </a:xfrm>
          <a:prstGeom prst="rect">
            <a:avLst/>
          </a:prstGeom>
          <a:noFill/>
        </p:spPr>
        <p:txBody>
          <a:bodyPr wrap="square">
            <a:spAutoFit/>
          </a:bodyPr>
          <a:lstStyle/>
          <a:p>
            <a:pPr algn="ctr">
              <a:defRPr sz="800" b="1">
                <a:solidFill>
                  <a:srgbClr val="FFFFFF"/>
                </a:solidFill>
                <a:latin typeface="Calibri"/>
              </a:defRPr>
            </a:pPr>
            <a:r>
              <a:t>PREEMPT</a:t>
            </a:r>
          </a:p>
        </p:txBody>
      </p:sp>
      <p:sp>
        <p:nvSpPr>
          <p:cNvPr id="18" name="TextBox 17"/>
          <p:cNvSpPr txBox="1"/>
          <p:nvPr/>
        </p:nvSpPr>
        <p:spPr>
          <a:xfrm>
            <a:off x="6492240" y="1488440"/>
            <a:ext cx="4937760" cy="365760"/>
          </a:xfrm>
          <a:prstGeom prst="rect">
            <a:avLst/>
          </a:prstGeom>
          <a:noFill/>
        </p:spPr>
        <p:txBody>
          <a:bodyPr wrap="square">
            <a:spAutoFit/>
          </a:bodyPr>
          <a:lstStyle/>
          <a:p>
            <a:pPr algn="l">
              <a:defRPr sz="900" b="0">
                <a:solidFill>
                  <a:srgbClr val="2D3748"/>
                </a:solidFill>
                <a:latin typeface="Calibri"/>
              </a:defRPr>
            </a:pPr>
            <a:r>
              <a:t>Formal proof patch enforced or compensating control</a:t>
            </a:r>
          </a:p>
        </p:txBody>
      </p:sp>
      <p:sp>
        <p:nvSpPr>
          <p:cNvPr id="19" name="Rounded Rectangle 18"/>
          <p:cNvSpPr/>
          <p:nvPr/>
        </p:nvSpPr>
        <p:spPr>
          <a:xfrm>
            <a:off x="457200" y="1892808"/>
            <a:ext cx="11064240" cy="411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1918208"/>
            <a:ext cx="3474720" cy="365760"/>
          </a:xfrm>
          <a:prstGeom prst="rect">
            <a:avLst/>
          </a:prstGeom>
          <a:noFill/>
        </p:spPr>
        <p:txBody>
          <a:bodyPr wrap="square">
            <a:spAutoFit/>
          </a:bodyPr>
          <a:lstStyle/>
          <a:p>
            <a:pPr algn="l">
              <a:defRPr sz="900" b="1">
                <a:solidFill>
                  <a:srgbClr val="0B1F3A"/>
                </a:solidFill>
                <a:latin typeface="Calibri"/>
              </a:defRPr>
            </a:pPr>
            <a:r>
              <a:t>Misconfigured / shadowed FW rules</a:t>
            </a:r>
          </a:p>
        </p:txBody>
      </p:sp>
      <p:sp>
        <p:nvSpPr>
          <p:cNvPr id="21" name="TextBox 20"/>
          <p:cNvSpPr txBox="1"/>
          <p:nvPr/>
        </p:nvSpPr>
        <p:spPr>
          <a:xfrm>
            <a:off x="4114800" y="1918208"/>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22" name="TextBox 21"/>
          <p:cNvSpPr txBox="1"/>
          <p:nvPr/>
        </p:nvSpPr>
        <p:spPr>
          <a:xfrm>
            <a:off x="4663440" y="1918208"/>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23" name="Rectangle 22"/>
          <p:cNvSpPr/>
          <p:nvPr/>
        </p:nvSpPr>
        <p:spPr>
          <a:xfrm>
            <a:off x="5303520" y="1956816"/>
            <a:ext cx="1005840" cy="219456"/>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303520" y="1965960"/>
            <a:ext cx="1005840" cy="201168"/>
          </a:xfrm>
          <a:prstGeom prst="rect">
            <a:avLst/>
          </a:prstGeom>
          <a:noFill/>
        </p:spPr>
        <p:txBody>
          <a:bodyPr wrap="square">
            <a:spAutoFit/>
          </a:bodyPr>
          <a:lstStyle/>
          <a:p>
            <a:pPr algn="ctr">
              <a:defRPr sz="800" b="1">
                <a:solidFill>
                  <a:srgbClr val="FFFFFF"/>
                </a:solidFill>
                <a:latin typeface="Calibri"/>
              </a:defRPr>
            </a:pPr>
            <a:r>
              <a:t>PREEMPT</a:t>
            </a:r>
          </a:p>
        </p:txBody>
      </p:sp>
      <p:sp>
        <p:nvSpPr>
          <p:cNvPr id="25" name="TextBox 24"/>
          <p:cNvSpPr txBox="1"/>
          <p:nvPr/>
        </p:nvSpPr>
        <p:spPr>
          <a:xfrm>
            <a:off x="6492240" y="1918208"/>
            <a:ext cx="4937760" cy="365760"/>
          </a:xfrm>
          <a:prstGeom prst="rect">
            <a:avLst/>
          </a:prstGeom>
          <a:noFill/>
        </p:spPr>
        <p:txBody>
          <a:bodyPr wrap="square">
            <a:spAutoFit/>
          </a:bodyPr>
          <a:lstStyle/>
          <a:p>
            <a:pPr algn="l">
              <a:defRPr sz="900" b="0">
                <a:solidFill>
                  <a:srgbClr val="2D3748"/>
                </a:solidFill>
                <a:latin typeface="Calibri"/>
              </a:defRPr>
            </a:pPr>
            <a:r>
              <a:t>Math model finds shadows across multi-vendor</a:t>
            </a:r>
          </a:p>
        </p:txBody>
      </p:sp>
      <p:sp>
        <p:nvSpPr>
          <p:cNvPr id="26" name="Rounded Rectangle 25"/>
          <p:cNvSpPr/>
          <p:nvPr/>
        </p:nvSpPr>
        <p:spPr>
          <a:xfrm>
            <a:off x="457200" y="2322576"/>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 y="2347976"/>
            <a:ext cx="3474720" cy="365760"/>
          </a:xfrm>
          <a:prstGeom prst="rect">
            <a:avLst/>
          </a:prstGeom>
          <a:noFill/>
        </p:spPr>
        <p:txBody>
          <a:bodyPr wrap="square">
            <a:spAutoFit/>
          </a:bodyPr>
          <a:lstStyle/>
          <a:p>
            <a:pPr algn="l">
              <a:defRPr sz="900" b="1">
                <a:solidFill>
                  <a:srgbClr val="0B1F3A"/>
                </a:solidFill>
                <a:latin typeface="Calibri"/>
              </a:defRPr>
            </a:pPr>
            <a:r>
              <a:t>Router ACL tampering / drift</a:t>
            </a:r>
          </a:p>
        </p:txBody>
      </p:sp>
      <p:sp>
        <p:nvSpPr>
          <p:cNvPr id="28" name="TextBox 27"/>
          <p:cNvSpPr txBox="1"/>
          <p:nvPr/>
        </p:nvSpPr>
        <p:spPr>
          <a:xfrm>
            <a:off x="4114800" y="2347976"/>
            <a:ext cx="457200" cy="365760"/>
          </a:xfrm>
          <a:prstGeom prst="rect">
            <a:avLst/>
          </a:prstGeom>
          <a:noFill/>
        </p:spPr>
        <p:txBody>
          <a:bodyPr wrap="square">
            <a:spAutoFit/>
          </a:bodyPr>
          <a:lstStyle/>
          <a:p>
            <a:pPr algn="ctr">
              <a:defRPr sz="900" b="0">
                <a:solidFill>
                  <a:srgbClr val="C0392B"/>
                </a:solidFill>
                <a:latin typeface="Calibri"/>
              </a:defRPr>
            </a:pPr>
            <a:endParaRPr/>
          </a:p>
        </p:txBody>
      </p:sp>
      <p:sp>
        <p:nvSpPr>
          <p:cNvPr id="29" name="TextBox 28"/>
          <p:cNvSpPr txBox="1"/>
          <p:nvPr/>
        </p:nvSpPr>
        <p:spPr>
          <a:xfrm>
            <a:off x="4663440" y="2347976"/>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30" name="Rectangle 29"/>
          <p:cNvSpPr/>
          <p:nvPr/>
        </p:nvSpPr>
        <p:spPr>
          <a:xfrm>
            <a:off x="5303520" y="2386584"/>
            <a:ext cx="1005840" cy="219456"/>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303520" y="2395728"/>
            <a:ext cx="1005840" cy="201168"/>
          </a:xfrm>
          <a:prstGeom prst="rect">
            <a:avLst/>
          </a:prstGeom>
          <a:noFill/>
        </p:spPr>
        <p:txBody>
          <a:bodyPr wrap="square">
            <a:spAutoFit/>
          </a:bodyPr>
          <a:lstStyle/>
          <a:p>
            <a:pPr algn="ctr">
              <a:defRPr sz="800" b="1">
                <a:solidFill>
                  <a:srgbClr val="FFFFFF"/>
                </a:solidFill>
                <a:latin typeface="Calibri"/>
              </a:defRPr>
            </a:pPr>
            <a:r>
              <a:t>PREEMPT</a:t>
            </a:r>
          </a:p>
        </p:txBody>
      </p:sp>
      <p:sp>
        <p:nvSpPr>
          <p:cNvPr id="32" name="TextBox 31"/>
          <p:cNvSpPr txBox="1"/>
          <p:nvPr/>
        </p:nvSpPr>
        <p:spPr>
          <a:xfrm>
            <a:off x="6492240" y="2347976"/>
            <a:ext cx="4937760" cy="365760"/>
          </a:xfrm>
          <a:prstGeom prst="rect">
            <a:avLst/>
          </a:prstGeom>
          <a:noFill/>
        </p:spPr>
        <p:txBody>
          <a:bodyPr wrap="square">
            <a:spAutoFit/>
          </a:bodyPr>
          <a:lstStyle/>
          <a:p>
            <a:pPr algn="l">
              <a:defRPr sz="900" b="0">
                <a:solidFill>
                  <a:srgbClr val="2D3748"/>
                </a:solidFill>
                <a:latin typeface="Calibri"/>
              </a:defRPr>
            </a:pPr>
            <a:r>
              <a:t>Config drift re-verifies hourly vs baseline</a:t>
            </a:r>
          </a:p>
        </p:txBody>
      </p:sp>
      <p:sp>
        <p:nvSpPr>
          <p:cNvPr id="33" name="Rounded Rectangle 32"/>
          <p:cNvSpPr/>
          <p:nvPr/>
        </p:nvSpPr>
        <p:spPr>
          <a:xfrm>
            <a:off x="457200" y="2752344"/>
            <a:ext cx="11064240" cy="411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8640" y="2777744"/>
            <a:ext cx="3474720" cy="365760"/>
          </a:xfrm>
          <a:prstGeom prst="rect">
            <a:avLst/>
          </a:prstGeom>
          <a:noFill/>
        </p:spPr>
        <p:txBody>
          <a:bodyPr wrap="square">
            <a:spAutoFit/>
          </a:bodyPr>
          <a:lstStyle/>
          <a:p>
            <a:pPr algn="l">
              <a:defRPr sz="900" b="1">
                <a:solidFill>
                  <a:srgbClr val="0B1F3A"/>
                </a:solidFill>
                <a:latin typeface="Calibri"/>
              </a:defRPr>
            </a:pPr>
            <a:r>
              <a:t>C2 to known malicious infra</a:t>
            </a:r>
          </a:p>
        </p:txBody>
      </p:sp>
      <p:sp>
        <p:nvSpPr>
          <p:cNvPr id="35" name="TextBox 34"/>
          <p:cNvSpPr txBox="1"/>
          <p:nvPr/>
        </p:nvSpPr>
        <p:spPr>
          <a:xfrm>
            <a:off x="4114800" y="2777744"/>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36" name="TextBox 35"/>
          <p:cNvSpPr txBox="1"/>
          <p:nvPr/>
        </p:nvSpPr>
        <p:spPr>
          <a:xfrm>
            <a:off x="4663440" y="2777744"/>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37" name="Rectangle 36"/>
          <p:cNvSpPr/>
          <p:nvPr/>
        </p:nvSpPr>
        <p:spPr>
          <a:xfrm>
            <a:off x="5303520" y="2816352"/>
            <a:ext cx="1005840" cy="219456"/>
          </a:xfrm>
          <a:prstGeom prst="rect">
            <a:avLst/>
          </a:prstGeom>
          <a:solidFill>
            <a:srgbClr val="6C2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303520" y="2825496"/>
            <a:ext cx="1005840" cy="201168"/>
          </a:xfrm>
          <a:prstGeom prst="rect">
            <a:avLst/>
          </a:prstGeom>
          <a:noFill/>
        </p:spPr>
        <p:txBody>
          <a:bodyPr wrap="square">
            <a:spAutoFit/>
          </a:bodyPr>
          <a:lstStyle/>
          <a:p>
            <a:pPr algn="ctr">
              <a:defRPr sz="800" b="1">
                <a:solidFill>
                  <a:srgbClr val="FFFFFF"/>
                </a:solidFill>
                <a:latin typeface="Calibri"/>
              </a:defRPr>
            </a:pPr>
            <a:r>
              <a:t>BOTH</a:t>
            </a:r>
          </a:p>
        </p:txBody>
      </p:sp>
      <p:sp>
        <p:nvSpPr>
          <p:cNvPr id="39" name="TextBox 38"/>
          <p:cNvSpPr txBox="1"/>
          <p:nvPr/>
        </p:nvSpPr>
        <p:spPr>
          <a:xfrm>
            <a:off x="6492240" y="2777744"/>
            <a:ext cx="4937760" cy="365760"/>
          </a:xfrm>
          <a:prstGeom prst="rect">
            <a:avLst/>
          </a:prstGeom>
          <a:noFill/>
        </p:spPr>
        <p:txBody>
          <a:bodyPr wrap="square">
            <a:spAutoFit/>
          </a:bodyPr>
          <a:lstStyle/>
          <a:p>
            <a:pPr algn="l">
              <a:defRPr sz="900" b="0">
                <a:solidFill>
                  <a:srgbClr val="2D3748"/>
                </a:solidFill>
                <a:latin typeface="Calibri"/>
              </a:defRPr>
            </a:pPr>
            <a:r>
              <a:t>Preemptive blocks known; ACECARD catches unknown</a:t>
            </a:r>
          </a:p>
        </p:txBody>
      </p:sp>
      <p:sp>
        <p:nvSpPr>
          <p:cNvPr id="40" name="Rounded Rectangle 39"/>
          <p:cNvSpPr/>
          <p:nvPr/>
        </p:nvSpPr>
        <p:spPr>
          <a:xfrm>
            <a:off x="457200" y="3182112"/>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48640" y="3207512"/>
            <a:ext cx="3474720" cy="365760"/>
          </a:xfrm>
          <a:prstGeom prst="rect">
            <a:avLst/>
          </a:prstGeom>
          <a:noFill/>
        </p:spPr>
        <p:txBody>
          <a:bodyPr wrap="square">
            <a:spAutoFit/>
          </a:bodyPr>
          <a:lstStyle/>
          <a:p>
            <a:pPr algn="l">
              <a:defRPr sz="900" b="1">
                <a:solidFill>
                  <a:srgbClr val="0B1F3A"/>
                </a:solidFill>
                <a:latin typeface="Calibri"/>
              </a:defRPr>
            </a:pPr>
            <a:r>
              <a:t>Compromised valid accounts</a:t>
            </a:r>
          </a:p>
        </p:txBody>
      </p:sp>
      <p:sp>
        <p:nvSpPr>
          <p:cNvPr id="42" name="TextBox 41"/>
          <p:cNvSpPr txBox="1"/>
          <p:nvPr/>
        </p:nvSpPr>
        <p:spPr>
          <a:xfrm>
            <a:off x="4114800" y="3207512"/>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43" name="TextBox 42"/>
          <p:cNvSpPr txBox="1"/>
          <p:nvPr/>
        </p:nvSpPr>
        <p:spPr>
          <a:xfrm>
            <a:off x="4663440" y="3207512"/>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44" name="Rectangle 43"/>
          <p:cNvSpPr/>
          <p:nvPr/>
        </p:nvSpPr>
        <p:spPr>
          <a:xfrm>
            <a:off x="5303520" y="3246120"/>
            <a:ext cx="1005840" cy="21945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303520" y="3255264"/>
            <a:ext cx="1005840" cy="201168"/>
          </a:xfrm>
          <a:prstGeom prst="rect">
            <a:avLst/>
          </a:prstGeom>
          <a:noFill/>
        </p:spPr>
        <p:txBody>
          <a:bodyPr wrap="square">
            <a:spAutoFit/>
          </a:bodyPr>
          <a:lstStyle/>
          <a:p>
            <a:pPr algn="ctr">
              <a:defRPr sz="800" b="1">
                <a:solidFill>
                  <a:srgbClr val="FFFFFF"/>
                </a:solidFill>
                <a:latin typeface="Calibri"/>
              </a:defRPr>
            </a:pPr>
            <a:r>
              <a:t>ACECARD</a:t>
            </a:r>
          </a:p>
        </p:txBody>
      </p:sp>
      <p:sp>
        <p:nvSpPr>
          <p:cNvPr id="46" name="TextBox 45"/>
          <p:cNvSpPr txBox="1"/>
          <p:nvPr/>
        </p:nvSpPr>
        <p:spPr>
          <a:xfrm>
            <a:off x="6492240" y="3207512"/>
            <a:ext cx="4937760" cy="365760"/>
          </a:xfrm>
          <a:prstGeom prst="rect">
            <a:avLst/>
          </a:prstGeom>
          <a:noFill/>
        </p:spPr>
        <p:txBody>
          <a:bodyPr wrap="square">
            <a:spAutoFit/>
          </a:bodyPr>
          <a:lstStyle/>
          <a:p>
            <a:pPr algn="l">
              <a:defRPr sz="900" b="0">
                <a:solidFill>
                  <a:srgbClr val="2D3748"/>
                </a:solidFill>
                <a:latin typeface="Calibri"/>
              </a:defRPr>
            </a:pPr>
            <a:r>
              <a:t>Policy-allowed traffic; only drift reveals abuse</a:t>
            </a:r>
          </a:p>
        </p:txBody>
      </p:sp>
      <p:sp>
        <p:nvSpPr>
          <p:cNvPr id="47" name="Rounded Rectangle 46"/>
          <p:cNvSpPr/>
          <p:nvPr/>
        </p:nvSpPr>
        <p:spPr>
          <a:xfrm>
            <a:off x="457200" y="3611880"/>
            <a:ext cx="11064240" cy="411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48640" y="3637280"/>
            <a:ext cx="3474720" cy="365760"/>
          </a:xfrm>
          <a:prstGeom prst="rect">
            <a:avLst/>
          </a:prstGeom>
          <a:noFill/>
        </p:spPr>
        <p:txBody>
          <a:bodyPr wrap="square">
            <a:spAutoFit/>
          </a:bodyPr>
          <a:lstStyle/>
          <a:p>
            <a:pPr algn="l">
              <a:defRPr sz="900" b="1">
                <a:solidFill>
                  <a:srgbClr val="0B1F3A"/>
                </a:solidFill>
                <a:latin typeface="Calibri"/>
              </a:defRPr>
            </a:pPr>
            <a:r>
              <a:t>Living-off-the-Land (T1059)</a:t>
            </a:r>
          </a:p>
        </p:txBody>
      </p:sp>
      <p:sp>
        <p:nvSpPr>
          <p:cNvPr id="49" name="TextBox 48"/>
          <p:cNvSpPr txBox="1"/>
          <p:nvPr/>
        </p:nvSpPr>
        <p:spPr>
          <a:xfrm>
            <a:off x="4114800" y="3637280"/>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50" name="TextBox 49"/>
          <p:cNvSpPr txBox="1"/>
          <p:nvPr/>
        </p:nvSpPr>
        <p:spPr>
          <a:xfrm>
            <a:off x="4663440" y="3637280"/>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51" name="Rectangle 50"/>
          <p:cNvSpPr/>
          <p:nvPr/>
        </p:nvSpPr>
        <p:spPr>
          <a:xfrm>
            <a:off x="5303520" y="3675888"/>
            <a:ext cx="1005840" cy="21945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303520" y="3685032"/>
            <a:ext cx="1005840" cy="201168"/>
          </a:xfrm>
          <a:prstGeom prst="rect">
            <a:avLst/>
          </a:prstGeom>
          <a:noFill/>
        </p:spPr>
        <p:txBody>
          <a:bodyPr wrap="square">
            <a:spAutoFit/>
          </a:bodyPr>
          <a:lstStyle/>
          <a:p>
            <a:pPr algn="ctr">
              <a:defRPr sz="800" b="1">
                <a:solidFill>
                  <a:srgbClr val="FFFFFF"/>
                </a:solidFill>
                <a:latin typeface="Calibri"/>
              </a:defRPr>
            </a:pPr>
            <a:r>
              <a:t>ACECARD</a:t>
            </a:r>
          </a:p>
        </p:txBody>
      </p:sp>
      <p:sp>
        <p:nvSpPr>
          <p:cNvPr id="53" name="TextBox 52"/>
          <p:cNvSpPr txBox="1"/>
          <p:nvPr/>
        </p:nvSpPr>
        <p:spPr>
          <a:xfrm>
            <a:off x="6492240" y="3637280"/>
            <a:ext cx="4937760" cy="365760"/>
          </a:xfrm>
          <a:prstGeom prst="rect">
            <a:avLst/>
          </a:prstGeom>
          <a:noFill/>
        </p:spPr>
        <p:txBody>
          <a:bodyPr wrap="square">
            <a:spAutoFit/>
          </a:bodyPr>
          <a:lstStyle/>
          <a:p>
            <a:pPr algn="l">
              <a:defRPr sz="900" b="0">
                <a:solidFill>
                  <a:srgbClr val="2D3748"/>
                </a:solidFill>
                <a:latin typeface="Calibri"/>
              </a:defRPr>
            </a:pPr>
            <a:r>
              <a:t>lotl_execution concept + process signal shift</a:t>
            </a:r>
          </a:p>
        </p:txBody>
      </p:sp>
      <p:sp>
        <p:nvSpPr>
          <p:cNvPr id="54" name="Rounded Rectangle 53"/>
          <p:cNvSpPr/>
          <p:nvPr/>
        </p:nvSpPr>
        <p:spPr>
          <a:xfrm>
            <a:off x="457200" y="4041648"/>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48640" y="4067048"/>
            <a:ext cx="3474720" cy="365760"/>
          </a:xfrm>
          <a:prstGeom prst="rect">
            <a:avLst/>
          </a:prstGeom>
          <a:noFill/>
        </p:spPr>
        <p:txBody>
          <a:bodyPr wrap="square">
            <a:spAutoFit/>
          </a:bodyPr>
          <a:lstStyle/>
          <a:p>
            <a:pPr algn="l">
              <a:defRPr sz="900" b="1">
                <a:solidFill>
                  <a:srgbClr val="0B1F3A"/>
                </a:solidFill>
                <a:latin typeface="Calibri"/>
              </a:defRPr>
            </a:pPr>
            <a:r>
              <a:t>Cross-domain lateral movement</a:t>
            </a:r>
          </a:p>
        </p:txBody>
      </p:sp>
      <p:sp>
        <p:nvSpPr>
          <p:cNvPr id="56" name="TextBox 55"/>
          <p:cNvSpPr txBox="1"/>
          <p:nvPr/>
        </p:nvSpPr>
        <p:spPr>
          <a:xfrm>
            <a:off x="4114800" y="4067048"/>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57" name="TextBox 56"/>
          <p:cNvSpPr txBox="1"/>
          <p:nvPr/>
        </p:nvSpPr>
        <p:spPr>
          <a:xfrm>
            <a:off x="4663440" y="4067048"/>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58" name="Rectangle 57"/>
          <p:cNvSpPr/>
          <p:nvPr/>
        </p:nvSpPr>
        <p:spPr>
          <a:xfrm>
            <a:off x="5303520" y="4105656"/>
            <a:ext cx="1005840" cy="21945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303520" y="4114800"/>
            <a:ext cx="1005840" cy="201168"/>
          </a:xfrm>
          <a:prstGeom prst="rect">
            <a:avLst/>
          </a:prstGeom>
          <a:noFill/>
        </p:spPr>
        <p:txBody>
          <a:bodyPr wrap="square">
            <a:spAutoFit/>
          </a:bodyPr>
          <a:lstStyle/>
          <a:p>
            <a:pPr algn="ctr">
              <a:defRPr sz="800" b="1">
                <a:solidFill>
                  <a:srgbClr val="FFFFFF"/>
                </a:solidFill>
                <a:latin typeface="Calibri"/>
              </a:defRPr>
            </a:pPr>
            <a:r>
              <a:t>ACECARD</a:t>
            </a:r>
          </a:p>
        </p:txBody>
      </p:sp>
      <p:sp>
        <p:nvSpPr>
          <p:cNvPr id="60" name="TextBox 59"/>
          <p:cNvSpPr txBox="1"/>
          <p:nvPr/>
        </p:nvSpPr>
        <p:spPr>
          <a:xfrm>
            <a:off x="6492240" y="4067048"/>
            <a:ext cx="4937760" cy="365760"/>
          </a:xfrm>
          <a:prstGeom prst="rect">
            <a:avLst/>
          </a:prstGeom>
          <a:noFill/>
        </p:spPr>
        <p:txBody>
          <a:bodyPr wrap="square">
            <a:spAutoFit/>
          </a:bodyPr>
          <a:lstStyle/>
          <a:p>
            <a:pPr algn="l">
              <a:defRPr sz="900" b="0">
                <a:solidFill>
                  <a:srgbClr val="2D3748"/>
                </a:solidFill>
                <a:latin typeface="Calibri"/>
              </a:defRPr>
            </a:pPr>
            <a:r>
              <a:t>Entity fusion joins all identities -&gt; one drift</a:t>
            </a:r>
          </a:p>
        </p:txBody>
      </p:sp>
      <p:sp>
        <p:nvSpPr>
          <p:cNvPr id="61" name="Rounded Rectangle 60"/>
          <p:cNvSpPr/>
          <p:nvPr/>
        </p:nvSpPr>
        <p:spPr>
          <a:xfrm>
            <a:off x="457200" y="4471416"/>
            <a:ext cx="11064240" cy="411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8640" y="4496816"/>
            <a:ext cx="3474720" cy="365760"/>
          </a:xfrm>
          <a:prstGeom prst="rect">
            <a:avLst/>
          </a:prstGeom>
          <a:noFill/>
        </p:spPr>
        <p:txBody>
          <a:bodyPr wrap="square">
            <a:spAutoFit/>
          </a:bodyPr>
          <a:lstStyle/>
          <a:p>
            <a:pPr algn="l">
              <a:defRPr sz="900" b="1">
                <a:solidFill>
                  <a:srgbClr val="0B1F3A"/>
                </a:solidFill>
                <a:latin typeface="Calibri"/>
              </a:defRPr>
            </a:pPr>
            <a:r>
              <a:t>Slow APT (months/years)</a:t>
            </a:r>
          </a:p>
        </p:txBody>
      </p:sp>
      <p:sp>
        <p:nvSpPr>
          <p:cNvPr id="63" name="TextBox 62"/>
          <p:cNvSpPr txBox="1"/>
          <p:nvPr/>
        </p:nvSpPr>
        <p:spPr>
          <a:xfrm>
            <a:off x="4114800" y="4496816"/>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64" name="TextBox 63"/>
          <p:cNvSpPr txBox="1"/>
          <p:nvPr/>
        </p:nvSpPr>
        <p:spPr>
          <a:xfrm>
            <a:off x="4663440" y="4496816"/>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65" name="Rectangle 64"/>
          <p:cNvSpPr/>
          <p:nvPr/>
        </p:nvSpPr>
        <p:spPr>
          <a:xfrm>
            <a:off x="5303520" y="4535424"/>
            <a:ext cx="1005840" cy="21945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303520" y="4544568"/>
            <a:ext cx="1005840" cy="201168"/>
          </a:xfrm>
          <a:prstGeom prst="rect">
            <a:avLst/>
          </a:prstGeom>
          <a:noFill/>
        </p:spPr>
        <p:txBody>
          <a:bodyPr wrap="square">
            <a:spAutoFit/>
          </a:bodyPr>
          <a:lstStyle/>
          <a:p>
            <a:pPr algn="ctr">
              <a:defRPr sz="800" b="1">
                <a:solidFill>
                  <a:srgbClr val="FFFFFF"/>
                </a:solidFill>
                <a:latin typeface="Calibri"/>
              </a:defRPr>
            </a:pPr>
            <a:r>
              <a:t>ACECARD</a:t>
            </a:r>
          </a:p>
        </p:txBody>
      </p:sp>
      <p:sp>
        <p:nvSpPr>
          <p:cNvPr id="67" name="TextBox 66"/>
          <p:cNvSpPr txBox="1"/>
          <p:nvPr/>
        </p:nvSpPr>
        <p:spPr>
          <a:xfrm>
            <a:off x="6492240" y="4496816"/>
            <a:ext cx="4937760" cy="365760"/>
          </a:xfrm>
          <a:prstGeom prst="rect">
            <a:avLst/>
          </a:prstGeom>
          <a:noFill/>
        </p:spPr>
        <p:txBody>
          <a:bodyPr wrap="square">
            <a:spAutoFit/>
          </a:bodyPr>
          <a:lstStyle/>
          <a:p>
            <a:pPr algn="l">
              <a:defRPr sz="900" b="0">
                <a:solidFill>
                  <a:srgbClr val="2D3748"/>
                </a:solidFill>
                <a:latin typeface="Calibri"/>
              </a:defRPr>
            </a:pPr>
            <a:r>
              <a:t>CUSUM accumulates sub-threshold drift</a:t>
            </a:r>
          </a:p>
        </p:txBody>
      </p:sp>
      <p:sp>
        <p:nvSpPr>
          <p:cNvPr id="68" name="Rounded Rectangle 67"/>
          <p:cNvSpPr/>
          <p:nvPr/>
        </p:nvSpPr>
        <p:spPr>
          <a:xfrm>
            <a:off x="457200" y="4901184"/>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48640" y="4926584"/>
            <a:ext cx="3474720" cy="365760"/>
          </a:xfrm>
          <a:prstGeom prst="rect">
            <a:avLst/>
          </a:prstGeom>
          <a:noFill/>
        </p:spPr>
        <p:txBody>
          <a:bodyPr wrap="square">
            <a:spAutoFit/>
          </a:bodyPr>
          <a:lstStyle/>
          <a:p>
            <a:pPr algn="l">
              <a:defRPr sz="900" b="1">
                <a:solidFill>
                  <a:srgbClr val="0B1F3A"/>
                </a:solidFill>
                <a:latin typeface="Calibri"/>
              </a:defRPr>
            </a:pPr>
            <a:r>
              <a:t>Zero-day / unknown TTPs</a:t>
            </a:r>
          </a:p>
        </p:txBody>
      </p:sp>
      <p:sp>
        <p:nvSpPr>
          <p:cNvPr id="70" name="TextBox 69"/>
          <p:cNvSpPr txBox="1"/>
          <p:nvPr/>
        </p:nvSpPr>
        <p:spPr>
          <a:xfrm>
            <a:off x="4114800" y="4926584"/>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71" name="TextBox 70"/>
          <p:cNvSpPr txBox="1"/>
          <p:nvPr/>
        </p:nvSpPr>
        <p:spPr>
          <a:xfrm>
            <a:off x="4663440" y="4926584"/>
            <a:ext cx="457200" cy="365760"/>
          </a:xfrm>
          <a:prstGeom prst="rect">
            <a:avLst/>
          </a:prstGeom>
          <a:noFill/>
        </p:spPr>
        <p:txBody>
          <a:bodyPr wrap="square">
            <a:spAutoFit/>
          </a:bodyPr>
          <a:lstStyle/>
          <a:p>
            <a:pPr algn="ctr">
              <a:defRPr sz="900" b="0">
                <a:solidFill>
                  <a:srgbClr val="C0392B"/>
                </a:solidFill>
                <a:latin typeface="Calibri"/>
              </a:defRPr>
            </a:pPr>
            <a:r>
              <a:t>Y</a:t>
            </a:r>
          </a:p>
        </p:txBody>
      </p:sp>
      <p:sp>
        <p:nvSpPr>
          <p:cNvPr id="72" name="Rectangle 71"/>
          <p:cNvSpPr/>
          <p:nvPr/>
        </p:nvSpPr>
        <p:spPr>
          <a:xfrm>
            <a:off x="5303520" y="4965192"/>
            <a:ext cx="1005840" cy="21945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303520" y="4974336"/>
            <a:ext cx="1005840" cy="201168"/>
          </a:xfrm>
          <a:prstGeom prst="rect">
            <a:avLst/>
          </a:prstGeom>
          <a:noFill/>
        </p:spPr>
        <p:txBody>
          <a:bodyPr wrap="square">
            <a:spAutoFit/>
          </a:bodyPr>
          <a:lstStyle/>
          <a:p>
            <a:pPr algn="ctr">
              <a:defRPr sz="800" b="1">
                <a:solidFill>
                  <a:srgbClr val="FFFFFF"/>
                </a:solidFill>
                <a:latin typeface="Calibri"/>
              </a:defRPr>
            </a:pPr>
            <a:r>
              <a:t>ACECARD</a:t>
            </a:r>
          </a:p>
        </p:txBody>
      </p:sp>
      <p:sp>
        <p:nvSpPr>
          <p:cNvPr id="74" name="TextBox 73"/>
          <p:cNvSpPr txBox="1"/>
          <p:nvPr/>
        </p:nvSpPr>
        <p:spPr>
          <a:xfrm>
            <a:off x="6492240" y="4926584"/>
            <a:ext cx="4937760" cy="365760"/>
          </a:xfrm>
          <a:prstGeom prst="rect">
            <a:avLst/>
          </a:prstGeom>
          <a:noFill/>
        </p:spPr>
        <p:txBody>
          <a:bodyPr wrap="square">
            <a:spAutoFit/>
          </a:bodyPr>
          <a:lstStyle/>
          <a:p>
            <a:pPr algn="l">
              <a:defRPr sz="900" b="0">
                <a:solidFill>
                  <a:srgbClr val="2D3748"/>
                </a:solidFill>
                <a:latin typeface="Calibri"/>
              </a:defRPr>
            </a:pPr>
            <a:r>
              <a:t>Behavioral anomaly even with no MITRE label</a:t>
            </a:r>
          </a:p>
        </p:txBody>
      </p:sp>
      <p:sp>
        <p:nvSpPr>
          <p:cNvPr id="75" name="Rounded Rectangle 74"/>
          <p:cNvSpPr/>
          <p:nvPr/>
        </p:nvSpPr>
        <p:spPr>
          <a:xfrm>
            <a:off x="457200" y="5330952"/>
            <a:ext cx="11064240" cy="411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48640" y="5356352"/>
            <a:ext cx="3474720" cy="365760"/>
          </a:xfrm>
          <a:prstGeom prst="rect">
            <a:avLst/>
          </a:prstGeom>
          <a:noFill/>
        </p:spPr>
        <p:txBody>
          <a:bodyPr wrap="square">
            <a:spAutoFit/>
          </a:bodyPr>
          <a:lstStyle/>
          <a:p>
            <a:pPr algn="l">
              <a:defRPr sz="900" b="1">
                <a:solidFill>
                  <a:srgbClr val="0B1F3A"/>
                </a:solidFill>
                <a:latin typeface="Calibri"/>
              </a:defRPr>
            </a:pPr>
            <a:r>
              <a:t>Insider threat / data hoarding</a:t>
            </a:r>
          </a:p>
        </p:txBody>
      </p:sp>
      <p:sp>
        <p:nvSpPr>
          <p:cNvPr id="77" name="TextBox 76"/>
          <p:cNvSpPr txBox="1"/>
          <p:nvPr/>
        </p:nvSpPr>
        <p:spPr>
          <a:xfrm>
            <a:off x="4114800" y="5356352"/>
            <a:ext cx="457200" cy="365760"/>
          </a:xfrm>
          <a:prstGeom prst="rect">
            <a:avLst/>
          </a:prstGeom>
          <a:noFill/>
        </p:spPr>
        <p:txBody>
          <a:bodyPr wrap="square">
            <a:spAutoFit/>
          </a:bodyPr>
          <a:lstStyle/>
          <a:p>
            <a:pPr algn="ctr">
              <a:defRPr sz="900" b="0">
                <a:solidFill>
                  <a:srgbClr val="C0392B"/>
                </a:solidFill>
                <a:latin typeface="Calibri"/>
              </a:defRPr>
            </a:pPr>
            <a:endParaRPr/>
          </a:p>
        </p:txBody>
      </p:sp>
      <p:sp>
        <p:nvSpPr>
          <p:cNvPr id="78" name="TextBox 77"/>
          <p:cNvSpPr txBox="1"/>
          <p:nvPr/>
        </p:nvSpPr>
        <p:spPr>
          <a:xfrm>
            <a:off x="4663440" y="5356352"/>
            <a:ext cx="457200" cy="365760"/>
          </a:xfrm>
          <a:prstGeom prst="rect">
            <a:avLst/>
          </a:prstGeom>
          <a:noFill/>
        </p:spPr>
        <p:txBody>
          <a:bodyPr wrap="square">
            <a:spAutoFit/>
          </a:bodyPr>
          <a:lstStyle/>
          <a:p>
            <a:pPr algn="ctr">
              <a:defRPr sz="900" b="0">
                <a:solidFill>
                  <a:srgbClr val="C0392B"/>
                </a:solidFill>
                <a:latin typeface="Calibri"/>
              </a:defRPr>
            </a:pPr>
            <a:endParaRPr/>
          </a:p>
        </p:txBody>
      </p:sp>
      <p:sp>
        <p:nvSpPr>
          <p:cNvPr id="79" name="Rectangle 78"/>
          <p:cNvSpPr/>
          <p:nvPr/>
        </p:nvSpPr>
        <p:spPr>
          <a:xfrm>
            <a:off x="5303520" y="5394960"/>
            <a:ext cx="1005840" cy="21945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5303520" y="5404104"/>
            <a:ext cx="1005840" cy="201168"/>
          </a:xfrm>
          <a:prstGeom prst="rect">
            <a:avLst/>
          </a:prstGeom>
          <a:noFill/>
        </p:spPr>
        <p:txBody>
          <a:bodyPr wrap="square">
            <a:spAutoFit/>
          </a:bodyPr>
          <a:lstStyle/>
          <a:p>
            <a:pPr algn="ctr">
              <a:defRPr sz="800" b="1">
                <a:solidFill>
                  <a:srgbClr val="FFFFFF"/>
                </a:solidFill>
                <a:latin typeface="Calibri"/>
              </a:defRPr>
            </a:pPr>
            <a:r>
              <a:t>ACECARD</a:t>
            </a:r>
          </a:p>
        </p:txBody>
      </p:sp>
      <p:sp>
        <p:nvSpPr>
          <p:cNvPr id="81" name="TextBox 80"/>
          <p:cNvSpPr txBox="1"/>
          <p:nvPr/>
        </p:nvSpPr>
        <p:spPr>
          <a:xfrm>
            <a:off x="6492240" y="5356352"/>
            <a:ext cx="4937760" cy="365760"/>
          </a:xfrm>
          <a:prstGeom prst="rect">
            <a:avLst/>
          </a:prstGeom>
          <a:noFill/>
        </p:spPr>
        <p:txBody>
          <a:bodyPr wrap="square">
            <a:spAutoFit/>
          </a:bodyPr>
          <a:lstStyle/>
          <a:p>
            <a:pPr algn="l">
              <a:defRPr sz="900" b="0">
                <a:solidFill>
                  <a:srgbClr val="2D3748"/>
                </a:solidFill>
                <a:latin typeface="Calibri"/>
              </a:defRPr>
            </a:pPr>
            <a:r>
              <a:t>insider_hoarding (T1074) + cohort z-score</a:t>
            </a:r>
          </a:p>
        </p:txBody>
      </p:sp>
      <p:sp>
        <p:nvSpPr>
          <p:cNvPr id="82" name="Rectangle 81"/>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Together: attack surface never existed (Preemptive) OR attack detected and contained within hours (ACECARD + ABAC)</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INNOVATION -- NOBODY ELSE HAS THIS</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What Exists vs. What We Built</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Systematic comparison of our innovations against every commercial UEBA and preemptive platform.</a:t>
            </a:r>
          </a:p>
        </p:txBody>
      </p:sp>
      <p:sp>
        <p:nvSpPr>
          <p:cNvPr id="6" name="Rounded Rectangle 5"/>
          <p:cNvSpPr/>
          <p:nvPr/>
        </p:nvSpPr>
        <p:spPr>
          <a:xfrm>
            <a:off x="457200" y="1280160"/>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73152" cy="41148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305560"/>
            <a:ext cx="5029200" cy="365760"/>
          </a:xfrm>
          <a:prstGeom prst="rect">
            <a:avLst/>
          </a:prstGeom>
          <a:noFill/>
        </p:spPr>
        <p:txBody>
          <a:bodyPr wrap="square">
            <a:spAutoFit/>
          </a:bodyPr>
          <a:lstStyle/>
          <a:p>
            <a:pPr algn="l">
              <a:defRPr sz="1000" b="1">
                <a:solidFill>
                  <a:srgbClr val="0B1F3A"/>
                </a:solidFill>
                <a:latin typeface="Calibri"/>
              </a:defRPr>
            </a:pPr>
            <a:r>
              <a:t>Formal verification of 2^8000 config state</a:t>
            </a:r>
          </a:p>
        </p:txBody>
      </p:sp>
      <p:sp>
        <p:nvSpPr>
          <p:cNvPr id="9" name="TextBox 8"/>
          <p:cNvSpPr txBox="1"/>
          <p:nvPr/>
        </p:nvSpPr>
        <p:spPr>
          <a:xfrm>
            <a:off x="5760720" y="1305560"/>
            <a:ext cx="3657600" cy="365760"/>
          </a:xfrm>
          <a:prstGeom prst="rect">
            <a:avLst/>
          </a:prstGeom>
          <a:noFill/>
        </p:spPr>
        <p:txBody>
          <a:bodyPr wrap="square">
            <a:spAutoFit/>
          </a:bodyPr>
          <a:lstStyle/>
          <a:p>
            <a:pPr algn="l">
              <a:defRPr sz="900" b="0">
                <a:solidFill>
                  <a:srgbClr val="2D3748"/>
                </a:solidFill>
                <a:latin typeface="Calibri"/>
              </a:defRPr>
            </a:pPr>
            <a:r>
              <a:t>Pentests sample. ASM enumerates. Nobody PROVES.</a:t>
            </a:r>
          </a:p>
        </p:txBody>
      </p:sp>
      <p:sp>
        <p:nvSpPr>
          <p:cNvPr id="10" name="Rectangle 9"/>
          <p:cNvSpPr/>
          <p:nvPr/>
        </p:nvSpPr>
        <p:spPr>
          <a:xfrm>
            <a:off x="9601200" y="1353312"/>
            <a:ext cx="1828800" cy="2286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0" y="1362456"/>
            <a:ext cx="1828800" cy="210312"/>
          </a:xfrm>
          <a:prstGeom prst="rect">
            <a:avLst/>
          </a:prstGeom>
          <a:noFill/>
        </p:spPr>
        <p:txBody>
          <a:bodyPr wrap="square">
            <a:spAutoFit/>
          </a:bodyPr>
          <a:lstStyle/>
          <a:p>
            <a:pPr algn="ctr">
              <a:defRPr sz="850" b="1">
                <a:solidFill>
                  <a:srgbClr val="FFFFFF"/>
                </a:solidFill>
                <a:latin typeface="Calibri"/>
              </a:defRPr>
            </a:pPr>
            <a:r>
              <a:t>22CT PREEMPT</a:t>
            </a:r>
          </a:p>
        </p:txBody>
      </p:sp>
      <p:sp>
        <p:nvSpPr>
          <p:cNvPr id="12" name="Rounded Rectangle 11"/>
          <p:cNvSpPr/>
          <p:nvPr/>
        </p:nvSpPr>
        <p:spPr>
          <a:xfrm>
            <a:off x="457200" y="1719072"/>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719072"/>
            <a:ext cx="73152" cy="41148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1744472"/>
            <a:ext cx="5029200" cy="365760"/>
          </a:xfrm>
          <a:prstGeom prst="rect">
            <a:avLst/>
          </a:prstGeom>
          <a:noFill/>
        </p:spPr>
        <p:txBody>
          <a:bodyPr wrap="square">
            <a:spAutoFit/>
          </a:bodyPr>
          <a:lstStyle/>
          <a:p>
            <a:pPr algn="l">
              <a:defRPr sz="1000" b="1">
                <a:solidFill>
                  <a:srgbClr val="0B1F3A"/>
                </a:solidFill>
                <a:latin typeface="Calibri"/>
              </a:defRPr>
            </a:pPr>
            <a:r>
              <a:t>Zero false positives / zero false negatives</a:t>
            </a:r>
          </a:p>
        </p:txBody>
      </p:sp>
      <p:sp>
        <p:nvSpPr>
          <p:cNvPr id="15" name="TextBox 14"/>
          <p:cNvSpPr txBox="1"/>
          <p:nvPr/>
        </p:nvSpPr>
        <p:spPr>
          <a:xfrm>
            <a:off x="5760720" y="1744472"/>
            <a:ext cx="3657600" cy="365760"/>
          </a:xfrm>
          <a:prstGeom prst="rect">
            <a:avLst/>
          </a:prstGeom>
          <a:noFill/>
        </p:spPr>
        <p:txBody>
          <a:bodyPr wrap="square">
            <a:spAutoFit/>
          </a:bodyPr>
          <a:lstStyle/>
          <a:p>
            <a:pPr algn="l">
              <a:defRPr sz="900" b="0">
                <a:solidFill>
                  <a:srgbClr val="2D3748"/>
                </a:solidFill>
                <a:latin typeface="Calibri"/>
              </a:defRPr>
            </a:pPr>
            <a:r>
              <a:t>Mathematical guarantee, not probabilistic.</a:t>
            </a:r>
          </a:p>
        </p:txBody>
      </p:sp>
      <p:sp>
        <p:nvSpPr>
          <p:cNvPr id="16" name="Rectangle 15"/>
          <p:cNvSpPr/>
          <p:nvPr/>
        </p:nvSpPr>
        <p:spPr>
          <a:xfrm>
            <a:off x="9601200" y="1792224"/>
            <a:ext cx="1828800" cy="22860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0" y="1801368"/>
            <a:ext cx="1828800" cy="210312"/>
          </a:xfrm>
          <a:prstGeom prst="rect">
            <a:avLst/>
          </a:prstGeom>
          <a:noFill/>
        </p:spPr>
        <p:txBody>
          <a:bodyPr wrap="square">
            <a:spAutoFit/>
          </a:bodyPr>
          <a:lstStyle/>
          <a:p>
            <a:pPr algn="ctr">
              <a:defRPr sz="850" b="1">
                <a:solidFill>
                  <a:srgbClr val="FFFFFF"/>
                </a:solidFill>
                <a:latin typeface="Calibri"/>
              </a:defRPr>
            </a:pPr>
            <a:r>
              <a:t>22CT PREEMPT</a:t>
            </a:r>
          </a:p>
        </p:txBody>
      </p:sp>
      <p:sp>
        <p:nvSpPr>
          <p:cNvPr id="18" name="Rounded Rectangle 17"/>
          <p:cNvSpPr/>
          <p:nvPr/>
        </p:nvSpPr>
        <p:spPr>
          <a:xfrm>
            <a:off x="457200" y="2157984"/>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2157984"/>
            <a:ext cx="73152" cy="4114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2183384"/>
            <a:ext cx="5029200" cy="365760"/>
          </a:xfrm>
          <a:prstGeom prst="rect">
            <a:avLst/>
          </a:prstGeom>
          <a:noFill/>
        </p:spPr>
        <p:txBody>
          <a:bodyPr wrap="square">
            <a:spAutoFit/>
          </a:bodyPr>
          <a:lstStyle/>
          <a:p>
            <a:pPr algn="l">
              <a:defRPr sz="1000" b="1">
                <a:solidFill>
                  <a:srgbClr val="0B1F3A"/>
                </a:solidFill>
                <a:latin typeface="Calibri"/>
              </a:defRPr>
            </a:pPr>
            <a:r>
              <a:t>Behavioral embedding in unified 1536-d space</a:t>
            </a:r>
          </a:p>
        </p:txBody>
      </p:sp>
      <p:sp>
        <p:nvSpPr>
          <p:cNvPr id="21" name="TextBox 20"/>
          <p:cNvSpPr txBox="1"/>
          <p:nvPr/>
        </p:nvSpPr>
        <p:spPr>
          <a:xfrm>
            <a:off x="5760720" y="2183384"/>
            <a:ext cx="3657600" cy="365760"/>
          </a:xfrm>
          <a:prstGeom prst="rect">
            <a:avLst/>
          </a:prstGeom>
          <a:noFill/>
        </p:spPr>
        <p:txBody>
          <a:bodyPr wrap="square">
            <a:spAutoFit/>
          </a:bodyPr>
          <a:lstStyle/>
          <a:p>
            <a:pPr algn="l">
              <a:defRPr sz="900" b="0">
                <a:solidFill>
                  <a:srgbClr val="2D3748"/>
                </a:solidFill>
                <a:latin typeface="Calibri"/>
              </a:defRPr>
            </a:pPr>
            <a:r>
              <a:t>Industry uses features/rules. We use vectors.</a:t>
            </a:r>
          </a:p>
        </p:txBody>
      </p:sp>
      <p:sp>
        <p:nvSpPr>
          <p:cNvPr id="22" name="Rectangle 21"/>
          <p:cNvSpPr/>
          <p:nvPr/>
        </p:nvSpPr>
        <p:spPr>
          <a:xfrm>
            <a:off x="9601200" y="2231136"/>
            <a:ext cx="182880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01200" y="2240280"/>
            <a:ext cx="1828800" cy="210312"/>
          </a:xfrm>
          <a:prstGeom prst="rect">
            <a:avLst/>
          </a:prstGeom>
          <a:noFill/>
        </p:spPr>
        <p:txBody>
          <a:bodyPr wrap="square">
            <a:spAutoFit/>
          </a:bodyPr>
          <a:lstStyle/>
          <a:p>
            <a:pPr algn="ctr">
              <a:defRPr sz="850" b="1">
                <a:solidFill>
                  <a:srgbClr val="FFFFFF"/>
                </a:solidFill>
                <a:latin typeface="Calibri"/>
              </a:defRPr>
            </a:pPr>
            <a:r>
              <a:t>ACECARD</a:t>
            </a:r>
          </a:p>
        </p:txBody>
      </p:sp>
      <p:sp>
        <p:nvSpPr>
          <p:cNvPr id="24" name="Rounded Rectangle 23"/>
          <p:cNvSpPr/>
          <p:nvPr/>
        </p:nvSpPr>
        <p:spPr>
          <a:xfrm>
            <a:off x="457200" y="2596896"/>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2596896"/>
            <a:ext cx="73152" cy="4114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2622296"/>
            <a:ext cx="5029200" cy="365760"/>
          </a:xfrm>
          <a:prstGeom prst="rect">
            <a:avLst/>
          </a:prstGeom>
          <a:noFill/>
        </p:spPr>
        <p:txBody>
          <a:bodyPr wrap="square">
            <a:spAutoFit/>
          </a:bodyPr>
          <a:lstStyle/>
          <a:p>
            <a:pPr algn="l">
              <a:defRPr sz="1000" b="1">
                <a:solidFill>
                  <a:srgbClr val="0B1F3A"/>
                </a:solidFill>
                <a:latin typeface="Calibri"/>
              </a:defRPr>
            </a:pPr>
            <a:r>
              <a:t>Per-signal drift decomposition (5 individual)</a:t>
            </a:r>
          </a:p>
        </p:txBody>
      </p:sp>
      <p:sp>
        <p:nvSpPr>
          <p:cNvPr id="27" name="TextBox 26"/>
          <p:cNvSpPr txBox="1"/>
          <p:nvPr/>
        </p:nvSpPr>
        <p:spPr>
          <a:xfrm>
            <a:off x="5760720" y="2622296"/>
            <a:ext cx="3657600" cy="365760"/>
          </a:xfrm>
          <a:prstGeom prst="rect">
            <a:avLst/>
          </a:prstGeom>
          <a:noFill/>
        </p:spPr>
        <p:txBody>
          <a:bodyPr wrap="square">
            <a:spAutoFit/>
          </a:bodyPr>
          <a:lstStyle/>
          <a:p>
            <a:pPr algn="l">
              <a:defRPr sz="900" b="0">
                <a:solidFill>
                  <a:srgbClr val="2D3748"/>
                </a:solidFill>
                <a:latin typeface="Calibri"/>
              </a:defRPr>
            </a:pPr>
            <a:r>
              <a:t>Others embed once. We embed 6x for attribution.</a:t>
            </a:r>
          </a:p>
        </p:txBody>
      </p:sp>
      <p:sp>
        <p:nvSpPr>
          <p:cNvPr id="28" name="Rectangle 27"/>
          <p:cNvSpPr/>
          <p:nvPr/>
        </p:nvSpPr>
        <p:spPr>
          <a:xfrm>
            <a:off x="9601200" y="2670048"/>
            <a:ext cx="182880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01200" y="2679192"/>
            <a:ext cx="1828800" cy="210312"/>
          </a:xfrm>
          <a:prstGeom prst="rect">
            <a:avLst/>
          </a:prstGeom>
          <a:noFill/>
        </p:spPr>
        <p:txBody>
          <a:bodyPr wrap="square">
            <a:spAutoFit/>
          </a:bodyPr>
          <a:lstStyle/>
          <a:p>
            <a:pPr algn="ctr">
              <a:defRPr sz="850" b="1">
                <a:solidFill>
                  <a:srgbClr val="FFFFFF"/>
                </a:solidFill>
                <a:latin typeface="Calibri"/>
              </a:defRPr>
            </a:pPr>
            <a:r>
              <a:t>ACECARD</a:t>
            </a:r>
          </a:p>
        </p:txBody>
      </p:sp>
      <p:sp>
        <p:nvSpPr>
          <p:cNvPr id="30" name="Rounded Rectangle 29"/>
          <p:cNvSpPr/>
          <p:nvPr/>
        </p:nvSpPr>
        <p:spPr>
          <a:xfrm>
            <a:off x="457200" y="3035808"/>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3035808"/>
            <a:ext cx="73152" cy="4114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3061208"/>
            <a:ext cx="5029200" cy="365760"/>
          </a:xfrm>
          <a:prstGeom prst="rect">
            <a:avLst/>
          </a:prstGeom>
          <a:noFill/>
        </p:spPr>
        <p:txBody>
          <a:bodyPr wrap="square">
            <a:spAutoFit/>
          </a:bodyPr>
          <a:lstStyle/>
          <a:p>
            <a:pPr algn="l">
              <a:defRPr sz="1000" b="1">
                <a:solidFill>
                  <a:srgbClr val="0B1F3A"/>
                </a:solidFill>
                <a:latin typeface="Calibri"/>
              </a:defRPr>
            </a:pPr>
            <a:r>
              <a:t>CUSUM on embedding trajectories</a:t>
            </a:r>
          </a:p>
        </p:txBody>
      </p:sp>
      <p:sp>
        <p:nvSpPr>
          <p:cNvPr id="33" name="TextBox 32"/>
          <p:cNvSpPr txBox="1"/>
          <p:nvPr/>
        </p:nvSpPr>
        <p:spPr>
          <a:xfrm>
            <a:off x="5760720" y="3061208"/>
            <a:ext cx="3657600" cy="365760"/>
          </a:xfrm>
          <a:prstGeom prst="rect">
            <a:avLst/>
          </a:prstGeom>
          <a:noFill/>
        </p:spPr>
        <p:txBody>
          <a:bodyPr wrap="square">
            <a:spAutoFit/>
          </a:bodyPr>
          <a:lstStyle/>
          <a:p>
            <a:pPr algn="l">
              <a:defRPr sz="900" b="0">
                <a:solidFill>
                  <a:srgbClr val="2D3748"/>
                </a:solidFill>
                <a:latin typeface="Calibri"/>
              </a:defRPr>
            </a:pPr>
            <a:r>
              <a:t>Nobody applies sequential change-point to vectors.</a:t>
            </a:r>
          </a:p>
        </p:txBody>
      </p:sp>
      <p:sp>
        <p:nvSpPr>
          <p:cNvPr id="34" name="Rectangle 33"/>
          <p:cNvSpPr/>
          <p:nvPr/>
        </p:nvSpPr>
        <p:spPr>
          <a:xfrm>
            <a:off x="9601200" y="3108960"/>
            <a:ext cx="182880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01200" y="3118104"/>
            <a:ext cx="1828800" cy="210312"/>
          </a:xfrm>
          <a:prstGeom prst="rect">
            <a:avLst/>
          </a:prstGeom>
          <a:noFill/>
        </p:spPr>
        <p:txBody>
          <a:bodyPr wrap="square">
            <a:spAutoFit/>
          </a:bodyPr>
          <a:lstStyle/>
          <a:p>
            <a:pPr algn="ctr">
              <a:defRPr sz="850" b="1">
                <a:solidFill>
                  <a:srgbClr val="FFFFFF"/>
                </a:solidFill>
                <a:latin typeface="Calibri"/>
              </a:defRPr>
            </a:pPr>
            <a:r>
              <a:t>ACECARD</a:t>
            </a:r>
          </a:p>
        </p:txBody>
      </p:sp>
      <p:sp>
        <p:nvSpPr>
          <p:cNvPr id="36" name="Rounded Rectangle 35"/>
          <p:cNvSpPr/>
          <p:nvPr/>
        </p:nvSpPr>
        <p:spPr>
          <a:xfrm>
            <a:off x="457200" y="3474720"/>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7200" y="3474720"/>
            <a:ext cx="73152" cy="4114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 y="3500120"/>
            <a:ext cx="5029200" cy="365760"/>
          </a:xfrm>
          <a:prstGeom prst="rect">
            <a:avLst/>
          </a:prstGeom>
          <a:noFill/>
        </p:spPr>
        <p:txBody>
          <a:bodyPr wrap="square">
            <a:spAutoFit/>
          </a:bodyPr>
          <a:lstStyle/>
          <a:p>
            <a:pPr algn="l">
              <a:defRPr sz="1000" b="1">
                <a:solidFill>
                  <a:srgbClr val="0B1F3A"/>
                </a:solidFill>
                <a:latin typeface="Calibri"/>
              </a:defRPr>
            </a:pPr>
            <a:r>
              <a:t>Drift direction with MITRE technique mapping</a:t>
            </a:r>
          </a:p>
        </p:txBody>
      </p:sp>
      <p:sp>
        <p:nvSpPr>
          <p:cNvPr id="39" name="TextBox 38"/>
          <p:cNvSpPr txBox="1"/>
          <p:nvPr/>
        </p:nvSpPr>
        <p:spPr>
          <a:xfrm>
            <a:off x="5760720" y="3500120"/>
            <a:ext cx="3657600" cy="365760"/>
          </a:xfrm>
          <a:prstGeom prst="rect">
            <a:avLst/>
          </a:prstGeom>
          <a:noFill/>
        </p:spPr>
        <p:txBody>
          <a:bodyPr wrap="square">
            <a:spAutoFit/>
          </a:bodyPr>
          <a:lstStyle/>
          <a:p>
            <a:pPr algn="l">
              <a:defRPr sz="900" b="0">
                <a:solidFill>
                  <a:srgbClr val="2D3748"/>
                </a:solidFill>
                <a:latin typeface="Calibri"/>
              </a:defRPr>
            </a:pPr>
            <a:r>
              <a:t>"Drifting toward T1021" -- no other UEBA does this.</a:t>
            </a:r>
          </a:p>
        </p:txBody>
      </p:sp>
      <p:sp>
        <p:nvSpPr>
          <p:cNvPr id="40" name="Rectangle 39"/>
          <p:cNvSpPr/>
          <p:nvPr/>
        </p:nvSpPr>
        <p:spPr>
          <a:xfrm>
            <a:off x="9601200" y="3547872"/>
            <a:ext cx="182880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601200" y="3557016"/>
            <a:ext cx="1828800" cy="210312"/>
          </a:xfrm>
          <a:prstGeom prst="rect">
            <a:avLst/>
          </a:prstGeom>
          <a:noFill/>
        </p:spPr>
        <p:txBody>
          <a:bodyPr wrap="square">
            <a:spAutoFit/>
          </a:bodyPr>
          <a:lstStyle/>
          <a:p>
            <a:pPr algn="ctr">
              <a:defRPr sz="850" b="1">
                <a:solidFill>
                  <a:srgbClr val="FFFFFF"/>
                </a:solidFill>
                <a:latin typeface="Calibri"/>
              </a:defRPr>
            </a:pPr>
            <a:r>
              <a:t>ACECARD</a:t>
            </a:r>
          </a:p>
        </p:txBody>
      </p:sp>
      <p:sp>
        <p:nvSpPr>
          <p:cNvPr id="42" name="Rounded Rectangle 41"/>
          <p:cNvSpPr/>
          <p:nvPr/>
        </p:nvSpPr>
        <p:spPr>
          <a:xfrm>
            <a:off x="457200" y="3913632"/>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57200" y="3913632"/>
            <a:ext cx="73152" cy="4114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0080" y="3939032"/>
            <a:ext cx="5029200" cy="365760"/>
          </a:xfrm>
          <a:prstGeom prst="rect">
            <a:avLst/>
          </a:prstGeom>
          <a:noFill/>
        </p:spPr>
        <p:txBody>
          <a:bodyPr wrap="square">
            <a:spAutoFit/>
          </a:bodyPr>
          <a:lstStyle/>
          <a:p>
            <a:pPr algn="l">
              <a:defRPr sz="1000" b="1">
                <a:solidFill>
                  <a:srgbClr val="0B1F3A"/>
                </a:solidFill>
                <a:latin typeface="Calibri"/>
              </a:defRPr>
            </a:pPr>
            <a:r>
              <a:t>Entity fusion across 10+ identity systems</a:t>
            </a:r>
          </a:p>
        </p:txBody>
      </p:sp>
      <p:sp>
        <p:nvSpPr>
          <p:cNvPr id="45" name="TextBox 44"/>
          <p:cNvSpPr txBox="1"/>
          <p:nvPr/>
        </p:nvSpPr>
        <p:spPr>
          <a:xfrm>
            <a:off x="5760720" y="3939032"/>
            <a:ext cx="3657600" cy="365760"/>
          </a:xfrm>
          <a:prstGeom prst="rect">
            <a:avLst/>
          </a:prstGeom>
          <a:noFill/>
        </p:spPr>
        <p:txBody>
          <a:bodyPr wrap="square">
            <a:spAutoFit/>
          </a:bodyPr>
          <a:lstStyle/>
          <a:p>
            <a:pPr algn="l">
              <a:defRPr sz="900" b="0">
                <a:solidFill>
                  <a:srgbClr val="2D3748"/>
                </a:solidFill>
                <a:latin typeface="Calibri"/>
              </a:defRPr>
            </a:pPr>
            <a:r>
              <a:t>Commercial UEBA: 1-3 sources max. We fuse 10+.</a:t>
            </a:r>
          </a:p>
        </p:txBody>
      </p:sp>
      <p:sp>
        <p:nvSpPr>
          <p:cNvPr id="46" name="Rectangle 45"/>
          <p:cNvSpPr/>
          <p:nvPr/>
        </p:nvSpPr>
        <p:spPr>
          <a:xfrm>
            <a:off x="9601200" y="3986784"/>
            <a:ext cx="182880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01200" y="3995928"/>
            <a:ext cx="1828800" cy="210312"/>
          </a:xfrm>
          <a:prstGeom prst="rect">
            <a:avLst/>
          </a:prstGeom>
          <a:noFill/>
        </p:spPr>
        <p:txBody>
          <a:bodyPr wrap="square">
            <a:spAutoFit/>
          </a:bodyPr>
          <a:lstStyle/>
          <a:p>
            <a:pPr algn="ctr">
              <a:defRPr sz="850" b="1">
                <a:solidFill>
                  <a:srgbClr val="FFFFFF"/>
                </a:solidFill>
                <a:latin typeface="Calibri"/>
              </a:defRPr>
            </a:pPr>
            <a:r>
              <a:t>ACECARD</a:t>
            </a:r>
          </a:p>
        </p:txBody>
      </p:sp>
      <p:sp>
        <p:nvSpPr>
          <p:cNvPr id="48" name="Rounded Rectangle 47"/>
          <p:cNvSpPr/>
          <p:nvPr/>
        </p:nvSpPr>
        <p:spPr>
          <a:xfrm>
            <a:off x="457200" y="4352544"/>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457200" y="4352544"/>
            <a:ext cx="73152" cy="4114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0080" y="4377944"/>
            <a:ext cx="5029200" cy="365760"/>
          </a:xfrm>
          <a:prstGeom prst="rect">
            <a:avLst/>
          </a:prstGeom>
          <a:noFill/>
        </p:spPr>
        <p:txBody>
          <a:bodyPr wrap="square">
            <a:spAutoFit/>
          </a:bodyPr>
          <a:lstStyle/>
          <a:p>
            <a:pPr algn="l">
              <a:defRPr sz="1000" b="1">
                <a:solidFill>
                  <a:srgbClr val="0B1F3A"/>
                </a:solidFill>
                <a:latin typeface="Calibri"/>
              </a:defRPr>
            </a:pPr>
            <a:r>
              <a:t>HMAC-chained forensic evidence</a:t>
            </a:r>
          </a:p>
        </p:txBody>
      </p:sp>
      <p:sp>
        <p:nvSpPr>
          <p:cNvPr id="51" name="TextBox 50"/>
          <p:cNvSpPr txBox="1"/>
          <p:nvPr/>
        </p:nvSpPr>
        <p:spPr>
          <a:xfrm>
            <a:off x="5760720" y="4377944"/>
            <a:ext cx="3657600" cy="365760"/>
          </a:xfrm>
          <a:prstGeom prst="rect">
            <a:avLst/>
          </a:prstGeom>
          <a:noFill/>
        </p:spPr>
        <p:txBody>
          <a:bodyPr wrap="square">
            <a:spAutoFit/>
          </a:bodyPr>
          <a:lstStyle/>
          <a:p>
            <a:pPr algn="l">
              <a:defRPr sz="900" b="0">
                <a:solidFill>
                  <a:srgbClr val="2D3748"/>
                </a:solidFill>
                <a:latin typeface="Calibri"/>
              </a:defRPr>
            </a:pPr>
            <a:r>
              <a:t>Tamper-evident behavioral chains. Novel.</a:t>
            </a:r>
          </a:p>
        </p:txBody>
      </p:sp>
      <p:sp>
        <p:nvSpPr>
          <p:cNvPr id="52" name="Rectangle 51"/>
          <p:cNvSpPr/>
          <p:nvPr/>
        </p:nvSpPr>
        <p:spPr>
          <a:xfrm>
            <a:off x="9601200" y="4425696"/>
            <a:ext cx="182880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601200" y="4434840"/>
            <a:ext cx="1828800" cy="210312"/>
          </a:xfrm>
          <a:prstGeom prst="rect">
            <a:avLst/>
          </a:prstGeom>
          <a:noFill/>
        </p:spPr>
        <p:txBody>
          <a:bodyPr wrap="square">
            <a:spAutoFit/>
          </a:bodyPr>
          <a:lstStyle/>
          <a:p>
            <a:pPr algn="ctr">
              <a:defRPr sz="850" b="1">
                <a:solidFill>
                  <a:srgbClr val="FFFFFF"/>
                </a:solidFill>
                <a:latin typeface="Calibri"/>
              </a:defRPr>
            </a:pPr>
            <a:r>
              <a:t>ACECARD</a:t>
            </a:r>
          </a:p>
        </p:txBody>
      </p:sp>
      <p:sp>
        <p:nvSpPr>
          <p:cNvPr id="54" name="Rounded Rectangle 53"/>
          <p:cNvSpPr/>
          <p:nvPr/>
        </p:nvSpPr>
        <p:spPr>
          <a:xfrm>
            <a:off x="457200" y="4791456"/>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457200" y="4791456"/>
            <a:ext cx="73152" cy="4114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0080" y="4816856"/>
            <a:ext cx="5029200" cy="365760"/>
          </a:xfrm>
          <a:prstGeom prst="rect">
            <a:avLst/>
          </a:prstGeom>
          <a:noFill/>
        </p:spPr>
        <p:txBody>
          <a:bodyPr wrap="square">
            <a:spAutoFit/>
          </a:bodyPr>
          <a:lstStyle/>
          <a:p>
            <a:pPr algn="l">
              <a:defRPr sz="1000" b="1">
                <a:solidFill>
                  <a:srgbClr val="0B1F3A"/>
                </a:solidFill>
                <a:latin typeface="Calibri"/>
              </a:defRPr>
            </a:pPr>
            <a:r>
              <a:t>ABAC trust loop with behavioral triggers</a:t>
            </a:r>
          </a:p>
        </p:txBody>
      </p:sp>
      <p:sp>
        <p:nvSpPr>
          <p:cNvPr id="57" name="TextBox 56"/>
          <p:cNvSpPr txBox="1"/>
          <p:nvPr/>
        </p:nvSpPr>
        <p:spPr>
          <a:xfrm>
            <a:off x="5760720" y="4816856"/>
            <a:ext cx="3657600" cy="365760"/>
          </a:xfrm>
          <a:prstGeom prst="rect">
            <a:avLst/>
          </a:prstGeom>
          <a:noFill/>
        </p:spPr>
        <p:txBody>
          <a:bodyPr wrap="square">
            <a:spAutoFit/>
          </a:bodyPr>
          <a:lstStyle/>
          <a:p>
            <a:pPr algn="l">
              <a:defRPr sz="900" b="0">
                <a:solidFill>
                  <a:srgbClr val="2D3748"/>
                </a:solidFill>
                <a:latin typeface="Calibri"/>
              </a:defRPr>
            </a:pPr>
            <a:r>
              <a:t>Detection + enforcement in one system. &lt;5 min.</a:t>
            </a:r>
          </a:p>
        </p:txBody>
      </p:sp>
      <p:sp>
        <p:nvSpPr>
          <p:cNvPr id="58" name="Rectangle 57"/>
          <p:cNvSpPr/>
          <p:nvPr/>
        </p:nvSpPr>
        <p:spPr>
          <a:xfrm>
            <a:off x="9601200" y="4864608"/>
            <a:ext cx="1828800" cy="22860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601200" y="4873752"/>
            <a:ext cx="1828800" cy="210312"/>
          </a:xfrm>
          <a:prstGeom prst="rect">
            <a:avLst/>
          </a:prstGeom>
          <a:noFill/>
        </p:spPr>
        <p:txBody>
          <a:bodyPr wrap="square">
            <a:spAutoFit/>
          </a:bodyPr>
          <a:lstStyle/>
          <a:p>
            <a:pPr algn="ctr">
              <a:defRPr sz="850" b="1">
                <a:solidFill>
                  <a:srgbClr val="FFFFFF"/>
                </a:solidFill>
                <a:latin typeface="Calibri"/>
              </a:defRPr>
            </a:pPr>
            <a:r>
              <a:t>ACECARD</a:t>
            </a:r>
          </a:p>
        </p:txBody>
      </p:sp>
      <p:sp>
        <p:nvSpPr>
          <p:cNvPr id="60" name="Rounded Rectangle 59"/>
          <p:cNvSpPr/>
          <p:nvPr/>
        </p:nvSpPr>
        <p:spPr>
          <a:xfrm>
            <a:off x="457200" y="5230368"/>
            <a:ext cx="1106424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457200" y="5230368"/>
            <a:ext cx="73152" cy="4114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0080" y="5255768"/>
            <a:ext cx="5029200" cy="365760"/>
          </a:xfrm>
          <a:prstGeom prst="rect">
            <a:avLst/>
          </a:prstGeom>
          <a:noFill/>
        </p:spPr>
        <p:txBody>
          <a:bodyPr wrap="square">
            <a:spAutoFit/>
          </a:bodyPr>
          <a:lstStyle/>
          <a:p>
            <a:pPr algn="l">
              <a:defRPr sz="1000" b="1">
                <a:solidFill>
                  <a:srgbClr val="0B1F3A"/>
                </a:solidFill>
                <a:latin typeface="Calibri"/>
              </a:defRPr>
            </a:pPr>
            <a:r>
              <a:t>Containerized K8s-native for Gabriel Nimbus</a:t>
            </a:r>
          </a:p>
        </p:txBody>
      </p:sp>
      <p:sp>
        <p:nvSpPr>
          <p:cNvPr id="63" name="TextBox 62"/>
          <p:cNvSpPr txBox="1"/>
          <p:nvPr/>
        </p:nvSpPr>
        <p:spPr>
          <a:xfrm>
            <a:off x="5760720" y="5255768"/>
            <a:ext cx="3657600" cy="365760"/>
          </a:xfrm>
          <a:prstGeom prst="rect">
            <a:avLst/>
          </a:prstGeom>
          <a:noFill/>
        </p:spPr>
        <p:txBody>
          <a:bodyPr wrap="square">
            <a:spAutoFit/>
          </a:bodyPr>
          <a:lstStyle/>
          <a:p>
            <a:pPr algn="l">
              <a:defRPr sz="900" b="0">
                <a:solidFill>
                  <a:srgbClr val="2D3748"/>
                </a:solidFill>
                <a:latin typeface="Calibri"/>
              </a:defRPr>
            </a:pPr>
            <a:r>
              <a:t>No existing UEBA ships as Iron Bank container.</a:t>
            </a:r>
          </a:p>
        </p:txBody>
      </p:sp>
      <p:sp>
        <p:nvSpPr>
          <p:cNvPr id="64" name="Rectangle 63"/>
          <p:cNvSpPr/>
          <p:nvPr/>
        </p:nvSpPr>
        <p:spPr>
          <a:xfrm>
            <a:off x="9601200" y="5303520"/>
            <a:ext cx="1828800" cy="2286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01200" y="5312664"/>
            <a:ext cx="1828800" cy="210312"/>
          </a:xfrm>
          <a:prstGeom prst="rect">
            <a:avLst/>
          </a:prstGeom>
          <a:noFill/>
        </p:spPr>
        <p:txBody>
          <a:bodyPr wrap="square">
            <a:spAutoFit/>
          </a:bodyPr>
          <a:lstStyle/>
          <a:p>
            <a:pPr algn="ctr">
              <a:defRPr sz="850" b="1">
                <a:solidFill>
                  <a:srgbClr val="FFFFFF"/>
                </a:solidFill>
                <a:latin typeface="Calibri"/>
              </a:defRPr>
            </a:pPr>
            <a:r>
              <a:t>COMBINED</a:t>
            </a:r>
          </a:p>
        </p:txBody>
      </p:sp>
      <p:sp>
        <p:nvSpPr>
          <p:cNvPr id="66" name="Rectangle 65"/>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Combined: 10 innovations that do not exist anywhere else in the industry. This is not incremental improvement.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COMBINED ARCHITECTURE</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End-to-End Architecture: Rigor AI + ACECARD UEBA</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Rigor proves what cannot happen. ACECARD detects what is happening. The two layers share MITRE technique IDs and feed each other.</a:t>
            </a:r>
            <a:endParaRPr lang="en-US" sz="1200" dirty="0"/>
          </a:p>
        </p:txBody>
      </p:sp>
      <p:sp>
        <p:nvSpPr>
          <p:cNvPr id="7" name="Shape 5"/>
          <p:cNvSpPr/>
          <p:nvPr/>
        </p:nvSpPr>
        <p:spPr>
          <a:xfrm>
            <a:off x="457200" y="1463040"/>
            <a:ext cx="2011680" cy="5029200"/>
          </a:xfrm>
          <a:prstGeom prst="rect">
            <a:avLst/>
          </a:prstGeom>
          <a:solidFill>
            <a:srgbClr val="F7F8FA"/>
          </a:solidFill>
          <a:ln w="12700">
            <a:solidFill>
              <a:srgbClr val="E5E9EE"/>
            </a:solidFill>
            <a:prstDash val="solid"/>
          </a:ln>
        </p:spPr>
        <p:txBody>
          <a:bodyPr/>
          <a:lstStyle/>
          <a:p>
            <a:endParaRPr lang="en-US"/>
          </a:p>
        </p:txBody>
      </p:sp>
      <p:sp>
        <p:nvSpPr>
          <p:cNvPr id="8" name="Shape 6"/>
          <p:cNvSpPr/>
          <p:nvPr/>
        </p:nvSpPr>
        <p:spPr>
          <a:xfrm>
            <a:off x="457200" y="1463040"/>
            <a:ext cx="2011680" cy="457200"/>
          </a:xfrm>
          <a:prstGeom prst="rect">
            <a:avLst/>
          </a:prstGeom>
          <a:solidFill>
            <a:srgbClr val="2D3748"/>
          </a:solidFill>
          <a:ln/>
        </p:spPr>
        <p:txBody>
          <a:bodyPr/>
          <a:lstStyle/>
          <a:p>
            <a:endParaRPr lang="en-US"/>
          </a:p>
        </p:txBody>
      </p:sp>
      <p:sp>
        <p:nvSpPr>
          <p:cNvPr id="9" name="Text 7"/>
          <p:cNvSpPr/>
          <p:nvPr/>
        </p:nvSpPr>
        <p:spPr>
          <a:xfrm>
            <a:off x="457200" y="1463040"/>
            <a:ext cx="2011680" cy="45720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INPUTS</a:t>
            </a:r>
            <a:endParaRPr lang="en-US" sz="1200" dirty="0"/>
          </a:p>
        </p:txBody>
      </p:sp>
      <p:sp>
        <p:nvSpPr>
          <p:cNvPr id="10" name="Text 8"/>
          <p:cNvSpPr/>
          <p:nvPr/>
        </p:nvSpPr>
        <p:spPr>
          <a:xfrm>
            <a:off x="594360" y="2057400"/>
            <a:ext cx="1783080" cy="228600"/>
          </a:xfrm>
          <a:prstGeom prst="rect">
            <a:avLst/>
          </a:prstGeom>
          <a:noFill/>
          <a:ln/>
        </p:spPr>
        <p:txBody>
          <a:bodyPr wrap="square" lIns="0" tIns="0" rIns="0" bIns="0" rtlCol="0" anchor="ctr"/>
          <a:lstStyle/>
          <a:p>
            <a:pPr marL="0" indent="0">
              <a:buNone/>
            </a:pPr>
            <a:r>
              <a:rPr lang="en-US" sz="1000" b="1" dirty="0">
                <a:solidFill>
                  <a:srgbClr val="F26B1F"/>
                </a:solidFill>
                <a:latin typeface="Calibri" pitchFamily="34" charset="0"/>
                <a:ea typeface="Calibri" pitchFamily="34" charset="-122"/>
                <a:cs typeface="Calibri" pitchFamily="34" charset="-120"/>
              </a:rPr>
              <a:t>Threat Intel</a:t>
            </a:r>
            <a:endParaRPr lang="en-US" sz="1000" dirty="0"/>
          </a:p>
        </p:txBody>
      </p:sp>
      <p:sp>
        <p:nvSpPr>
          <p:cNvPr id="11" name="Text 9"/>
          <p:cNvSpPr/>
          <p:nvPr/>
        </p:nvSpPr>
        <p:spPr>
          <a:xfrm>
            <a:off x="594360" y="2286000"/>
            <a:ext cx="1783080" cy="5486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MITRE ATT&amp;CK · CISA · FBI · NSA · GTI · CTI feeds</a:t>
            </a:r>
            <a:endParaRPr lang="en-US" sz="900" dirty="0"/>
          </a:p>
        </p:txBody>
      </p:sp>
      <p:sp>
        <p:nvSpPr>
          <p:cNvPr id="12" name="Text 10"/>
          <p:cNvSpPr/>
          <p:nvPr/>
        </p:nvSpPr>
        <p:spPr>
          <a:xfrm>
            <a:off x="594360" y="2926080"/>
            <a:ext cx="1783080" cy="228600"/>
          </a:xfrm>
          <a:prstGeom prst="rect">
            <a:avLst/>
          </a:prstGeom>
          <a:noFill/>
          <a:ln/>
        </p:spPr>
        <p:txBody>
          <a:bodyPr wrap="square" lIns="0" tIns="0" rIns="0" bIns="0" rtlCol="0" anchor="ctr"/>
          <a:lstStyle/>
          <a:p>
            <a:pPr marL="0" indent="0">
              <a:buNone/>
            </a:pPr>
            <a:r>
              <a:rPr lang="en-US" sz="1000" b="1" dirty="0">
                <a:solidFill>
                  <a:srgbClr val="F26B1F"/>
                </a:solidFill>
                <a:latin typeface="Calibri" pitchFamily="34" charset="0"/>
                <a:ea typeface="Calibri" pitchFamily="34" charset="-122"/>
                <a:cs typeface="Calibri" pitchFamily="34" charset="-120"/>
              </a:rPr>
              <a:t>Defense Config</a:t>
            </a:r>
            <a:endParaRPr lang="en-US" sz="1000" dirty="0"/>
          </a:p>
        </p:txBody>
      </p:sp>
      <p:sp>
        <p:nvSpPr>
          <p:cNvPr id="13" name="Text 11"/>
          <p:cNvSpPr/>
          <p:nvPr/>
        </p:nvSpPr>
        <p:spPr>
          <a:xfrm>
            <a:off x="594360" y="3154680"/>
            <a:ext cx="1783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NGFW · IPS · IdP · IAM · EPP · SASE · WAF rules + vendor capabilities</a:t>
            </a:r>
            <a:endParaRPr lang="en-US" sz="900" dirty="0"/>
          </a:p>
        </p:txBody>
      </p:sp>
      <p:sp>
        <p:nvSpPr>
          <p:cNvPr id="14" name="Text 12"/>
          <p:cNvSpPr/>
          <p:nvPr/>
        </p:nvSpPr>
        <p:spPr>
          <a:xfrm>
            <a:off x="594360" y="4023360"/>
            <a:ext cx="1783080" cy="22860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Telemetry</a:t>
            </a:r>
            <a:endParaRPr lang="en-US" sz="1000" dirty="0"/>
          </a:p>
        </p:txBody>
      </p:sp>
      <p:sp>
        <p:nvSpPr>
          <p:cNvPr id="15" name="Text 13"/>
          <p:cNvSpPr/>
          <p:nvPr/>
        </p:nvSpPr>
        <p:spPr>
          <a:xfrm>
            <a:off x="594360" y="4251960"/>
            <a:ext cx="1783080" cy="96012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Win EventLog · Sysmon · EDR · NetFlow · Zeek · Okta · CloudTrail · K8s audit</a:t>
            </a:r>
            <a:endParaRPr lang="en-US" sz="900" dirty="0"/>
          </a:p>
        </p:txBody>
      </p:sp>
      <p:sp>
        <p:nvSpPr>
          <p:cNvPr id="16" name="Text 14"/>
          <p:cNvSpPr/>
          <p:nvPr/>
        </p:nvSpPr>
        <p:spPr>
          <a:xfrm>
            <a:off x="594360" y="5349240"/>
            <a:ext cx="1783080" cy="22860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Schema</a:t>
            </a:r>
            <a:endParaRPr lang="en-US" sz="1000" dirty="0"/>
          </a:p>
        </p:txBody>
      </p:sp>
      <p:sp>
        <p:nvSpPr>
          <p:cNvPr id="17" name="Text 15"/>
          <p:cNvSpPr/>
          <p:nvPr/>
        </p:nvSpPr>
        <p:spPr>
          <a:xfrm>
            <a:off x="594360" y="5577840"/>
            <a:ext cx="1783080" cy="5486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ECS · OCSF · STIX 2.1 normalized</a:t>
            </a:r>
            <a:endParaRPr lang="en-US" sz="900" dirty="0"/>
          </a:p>
        </p:txBody>
      </p:sp>
      <p:sp>
        <p:nvSpPr>
          <p:cNvPr id="18" name="Shape 16"/>
          <p:cNvSpPr/>
          <p:nvPr/>
        </p:nvSpPr>
        <p:spPr>
          <a:xfrm rot="5400000">
            <a:off x="2542032" y="3886200"/>
            <a:ext cx="274320" cy="274320"/>
          </a:xfrm>
          <a:prstGeom prst="rtTriangle">
            <a:avLst/>
          </a:prstGeom>
          <a:solidFill>
            <a:srgbClr val="0B1F3A"/>
          </a:solidFill>
          <a:ln/>
        </p:spPr>
        <p:txBody>
          <a:bodyPr/>
          <a:lstStyle/>
          <a:p>
            <a:endParaRPr lang="en-US"/>
          </a:p>
        </p:txBody>
      </p:sp>
      <p:sp>
        <p:nvSpPr>
          <p:cNvPr id="19" name="Shape 17"/>
          <p:cNvSpPr/>
          <p:nvPr/>
        </p:nvSpPr>
        <p:spPr>
          <a:xfrm>
            <a:off x="2926080" y="1463040"/>
            <a:ext cx="4023360" cy="5029200"/>
          </a:xfrm>
          <a:prstGeom prst="rect">
            <a:avLst/>
          </a:prstGeom>
          <a:solidFill>
            <a:srgbClr val="FDE5D4"/>
          </a:solidFill>
          <a:ln w="25400">
            <a:solidFill>
              <a:srgbClr val="F26B1F"/>
            </a:solidFill>
            <a:prstDash val="solid"/>
          </a:ln>
        </p:spPr>
        <p:txBody>
          <a:bodyPr/>
          <a:lstStyle/>
          <a:p>
            <a:endParaRPr lang="en-US"/>
          </a:p>
        </p:txBody>
      </p:sp>
      <p:sp>
        <p:nvSpPr>
          <p:cNvPr id="20" name="Shape 18"/>
          <p:cNvSpPr/>
          <p:nvPr/>
        </p:nvSpPr>
        <p:spPr>
          <a:xfrm>
            <a:off x="2926080" y="1463040"/>
            <a:ext cx="4023360" cy="457200"/>
          </a:xfrm>
          <a:prstGeom prst="rect">
            <a:avLst/>
          </a:prstGeom>
          <a:solidFill>
            <a:srgbClr val="F26B1F"/>
          </a:solidFill>
          <a:ln/>
        </p:spPr>
        <p:txBody>
          <a:bodyPr/>
          <a:lstStyle/>
          <a:p>
            <a:endParaRPr lang="en-US"/>
          </a:p>
        </p:txBody>
      </p:sp>
      <p:sp>
        <p:nvSpPr>
          <p:cNvPr id="21" name="Text 19"/>
          <p:cNvSpPr/>
          <p:nvPr/>
        </p:nvSpPr>
        <p:spPr>
          <a:xfrm>
            <a:off x="2926080" y="1463040"/>
            <a:ext cx="402336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LAYER 1 — RIGOR AI (PREEMPTIVE)</a:t>
            </a:r>
            <a:endParaRPr lang="en-US" sz="1100" dirty="0"/>
          </a:p>
        </p:txBody>
      </p:sp>
      <p:sp>
        <p:nvSpPr>
          <p:cNvPr id="22" name="Text 20"/>
          <p:cNvSpPr/>
          <p:nvPr/>
        </p:nvSpPr>
        <p:spPr>
          <a:xfrm>
            <a:off x="3108960" y="2057400"/>
            <a:ext cx="365760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Attack Intelligence</a:t>
            </a:r>
            <a:endParaRPr lang="en-US" sz="1100" dirty="0"/>
          </a:p>
        </p:txBody>
      </p:sp>
      <p:sp>
        <p:nvSpPr>
          <p:cNvPr id="23" name="Text 21"/>
          <p:cNvSpPr/>
          <p:nvPr/>
        </p:nvSpPr>
        <p:spPr>
          <a:xfrm>
            <a:off x="3108960" y="2331720"/>
            <a:ext cx="365760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MITRE-enriched attack graphs</a:t>
            </a:r>
            <a:endParaRPr lang="en-US" sz="1000" dirty="0"/>
          </a:p>
        </p:txBody>
      </p:sp>
      <p:sp>
        <p:nvSpPr>
          <p:cNvPr id="24" name="Text 22"/>
          <p:cNvSpPr/>
          <p:nvPr/>
        </p:nvSpPr>
        <p:spPr>
          <a:xfrm>
            <a:off x="3108960" y="2697480"/>
            <a:ext cx="365760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Defense Intelligence</a:t>
            </a:r>
            <a:endParaRPr lang="en-US" sz="1100" dirty="0"/>
          </a:p>
        </p:txBody>
      </p:sp>
      <p:sp>
        <p:nvSpPr>
          <p:cNvPr id="25" name="Text 23"/>
          <p:cNvSpPr/>
          <p:nvPr/>
        </p:nvSpPr>
        <p:spPr>
          <a:xfrm>
            <a:off x="3108960" y="2971800"/>
            <a:ext cx="365760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Symbolic Model of Computation</a:t>
            </a:r>
            <a:endParaRPr lang="en-US" sz="1000" dirty="0"/>
          </a:p>
        </p:txBody>
      </p:sp>
      <p:sp>
        <p:nvSpPr>
          <p:cNvPr id="26" name="Text 24"/>
          <p:cNvSpPr/>
          <p:nvPr/>
        </p:nvSpPr>
        <p:spPr>
          <a:xfrm>
            <a:off x="3108960" y="3337560"/>
            <a:ext cx="365760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Remediation Intelligence</a:t>
            </a:r>
            <a:endParaRPr lang="en-US" sz="1100" dirty="0"/>
          </a:p>
        </p:txBody>
      </p:sp>
      <p:sp>
        <p:nvSpPr>
          <p:cNvPr id="27" name="Text 25"/>
          <p:cNvSpPr/>
          <p:nvPr/>
        </p:nvSpPr>
        <p:spPr>
          <a:xfrm>
            <a:off x="3108960" y="3611880"/>
            <a:ext cx="365760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Risk-prioritized config fixes</a:t>
            </a:r>
            <a:endParaRPr lang="en-US" sz="1000" dirty="0"/>
          </a:p>
        </p:txBody>
      </p:sp>
      <p:sp>
        <p:nvSpPr>
          <p:cNvPr id="28" name="Shape 26"/>
          <p:cNvSpPr/>
          <p:nvPr/>
        </p:nvSpPr>
        <p:spPr>
          <a:xfrm>
            <a:off x="3108960" y="4069080"/>
            <a:ext cx="3657600" cy="1463040"/>
          </a:xfrm>
          <a:prstGeom prst="rect">
            <a:avLst/>
          </a:prstGeom>
          <a:solidFill>
            <a:srgbClr val="FFFFFF"/>
          </a:solidFill>
          <a:ln w="9525">
            <a:solidFill>
              <a:srgbClr val="F26B1F"/>
            </a:solidFill>
            <a:prstDash val="solid"/>
          </a:ln>
        </p:spPr>
        <p:txBody>
          <a:bodyPr/>
          <a:lstStyle/>
          <a:p>
            <a:endParaRPr lang="en-US"/>
          </a:p>
        </p:txBody>
      </p:sp>
      <p:sp>
        <p:nvSpPr>
          <p:cNvPr id="29" name="Text 27"/>
          <p:cNvSpPr/>
          <p:nvPr/>
        </p:nvSpPr>
        <p:spPr>
          <a:xfrm>
            <a:off x="3200400" y="4160520"/>
            <a:ext cx="3474720" cy="274320"/>
          </a:xfrm>
          <a:prstGeom prst="rect">
            <a:avLst/>
          </a:prstGeom>
          <a:noFill/>
          <a:ln/>
        </p:spPr>
        <p:txBody>
          <a:bodyPr wrap="square" lIns="0" tIns="0" rIns="0" bIns="0" rtlCol="0" anchor="ctr"/>
          <a:lstStyle/>
          <a:p>
            <a:pPr marL="0" indent="0">
              <a:buNone/>
            </a:pPr>
            <a:r>
              <a:rPr lang="en-US" sz="1000" b="1" kern="0" spc="300" dirty="0">
                <a:solidFill>
                  <a:srgbClr val="F26B1F"/>
                </a:solidFill>
                <a:latin typeface="Calibri" pitchFamily="34" charset="0"/>
                <a:ea typeface="Calibri" pitchFamily="34" charset="-122"/>
                <a:cs typeface="Calibri" pitchFamily="34" charset="-120"/>
              </a:rPr>
              <a:t>OUTPUT</a:t>
            </a:r>
            <a:endParaRPr lang="en-US" sz="1000" dirty="0"/>
          </a:p>
        </p:txBody>
      </p:sp>
      <p:sp>
        <p:nvSpPr>
          <p:cNvPr id="30" name="Text 28"/>
          <p:cNvSpPr/>
          <p:nvPr/>
        </p:nvSpPr>
        <p:spPr>
          <a:xfrm>
            <a:off x="3200400" y="4434840"/>
            <a:ext cx="3474720" cy="10515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Hardened defense posture</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Verified SOC playbooks</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MITRE TTP coverage proof</a:t>
            </a:r>
            <a:endParaRPr lang="en-US" sz="1000" dirty="0"/>
          </a:p>
        </p:txBody>
      </p:sp>
      <p:sp>
        <p:nvSpPr>
          <p:cNvPr id="31" name="Text 29"/>
          <p:cNvSpPr/>
          <p:nvPr/>
        </p:nvSpPr>
        <p:spPr>
          <a:xfrm>
            <a:off x="3108960" y="5669280"/>
            <a:ext cx="3657600" cy="365760"/>
          </a:xfrm>
          <a:prstGeom prst="rect">
            <a:avLst/>
          </a:prstGeom>
          <a:noFill/>
          <a:ln/>
        </p:spPr>
        <p:txBody>
          <a:bodyPr wrap="square" lIns="0" tIns="0" rIns="0" bIns="0" rtlCol="0" anchor="t"/>
          <a:lstStyle/>
          <a:p>
            <a:pPr marL="0" indent="0" algn="ctr">
              <a:buNone/>
            </a:pPr>
            <a:r>
              <a:rPr lang="en-US" sz="950" b="1" i="1" dirty="0">
                <a:solidFill>
                  <a:srgbClr val="5E2E8C"/>
                </a:solidFill>
                <a:latin typeface="Calibri" pitchFamily="34" charset="0"/>
                <a:ea typeface="Calibri" pitchFamily="34" charset="-122"/>
                <a:cs typeface="Calibri" pitchFamily="34" charset="-120"/>
              </a:rPr>
              <a:t>Shared vocabulary: MITRE ATT&amp;CK technique IDs</a:t>
            </a:r>
            <a:endParaRPr lang="en-US" sz="950" dirty="0"/>
          </a:p>
        </p:txBody>
      </p:sp>
      <p:sp>
        <p:nvSpPr>
          <p:cNvPr id="32" name="Text 30"/>
          <p:cNvSpPr/>
          <p:nvPr/>
        </p:nvSpPr>
        <p:spPr>
          <a:xfrm>
            <a:off x="3108960" y="6035040"/>
            <a:ext cx="3657600" cy="365760"/>
          </a:xfrm>
          <a:prstGeom prst="rect">
            <a:avLst/>
          </a:prstGeom>
          <a:noFill/>
          <a:ln/>
        </p:spPr>
        <p:txBody>
          <a:bodyPr wrap="square" lIns="0" tIns="0" rIns="0" bIns="0" rtlCol="0" anchor="t"/>
          <a:lstStyle/>
          <a:p>
            <a:pPr marL="0" indent="0" algn="ctr">
              <a:buNone/>
            </a:pPr>
            <a:r>
              <a:rPr lang="en-US" sz="900" dirty="0">
                <a:solidFill>
                  <a:srgbClr val="5E2E8C"/>
                </a:solidFill>
                <a:latin typeface="Consolas" pitchFamily="34" charset="0"/>
                <a:ea typeface="Consolas" pitchFamily="34" charset="-122"/>
                <a:cs typeface="Consolas" pitchFamily="34" charset="-120"/>
              </a:rPr>
              <a:t>(T1003, T1021, T1041, T1059, T1071, T1078, T1190, T1556 ...)</a:t>
            </a:r>
            <a:endParaRPr lang="en-US" sz="900" dirty="0"/>
          </a:p>
        </p:txBody>
      </p:sp>
      <p:sp>
        <p:nvSpPr>
          <p:cNvPr id="33" name="Shape 31"/>
          <p:cNvSpPr/>
          <p:nvPr/>
        </p:nvSpPr>
        <p:spPr>
          <a:xfrm rot="5400000">
            <a:off x="7040880" y="3886200"/>
            <a:ext cx="274320" cy="274320"/>
          </a:xfrm>
          <a:prstGeom prst="rtTriangle">
            <a:avLst/>
          </a:prstGeom>
          <a:solidFill>
            <a:srgbClr val="0B1F3A"/>
          </a:solidFill>
          <a:ln/>
        </p:spPr>
        <p:txBody>
          <a:bodyPr/>
          <a:lstStyle/>
          <a:p>
            <a:endParaRPr lang="en-US"/>
          </a:p>
        </p:txBody>
      </p:sp>
      <p:sp>
        <p:nvSpPr>
          <p:cNvPr id="34" name="Shape 32"/>
          <p:cNvSpPr/>
          <p:nvPr/>
        </p:nvSpPr>
        <p:spPr>
          <a:xfrm>
            <a:off x="7406640" y="1463040"/>
            <a:ext cx="4297680" cy="5029200"/>
          </a:xfrm>
          <a:prstGeom prst="rect">
            <a:avLst/>
          </a:prstGeom>
          <a:solidFill>
            <a:srgbClr val="E0F2F7"/>
          </a:solidFill>
          <a:ln w="25400">
            <a:solidFill>
              <a:srgbClr val="0891B2"/>
            </a:solidFill>
            <a:prstDash val="solid"/>
          </a:ln>
        </p:spPr>
        <p:txBody>
          <a:bodyPr/>
          <a:lstStyle/>
          <a:p>
            <a:endParaRPr lang="en-US"/>
          </a:p>
        </p:txBody>
      </p:sp>
      <p:sp>
        <p:nvSpPr>
          <p:cNvPr id="35" name="Shape 33"/>
          <p:cNvSpPr/>
          <p:nvPr/>
        </p:nvSpPr>
        <p:spPr>
          <a:xfrm>
            <a:off x="7406640" y="1463040"/>
            <a:ext cx="4297680" cy="457200"/>
          </a:xfrm>
          <a:prstGeom prst="rect">
            <a:avLst/>
          </a:prstGeom>
          <a:solidFill>
            <a:srgbClr val="0891B2"/>
          </a:solidFill>
          <a:ln/>
        </p:spPr>
        <p:txBody>
          <a:bodyPr/>
          <a:lstStyle/>
          <a:p>
            <a:endParaRPr lang="en-US"/>
          </a:p>
        </p:txBody>
      </p:sp>
      <p:sp>
        <p:nvSpPr>
          <p:cNvPr id="36" name="Text 34"/>
          <p:cNvSpPr/>
          <p:nvPr/>
        </p:nvSpPr>
        <p:spPr>
          <a:xfrm>
            <a:off x="7406640" y="1463040"/>
            <a:ext cx="429768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LAYER 2 — ACECARD UEBA (BEHAVIORAL)</a:t>
            </a:r>
            <a:endParaRPr lang="en-US" sz="1100" dirty="0"/>
          </a:p>
        </p:txBody>
      </p:sp>
      <p:sp>
        <p:nvSpPr>
          <p:cNvPr id="37" name="Text 35"/>
          <p:cNvSpPr/>
          <p:nvPr/>
        </p:nvSpPr>
        <p:spPr>
          <a:xfrm>
            <a:off x="7589520" y="2057400"/>
            <a:ext cx="393192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5 Signal Summarizers → 1536-d Embedding</a:t>
            </a:r>
            <a:endParaRPr lang="en-US" sz="1100" dirty="0"/>
          </a:p>
        </p:txBody>
      </p:sp>
      <p:sp>
        <p:nvSpPr>
          <p:cNvPr id="38" name="Text 36"/>
          <p:cNvSpPr/>
          <p:nvPr/>
        </p:nvSpPr>
        <p:spPr>
          <a:xfrm>
            <a:off x="7589520" y="2331720"/>
            <a:ext cx="393192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Auth · Process · Network · File · Identity</a:t>
            </a:r>
            <a:endParaRPr lang="en-US" sz="1000" dirty="0"/>
          </a:p>
        </p:txBody>
      </p:sp>
      <p:sp>
        <p:nvSpPr>
          <p:cNvPr id="39" name="Text 37"/>
          <p:cNvSpPr/>
          <p:nvPr/>
        </p:nvSpPr>
        <p:spPr>
          <a:xfrm>
            <a:off x="7589520" y="2697480"/>
            <a:ext cx="393192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Trajectory Analysis</a:t>
            </a:r>
            <a:endParaRPr lang="en-US" sz="1100" dirty="0"/>
          </a:p>
        </p:txBody>
      </p:sp>
      <p:sp>
        <p:nvSpPr>
          <p:cNvPr id="40" name="Text 38"/>
          <p:cNvSpPr/>
          <p:nvPr/>
        </p:nvSpPr>
        <p:spPr>
          <a:xfrm>
            <a:off x="7589520" y="2971800"/>
            <a:ext cx="393192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Cosine drift + velocity + accel + CUSUM 4σ</a:t>
            </a:r>
            <a:endParaRPr lang="en-US" sz="1000" dirty="0"/>
          </a:p>
        </p:txBody>
      </p:sp>
      <p:sp>
        <p:nvSpPr>
          <p:cNvPr id="41" name="Text 39"/>
          <p:cNvSpPr/>
          <p:nvPr/>
        </p:nvSpPr>
        <p:spPr>
          <a:xfrm>
            <a:off x="7589520" y="3337560"/>
            <a:ext cx="393192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Drift Direction → 8 MITRE Concepts</a:t>
            </a:r>
            <a:endParaRPr lang="en-US" sz="1100" dirty="0"/>
          </a:p>
        </p:txBody>
      </p:sp>
      <p:sp>
        <p:nvSpPr>
          <p:cNvPr id="42" name="Text 40"/>
          <p:cNvSpPr/>
          <p:nvPr/>
        </p:nvSpPr>
        <p:spPr>
          <a:xfrm>
            <a:off x="7589520" y="3611880"/>
            <a:ext cx="393192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Top-3 projections → ATT&amp;CK technique IDs</a:t>
            </a:r>
            <a:endParaRPr lang="en-US" sz="1000" dirty="0"/>
          </a:p>
        </p:txBody>
      </p:sp>
      <p:sp>
        <p:nvSpPr>
          <p:cNvPr id="43" name="Shape 41"/>
          <p:cNvSpPr/>
          <p:nvPr/>
        </p:nvSpPr>
        <p:spPr>
          <a:xfrm>
            <a:off x="7589520" y="4069080"/>
            <a:ext cx="3931920" cy="1463040"/>
          </a:xfrm>
          <a:prstGeom prst="rect">
            <a:avLst/>
          </a:prstGeom>
          <a:solidFill>
            <a:srgbClr val="FFFFFF"/>
          </a:solidFill>
          <a:ln w="9525">
            <a:solidFill>
              <a:srgbClr val="0891B2"/>
            </a:solidFill>
            <a:prstDash val="solid"/>
          </a:ln>
        </p:spPr>
        <p:txBody>
          <a:bodyPr/>
          <a:lstStyle/>
          <a:p>
            <a:endParaRPr lang="en-US"/>
          </a:p>
        </p:txBody>
      </p:sp>
      <p:sp>
        <p:nvSpPr>
          <p:cNvPr id="44" name="Text 42"/>
          <p:cNvSpPr/>
          <p:nvPr/>
        </p:nvSpPr>
        <p:spPr>
          <a:xfrm>
            <a:off x="7680960" y="4160520"/>
            <a:ext cx="3749040" cy="274320"/>
          </a:xfrm>
          <a:prstGeom prst="rect">
            <a:avLst/>
          </a:prstGeom>
          <a:noFill/>
          <a:ln/>
        </p:spPr>
        <p:txBody>
          <a:bodyPr wrap="square" lIns="0" tIns="0" rIns="0" bIns="0" rtlCol="0" anchor="ctr"/>
          <a:lstStyle/>
          <a:p>
            <a:pPr marL="0" indent="0">
              <a:buNone/>
            </a:pPr>
            <a:r>
              <a:rPr lang="en-US" sz="1000" b="1" kern="0" spc="300" dirty="0">
                <a:solidFill>
                  <a:srgbClr val="0891B2"/>
                </a:solidFill>
                <a:latin typeface="Calibri" pitchFamily="34" charset="0"/>
                <a:ea typeface="Calibri" pitchFamily="34" charset="-122"/>
                <a:cs typeface="Calibri" pitchFamily="34" charset="-120"/>
              </a:rPr>
              <a:t>OUTPUT</a:t>
            </a:r>
            <a:endParaRPr lang="en-US" sz="1000" dirty="0"/>
          </a:p>
        </p:txBody>
      </p:sp>
      <p:sp>
        <p:nvSpPr>
          <p:cNvPr id="45" name="Text 43"/>
          <p:cNvSpPr/>
          <p:nvPr/>
        </p:nvSpPr>
        <p:spPr>
          <a:xfrm>
            <a:off x="7680960" y="4434840"/>
            <a:ext cx="3749040" cy="10515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5-tier alerts (CRITICAL → INFO)</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ABAC trust state per entity</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7-chart Plotly dashboard + SOAR hooks</a:t>
            </a:r>
            <a:endParaRPr lang="en-US" sz="1000" dirty="0"/>
          </a:p>
        </p:txBody>
      </p:sp>
      <p:sp>
        <p:nvSpPr>
          <p:cNvPr id="46" name="Text 44"/>
          <p:cNvSpPr/>
          <p:nvPr/>
        </p:nvSpPr>
        <p:spPr>
          <a:xfrm>
            <a:off x="7589520" y="5852160"/>
            <a:ext cx="3931920" cy="457200"/>
          </a:xfrm>
          <a:prstGeom prst="rect">
            <a:avLst/>
          </a:prstGeom>
          <a:noFill/>
          <a:ln/>
        </p:spPr>
        <p:txBody>
          <a:bodyPr wrap="square" lIns="0" tIns="0" rIns="0" bIns="0" rtlCol="0" anchor="t"/>
          <a:lstStyle/>
          <a:p>
            <a:pPr marL="0" indent="0" algn="ctr">
              <a:buNone/>
            </a:pPr>
            <a:r>
              <a:rPr lang="en-US" sz="900" b="1" i="1" dirty="0">
                <a:solidFill>
                  <a:srgbClr val="5E2E8C"/>
                </a:solidFill>
                <a:latin typeface="Calibri" pitchFamily="34" charset="0"/>
                <a:ea typeface="Calibri" pitchFamily="34" charset="-122"/>
                <a:cs typeface="Calibri" pitchFamily="34" charset="-120"/>
              </a:rPr>
              <a:t>Iron Bank · Big Bang · IL5/IL6/JWICS · CAC/PIV · cATO-aligned</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HOW THEY WORK TOGETHER</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Rigor AI + ACECARD: The Data Flow</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Four concrete integration points. Each one makes both products stronger than they are alone.</a:t>
            </a:r>
            <a:endParaRPr lang="en-US" sz="1300" dirty="0"/>
          </a:p>
        </p:txBody>
      </p:sp>
      <p:sp>
        <p:nvSpPr>
          <p:cNvPr id="7" name="Shape 5"/>
          <p:cNvSpPr/>
          <p:nvPr/>
        </p:nvSpPr>
        <p:spPr>
          <a:xfrm>
            <a:off x="457200" y="1325880"/>
            <a:ext cx="11247120" cy="1234440"/>
          </a:xfrm>
          <a:prstGeom prst="rect">
            <a:avLst/>
          </a:prstGeom>
          <a:solidFill>
            <a:srgbClr val="F7F8FA"/>
          </a:solidFill>
          <a:ln w="6350">
            <a:solidFill>
              <a:srgbClr val="E5E9EE"/>
            </a:solidFill>
            <a:prstDash val="solid"/>
          </a:ln>
        </p:spPr>
        <p:txBody>
          <a:bodyPr/>
          <a:lstStyle/>
          <a:p>
            <a:endParaRPr lang="en-US"/>
          </a:p>
        </p:txBody>
      </p:sp>
      <p:sp>
        <p:nvSpPr>
          <p:cNvPr id="8" name="Shape 6"/>
          <p:cNvSpPr/>
          <p:nvPr/>
        </p:nvSpPr>
        <p:spPr>
          <a:xfrm>
            <a:off x="640080" y="1691640"/>
            <a:ext cx="594360" cy="594360"/>
          </a:xfrm>
          <a:prstGeom prst="ellipse">
            <a:avLst/>
          </a:prstGeom>
          <a:solidFill>
            <a:srgbClr val="0B1F3A"/>
          </a:solidFill>
          <a:ln/>
        </p:spPr>
        <p:txBody>
          <a:bodyPr/>
          <a:lstStyle/>
          <a:p>
            <a:endParaRPr lang="en-US"/>
          </a:p>
        </p:txBody>
      </p:sp>
      <p:sp>
        <p:nvSpPr>
          <p:cNvPr id="9" name="Text 7"/>
          <p:cNvSpPr/>
          <p:nvPr/>
        </p:nvSpPr>
        <p:spPr>
          <a:xfrm>
            <a:off x="640080" y="169164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0" name="Text 8"/>
          <p:cNvSpPr/>
          <p:nvPr/>
        </p:nvSpPr>
        <p:spPr>
          <a:xfrm>
            <a:off x="1417320" y="144475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Rigor's MITRE Coverage Map → ACECARD's Concept Library</a:t>
            </a:r>
            <a:endParaRPr lang="en-US" sz="1300" dirty="0"/>
          </a:p>
        </p:txBody>
      </p:sp>
      <p:sp>
        <p:nvSpPr>
          <p:cNvPr id="11" name="Text 9"/>
          <p:cNvSpPr/>
          <p:nvPr/>
        </p:nvSpPr>
        <p:spPr>
          <a:xfrm>
            <a:off x="1417320" y="173736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Rigor publishes which MITRE techniques its config layer preempts (e.g., T1190 edge-CVE = covered, T1003 cred-dump = covered if EDR coverage verified). ACECARD raises its drift-direction projection threshold for covered concepts (less noise) and lowers it for uncovered concepts (more sensitivity).</a:t>
            </a:r>
            <a:endParaRPr lang="en-US" sz="1000" dirty="0"/>
          </a:p>
        </p:txBody>
      </p:sp>
      <p:sp>
        <p:nvSpPr>
          <p:cNvPr id="12" name="Shape 10"/>
          <p:cNvSpPr/>
          <p:nvPr/>
        </p:nvSpPr>
        <p:spPr>
          <a:xfrm>
            <a:off x="1417320" y="2258568"/>
            <a:ext cx="9875520" cy="246888"/>
          </a:xfrm>
          <a:prstGeom prst="rect">
            <a:avLst/>
          </a:prstGeom>
          <a:solidFill>
            <a:srgbClr val="0B1F3A"/>
          </a:solidFill>
          <a:ln/>
        </p:spPr>
        <p:txBody>
          <a:bodyPr/>
          <a:lstStyle/>
          <a:p>
            <a:endParaRPr lang="en-US"/>
          </a:p>
        </p:txBody>
      </p:sp>
      <p:sp>
        <p:nvSpPr>
          <p:cNvPr id="13" name="Text 11"/>
          <p:cNvSpPr/>
          <p:nvPr/>
        </p:nvSpPr>
        <p:spPr>
          <a:xfrm>
            <a:off x="1508760" y="225856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ACECARD's alert load drops 30-50% on already-mitigated TTPs; sensitivity increases on the residual ones.</a:t>
            </a:r>
            <a:endParaRPr lang="en-US" sz="950" dirty="0"/>
          </a:p>
        </p:txBody>
      </p:sp>
      <p:sp>
        <p:nvSpPr>
          <p:cNvPr id="14" name="Shape 12"/>
          <p:cNvSpPr/>
          <p:nvPr/>
        </p:nvSpPr>
        <p:spPr>
          <a:xfrm>
            <a:off x="457200" y="2606040"/>
            <a:ext cx="11247120" cy="123444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640080" y="2971800"/>
            <a:ext cx="594360" cy="594360"/>
          </a:xfrm>
          <a:prstGeom prst="ellipse">
            <a:avLst/>
          </a:prstGeom>
          <a:solidFill>
            <a:srgbClr val="0B1F3A"/>
          </a:solidFill>
          <a:ln/>
        </p:spPr>
        <p:txBody>
          <a:bodyPr/>
          <a:lstStyle/>
          <a:p>
            <a:endParaRPr lang="en-US"/>
          </a:p>
        </p:txBody>
      </p:sp>
      <p:sp>
        <p:nvSpPr>
          <p:cNvPr id="16" name="Text 14"/>
          <p:cNvSpPr/>
          <p:nvPr/>
        </p:nvSpPr>
        <p:spPr>
          <a:xfrm>
            <a:off x="640080" y="297180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7" name="Text 15"/>
          <p:cNvSpPr/>
          <p:nvPr/>
        </p:nvSpPr>
        <p:spPr>
          <a:xfrm>
            <a:off x="1417320" y="272491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Rigor's Verified Findings → ACECARD's ABAC Trust Floor</a:t>
            </a:r>
            <a:endParaRPr lang="en-US" sz="1300" dirty="0"/>
          </a:p>
        </p:txBody>
      </p:sp>
      <p:sp>
        <p:nvSpPr>
          <p:cNvPr id="18" name="Text 16"/>
          <p:cNvSpPr/>
          <p:nvPr/>
        </p:nvSpPr>
        <p:spPr>
          <a:xfrm>
            <a:off x="1417320" y="301752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When Rigor identifies an unmitigated control gap (e.g., "branch X has shadowed SMB IPS profile"), ACECARD automatically lowers the trust floor for entities operating in that segment. Until the gap is closed, those entities default to ELEVATED_WATCH instead of TRUSTED.</a:t>
            </a:r>
            <a:endParaRPr lang="en-US" sz="1000" dirty="0"/>
          </a:p>
        </p:txBody>
      </p:sp>
      <p:sp>
        <p:nvSpPr>
          <p:cNvPr id="19" name="Shape 17"/>
          <p:cNvSpPr/>
          <p:nvPr/>
        </p:nvSpPr>
        <p:spPr>
          <a:xfrm>
            <a:off x="1417320" y="3538728"/>
            <a:ext cx="9875520" cy="246888"/>
          </a:xfrm>
          <a:prstGeom prst="rect">
            <a:avLst/>
          </a:prstGeom>
          <a:solidFill>
            <a:srgbClr val="0B1F3A"/>
          </a:solidFill>
          <a:ln/>
        </p:spPr>
        <p:txBody>
          <a:bodyPr/>
          <a:lstStyle/>
          <a:p>
            <a:endParaRPr lang="en-US"/>
          </a:p>
        </p:txBody>
      </p:sp>
      <p:sp>
        <p:nvSpPr>
          <p:cNvPr id="20" name="Text 18"/>
          <p:cNvSpPr/>
          <p:nvPr/>
        </p:nvSpPr>
        <p:spPr>
          <a:xfrm>
            <a:off x="1508760" y="353872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Step-up MFA, additional logging, and tighter ABAC apply to exactly the entities most exposed.</a:t>
            </a:r>
            <a:endParaRPr lang="en-US" sz="950" dirty="0"/>
          </a:p>
        </p:txBody>
      </p:sp>
      <p:sp>
        <p:nvSpPr>
          <p:cNvPr id="21" name="Shape 19"/>
          <p:cNvSpPr/>
          <p:nvPr/>
        </p:nvSpPr>
        <p:spPr>
          <a:xfrm>
            <a:off x="457200" y="3886200"/>
            <a:ext cx="11247120" cy="1234440"/>
          </a:xfrm>
          <a:prstGeom prst="rect">
            <a:avLst/>
          </a:prstGeom>
          <a:solidFill>
            <a:srgbClr val="F7F8FA"/>
          </a:solidFill>
          <a:ln w="6350">
            <a:solidFill>
              <a:srgbClr val="E5E9EE"/>
            </a:solidFill>
            <a:prstDash val="solid"/>
          </a:ln>
        </p:spPr>
        <p:txBody>
          <a:bodyPr/>
          <a:lstStyle/>
          <a:p>
            <a:endParaRPr lang="en-US"/>
          </a:p>
        </p:txBody>
      </p:sp>
      <p:sp>
        <p:nvSpPr>
          <p:cNvPr id="22" name="Shape 20"/>
          <p:cNvSpPr/>
          <p:nvPr/>
        </p:nvSpPr>
        <p:spPr>
          <a:xfrm>
            <a:off x="640080" y="4251960"/>
            <a:ext cx="594360" cy="594360"/>
          </a:xfrm>
          <a:prstGeom prst="ellipse">
            <a:avLst/>
          </a:prstGeom>
          <a:solidFill>
            <a:srgbClr val="0B1F3A"/>
          </a:solidFill>
          <a:ln/>
        </p:spPr>
        <p:txBody>
          <a:bodyPr/>
          <a:lstStyle/>
          <a:p>
            <a:endParaRPr lang="en-US"/>
          </a:p>
        </p:txBody>
      </p:sp>
      <p:sp>
        <p:nvSpPr>
          <p:cNvPr id="23" name="Text 21"/>
          <p:cNvSpPr/>
          <p:nvPr/>
        </p:nvSpPr>
        <p:spPr>
          <a:xfrm>
            <a:off x="640080" y="425196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4" name="Text 22"/>
          <p:cNvSpPr/>
          <p:nvPr/>
        </p:nvSpPr>
        <p:spPr>
          <a:xfrm>
            <a:off x="1417320" y="400507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ACECARD's Confirmed TPs → Rigor's Threat-Intel Feed</a:t>
            </a:r>
            <a:endParaRPr lang="en-US" sz="1300" dirty="0"/>
          </a:p>
        </p:txBody>
      </p:sp>
      <p:sp>
        <p:nvSpPr>
          <p:cNvPr id="25" name="Text 23"/>
          <p:cNvSpPr/>
          <p:nvPr/>
        </p:nvSpPr>
        <p:spPr>
          <a:xfrm>
            <a:off x="1417320" y="429768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When an analyst confirms an ACECARD alert as a true positive (with MITRE techniques + entity context), the labeled finding feeds back into Rigor's Attack Intel. New IOCs / behavioral patterns become inputs to Rigor's mathematical reasoning on the next run.</a:t>
            </a:r>
            <a:endParaRPr lang="en-US" sz="1000" dirty="0"/>
          </a:p>
        </p:txBody>
      </p:sp>
      <p:sp>
        <p:nvSpPr>
          <p:cNvPr id="26" name="Shape 24"/>
          <p:cNvSpPr/>
          <p:nvPr/>
        </p:nvSpPr>
        <p:spPr>
          <a:xfrm>
            <a:off x="1417320" y="4818888"/>
            <a:ext cx="9875520" cy="246888"/>
          </a:xfrm>
          <a:prstGeom prst="rect">
            <a:avLst/>
          </a:prstGeom>
          <a:solidFill>
            <a:srgbClr val="0B1F3A"/>
          </a:solidFill>
          <a:ln/>
        </p:spPr>
        <p:txBody>
          <a:bodyPr/>
          <a:lstStyle/>
          <a:p>
            <a:endParaRPr lang="en-US"/>
          </a:p>
        </p:txBody>
      </p:sp>
      <p:sp>
        <p:nvSpPr>
          <p:cNvPr id="27" name="Text 25"/>
          <p:cNvSpPr/>
          <p:nvPr/>
        </p:nvSpPr>
        <p:spPr>
          <a:xfrm>
            <a:off x="1508760" y="481888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Field-observed TTPs drive preemptive policy changes — the loop closes from detection to prevention.</a:t>
            </a:r>
            <a:endParaRPr lang="en-US" sz="950" dirty="0"/>
          </a:p>
        </p:txBody>
      </p:sp>
      <p:sp>
        <p:nvSpPr>
          <p:cNvPr id="28" name="Shape 26"/>
          <p:cNvSpPr/>
          <p:nvPr/>
        </p:nvSpPr>
        <p:spPr>
          <a:xfrm>
            <a:off x="457200" y="5166360"/>
            <a:ext cx="11247120" cy="123444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640080" y="5532120"/>
            <a:ext cx="594360" cy="594360"/>
          </a:xfrm>
          <a:prstGeom prst="ellipse">
            <a:avLst/>
          </a:prstGeom>
          <a:solidFill>
            <a:srgbClr val="0B1F3A"/>
          </a:solidFill>
          <a:ln/>
        </p:spPr>
        <p:txBody>
          <a:bodyPr/>
          <a:lstStyle/>
          <a:p>
            <a:endParaRPr lang="en-US"/>
          </a:p>
        </p:txBody>
      </p:sp>
      <p:sp>
        <p:nvSpPr>
          <p:cNvPr id="30" name="Text 28"/>
          <p:cNvSpPr/>
          <p:nvPr/>
        </p:nvSpPr>
        <p:spPr>
          <a:xfrm>
            <a:off x="640080" y="553212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31" name="Text 29"/>
          <p:cNvSpPr/>
          <p:nvPr/>
        </p:nvSpPr>
        <p:spPr>
          <a:xfrm>
            <a:off x="1417320" y="528523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Shared Vocabulary: MITRE Technique IDs &amp; Entity UUIDs</a:t>
            </a:r>
            <a:endParaRPr lang="en-US" sz="1300" dirty="0"/>
          </a:p>
        </p:txBody>
      </p:sp>
      <p:sp>
        <p:nvSpPr>
          <p:cNvPr id="32" name="Text 30"/>
          <p:cNvSpPr/>
          <p:nvPr/>
        </p:nvSpPr>
        <p:spPr>
          <a:xfrm>
            <a:off x="1417320" y="557784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Both products use MITRE ATT&amp;CK as their analytical vocabulary. ACECARD's drift_direction outputs T1003, T1021, T1041 etc. — the same IDs Rigor uses to map control coverage. Entity UUIDs from ACECARD's Composite Digital Signature become the join key for SOAR playbooks that touch both layers.</a:t>
            </a:r>
            <a:endParaRPr lang="en-US" sz="1000" dirty="0"/>
          </a:p>
        </p:txBody>
      </p:sp>
      <p:sp>
        <p:nvSpPr>
          <p:cNvPr id="33" name="Shape 31"/>
          <p:cNvSpPr/>
          <p:nvPr/>
        </p:nvSpPr>
        <p:spPr>
          <a:xfrm>
            <a:off x="1417320" y="6099048"/>
            <a:ext cx="9875520" cy="246888"/>
          </a:xfrm>
          <a:prstGeom prst="rect">
            <a:avLst/>
          </a:prstGeom>
          <a:solidFill>
            <a:srgbClr val="0B1F3A"/>
          </a:solidFill>
          <a:ln/>
        </p:spPr>
        <p:txBody>
          <a:bodyPr/>
          <a:lstStyle/>
          <a:p>
            <a:endParaRPr lang="en-US"/>
          </a:p>
        </p:txBody>
      </p:sp>
      <p:sp>
        <p:nvSpPr>
          <p:cNvPr id="34" name="Text 32"/>
          <p:cNvSpPr/>
          <p:nvPr/>
        </p:nvSpPr>
        <p:spPr>
          <a:xfrm>
            <a:off x="1508760" y="609904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One alert tells the analyst what's happening, which TTP, which entity, and whether the config layer should have caught it.</a:t>
            </a:r>
            <a:endParaRPr lang="en-US" sz="950" dirty="0"/>
          </a:p>
        </p:txBody>
      </p:sp>
      <p:sp>
        <p:nvSpPr>
          <p:cNvPr id="35" name="Text 33"/>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These four flows are why Rigor + ACECARD is a system, not a bundle.</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ATTACK WALKTHROUGH</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Volt Typhoon Walkthrough: Both Layers in Action</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phase shows what Rigor preempts AND what ACECARD detects if preemption is bypassed.</a:t>
            </a:r>
            <a:endParaRPr lang="en-US" sz="1200" dirty="0"/>
          </a:p>
        </p:txBody>
      </p:sp>
      <p:sp>
        <p:nvSpPr>
          <p:cNvPr id="7" name="Shape 5"/>
          <p:cNvSpPr/>
          <p:nvPr/>
        </p:nvSpPr>
        <p:spPr>
          <a:xfrm>
            <a:off x="457200" y="1417320"/>
            <a:ext cx="2286000" cy="411480"/>
          </a:xfrm>
          <a:prstGeom prst="rect">
            <a:avLst/>
          </a:prstGeom>
          <a:solidFill>
            <a:srgbClr val="0B1F3A"/>
          </a:solidFill>
          <a:ln/>
        </p:spPr>
        <p:txBody>
          <a:bodyPr/>
          <a:lstStyle/>
          <a:p>
            <a:endParaRPr lang="en-US"/>
          </a:p>
        </p:txBody>
      </p:sp>
      <p:sp>
        <p:nvSpPr>
          <p:cNvPr id="8" name="Text 6"/>
          <p:cNvSpPr/>
          <p:nvPr/>
        </p:nvSpPr>
        <p:spPr>
          <a:xfrm>
            <a:off x="548640" y="1417320"/>
            <a:ext cx="219456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9" name="Shape 7"/>
          <p:cNvSpPr/>
          <p:nvPr/>
        </p:nvSpPr>
        <p:spPr>
          <a:xfrm>
            <a:off x="2788920" y="1417320"/>
            <a:ext cx="2743200" cy="411480"/>
          </a:xfrm>
          <a:prstGeom prst="rect">
            <a:avLst/>
          </a:prstGeom>
          <a:solidFill>
            <a:srgbClr val="2D3748"/>
          </a:solidFill>
          <a:ln/>
        </p:spPr>
        <p:txBody>
          <a:bodyPr/>
          <a:lstStyle/>
          <a:p>
            <a:endParaRPr lang="en-US"/>
          </a:p>
        </p:txBody>
      </p:sp>
      <p:sp>
        <p:nvSpPr>
          <p:cNvPr id="10" name="Text 8"/>
          <p:cNvSpPr/>
          <p:nvPr/>
        </p:nvSpPr>
        <p:spPr>
          <a:xfrm>
            <a:off x="2880360" y="1417320"/>
            <a:ext cx="265176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ATTACKER BEHAVIOR</a:t>
            </a:r>
            <a:endParaRPr lang="en-US" sz="1100" dirty="0"/>
          </a:p>
        </p:txBody>
      </p:sp>
      <p:sp>
        <p:nvSpPr>
          <p:cNvPr id="11" name="Shape 9"/>
          <p:cNvSpPr/>
          <p:nvPr/>
        </p:nvSpPr>
        <p:spPr>
          <a:xfrm>
            <a:off x="5577840" y="1417320"/>
            <a:ext cx="3200400" cy="411480"/>
          </a:xfrm>
          <a:prstGeom prst="rect">
            <a:avLst/>
          </a:prstGeom>
          <a:solidFill>
            <a:srgbClr val="F26B1F"/>
          </a:solidFill>
          <a:ln/>
        </p:spPr>
        <p:txBody>
          <a:bodyPr/>
          <a:lstStyle/>
          <a:p>
            <a:endParaRPr lang="en-US"/>
          </a:p>
        </p:txBody>
      </p:sp>
      <p:sp>
        <p:nvSpPr>
          <p:cNvPr id="12" name="Text 10"/>
          <p:cNvSpPr/>
          <p:nvPr/>
        </p:nvSpPr>
        <p:spPr>
          <a:xfrm>
            <a:off x="5669280" y="1417320"/>
            <a:ext cx="310896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RIGOR PREEMPTS</a:t>
            </a:r>
            <a:endParaRPr lang="en-US" sz="1100" dirty="0"/>
          </a:p>
        </p:txBody>
      </p:sp>
      <p:sp>
        <p:nvSpPr>
          <p:cNvPr id="13" name="Shape 11"/>
          <p:cNvSpPr/>
          <p:nvPr/>
        </p:nvSpPr>
        <p:spPr>
          <a:xfrm>
            <a:off x="8823960" y="1417320"/>
            <a:ext cx="2880360" cy="411480"/>
          </a:xfrm>
          <a:prstGeom prst="rect">
            <a:avLst/>
          </a:prstGeom>
          <a:solidFill>
            <a:srgbClr val="0891B2"/>
          </a:solidFill>
          <a:ln/>
        </p:spPr>
        <p:txBody>
          <a:bodyPr/>
          <a:lstStyle/>
          <a:p>
            <a:endParaRPr lang="en-US"/>
          </a:p>
        </p:txBody>
      </p:sp>
      <p:sp>
        <p:nvSpPr>
          <p:cNvPr id="14" name="Text 12"/>
          <p:cNvSpPr/>
          <p:nvPr/>
        </p:nvSpPr>
        <p:spPr>
          <a:xfrm>
            <a:off x="8915400" y="1417320"/>
            <a:ext cx="278892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DETECTS</a:t>
            </a:r>
            <a:endParaRPr lang="en-US" sz="1100" dirty="0"/>
          </a:p>
        </p:txBody>
      </p:sp>
      <p:sp>
        <p:nvSpPr>
          <p:cNvPr id="15" name="Shape 13"/>
          <p:cNvSpPr/>
          <p:nvPr/>
        </p:nvSpPr>
        <p:spPr>
          <a:xfrm>
            <a:off x="457200" y="1874520"/>
            <a:ext cx="11247120" cy="868680"/>
          </a:xfrm>
          <a:prstGeom prst="rect">
            <a:avLst/>
          </a:prstGeom>
          <a:solidFill>
            <a:srgbClr val="FFFFFF"/>
          </a:solidFill>
          <a:ln w="6350">
            <a:solidFill>
              <a:srgbClr val="E5E9EE"/>
            </a:solidFill>
            <a:prstDash val="solid"/>
          </a:ln>
        </p:spPr>
        <p:txBody>
          <a:bodyPr/>
          <a:lstStyle/>
          <a:p>
            <a:endParaRPr lang="en-US"/>
          </a:p>
        </p:txBody>
      </p:sp>
      <p:sp>
        <p:nvSpPr>
          <p:cNvPr id="16" name="Text 14"/>
          <p:cNvSpPr/>
          <p:nvPr/>
        </p:nvSpPr>
        <p:spPr>
          <a:xfrm>
            <a:off x="548640" y="19202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1 — Initial Access</a:t>
            </a:r>
            <a:endParaRPr lang="en-US" sz="1150" dirty="0"/>
          </a:p>
        </p:txBody>
      </p:sp>
      <p:sp>
        <p:nvSpPr>
          <p:cNvPr id="17" name="Text 15"/>
          <p:cNvSpPr/>
          <p:nvPr/>
        </p:nvSpPr>
        <p:spPr>
          <a:xfrm>
            <a:off x="548640" y="22860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0–12h</a:t>
            </a:r>
            <a:endParaRPr lang="en-US" sz="1000" dirty="0"/>
          </a:p>
        </p:txBody>
      </p:sp>
      <p:sp>
        <p:nvSpPr>
          <p:cNvPr id="18" name="Text 16"/>
          <p:cNvSpPr/>
          <p:nvPr/>
        </p:nvSpPr>
        <p:spPr>
          <a:xfrm>
            <a:off x="2880360" y="19659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Compromised SOHO router → VPN credential reuse</a:t>
            </a:r>
            <a:endParaRPr lang="en-US" sz="1050" dirty="0"/>
          </a:p>
        </p:txBody>
      </p:sp>
      <p:sp>
        <p:nvSpPr>
          <p:cNvPr id="19" name="Shape 17"/>
          <p:cNvSpPr/>
          <p:nvPr/>
        </p:nvSpPr>
        <p:spPr>
          <a:xfrm>
            <a:off x="5577840" y="1874520"/>
            <a:ext cx="73152" cy="868680"/>
          </a:xfrm>
          <a:prstGeom prst="rect">
            <a:avLst/>
          </a:prstGeom>
          <a:solidFill>
            <a:srgbClr val="F26B1F"/>
          </a:solidFill>
          <a:ln/>
        </p:spPr>
        <p:txBody>
          <a:bodyPr/>
          <a:lstStyle/>
          <a:p>
            <a:endParaRPr lang="en-US"/>
          </a:p>
        </p:txBody>
      </p:sp>
      <p:sp>
        <p:nvSpPr>
          <p:cNvPr id="20" name="Text 18"/>
          <p:cNvSpPr/>
          <p:nvPr/>
        </p:nvSpPr>
        <p:spPr>
          <a:xfrm>
            <a:off x="5715000" y="19659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T1133: zero-trust segmentation verified; MFA bypass paths surfaced</a:t>
            </a:r>
            <a:endParaRPr lang="en-US" sz="1000" dirty="0"/>
          </a:p>
        </p:txBody>
      </p:sp>
      <p:sp>
        <p:nvSpPr>
          <p:cNvPr id="21" name="Shape 19"/>
          <p:cNvSpPr/>
          <p:nvPr/>
        </p:nvSpPr>
        <p:spPr>
          <a:xfrm>
            <a:off x="8823960" y="1874520"/>
            <a:ext cx="73152" cy="868680"/>
          </a:xfrm>
          <a:prstGeom prst="rect">
            <a:avLst/>
          </a:prstGeom>
          <a:solidFill>
            <a:srgbClr val="0891B2"/>
          </a:solidFill>
          <a:ln/>
        </p:spPr>
        <p:txBody>
          <a:bodyPr/>
          <a:lstStyle/>
          <a:p>
            <a:endParaRPr lang="en-US"/>
          </a:p>
        </p:txBody>
      </p:sp>
      <p:sp>
        <p:nvSpPr>
          <p:cNvPr id="22" name="Text 20"/>
          <p:cNvSpPr/>
          <p:nvPr/>
        </p:nvSpPr>
        <p:spPr>
          <a:xfrm>
            <a:off x="8961120" y="19659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Auth signal: off_hours_ratio spikes, new source IP — drift 0.08</a:t>
            </a:r>
            <a:endParaRPr lang="en-US" sz="1000" dirty="0"/>
          </a:p>
        </p:txBody>
      </p:sp>
      <p:sp>
        <p:nvSpPr>
          <p:cNvPr id="23" name="Shape 21"/>
          <p:cNvSpPr/>
          <p:nvPr/>
        </p:nvSpPr>
        <p:spPr>
          <a:xfrm>
            <a:off x="457200" y="2788920"/>
            <a:ext cx="11247120" cy="868680"/>
          </a:xfrm>
          <a:prstGeom prst="rect">
            <a:avLst/>
          </a:prstGeom>
          <a:solidFill>
            <a:srgbClr val="F7F8FA"/>
          </a:solidFill>
          <a:ln w="6350">
            <a:solidFill>
              <a:srgbClr val="E5E9EE"/>
            </a:solidFill>
            <a:prstDash val="solid"/>
          </a:ln>
        </p:spPr>
        <p:txBody>
          <a:bodyPr/>
          <a:lstStyle/>
          <a:p>
            <a:endParaRPr lang="en-US"/>
          </a:p>
        </p:txBody>
      </p:sp>
      <p:sp>
        <p:nvSpPr>
          <p:cNvPr id="24" name="Text 22"/>
          <p:cNvSpPr/>
          <p:nvPr/>
        </p:nvSpPr>
        <p:spPr>
          <a:xfrm>
            <a:off x="548640" y="28346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2 — LOLBin Execution</a:t>
            </a:r>
            <a:endParaRPr lang="en-US" sz="1150" dirty="0"/>
          </a:p>
        </p:txBody>
      </p:sp>
      <p:sp>
        <p:nvSpPr>
          <p:cNvPr id="25" name="Text 23"/>
          <p:cNvSpPr/>
          <p:nvPr/>
        </p:nvSpPr>
        <p:spPr>
          <a:xfrm>
            <a:off x="548640" y="32004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12–36h</a:t>
            </a:r>
            <a:endParaRPr lang="en-US" sz="1000" dirty="0"/>
          </a:p>
        </p:txBody>
      </p:sp>
      <p:sp>
        <p:nvSpPr>
          <p:cNvPr id="26" name="Text 24"/>
          <p:cNvSpPr/>
          <p:nvPr/>
        </p:nvSpPr>
        <p:spPr>
          <a:xfrm>
            <a:off x="2880360" y="28803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wmic.exe, ntdsutil.exe, netsh.exe chain</a:t>
            </a:r>
            <a:endParaRPr lang="en-US" sz="1050" dirty="0"/>
          </a:p>
        </p:txBody>
      </p:sp>
      <p:sp>
        <p:nvSpPr>
          <p:cNvPr id="27" name="Shape 25"/>
          <p:cNvSpPr/>
          <p:nvPr/>
        </p:nvSpPr>
        <p:spPr>
          <a:xfrm>
            <a:off x="5577840" y="2788920"/>
            <a:ext cx="73152" cy="868680"/>
          </a:xfrm>
          <a:prstGeom prst="rect">
            <a:avLst/>
          </a:prstGeom>
          <a:solidFill>
            <a:srgbClr val="F26B1F"/>
          </a:solidFill>
          <a:ln/>
        </p:spPr>
        <p:txBody>
          <a:bodyPr/>
          <a:lstStyle/>
          <a:p>
            <a:endParaRPr lang="en-US"/>
          </a:p>
        </p:txBody>
      </p:sp>
      <p:sp>
        <p:nvSpPr>
          <p:cNvPr id="28" name="Text 26"/>
          <p:cNvSpPr/>
          <p:nvPr/>
        </p:nvSpPr>
        <p:spPr>
          <a:xfrm>
            <a:off x="5715000" y="28803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T1059: EDR/script-control coverage proven on every endpoint policy</a:t>
            </a:r>
            <a:endParaRPr lang="en-US" sz="1000" dirty="0"/>
          </a:p>
        </p:txBody>
      </p:sp>
      <p:sp>
        <p:nvSpPr>
          <p:cNvPr id="29" name="Shape 27"/>
          <p:cNvSpPr/>
          <p:nvPr/>
        </p:nvSpPr>
        <p:spPr>
          <a:xfrm>
            <a:off x="8823960" y="2788920"/>
            <a:ext cx="73152" cy="868680"/>
          </a:xfrm>
          <a:prstGeom prst="rect">
            <a:avLst/>
          </a:prstGeom>
          <a:solidFill>
            <a:srgbClr val="0891B2"/>
          </a:solidFill>
          <a:ln/>
        </p:spPr>
        <p:txBody>
          <a:bodyPr/>
          <a:lstStyle/>
          <a:p>
            <a:endParaRPr lang="en-US"/>
          </a:p>
        </p:txBody>
      </p:sp>
      <p:sp>
        <p:nvSpPr>
          <p:cNvPr id="30" name="Text 28"/>
          <p:cNvSpPr/>
          <p:nvPr/>
        </p:nvSpPr>
        <p:spPr>
          <a:xfrm>
            <a:off x="8961120" y="28803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Process signal: lolbin_count 0→7, cmdline_entropy rises — CUSUM alarm</a:t>
            </a:r>
            <a:endParaRPr lang="en-US" sz="1000" dirty="0"/>
          </a:p>
        </p:txBody>
      </p:sp>
      <p:sp>
        <p:nvSpPr>
          <p:cNvPr id="31" name="Shape 29"/>
          <p:cNvSpPr/>
          <p:nvPr/>
        </p:nvSpPr>
        <p:spPr>
          <a:xfrm>
            <a:off x="457200" y="3703320"/>
            <a:ext cx="11247120" cy="868680"/>
          </a:xfrm>
          <a:prstGeom prst="rect">
            <a:avLst/>
          </a:prstGeom>
          <a:solidFill>
            <a:srgbClr val="FFFFFF"/>
          </a:solidFill>
          <a:ln w="6350">
            <a:solidFill>
              <a:srgbClr val="E5E9EE"/>
            </a:solidFill>
            <a:prstDash val="solid"/>
          </a:ln>
        </p:spPr>
        <p:txBody>
          <a:bodyPr/>
          <a:lstStyle/>
          <a:p>
            <a:endParaRPr lang="en-US"/>
          </a:p>
        </p:txBody>
      </p:sp>
      <p:sp>
        <p:nvSpPr>
          <p:cNvPr id="32" name="Text 30"/>
          <p:cNvSpPr/>
          <p:nvPr/>
        </p:nvSpPr>
        <p:spPr>
          <a:xfrm>
            <a:off x="548640" y="37490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3 — Lateral Movement</a:t>
            </a:r>
            <a:endParaRPr lang="en-US" sz="1150" dirty="0"/>
          </a:p>
        </p:txBody>
      </p:sp>
      <p:sp>
        <p:nvSpPr>
          <p:cNvPr id="33" name="Text 31"/>
          <p:cNvSpPr/>
          <p:nvPr/>
        </p:nvSpPr>
        <p:spPr>
          <a:xfrm>
            <a:off x="548640" y="41148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36–72h</a:t>
            </a:r>
            <a:endParaRPr lang="en-US" sz="1000" dirty="0"/>
          </a:p>
        </p:txBody>
      </p:sp>
      <p:sp>
        <p:nvSpPr>
          <p:cNvPr id="34" name="Text 32"/>
          <p:cNvSpPr/>
          <p:nvPr/>
        </p:nvSpPr>
        <p:spPr>
          <a:xfrm>
            <a:off x="2880360" y="37947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RDP + WinRM to domain controllers</a:t>
            </a:r>
            <a:endParaRPr lang="en-US" sz="1050" dirty="0"/>
          </a:p>
        </p:txBody>
      </p:sp>
      <p:sp>
        <p:nvSpPr>
          <p:cNvPr id="35" name="Shape 33"/>
          <p:cNvSpPr/>
          <p:nvPr/>
        </p:nvSpPr>
        <p:spPr>
          <a:xfrm>
            <a:off x="5577840" y="3703320"/>
            <a:ext cx="73152" cy="868680"/>
          </a:xfrm>
          <a:prstGeom prst="rect">
            <a:avLst/>
          </a:prstGeom>
          <a:solidFill>
            <a:srgbClr val="F26B1F"/>
          </a:solidFill>
          <a:ln/>
        </p:spPr>
        <p:txBody>
          <a:bodyPr/>
          <a:lstStyle/>
          <a:p>
            <a:endParaRPr lang="en-US"/>
          </a:p>
        </p:txBody>
      </p:sp>
      <p:sp>
        <p:nvSpPr>
          <p:cNvPr id="36" name="Text 34"/>
          <p:cNvSpPr/>
          <p:nvPr/>
        </p:nvSpPr>
        <p:spPr>
          <a:xfrm>
            <a:off x="5715000" y="37947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T1021: SMB inspection profile shadow detected &amp; remediated</a:t>
            </a:r>
            <a:endParaRPr lang="en-US" sz="1000" dirty="0"/>
          </a:p>
        </p:txBody>
      </p:sp>
      <p:sp>
        <p:nvSpPr>
          <p:cNvPr id="37" name="Shape 35"/>
          <p:cNvSpPr/>
          <p:nvPr/>
        </p:nvSpPr>
        <p:spPr>
          <a:xfrm>
            <a:off x="8823960" y="3703320"/>
            <a:ext cx="73152" cy="868680"/>
          </a:xfrm>
          <a:prstGeom prst="rect">
            <a:avLst/>
          </a:prstGeom>
          <a:solidFill>
            <a:srgbClr val="0891B2"/>
          </a:solidFill>
          <a:ln/>
        </p:spPr>
        <p:txBody>
          <a:bodyPr/>
          <a:lstStyle/>
          <a:p>
            <a:endParaRPr lang="en-US"/>
          </a:p>
        </p:txBody>
      </p:sp>
      <p:sp>
        <p:nvSpPr>
          <p:cNvPr id="38" name="Text 36"/>
          <p:cNvSpPr/>
          <p:nvPr/>
        </p:nvSpPr>
        <p:spPr>
          <a:xfrm>
            <a:off x="8961120" y="37947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Network: unique_dest_ips 3→18; cohort z = 6.17 — HIGH alert, T1021 mapped</a:t>
            </a:r>
            <a:endParaRPr lang="en-US" sz="1000" dirty="0"/>
          </a:p>
        </p:txBody>
      </p:sp>
      <p:sp>
        <p:nvSpPr>
          <p:cNvPr id="39" name="Shape 37"/>
          <p:cNvSpPr/>
          <p:nvPr/>
        </p:nvSpPr>
        <p:spPr>
          <a:xfrm>
            <a:off x="457200" y="4617720"/>
            <a:ext cx="11247120" cy="868680"/>
          </a:xfrm>
          <a:prstGeom prst="rect">
            <a:avLst/>
          </a:prstGeom>
          <a:solidFill>
            <a:srgbClr val="F7F8FA"/>
          </a:solidFill>
          <a:ln w="6350">
            <a:solidFill>
              <a:srgbClr val="E5E9EE"/>
            </a:solidFill>
            <a:prstDash val="solid"/>
          </a:ln>
        </p:spPr>
        <p:txBody>
          <a:bodyPr/>
          <a:lstStyle/>
          <a:p>
            <a:endParaRPr lang="en-US"/>
          </a:p>
        </p:txBody>
      </p:sp>
      <p:sp>
        <p:nvSpPr>
          <p:cNvPr id="40" name="Text 38"/>
          <p:cNvSpPr/>
          <p:nvPr/>
        </p:nvSpPr>
        <p:spPr>
          <a:xfrm>
            <a:off x="548640" y="46634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4 — Persistence</a:t>
            </a:r>
            <a:endParaRPr lang="en-US" sz="1150" dirty="0"/>
          </a:p>
        </p:txBody>
      </p:sp>
      <p:sp>
        <p:nvSpPr>
          <p:cNvPr id="41" name="Text 39"/>
          <p:cNvSpPr/>
          <p:nvPr/>
        </p:nvSpPr>
        <p:spPr>
          <a:xfrm>
            <a:off x="548640" y="50292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72–96h</a:t>
            </a:r>
            <a:endParaRPr lang="en-US" sz="1000" dirty="0"/>
          </a:p>
        </p:txBody>
      </p:sp>
      <p:sp>
        <p:nvSpPr>
          <p:cNvPr id="42" name="Text 40"/>
          <p:cNvSpPr/>
          <p:nvPr/>
        </p:nvSpPr>
        <p:spPr>
          <a:xfrm>
            <a:off x="2880360" y="47091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Scheduled tasks + registry modification</a:t>
            </a:r>
            <a:endParaRPr lang="en-US" sz="1050" dirty="0"/>
          </a:p>
        </p:txBody>
      </p:sp>
      <p:sp>
        <p:nvSpPr>
          <p:cNvPr id="43" name="Shape 41"/>
          <p:cNvSpPr/>
          <p:nvPr/>
        </p:nvSpPr>
        <p:spPr>
          <a:xfrm>
            <a:off x="5577840" y="4617720"/>
            <a:ext cx="73152" cy="868680"/>
          </a:xfrm>
          <a:prstGeom prst="rect">
            <a:avLst/>
          </a:prstGeom>
          <a:solidFill>
            <a:srgbClr val="F26B1F"/>
          </a:solidFill>
          <a:ln/>
        </p:spPr>
        <p:txBody>
          <a:bodyPr/>
          <a:lstStyle/>
          <a:p>
            <a:endParaRPr lang="en-US"/>
          </a:p>
        </p:txBody>
      </p:sp>
      <p:sp>
        <p:nvSpPr>
          <p:cNvPr id="44" name="Text 42"/>
          <p:cNvSpPr/>
          <p:nvPr/>
        </p:nvSpPr>
        <p:spPr>
          <a:xfrm>
            <a:off x="5715000" y="47091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T1556: Configuration Drift Mgmt catches config baseline deviation</a:t>
            </a:r>
            <a:endParaRPr lang="en-US" sz="1000" dirty="0"/>
          </a:p>
        </p:txBody>
      </p:sp>
      <p:sp>
        <p:nvSpPr>
          <p:cNvPr id="45" name="Shape 43"/>
          <p:cNvSpPr/>
          <p:nvPr/>
        </p:nvSpPr>
        <p:spPr>
          <a:xfrm>
            <a:off x="8823960" y="4617720"/>
            <a:ext cx="73152" cy="868680"/>
          </a:xfrm>
          <a:prstGeom prst="rect">
            <a:avLst/>
          </a:prstGeom>
          <a:solidFill>
            <a:srgbClr val="0891B2"/>
          </a:solidFill>
          <a:ln/>
        </p:spPr>
        <p:txBody>
          <a:bodyPr/>
          <a:lstStyle/>
          <a:p>
            <a:endParaRPr lang="en-US"/>
          </a:p>
        </p:txBody>
      </p:sp>
      <p:sp>
        <p:nvSpPr>
          <p:cNvPr id="46" name="Text 44"/>
          <p:cNvSpPr/>
          <p:nvPr/>
        </p:nvSpPr>
        <p:spPr>
          <a:xfrm>
            <a:off x="8961120" y="47091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Identity signal: service_acct_use spikes, group_adds — drift toward T1078</a:t>
            </a:r>
            <a:endParaRPr lang="en-US" sz="1000" dirty="0"/>
          </a:p>
        </p:txBody>
      </p:sp>
      <p:sp>
        <p:nvSpPr>
          <p:cNvPr id="47" name="Shape 45"/>
          <p:cNvSpPr/>
          <p:nvPr/>
        </p:nvSpPr>
        <p:spPr>
          <a:xfrm>
            <a:off x="457200" y="5532120"/>
            <a:ext cx="11247120" cy="868680"/>
          </a:xfrm>
          <a:prstGeom prst="rect">
            <a:avLst/>
          </a:prstGeom>
          <a:solidFill>
            <a:srgbClr val="FFFFFF"/>
          </a:solidFill>
          <a:ln w="6350">
            <a:solidFill>
              <a:srgbClr val="E5E9EE"/>
            </a:solidFill>
            <a:prstDash val="solid"/>
          </a:ln>
        </p:spPr>
        <p:txBody>
          <a:bodyPr/>
          <a:lstStyle/>
          <a:p>
            <a:endParaRPr lang="en-US"/>
          </a:p>
        </p:txBody>
      </p:sp>
      <p:sp>
        <p:nvSpPr>
          <p:cNvPr id="48" name="Text 46"/>
          <p:cNvSpPr/>
          <p:nvPr/>
        </p:nvSpPr>
        <p:spPr>
          <a:xfrm>
            <a:off x="548640" y="55778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5 — Pre-positioning</a:t>
            </a:r>
            <a:endParaRPr lang="en-US" sz="1150" dirty="0"/>
          </a:p>
        </p:txBody>
      </p:sp>
      <p:sp>
        <p:nvSpPr>
          <p:cNvPr id="49" name="Text 47"/>
          <p:cNvSpPr/>
          <p:nvPr/>
        </p:nvSpPr>
        <p:spPr>
          <a:xfrm>
            <a:off x="548640" y="59436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96h+</a:t>
            </a:r>
            <a:endParaRPr lang="en-US" sz="1000" dirty="0"/>
          </a:p>
        </p:txBody>
      </p:sp>
      <p:sp>
        <p:nvSpPr>
          <p:cNvPr id="50" name="Text 48"/>
          <p:cNvSpPr/>
          <p:nvPr/>
        </p:nvSpPr>
        <p:spPr>
          <a:xfrm>
            <a:off x="2880360" y="56235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Credential harvest + network mapping</a:t>
            </a:r>
            <a:endParaRPr lang="en-US" sz="1050" dirty="0"/>
          </a:p>
        </p:txBody>
      </p:sp>
      <p:sp>
        <p:nvSpPr>
          <p:cNvPr id="51" name="Shape 49"/>
          <p:cNvSpPr/>
          <p:nvPr/>
        </p:nvSpPr>
        <p:spPr>
          <a:xfrm>
            <a:off x="5577840" y="5532120"/>
            <a:ext cx="73152" cy="868680"/>
          </a:xfrm>
          <a:prstGeom prst="rect">
            <a:avLst/>
          </a:prstGeom>
          <a:solidFill>
            <a:srgbClr val="F26B1F"/>
          </a:solidFill>
          <a:ln/>
        </p:spPr>
        <p:txBody>
          <a:bodyPr/>
          <a:lstStyle/>
          <a:p>
            <a:endParaRPr lang="en-US"/>
          </a:p>
        </p:txBody>
      </p:sp>
      <p:sp>
        <p:nvSpPr>
          <p:cNvPr id="52" name="Text 50"/>
          <p:cNvSpPr/>
          <p:nvPr/>
        </p:nvSpPr>
        <p:spPr>
          <a:xfrm>
            <a:off x="5715000" y="56235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T1003: egress filtering proven; C2 destinations blocked</a:t>
            </a:r>
            <a:endParaRPr lang="en-US" sz="1000" dirty="0"/>
          </a:p>
        </p:txBody>
      </p:sp>
      <p:sp>
        <p:nvSpPr>
          <p:cNvPr id="53" name="Shape 51"/>
          <p:cNvSpPr/>
          <p:nvPr/>
        </p:nvSpPr>
        <p:spPr>
          <a:xfrm>
            <a:off x="8823960" y="5532120"/>
            <a:ext cx="73152" cy="868680"/>
          </a:xfrm>
          <a:prstGeom prst="rect">
            <a:avLst/>
          </a:prstGeom>
          <a:solidFill>
            <a:srgbClr val="0891B2"/>
          </a:solidFill>
          <a:ln/>
        </p:spPr>
        <p:txBody>
          <a:bodyPr/>
          <a:lstStyle/>
          <a:p>
            <a:endParaRPr lang="en-US"/>
          </a:p>
        </p:txBody>
      </p:sp>
      <p:sp>
        <p:nvSpPr>
          <p:cNvPr id="54" name="Text 52"/>
          <p:cNvSpPr/>
          <p:nvPr/>
        </p:nvSpPr>
        <p:spPr>
          <a:xfrm>
            <a:off x="8961120" y="56235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File signal: sensitive_access rises, bulk_ops=true → CRITICAL → ABAC BLOCKED</a:t>
            </a:r>
            <a:endParaRPr lang="en-US" sz="1000" dirty="0"/>
          </a:p>
        </p:txBody>
      </p:sp>
      <p:sp>
        <p:nvSpPr>
          <p:cNvPr id="55" name="Shape 53"/>
          <p:cNvSpPr/>
          <p:nvPr/>
        </p:nvSpPr>
        <p:spPr>
          <a:xfrm>
            <a:off x="457200" y="6446520"/>
            <a:ext cx="11247120" cy="292608"/>
          </a:xfrm>
          <a:prstGeom prst="rect">
            <a:avLst/>
          </a:prstGeom>
          <a:solidFill>
            <a:srgbClr val="0B1F3A"/>
          </a:solidFill>
          <a:ln/>
        </p:spPr>
        <p:txBody>
          <a:bodyPr/>
          <a:lstStyle/>
          <a:p>
            <a:endParaRPr lang="en-US"/>
          </a:p>
        </p:txBody>
      </p:sp>
      <p:sp>
        <p:nvSpPr>
          <p:cNvPr id="56" name="Text 54"/>
          <p:cNvSpPr/>
          <p:nvPr/>
        </p:nvSpPr>
        <p:spPr>
          <a:xfrm>
            <a:off x="640080" y="6446520"/>
            <a:ext cx="10972800" cy="292608"/>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Salt Typhoon walkthrough follows the same pattern: edge CVE → tunneling → CALEA access → exfil. Both Typhoons are pre-built replay scenarios in ACECARD (FR-11).</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SALT TYPHOON WALKTHROUGH  —  BOTH LAYERS</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Salt Typhoon Walkthrough: Both Layers in Action</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Each phase shows what Rigor preempts AND what ACECARD detects if preemption is bypassed. Telecom-specific tradecraft.</a:t>
            </a:r>
            <a:endParaRPr lang="en-US" sz="1300" dirty="0"/>
          </a:p>
        </p:txBody>
      </p:sp>
      <p:sp>
        <p:nvSpPr>
          <p:cNvPr id="7" name="Shape 5"/>
          <p:cNvSpPr/>
          <p:nvPr/>
        </p:nvSpPr>
        <p:spPr>
          <a:xfrm>
            <a:off x="457200" y="1325880"/>
            <a:ext cx="2103120" cy="365760"/>
          </a:xfrm>
          <a:prstGeom prst="rect">
            <a:avLst/>
          </a:prstGeom>
          <a:solidFill>
            <a:srgbClr val="0B1F3A"/>
          </a:solidFill>
          <a:ln/>
        </p:spPr>
        <p:txBody>
          <a:bodyPr/>
          <a:lstStyle/>
          <a:p>
            <a:endParaRPr lang="en-US"/>
          </a:p>
        </p:txBody>
      </p:sp>
      <p:sp>
        <p:nvSpPr>
          <p:cNvPr id="8" name="Text 6"/>
          <p:cNvSpPr/>
          <p:nvPr/>
        </p:nvSpPr>
        <p:spPr>
          <a:xfrm>
            <a:off x="548640" y="1325880"/>
            <a:ext cx="201168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9" name="Shape 7"/>
          <p:cNvSpPr/>
          <p:nvPr/>
        </p:nvSpPr>
        <p:spPr>
          <a:xfrm>
            <a:off x="2560320" y="1325880"/>
            <a:ext cx="3200400" cy="365760"/>
          </a:xfrm>
          <a:prstGeom prst="rect">
            <a:avLst/>
          </a:prstGeom>
          <a:solidFill>
            <a:srgbClr val="C0392B"/>
          </a:solidFill>
          <a:ln/>
        </p:spPr>
        <p:txBody>
          <a:bodyPr/>
          <a:lstStyle/>
          <a:p>
            <a:endParaRPr lang="en-US"/>
          </a:p>
        </p:txBody>
      </p:sp>
      <p:sp>
        <p:nvSpPr>
          <p:cNvPr id="10" name="Text 8"/>
          <p:cNvSpPr/>
          <p:nvPr/>
        </p:nvSpPr>
        <p:spPr>
          <a:xfrm>
            <a:off x="2651760" y="1325880"/>
            <a:ext cx="31089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ATTACKER BEHAVIOR</a:t>
            </a:r>
            <a:endParaRPr lang="en-US" sz="1100" dirty="0"/>
          </a:p>
        </p:txBody>
      </p:sp>
      <p:sp>
        <p:nvSpPr>
          <p:cNvPr id="11" name="Shape 9"/>
          <p:cNvSpPr/>
          <p:nvPr/>
        </p:nvSpPr>
        <p:spPr>
          <a:xfrm>
            <a:off x="5760720" y="1325880"/>
            <a:ext cx="3108960" cy="365760"/>
          </a:xfrm>
          <a:prstGeom prst="rect">
            <a:avLst/>
          </a:prstGeom>
          <a:solidFill>
            <a:srgbClr val="F26B1F"/>
          </a:solidFill>
          <a:ln/>
        </p:spPr>
        <p:txBody>
          <a:bodyPr/>
          <a:lstStyle/>
          <a:p>
            <a:endParaRPr lang="en-US"/>
          </a:p>
        </p:txBody>
      </p:sp>
      <p:sp>
        <p:nvSpPr>
          <p:cNvPr id="12" name="Text 10"/>
          <p:cNvSpPr/>
          <p:nvPr/>
        </p:nvSpPr>
        <p:spPr>
          <a:xfrm>
            <a:off x="5852160" y="1325880"/>
            <a:ext cx="30175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RIGOR PREEMPTS</a:t>
            </a:r>
            <a:endParaRPr lang="en-US" sz="1100" dirty="0"/>
          </a:p>
        </p:txBody>
      </p:sp>
      <p:sp>
        <p:nvSpPr>
          <p:cNvPr id="13" name="Shape 11"/>
          <p:cNvSpPr/>
          <p:nvPr/>
        </p:nvSpPr>
        <p:spPr>
          <a:xfrm>
            <a:off x="8869680" y="1325880"/>
            <a:ext cx="2834640" cy="365760"/>
          </a:xfrm>
          <a:prstGeom prst="rect">
            <a:avLst/>
          </a:prstGeom>
          <a:solidFill>
            <a:srgbClr val="0891B2"/>
          </a:solidFill>
          <a:ln/>
        </p:spPr>
        <p:txBody>
          <a:bodyPr/>
          <a:lstStyle/>
          <a:p>
            <a:endParaRPr lang="en-US"/>
          </a:p>
        </p:txBody>
      </p:sp>
      <p:sp>
        <p:nvSpPr>
          <p:cNvPr id="14" name="Text 12"/>
          <p:cNvSpPr/>
          <p:nvPr/>
        </p:nvSpPr>
        <p:spPr>
          <a:xfrm>
            <a:off x="8961120" y="1325880"/>
            <a:ext cx="274320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DETECTS</a:t>
            </a:r>
            <a:endParaRPr lang="en-US" sz="1100" dirty="0"/>
          </a:p>
        </p:txBody>
      </p:sp>
      <p:sp>
        <p:nvSpPr>
          <p:cNvPr id="15" name="Shape 13"/>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6" name="Text 14"/>
          <p:cNvSpPr/>
          <p:nvPr/>
        </p:nvSpPr>
        <p:spPr>
          <a:xfrm>
            <a:off x="548640" y="178308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1 — Edge CVE Exploit
</a:t>
            </a:r>
            <a:r>
              <a:rPr lang="en-US" sz="900" i="1" dirty="0">
                <a:solidFill>
                  <a:srgbClr val="F26B1F"/>
                </a:solidFill>
                <a:latin typeface="Calibri" pitchFamily="34" charset="0"/>
                <a:ea typeface="Calibri" pitchFamily="34" charset="-122"/>
                <a:cs typeface="Calibri" pitchFamily="34" charset="-120"/>
              </a:rPr>
              <a:t>0–24h</a:t>
            </a:r>
            <a:endParaRPr lang="en-US" sz="1000" dirty="0"/>
          </a:p>
        </p:txBody>
      </p:sp>
      <p:sp>
        <p:nvSpPr>
          <p:cNvPr id="17" name="Shape 15"/>
          <p:cNvSpPr/>
          <p:nvPr/>
        </p:nvSpPr>
        <p:spPr>
          <a:xfrm>
            <a:off x="5669280" y="1755648"/>
            <a:ext cx="54864" cy="832104"/>
          </a:xfrm>
          <a:prstGeom prst="rect">
            <a:avLst/>
          </a:prstGeom>
          <a:solidFill>
            <a:srgbClr val="F26B1F"/>
          </a:solidFill>
          <a:ln/>
        </p:spPr>
        <p:txBody>
          <a:bodyPr/>
          <a:lstStyle/>
          <a:p>
            <a:endParaRPr lang="en-US"/>
          </a:p>
        </p:txBody>
      </p:sp>
      <p:sp>
        <p:nvSpPr>
          <p:cNvPr id="18" name="Shape 16"/>
          <p:cNvSpPr/>
          <p:nvPr/>
        </p:nvSpPr>
        <p:spPr>
          <a:xfrm>
            <a:off x="8778240" y="1755648"/>
            <a:ext cx="54864" cy="832104"/>
          </a:xfrm>
          <a:prstGeom prst="rect">
            <a:avLst/>
          </a:prstGeom>
          <a:solidFill>
            <a:srgbClr val="0891B2"/>
          </a:solidFill>
          <a:ln/>
        </p:spPr>
        <p:txBody>
          <a:bodyPr/>
          <a:lstStyle/>
          <a:p>
            <a:endParaRPr lang="en-US"/>
          </a:p>
        </p:txBody>
      </p:sp>
      <p:sp>
        <p:nvSpPr>
          <p:cNvPr id="19" name="Text 17"/>
          <p:cNvSpPr/>
          <p:nvPr/>
        </p:nvSpPr>
        <p:spPr>
          <a:xfrm>
            <a:off x="2651760" y="178308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CVE-2023-20198 vs. Cisco IOS XE web UI; level-15 admin obtained</a:t>
            </a:r>
            <a:endParaRPr lang="en-US" sz="900" dirty="0"/>
          </a:p>
        </p:txBody>
      </p:sp>
      <p:sp>
        <p:nvSpPr>
          <p:cNvPr id="20" name="Text 18"/>
          <p:cNvSpPr/>
          <p:nvPr/>
        </p:nvSpPr>
        <p:spPr>
          <a:xfrm>
            <a:off x="5852160" y="178308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T1190: Rigor verifies WAF blocks /webui/ public access; mgmt-plane ACL holds</a:t>
            </a:r>
            <a:endParaRPr lang="en-US" sz="900" dirty="0"/>
          </a:p>
        </p:txBody>
      </p:sp>
      <p:sp>
        <p:nvSpPr>
          <p:cNvPr id="21" name="Text 19"/>
          <p:cNvSpPr/>
          <p:nvPr/>
        </p:nvSpPr>
        <p:spPr>
          <a:xfrm>
            <a:off x="8961120" y="178308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anomalous mgmt-plane source IP — drift 0.09</a:t>
            </a:r>
            <a:endParaRPr lang="en-US" sz="900" dirty="0"/>
          </a:p>
        </p:txBody>
      </p:sp>
      <p:sp>
        <p:nvSpPr>
          <p:cNvPr id="22" name="Shape 20"/>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3" name="Text 21"/>
          <p:cNvSpPr/>
          <p:nvPr/>
        </p:nvSpPr>
        <p:spPr>
          <a:xfrm>
            <a:off x="548640" y="274320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2 — Account Creation
</a:t>
            </a:r>
            <a:r>
              <a:rPr lang="en-US" sz="900" i="1" dirty="0">
                <a:solidFill>
                  <a:srgbClr val="F26B1F"/>
                </a:solidFill>
                <a:latin typeface="Calibri" pitchFamily="34" charset="0"/>
                <a:ea typeface="Calibri" pitchFamily="34" charset="-122"/>
                <a:cs typeface="Calibri" pitchFamily="34" charset="-120"/>
              </a:rPr>
              <a:t>1–7d</a:t>
            </a:r>
            <a:endParaRPr lang="en-US" sz="1000" dirty="0"/>
          </a:p>
        </p:txBody>
      </p:sp>
      <p:sp>
        <p:nvSpPr>
          <p:cNvPr id="24" name="Shape 22"/>
          <p:cNvSpPr/>
          <p:nvPr/>
        </p:nvSpPr>
        <p:spPr>
          <a:xfrm>
            <a:off x="5669280" y="2715768"/>
            <a:ext cx="54864" cy="832104"/>
          </a:xfrm>
          <a:prstGeom prst="rect">
            <a:avLst/>
          </a:prstGeom>
          <a:solidFill>
            <a:srgbClr val="F26B1F"/>
          </a:solidFill>
          <a:ln/>
        </p:spPr>
        <p:txBody>
          <a:bodyPr/>
          <a:lstStyle/>
          <a:p>
            <a:endParaRPr lang="en-US"/>
          </a:p>
        </p:txBody>
      </p:sp>
      <p:sp>
        <p:nvSpPr>
          <p:cNvPr id="25" name="Shape 23"/>
          <p:cNvSpPr/>
          <p:nvPr/>
        </p:nvSpPr>
        <p:spPr>
          <a:xfrm>
            <a:off x="8778240" y="2715768"/>
            <a:ext cx="54864" cy="832104"/>
          </a:xfrm>
          <a:prstGeom prst="rect">
            <a:avLst/>
          </a:prstGeom>
          <a:solidFill>
            <a:srgbClr val="0891B2"/>
          </a:solidFill>
          <a:ln/>
        </p:spPr>
        <p:txBody>
          <a:bodyPr/>
          <a:lstStyle/>
          <a:p>
            <a:endParaRPr lang="en-US"/>
          </a:p>
        </p:txBody>
      </p:sp>
      <p:sp>
        <p:nvSpPr>
          <p:cNvPr id="26" name="Text 24"/>
          <p:cNvSpPr/>
          <p:nvPr/>
        </p:nvSpPr>
        <p:spPr>
          <a:xfrm>
            <a:off x="2651760" y="274320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Local privileged account created on router; AAA config modified</a:t>
            </a:r>
            <a:endParaRPr lang="en-US" sz="900" dirty="0"/>
          </a:p>
        </p:txBody>
      </p:sp>
      <p:sp>
        <p:nvSpPr>
          <p:cNvPr id="27" name="Text 25"/>
          <p:cNvSpPr/>
          <p:nvPr/>
        </p:nvSpPr>
        <p:spPr>
          <a:xfrm>
            <a:off x="5852160" y="274320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T1556: Configuration Drift Mgmt detects baseline diff within 1 hour</a:t>
            </a:r>
            <a:endParaRPr lang="en-US" sz="900" dirty="0"/>
          </a:p>
        </p:txBody>
      </p:sp>
      <p:sp>
        <p:nvSpPr>
          <p:cNvPr id="28" name="Text 26"/>
          <p:cNvSpPr/>
          <p:nvPr/>
        </p:nvSpPr>
        <p:spPr>
          <a:xfrm>
            <a:off x="8961120" y="274320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 signal: identity-graph hash changes — new SID linked to router entity</a:t>
            </a:r>
            <a:endParaRPr lang="en-US" sz="900" dirty="0"/>
          </a:p>
        </p:txBody>
      </p:sp>
      <p:sp>
        <p:nvSpPr>
          <p:cNvPr id="29" name="Shape 27"/>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30" name="Text 28"/>
          <p:cNvSpPr/>
          <p:nvPr/>
        </p:nvSpPr>
        <p:spPr>
          <a:xfrm>
            <a:off x="548640" y="370332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3 — TACACS+ Capture
</a:t>
            </a:r>
            <a:r>
              <a:rPr lang="en-US" sz="900" i="1" dirty="0">
                <a:solidFill>
                  <a:srgbClr val="F26B1F"/>
                </a:solidFill>
                <a:latin typeface="Calibri" pitchFamily="34" charset="0"/>
                <a:ea typeface="Calibri" pitchFamily="34" charset="-122"/>
                <a:cs typeface="Calibri" pitchFamily="34" charset="-120"/>
              </a:rPr>
              <a:t>7–30d</a:t>
            </a:r>
            <a:endParaRPr lang="en-US" sz="1000" dirty="0"/>
          </a:p>
        </p:txBody>
      </p:sp>
      <p:sp>
        <p:nvSpPr>
          <p:cNvPr id="31" name="Shape 29"/>
          <p:cNvSpPr/>
          <p:nvPr/>
        </p:nvSpPr>
        <p:spPr>
          <a:xfrm>
            <a:off x="5669280" y="3675888"/>
            <a:ext cx="54864" cy="832104"/>
          </a:xfrm>
          <a:prstGeom prst="rect">
            <a:avLst/>
          </a:prstGeom>
          <a:solidFill>
            <a:srgbClr val="F26B1F"/>
          </a:solidFill>
          <a:ln/>
        </p:spPr>
        <p:txBody>
          <a:bodyPr/>
          <a:lstStyle/>
          <a:p>
            <a:endParaRPr lang="en-US"/>
          </a:p>
        </p:txBody>
      </p:sp>
      <p:sp>
        <p:nvSpPr>
          <p:cNvPr id="32" name="Shape 30"/>
          <p:cNvSpPr/>
          <p:nvPr/>
        </p:nvSpPr>
        <p:spPr>
          <a:xfrm>
            <a:off x="8778240" y="3675888"/>
            <a:ext cx="54864" cy="832104"/>
          </a:xfrm>
          <a:prstGeom prst="rect">
            <a:avLst/>
          </a:prstGeom>
          <a:solidFill>
            <a:srgbClr val="0891B2"/>
          </a:solidFill>
          <a:ln/>
        </p:spPr>
        <p:txBody>
          <a:bodyPr/>
          <a:lstStyle/>
          <a:p>
            <a:endParaRPr lang="en-US"/>
          </a:p>
        </p:txBody>
      </p:sp>
      <p:sp>
        <p:nvSpPr>
          <p:cNvPr id="33" name="Text 31"/>
          <p:cNvSpPr/>
          <p:nvPr/>
        </p:nvSpPr>
        <p:spPr>
          <a:xfrm>
            <a:off x="2651760" y="370332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On-box PCAP captures TACACS+ on TCP/49; credentials harvested</a:t>
            </a:r>
            <a:endParaRPr lang="en-US" sz="900" dirty="0"/>
          </a:p>
        </p:txBody>
      </p:sp>
      <p:sp>
        <p:nvSpPr>
          <p:cNvPr id="34" name="Text 32"/>
          <p:cNvSpPr/>
          <p:nvPr/>
        </p:nvSpPr>
        <p:spPr>
          <a:xfrm>
            <a:off x="5852160" y="370332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Mgmt-plane segmentation proven; on-box capture restricted to authorized roles</a:t>
            </a:r>
            <a:endParaRPr lang="en-US" sz="900" dirty="0"/>
          </a:p>
        </p:txBody>
      </p:sp>
      <p:sp>
        <p:nvSpPr>
          <p:cNvPr id="35" name="Text 33"/>
          <p:cNvSpPr/>
          <p:nvPr/>
        </p:nvSpPr>
        <p:spPr>
          <a:xfrm>
            <a:off x="8961120" y="370332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signal: tcpdump invocation outside change window — CUSUM alarm</a:t>
            </a:r>
            <a:endParaRPr lang="en-US" sz="900" dirty="0"/>
          </a:p>
        </p:txBody>
      </p:sp>
      <p:sp>
        <p:nvSpPr>
          <p:cNvPr id="36" name="Shape 34"/>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7" name="Text 35"/>
          <p:cNvSpPr/>
          <p:nvPr/>
        </p:nvSpPr>
        <p:spPr>
          <a:xfrm>
            <a:off x="548640" y="466344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4 — JumbledPath Pivot
</a:t>
            </a:r>
            <a:r>
              <a:rPr lang="en-US" sz="900" i="1" dirty="0">
                <a:solidFill>
                  <a:srgbClr val="F26B1F"/>
                </a:solidFill>
                <a:latin typeface="Calibri" pitchFamily="34" charset="0"/>
                <a:ea typeface="Calibri" pitchFamily="34" charset="-122"/>
                <a:cs typeface="Calibri" pitchFamily="34" charset="-120"/>
              </a:rPr>
              <a:t>30–90d</a:t>
            </a:r>
            <a:endParaRPr lang="en-US" sz="1000" dirty="0"/>
          </a:p>
        </p:txBody>
      </p:sp>
      <p:sp>
        <p:nvSpPr>
          <p:cNvPr id="38" name="Shape 36"/>
          <p:cNvSpPr/>
          <p:nvPr/>
        </p:nvSpPr>
        <p:spPr>
          <a:xfrm>
            <a:off x="5669280" y="4636008"/>
            <a:ext cx="54864" cy="832104"/>
          </a:xfrm>
          <a:prstGeom prst="rect">
            <a:avLst/>
          </a:prstGeom>
          <a:solidFill>
            <a:srgbClr val="F26B1F"/>
          </a:solidFill>
          <a:ln/>
        </p:spPr>
        <p:txBody>
          <a:bodyPr/>
          <a:lstStyle/>
          <a:p>
            <a:endParaRPr lang="en-US"/>
          </a:p>
        </p:txBody>
      </p:sp>
      <p:sp>
        <p:nvSpPr>
          <p:cNvPr id="39" name="Shape 37"/>
          <p:cNvSpPr/>
          <p:nvPr/>
        </p:nvSpPr>
        <p:spPr>
          <a:xfrm>
            <a:off x="8778240" y="4636008"/>
            <a:ext cx="54864" cy="832104"/>
          </a:xfrm>
          <a:prstGeom prst="rect">
            <a:avLst/>
          </a:prstGeom>
          <a:solidFill>
            <a:srgbClr val="0891B2"/>
          </a:solidFill>
          <a:ln/>
        </p:spPr>
        <p:txBody>
          <a:bodyPr/>
          <a:lstStyle/>
          <a:p>
            <a:endParaRPr lang="en-US"/>
          </a:p>
        </p:txBody>
      </p:sp>
      <p:sp>
        <p:nvSpPr>
          <p:cNvPr id="40" name="Text 38"/>
          <p:cNvSpPr/>
          <p:nvPr/>
        </p:nvSpPr>
        <p:spPr>
          <a:xfrm>
            <a:off x="2651760" y="466344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JumbledPath ELF binary chains connections across compromised routers</a:t>
            </a:r>
            <a:endParaRPr lang="en-US" sz="900" dirty="0"/>
          </a:p>
        </p:txBody>
      </p:sp>
      <p:sp>
        <p:nvSpPr>
          <p:cNvPr id="41" name="Text 39"/>
          <p:cNvSpPr/>
          <p:nvPr/>
        </p:nvSpPr>
        <p:spPr>
          <a:xfrm>
            <a:off x="5852160" y="466344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Outbound rules to JumbledPath C2 IPs blocked across all internal zones</a:t>
            </a:r>
            <a:endParaRPr lang="en-US" sz="900" dirty="0"/>
          </a:p>
        </p:txBody>
      </p:sp>
      <p:sp>
        <p:nvSpPr>
          <p:cNvPr id="42" name="Text 40"/>
          <p:cNvSpPr/>
          <p:nvPr/>
        </p:nvSpPr>
        <p:spPr>
          <a:xfrm>
            <a:off x="8961120" y="466344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Composite Digital Signature: same entity_uuid across 4 router hops — one trajectory</a:t>
            </a:r>
            <a:endParaRPr lang="en-US" sz="900" dirty="0"/>
          </a:p>
        </p:txBody>
      </p:sp>
      <p:sp>
        <p:nvSpPr>
          <p:cNvPr id="43" name="Shape 41"/>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4" name="Text 42"/>
          <p:cNvSpPr/>
          <p:nvPr/>
        </p:nvSpPr>
        <p:spPr>
          <a:xfrm>
            <a:off x="548640" y="562356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5 — GRE Tunnel + Exfil
</a:t>
            </a:r>
            <a:r>
              <a:rPr lang="en-US" sz="900" i="1" dirty="0">
                <a:solidFill>
                  <a:srgbClr val="F26B1F"/>
                </a:solidFill>
                <a:latin typeface="Calibri" pitchFamily="34" charset="0"/>
                <a:ea typeface="Calibri" pitchFamily="34" charset="-122"/>
                <a:cs typeface="Calibri" pitchFamily="34" charset="-120"/>
              </a:rPr>
              <a:t>90d+</a:t>
            </a:r>
            <a:endParaRPr lang="en-US" sz="1000" dirty="0"/>
          </a:p>
        </p:txBody>
      </p:sp>
      <p:sp>
        <p:nvSpPr>
          <p:cNvPr id="45" name="Shape 43"/>
          <p:cNvSpPr/>
          <p:nvPr/>
        </p:nvSpPr>
        <p:spPr>
          <a:xfrm>
            <a:off x="5669280" y="5596128"/>
            <a:ext cx="54864" cy="832104"/>
          </a:xfrm>
          <a:prstGeom prst="rect">
            <a:avLst/>
          </a:prstGeom>
          <a:solidFill>
            <a:srgbClr val="F26B1F"/>
          </a:solidFill>
          <a:ln/>
        </p:spPr>
        <p:txBody>
          <a:bodyPr/>
          <a:lstStyle/>
          <a:p>
            <a:endParaRPr lang="en-US"/>
          </a:p>
        </p:txBody>
      </p:sp>
      <p:sp>
        <p:nvSpPr>
          <p:cNvPr id="46" name="Shape 44"/>
          <p:cNvSpPr/>
          <p:nvPr/>
        </p:nvSpPr>
        <p:spPr>
          <a:xfrm>
            <a:off x="8778240" y="5596128"/>
            <a:ext cx="54864" cy="832104"/>
          </a:xfrm>
          <a:prstGeom prst="rect">
            <a:avLst/>
          </a:prstGeom>
          <a:solidFill>
            <a:srgbClr val="0891B2"/>
          </a:solidFill>
          <a:ln/>
        </p:spPr>
        <p:txBody>
          <a:bodyPr/>
          <a:lstStyle/>
          <a:p>
            <a:endParaRPr lang="en-US"/>
          </a:p>
        </p:txBody>
      </p:sp>
      <p:sp>
        <p:nvSpPr>
          <p:cNvPr id="47" name="Text 45"/>
          <p:cNvSpPr/>
          <p:nvPr/>
        </p:nvSpPr>
        <p:spPr>
          <a:xfrm>
            <a:off x="2651760" y="562356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GRE tunnel configured; CDR/metadata steady exfiltration over months</a:t>
            </a:r>
            <a:endParaRPr lang="en-US" sz="900" dirty="0"/>
          </a:p>
        </p:txBody>
      </p:sp>
      <p:sp>
        <p:nvSpPr>
          <p:cNvPr id="48" name="Text 46"/>
          <p:cNvSpPr/>
          <p:nvPr/>
        </p:nvSpPr>
        <p:spPr>
          <a:xfrm>
            <a:off x="5852160" y="562356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GRE peer authorization verified; CALEA-zone segmentation intent proven</a:t>
            </a:r>
            <a:endParaRPr lang="en-US" sz="900" dirty="0"/>
          </a:p>
        </p:txBody>
      </p:sp>
      <p:sp>
        <p:nvSpPr>
          <p:cNvPr id="49" name="Text 47"/>
          <p:cNvSpPr/>
          <p:nvPr/>
        </p:nvSpPr>
        <p:spPr>
          <a:xfrm>
            <a:off x="8961120" y="562356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data_exfiltration concept score 0.44 — slow drift caught by CUSUM</a:t>
            </a:r>
            <a:endParaRPr lang="en-US" sz="900" dirty="0"/>
          </a:p>
        </p:txBody>
      </p:sp>
      <p:sp>
        <p:nvSpPr>
          <p:cNvPr id="50" name="Text 48"/>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Salt Typhoon's most dangerous trait is patience. Rigor's hourly re-verification eliminates configuration drift. ACECARD's CUSUM 4σ accumulator surfaces the slow-creep behavioral drift. Together: no comfortable home for Salt Typhoon.</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COVERAGE MATRIX</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The Combined Coverage Matrix</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adversary capability is owned by the right layer — preemption first, behavioral detection as backstop.</a:t>
            </a:r>
            <a:endParaRPr lang="en-US" sz="1200" dirty="0"/>
          </a:p>
        </p:txBody>
      </p:sp>
      <p:graphicFrame>
        <p:nvGraphicFramePr>
          <p:cNvPr id="29" name="Table 0"/>
          <p:cNvGraphicFramePr>
            <a:graphicFrameLocks noGrp="1"/>
          </p:cNvGraphicFramePr>
          <p:nvPr/>
        </p:nvGraphicFramePr>
        <p:xfrm>
          <a:off x="457200" y="1417320"/>
          <a:ext cx="11247120" cy="4626864"/>
        </p:xfrm>
        <a:graphic>
          <a:graphicData uri="http://schemas.openxmlformats.org/drawingml/2006/table">
            <a:tbl>
              <a:tblPr/>
              <a:tblGrid>
                <a:gridCol w="27432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5943600">
                  <a:extLst>
                    <a:ext uri="{9D8B030D-6E8A-4147-A177-3AD203B41FA5}">
                      <a16:colId xmlns:a16="http://schemas.microsoft.com/office/drawing/2014/main" val="20004"/>
                    </a:ext>
                  </a:extLst>
                </a:gridCol>
              </a:tblGrid>
              <a:tr h="42062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Adversary Capability</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Volt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Salt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Coverage Layer</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Why This Layer Owns It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42062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Edge-device CVE exploitation</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F26B1F"/>
                          </a:solidFill>
                        </a:rPr>
                        <a:t>RIGOR</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Configuration is the gap — formal verification proves the patch/inspection profile is enforced</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050" dirty="0">
                          <a:solidFill>
                            <a:srgbClr val="000000"/>
                          </a:solidFill>
                        </a:rPr>
                        <a:t>Misconfigured / shadowed firewall rules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F26B1F"/>
                          </a:solidFill>
                        </a:rPr>
                        <a:t>RIGOR</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Mathematical model finds shadows, conflicts, weak rules across multi-vendor estates</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20624">
                <a:tc>
                  <a:txBody>
                    <a:bodyPr/>
                    <a:lstStyle/>
                    <a:p>
                      <a:pPr marL="0" indent="0">
                        <a:buNone/>
                      </a:pPr>
                      <a:r>
                        <a:rPr lang="en-US" sz="1050" dirty="0">
                          <a:solidFill>
                            <a:srgbClr val="000000"/>
                          </a:solidFill>
                        </a:rPr>
                        <a:t>Router ACL tampering / config drift</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F26B1F"/>
                          </a:solidFill>
                        </a:rPr>
                        <a:t>RIGOR</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Configuration Drift use case re-verifies live state vs. approved baseline continuously</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050" dirty="0">
                          <a:solidFill>
                            <a:srgbClr val="000000"/>
                          </a:solidFill>
                        </a:rPr>
                        <a:t>C2 to known malicious infrastructure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2E7D32"/>
                          </a:solidFill>
                        </a:rPr>
                        <a:t>BOTH</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Rigor blocks known threat-feed IPs/domains; ACECARD c2_beaconing concept catches new infra</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420624">
                <a:tc>
                  <a:txBody>
                    <a:bodyPr/>
                    <a:lstStyle/>
                    <a:p>
                      <a:pPr marL="0" indent="0">
                        <a:buNone/>
                      </a:pPr>
                      <a:r>
                        <a:rPr lang="en-US" sz="1050" dirty="0">
                          <a:solidFill>
                            <a:srgbClr val="000000"/>
                          </a:solidFill>
                        </a:rPr>
                        <a:t>Compromised valid accounts (T1078)</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Traffic is policy-allowed; only behavioral drift (cohort z, cosine pivot) reveals abuse</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050" dirty="0">
                          <a:solidFill>
                            <a:srgbClr val="000000"/>
                          </a:solidFill>
                        </a:rPr>
                        <a:t>Living-off-the-Land (T1059, ntdsutil)</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lotl_execution concept catches LOLBin chain — process signal embedding shifts</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420624">
                <a:tc>
                  <a:txBody>
                    <a:bodyPr/>
                    <a:lstStyle/>
                    <a:p>
                      <a:pPr marL="0" indent="0">
                        <a:buNone/>
                      </a:pPr>
                      <a:r>
                        <a:rPr lang="en-US" sz="1050" dirty="0">
                          <a:solidFill>
                            <a:srgbClr val="000000"/>
                          </a:solidFill>
                        </a:rPr>
                        <a:t>Cross-domain lateral movement</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Composite Digital Signature joins identity across AD/AAD/AWS/Okta/K8s — one trajectory</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r h="420624">
                <a:tc>
                  <a:txBody>
                    <a:bodyPr/>
                    <a:lstStyle/>
                    <a:p>
                      <a:pPr marL="0" indent="0">
                        <a:buNone/>
                      </a:pPr>
                      <a:r>
                        <a:rPr lang="en-US" sz="1050" dirty="0">
                          <a:solidFill>
                            <a:srgbClr val="000000"/>
                          </a:solidFill>
                        </a:rPr>
                        <a:t>Slow lateral movement (months)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CUSUM 4σ surfaces gradual structural shifts; trajectory chain detects log scrubbing</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r h="420624">
                <a:tc>
                  <a:txBody>
                    <a:bodyPr/>
                    <a:lstStyle/>
                    <a:p>
                      <a:pPr marL="0" indent="0">
                        <a:buNone/>
                      </a:pPr>
                      <a:r>
                        <a:rPr lang="en-US" sz="1050" dirty="0">
                          <a:solidFill>
                            <a:srgbClr val="000000"/>
                          </a:solidFill>
                        </a:rPr>
                        <a:t>Zero-day / unknown TTPs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By definition not in MITRE yet — only behavioral anomaly flags deviation from normal</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9"/>
                  </a:ext>
                </a:extLst>
              </a:tr>
              <a:tr h="420624">
                <a:tc>
                  <a:txBody>
                    <a:bodyPr/>
                    <a:lstStyle/>
                    <a:p>
                      <a:pPr marL="0" indent="0">
                        <a:buNone/>
                      </a:pPr>
                      <a:r>
                        <a:rPr lang="en-US" sz="1050" dirty="0">
                          <a:solidFill>
                            <a:srgbClr val="000000"/>
                          </a:solidFill>
                        </a:rPr>
                        <a:t>Insider threat / data hoarding</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insider_data_hoarding concept (T1074) — peer cohort z-score catches outlier behavior</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10"/>
                  </a:ext>
                </a:extLst>
              </a:tr>
            </a:tbl>
          </a:graphicData>
        </a:graphic>
      </p:graphicFrame>
      <p:sp>
        <p:nvSpPr>
          <p:cNvPr id="8" name="Text 5"/>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 = primary technique  ○ = occasional  |  Coverage column shows which layer owns the control. BOTH = layered defense</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COMPLEMENTARY TOOLS  —  THE FULL STACK</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Complementary Tools: What Rounds Out Defense-in-Depth</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Rigor + ACECARD is the core. These technologies close the residual gaps and amplify the value of both layers.</a:t>
            </a:r>
            <a:endParaRPr lang="en-US" sz="1300" dirty="0"/>
          </a:p>
        </p:txBody>
      </p:sp>
      <p:sp>
        <p:nvSpPr>
          <p:cNvPr id="7" name="Shape 5"/>
          <p:cNvSpPr/>
          <p:nvPr/>
        </p:nvSpPr>
        <p:spPr>
          <a:xfrm>
            <a:off x="45720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8" name="Shape 6"/>
          <p:cNvSpPr/>
          <p:nvPr/>
        </p:nvSpPr>
        <p:spPr>
          <a:xfrm>
            <a:off x="457200" y="1371600"/>
            <a:ext cx="3703320" cy="292608"/>
          </a:xfrm>
          <a:prstGeom prst="rect">
            <a:avLst/>
          </a:prstGeom>
          <a:solidFill>
            <a:srgbClr val="F26B1F"/>
          </a:solidFill>
          <a:ln/>
        </p:spPr>
        <p:txBody>
          <a:bodyPr/>
          <a:lstStyle/>
          <a:p>
            <a:endParaRPr lang="en-US"/>
          </a:p>
        </p:txBody>
      </p:sp>
      <p:sp>
        <p:nvSpPr>
          <p:cNvPr id="9" name="Text 7"/>
          <p:cNvSpPr/>
          <p:nvPr/>
        </p:nvSpPr>
        <p:spPr>
          <a:xfrm>
            <a:off x="56692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ENDPOINT (EDR/XDR)</a:t>
            </a:r>
            <a:endParaRPr lang="en-US" sz="1050" dirty="0"/>
          </a:p>
        </p:txBody>
      </p:sp>
      <p:sp>
        <p:nvSpPr>
          <p:cNvPr id="10" name="Text 8"/>
          <p:cNvSpPr/>
          <p:nvPr/>
        </p:nvSpPr>
        <p:spPr>
          <a:xfrm>
            <a:off x="594360" y="171907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CrowdStrike Falcon · Microsoft Defender for Endpoint · SentinelOne · Palo Alto Cortex XDR</a:t>
            </a:r>
            <a:endParaRPr lang="en-US" sz="850" dirty="0"/>
          </a:p>
        </p:txBody>
      </p:sp>
      <p:sp>
        <p:nvSpPr>
          <p:cNvPr id="11" name="Text 9"/>
          <p:cNvSpPr/>
          <p:nvPr/>
        </p:nvSpPr>
        <p:spPr>
          <a:xfrm>
            <a:off x="59436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In-memory LOTL detection, process tree analysis, real-time blocking. Catches Volt Typhoon's wmic/ntdsutil execution at the binary layer.</a:t>
            </a:r>
            <a:endParaRPr lang="en-US" sz="900" dirty="0"/>
          </a:p>
        </p:txBody>
      </p:sp>
      <p:sp>
        <p:nvSpPr>
          <p:cNvPr id="12" name="Text 10"/>
          <p:cNvSpPr/>
          <p:nvPr/>
        </p:nvSpPr>
        <p:spPr>
          <a:xfrm>
            <a:off x="59436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Feeds Sysmon EID 1/3 + EDR ProcessRollup into ACECARD's process signal. Rigor verifies EDR is enabled and policies are correctly deployed across all endpoints.</a:t>
            </a:r>
            <a:endParaRPr lang="en-US" sz="850" dirty="0"/>
          </a:p>
        </p:txBody>
      </p:sp>
      <p:sp>
        <p:nvSpPr>
          <p:cNvPr id="13" name="Shape 11"/>
          <p:cNvSpPr/>
          <p:nvPr/>
        </p:nvSpPr>
        <p:spPr>
          <a:xfrm>
            <a:off x="429768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14" name="Shape 12"/>
          <p:cNvSpPr/>
          <p:nvPr/>
        </p:nvSpPr>
        <p:spPr>
          <a:xfrm>
            <a:off x="4297680" y="1371600"/>
            <a:ext cx="3703320" cy="292608"/>
          </a:xfrm>
          <a:prstGeom prst="rect">
            <a:avLst/>
          </a:prstGeom>
          <a:solidFill>
            <a:srgbClr val="F26B1F"/>
          </a:solidFill>
          <a:ln/>
        </p:spPr>
        <p:txBody>
          <a:bodyPr/>
          <a:lstStyle/>
          <a:p>
            <a:endParaRPr lang="en-US"/>
          </a:p>
        </p:txBody>
      </p:sp>
      <p:sp>
        <p:nvSpPr>
          <p:cNvPr id="15" name="Text 13"/>
          <p:cNvSpPr/>
          <p:nvPr/>
        </p:nvSpPr>
        <p:spPr>
          <a:xfrm>
            <a:off x="440740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EMAIL &amp; PHISHING</a:t>
            </a:r>
            <a:endParaRPr lang="en-US" sz="1050" dirty="0"/>
          </a:p>
        </p:txBody>
      </p:sp>
      <p:sp>
        <p:nvSpPr>
          <p:cNvPr id="16" name="Text 14"/>
          <p:cNvSpPr/>
          <p:nvPr/>
        </p:nvSpPr>
        <p:spPr>
          <a:xfrm>
            <a:off x="4434840" y="171907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Proofpoint · Microsoft Defender for Office 365 · Mimecast · Abnormal Security</a:t>
            </a:r>
            <a:endParaRPr lang="en-US" sz="850" dirty="0"/>
          </a:p>
        </p:txBody>
      </p:sp>
      <p:sp>
        <p:nvSpPr>
          <p:cNvPr id="17" name="Text 15"/>
          <p:cNvSpPr/>
          <p:nvPr/>
        </p:nvSpPr>
        <p:spPr>
          <a:xfrm>
            <a:off x="443484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Email is a primary initial-access vector outside Rigor's NGFW pillar today. Phishing-resistant MFA + email security closes the gap.</a:t>
            </a:r>
            <a:endParaRPr lang="en-US" sz="900" dirty="0"/>
          </a:p>
        </p:txBody>
      </p:sp>
      <p:sp>
        <p:nvSpPr>
          <p:cNvPr id="18" name="Text 16"/>
          <p:cNvSpPr/>
          <p:nvPr/>
        </p:nvSpPr>
        <p:spPr>
          <a:xfrm>
            <a:off x="443484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Sender authentication, link rewriting, sandbox detonation. Telemetry feeds ACECARD's identity signal (auth from compromised mailboxes).</a:t>
            </a:r>
            <a:endParaRPr lang="en-US" sz="850" dirty="0"/>
          </a:p>
        </p:txBody>
      </p:sp>
      <p:sp>
        <p:nvSpPr>
          <p:cNvPr id="19" name="Shape 17"/>
          <p:cNvSpPr/>
          <p:nvPr/>
        </p:nvSpPr>
        <p:spPr>
          <a:xfrm>
            <a:off x="813816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20" name="Shape 18"/>
          <p:cNvSpPr/>
          <p:nvPr/>
        </p:nvSpPr>
        <p:spPr>
          <a:xfrm>
            <a:off x="8138160" y="1371600"/>
            <a:ext cx="3703320" cy="292608"/>
          </a:xfrm>
          <a:prstGeom prst="rect">
            <a:avLst/>
          </a:prstGeom>
          <a:solidFill>
            <a:srgbClr val="1C7293"/>
          </a:solidFill>
          <a:ln/>
        </p:spPr>
        <p:txBody>
          <a:bodyPr/>
          <a:lstStyle/>
          <a:p>
            <a:endParaRPr lang="en-US"/>
          </a:p>
        </p:txBody>
      </p:sp>
      <p:sp>
        <p:nvSpPr>
          <p:cNvPr id="21" name="Text 19"/>
          <p:cNvSpPr/>
          <p:nvPr/>
        </p:nvSpPr>
        <p:spPr>
          <a:xfrm>
            <a:off x="824788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NETWORK DETECTION (NDR)</a:t>
            </a:r>
            <a:endParaRPr lang="en-US" sz="1050" dirty="0"/>
          </a:p>
        </p:txBody>
      </p:sp>
      <p:sp>
        <p:nvSpPr>
          <p:cNvPr id="22" name="Text 20"/>
          <p:cNvSpPr/>
          <p:nvPr/>
        </p:nvSpPr>
        <p:spPr>
          <a:xfrm>
            <a:off x="8275320" y="171907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Vectra AI · ExtraHop · Darktrace · Corelight (Zeek)</a:t>
            </a:r>
            <a:endParaRPr lang="en-US" sz="850" dirty="0"/>
          </a:p>
        </p:txBody>
      </p:sp>
      <p:sp>
        <p:nvSpPr>
          <p:cNvPr id="23" name="Text 21"/>
          <p:cNvSpPr/>
          <p:nvPr/>
        </p:nvSpPr>
        <p:spPr>
          <a:xfrm>
            <a:off x="827532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East-west packet inspection. Spots GRE tunnel anomalies, beacon timing patterns, encrypted C2 — before they reach the embedding layer.</a:t>
            </a:r>
            <a:endParaRPr lang="en-US" sz="900" dirty="0"/>
          </a:p>
        </p:txBody>
      </p:sp>
      <p:sp>
        <p:nvSpPr>
          <p:cNvPr id="24" name="Text 22"/>
          <p:cNvSpPr/>
          <p:nvPr/>
        </p:nvSpPr>
        <p:spPr>
          <a:xfrm>
            <a:off x="827532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Zeek conn.log + dns.log feed ACECARD's network signal. Vectra detections raise Rigor's threat-feed coverage in real time.</a:t>
            </a:r>
            <a:endParaRPr lang="en-US" sz="850" dirty="0"/>
          </a:p>
        </p:txBody>
      </p:sp>
      <p:sp>
        <p:nvSpPr>
          <p:cNvPr id="25" name="Shape 23"/>
          <p:cNvSpPr/>
          <p:nvPr/>
        </p:nvSpPr>
        <p:spPr>
          <a:xfrm>
            <a:off x="45720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26" name="Shape 24"/>
          <p:cNvSpPr/>
          <p:nvPr/>
        </p:nvSpPr>
        <p:spPr>
          <a:xfrm>
            <a:off x="457200" y="3017520"/>
            <a:ext cx="3703320" cy="292608"/>
          </a:xfrm>
          <a:prstGeom prst="rect">
            <a:avLst/>
          </a:prstGeom>
          <a:solidFill>
            <a:srgbClr val="1C7293"/>
          </a:solidFill>
          <a:ln/>
        </p:spPr>
        <p:txBody>
          <a:bodyPr/>
          <a:lstStyle/>
          <a:p>
            <a:endParaRPr lang="en-US"/>
          </a:p>
        </p:txBody>
      </p:sp>
      <p:sp>
        <p:nvSpPr>
          <p:cNvPr id="27" name="Text 25"/>
          <p:cNvSpPr/>
          <p:nvPr/>
        </p:nvSpPr>
        <p:spPr>
          <a:xfrm>
            <a:off x="56692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SIEM &amp; DATA FABRIC</a:t>
            </a:r>
            <a:endParaRPr lang="en-US" sz="1050" dirty="0"/>
          </a:p>
        </p:txBody>
      </p:sp>
      <p:sp>
        <p:nvSpPr>
          <p:cNvPr id="28" name="Text 26"/>
          <p:cNvSpPr/>
          <p:nvPr/>
        </p:nvSpPr>
        <p:spPr>
          <a:xfrm>
            <a:off x="594360" y="336499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Splunk · Microsoft Sentinel · Google Chronicle · Elastic Security</a:t>
            </a:r>
            <a:endParaRPr lang="en-US" sz="850" dirty="0"/>
          </a:p>
        </p:txBody>
      </p:sp>
      <p:sp>
        <p:nvSpPr>
          <p:cNvPr id="29" name="Text 27"/>
          <p:cNvSpPr/>
          <p:nvPr/>
        </p:nvSpPr>
        <p:spPr>
          <a:xfrm>
            <a:off x="59436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Log aggregation, correlation, long-term retention. The substrate ACECARD reads from and Rigor cross-references for evidence.</a:t>
            </a:r>
            <a:endParaRPr lang="en-US" sz="900" dirty="0"/>
          </a:p>
        </p:txBody>
      </p:sp>
      <p:sp>
        <p:nvSpPr>
          <p:cNvPr id="30" name="Text 28"/>
          <p:cNvSpPr/>
          <p:nvPr/>
        </p:nvSpPr>
        <p:spPr>
          <a:xfrm>
            <a:off x="59436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ECS / OCSF / STIX 2.1 normalized ingestion. ACECARD outputs Sigma-compatible alerts directly into the SIEM.</a:t>
            </a:r>
            <a:endParaRPr lang="en-US" sz="850" dirty="0"/>
          </a:p>
        </p:txBody>
      </p:sp>
      <p:sp>
        <p:nvSpPr>
          <p:cNvPr id="31" name="Shape 29"/>
          <p:cNvSpPr/>
          <p:nvPr/>
        </p:nvSpPr>
        <p:spPr>
          <a:xfrm>
            <a:off x="429768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32" name="Shape 30"/>
          <p:cNvSpPr/>
          <p:nvPr/>
        </p:nvSpPr>
        <p:spPr>
          <a:xfrm>
            <a:off x="4297680" y="3017520"/>
            <a:ext cx="3703320" cy="292608"/>
          </a:xfrm>
          <a:prstGeom prst="rect">
            <a:avLst/>
          </a:prstGeom>
          <a:solidFill>
            <a:srgbClr val="1C7293"/>
          </a:solidFill>
          <a:ln/>
        </p:spPr>
        <p:txBody>
          <a:bodyPr/>
          <a:lstStyle/>
          <a:p>
            <a:endParaRPr lang="en-US"/>
          </a:p>
        </p:txBody>
      </p:sp>
      <p:sp>
        <p:nvSpPr>
          <p:cNvPr id="33" name="Text 31"/>
          <p:cNvSpPr/>
          <p:nvPr/>
        </p:nvSpPr>
        <p:spPr>
          <a:xfrm>
            <a:off x="440740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SOAR &amp; RESPONSE</a:t>
            </a:r>
            <a:endParaRPr lang="en-US" sz="1050" dirty="0"/>
          </a:p>
        </p:txBody>
      </p:sp>
      <p:sp>
        <p:nvSpPr>
          <p:cNvPr id="34" name="Text 32"/>
          <p:cNvSpPr/>
          <p:nvPr/>
        </p:nvSpPr>
        <p:spPr>
          <a:xfrm>
            <a:off x="4434840" y="336499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Palo Alto XSOAR · Splunk SOAR · Tines · Torq</a:t>
            </a:r>
            <a:endParaRPr lang="en-US" sz="850" dirty="0"/>
          </a:p>
        </p:txBody>
      </p:sp>
      <p:sp>
        <p:nvSpPr>
          <p:cNvPr id="35" name="Text 33"/>
          <p:cNvSpPr/>
          <p:nvPr/>
        </p:nvSpPr>
        <p:spPr>
          <a:xfrm>
            <a:off x="443484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Automated playbook execution. Receives ACECARD alerts (with MITRE IDs + ABAC trust state) and orchestrates response.</a:t>
            </a:r>
            <a:endParaRPr lang="en-US" sz="900" dirty="0"/>
          </a:p>
        </p:txBody>
      </p:sp>
      <p:sp>
        <p:nvSpPr>
          <p:cNvPr id="36" name="Text 34"/>
          <p:cNvSpPr/>
          <p:nvPr/>
        </p:nvSpPr>
        <p:spPr>
          <a:xfrm>
            <a:off x="443484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Rigor pushes config-fix tickets via ServiceNow/JIRA. ACECARD alerts trigger ABAC enforcement + EDR isolation through SOAR.</a:t>
            </a:r>
            <a:endParaRPr lang="en-US" sz="850" dirty="0"/>
          </a:p>
        </p:txBody>
      </p:sp>
      <p:sp>
        <p:nvSpPr>
          <p:cNvPr id="37" name="Shape 35"/>
          <p:cNvSpPr/>
          <p:nvPr/>
        </p:nvSpPr>
        <p:spPr>
          <a:xfrm>
            <a:off x="813816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38" name="Shape 36"/>
          <p:cNvSpPr/>
          <p:nvPr/>
        </p:nvSpPr>
        <p:spPr>
          <a:xfrm>
            <a:off x="8138160" y="3017520"/>
            <a:ext cx="3703320" cy="292608"/>
          </a:xfrm>
          <a:prstGeom prst="rect">
            <a:avLst/>
          </a:prstGeom>
          <a:solidFill>
            <a:srgbClr val="F26B1F"/>
          </a:solidFill>
          <a:ln/>
        </p:spPr>
        <p:txBody>
          <a:bodyPr/>
          <a:lstStyle/>
          <a:p>
            <a:endParaRPr lang="en-US"/>
          </a:p>
        </p:txBody>
      </p:sp>
      <p:sp>
        <p:nvSpPr>
          <p:cNvPr id="39" name="Text 37"/>
          <p:cNvSpPr/>
          <p:nvPr/>
        </p:nvSpPr>
        <p:spPr>
          <a:xfrm>
            <a:off x="824788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IDENTITY &amp; ZTNA</a:t>
            </a:r>
            <a:endParaRPr lang="en-US" sz="1050" dirty="0"/>
          </a:p>
        </p:txBody>
      </p:sp>
      <p:sp>
        <p:nvSpPr>
          <p:cNvPr id="40" name="Text 38"/>
          <p:cNvSpPr/>
          <p:nvPr/>
        </p:nvSpPr>
        <p:spPr>
          <a:xfrm>
            <a:off x="8275320" y="336499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Okta · Microsoft Entra ID · Ping · Zscaler · CrowdStrike Falcon Identity Protection</a:t>
            </a:r>
            <a:endParaRPr lang="en-US" sz="850" dirty="0"/>
          </a:p>
        </p:txBody>
      </p:sp>
      <p:sp>
        <p:nvSpPr>
          <p:cNvPr id="41" name="Text 39"/>
          <p:cNvSpPr/>
          <p:nvPr/>
        </p:nvSpPr>
        <p:spPr>
          <a:xfrm>
            <a:off x="827532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Phishing-resistant MFA, conditional access, just-in-time privilege. Reduces blast radius of stolen credentials.</a:t>
            </a:r>
            <a:endParaRPr lang="en-US" sz="900" dirty="0"/>
          </a:p>
        </p:txBody>
      </p:sp>
      <p:sp>
        <p:nvSpPr>
          <p:cNvPr id="42" name="Text 40"/>
          <p:cNvSpPr/>
          <p:nvPr/>
        </p:nvSpPr>
        <p:spPr>
          <a:xfrm>
            <a:off x="827532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Step-up MFA driven by ACECARD's ABAC trust state. Rigor verifies IdP policies are correctly enforced across all federated apps.</a:t>
            </a:r>
            <a:endParaRPr lang="en-US" sz="850" dirty="0"/>
          </a:p>
        </p:txBody>
      </p:sp>
      <p:sp>
        <p:nvSpPr>
          <p:cNvPr id="43" name="Shape 41"/>
          <p:cNvSpPr/>
          <p:nvPr/>
        </p:nvSpPr>
        <p:spPr>
          <a:xfrm>
            <a:off x="45720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44" name="Shape 42"/>
          <p:cNvSpPr/>
          <p:nvPr/>
        </p:nvSpPr>
        <p:spPr>
          <a:xfrm>
            <a:off x="457200" y="4663440"/>
            <a:ext cx="3703320" cy="292608"/>
          </a:xfrm>
          <a:prstGeom prst="rect">
            <a:avLst/>
          </a:prstGeom>
          <a:solidFill>
            <a:srgbClr val="5E2E8C"/>
          </a:solidFill>
          <a:ln/>
        </p:spPr>
        <p:txBody>
          <a:bodyPr/>
          <a:lstStyle/>
          <a:p>
            <a:endParaRPr lang="en-US"/>
          </a:p>
        </p:txBody>
      </p:sp>
      <p:sp>
        <p:nvSpPr>
          <p:cNvPr id="45" name="Text 43"/>
          <p:cNvSpPr/>
          <p:nvPr/>
        </p:nvSpPr>
        <p:spPr>
          <a:xfrm>
            <a:off x="56692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OT/ICS SECURITY</a:t>
            </a:r>
            <a:endParaRPr lang="en-US" sz="1050" dirty="0"/>
          </a:p>
        </p:txBody>
      </p:sp>
      <p:sp>
        <p:nvSpPr>
          <p:cNvPr id="46" name="Text 44"/>
          <p:cNvSpPr/>
          <p:nvPr/>
        </p:nvSpPr>
        <p:spPr>
          <a:xfrm>
            <a:off x="59436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Dragos · Claroty · Nozomi Networks · TXOne</a:t>
            </a:r>
            <a:endParaRPr lang="en-US" sz="850" dirty="0"/>
          </a:p>
        </p:txBody>
      </p:sp>
      <p:sp>
        <p:nvSpPr>
          <p:cNvPr id="47" name="Text 45"/>
          <p:cNvSpPr/>
          <p:nvPr/>
        </p:nvSpPr>
        <p:spPr>
          <a:xfrm>
            <a:off x="59436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Critical for Volt Typhoon's utility/transport/water targets. Specialized OT protocol awareness (Modbus, DNP3, IEC-104).</a:t>
            </a:r>
            <a:endParaRPr lang="en-US" sz="900" dirty="0"/>
          </a:p>
        </p:txBody>
      </p:sp>
      <p:sp>
        <p:nvSpPr>
          <p:cNvPr id="48" name="Text 46"/>
          <p:cNvSpPr/>
          <p:nvPr/>
        </p:nvSpPr>
        <p:spPr>
          <a:xfrm>
            <a:off x="594360" y="583387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Rigor models the IT/OT boundary as a verified segmentation domain. OT alerts feed ACECARD as a specialized signal stream.</a:t>
            </a:r>
            <a:endParaRPr lang="en-US" sz="850" dirty="0"/>
          </a:p>
        </p:txBody>
      </p:sp>
      <p:sp>
        <p:nvSpPr>
          <p:cNvPr id="49" name="Shape 47"/>
          <p:cNvSpPr/>
          <p:nvPr/>
        </p:nvSpPr>
        <p:spPr>
          <a:xfrm>
            <a:off x="429768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50" name="Shape 48"/>
          <p:cNvSpPr/>
          <p:nvPr/>
        </p:nvSpPr>
        <p:spPr>
          <a:xfrm>
            <a:off x="4297680" y="4663440"/>
            <a:ext cx="3703320" cy="292608"/>
          </a:xfrm>
          <a:prstGeom prst="rect">
            <a:avLst/>
          </a:prstGeom>
          <a:solidFill>
            <a:srgbClr val="5E2E8C"/>
          </a:solidFill>
          <a:ln/>
        </p:spPr>
        <p:txBody>
          <a:bodyPr/>
          <a:lstStyle/>
          <a:p>
            <a:endParaRPr lang="en-US"/>
          </a:p>
        </p:txBody>
      </p:sp>
      <p:sp>
        <p:nvSpPr>
          <p:cNvPr id="51" name="Text 49"/>
          <p:cNvSpPr/>
          <p:nvPr/>
        </p:nvSpPr>
        <p:spPr>
          <a:xfrm>
            <a:off x="440740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DECEPTION &amp; HONEYPOTS</a:t>
            </a:r>
            <a:endParaRPr lang="en-US" sz="1050" dirty="0"/>
          </a:p>
        </p:txBody>
      </p:sp>
      <p:sp>
        <p:nvSpPr>
          <p:cNvPr id="52" name="Text 50"/>
          <p:cNvSpPr/>
          <p:nvPr/>
        </p:nvSpPr>
        <p:spPr>
          <a:xfrm>
            <a:off x="443484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Thinkst Canary · Acalvio · Illusive (now Proofpoint)</a:t>
            </a:r>
            <a:endParaRPr lang="en-US" sz="850" dirty="0"/>
          </a:p>
        </p:txBody>
      </p:sp>
      <p:sp>
        <p:nvSpPr>
          <p:cNvPr id="53" name="Text 51"/>
          <p:cNvSpPr/>
          <p:nvPr/>
        </p:nvSpPr>
        <p:spPr>
          <a:xfrm>
            <a:off x="443484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High-fidelity tripwires for lateral movement. Any interaction is anomalous by definition. Catches LOTL after preemption is bypassed.</a:t>
            </a:r>
            <a:endParaRPr lang="en-US" sz="900" dirty="0"/>
          </a:p>
        </p:txBody>
      </p:sp>
      <p:sp>
        <p:nvSpPr>
          <p:cNvPr id="54" name="Text 52"/>
          <p:cNvSpPr/>
          <p:nvPr/>
        </p:nvSpPr>
        <p:spPr>
          <a:xfrm>
            <a:off x="4434840" y="583387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Canary alerts → ACECARD as an INFO signal that becomes CRITICAL when correlated with drift. Rigor verifies canary placement coverage.</a:t>
            </a:r>
            <a:endParaRPr lang="en-US" sz="850" dirty="0"/>
          </a:p>
        </p:txBody>
      </p:sp>
      <p:sp>
        <p:nvSpPr>
          <p:cNvPr id="55" name="Shape 53"/>
          <p:cNvSpPr/>
          <p:nvPr/>
        </p:nvSpPr>
        <p:spPr>
          <a:xfrm>
            <a:off x="813816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56" name="Shape 54"/>
          <p:cNvSpPr/>
          <p:nvPr/>
        </p:nvSpPr>
        <p:spPr>
          <a:xfrm>
            <a:off x="8138160" y="4663440"/>
            <a:ext cx="3703320" cy="292608"/>
          </a:xfrm>
          <a:prstGeom prst="rect">
            <a:avLst/>
          </a:prstGeom>
          <a:solidFill>
            <a:srgbClr val="5E2E8C"/>
          </a:solidFill>
          <a:ln/>
        </p:spPr>
        <p:txBody>
          <a:bodyPr/>
          <a:lstStyle/>
          <a:p>
            <a:endParaRPr lang="en-US"/>
          </a:p>
        </p:txBody>
      </p:sp>
      <p:sp>
        <p:nvSpPr>
          <p:cNvPr id="57" name="Text 55"/>
          <p:cNvSpPr/>
          <p:nvPr/>
        </p:nvSpPr>
        <p:spPr>
          <a:xfrm>
            <a:off x="824788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THREAT INTELLIGENCE</a:t>
            </a:r>
            <a:endParaRPr lang="en-US" sz="1050" dirty="0"/>
          </a:p>
        </p:txBody>
      </p:sp>
      <p:sp>
        <p:nvSpPr>
          <p:cNvPr id="58" name="Text 56"/>
          <p:cNvSpPr/>
          <p:nvPr/>
        </p:nvSpPr>
        <p:spPr>
          <a:xfrm>
            <a:off x="827532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Mandiant · Recorded Future · CrowdStrike Falcon Intelligence · Microsoft Threat Intelligence</a:t>
            </a:r>
            <a:endParaRPr lang="en-US" sz="850" dirty="0"/>
          </a:p>
        </p:txBody>
      </p:sp>
      <p:sp>
        <p:nvSpPr>
          <p:cNvPr id="59" name="Text 57"/>
          <p:cNvSpPr/>
          <p:nvPr/>
        </p:nvSpPr>
        <p:spPr>
          <a:xfrm>
            <a:off x="827532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Authoritative IOC + TTP feeds. CISA AA24-038A, AA25-239A, vendor PSIRTs. Drives Rigor's threat-modeling layer.</a:t>
            </a:r>
            <a:endParaRPr lang="en-US" sz="900" dirty="0"/>
          </a:p>
        </p:txBody>
      </p:sp>
      <p:sp>
        <p:nvSpPr>
          <p:cNvPr id="60" name="Text 58"/>
          <p:cNvSpPr/>
          <p:nvPr/>
        </p:nvSpPr>
        <p:spPr>
          <a:xfrm>
            <a:off x="8275320" y="583387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STIX 2.1 ingestion into Rigor's Attack Intel. Threat-actor TTP graphs become formal model inputs. ACECARD pre-loads campaign replay scenarios.</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REFERENCE ARCHITECTURE  —  END-TO-END STACK</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Reference Architecture: Comprehensive Defense Stack</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Five layers. Every layer has a job. Rigor + ACECARD are the connective tissue.</a:t>
            </a:r>
            <a:endParaRPr lang="en-US" sz="1300" dirty="0"/>
          </a:p>
        </p:txBody>
      </p:sp>
      <p:sp>
        <p:nvSpPr>
          <p:cNvPr id="7" name="Shape 5"/>
          <p:cNvSpPr/>
          <p:nvPr/>
        </p:nvSpPr>
        <p:spPr>
          <a:xfrm>
            <a:off x="457200" y="1325880"/>
            <a:ext cx="11247120" cy="777240"/>
          </a:xfrm>
          <a:prstGeom prst="rect">
            <a:avLst/>
          </a:prstGeom>
          <a:solidFill>
            <a:srgbClr val="F5F0FA"/>
          </a:solidFill>
          <a:ln w="12700">
            <a:solidFill>
              <a:srgbClr val="5E2E8C"/>
            </a:solidFill>
            <a:prstDash val="solid"/>
          </a:ln>
        </p:spPr>
        <p:txBody>
          <a:bodyPr/>
          <a:lstStyle/>
          <a:p>
            <a:endParaRPr lang="en-US"/>
          </a:p>
        </p:txBody>
      </p:sp>
      <p:sp>
        <p:nvSpPr>
          <p:cNvPr id="8" name="Shape 6"/>
          <p:cNvSpPr/>
          <p:nvPr/>
        </p:nvSpPr>
        <p:spPr>
          <a:xfrm>
            <a:off x="457200" y="1325880"/>
            <a:ext cx="2194560" cy="777240"/>
          </a:xfrm>
          <a:prstGeom prst="rect">
            <a:avLst/>
          </a:prstGeom>
          <a:solidFill>
            <a:srgbClr val="5E2E8C"/>
          </a:solidFill>
          <a:ln/>
        </p:spPr>
        <p:txBody>
          <a:bodyPr/>
          <a:lstStyle/>
          <a:p>
            <a:endParaRPr lang="en-US"/>
          </a:p>
        </p:txBody>
      </p:sp>
      <p:sp>
        <p:nvSpPr>
          <p:cNvPr id="9" name="Text 7"/>
          <p:cNvSpPr/>
          <p:nvPr/>
        </p:nvSpPr>
        <p:spPr>
          <a:xfrm>
            <a:off x="548640" y="132588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1 · THREAT INTELLIGENCE</a:t>
            </a:r>
            <a:endParaRPr lang="en-US" sz="1100" dirty="0"/>
          </a:p>
        </p:txBody>
      </p:sp>
      <p:sp>
        <p:nvSpPr>
          <p:cNvPr id="10" name="Shape 8"/>
          <p:cNvSpPr/>
          <p:nvPr/>
        </p:nvSpPr>
        <p:spPr>
          <a:xfrm>
            <a:off x="269748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1" name="Text 9"/>
          <p:cNvSpPr/>
          <p:nvPr/>
        </p:nvSpPr>
        <p:spPr>
          <a:xfrm>
            <a:off x="274320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CISA / NSA / FBI
</a:t>
            </a:r>
            <a:r>
              <a:rPr lang="en-US" sz="750" dirty="0">
                <a:solidFill>
                  <a:srgbClr val="5A6878"/>
                </a:solidFill>
                <a:latin typeface="Calibri" pitchFamily="34" charset="0"/>
                <a:ea typeface="Calibri" pitchFamily="34" charset="-122"/>
                <a:cs typeface="Calibri" pitchFamily="34" charset="-120"/>
              </a:rPr>
              <a:t>AA24-038A · AA25-239A · TTP graphs</a:t>
            </a:r>
            <a:endParaRPr lang="en-US" sz="900" dirty="0"/>
          </a:p>
        </p:txBody>
      </p:sp>
      <p:sp>
        <p:nvSpPr>
          <p:cNvPr id="12" name="Shape 10"/>
          <p:cNvSpPr/>
          <p:nvPr/>
        </p:nvSpPr>
        <p:spPr>
          <a:xfrm>
            <a:off x="491490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3" name="Text 11"/>
          <p:cNvSpPr/>
          <p:nvPr/>
        </p:nvSpPr>
        <p:spPr>
          <a:xfrm>
            <a:off x="496062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Vendor PSIRTs
</a:t>
            </a:r>
            <a:r>
              <a:rPr lang="en-US" sz="750" dirty="0">
                <a:solidFill>
                  <a:srgbClr val="5A6878"/>
                </a:solidFill>
                <a:latin typeface="Calibri" pitchFamily="34" charset="0"/>
                <a:ea typeface="Calibri" pitchFamily="34" charset="-122"/>
                <a:cs typeface="Calibri" pitchFamily="34" charset="-120"/>
              </a:rPr>
              <a:t>Cisco · PAN · Fortinet · Ivanti</a:t>
            </a:r>
            <a:endParaRPr lang="en-US" sz="900" dirty="0"/>
          </a:p>
        </p:txBody>
      </p:sp>
      <p:sp>
        <p:nvSpPr>
          <p:cNvPr id="14" name="Shape 12"/>
          <p:cNvSpPr/>
          <p:nvPr/>
        </p:nvSpPr>
        <p:spPr>
          <a:xfrm>
            <a:off x="713232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5" name="Text 13"/>
          <p:cNvSpPr/>
          <p:nvPr/>
        </p:nvSpPr>
        <p:spPr>
          <a:xfrm>
            <a:off x="717804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Commercial CTI
</a:t>
            </a:r>
            <a:r>
              <a:rPr lang="en-US" sz="750" dirty="0">
                <a:solidFill>
                  <a:srgbClr val="5A6878"/>
                </a:solidFill>
                <a:latin typeface="Calibri" pitchFamily="34" charset="0"/>
                <a:ea typeface="Calibri" pitchFamily="34" charset="-122"/>
                <a:cs typeface="Calibri" pitchFamily="34" charset="-120"/>
              </a:rPr>
              <a:t>Mandiant · Recorded Future · MS TI</a:t>
            </a:r>
            <a:endParaRPr lang="en-US" sz="900" dirty="0"/>
          </a:p>
        </p:txBody>
      </p:sp>
      <p:sp>
        <p:nvSpPr>
          <p:cNvPr id="16" name="Shape 14"/>
          <p:cNvSpPr/>
          <p:nvPr/>
        </p:nvSpPr>
        <p:spPr>
          <a:xfrm>
            <a:off x="934974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7" name="Text 15"/>
          <p:cNvSpPr/>
          <p:nvPr/>
        </p:nvSpPr>
        <p:spPr>
          <a:xfrm>
            <a:off x="939546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MITRE ATT&amp;CK
</a:t>
            </a:r>
            <a:r>
              <a:rPr lang="en-US" sz="750" dirty="0">
                <a:solidFill>
                  <a:srgbClr val="5A6878"/>
                </a:solidFill>
                <a:latin typeface="Calibri" pitchFamily="34" charset="0"/>
                <a:ea typeface="Calibri" pitchFamily="34" charset="-122"/>
                <a:cs typeface="Calibri" pitchFamily="34" charset="-120"/>
              </a:rPr>
              <a:t>G1017 · D3FEND · CAPEC</a:t>
            </a:r>
            <a:endParaRPr lang="en-US" sz="900" dirty="0"/>
          </a:p>
        </p:txBody>
      </p:sp>
      <p:sp>
        <p:nvSpPr>
          <p:cNvPr id="18" name="Shape 16"/>
          <p:cNvSpPr/>
          <p:nvPr/>
        </p:nvSpPr>
        <p:spPr>
          <a:xfrm>
            <a:off x="457200" y="2148840"/>
            <a:ext cx="11247120" cy="777240"/>
          </a:xfrm>
          <a:prstGeom prst="rect">
            <a:avLst/>
          </a:prstGeom>
          <a:solidFill>
            <a:srgbClr val="FEF3EB"/>
          </a:solidFill>
          <a:ln w="12700">
            <a:solidFill>
              <a:srgbClr val="F26B1F"/>
            </a:solidFill>
            <a:prstDash val="solid"/>
          </a:ln>
        </p:spPr>
        <p:txBody>
          <a:bodyPr/>
          <a:lstStyle/>
          <a:p>
            <a:endParaRPr lang="en-US"/>
          </a:p>
        </p:txBody>
      </p:sp>
      <p:sp>
        <p:nvSpPr>
          <p:cNvPr id="19" name="Shape 17"/>
          <p:cNvSpPr/>
          <p:nvPr/>
        </p:nvSpPr>
        <p:spPr>
          <a:xfrm>
            <a:off x="457200" y="2148840"/>
            <a:ext cx="2194560" cy="777240"/>
          </a:xfrm>
          <a:prstGeom prst="rect">
            <a:avLst/>
          </a:prstGeom>
          <a:solidFill>
            <a:srgbClr val="F26B1F"/>
          </a:solidFill>
          <a:ln/>
        </p:spPr>
        <p:txBody>
          <a:bodyPr/>
          <a:lstStyle/>
          <a:p>
            <a:endParaRPr lang="en-US"/>
          </a:p>
        </p:txBody>
      </p:sp>
      <p:sp>
        <p:nvSpPr>
          <p:cNvPr id="20" name="Text 18"/>
          <p:cNvSpPr/>
          <p:nvPr/>
        </p:nvSpPr>
        <p:spPr>
          <a:xfrm>
            <a:off x="548640" y="214884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2 · PREEMPTIVE LAYER (RIGOR AI)</a:t>
            </a:r>
            <a:endParaRPr lang="en-US" sz="1100" dirty="0"/>
          </a:p>
        </p:txBody>
      </p:sp>
      <p:sp>
        <p:nvSpPr>
          <p:cNvPr id="21" name="Shape 19"/>
          <p:cNvSpPr/>
          <p:nvPr/>
        </p:nvSpPr>
        <p:spPr>
          <a:xfrm>
            <a:off x="269748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2" name="Text 20"/>
          <p:cNvSpPr/>
          <p:nvPr/>
        </p:nvSpPr>
        <p:spPr>
          <a:xfrm>
            <a:off x="274320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Attack Intelligence
</a:t>
            </a:r>
            <a:r>
              <a:rPr lang="en-US" sz="750" dirty="0">
                <a:solidFill>
                  <a:srgbClr val="5A6878"/>
                </a:solidFill>
                <a:latin typeface="Calibri" pitchFamily="34" charset="0"/>
                <a:ea typeface="Calibri" pitchFamily="34" charset="-122"/>
                <a:cs typeface="Calibri" pitchFamily="34" charset="-120"/>
              </a:rPr>
              <a:t>TTP graphs from threat feeds</a:t>
            </a:r>
            <a:endParaRPr lang="en-US" sz="900" dirty="0"/>
          </a:p>
        </p:txBody>
      </p:sp>
      <p:sp>
        <p:nvSpPr>
          <p:cNvPr id="23" name="Shape 21"/>
          <p:cNvSpPr/>
          <p:nvPr/>
        </p:nvSpPr>
        <p:spPr>
          <a:xfrm>
            <a:off x="491490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4" name="Text 22"/>
          <p:cNvSpPr/>
          <p:nvPr/>
        </p:nvSpPr>
        <p:spPr>
          <a:xfrm>
            <a:off x="496062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Defense Intelligence
</a:t>
            </a:r>
            <a:r>
              <a:rPr lang="en-US" sz="750" dirty="0">
                <a:solidFill>
                  <a:srgbClr val="5A6878"/>
                </a:solidFill>
                <a:latin typeface="Calibri" pitchFamily="34" charset="0"/>
                <a:ea typeface="Calibri" pitchFamily="34" charset="-122"/>
                <a:cs typeface="Calibri" pitchFamily="34" charset="-120"/>
              </a:rPr>
              <a:t>Symbolic Model of Computation</a:t>
            </a:r>
            <a:endParaRPr lang="en-US" sz="900" dirty="0"/>
          </a:p>
        </p:txBody>
      </p:sp>
      <p:sp>
        <p:nvSpPr>
          <p:cNvPr id="25" name="Shape 23"/>
          <p:cNvSpPr/>
          <p:nvPr/>
        </p:nvSpPr>
        <p:spPr>
          <a:xfrm>
            <a:off x="713232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6" name="Text 24"/>
          <p:cNvSpPr/>
          <p:nvPr/>
        </p:nvSpPr>
        <p:spPr>
          <a:xfrm>
            <a:off x="717804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Remediation Intel
</a:t>
            </a:r>
            <a:r>
              <a:rPr lang="en-US" sz="750" dirty="0">
                <a:solidFill>
                  <a:srgbClr val="5A6878"/>
                </a:solidFill>
                <a:latin typeface="Calibri" pitchFamily="34" charset="0"/>
                <a:ea typeface="Calibri" pitchFamily="34" charset="-122"/>
                <a:cs typeface="Calibri" pitchFamily="34" charset="-120"/>
              </a:rPr>
              <a:t>Risk-prioritized vendor fixes</a:t>
            </a:r>
            <a:endParaRPr lang="en-US" sz="900" dirty="0"/>
          </a:p>
        </p:txBody>
      </p:sp>
      <p:sp>
        <p:nvSpPr>
          <p:cNvPr id="27" name="Shape 25"/>
          <p:cNvSpPr/>
          <p:nvPr/>
        </p:nvSpPr>
        <p:spPr>
          <a:xfrm>
            <a:off x="934974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8" name="Text 26"/>
          <p:cNvSpPr/>
          <p:nvPr/>
        </p:nvSpPr>
        <p:spPr>
          <a:xfrm>
            <a:off x="939546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Continuous Re-Verify
</a:t>
            </a:r>
            <a:r>
              <a:rPr lang="en-US" sz="750" dirty="0">
                <a:solidFill>
                  <a:srgbClr val="5A6878"/>
                </a:solidFill>
                <a:latin typeface="Calibri" pitchFamily="34" charset="0"/>
                <a:ea typeface="Calibri" pitchFamily="34" charset="-122"/>
                <a:cs typeface="Calibri" pitchFamily="34" charset="-120"/>
              </a:rPr>
              <a:t>Hourly · per config change</a:t>
            </a:r>
            <a:endParaRPr lang="en-US" sz="900" dirty="0"/>
          </a:p>
        </p:txBody>
      </p:sp>
      <p:sp>
        <p:nvSpPr>
          <p:cNvPr id="29" name="Shape 27"/>
          <p:cNvSpPr/>
          <p:nvPr/>
        </p:nvSpPr>
        <p:spPr>
          <a:xfrm>
            <a:off x="457200" y="2971800"/>
            <a:ext cx="11247120" cy="777240"/>
          </a:xfrm>
          <a:prstGeom prst="rect">
            <a:avLst/>
          </a:prstGeom>
          <a:solidFill>
            <a:srgbClr val="EAF2F4"/>
          </a:solidFill>
          <a:ln w="12700">
            <a:solidFill>
              <a:srgbClr val="1C7293"/>
            </a:solidFill>
            <a:prstDash val="solid"/>
          </a:ln>
        </p:spPr>
        <p:txBody>
          <a:bodyPr/>
          <a:lstStyle/>
          <a:p>
            <a:endParaRPr lang="en-US"/>
          </a:p>
        </p:txBody>
      </p:sp>
      <p:sp>
        <p:nvSpPr>
          <p:cNvPr id="30" name="Shape 28"/>
          <p:cNvSpPr/>
          <p:nvPr/>
        </p:nvSpPr>
        <p:spPr>
          <a:xfrm>
            <a:off x="457200" y="2971800"/>
            <a:ext cx="2194560" cy="777240"/>
          </a:xfrm>
          <a:prstGeom prst="rect">
            <a:avLst/>
          </a:prstGeom>
          <a:solidFill>
            <a:srgbClr val="1C7293"/>
          </a:solidFill>
          <a:ln/>
        </p:spPr>
        <p:txBody>
          <a:bodyPr/>
          <a:lstStyle/>
          <a:p>
            <a:endParaRPr lang="en-US"/>
          </a:p>
        </p:txBody>
      </p:sp>
      <p:sp>
        <p:nvSpPr>
          <p:cNvPr id="31" name="Text 29"/>
          <p:cNvSpPr/>
          <p:nvPr/>
        </p:nvSpPr>
        <p:spPr>
          <a:xfrm>
            <a:off x="548640" y="297180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3 · CONTROL PLANE</a:t>
            </a:r>
            <a:endParaRPr lang="en-US" sz="1100" dirty="0"/>
          </a:p>
        </p:txBody>
      </p:sp>
      <p:sp>
        <p:nvSpPr>
          <p:cNvPr id="32" name="Shape 30"/>
          <p:cNvSpPr/>
          <p:nvPr/>
        </p:nvSpPr>
        <p:spPr>
          <a:xfrm>
            <a:off x="269748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3" name="Text 31"/>
          <p:cNvSpPr/>
          <p:nvPr/>
        </p:nvSpPr>
        <p:spPr>
          <a:xfrm>
            <a:off x="274320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NGFW · IPS · WAF
</a:t>
            </a:r>
            <a:r>
              <a:rPr lang="en-US" sz="750" dirty="0">
                <a:solidFill>
                  <a:srgbClr val="5A6878"/>
                </a:solidFill>
                <a:latin typeface="Calibri" pitchFamily="34" charset="0"/>
                <a:ea typeface="Calibri" pitchFamily="34" charset="-122"/>
                <a:cs typeface="Calibri" pitchFamily="34" charset="-120"/>
              </a:rPr>
              <a:t>PAN · Fortinet · Cisco · Check Point</a:t>
            </a:r>
            <a:endParaRPr lang="en-US" sz="900" dirty="0"/>
          </a:p>
        </p:txBody>
      </p:sp>
      <p:sp>
        <p:nvSpPr>
          <p:cNvPr id="34" name="Shape 32"/>
          <p:cNvSpPr/>
          <p:nvPr/>
        </p:nvSpPr>
        <p:spPr>
          <a:xfrm>
            <a:off x="491490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5" name="Text 33"/>
          <p:cNvSpPr/>
          <p:nvPr/>
        </p:nvSpPr>
        <p:spPr>
          <a:xfrm>
            <a:off x="496062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Identity (IdP / IGA)
</a:t>
            </a:r>
            <a:r>
              <a:rPr lang="en-US" sz="750" dirty="0">
                <a:solidFill>
                  <a:srgbClr val="5A6878"/>
                </a:solidFill>
                <a:latin typeface="Calibri" pitchFamily="34" charset="0"/>
                <a:ea typeface="Calibri" pitchFamily="34" charset="-122"/>
                <a:cs typeface="Calibri" pitchFamily="34" charset="-120"/>
              </a:rPr>
              <a:t>Okta · Entra · CyberArk · Ping</a:t>
            </a:r>
            <a:endParaRPr lang="en-US" sz="900" dirty="0"/>
          </a:p>
        </p:txBody>
      </p:sp>
      <p:sp>
        <p:nvSpPr>
          <p:cNvPr id="36" name="Shape 34"/>
          <p:cNvSpPr/>
          <p:nvPr/>
        </p:nvSpPr>
        <p:spPr>
          <a:xfrm>
            <a:off x="713232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7" name="Text 35"/>
          <p:cNvSpPr/>
          <p:nvPr/>
        </p:nvSpPr>
        <p:spPr>
          <a:xfrm>
            <a:off x="717804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EDR · XDR
</a:t>
            </a:r>
            <a:r>
              <a:rPr lang="en-US" sz="750" dirty="0">
                <a:solidFill>
                  <a:srgbClr val="5A6878"/>
                </a:solidFill>
                <a:latin typeface="Calibri" pitchFamily="34" charset="0"/>
                <a:ea typeface="Calibri" pitchFamily="34" charset="-122"/>
                <a:cs typeface="Calibri" pitchFamily="34" charset="-120"/>
              </a:rPr>
              <a:t>CrowdStrike · MS Defender · S1</a:t>
            </a:r>
            <a:endParaRPr lang="en-US" sz="900" dirty="0"/>
          </a:p>
        </p:txBody>
      </p:sp>
      <p:sp>
        <p:nvSpPr>
          <p:cNvPr id="38" name="Shape 36"/>
          <p:cNvSpPr/>
          <p:nvPr/>
        </p:nvSpPr>
        <p:spPr>
          <a:xfrm>
            <a:off x="934974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9" name="Text 37"/>
          <p:cNvSpPr/>
          <p:nvPr/>
        </p:nvSpPr>
        <p:spPr>
          <a:xfrm>
            <a:off x="939546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Email · Web · DLP
</a:t>
            </a:r>
            <a:r>
              <a:rPr lang="en-US" sz="750" dirty="0">
                <a:solidFill>
                  <a:srgbClr val="5A6878"/>
                </a:solidFill>
                <a:latin typeface="Calibri" pitchFamily="34" charset="0"/>
                <a:ea typeface="Calibri" pitchFamily="34" charset="-122"/>
                <a:cs typeface="Calibri" pitchFamily="34" charset="-120"/>
              </a:rPr>
              <a:t>Proofpoint · Mimecast · Forcepoint</a:t>
            </a:r>
            <a:endParaRPr lang="en-US" sz="900" dirty="0"/>
          </a:p>
        </p:txBody>
      </p:sp>
      <p:sp>
        <p:nvSpPr>
          <p:cNvPr id="40" name="Shape 38"/>
          <p:cNvSpPr/>
          <p:nvPr/>
        </p:nvSpPr>
        <p:spPr>
          <a:xfrm>
            <a:off x="457200" y="3794760"/>
            <a:ext cx="11247120" cy="777240"/>
          </a:xfrm>
          <a:prstGeom prst="rect">
            <a:avLst/>
          </a:prstGeom>
          <a:solidFill>
            <a:srgbClr val="E6F4F7"/>
          </a:solidFill>
          <a:ln w="12700">
            <a:solidFill>
              <a:srgbClr val="0891B2"/>
            </a:solidFill>
            <a:prstDash val="solid"/>
          </a:ln>
        </p:spPr>
        <p:txBody>
          <a:bodyPr/>
          <a:lstStyle/>
          <a:p>
            <a:endParaRPr lang="en-US"/>
          </a:p>
        </p:txBody>
      </p:sp>
      <p:sp>
        <p:nvSpPr>
          <p:cNvPr id="41" name="Shape 39"/>
          <p:cNvSpPr/>
          <p:nvPr/>
        </p:nvSpPr>
        <p:spPr>
          <a:xfrm>
            <a:off x="457200" y="3794760"/>
            <a:ext cx="2194560" cy="777240"/>
          </a:xfrm>
          <a:prstGeom prst="rect">
            <a:avLst/>
          </a:prstGeom>
          <a:solidFill>
            <a:srgbClr val="0891B2"/>
          </a:solidFill>
          <a:ln/>
        </p:spPr>
        <p:txBody>
          <a:bodyPr/>
          <a:lstStyle/>
          <a:p>
            <a:endParaRPr lang="en-US"/>
          </a:p>
        </p:txBody>
      </p:sp>
      <p:sp>
        <p:nvSpPr>
          <p:cNvPr id="42" name="Text 40"/>
          <p:cNvSpPr/>
          <p:nvPr/>
        </p:nvSpPr>
        <p:spPr>
          <a:xfrm>
            <a:off x="548640" y="379476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4 · BEHAVIORAL LAYER (ACECARD UEBA)</a:t>
            </a:r>
            <a:endParaRPr lang="en-US" sz="1100" dirty="0"/>
          </a:p>
        </p:txBody>
      </p:sp>
      <p:sp>
        <p:nvSpPr>
          <p:cNvPr id="43" name="Shape 41"/>
          <p:cNvSpPr/>
          <p:nvPr/>
        </p:nvSpPr>
        <p:spPr>
          <a:xfrm>
            <a:off x="269748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44" name="Text 42"/>
          <p:cNvSpPr/>
          <p:nvPr/>
        </p:nvSpPr>
        <p:spPr>
          <a:xfrm>
            <a:off x="274320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5 Signal Summarizers
</a:t>
            </a:r>
            <a:r>
              <a:rPr lang="en-US" sz="750" dirty="0">
                <a:solidFill>
                  <a:srgbClr val="5A6878"/>
                </a:solidFill>
                <a:latin typeface="Calibri" pitchFamily="34" charset="0"/>
                <a:ea typeface="Calibri" pitchFamily="34" charset="-122"/>
                <a:cs typeface="Calibri" pitchFamily="34" charset="-120"/>
              </a:rPr>
              <a:t>Auth · Process · Net · File · ID</a:t>
            </a:r>
            <a:endParaRPr lang="en-US" sz="900" dirty="0"/>
          </a:p>
        </p:txBody>
      </p:sp>
      <p:sp>
        <p:nvSpPr>
          <p:cNvPr id="45" name="Shape 43"/>
          <p:cNvSpPr/>
          <p:nvPr/>
        </p:nvSpPr>
        <p:spPr>
          <a:xfrm>
            <a:off x="491490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46" name="Text 44"/>
          <p:cNvSpPr/>
          <p:nvPr/>
        </p:nvSpPr>
        <p:spPr>
          <a:xfrm>
            <a:off x="496062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1536-d Embedding
</a:t>
            </a:r>
            <a:r>
              <a:rPr lang="en-US" sz="750" dirty="0">
                <a:solidFill>
                  <a:srgbClr val="5A6878"/>
                </a:solidFill>
                <a:latin typeface="Calibri" pitchFamily="34" charset="0"/>
                <a:ea typeface="Calibri" pitchFamily="34" charset="-122"/>
                <a:cs typeface="Calibri" pitchFamily="34" charset="-120"/>
              </a:rPr>
              <a:t>OpenAI · Phi-4 (air-gapped)</a:t>
            </a:r>
            <a:endParaRPr lang="en-US" sz="900" dirty="0"/>
          </a:p>
        </p:txBody>
      </p:sp>
      <p:sp>
        <p:nvSpPr>
          <p:cNvPr id="47" name="Shape 45"/>
          <p:cNvSpPr/>
          <p:nvPr/>
        </p:nvSpPr>
        <p:spPr>
          <a:xfrm>
            <a:off x="713232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48" name="Text 46"/>
          <p:cNvSpPr/>
          <p:nvPr/>
        </p:nvSpPr>
        <p:spPr>
          <a:xfrm>
            <a:off x="717804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Trajectory Analysis
</a:t>
            </a:r>
            <a:r>
              <a:rPr lang="en-US" sz="750" dirty="0">
                <a:solidFill>
                  <a:srgbClr val="5A6878"/>
                </a:solidFill>
                <a:latin typeface="Calibri" pitchFamily="34" charset="0"/>
                <a:ea typeface="Calibri" pitchFamily="34" charset="-122"/>
                <a:cs typeface="Calibri" pitchFamily="34" charset="-120"/>
              </a:rPr>
              <a:t>Drift · Velocity · CUSUM 4σ</a:t>
            </a:r>
            <a:endParaRPr lang="en-US" sz="900" dirty="0"/>
          </a:p>
        </p:txBody>
      </p:sp>
      <p:sp>
        <p:nvSpPr>
          <p:cNvPr id="49" name="Shape 47"/>
          <p:cNvSpPr/>
          <p:nvPr/>
        </p:nvSpPr>
        <p:spPr>
          <a:xfrm>
            <a:off x="934974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50" name="Text 48"/>
          <p:cNvSpPr/>
          <p:nvPr/>
        </p:nvSpPr>
        <p:spPr>
          <a:xfrm>
            <a:off x="939546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Drift Direction
</a:t>
            </a:r>
            <a:r>
              <a:rPr lang="en-US" sz="750" dirty="0">
                <a:solidFill>
                  <a:srgbClr val="5A6878"/>
                </a:solidFill>
                <a:latin typeface="Calibri" pitchFamily="34" charset="0"/>
                <a:ea typeface="Calibri" pitchFamily="34" charset="-122"/>
                <a:cs typeface="Calibri" pitchFamily="34" charset="-120"/>
              </a:rPr>
              <a:t>8 MITRE concepts · ABAC tags</a:t>
            </a:r>
            <a:endParaRPr lang="en-US" sz="900" dirty="0"/>
          </a:p>
        </p:txBody>
      </p:sp>
      <p:sp>
        <p:nvSpPr>
          <p:cNvPr id="51" name="Shape 49"/>
          <p:cNvSpPr/>
          <p:nvPr/>
        </p:nvSpPr>
        <p:spPr>
          <a:xfrm>
            <a:off x="457200" y="4617720"/>
            <a:ext cx="11247120" cy="777240"/>
          </a:xfrm>
          <a:prstGeom prst="rect">
            <a:avLst/>
          </a:prstGeom>
          <a:solidFill>
            <a:srgbClr val="EBEEF2"/>
          </a:solidFill>
          <a:ln w="12700">
            <a:solidFill>
              <a:srgbClr val="0B1F3A"/>
            </a:solidFill>
            <a:prstDash val="solid"/>
          </a:ln>
        </p:spPr>
        <p:txBody>
          <a:bodyPr/>
          <a:lstStyle/>
          <a:p>
            <a:endParaRPr lang="en-US"/>
          </a:p>
        </p:txBody>
      </p:sp>
      <p:sp>
        <p:nvSpPr>
          <p:cNvPr id="52" name="Shape 50"/>
          <p:cNvSpPr/>
          <p:nvPr/>
        </p:nvSpPr>
        <p:spPr>
          <a:xfrm>
            <a:off x="457200" y="4617720"/>
            <a:ext cx="2194560" cy="777240"/>
          </a:xfrm>
          <a:prstGeom prst="rect">
            <a:avLst/>
          </a:prstGeom>
          <a:solidFill>
            <a:srgbClr val="0B1F3A"/>
          </a:solidFill>
          <a:ln/>
        </p:spPr>
        <p:txBody>
          <a:bodyPr/>
          <a:lstStyle/>
          <a:p>
            <a:endParaRPr lang="en-US"/>
          </a:p>
        </p:txBody>
      </p:sp>
      <p:sp>
        <p:nvSpPr>
          <p:cNvPr id="53" name="Text 51"/>
          <p:cNvSpPr/>
          <p:nvPr/>
        </p:nvSpPr>
        <p:spPr>
          <a:xfrm>
            <a:off x="548640" y="461772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5 · RESPONSE &amp; AUDIT</a:t>
            </a:r>
            <a:endParaRPr lang="en-US" sz="1100" dirty="0"/>
          </a:p>
        </p:txBody>
      </p:sp>
      <p:sp>
        <p:nvSpPr>
          <p:cNvPr id="54" name="Shape 52"/>
          <p:cNvSpPr/>
          <p:nvPr/>
        </p:nvSpPr>
        <p:spPr>
          <a:xfrm>
            <a:off x="269748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55" name="Text 53"/>
          <p:cNvSpPr/>
          <p:nvPr/>
        </p:nvSpPr>
        <p:spPr>
          <a:xfrm>
            <a:off x="274320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SIEM · Data Lake
</a:t>
            </a:r>
            <a:r>
              <a:rPr lang="en-US" sz="750" dirty="0">
                <a:solidFill>
                  <a:srgbClr val="5A6878"/>
                </a:solidFill>
                <a:latin typeface="Calibri" pitchFamily="34" charset="0"/>
                <a:ea typeface="Calibri" pitchFamily="34" charset="-122"/>
                <a:cs typeface="Calibri" pitchFamily="34" charset="-120"/>
              </a:rPr>
              <a:t>Splunk · Sentinel · Chronicle</a:t>
            </a:r>
            <a:endParaRPr lang="en-US" sz="900" dirty="0"/>
          </a:p>
        </p:txBody>
      </p:sp>
      <p:sp>
        <p:nvSpPr>
          <p:cNvPr id="56" name="Shape 54"/>
          <p:cNvSpPr/>
          <p:nvPr/>
        </p:nvSpPr>
        <p:spPr>
          <a:xfrm>
            <a:off x="491490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57" name="Text 55"/>
          <p:cNvSpPr/>
          <p:nvPr/>
        </p:nvSpPr>
        <p:spPr>
          <a:xfrm>
            <a:off x="496062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SOAR / Playbooks
</a:t>
            </a:r>
            <a:r>
              <a:rPr lang="en-US" sz="750" dirty="0">
                <a:solidFill>
                  <a:srgbClr val="5A6878"/>
                </a:solidFill>
                <a:latin typeface="Calibri" pitchFamily="34" charset="0"/>
                <a:ea typeface="Calibri" pitchFamily="34" charset="-122"/>
                <a:cs typeface="Calibri" pitchFamily="34" charset="-120"/>
              </a:rPr>
              <a:t>XSOAR · Splunk SOAR · Tines</a:t>
            </a:r>
            <a:endParaRPr lang="en-US" sz="900" dirty="0"/>
          </a:p>
        </p:txBody>
      </p:sp>
      <p:sp>
        <p:nvSpPr>
          <p:cNvPr id="58" name="Shape 56"/>
          <p:cNvSpPr/>
          <p:nvPr/>
        </p:nvSpPr>
        <p:spPr>
          <a:xfrm>
            <a:off x="713232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59" name="Text 57"/>
          <p:cNvSpPr/>
          <p:nvPr/>
        </p:nvSpPr>
        <p:spPr>
          <a:xfrm>
            <a:off x="717804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Service Mgmt
</a:t>
            </a:r>
            <a:r>
              <a:rPr lang="en-US" sz="750" dirty="0">
                <a:solidFill>
                  <a:srgbClr val="5A6878"/>
                </a:solidFill>
                <a:latin typeface="Calibri" pitchFamily="34" charset="0"/>
                <a:ea typeface="Calibri" pitchFamily="34" charset="-122"/>
                <a:cs typeface="Calibri" pitchFamily="34" charset="-120"/>
              </a:rPr>
              <a:t>ServiceNow · JIRA tickets</a:t>
            </a:r>
            <a:endParaRPr lang="en-US" sz="900" dirty="0"/>
          </a:p>
        </p:txBody>
      </p:sp>
      <p:sp>
        <p:nvSpPr>
          <p:cNvPr id="60" name="Shape 58"/>
          <p:cNvSpPr/>
          <p:nvPr/>
        </p:nvSpPr>
        <p:spPr>
          <a:xfrm>
            <a:off x="934974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61" name="Text 59"/>
          <p:cNvSpPr/>
          <p:nvPr/>
        </p:nvSpPr>
        <p:spPr>
          <a:xfrm>
            <a:off x="939546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Audit · Compliance
</a:t>
            </a:r>
            <a:r>
              <a:rPr lang="en-US" sz="750" dirty="0">
                <a:solidFill>
                  <a:srgbClr val="5A6878"/>
                </a:solidFill>
                <a:latin typeface="Calibri" pitchFamily="34" charset="0"/>
                <a:ea typeface="Calibri" pitchFamily="34" charset="-122"/>
                <a:cs typeface="Calibri" pitchFamily="34" charset="-120"/>
              </a:rPr>
              <a:t>NIST 800-53 · cATO · STIG</a:t>
            </a:r>
            <a:endParaRPr lang="en-US" sz="900" dirty="0"/>
          </a:p>
        </p:txBody>
      </p:sp>
      <p:sp>
        <p:nvSpPr>
          <p:cNvPr id="62" name="Text 60"/>
          <p:cNvSpPr/>
          <p:nvPr/>
        </p:nvSpPr>
        <p:spPr>
          <a:xfrm>
            <a:off x="457200" y="6492240"/>
            <a:ext cx="11247120" cy="32004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Each layer has visibility into the layers above and below. Rigor governs layers 2-3 (config-resident). ACECARD governs layer 4 (behavior-resident). MITRE ATT&amp;CK is the shared vocabulary across all five.</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VERDICT  —  COMPREHENSIVE DEFENSE ACHIEVED</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Verdict: What the Combined Stack Delivers</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Mapped against the full Volt + Salt Typhoon kill chain and the broader CISA framework.</a:t>
            </a:r>
            <a:endParaRPr lang="en-US" sz="1300" dirty="0"/>
          </a:p>
        </p:txBody>
      </p:sp>
      <p:sp>
        <p:nvSpPr>
          <p:cNvPr id="7" name="Shape 5"/>
          <p:cNvSpPr/>
          <p:nvPr/>
        </p:nvSpPr>
        <p:spPr>
          <a:xfrm>
            <a:off x="457200" y="1371600"/>
            <a:ext cx="3703320" cy="4572000"/>
          </a:xfrm>
          <a:prstGeom prst="rect">
            <a:avLst/>
          </a:prstGeom>
          <a:solidFill>
            <a:srgbClr val="FFFFFF"/>
          </a:solidFill>
          <a:ln w="25400">
            <a:solidFill>
              <a:srgbClr val="2E7D32"/>
            </a:solidFill>
            <a:prstDash val="solid"/>
          </a:ln>
        </p:spPr>
        <p:txBody>
          <a:bodyPr/>
          <a:lstStyle/>
          <a:p>
            <a:endParaRPr lang="en-US"/>
          </a:p>
        </p:txBody>
      </p:sp>
      <p:sp>
        <p:nvSpPr>
          <p:cNvPr id="8" name="Shape 6"/>
          <p:cNvSpPr/>
          <p:nvPr/>
        </p:nvSpPr>
        <p:spPr>
          <a:xfrm>
            <a:off x="457200" y="1371600"/>
            <a:ext cx="3703320" cy="365760"/>
          </a:xfrm>
          <a:prstGeom prst="rect">
            <a:avLst/>
          </a:prstGeom>
          <a:solidFill>
            <a:srgbClr val="2E7D32"/>
          </a:solidFill>
          <a:ln/>
        </p:spPr>
        <p:txBody>
          <a:bodyPr/>
          <a:lstStyle/>
          <a:p>
            <a:endParaRPr lang="en-US"/>
          </a:p>
        </p:txBody>
      </p:sp>
      <p:sp>
        <p:nvSpPr>
          <p:cNvPr id="9" name="Text 7"/>
          <p:cNvSpPr/>
          <p:nvPr/>
        </p:nvSpPr>
        <p:spPr>
          <a:xfrm>
            <a:off x="54864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WHAT IT COVERS</a:t>
            </a:r>
            <a:endParaRPr lang="en-US" sz="1100" dirty="0"/>
          </a:p>
        </p:txBody>
      </p:sp>
      <p:sp>
        <p:nvSpPr>
          <p:cNvPr id="10" name="Text 8"/>
          <p:cNvSpPr/>
          <p:nvPr/>
        </p:nvSpPr>
        <p:spPr>
          <a:xfrm>
            <a:off x="64008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Every known MITRE TTP for Volt Typhoon (G1017) and Salt Typhoon — preempted at config layer (Rigor)</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Living-off-the-Land tradecraft — caught as behavioral drift even when binaries are legitimate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Cross-domain identity fusion — one trajectory across AD/AAD/AWS/Okta/K8s (Composite Digital Signature)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Zero-day &amp; unmapped TTPs — caught as deviation from baseline even with no MITRE label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Insider threat &amp; valid-account abuse — cohort z-score + cosine drift surfaces misuse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Long-dwell stealth (Salt Typhoon's signature) — CUSUM 4σ on rolling 30-day baseline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Mathematical proof of NIST 800-53 / SP800-207 / D3FEND control coverage (Rigor)</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Continuous re-verification on every config change, every threat-feed update (Rigor)</a:t>
            </a:r>
            <a:endParaRPr lang="en-US" sz="950" dirty="0"/>
          </a:p>
        </p:txBody>
      </p:sp>
      <p:sp>
        <p:nvSpPr>
          <p:cNvPr id="11" name="Shape 9"/>
          <p:cNvSpPr/>
          <p:nvPr/>
        </p:nvSpPr>
        <p:spPr>
          <a:xfrm>
            <a:off x="4297680" y="1371600"/>
            <a:ext cx="3703320" cy="4572000"/>
          </a:xfrm>
          <a:prstGeom prst="rect">
            <a:avLst/>
          </a:prstGeom>
          <a:solidFill>
            <a:srgbClr val="FFFFFF"/>
          </a:solidFill>
          <a:ln w="25400">
            <a:solidFill>
              <a:srgbClr val="F4B400"/>
            </a:solidFill>
            <a:prstDash val="solid"/>
          </a:ln>
        </p:spPr>
        <p:txBody>
          <a:bodyPr/>
          <a:lstStyle/>
          <a:p>
            <a:endParaRPr lang="en-US"/>
          </a:p>
        </p:txBody>
      </p:sp>
      <p:sp>
        <p:nvSpPr>
          <p:cNvPr id="12" name="Shape 10"/>
          <p:cNvSpPr/>
          <p:nvPr/>
        </p:nvSpPr>
        <p:spPr>
          <a:xfrm>
            <a:off x="4297680" y="1371600"/>
            <a:ext cx="3703320" cy="365760"/>
          </a:xfrm>
          <a:prstGeom prst="rect">
            <a:avLst/>
          </a:prstGeom>
          <a:solidFill>
            <a:srgbClr val="F4B400"/>
          </a:solidFill>
          <a:ln/>
        </p:spPr>
        <p:txBody>
          <a:bodyPr/>
          <a:lstStyle/>
          <a:p>
            <a:endParaRPr lang="en-US"/>
          </a:p>
        </p:txBody>
      </p:sp>
      <p:sp>
        <p:nvSpPr>
          <p:cNvPr id="13" name="Text 11"/>
          <p:cNvSpPr/>
          <p:nvPr/>
        </p:nvSpPr>
        <p:spPr>
          <a:xfrm>
            <a:off x="438912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REMAINING GAPS (BY DESIGN)</a:t>
            </a:r>
            <a:endParaRPr lang="en-US" sz="1100" dirty="0"/>
          </a:p>
        </p:txBody>
      </p:sp>
      <p:sp>
        <p:nvSpPr>
          <p:cNvPr id="14" name="Text 12"/>
          <p:cNvSpPr/>
          <p:nvPr/>
        </p:nvSpPr>
        <p:spPr>
          <a:xfrm>
            <a:off x="448056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Endpoint runtime enforcement — ACECARD reads EDR telemetry; doesn't replace EDR. Pair with CrowdStrike / MS Defender / SentinelOne.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Email &amp; phishing initial access — outside Rigor's NGFW pillar. Pair with Proofpoint / Defender for Office 365 / Abnormal.</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OT/ICS-specific protocols — particularly for Volt Typhoon utility targets. Pair with Dragos / Claroty / Nozomi / TXOne.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Physical &amp; supply-chain compromise — Rigor's third-party use case extends here partially. Pair with TPRM platforms.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Human factors — process layer, not technology. Pair with awareness training + tabletops.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Deception layer — adds high-fidelity tripwires post-preemption. Pair with Thinkst Canary / Acalvio.</a:t>
            </a:r>
            <a:endParaRPr lang="en-US" sz="950" dirty="0"/>
          </a:p>
        </p:txBody>
      </p:sp>
      <p:sp>
        <p:nvSpPr>
          <p:cNvPr id="15" name="Shape 13"/>
          <p:cNvSpPr/>
          <p:nvPr/>
        </p:nvSpPr>
        <p:spPr>
          <a:xfrm>
            <a:off x="8138160" y="1371600"/>
            <a:ext cx="3703320" cy="4572000"/>
          </a:xfrm>
          <a:prstGeom prst="rect">
            <a:avLst/>
          </a:prstGeom>
          <a:solidFill>
            <a:srgbClr val="FFFFFF"/>
          </a:solidFill>
          <a:ln w="25400">
            <a:solidFill>
              <a:srgbClr val="F26B1F"/>
            </a:solidFill>
            <a:prstDash val="solid"/>
          </a:ln>
        </p:spPr>
        <p:txBody>
          <a:bodyPr/>
          <a:lstStyle/>
          <a:p>
            <a:endParaRPr lang="en-US"/>
          </a:p>
        </p:txBody>
      </p:sp>
      <p:sp>
        <p:nvSpPr>
          <p:cNvPr id="16" name="Shape 14"/>
          <p:cNvSpPr/>
          <p:nvPr/>
        </p:nvSpPr>
        <p:spPr>
          <a:xfrm>
            <a:off x="8138160" y="1371600"/>
            <a:ext cx="3703320" cy="365760"/>
          </a:xfrm>
          <a:prstGeom prst="rect">
            <a:avLst/>
          </a:prstGeom>
          <a:solidFill>
            <a:srgbClr val="F26B1F"/>
          </a:solidFill>
          <a:ln/>
        </p:spPr>
        <p:txBody>
          <a:bodyPr/>
          <a:lstStyle/>
          <a:p>
            <a:endParaRPr lang="en-US"/>
          </a:p>
        </p:txBody>
      </p:sp>
      <p:sp>
        <p:nvSpPr>
          <p:cNvPr id="17" name="Text 15"/>
          <p:cNvSpPr/>
          <p:nvPr/>
        </p:nvSpPr>
        <p:spPr>
          <a:xfrm>
            <a:off x="822960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RECOMMENDED FULL STACK</a:t>
            </a:r>
            <a:endParaRPr lang="en-US" sz="1100" dirty="0"/>
          </a:p>
        </p:txBody>
      </p:sp>
      <p:sp>
        <p:nvSpPr>
          <p:cNvPr id="18" name="Text 16"/>
          <p:cNvSpPr/>
          <p:nvPr/>
        </p:nvSpPr>
        <p:spPr>
          <a:xfrm>
            <a:off x="8321040" y="1828800"/>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Rigor AI</a:t>
            </a:r>
            <a:endParaRPr lang="en-US" sz="1050" dirty="0"/>
          </a:p>
        </p:txBody>
      </p:sp>
      <p:sp>
        <p:nvSpPr>
          <p:cNvPr id="19" name="Text 17"/>
          <p:cNvSpPr/>
          <p:nvPr/>
        </p:nvSpPr>
        <p:spPr>
          <a:xfrm>
            <a:off x="8321040" y="2057400"/>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Preemptive config verification — closes 80%+ of TTP paths before exploitation. Mathematical proof of posture.</a:t>
            </a:r>
            <a:endParaRPr lang="en-US" sz="900" dirty="0"/>
          </a:p>
        </p:txBody>
      </p:sp>
      <p:sp>
        <p:nvSpPr>
          <p:cNvPr id="20" name="Text 18"/>
          <p:cNvSpPr/>
          <p:nvPr/>
        </p:nvSpPr>
        <p:spPr>
          <a:xfrm>
            <a:off x="8321040" y="2542032"/>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ACECARD UEBA</a:t>
            </a:r>
            <a:endParaRPr lang="en-US" sz="1050" dirty="0"/>
          </a:p>
        </p:txBody>
      </p:sp>
      <p:sp>
        <p:nvSpPr>
          <p:cNvPr id="21" name="Text 19"/>
          <p:cNvSpPr/>
          <p:nvPr/>
        </p:nvSpPr>
        <p:spPr>
          <a:xfrm>
            <a:off x="8321040" y="2770632"/>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Behavioral trajectories for valid-account abuse, LoTL, dwell-time, zero-days. ABAC enforcement.</a:t>
            </a:r>
            <a:endParaRPr lang="en-US" sz="900" dirty="0"/>
          </a:p>
        </p:txBody>
      </p:sp>
      <p:sp>
        <p:nvSpPr>
          <p:cNvPr id="22" name="Text 20"/>
          <p:cNvSpPr/>
          <p:nvPr/>
        </p:nvSpPr>
        <p:spPr>
          <a:xfrm>
            <a:off x="8321040" y="3255264"/>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EDR/XDR</a:t>
            </a:r>
            <a:endParaRPr lang="en-US" sz="1050" dirty="0"/>
          </a:p>
        </p:txBody>
      </p:sp>
      <p:sp>
        <p:nvSpPr>
          <p:cNvPr id="23" name="Text 21"/>
          <p:cNvSpPr/>
          <p:nvPr/>
        </p:nvSpPr>
        <p:spPr>
          <a:xfrm>
            <a:off x="8321040" y="3483864"/>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Endpoint runtime + in-memory enforcement. Telemetry into ACECARD.</a:t>
            </a:r>
            <a:endParaRPr lang="en-US" sz="900" dirty="0"/>
          </a:p>
        </p:txBody>
      </p:sp>
      <p:sp>
        <p:nvSpPr>
          <p:cNvPr id="24" name="Text 22"/>
          <p:cNvSpPr/>
          <p:nvPr/>
        </p:nvSpPr>
        <p:spPr>
          <a:xfrm>
            <a:off x="8321040" y="3968496"/>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Email Sec</a:t>
            </a:r>
            <a:endParaRPr lang="en-US" sz="1050" dirty="0"/>
          </a:p>
        </p:txBody>
      </p:sp>
      <p:sp>
        <p:nvSpPr>
          <p:cNvPr id="25" name="Text 23"/>
          <p:cNvSpPr/>
          <p:nvPr/>
        </p:nvSpPr>
        <p:spPr>
          <a:xfrm>
            <a:off x="8321040" y="4197096"/>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Phishing-resistant MFA + email gateway. Closes initial-access vector.</a:t>
            </a:r>
            <a:endParaRPr lang="en-US" sz="900" dirty="0"/>
          </a:p>
        </p:txBody>
      </p:sp>
      <p:sp>
        <p:nvSpPr>
          <p:cNvPr id="26" name="Text 24"/>
          <p:cNvSpPr/>
          <p:nvPr/>
        </p:nvSpPr>
        <p:spPr>
          <a:xfrm>
            <a:off x="8321040" y="4681728"/>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NDR + SIEM</a:t>
            </a:r>
            <a:endParaRPr lang="en-US" sz="1050" dirty="0"/>
          </a:p>
        </p:txBody>
      </p:sp>
      <p:sp>
        <p:nvSpPr>
          <p:cNvPr id="27" name="Text 25"/>
          <p:cNvSpPr/>
          <p:nvPr/>
        </p:nvSpPr>
        <p:spPr>
          <a:xfrm>
            <a:off x="8321040" y="4910328"/>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East-west visibility + log fabric. Substrate for detection + response.</a:t>
            </a:r>
            <a:endParaRPr lang="en-US" sz="900" dirty="0"/>
          </a:p>
        </p:txBody>
      </p:sp>
      <p:sp>
        <p:nvSpPr>
          <p:cNvPr id="28" name="Text 26"/>
          <p:cNvSpPr/>
          <p:nvPr/>
        </p:nvSpPr>
        <p:spPr>
          <a:xfrm>
            <a:off x="8321040" y="5394960"/>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OT/ICS (if applicable)</a:t>
            </a:r>
            <a:endParaRPr lang="en-US" sz="1050" dirty="0"/>
          </a:p>
        </p:txBody>
      </p:sp>
      <p:sp>
        <p:nvSpPr>
          <p:cNvPr id="29" name="Text 27"/>
          <p:cNvSpPr/>
          <p:nvPr/>
        </p:nvSpPr>
        <p:spPr>
          <a:xfrm>
            <a:off x="8321040" y="5623560"/>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Specialized protocol awareness for utilities, water, transport.</a:t>
            </a:r>
            <a:endParaRPr lang="en-US" sz="900" dirty="0"/>
          </a:p>
        </p:txBody>
      </p:sp>
      <p:sp>
        <p:nvSpPr>
          <p:cNvPr id="30" name="Shape 28"/>
          <p:cNvSpPr/>
          <p:nvPr/>
        </p:nvSpPr>
        <p:spPr>
          <a:xfrm>
            <a:off x="457200" y="6126480"/>
            <a:ext cx="11247120" cy="502920"/>
          </a:xfrm>
          <a:prstGeom prst="rect">
            <a:avLst/>
          </a:prstGeom>
          <a:solidFill>
            <a:srgbClr val="0B1F3A"/>
          </a:solidFill>
          <a:ln/>
        </p:spPr>
        <p:txBody>
          <a:bodyPr/>
          <a:lstStyle/>
          <a:p>
            <a:endParaRPr lang="en-US"/>
          </a:p>
        </p:txBody>
      </p:sp>
      <p:sp>
        <p:nvSpPr>
          <p:cNvPr id="31" name="Text 29"/>
          <p:cNvSpPr/>
          <p:nvPr/>
        </p:nvSpPr>
        <p:spPr>
          <a:xfrm>
            <a:off x="640080" y="6126480"/>
            <a:ext cx="10881360" cy="502920"/>
          </a:xfrm>
          <a:prstGeom prst="rect">
            <a:avLst/>
          </a:prstGeom>
          <a:noFill/>
          <a:ln/>
        </p:spPr>
        <p:txBody>
          <a:bodyPr wrap="square" lIns="0" tIns="0" rIns="0" bIns="0" rtlCol="0" anchor="ctr"/>
          <a:lstStyle/>
          <a:p>
            <a:pPr marL="0" indent="0">
              <a:buNone/>
            </a:pPr>
            <a:r>
              <a:rPr lang="en-US" sz="1300" b="1" i="1" dirty="0">
                <a:solidFill>
                  <a:srgbClr val="FFFFFF"/>
                </a:solidFill>
                <a:latin typeface="Calibri" pitchFamily="34" charset="0"/>
                <a:ea typeface="Calibri" pitchFamily="34" charset="-122"/>
                <a:cs typeface="Calibri" pitchFamily="34" charset="-120"/>
              </a:rPr>
              <a:t>VERDICT:  Rigor AI + ACECARD UEBA = comprehensive defense against Volt Typhoon + Salt Typhoon. Add EDR + Email Security + NDR for full defense-in-depth.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26B1F"/>
          </a:solidFill>
          <a:ln/>
        </p:spPr>
        <p:txBody>
          <a:bodyPr/>
          <a:lstStyle/>
          <a:p>
            <a:endParaRPr lang="en-US"/>
          </a:p>
        </p:txBody>
      </p:sp>
      <p:sp>
        <p:nvSpPr>
          <p:cNvPr id="3" name="Text 1"/>
          <p:cNvSpPr/>
          <p:nvPr/>
        </p:nvSpPr>
        <p:spPr>
          <a:xfrm>
            <a:off x="822960" y="914400"/>
            <a:ext cx="10972800" cy="411480"/>
          </a:xfrm>
          <a:prstGeom prst="rect">
            <a:avLst/>
          </a:prstGeom>
          <a:noFill/>
          <a:ln/>
        </p:spPr>
        <p:txBody>
          <a:bodyPr wrap="square" lIns="0" tIns="0" rIns="0" bIns="0" rtlCol="0" anchor="ctr"/>
          <a:lstStyle/>
          <a:p>
            <a:pPr marL="0" indent="0">
              <a:buNone/>
            </a:pPr>
            <a:r>
              <a:rPr lang="en-US" sz="1600" b="1" kern="0" spc="500" dirty="0">
                <a:solidFill>
                  <a:srgbClr val="F26B1F"/>
                </a:solidFill>
                <a:latin typeface="Calibri" pitchFamily="34" charset="0"/>
                <a:ea typeface="Calibri" pitchFamily="34" charset="-122"/>
                <a:cs typeface="Calibri" pitchFamily="34" charset="-120"/>
              </a:rPr>
              <a:t>BUILD YOUR DOME</a:t>
            </a:r>
            <a:endParaRPr lang="en-US" sz="1600" dirty="0"/>
          </a:p>
        </p:txBody>
      </p:sp>
      <p:sp>
        <p:nvSpPr>
          <p:cNvPr id="4" name="Text 2"/>
          <p:cNvSpPr/>
          <p:nvPr/>
        </p:nvSpPr>
        <p:spPr>
          <a:xfrm>
            <a:off x="822960" y="1417320"/>
            <a:ext cx="10972800" cy="7772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Preempt the next Typhoon. Detect what slips past.</a:t>
            </a:r>
            <a:endParaRPr lang="en-US" sz="3200" dirty="0"/>
          </a:p>
        </p:txBody>
      </p:sp>
      <p:sp>
        <p:nvSpPr>
          <p:cNvPr id="5" name="Text 3"/>
          <p:cNvSpPr/>
          <p:nvPr/>
        </p:nvSpPr>
        <p:spPr>
          <a:xfrm>
            <a:off x="822960" y="2468880"/>
            <a:ext cx="10515600" cy="1371600"/>
          </a:xfrm>
          <a:prstGeom prst="rect">
            <a:avLst/>
          </a:prstGeom>
          <a:noFill/>
          <a:ln/>
        </p:spPr>
        <p:txBody>
          <a:bodyPr wrap="square" lIns="0" tIns="0" rIns="0" bIns="0" rtlCol="0" anchor="ctr"/>
          <a:lstStyle/>
          <a:p>
            <a:pPr marL="0" indent="0">
              <a:buNone/>
            </a:pPr>
            <a:r>
              <a:rPr lang="en-US" sz="1300" i="1" dirty="0">
                <a:solidFill>
                  <a:srgbClr val="C8D2DC"/>
                </a:solidFill>
                <a:latin typeface="Calibri" pitchFamily="34" charset="0"/>
                <a:ea typeface="Calibri" pitchFamily="34" charset="-122"/>
                <a:cs typeface="Calibri" pitchFamily="34" charset="-120"/>
              </a:rPr>
              <a:t>Rigor AI is engaged with 20+ design partners across F500, federal, critical infrastructure, MSSPs, and nation states. ACECARD UEBA is operationally tested by 22nd Century Technologies — running the $90M U.S. Army SOC/MDR contract with 800+ cleared analysts; USAF $108M; FBI TSC $56M; NAVAIR/USMC $145M.</a:t>
            </a:r>
            <a:endParaRPr lang="en-US" sz="1300" dirty="0"/>
          </a:p>
        </p:txBody>
      </p:sp>
      <p:sp>
        <p:nvSpPr>
          <p:cNvPr id="6" name="Shape 4"/>
          <p:cNvSpPr/>
          <p:nvPr/>
        </p:nvSpPr>
        <p:spPr>
          <a:xfrm>
            <a:off x="822960" y="4023360"/>
            <a:ext cx="10515600" cy="1828800"/>
          </a:xfrm>
          <a:prstGeom prst="rect">
            <a:avLst/>
          </a:prstGeom>
          <a:solidFill>
            <a:srgbClr val="0B1F3A"/>
          </a:solidFill>
          <a:ln w="12700">
            <a:solidFill>
              <a:srgbClr val="F26B1F"/>
            </a:solidFill>
            <a:prstDash val="solid"/>
          </a:ln>
        </p:spPr>
        <p:txBody>
          <a:bodyPr/>
          <a:lstStyle/>
          <a:p>
            <a:endParaRPr lang="en-US"/>
          </a:p>
        </p:txBody>
      </p:sp>
      <p:sp>
        <p:nvSpPr>
          <p:cNvPr id="7" name="Text 5"/>
          <p:cNvSpPr/>
          <p:nvPr/>
        </p:nvSpPr>
        <p:spPr>
          <a:xfrm>
            <a:off x="1005840" y="4114800"/>
            <a:ext cx="10058400" cy="36576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NEXT STEPS</a:t>
            </a:r>
            <a:endParaRPr lang="en-US" sz="1100" dirty="0"/>
          </a:p>
        </p:txBody>
      </p:sp>
      <p:sp>
        <p:nvSpPr>
          <p:cNvPr id="8" name="Text 6"/>
          <p:cNvSpPr/>
          <p:nvPr/>
        </p:nvSpPr>
        <p:spPr>
          <a:xfrm>
            <a:off x="1005840" y="4526280"/>
            <a:ext cx="10241280" cy="1280160"/>
          </a:xfrm>
          <a:prstGeom prst="rect">
            <a:avLst/>
          </a:prstGeom>
          <a:noFill/>
          <a:ln/>
        </p:spPr>
        <p:txBody>
          <a:bodyPr wrap="square" lIns="0" tIns="0" rIns="0" bIns="0" rtlCol="0" anchor="ctr"/>
          <a:lstStyle/>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1.  </a:t>
            </a:r>
            <a:r>
              <a:rPr lang="en-US" sz="1250" b="1" dirty="0">
                <a:solidFill>
                  <a:srgbClr val="FFFFFF"/>
                </a:solidFill>
                <a:latin typeface="Calibri" pitchFamily="34" charset="0"/>
                <a:ea typeface="Calibri" pitchFamily="34" charset="-122"/>
                <a:cs typeface="Calibri" pitchFamily="34" charset="-120"/>
              </a:rPr>
              <a:t>Pilot Rigor AI</a:t>
            </a:r>
            <a:r>
              <a:rPr lang="en-US" sz="1250" dirty="0">
                <a:solidFill>
                  <a:srgbClr val="FFFFFF"/>
                </a:solidFill>
                <a:latin typeface="Calibri" pitchFamily="34" charset="0"/>
                <a:ea typeface="Calibri" pitchFamily="34" charset="-122"/>
                <a:cs typeface="Calibri" pitchFamily="34" charset="-120"/>
              </a:rPr>
              <a:t> — Formal Policy Analysis on your edge defense estate against Volt + Salt Typhoon TTPs</a:t>
            </a:r>
            <a:endParaRPr lang="en-US" sz="1250" dirty="0"/>
          </a:p>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2.  </a:t>
            </a:r>
            <a:r>
              <a:rPr lang="en-US" sz="1250" b="1" dirty="0">
                <a:solidFill>
                  <a:srgbClr val="FFFFFF"/>
                </a:solidFill>
                <a:latin typeface="Calibri" pitchFamily="34" charset="0"/>
                <a:ea typeface="Calibri" pitchFamily="34" charset="-122"/>
                <a:cs typeface="Calibri" pitchFamily="34" charset="-120"/>
              </a:rPr>
              <a:t>Pilot ACECARD UEBA</a:t>
            </a:r>
            <a:r>
              <a:rPr lang="en-US" sz="1250" dirty="0">
                <a:solidFill>
                  <a:srgbClr val="FFFFFF"/>
                </a:solidFill>
                <a:latin typeface="Calibri" pitchFamily="34" charset="0"/>
                <a:ea typeface="Calibri" pitchFamily="34" charset="-122"/>
                <a:cs typeface="Calibri" pitchFamily="34" charset="-120"/>
              </a:rPr>
              <a:t> — Replay Volt + Salt Typhoon scenarios on your telemetry; tune thresholds + cohorts</a:t>
            </a:r>
            <a:endParaRPr lang="en-US" sz="1250" dirty="0"/>
          </a:p>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3.  </a:t>
            </a:r>
            <a:r>
              <a:rPr lang="en-US" sz="1250" b="1" dirty="0">
                <a:solidFill>
                  <a:srgbClr val="FFFFFF"/>
                </a:solidFill>
                <a:latin typeface="Calibri" pitchFamily="34" charset="0"/>
                <a:ea typeface="Calibri" pitchFamily="34" charset="-122"/>
                <a:cs typeface="Calibri" pitchFamily="34" charset="-120"/>
              </a:rPr>
              <a:t>Integrate</a:t>
            </a:r>
            <a:r>
              <a:rPr lang="en-US" sz="1250" dirty="0">
                <a:solidFill>
                  <a:srgbClr val="FFFFFF"/>
                </a:solidFill>
                <a:latin typeface="Calibri" pitchFamily="34" charset="0"/>
                <a:ea typeface="Calibri" pitchFamily="34" charset="-122"/>
                <a:cs typeface="Calibri" pitchFamily="34" charset="-120"/>
              </a:rPr>
              <a:t> — Rigor's verified findings raise ACECARD's trust floor on entities traversing closed gaps</a:t>
            </a:r>
            <a:endParaRPr lang="en-US" sz="1250" dirty="0"/>
          </a:p>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4.  </a:t>
            </a:r>
            <a:r>
              <a:rPr lang="en-US" sz="1250" b="1" dirty="0">
                <a:solidFill>
                  <a:srgbClr val="FFFFFF"/>
                </a:solidFill>
                <a:latin typeface="Calibri" pitchFamily="34" charset="0"/>
                <a:ea typeface="Calibri" pitchFamily="34" charset="-122"/>
                <a:cs typeface="Calibri" pitchFamily="34" charset="-120"/>
              </a:rPr>
              <a:t>Operationalize</a:t>
            </a:r>
            <a:r>
              <a:rPr lang="en-US" sz="1250" dirty="0">
                <a:solidFill>
                  <a:srgbClr val="FFFFFF"/>
                </a:solidFill>
                <a:latin typeface="Calibri" pitchFamily="34" charset="0"/>
                <a:ea typeface="Calibri" pitchFamily="34" charset="-122"/>
                <a:cs typeface="Calibri" pitchFamily="34" charset="-120"/>
              </a:rPr>
              <a:t> — SaaS / on-prem / IL5 / IL6 / JWICS / cATO. Continuous re-verification + behavioral monitoring</a:t>
            </a:r>
            <a:endParaRPr lang="en-US" sz="1250" dirty="0"/>
          </a:p>
        </p:txBody>
      </p:sp>
      <p:sp>
        <p:nvSpPr>
          <p:cNvPr id="9" name="Shape 7"/>
          <p:cNvSpPr/>
          <p:nvPr/>
        </p:nvSpPr>
        <p:spPr>
          <a:xfrm>
            <a:off x="822960" y="6035040"/>
            <a:ext cx="1371600" cy="36576"/>
          </a:xfrm>
          <a:prstGeom prst="rect">
            <a:avLst/>
          </a:prstGeom>
          <a:solidFill>
            <a:srgbClr val="F26B1F"/>
          </a:solidFill>
          <a:ln/>
        </p:spPr>
        <p:txBody>
          <a:bodyPr/>
          <a:lstStyle/>
          <a:p>
            <a:endParaRPr lang="en-US"/>
          </a:p>
        </p:txBody>
      </p:sp>
      <p:sp>
        <p:nvSpPr>
          <p:cNvPr id="10" name="Text 8"/>
          <p:cNvSpPr/>
          <p:nvPr/>
        </p:nvSpPr>
        <p:spPr>
          <a:xfrm>
            <a:off x="822960" y="6172200"/>
            <a:ext cx="10515600" cy="274320"/>
          </a:xfrm>
          <a:prstGeom prst="rect">
            <a:avLst/>
          </a:prstGeom>
          <a:noFill/>
          <a:ln/>
        </p:spPr>
        <p:txBody>
          <a:bodyPr wrap="square" lIns="0" tIns="0" rIns="0" bIns="0" rtlCol="0" anchor="ctr"/>
          <a:lstStyle/>
          <a:p>
            <a:pPr marL="0" indent="0">
              <a:buNone/>
            </a:pPr>
            <a:r>
              <a:rPr lang="en-US" sz="1100" dirty="0">
                <a:solidFill>
                  <a:srgbClr val="C8D2DC"/>
                </a:solidFill>
                <a:latin typeface="Calibri" pitchFamily="34" charset="0"/>
                <a:ea typeface="Calibri" pitchFamily="34" charset="-122"/>
                <a:cs typeface="Calibri" pitchFamily="34" charset="-120"/>
              </a:rPr>
              <a:t>Rigor AI:  sales-ext@rigor.ai   ·   Sundar Iyer, CEO   ·   Navneet Yadav, CPO</a:t>
            </a:r>
            <a:endParaRPr lang="en-US" sz="1100" dirty="0"/>
          </a:p>
        </p:txBody>
      </p:sp>
      <p:sp>
        <p:nvSpPr>
          <p:cNvPr id="11" name="Text 9"/>
          <p:cNvSpPr/>
          <p:nvPr/>
        </p:nvSpPr>
        <p:spPr>
          <a:xfrm>
            <a:off x="822960" y="6446520"/>
            <a:ext cx="10515600" cy="274320"/>
          </a:xfrm>
          <a:prstGeom prst="rect">
            <a:avLst/>
          </a:prstGeom>
          <a:noFill/>
          <a:ln/>
        </p:spPr>
        <p:txBody>
          <a:bodyPr wrap="square" lIns="0" tIns="0" rIns="0" bIns="0" rtlCol="0" anchor="ctr"/>
          <a:lstStyle/>
          <a:p>
            <a:pPr marL="0" indent="0">
              <a:buNone/>
            </a:pPr>
            <a:r>
              <a:rPr lang="en-US" sz="1100" dirty="0">
                <a:solidFill>
                  <a:srgbClr val="C8D2DC"/>
                </a:solidFill>
                <a:latin typeface="Calibri" pitchFamily="34" charset="0"/>
                <a:ea typeface="Calibri" pitchFamily="34" charset="-122"/>
                <a:cs typeface="Calibri" pitchFamily="34" charset="-120"/>
              </a:rPr>
              <a:t>22nd Century Technologies (TSCTI):  Ravindra Shukla, Head of AI   ·   ACECARD UEBA — UNCLASSIFIED // FOUO</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KEY NUMBERS TO MEMORIZE</a:t>
            </a:r>
          </a:p>
        </p:txBody>
      </p:sp>
      <p:sp>
        <p:nvSpPr>
          <p:cNvPr id="4" name="TextBox 3"/>
          <p:cNvSpPr txBox="1"/>
          <p:nvPr/>
        </p:nvSpPr>
        <p:spPr>
          <a:xfrm>
            <a:off x="457200" y="457200"/>
            <a:ext cx="11247120" cy="457200"/>
          </a:xfrm>
          <a:prstGeom prst="rect">
            <a:avLst/>
          </a:prstGeom>
          <a:noFill/>
        </p:spPr>
        <p:txBody>
          <a:bodyPr wrap="square">
            <a:spAutoFit/>
          </a:bodyPr>
          <a:lstStyle/>
          <a:p>
            <a:pPr algn="l">
              <a:defRPr sz="2400" b="1">
                <a:solidFill>
                  <a:srgbClr val="0B1F3A"/>
                </a:solidFill>
                <a:latin typeface="Georgia"/>
              </a:defRPr>
            </a:pPr>
            <a:r>
              <a:t>Key Numbers</a:t>
            </a:r>
          </a:p>
        </p:txBody>
      </p:sp>
      <p:sp>
        <p:nvSpPr>
          <p:cNvPr id="5" name="Rounded Rectangle 4"/>
          <p:cNvSpPr/>
          <p:nvPr/>
        </p:nvSpPr>
        <p:spPr>
          <a:xfrm>
            <a:off x="457200" y="10972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84632" y="11430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1161288"/>
            <a:ext cx="1097280" cy="237744"/>
          </a:xfrm>
          <a:prstGeom prst="rect">
            <a:avLst/>
          </a:prstGeom>
          <a:noFill/>
        </p:spPr>
        <p:txBody>
          <a:bodyPr wrap="square">
            <a:spAutoFit/>
          </a:bodyPr>
          <a:lstStyle/>
          <a:p>
            <a:pPr algn="ctr">
              <a:defRPr sz="1050" b="1">
                <a:solidFill>
                  <a:srgbClr val="FFFFFF"/>
                </a:solidFill>
                <a:latin typeface="Cascadia Code"/>
              </a:defRPr>
            </a:pPr>
            <a:r>
              <a:t>5+ years</a:t>
            </a:r>
          </a:p>
        </p:txBody>
      </p:sp>
      <p:sp>
        <p:nvSpPr>
          <p:cNvPr id="8" name="TextBox 7"/>
          <p:cNvSpPr txBox="1"/>
          <p:nvPr/>
        </p:nvSpPr>
        <p:spPr>
          <a:xfrm>
            <a:off x="1828800" y="1161288"/>
            <a:ext cx="3931920" cy="237744"/>
          </a:xfrm>
          <a:prstGeom prst="rect">
            <a:avLst/>
          </a:prstGeom>
          <a:noFill/>
        </p:spPr>
        <p:txBody>
          <a:bodyPr wrap="square">
            <a:spAutoFit/>
          </a:bodyPr>
          <a:lstStyle/>
          <a:p>
            <a:pPr algn="l">
              <a:defRPr sz="1000" b="0">
                <a:solidFill>
                  <a:srgbClr val="2D3748"/>
                </a:solidFill>
                <a:latin typeface="Calibri"/>
              </a:defRPr>
            </a:pPr>
            <a:r>
              <a:t>Volt Typhoon dwell time</a:t>
            </a:r>
          </a:p>
        </p:txBody>
      </p:sp>
      <p:sp>
        <p:nvSpPr>
          <p:cNvPr id="9" name="Rounded Rectangle 8"/>
          <p:cNvSpPr/>
          <p:nvPr/>
        </p:nvSpPr>
        <p:spPr>
          <a:xfrm>
            <a:off x="457200" y="15544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84632" y="16002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0352" y="1618488"/>
            <a:ext cx="1097280" cy="237744"/>
          </a:xfrm>
          <a:prstGeom prst="rect">
            <a:avLst/>
          </a:prstGeom>
          <a:noFill/>
        </p:spPr>
        <p:txBody>
          <a:bodyPr wrap="square">
            <a:spAutoFit/>
          </a:bodyPr>
          <a:lstStyle/>
          <a:p>
            <a:pPr algn="ctr">
              <a:defRPr sz="1050" b="1">
                <a:solidFill>
                  <a:srgbClr val="FFFFFF"/>
                </a:solidFill>
                <a:latin typeface="Cascadia Code"/>
              </a:defRPr>
            </a:pPr>
            <a:r>
              <a:t>4+ years</a:t>
            </a:r>
          </a:p>
        </p:txBody>
      </p:sp>
      <p:sp>
        <p:nvSpPr>
          <p:cNvPr id="12" name="TextBox 11"/>
          <p:cNvSpPr txBox="1"/>
          <p:nvPr/>
        </p:nvSpPr>
        <p:spPr>
          <a:xfrm>
            <a:off x="1828800" y="1618488"/>
            <a:ext cx="3931920" cy="237744"/>
          </a:xfrm>
          <a:prstGeom prst="rect">
            <a:avLst/>
          </a:prstGeom>
          <a:noFill/>
        </p:spPr>
        <p:txBody>
          <a:bodyPr wrap="square">
            <a:spAutoFit/>
          </a:bodyPr>
          <a:lstStyle/>
          <a:p>
            <a:pPr algn="l">
              <a:defRPr sz="1000" b="0">
                <a:solidFill>
                  <a:srgbClr val="2D3748"/>
                </a:solidFill>
                <a:latin typeface="Calibri"/>
              </a:defRPr>
            </a:pPr>
            <a:r>
              <a:t>Salt Typhoon dwell time</a:t>
            </a:r>
          </a:p>
        </p:txBody>
      </p:sp>
      <p:sp>
        <p:nvSpPr>
          <p:cNvPr id="13" name="Rounded Rectangle 12"/>
          <p:cNvSpPr/>
          <p:nvPr/>
        </p:nvSpPr>
        <p:spPr>
          <a:xfrm>
            <a:off x="457200" y="20116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84632" y="20574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 y="2075688"/>
            <a:ext cx="1097280" cy="237744"/>
          </a:xfrm>
          <a:prstGeom prst="rect">
            <a:avLst/>
          </a:prstGeom>
          <a:noFill/>
        </p:spPr>
        <p:txBody>
          <a:bodyPr wrap="square">
            <a:spAutoFit/>
          </a:bodyPr>
          <a:lstStyle/>
          <a:p>
            <a:pPr algn="ctr">
              <a:defRPr sz="1050" b="1">
                <a:solidFill>
                  <a:srgbClr val="FFFFFF"/>
                </a:solidFill>
                <a:latin typeface="Cascadia Code"/>
              </a:defRPr>
            </a:pPr>
            <a:r>
              <a:t>200+</a:t>
            </a:r>
          </a:p>
        </p:txBody>
      </p:sp>
      <p:sp>
        <p:nvSpPr>
          <p:cNvPr id="16" name="TextBox 15"/>
          <p:cNvSpPr txBox="1"/>
          <p:nvPr/>
        </p:nvSpPr>
        <p:spPr>
          <a:xfrm>
            <a:off x="1828800" y="2075688"/>
            <a:ext cx="3931920" cy="237744"/>
          </a:xfrm>
          <a:prstGeom prst="rect">
            <a:avLst/>
          </a:prstGeom>
          <a:noFill/>
        </p:spPr>
        <p:txBody>
          <a:bodyPr wrap="square">
            <a:spAutoFit/>
          </a:bodyPr>
          <a:lstStyle/>
          <a:p>
            <a:pPr algn="l">
              <a:defRPr sz="1000" b="0">
                <a:solidFill>
                  <a:srgbClr val="2D3748"/>
                </a:solidFill>
                <a:latin typeface="Calibri"/>
              </a:defRPr>
            </a:pPr>
            <a:r>
              <a:t>Telcos compromised by Salt Typhoon</a:t>
            </a:r>
          </a:p>
        </p:txBody>
      </p:sp>
      <p:sp>
        <p:nvSpPr>
          <p:cNvPr id="17" name="Rounded Rectangle 16"/>
          <p:cNvSpPr/>
          <p:nvPr/>
        </p:nvSpPr>
        <p:spPr>
          <a:xfrm>
            <a:off x="457200" y="24688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84632" y="25146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0352" y="2532888"/>
            <a:ext cx="1097280" cy="237744"/>
          </a:xfrm>
          <a:prstGeom prst="rect">
            <a:avLst/>
          </a:prstGeom>
          <a:noFill/>
        </p:spPr>
        <p:txBody>
          <a:bodyPr wrap="square">
            <a:spAutoFit/>
          </a:bodyPr>
          <a:lstStyle/>
          <a:p>
            <a:pPr algn="ctr">
              <a:defRPr sz="1050" b="1">
                <a:solidFill>
                  <a:srgbClr val="FFFFFF"/>
                </a:solidFill>
                <a:latin typeface="Cascadia Code"/>
              </a:defRPr>
            </a:pPr>
            <a:r>
              <a:t>99%</a:t>
            </a:r>
          </a:p>
        </p:txBody>
      </p:sp>
      <p:sp>
        <p:nvSpPr>
          <p:cNvPr id="20" name="TextBox 19"/>
          <p:cNvSpPr txBox="1"/>
          <p:nvPr/>
        </p:nvSpPr>
        <p:spPr>
          <a:xfrm>
            <a:off x="1828800" y="2532888"/>
            <a:ext cx="3931920" cy="237744"/>
          </a:xfrm>
          <a:prstGeom prst="rect">
            <a:avLst/>
          </a:prstGeom>
          <a:noFill/>
        </p:spPr>
        <p:txBody>
          <a:bodyPr wrap="square">
            <a:spAutoFit/>
          </a:bodyPr>
          <a:lstStyle/>
          <a:p>
            <a:pPr algn="l">
              <a:defRPr sz="1000" b="0">
                <a:solidFill>
                  <a:srgbClr val="2D3748"/>
                </a:solidFill>
                <a:latin typeface="Calibri"/>
              </a:defRPr>
            </a:pPr>
            <a:r>
              <a:t>FW breaches = misconfig (Gartner)</a:t>
            </a:r>
          </a:p>
        </p:txBody>
      </p:sp>
      <p:sp>
        <p:nvSpPr>
          <p:cNvPr id="21" name="Rounded Rectangle 20"/>
          <p:cNvSpPr/>
          <p:nvPr/>
        </p:nvSpPr>
        <p:spPr>
          <a:xfrm>
            <a:off x="457200" y="29260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84632" y="29718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352" y="2990088"/>
            <a:ext cx="1097280" cy="237744"/>
          </a:xfrm>
          <a:prstGeom prst="rect">
            <a:avLst/>
          </a:prstGeom>
          <a:noFill/>
        </p:spPr>
        <p:txBody>
          <a:bodyPr wrap="square">
            <a:spAutoFit/>
          </a:bodyPr>
          <a:lstStyle/>
          <a:p>
            <a:pPr algn="ctr">
              <a:defRPr sz="1050" b="1">
                <a:solidFill>
                  <a:srgbClr val="FFFFFF"/>
                </a:solidFill>
                <a:latin typeface="Cascadia Code"/>
              </a:defRPr>
            </a:pPr>
            <a:r>
              <a:t>2^8000</a:t>
            </a:r>
          </a:p>
        </p:txBody>
      </p:sp>
      <p:sp>
        <p:nvSpPr>
          <p:cNvPr id="24" name="TextBox 23"/>
          <p:cNvSpPr txBox="1"/>
          <p:nvPr/>
        </p:nvSpPr>
        <p:spPr>
          <a:xfrm>
            <a:off x="1828800" y="2990088"/>
            <a:ext cx="3931920" cy="237744"/>
          </a:xfrm>
          <a:prstGeom prst="rect">
            <a:avLst/>
          </a:prstGeom>
          <a:noFill/>
        </p:spPr>
        <p:txBody>
          <a:bodyPr wrap="square">
            <a:spAutoFit/>
          </a:bodyPr>
          <a:lstStyle/>
          <a:p>
            <a:pPr algn="l">
              <a:defRPr sz="1000" b="0">
                <a:solidFill>
                  <a:srgbClr val="2D3748"/>
                </a:solidFill>
                <a:latin typeface="Calibri"/>
              </a:defRPr>
            </a:pPr>
            <a:r>
              <a:t>Config state space (cannot be sampled)</a:t>
            </a:r>
          </a:p>
        </p:txBody>
      </p:sp>
      <p:sp>
        <p:nvSpPr>
          <p:cNvPr id="25" name="Rounded Rectangle 24"/>
          <p:cNvSpPr/>
          <p:nvPr/>
        </p:nvSpPr>
        <p:spPr>
          <a:xfrm>
            <a:off x="457200" y="33832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84632" y="34290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0352" y="3447288"/>
            <a:ext cx="1097280" cy="237744"/>
          </a:xfrm>
          <a:prstGeom prst="rect">
            <a:avLst/>
          </a:prstGeom>
          <a:noFill/>
        </p:spPr>
        <p:txBody>
          <a:bodyPr wrap="square">
            <a:spAutoFit/>
          </a:bodyPr>
          <a:lstStyle/>
          <a:p>
            <a:pPr algn="ctr">
              <a:defRPr sz="1050" b="1">
                <a:solidFill>
                  <a:srgbClr val="FFFFFF"/>
                </a:solidFill>
                <a:latin typeface="Cascadia Code"/>
              </a:defRPr>
            </a:pPr>
            <a:r>
              <a:t>50M+</a:t>
            </a:r>
          </a:p>
        </p:txBody>
      </p:sp>
      <p:sp>
        <p:nvSpPr>
          <p:cNvPr id="28" name="TextBox 27"/>
          <p:cNvSpPr txBox="1"/>
          <p:nvPr/>
        </p:nvSpPr>
        <p:spPr>
          <a:xfrm>
            <a:off x="1828800" y="3447288"/>
            <a:ext cx="3931920" cy="237744"/>
          </a:xfrm>
          <a:prstGeom prst="rect">
            <a:avLst/>
          </a:prstGeom>
          <a:noFill/>
        </p:spPr>
        <p:txBody>
          <a:bodyPr wrap="square">
            <a:spAutoFit/>
          </a:bodyPr>
          <a:lstStyle/>
          <a:p>
            <a:pPr algn="l">
              <a:defRPr sz="1000" b="0">
                <a:solidFill>
                  <a:srgbClr val="2D3748"/>
                </a:solidFill>
                <a:latin typeface="Calibri"/>
              </a:defRPr>
            </a:pPr>
            <a:r>
              <a:t>Rule combinations reasoned over</a:t>
            </a:r>
          </a:p>
        </p:txBody>
      </p:sp>
      <p:sp>
        <p:nvSpPr>
          <p:cNvPr id="29" name="Rounded Rectangle 28"/>
          <p:cNvSpPr/>
          <p:nvPr/>
        </p:nvSpPr>
        <p:spPr>
          <a:xfrm>
            <a:off x="457200" y="38404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84632" y="38862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30352" y="3904488"/>
            <a:ext cx="1097280" cy="237744"/>
          </a:xfrm>
          <a:prstGeom prst="rect">
            <a:avLst/>
          </a:prstGeom>
          <a:noFill/>
        </p:spPr>
        <p:txBody>
          <a:bodyPr wrap="square">
            <a:spAutoFit/>
          </a:bodyPr>
          <a:lstStyle/>
          <a:p>
            <a:pPr algn="ctr">
              <a:defRPr sz="1050" b="1">
                <a:solidFill>
                  <a:srgbClr val="FFFFFF"/>
                </a:solidFill>
                <a:latin typeface="Cascadia Code"/>
              </a:defRPr>
            </a:pPr>
            <a:r>
              <a:t>0</a:t>
            </a:r>
          </a:p>
        </p:txBody>
      </p:sp>
      <p:sp>
        <p:nvSpPr>
          <p:cNvPr id="32" name="TextBox 31"/>
          <p:cNvSpPr txBox="1"/>
          <p:nvPr/>
        </p:nvSpPr>
        <p:spPr>
          <a:xfrm>
            <a:off x="1828800" y="3904488"/>
            <a:ext cx="3931920" cy="237744"/>
          </a:xfrm>
          <a:prstGeom prst="rect">
            <a:avLst/>
          </a:prstGeom>
          <a:noFill/>
        </p:spPr>
        <p:txBody>
          <a:bodyPr wrap="square">
            <a:spAutoFit/>
          </a:bodyPr>
          <a:lstStyle/>
          <a:p>
            <a:pPr algn="l">
              <a:defRPr sz="1000" b="0">
                <a:solidFill>
                  <a:srgbClr val="2D3748"/>
                </a:solidFill>
                <a:latin typeface="Calibri"/>
              </a:defRPr>
            </a:pPr>
            <a:r>
              <a:t>False positives (mathematical proof)</a:t>
            </a:r>
          </a:p>
        </p:txBody>
      </p:sp>
      <p:sp>
        <p:nvSpPr>
          <p:cNvPr id="33" name="Rounded Rectangle 32"/>
          <p:cNvSpPr/>
          <p:nvPr/>
        </p:nvSpPr>
        <p:spPr>
          <a:xfrm>
            <a:off x="457200" y="42976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84632" y="43434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30352" y="4361688"/>
            <a:ext cx="1097280" cy="237744"/>
          </a:xfrm>
          <a:prstGeom prst="rect">
            <a:avLst/>
          </a:prstGeom>
          <a:noFill/>
        </p:spPr>
        <p:txBody>
          <a:bodyPr wrap="square">
            <a:spAutoFit/>
          </a:bodyPr>
          <a:lstStyle/>
          <a:p>
            <a:pPr algn="ctr">
              <a:defRPr sz="1050" b="1">
                <a:solidFill>
                  <a:srgbClr val="FFFFFF"/>
                </a:solidFill>
                <a:latin typeface="Cascadia Code"/>
              </a:defRPr>
            </a:pPr>
            <a:r>
              <a:t>0</a:t>
            </a:r>
          </a:p>
        </p:txBody>
      </p:sp>
      <p:sp>
        <p:nvSpPr>
          <p:cNvPr id="36" name="TextBox 35"/>
          <p:cNvSpPr txBox="1"/>
          <p:nvPr/>
        </p:nvSpPr>
        <p:spPr>
          <a:xfrm>
            <a:off x="1828800" y="4361688"/>
            <a:ext cx="3931920" cy="237744"/>
          </a:xfrm>
          <a:prstGeom prst="rect">
            <a:avLst/>
          </a:prstGeom>
          <a:noFill/>
        </p:spPr>
        <p:txBody>
          <a:bodyPr wrap="square">
            <a:spAutoFit/>
          </a:bodyPr>
          <a:lstStyle/>
          <a:p>
            <a:pPr algn="l">
              <a:defRPr sz="1000" b="0">
                <a:solidFill>
                  <a:srgbClr val="2D3748"/>
                </a:solidFill>
                <a:latin typeface="Calibri"/>
              </a:defRPr>
            </a:pPr>
            <a:r>
              <a:t>False negatives (exhaustive reasoning)</a:t>
            </a:r>
          </a:p>
        </p:txBody>
      </p:sp>
      <p:sp>
        <p:nvSpPr>
          <p:cNvPr id="37" name="Rounded Rectangle 36"/>
          <p:cNvSpPr/>
          <p:nvPr/>
        </p:nvSpPr>
        <p:spPr>
          <a:xfrm>
            <a:off x="457200" y="47548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84632" y="48006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30352" y="4818888"/>
            <a:ext cx="1097280" cy="237744"/>
          </a:xfrm>
          <a:prstGeom prst="rect">
            <a:avLst/>
          </a:prstGeom>
          <a:noFill/>
        </p:spPr>
        <p:txBody>
          <a:bodyPr wrap="square">
            <a:spAutoFit/>
          </a:bodyPr>
          <a:lstStyle/>
          <a:p>
            <a:pPr algn="ctr">
              <a:defRPr sz="1050" b="1">
                <a:solidFill>
                  <a:srgbClr val="FFFFFF"/>
                </a:solidFill>
                <a:latin typeface="Cascadia Code"/>
              </a:defRPr>
            </a:pPr>
            <a:r>
              <a:t>&lt;1 hour</a:t>
            </a:r>
          </a:p>
        </p:txBody>
      </p:sp>
      <p:sp>
        <p:nvSpPr>
          <p:cNvPr id="40" name="TextBox 39"/>
          <p:cNvSpPr txBox="1"/>
          <p:nvPr/>
        </p:nvSpPr>
        <p:spPr>
          <a:xfrm>
            <a:off x="1828800" y="4818888"/>
            <a:ext cx="3931920" cy="237744"/>
          </a:xfrm>
          <a:prstGeom prst="rect">
            <a:avLst/>
          </a:prstGeom>
          <a:noFill/>
        </p:spPr>
        <p:txBody>
          <a:bodyPr wrap="square">
            <a:spAutoFit/>
          </a:bodyPr>
          <a:lstStyle/>
          <a:p>
            <a:pPr algn="l">
              <a:defRPr sz="1000" b="0">
                <a:solidFill>
                  <a:srgbClr val="2D3748"/>
                </a:solidFill>
                <a:latin typeface="Calibri"/>
              </a:defRPr>
            </a:pPr>
            <a:r>
              <a:t>Config drift detection time</a:t>
            </a:r>
          </a:p>
        </p:txBody>
      </p:sp>
      <p:sp>
        <p:nvSpPr>
          <p:cNvPr id="41" name="Rounded Rectangle 40"/>
          <p:cNvSpPr/>
          <p:nvPr/>
        </p:nvSpPr>
        <p:spPr>
          <a:xfrm>
            <a:off x="6217920" y="10972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245352" y="11430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91072" y="1161288"/>
            <a:ext cx="1097280" cy="237744"/>
          </a:xfrm>
          <a:prstGeom prst="rect">
            <a:avLst/>
          </a:prstGeom>
          <a:noFill/>
        </p:spPr>
        <p:txBody>
          <a:bodyPr wrap="square">
            <a:spAutoFit/>
          </a:bodyPr>
          <a:lstStyle/>
          <a:p>
            <a:pPr algn="ctr">
              <a:defRPr sz="1050" b="1">
                <a:solidFill>
                  <a:srgbClr val="FFFFFF"/>
                </a:solidFill>
                <a:latin typeface="Cascadia Code"/>
              </a:defRPr>
            </a:pPr>
            <a:r>
              <a:t>1,536</a:t>
            </a:r>
          </a:p>
        </p:txBody>
      </p:sp>
      <p:sp>
        <p:nvSpPr>
          <p:cNvPr id="44" name="TextBox 43"/>
          <p:cNvSpPr txBox="1"/>
          <p:nvPr/>
        </p:nvSpPr>
        <p:spPr>
          <a:xfrm>
            <a:off x="7589520" y="1161288"/>
            <a:ext cx="3931920" cy="237744"/>
          </a:xfrm>
          <a:prstGeom prst="rect">
            <a:avLst/>
          </a:prstGeom>
          <a:noFill/>
        </p:spPr>
        <p:txBody>
          <a:bodyPr wrap="square">
            <a:spAutoFit/>
          </a:bodyPr>
          <a:lstStyle/>
          <a:p>
            <a:pPr algn="l">
              <a:defRPr sz="1000" b="0">
                <a:solidFill>
                  <a:srgbClr val="2D3748"/>
                </a:solidFill>
                <a:latin typeface="Calibri"/>
              </a:defRPr>
            </a:pPr>
            <a:r>
              <a:t>Embedding dims per signal</a:t>
            </a:r>
          </a:p>
        </p:txBody>
      </p:sp>
      <p:sp>
        <p:nvSpPr>
          <p:cNvPr id="45" name="Rounded Rectangle 44"/>
          <p:cNvSpPr/>
          <p:nvPr/>
        </p:nvSpPr>
        <p:spPr>
          <a:xfrm>
            <a:off x="6217920" y="15544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245352" y="16002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91072" y="1618488"/>
            <a:ext cx="1097280" cy="237744"/>
          </a:xfrm>
          <a:prstGeom prst="rect">
            <a:avLst/>
          </a:prstGeom>
          <a:noFill/>
        </p:spPr>
        <p:txBody>
          <a:bodyPr wrap="square">
            <a:spAutoFit/>
          </a:bodyPr>
          <a:lstStyle/>
          <a:p>
            <a:pPr algn="ctr">
              <a:defRPr sz="1050" b="1">
                <a:solidFill>
                  <a:srgbClr val="FFFFFF"/>
                </a:solidFill>
                <a:latin typeface="Cascadia Code"/>
              </a:defRPr>
            </a:pPr>
            <a:r>
              <a:t>9,216</a:t>
            </a:r>
          </a:p>
        </p:txBody>
      </p:sp>
      <p:sp>
        <p:nvSpPr>
          <p:cNvPr id="48" name="TextBox 47"/>
          <p:cNvSpPr txBox="1"/>
          <p:nvPr/>
        </p:nvSpPr>
        <p:spPr>
          <a:xfrm>
            <a:off x="7589520" y="1618488"/>
            <a:ext cx="3931920" cy="237744"/>
          </a:xfrm>
          <a:prstGeom prst="rect">
            <a:avLst/>
          </a:prstGeom>
          <a:noFill/>
        </p:spPr>
        <p:txBody>
          <a:bodyPr wrap="square">
            <a:spAutoFit/>
          </a:bodyPr>
          <a:lstStyle/>
          <a:p>
            <a:pPr algn="l">
              <a:defRPr sz="1000" b="0">
                <a:solidFill>
                  <a:srgbClr val="2D3748"/>
                </a:solidFill>
                <a:latin typeface="Calibri"/>
              </a:defRPr>
            </a:pPr>
            <a:r>
              <a:t>Total dims (6 x 1536) per entity</a:t>
            </a:r>
          </a:p>
        </p:txBody>
      </p:sp>
      <p:sp>
        <p:nvSpPr>
          <p:cNvPr id="49" name="Rounded Rectangle 48"/>
          <p:cNvSpPr/>
          <p:nvPr/>
        </p:nvSpPr>
        <p:spPr>
          <a:xfrm>
            <a:off x="6217920" y="20116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245352" y="20574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291072" y="2075688"/>
            <a:ext cx="1097280" cy="237744"/>
          </a:xfrm>
          <a:prstGeom prst="rect">
            <a:avLst/>
          </a:prstGeom>
          <a:noFill/>
        </p:spPr>
        <p:txBody>
          <a:bodyPr wrap="square">
            <a:spAutoFit/>
          </a:bodyPr>
          <a:lstStyle/>
          <a:p>
            <a:pPr algn="ctr">
              <a:defRPr sz="1050" b="1">
                <a:solidFill>
                  <a:srgbClr val="FFFFFF"/>
                </a:solidFill>
                <a:latin typeface="Cascadia Code"/>
              </a:defRPr>
            </a:pPr>
            <a:r>
              <a:t>5</a:t>
            </a:r>
          </a:p>
        </p:txBody>
      </p:sp>
      <p:sp>
        <p:nvSpPr>
          <p:cNvPr id="52" name="TextBox 51"/>
          <p:cNvSpPr txBox="1"/>
          <p:nvPr/>
        </p:nvSpPr>
        <p:spPr>
          <a:xfrm>
            <a:off x="7589520" y="2075688"/>
            <a:ext cx="3931920" cy="237744"/>
          </a:xfrm>
          <a:prstGeom prst="rect">
            <a:avLst/>
          </a:prstGeom>
          <a:noFill/>
        </p:spPr>
        <p:txBody>
          <a:bodyPr wrap="square">
            <a:spAutoFit/>
          </a:bodyPr>
          <a:lstStyle/>
          <a:p>
            <a:pPr algn="l">
              <a:defRPr sz="1000" b="0">
                <a:solidFill>
                  <a:srgbClr val="2D3748"/>
                </a:solidFill>
                <a:latin typeface="Calibri"/>
              </a:defRPr>
            </a:pPr>
            <a:r>
              <a:t>Behavioral signals</a:t>
            </a:r>
          </a:p>
        </p:txBody>
      </p:sp>
      <p:sp>
        <p:nvSpPr>
          <p:cNvPr id="53" name="Rounded Rectangle 52"/>
          <p:cNvSpPr/>
          <p:nvPr/>
        </p:nvSpPr>
        <p:spPr>
          <a:xfrm>
            <a:off x="6217920" y="24688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245352" y="25146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291072" y="2532888"/>
            <a:ext cx="1097280" cy="237744"/>
          </a:xfrm>
          <a:prstGeom prst="rect">
            <a:avLst/>
          </a:prstGeom>
          <a:noFill/>
        </p:spPr>
        <p:txBody>
          <a:bodyPr wrap="square">
            <a:spAutoFit/>
          </a:bodyPr>
          <a:lstStyle/>
          <a:p>
            <a:pPr algn="ctr">
              <a:defRPr sz="1050" b="1">
                <a:solidFill>
                  <a:srgbClr val="FFFFFF"/>
                </a:solidFill>
                <a:latin typeface="Cascadia Code"/>
              </a:defRPr>
            </a:pPr>
            <a:r>
              <a:t>8</a:t>
            </a:r>
          </a:p>
        </p:txBody>
      </p:sp>
      <p:sp>
        <p:nvSpPr>
          <p:cNvPr id="56" name="TextBox 55"/>
          <p:cNvSpPr txBox="1"/>
          <p:nvPr/>
        </p:nvSpPr>
        <p:spPr>
          <a:xfrm>
            <a:off x="7589520" y="2532888"/>
            <a:ext cx="3931920" cy="237744"/>
          </a:xfrm>
          <a:prstGeom prst="rect">
            <a:avLst/>
          </a:prstGeom>
          <a:noFill/>
        </p:spPr>
        <p:txBody>
          <a:bodyPr wrap="square">
            <a:spAutoFit/>
          </a:bodyPr>
          <a:lstStyle/>
          <a:p>
            <a:pPr algn="l">
              <a:defRPr sz="1000" b="0">
                <a:solidFill>
                  <a:srgbClr val="2D3748"/>
                </a:solidFill>
                <a:latin typeface="Calibri"/>
              </a:defRPr>
            </a:pPr>
            <a:r>
              <a:t>MITRE threat concepts</a:t>
            </a:r>
          </a:p>
        </p:txBody>
      </p:sp>
      <p:sp>
        <p:nvSpPr>
          <p:cNvPr id="57" name="Rounded Rectangle 56"/>
          <p:cNvSpPr/>
          <p:nvPr/>
        </p:nvSpPr>
        <p:spPr>
          <a:xfrm>
            <a:off x="6217920" y="29260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6245352" y="29718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291072" y="2990088"/>
            <a:ext cx="1097280" cy="237744"/>
          </a:xfrm>
          <a:prstGeom prst="rect">
            <a:avLst/>
          </a:prstGeom>
          <a:noFill/>
        </p:spPr>
        <p:txBody>
          <a:bodyPr wrap="square">
            <a:spAutoFit/>
          </a:bodyPr>
          <a:lstStyle/>
          <a:p>
            <a:pPr algn="ctr">
              <a:defRPr sz="1050" b="1">
                <a:solidFill>
                  <a:srgbClr val="FFFFFF"/>
                </a:solidFill>
                <a:latin typeface="Cascadia Code"/>
              </a:defRPr>
            </a:pPr>
            <a:r>
              <a:t>4-sigma</a:t>
            </a:r>
          </a:p>
        </p:txBody>
      </p:sp>
      <p:sp>
        <p:nvSpPr>
          <p:cNvPr id="60" name="TextBox 59"/>
          <p:cNvSpPr txBox="1"/>
          <p:nvPr/>
        </p:nvSpPr>
        <p:spPr>
          <a:xfrm>
            <a:off x="7589520" y="2990088"/>
            <a:ext cx="3931920" cy="237744"/>
          </a:xfrm>
          <a:prstGeom prst="rect">
            <a:avLst/>
          </a:prstGeom>
          <a:noFill/>
        </p:spPr>
        <p:txBody>
          <a:bodyPr wrap="square">
            <a:spAutoFit/>
          </a:bodyPr>
          <a:lstStyle/>
          <a:p>
            <a:pPr algn="l">
              <a:defRPr sz="1000" b="0">
                <a:solidFill>
                  <a:srgbClr val="2D3748"/>
                </a:solidFill>
                <a:latin typeface="Calibri"/>
              </a:defRPr>
            </a:pPr>
            <a:r>
              <a:t>CUSUM alarm threshold</a:t>
            </a:r>
          </a:p>
        </p:txBody>
      </p:sp>
      <p:sp>
        <p:nvSpPr>
          <p:cNvPr id="61" name="Rounded Rectangle 60"/>
          <p:cNvSpPr/>
          <p:nvPr/>
        </p:nvSpPr>
        <p:spPr>
          <a:xfrm>
            <a:off x="6217920" y="33832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6245352" y="34290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291072" y="3447288"/>
            <a:ext cx="1097280" cy="237744"/>
          </a:xfrm>
          <a:prstGeom prst="rect">
            <a:avLst/>
          </a:prstGeom>
          <a:noFill/>
        </p:spPr>
        <p:txBody>
          <a:bodyPr wrap="square">
            <a:spAutoFit/>
          </a:bodyPr>
          <a:lstStyle/>
          <a:p>
            <a:pPr algn="ctr">
              <a:defRPr sz="1050" b="1">
                <a:solidFill>
                  <a:srgbClr val="FFFFFF"/>
                </a:solidFill>
                <a:latin typeface="Cascadia Code"/>
              </a:defRPr>
            </a:pPr>
            <a:r>
              <a:t>&lt;3 sec</a:t>
            </a:r>
          </a:p>
        </p:txBody>
      </p:sp>
      <p:sp>
        <p:nvSpPr>
          <p:cNvPr id="64" name="TextBox 63"/>
          <p:cNvSpPr txBox="1"/>
          <p:nvPr/>
        </p:nvSpPr>
        <p:spPr>
          <a:xfrm>
            <a:off x="7589520" y="3447288"/>
            <a:ext cx="3931920" cy="237744"/>
          </a:xfrm>
          <a:prstGeom prst="rect">
            <a:avLst/>
          </a:prstGeom>
          <a:noFill/>
        </p:spPr>
        <p:txBody>
          <a:bodyPr wrap="square">
            <a:spAutoFit/>
          </a:bodyPr>
          <a:lstStyle/>
          <a:p>
            <a:pPr algn="l">
              <a:defRPr sz="1000" b="0">
                <a:solidFill>
                  <a:srgbClr val="2D3748"/>
                </a:solidFill>
                <a:latin typeface="Calibri"/>
              </a:defRPr>
            </a:pPr>
            <a:r>
              <a:t>Event to analysis per entity</a:t>
            </a:r>
          </a:p>
        </p:txBody>
      </p:sp>
      <p:sp>
        <p:nvSpPr>
          <p:cNvPr id="65" name="Rounded Rectangle 64"/>
          <p:cNvSpPr/>
          <p:nvPr/>
        </p:nvSpPr>
        <p:spPr>
          <a:xfrm>
            <a:off x="6217920" y="38404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6245352" y="38862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291072" y="3904488"/>
            <a:ext cx="1097280" cy="237744"/>
          </a:xfrm>
          <a:prstGeom prst="rect">
            <a:avLst/>
          </a:prstGeom>
          <a:noFill/>
        </p:spPr>
        <p:txBody>
          <a:bodyPr wrap="square">
            <a:spAutoFit/>
          </a:bodyPr>
          <a:lstStyle/>
          <a:p>
            <a:pPr algn="ctr">
              <a:defRPr sz="1050" b="1">
                <a:solidFill>
                  <a:srgbClr val="FFFFFF"/>
                </a:solidFill>
                <a:latin typeface="Cascadia Code"/>
              </a:defRPr>
            </a:pPr>
            <a:r>
              <a:t>10K/hr</a:t>
            </a:r>
          </a:p>
        </p:txBody>
      </p:sp>
      <p:sp>
        <p:nvSpPr>
          <p:cNvPr id="68" name="TextBox 67"/>
          <p:cNvSpPr txBox="1"/>
          <p:nvPr/>
        </p:nvSpPr>
        <p:spPr>
          <a:xfrm>
            <a:off x="7589520" y="3904488"/>
            <a:ext cx="3931920" cy="237744"/>
          </a:xfrm>
          <a:prstGeom prst="rect">
            <a:avLst/>
          </a:prstGeom>
          <a:noFill/>
        </p:spPr>
        <p:txBody>
          <a:bodyPr wrap="square">
            <a:spAutoFit/>
          </a:bodyPr>
          <a:lstStyle/>
          <a:p>
            <a:pPr algn="l">
              <a:defRPr sz="1000" b="0">
                <a:solidFill>
                  <a:srgbClr val="2D3748"/>
                </a:solidFill>
                <a:latin typeface="Calibri"/>
              </a:defRPr>
            </a:pPr>
            <a:r>
              <a:t>Entities per 4-vCPU worker</a:t>
            </a:r>
          </a:p>
        </p:txBody>
      </p:sp>
      <p:sp>
        <p:nvSpPr>
          <p:cNvPr id="69" name="Rounded Rectangle 68"/>
          <p:cNvSpPr/>
          <p:nvPr/>
        </p:nvSpPr>
        <p:spPr>
          <a:xfrm>
            <a:off x="6217920" y="42976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6245352" y="43434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291072" y="4361688"/>
            <a:ext cx="1097280" cy="237744"/>
          </a:xfrm>
          <a:prstGeom prst="rect">
            <a:avLst/>
          </a:prstGeom>
          <a:noFill/>
        </p:spPr>
        <p:txBody>
          <a:bodyPr wrap="square">
            <a:spAutoFit/>
          </a:bodyPr>
          <a:lstStyle/>
          <a:p>
            <a:pPr algn="ctr">
              <a:defRPr sz="1050" b="1">
                <a:solidFill>
                  <a:srgbClr val="FFFFFF"/>
                </a:solidFill>
                <a:latin typeface="Cascadia Code"/>
              </a:defRPr>
            </a:pPr>
            <a:r>
              <a:t>90 days</a:t>
            </a:r>
          </a:p>
        </p:txBody>
      </p:sp>
      <p:sp>
        <p:nvSpPr>
          <p:cNvPr id="72" name="TextBox 71"/>
          <p:cNvSpPr txBox="1"/>
          <p:nvPr/>
        </p:nvSpPr>
        <p:spPr>
          <a:xfrm>
            <a:off x="7589520" y="4361688"/>
            <a:ext cx="3931920" cy="237744"/>
          </a:xfrm>
          <a:prstGeom prst="rect">
            <a:avLst/>
          </a:prstGeom>
          <a:noFill/>
        </p:spPr>
        <p:txBody>
          <a:bodyPr wrap="square">
            <a:spAutoFit/>
          </a:bodyPr>
          <a:lstStyle/>
          <a:p>
            <a:pPr algn="l">
              <a:defRPr sz="1000" b="0">
                <a:solidFill>
                  <a:srgbClr val="2D3748"/>
                </a:solidFill>
                <a:latin typeface="Calibri"/>
              </a:defRPr>
            </a:pPr>
            <a:r>
              <a:t>Contract to first detection</a:t>
            </a:r>
          </a:p>
        </p:txBody>
      </p:sp>
      <p:sp>
        <p:nvSpPr>
          <p:cNvPr id="73" name="Rounded Rectangle 72"/>
          <p:cNvSpPr/>
          <p:nvPr/>
        </p:nvSpPr>
        <p:spPr>
          <a:xfrm>
            <a:off x="6217920" y="4754880"/>
            <a:ext cx="5486400" cy="4114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6245352" y="4800600"/>
            <a:ext cx="1188720"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291072" y="4818888"/>
            <a:ext cx="1097280" cy="237744"/>
          </a:xfrm>
          <a:prstGeom prst="rect">
            <a:avLst/>
          </a:prstGeom>
          <a:noFill/>
        </p:spPr>
        <p:txBody>
          <a:bodyPr wrap="square">
            <a:spAutoFit/>
          </a:bodyPr>
          <a:lstStyle/>
          <a:p>
            <a:pPr algn="ctr">
              <a:defRPr sz="1050" b="1">
                <a:solidFill>
                  <a:srgbClr val="FFFFFF"/>
                </a:solidFill>
                <a:latin typeface="Cascadia Code"/>
              </a:defRPr>
            </a:pPr>
            <a:r>
              <a:t>IL5/IL6/JWICS</a:t>
            </a:r>
          </a:p>
        </p:txBody>
      </p:sp>
      <p:sp>
        <p:nvSpPr>
          <p:cNvPr id="76" name="TextBox 75"/>
          <p:cNvSpPr txBox="1"/>
          <p:nvPr/>
        </p:nvSpPr>
        <p:spPr>
          <a:xfrm>
            <a:off x="7589520" y="4818888"/>
            <a:ext cx="3931920" cy="237744"/>
          </a:xfrm>
          <a:prstGeom prst="rect">
            <a:avLst/>
          </a:prstGeom>
          <a:noFill/>
        </p:spPr>
        <p:txBody>
          <a:bodyPr wrap="square">
            <a:spAutoFit/>
          </a:bodyPr>
          <a:lstStyle/>
          <a:p>
            <a:pPr algn="l">
              <a:defRPr sz="1000" b="0">
                <a:solidFill>
                  <a:srgbClr val="2D3748"/>
                </a:solidFill>
                <a:latin typeface="Calibri"/>
              </a:defRPr>
            </a:pPr>
            <a:r>
              <a:t>Three enclave support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22ND CENTURY TECHNOLOGIES</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Why 22CT: Proven at Scale in Federal Cyber Operations</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Operating the largest Army SOC/MDR contract with 800+ cleared analysts.</a:t>
            </a:r>
          </a:p>
        </p:txBody>
      </p:sp>
      <p:sp>
        <p:nvSpPr>
          <p:cNvPr id="6" name="Rounded Rectangle 5"/>
          <p:cNvSpPr/>
          <p:nvPr/>
        </p:nvSpPr>
        <p:spPr>
          <a:xfrm>
            <a:off x="457200" y="1280160"/>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91440" cy="86868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325880"/>
            <a:ext cx="10607040" cy="274320"/>
          </a:xfrm>
          <a:prstGeom prst="rect">
            <a:avLst/>
          </a:prstGeom>
          <a:noFill/>
        </p:spPr>
        <p:txBody>
          <a:bodyPr wrap="square">
            <a:spAutoFit/>
          </a:bodyPr>
          <a:lstStyle/>
          <a:p>
            <a:pPr algn="l">
              <a:defRPr sz="1300" b="1">
                <a:solidFill>
                  <a:srgbClr val="F26B1F"/>
                </a:solidFill>
                <a:latin typeface="Calibri"/>
              </a:defRPr>
            </a:pPr>
            <a:r>
              <a:t>$90M Army SOC/MDR Contract</a:t>
            </a:r>
          </a:p>
        </p:txBody>
      </p:sp>
      <p:sp>
        <p:nvSpPr>
          <p:cNvPr id="9" name="TextBox 8"/>
          <p:cNvSpPr txBox="1"/>
          <p:nvPr/>
        </p:nvSpPr>
        <p:spPr>
          <a:xfrm>
            <a:off x="731520" y="1600200"/>
            <a:ext cx="10607040" cy="502920"/>
          </a:xfrm>
          <a:prstGeom prst="rect">
            <a:avLst/>
          </a:prstGeom>
          <a:noFill/>
        </p:spPr>
        <p:txBody>
          <a:bodyPr wrap="square">
            <a:spAutoFit/>
          </a:bodyPr>
          <a:lstStyle/>
          <a:p>
            <a:pPr algn="l">
              <a:defRPr sz="1000" b="0">
                <a:solidFill>
                  <a:srgbClr val="2D3748"/>
                </a:solidFill>
                <a:latin typeface="Calibri"/>
              </a:defRPr>
            </a:pPr>
            <a:r>
              <a:t>Active Army SOC and Managed Detection &amp; Response. 800+ cleared analysts across multiple installations. 24x7x365 operations. Proven incident response at enterprise scale.</a:t>
            </a:r>
          </a:p>
        </p:txBody>
      </p:sp>
      <p:sp>
        <p:nvSpPr>
          <p:cNvPr id="10" name="Rounded Rectangle 9"/>
          <p:cNvSpPr/>
          <p:nvPr/>
        </p:nvSpPr>
        <p:spPr>
          <a:xfrm>
            <a:off x="457200" y="2240280"/>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240280"/>
            <a:ext cx="91440" cy="86868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286000"/>
            <a:ext cx="10607040" cy="274320"/>
          </a:xfrm>
          <a:prstGeom prst="rect">
            <a:avLst/>
          </a:prstGeom>
          <a:noFill/>
        </p:spPr>
        <p:txBody>
          <a:bodyPr wrap="square">
            <a:spAutoFit/>
          </a:bodyPr>
          <a:lstStyle/>
          <a:p>
            <a:pPr algn="l">
              <a:defRPr sz="1300" b="1">
                <a:solidFill>
                  <a:srgbClr val="0891B2"/>
                </a:solidFill>
                <a:latin typeface="Calibri"/>
              </a:defRPr>
            </a:pPr>
            <a:r>
              <a:t>Cleared Workforce at Scale</a:t>
            </a:r>
          </a:p>
        </p:txBody>
      </p:sp>
      <p:sp>
        <p:nvSpPr>
          <p:cNvPr id="13" name="TextBox 12"/>
          <p:cNvSpPr txBox="1"/>
          <p:nvPr/>
        </p:nvSpPr>
        <p:spPr>
          <a:xfrm>
            <a:off x="731520" y="2560320"/>
            <a:ext cx="10607040" cy="502920"/>
          </a:xfrm>
          <a:prstGeom prst="rect">
            <a:avLst/>
          </a:prstGeom>
          <a:noFill/>
        </p:spPr>
        <p:txBody>
          <a:bodyPr wrap="square">
            <a:spAutoFit/>
          </a:bodyPr>
          <a:lstStyle/>
          <a:p>
            <a:pPr algn="l">
              <a:defRPr sz="1000" b="0">
                <a:solidFill>
                  <a:srgbClr val="2D3748"/>
                </a:solidFill>
                <a:latin typeface="Calibri"/>
              </a:defRPr>
            </a:pPr>
            <a:r>
              <a:t>800+ cleared analysts (Secret through TS/SCI). Trained on MITRE ATT&amp;CK, NIST 800-53, DoD RMF. Ready to operate ACECARD from Day 1 -- no hiring ramp.</a:t>
            </a:r>
          </a:p>
        </p:txBody>
      </p:sp>
      <p:sp>
        <p:nvSpPr>
          <p:cNvPr id="14" name="Rounded Rectangle 13"/>
          <p:cNvSpPr/>
          <p:nvPr/>
        </p:nvSpPr>
        <p:spPr>
          <a:xfrm>
            <a:off x="457200" y="3200400"/>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200400"/>
            <a:ext cx="91440" cy="8686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246120"/>
            <a:ext cx="10607040" cy="274320"/>
          </a:xfrm>
          <a:prstGeom prst="rect">
            <a:avLst/>
          </a:prstGeom>
          <a:noFill/>
        </p:spPr>
        <p:txBody>
          <a:bodyPr wrap="square">
            <a:spAutoFit/>
          </a:bodyPr>
          <a:lstStyle/>
          <a:p>
            <a:pPr algn="l">
              <a:defRPr sz="1300" b="1">
                <a:solidFill>
                  <a:srgbClr val="0B1F3A"/>
                </a:solidFill>
                <a:latin typeface="Calibri"/>
              </a:defRPr>
            </a:pPr>
            <a:r>
              <a:t>Gabriel Nimbus Experience</a:t>
            </a:r>
          </a:p>
        </p:txBody>
      </p:sp>
      <p:sp>
        <p:nvSpPr>
          <p:cNvPr id="17" name="TextBox 16"/>
          <p:cNvSpPr txBox="1"/>
          <p:nvPr/>
        </p:nvSpPr>
        <p:spPr>
          <a:xfrm>
            <a:off x="731520" y="3520440"/>
            <a:ext cx="10607040" cy="502920"/>
          </a:xfrm>
          <a:prstGeom prst="rect">
            <a:avLst/>
          </a:prstGeom>
          <a:noFill/>
        </p:spPr>
        <p:txBody>
          <a:bodyPr wrap="square">
            <a:spAutoFit/>
          </a:bodyPr>
          <a:lstStyle/>
          <a:p>
            <a:pPr algn="l">
              <a:defRPr sz="1000" b="0">
                <a:solidFill>
                  <a:srgbClr val="2D3748"/>
                </a:solidFill>
                <a:latin typeface="Calibri"/>
              </a:defRPr>
            </a:pPr>
            <a:r>
              <a:t>Team members with direct experience operating within classified big data platforms. Understand the deployment constraints, accreditation requirements, and operational workflows.</a:t>
            </a:r>
          </a:p>
        </p:txBody>
      </p:sp>
      <p:sp>
        <p:nvSpPr>
          <p:cNvPr id="18" name="Rounded Rectangle 17"/>
          <p:cNvSpPr/>
          <p:nvPr/>
        </p:nvSpPr>
        <p:spPr>
          <a:xfrm>
            <a:off x="457200" y="4160520"/>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4160520"/>
            <a:ext cx="91440" cy="868680"/>
          </a:xfrm>
          <a:prstGeom prst="rect">
            <a:avLst/>
          </a:prstGeom>
          <a:solidFill>
            <a:srgbClr val="16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206240"/>
            <a:ext cx="10607040" cy="274320"/>
          </a:xfrm>
          <a:prstGeom prst="rect">
            <a:avLst/>
          </a:prstGeom>
          <a:noFill/>
        </p:spPr>
        <p:txBody>
          <a:bodyPr wrap="square">
            <a:spAutoFit/>
          </a:bodyPr>
          <a:lstStyle/>
          <a:p>
            <a:pPr algn="l">
              <a:defRPr sz="1300" b="1">
                <a:solidFill>
                  <a:srgbClr val="166B3A"/>
                </a:solidFill>
                <a:latin typeface="Calibri"/>
              </a:defRPr>
            </a:pPr>
            <a:r>
              <a:t>IL5/IL6/JWICS Deployment</a:t>
            </a:r>
          </a:p>
        </p:txBody>
      </p:sp>
      <p:sp>
        <p:nvSpPr>
          <p:cNvPr id="21" name="TextBox 20"/>
          <p:cNvSpPr txBox="1"/>
          <p:nvPr/>
        </p:nvSpPr>
        <p:spPr>
          <a:xfrm>
            <a:off x="731520" y="4480560"/>
            <a:ext cx="10607040" cy="502920"/>
          </a:xfrm>
          <a:prstGeom prst="rect">
            <a:avLst/>
          </a:prstGeom>
          <a:noFill/>
        </p:spPr>
        <p:txBody>
          <a:bodyPr wrap="square">
            <a:spAutoFit/>
          </a:bodyPr>
          <a:lstStyle/>
          <a:p>
            <a:pPr algn="l">
              <a:defRPr sz="1000" b="0">
                <a:solidFill>
                  <a:srgbClr val="2D3748"/>
                </a:solidFill>
                <a:latin typeface="Calibri"/>
              </a:defRPr>
            </a:pPr>
            <a:r>
              <a:t>Existing infrastructure and ATO artifacts for IL5 and IL6 deployments. Air-gapped operation validated. cATO artifacts auto-generated by platform.</a:t>
            </a:r>
          </a:p>
        </p:txBody>
      </p:sp>
      <p:sp>
        <p:nvSpPr>
          <p:cNvPr id="22" name="Rounded Rectangle 21"/>
          <p:cNvSpPr/>
          <p:nvPr/>
        </p:nvSpPr>
        <p:spPr>
          <a:xfrm>
            <a:off x="457200" y="5120640"/>
            <a:ext cx="11064240" cy="86868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5120640"/>
            <a:ext cx="91440" cy="868680"/>
          </a:xfrm>
          <a:prstGeom prst="rect">
            <a:avLst/>
          </a:prstGeom>
          <a:solidFill>
            <a:srgbClr val="6C2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5166360"/>
            <a:ext cx="10607040" cy="274320"/>
          </a:xfrm>
          <a:prstGeom prst="rect">
            <a:avLst/>
          </a:prstGeom>
          <a:noFill/>
        </p:spPr>
        <p:txBody>
          <a:bodyPr wrap="square">
            <a:spAutoFit/>
          </a:bodyPr>
          <a:lstStyle/>
          <a:p>
            <a:pPr algn="l">
              <a:defRPr sz="1300" b="1">
                <a:solidFill>
                  <a:srgbClr val="6C2ED9"/>
                </a:solidFill>
                <a:latin typeface="Calibri"/>
              </a:defRPr>
            </a:pPr>
            <a:r>
              <a:t>ACECARD: Built and Tested</a:t>
            </a:r>
          </a:p>
        </p:txBody>
      </p:sp>
      <p:sp>
        <p:nvSpPr>
          <p:cNvPr id="25" name="TextBox 24"/>
          <p:cNvSpPr txBox="1"/>
          <p:nvPr/>
        </p:nvSpPr>
        <p:spPr>
          <a:xfrm>
            <a:off x="731520" y="5440680"/>
            <a:ext cx="10607040" cy="502920"/>
          </a:xfrm>
          <a:prstGeom prst="rect">
            <a:avLst/>
          </a:prstGeom>
          <a:noFill/>
        </p:spPr>
        <p:txBody>
          <a:bodyPr wrap="square">
            <a:spAutoFit/>
          </a:bodyPr>
          <a:lstStyle/>
          <a:p>
            <a:pPr algn="l">
              <a:defRPr sz="1000" b="0">
                <a:solidFill>
                  <a:srgbClr val="2D3748"/>
                </a:solidFill>
                <a:latin typeface="Calibri"/>
              </a:defRPr>
            </a:pPr>
            <a:r>
              <a:t>ACECARD UEBA is not a concept -- it is a working prototype with synthetic Volt/Salt Typhoon replay scenarios, full trajectory analytics, drift direction, entity fusion, and ABAC enforcement.</a:t>
            </a:r>
          </a:p>
        </p:txBody>
      </p:sp>
      <p:sp>
        <p:nvSpPr>
          <p:cNvPr id="26" name="Rectangle 25"/>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22CT brings the analysts, the clearances, the infrastructure, and the technology. Ready to deploy.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DEPLOYMENT TIMELINE</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90 Days: Contract to First Detection</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Phased deployment into Gabriel Nimbus with incremental capability delivery.</a:t>
            </a:r>
          </a:p>
        </p:txBody>
      </p:sp>
      <p:sp>
        <p:nvSpPr>
          <p:cNvPr id="6" name="Rounded Rectangle 5"/>
          <p:cNvSpPr/>
          <p:nvPr/>
        </p:nvSpPr>
        <p:spPr>
          <a:xfrm>
            <a:off x="457200" y="1280160"/>
            <a:ext cx="11064240" cy="11887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91440" cy="1188720"/>
          </a:xfrm>
          <a:prstGeom prst="rect">
            <a:avLst/>
          </a:prstGeom>
          <a:solidFill>
            <a:srgbClr val="16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280160"/>
            <a:ext cx="1371600" cy="320040"/>
          </a:xfrm>
          <a:prstGeom prst="rect">
            <a:avLst/>
          </a:prstGeom>
          <a:solidFill>
            <a:srgbClr val="16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98448"/>
            <a:ext cx="1280160" cy="274320"/>
          </a:xfrm>
          <a:prstGeom prst="rect">
            <a:avLst/>
          </a:prstGeom>
          <a:noFill/>
        </p:spPr>
        <p:txBody>
          <a:bodyPr wrap="square">
            <a:spAutoFit/>
          </a:bodyPr>
          <a:lstStyle/>
          <a:p>
            <a:pPr algn="ctr">
              <a:defRPr sz="1000" b="1">
                <a:solidFill>
                  <a:srgbClr val="FFFFFF"/>
                </a:solidFill>
                <a:latin typeface="Calibri"/>
              </a:defRPr>
            </a:pPr>
            <a:r>
              <a:t>PHASE 1</a:t>
            </a:r>
          </a:p>
        </p:txBody>
      </p:sp>
      <p:sp>
        <p:nvSpPr>
          <p:cNvPr id="10" name="TextBox 9"/>
          <p:cNvSpPr txBox="1"/>
          <p:nvPr/>
        </p:nvSpPr>
        <p:spPr>
          <a:xfrm>
            <a:off x="1920240" y="1298448"/>
            <a:ext cx="1188720" cy="274320"/>
          </a:xfrm>
          <a:prstGeom prst="rect">
            <a:avLst/>
          </a:prstGeom>
          <a:noFill/>
        </p:spPr>
        <p:txBody>
          <a:bodyPr wrap="square">
            <a:spAutoFit/>
          </a:bodyPr>
          <a:lstStyle/>
          <a:p>
            <a:pPr algn="l">
              <a:defRPr sz="1000" b="1">
                <a:solidFill>
                  <a:srgbClr val="166B3A"/>
                </a:solidFill>
                <a:latin typeface="Calibri"/>
              </a:defRPr>
            </a:pPr>
            <a:r>
              <a:t>Weeks 1-4</a:t>
            </a:r>
          </a:p>
        </p:txBody>
      </p:sp>
      <p:sp>
        <p:nvSpPr>
          <p:cNvPr id="11" name="TextBox 10"/>
          <p:cNvSpPr txBox="1"/>
          <p:nvPr/>
        </p:nvSpPr>
        <p:spPr>
          <a:xfrm>
            <a:off x="3200400" y="1298448"/>
            <a:ext cx="2286000" cy="274320"/>
          </a:xfrm>
          <a:prstGeom prst="rect">
            <a:avLst/>
          </a:prstGeom>
          <a:noFill/>
        </p:spPr>
        <p:txBody>
          <a:bodyPr wrap="square">
            <a:spAutoFit/>
          </a:bodyPr>
          <a:lstStyle/>
          <a:p>
            <a:pPr algn="l">
              <a:defRPr sz="1200" b="1">
                <a:solidFill>
                  <a:srgbClr val="0B1F3A"/>
                </a:solidFill>
                <a:latin typeface="Calibri"/>
              </a:defRPr>
            </a:pPr>
            <a:r>
              <a:t>FOUNDATION</a:t>
            </a:r>
          </a:p>
        </p:txBody>
      </p:sp>
      <p:sp>
        <p:nvSpPr>
          <p:cNvPr id="12" name="TextBox 11"/>
          <p:cNvSpPr txBox="1"/>
          <p:nvPr/>
        </p:nvSpPr>
        <p:spPr>
          <a:xfrm>
            <a:off x="731520" y="1645920"/>
            <a:ext cx="10515600" cy="731520"/>
          </a:xfrm>
          <a:prstGeom prst="rect">
            <a:avLst/>
          </a:prstGeom>
          <a:noFill/>
        </p:spPr>
        <p:txBody>
          <a:bodyPr wrap="square">
            <a:spAutoFit/>
          </a:bodyPr>
          <a:lstStyle/>
          <a:p>
            <a:pPr algn="l">
              <a:defRPr sz="900" b="0">
                <a:solidFill>
                  <a:srgbClr val="2D3748"/>
                </a:solidFill>
                <a:latin typeface="Calibri"/>
              </a:defRPr>
            </a:pPr>
            <a:r>
              <a:t>Deploy K8s containers into Gabriel Nimbus (Iron Bank images)</a:t>
            </a:r>
          </a:p>
          <a:p>
            <a:pPr>
              <a:spcBef>
                <a:spcPts val="400"/>
              </a:spcBef>
              <a:defRPr sz="900" b="0">
                <a:solidFill>
                  <a:srgbClr val="2D3748"/>
                </a:solidFill>
                <a:latin typeface="Calibri"/>
              </a:defRPr>
            </a:pPr>
            <a:r>
              <a:t>Connect SIEM/EDR/NetFlow telemetry via ECS/OCSF connectors</a:t>
            </a:r>
          </a:p>
          <a:p>
            <a:pPr>
              <a:spcBef>
                <a:spcPts val="400"/>
              </a:spcBef>
              <a:defRPr sz="900" b="0">
                <a:solidFill>
                  <a:srgbClr val="2D3748"/>
                </a:solidFill>
                <a:latin typeface="Calibri"/>
              </a:defRPr>
            </a:pPr>
            <a:r>
              <a:t>Configure entity fusion rules (AD/AAD/Okta mapping)</a:t>
            </a:r>
          </a:p>
          <a:p>
            <a:pPr>
              <a:spcBef>
                <a:spcPts val="400"/>
              </a:spcBef>
              <a:defRPr sz="900" b="0">
                <a:solidFill>
                  <a:srgbClr val="2D3748"/>
                </a:solidFill>
                <a:latin typeface="Calibri"/>
              </a:defRPr>
            </a:pPr>
            <a:r>
              <a:t>Baseline 30-day rolling centroid per entity</a:t>
            </a:r>
          </a:p>
          <a:p>
            <a:pPr>
              <a:spcBef>
                <a:spcPts val="400"/>
              </a:spcBef>
              <a:defRPr sz="900" b="1">
                <a:solidFill>
                  <a:srgbClr val="0B1F3A"/>
                </a:solidFill>
                <a:latin typeface="Calibri"/>
              </a:defRPr>
            </a:pPr>
            <a:r>
              <a:t>DELIVERABLE: Data flowing, entities resolved, baselines computing</a:t>
            </a:r>
          </a:p>
        </p:txBody>
      </p:sp>
      <p:sp>
        <p:nvSpPr>
          <p:cNvPr id="13" name="Rounded Rectangle 12"/>
          <p:cNvSpPr/>
          <p:nvPr/>
        </p:nvSpPr>
        <p:spPr>
          <a:xfrm>
            <a:off x="457200" y="2514600"/>
            <a:ext cx="11064240" cy="11887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514600"/>
            <a:ext cx="91440" cy="118872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514600"/>
            <a:ext cx="1371600" cy="320040"/>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2532888"/>
            <a:ext cx="1280160" cy="274320"/>
          </a:xfrm>
          <a:prstGeom prst="rect">
            <a:avLst/>
          </a:prstGeom>
          <a:noFill/>
        </p:spPr>
        <p:txBody>
          <a:bodyPr wrap="square">
            <a:spAutoFit/>
          </a:bodyPr>
          <a:lstStyle/>
          <a:p>
            <a:pPr algn="ctr">
              <a:defRPr sz="1000" b="1">
                <a:solidFill>
                  <a:srgbClr val="FFFFFF"/>
                </a:solidFill>
                <a:latin typeface="Calibri"/>
              </a:defRPr>
            </a:pPr>
            <a:r>
              <a:t>PHASE 2</a:t>
            </a:r>
          </a:p>
        </p:txBody>
      </p:sp>
      <p:sp>
        <p:nvSpPr>
          <p:cNvPr id="17" name="TextBox 16"/>
          <p:cNvSpPr txBox="1"/>
          <p:nvPr/>
        </p:nvSpPr>
        <p:spPr>
          <a:xfrm>
            <a:off x="1920240" y="2532888"/>
            <a:ext cx="1188720" cy="274320"/>
          </a:xfrm>
          <a:prstGeom prst="rect">
            <a:avLst/>
          </a:prstGeom>
          <a:noFill/>
        </p:spPr>
        <p:txBody>
          <a:bodyPr wrap="square">
            <a:spAutoFit/>
          </a:bodyPr>
          <a:lstStyle/>
          <a:p>
            <a:pPr algn="l">
              <a:defRPr sz="1000" b="1">
                <a:solidFill>
                  <a:srgbClr val="0891B2"/>
                </a:solidFill>
                <a:latin typeface="Calibri"/>
              </a:defRPr>
            </a:pPr>
            <a:r>
              <a:t>Weeks 5-8</a:t>
            </a:r>
          </a:p>
        </p:txBody>
      </p:sp>
      <p:sp>
        <p:nvSpPr>
          <p:cNvPr id="18" name="TextBox 17"/>
          <p:cNvSpPr txBox="1"/>
          <p:nvPr/>
        </p:nvSpPr>
        <p:spPr>
          <a:xfrm>
            <a:off x="3200400" y="2532888"/>
            <a:ext cx="2286000" cy="274320"/>
          </a:xfrm>
          <a:prstGeom prst="rect">
            <a:avLst/>
          </a:prstGeom>
          <a:noFill/>
        </p:spPr>
        <p:txBody>
          <a:bodyPr wrap="square">
            <a:spAutoFit/>
          </a:bodyPr>
          <a:lstStyle/>
          <a:p>
            <a:pPr algn="l">
              <a:defRPr sz="1200" b="1">
                <a:solidFill>
                  <a:srgbClr val="0B1F3A"/>
                </a:solidFill>
                <a:latin typeface="Calibri"/>
              </a:defRPr>
            </a:pPr>
            <a:r>
              <a:t>DETECTION</a:t>
            </a:r>
          </a:p>
        </p:txBody>
      </p:sp>
      <p:sp>
        <p:nvSpPr>
          <p:cNvPr id="19" name="TextBox 18"/>
          <p:cNvSpPr txBox="1"/>
          <p:nvPr/>
        </p:nvSpPr>
        <p:spPr>
          <a:xfrm>
            <a:off x="731520" y="2880360"/>
            <a:ext cx="10515600" cy="731520"/>
          </a:xfrm>
          <a:prstGeom prst="rect">
            <a:avLst/>
          </a:prstGeom>
          <a:noFill/>
        </p:spPr>
        <p:txBody>
          <a:bodyPr wrap="square">
            <a:spAutoFit/>
          </a:bodyPr>
          <a:lstStyle/>
          <a:p>
            <a:pPr algn="l">
              <a:defRPr sz="900" b="0">
                <a:solidFill>
                  <a:srgbClr val="2D3748"/>
                </a:solidFill>
                <a:latin typeface="Calibri"/>
              </a:defRPr>
            </a:pPr>
            <a:r>
              <a:t>Enable 5-signal embedding pipeline</a:t>
            </a:r>
          </a:p>
          <a:p>
            <a:pPr>
              <a:spcBef>
                <a:spcPts val="400"/>
              </a:spcBef>
              <a:defRPr sz="900" b="0">
                <a:solidFill>
                  <a:srgbClr val="2D3748"/>
                </a:solidFill>
                <a:latin typeface="Calibri"/>
              </a:defRPr>
            </a:pPr>
            <a:r>
              <a:t>Activate trajectory analysis (drift, velocity, CUSUM)</a:t>
            </a:r>
          </a:p>
          <a:p>
            <a:pPr>
              <a:spcBef>
                <a:spcPts val="400"/>
              </a:spcBef>
              <a:defRPr sz="900" b="0">
                <a:solidFill>
                  <a:srgbClr val="2D3748"/>
                </a:solidFill>
                <a:latin typeface="Calibri"/>
              </a:defRPr>
            </a:pPr>
            <a:r>
              <a:t>Deploy 8 threat concept vectors + drift direction</a:t>
            </a:r>
          </a:p>
          <a:p>
            <a:pPr>
              <a:spcBef>
                <a:spcPts val="400"/>
              </a:spcBef>
              <a:defRPr sz="900" b="0">
                <a:solidFill>
                  <a:srgbClr val="2D3748"/>
                </a:solidFill>
                <a:latin typeface="Calibri"/>
              </a:defRPr>
            </a:pPr>
            <a:r>
              <a:t>Configure cohort definitions from AD/LDAP</a:t>
            </a:r>
          </a:p>
          <a:p>
            <a:pPr>
              <a:spcBef>
                <a:spcPts val="400"/>
              </a:spcBef>
              <a:defRPr sz="900" b="1">
                <a:solidFill>
                  <a:srgbClr val="0B1F3A"/>
                </a:solidFill>
                <a:latin typeface="Calibri"/>
              </a:defRPr>
            </a:pPr>
            <a:r>
              <a:t>DELIVERABLE: Alerts firing, drift direction operational</a:t>
            </a:r>
          </a:p>
        </p:txBody>
      </p:sp>
      <p:sp>
        <p:nvSpPr>
          <p:cNvPr id="20" name="Rounded Rectangle 19"/>
          <p:cNvSpPr/>
          <p:nvPr/>
        </p:nvSpPr>
        <p:spPr>
          <a:xfrm>
            <a:off x="457200" y="3749040"/>
            <a:ext cx="11064240" cy="11887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3749040"/>
            <a:ext cx="91440" cy="118872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3749040"/>
            <a:ext cx="1371600" cy="320040"/>
          </a:xfrm>
          <a:prstGeom prst="rect">
            <a:avLst/>
          </a:prstGeom>
          <a:solidFill>
            <a:srgbClr val="F2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3767328"/>
            <a:ext cx="1280160" cy="274320"/>
          </a:xfrm>
          <a:prstGeom prst="rect">
            <a:avLst/>
          </a:prstGeom>
          <a:noFill/>
        </p:spPr>
        <p:txBody>
          <a:bodyPr wrap="square">
            <a:spAutoFit/>
          </a:bodyPr>
          <a:lstStyle/>
          <a:p>
            <a:pPr algn="ctr">
              <a:defRPr sz="1000" b="1">
                <a:solidFill>
                  <a:srgbClr val="FFFFFF"/>
                </a:solidFill>
                <a:latin typeface="Calibri"/>
              </a:defRPr>
            </a:pPr>
            <a:r>
              <a:t>PHASE 3</a:t>
            </a:r>
          </a:p>
        </p:txBody>
      </p:sp>
      <p:sp>
        <p:nvSpPr>
          <p:cNvPr id="24" name="TextBox 23"/>
          <p:cNvSpPr txBox="1"/>
          <p:nvPr/>
        </p:nvSpPr>
        <p:spPr>
          <a:xfrm>
            <a:off x="1920240" y="3767328"/>
            <a:ext cx="1188720" cy="274320"/>
          </a:xfrm>
          <a:prstGeom prst="rect">
            <a:avLst/>
          </a:prstGeom>
          <a:noFill/>
        </p:spPr>
        <p:txBody>
          <a:bodyPr wrap="square">
            <a:spAutoFit/>
          </a:bodyPr>
          <a:lstStyle/>
          <a:p>
            <a:pPr algn="l">
              <a:defRPr sz="1000" b="1">
                <a:solidFill>
                  <a:srgbClr val="F26B1F"/>
                </a:solidFill>
                <a:latin typeface="Calibri"/>
              </a:defRPr>
            </a:pPr>
            <a:r>
              <a:t>Weeks 9-12</a:t>
            </a:r>
          </a:p>
        </p:txBody>
      </p:sp>
      <p:sp>
        <p:nvSpPr>
          <p:cNvPr id="25" name="TextBox 24"/>
          <p:cNvSpPr txBox="1"/>
          <p:nvPr/>
        </p:nvSpPr>
        <p:spPr>
          <a:xfrm>
            <a:off x="3200400" y="3767328"/>
            <a:ext cx="2286000" cy="274320"/>
          </a:xfrm>
          <a:prstGeom prst="rect">
            <a:avLst/>
          </a:prstGeom>
          <a:noFill/>
        </p:spPr>
        <p:txBody>
          <a:bodyPr wrap="square">
            <a:spAutoFit/>
          </a:bodyPr>
          <a:lstStyle/>
          <a:p>
            <a:pPr algn="l">
              <a:defRPr sz="1200" b="1">
                <a:solidFill>
                  <a:srgbClr val="0B1F3A"/>
                </a:solidFill>
                <a:latin typeface="Calibri"/>
              </a:defRPr>
            </a:pPr>
            <a:r>
              <a:t>OPERATIONS</a:t>
            </a:r>
          </a:p>
        </p:txBody>
      </p:sp>
      <p:sp>
        <p:nvSpPr>
          <p:cNvPr id="26" name="TextBox 25"/>
          <p:cNvSpPr txBox="1"/>
          <p:nvPr/>
        </p:nvSpPr>
        <p:spPr>
          <a:xfrm>
            <a:off x="731520" y="4114800"/>
            <a:ext cx="10515600" cy="731520"/>
          </a:xfrm>
          <a:prstGeom prst="rect">
            <a:avLst/>
          </a:prstGeom>
          <a:noFill/>
        </p:spPr>
        <p:txBody>
          <a:bodyPr wrap="square">
            <a:spAutoFit/>
          </a:bodyPr>
          <a:lstStyle/>
          <a:p>
            <a:pPr algn="l">
              <a:defRPr sz="900" b="0">
                <a:solidFill>
                  <a:srgbClr val="2D3748"/>
                </a:solidFill>
                <a:latin typeface="Calibri"/>
              </a:defRPr>
            </a:pPr>
            <a:r>
              <a:t>Integrate with SOC workflows (SOAR webhooks, ServiceNow)</a:t>
            </a:r>
          </a:p>
          <a:p>
            <a:pPr>
              <a:spcBef>
                <a:spcPts val="400"/>
              </a:spcBef>
              <a:defRPr sz="900" b="0">
                <a:solidFill>
                  <a:srgbClr val="2D3748"/>
                </a:solidFill>
                <a:latin typeface="Calibri"/>
              </a:defRPr>
            </a:pPr>
            <a:r>
              <a:t>Tune alert thresholds with analyst TP/FP feedback</a:t>
            </a:r>
          </a:p>
          <a:p>
            <a:pPr>
              <a:spcBef>
                <a:spcPts val="400"/>
              </a:spcBef>
              <a:defRPr sz="900" b="0">
                <a:solidFill>
                  <a:srgbClr val="2D3748"/>
                </a:solidFill>
                <a:latin typeface="Calibri"/>
              </a:defRPr>
            </a:pPr>
            <a:r>
              <a:t>Enable ABAC trust state machine</a:t>
            </a:r>
          </a:p>
          <a:p>
            <a:pPr>
              <a:spcBef>
                <a:spcPts val="400"/>
              </a:spcBef>
              <a:defRPr sz="900" b="0">
                <a:solidFill>
                  <a:srgbClr val="2D3748"/>
                </a:solidFill>
                <a:latin typeface="Calibri"/>
              </a:defRPr>
            </a:pPr>
            <a:r>
              <a:t>Replay Volt + Salt Typhoon scenarios for validation</a:t>
            </a:r>
          </a:p>
          <a:p>
            <a:pPr>
              <a:spcBef>
                <a:spcPts val="400"/>
              </a:spcBef>
              <a:defRPr sz="900" b="1">
                <a:solidFill>
                  <a:srgbClr val="0B1F3A"/>
                </a:solidFill>
                <a:latin typeface="Calibri"/>
              </a:defRPr>
            </a:pPr>
            <a:r>
              <a:t>DELIVERABLE: Full operational capability, ABAC enforcing</a:t>
            </a:r>
          </a:p>
        </p:txBody>
      </p:sp>
      <p:sp>
        <p:nvSpPr>
          <p:cNvPr id="27" name="Rounded Rectangle 26"/>
          <p:cNvSpPr/>
          <p:nvPr/>
        </p:nvSpPr>
        <p:spPr>
          <a:xfrm>
            <a:off x="457200" y="4983480"/>
            <a:ext cx="11064240" cy="11887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4983480"/>
            <a:ext cx="91440" cy="11887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4983480"/>
            <a:ext cx="1371600" cy="320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5001768"/>
            <a:ext cx="1280160" cy="274320"/>
          </a:xfrm>
          <a:prstGeom prst="rect">
            <a:avLst/>
          </a:prstGeom>
          <a:noFill/>
        </p:spPr>
        <p:txBody>
          <a:bodyPr wrap="square">
            <a:spAutoFit/>
          </a:bodyPr>
          <a:lstStyle/>
          <a:p>
            <a:pPr algn="ctr">
              <a:defRPr sz="1000" b="1">
                <a:solidFill>
                  <a:srgbClr val="FFFFFF"/>
                </a:solidFill>
                <a:latin typeface="Calibri"/>
              </a:defRPr>
            </a:pPr>
            <a:r>
              <a:t>PHASE 4</a:t>
            </a:r>
          </a:p>
        </p:txBody>
      </p:sp>
      <p:sp>
        <p:nvSpPr>
          <p:cNvPr id="31" name="TextBox 30"/>
          <p:cNvSpPr txBox="1"/>
          <p:nvPr/>
        </p:nvSpPr>
        <p:spPr>
          <a:xfrm>
            <a:off x="1920240" y="5001768"/>
            <a:ext cx="1188720" cy="274320"/>
          </a:xfrm>
          <a:prstGeom prst="rect">
            <a:avLst/>
          </a:prstGeom>
          <a:noFill/>
        </p:spPr>
        <p:txBody>
          <a:bodyPr wrap="square">
            <a:spAutoFit/>
          </a:bodyPr>
          <a:lstStyle/>
          <a:p>
            <a:pPr algn="l">
              <a:defRPr sz="1000" b="1">
                <a:solidFill>
                  <a:srgbClr val="0B1F3A"/>
                </a:solidFill>
                <a:latin typeface="Calibri"/>
              </a:defRPr>
            </a:pPr>
            <a:r>
              <a:t>Week 13+</a:t>
            </a:r>
          </a:p>
        </p:txBody>
      </p:sp>
      <p:sp>
        <p:nvSpPr>
          <p:cNvPr id="32" name="TextBox 31"/>
          <p:cNvSpPr txBox="1"/>
          <p:nvPr/>
        </p:nvSpPr>
        <p:spPr>
          <a:xfrm>
            <a:off x="3200400" y="5001768"/>
            <a:ext cx="2286000" cy="274320"/>
          </a:xfrm>
          <a:prstGeom prst="rect">
            <a:avLst/>
          </a:prstGeom>
          <a:noFill/>
        </p:spPr>
        <p:txBody>
          <a:bodyPr wrap="square">
            <a:spAutoFit/>
          </a:bodyPr>
          <a:lstStyle/>
          <a:p>
            <a:pPr algn="l">
              <a:defRPr sz="1200" b="1">
                <a:solidFill>
                  <a:srgbClr val="0B1F3A"/>
                </a:solidFill>
                <a:latin typeface="Calibri"/>
              </a:defRPr>
            </a:pPr>
            <a:r>
              <a:t>PREEMPTIVE</a:t>
            </a:r>
          </a:p>
        </p:txBody>
      </p:sp>
      <p:sp>
        <p:nvSpPr>
          <p:cNvPr id="33" name="TextBox 32"/>
          <p:cNvSpPr txBox="1"/>
          <p:nvPr/>
        </p:nvSpPr>
        <p:spPr>
          <a:xfrm>
            <a:off x="731520" y="5349240"/>
            <a:ext cx="10515600" cy="731520"/>
          </a:xfrm>
          <a:prstGeom prst="rect">
            <a:avLst/>
          </a:prstGeom>
          <a:noFill/>
        </p:spPr>
        <p:txBody>
          <a:bodyPr wrap="square">
            <a:spAutoFit/>
          </a:bodyPr>
          <a:lstStyle/>
          <a:p>
            <a:pPr algn="l">
              <a:defRPr sz="900" b="0">
                <a:solidFill>
                  <a:srgbClr val="2D3748"/>
                </a:solidFill>
                <a:latin typeface="Calibri"/>
              </a:defRPr>
            </a:pPr>
            <a:r>
              <a:t>Integrate preemptive config verification layer</a:t>
            </a:r>
          </a:p>
          <a:p>
            <a:pPr>
              <a:spcBef>
                <a:spcPts val="400"/>
              </a:spcBef>
              <a:defRPr sz="900" b="0">
                <a:solidFill>
                  <a:srgbClr val="2D3748"/>
                </a:solidFill>
                <a:latin typeface="Calibri"/>
              </a:defRPr>
            </a:pPr>
            <a:r>
              <a:t>Connect NGFW/IPS/SASE configs for formal analysis</a:t>
            </a:r>
          </a:p>
          <a:p>
            <a:pPr>
              <a:spcBef>
                <a:spcPts val="400"/>
              </a:spcBef>
              <a:defRPr sz="900" b="0">
                <a:solidFill>
                  <a:srgbClr val="2D3748"/>
                </a:solidFill>
                <a:latin typeface="Calibri"/>
              </a:defRPr>
            </a:pPr>
            <a:r>
              <a:t>Enable trust-floor coupling (preemptive gaps -&gt; ABAC)</a:t>
            </a:r>
          </a:p>
          <a:p>
            <a:pPr>
              <a:spcBef>
                <a:spcPts val="400"/>
              </a:spcBef>
              <a:defRPr sz="900" b="0">
                <a:solidFill>
                  <a:srgbClr val="2D3748"/>
                </a:solidFill>
                <a:latin typeface="Calibri"/>
              </a:defRPr>
            </a:pPr>
            <a:r>
              <a:t>Continuous re-verification on config/threat-feed changes</a:t>
            </a:r>
          </a:p>
          <a:p>
            <a:pPr>
              <a:spcBef>
                <a:spcPts val="400"/>
              </a:spcBef>
              <a:defRPr sz="900" b="1">
                <a:solidFill>
                  <a:srgbClr val="0B1F3A"/>
                </a:solidFill>
                <a:latin typeface="Calibri"/>
              </a:defRPr>
            </a:pPr>
            <a:r>
              <a:t>DELIVERABLE: Both layers operational, closed-loop defense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0"/>
            <a:ext cx="11247120" cy="274320"/>
          </a:xfrm>
          <a:prstGeom prst="rect">
            <a:avLst/>
          </a:prstGeom>
          <a:noFill/>
        </p:spPr>
        <p:txBody>
          <a:bodyPr wrap="square">
            <a:spAutoFit/>
          </a:bodyPr>
          <a:lstStyle/>
          <a:p>
            <a:pPr algn="l">
              <a:defRPr sz="1100" b="1">
                <a:solidFill>
                  <a:srgbClr val="FFFFFF"/>
                </a:solidFill>
                <a:latin typeface="Calibri"/>
              </a:defRPr>
            </a:pPr>
            <a:r>
              <a:t>VERDICT</a:t>
            </a:r>
          </a:p>
        </p:txBody>
      </p:sp>
      <p:sp>
        <p:nvSpPr>
          <p:cNvPr id="4" name="TextBox 3"/>
          <p:cNvSpPr txBox="1"/>
          <p:nvPr/>
        </p:nvSpPr>
        <p:spPr>
          <a:xfrm>
            <a:off x="457200" y="457200"/>
            <a:ext cx="11247120" cy="548640"/>
          </a:xfrm>
          <a:prstGeom prst="rect">
            <a:avLst/>
          </a:prstGeom>
          <a:noFill/>
        </p:spPr>
        <p:txBody>
          <a:bodyPr wrap="square">
            <a:spAutoFit/>
          </a:bodyPr>
          <a:lstStyle/>
          <a:p>
            <a:pPr algn="l">
              <a:defRPr sz="2400" b="1">
                <a:solidFill>
                  <a:srgbClr val="0B1F3A"/>
                </a:solidFill>
                <a:latin typeface="Georgia"/>
              </a:defRPr>
            </a:pPr>
            <a:r>
              <a:t>What the Combined Solution Delivers</a:t>
            </a:r>
          </a:p>
        </p:txBody>
      </p:sp>
      <p:sp>
        <p:nvSpPr>
          <p:cNvPr id="5" name="TextBox 4"/>
          <p:cNvSpPr txBox="1"/>
          <p:nvPr/>
        </p:nvSpPr>
        <p:spPr>
          <a:xfrm>
            <a:off x="457200" y="914400"/>
            <a:ext cx="11247120" cy="274320"/>
          </a:xfrm>
          <a:prstGeom prst="rect">
            <a:avLst/>
          </a:prstGeom>
          <a:noFill/>
        </p:spPr>
        <p:txBody>
          <a:bodyPr wrap="square">
            <a:spAutoFit/>
          </a:bodyPr>
          <a:lstStyle/>
          <a:p>
            <a:pPr algn="l">
              <a:defRPr sz="1300" b="0">
                <a:solidFill>
                  <a:srgbClr val="5A6878"/>
                </a:solidFill>
                <a:latin typeface="Calibri"/>
              </a:defRPr>
            </a:pPr>
            <a:r>
              <a:t>Mapped against the full Volt + Salt Typhoon kill chain and the four limiting factors.</a:t>
            </a:r>
          </a:p>
        </p:txBody>
      </p:sp>
      <p:sp>
        <p:nvSpPr>
          <p:cNvPr id="6" name="Rounded Rectangle 5"/>
          <p:cNvSpPr/>
          <p:nvPr/>
        </p:nvSpPr>
        <p:spPr>
          <a:xfrm>
            <a:off x="457200" y="1280160"/>
            <a:ext cx="5303520" cy="48463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91440" cy="4846320"/>
          </a:xfrm>
          <a:prstGeom prst="rect">
            <a:avLst/>
          </a:prstGeom>
          <a:solidFill>
            <a:srgbClr val="16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325880"/>
            <a:ext cx="4846320" cy="274320"/>
          </a:xfrm>
          <a:prstGeom prst="rect">
            <a:avLst/>
          </a:prstGeom>
          <a:noFill/>
        </p:spPr>
        <p:txBody>
          <a:bodyPr wrap="square">
            <a:spAutoFit/>
          </a:bodyPr>
          <a:lstStyle/>
          <a:p>
            <a:pPr algn="l">
              <a:defRPr sz="1400" b="1">
                <a:solidFill>
                  <a:srgbClr val="166B3A"/>
                </a:solidFill>
                <a:latin typeface="Calibri"/>
              </a:defRPr>
            </a:pPr>
            <a:r>
              <a:t>WHAT IT COVERS</a:t>
            </a:r>
          </a:p>
        </p:txBody>
      </p:sp>
      <p:sp>
        <p:nvSpPr>
          <p:cNvPr id="9" name="TextBox 8"/>
          <p:cNvSpPr txBox="1"/>
          <p:nvPr/>
        </p:nvSpPr>
        <p:spPr>
          <a:xfrm>
            <a:off x="731520" y="1645920"/>
            <a:ext cx="4846320" cy="457200"/>
          </a:xfrm>
          <a:prstGeom prst="rect">
            <a:avLst/>
          </a:prstGeom>
          <a:noFill/>
        </p:spPr>
        <p:txBody>
          <a:bodyPr wrap="square">
            <a:spAutoFit/>
          </a:bodyPr>
          <a:lstStyle/>
          <a:p>
            <a:pPr algn="l">
              <a:defRPr sz="950" b="0">
                <a:solidFill>
                  <a:srgbClr val="2D3748"/>
                </a:solidFill>
                <a:latin typeface="Calibri"/>
              </a:defRPr>
            </a:pPr>
            <a:r>
              <a:t>Every known MITRE TTP for Volt + Salt Typhoon -- preempted at config layer (Problem 1)</a:t>
            </a:r>
          </a:p>
        </p:txBody>
      </p:sp>
      <p:sp>
        <p:nvSpPr>
          <p:cNvPr id="10" name="TextBox 9"/>
          <p:cNvSpPr txBox="1"/>
          <p:nvPr/>
        </p:nvSpPr>
        <p:spPr>
          <a:xfrm>
            <a:off x="731520" y="2148840"/>
            <a:ext cx="4846320" cy="457200"/>
          </a:xfrm>
          <a:prstGeom prst="rect">
            <a:avLst/>
          </a:prstGeom>
          <a:noFill/>
        </p:spPr>
        <p:txBody>
          <a:bodyPr wrap="square">
            <a:spAutoFit/>
          </a:bodyPr>
          <a:lstStyle/>
          <a:p>
            <a:pPr algn="l">
              <a:defRPr sz="950" b="0">
                <a:solidFill>
                  <a:srgbClr val="2D3748"/>
                </a:solidFill>
                <a:latin typeface="Calibri"/>
              </a:defRPr>
            </a:pPr>
            <a:r>
              <a:t>Living-off-the-Land tradecraft -- caught as behavioral drift, not tool signatures (Problem 2)</a:t>
            </a:r>
          </a:p>
        </p:txBody>
      </p:sp>
      <p:sp>
        <p:nvSpPr>
          <p:cNvPr id="11" name="TextBox 10"/>
          <p:cNvSpPr txBox="1"/>
          <p:nvPr/>
        </p:nvSpPr>
        <p:spPr>
          <a:xfrm>
            <a:off x="731520" y="2651760"/>
            <a:ext cx="4846320" cy="457200"/>
          </a:xfrm>
          <a:prstGeom prst="rect">
            <a:avLst/>
          </a:prstGeom>
          <a:noFill/>
        </p:spPr>
        <p:txBody>
          <a:bodyPr wrap="square">
            <a:spAutoFit/>
          </a:bodyPr>
          <a:lstStyle/>
          <a:p>
            <a:pPr algn="l">
              <a:defRPr sz="950" b="0">
                <a:solidFill>
                  <a:srgbClr val="2D3748"/>
                </a:solidFill>
                <a:latin typeface="Calibri"/>
              </a:defRPr>
            </a:pPr>
            <a:r>
              <a:t>Cross-domain identity fusion -- one trajectory across AD/AAD/AWS/Okta/K8s (Problem 3)</a:t>
            </a:r>
          </a:p>
        </p:txBody>
      </p:sp>
      <p:sp>
        <p:nvSpPr>
          <p:cNvPr id="12" name="TextBox 11"/>
          <p:cNvSpPr txBox="1"/>
          <p:nvPr/>
        </p:nvSpPr>
        <p:spPr>
          <a:xfrm>
            <a:off x="731520" y="3154680"/>
            <a:ext cx="4846320" cy="457200"/>
          </a:xfrm>
          <a:prstGeom prst="rect">
            <a:avLst/>
          </a:prstGeom>
          <a:noFill/>
        </p:spPr>
        <p:txBody>
          <a:bodyPr wrap="square">
            <a:spAutoFit/>
          </a:bodyPr>
          <a:lstStyle/>
          <a:p>
            <a:pPr algn="l">
              <a:defRPr sz="950" b="0">
                <a:solidFill>
                  <a:srgbClr val="2D3748"/>
                </a:solidFill>
                <a:latin typeface="Calibri"/>
              </a:defRPr>
            </a:pPr>
            <a:r>
              <a:t>Containerized K8s-native deployment for Gabriel Nimbus at IL5/IL6/JWICS (Problem 4)</a:t>
            </a:r>
          </a:p>
        </p:txBody>
      </p:sp>
      <p:sp>
        <p:nvSpPr>
          <p:cNvPr id="13" name="TextBox 12"/>
          <p:cNvSpPr txBox="1"/>
          <p:nvPr/>
        </p:nvSpPr>
        <p:spPr>
          <a:xfrm>
            <a:off x="731520" y="3657600"/>
            <a:ext cx="4846320" cy="457200"/>
          </a:xfrm>
          <a:prstGeom prst="rect">
            <a:avLst/>
          </a:prstGeom>
          <a:noFill/>
        </p:spPr>
        <p:txBody>
          <a:bodyPr wrap="square">
            <a:spAutoFit/>
          </a:bodyPr>
          <a:lstStyle/>
          <a:p>
            <a:pPr algn="l">
              <a:defRPr sz="950" b="0">
                <a:solidFill>
                  <a:srgbClr val="2D3748"/>
                </a:solidFill>
                <a:latin typeface="Calibri"/>
              </a:defRPr>
            </a:pPr>
            <a:r>
              <a:t>Zero-day &amp; unmapped TTPs -- caught as deviation from baseline even with no MITRE label</a:t>
            </a:r>
          </a:p>
        </p:txBody>
      </p:sp>
      <p:sp>
        <p:nvSpPr>
          <p:cNvPr id="14" name="TextBox 13"/>
          <p:cNvSpPr txBox="1"/>
          <p:nvPr/>
        </p:nvSpPr>
        <p:spPr>
          <a:xfrm>
            <a:off x="731520" y="4160520"/>
            <a:ext cx="4846320" cy="457200"/>
          </a:xfrm>
          <a:prstGeom prst="rect">
            <a:avLst/>
          </a:prstGeom>
          <a:noFill/>
        </p:spPr>
        <p:txBody>
          <a:bodyPr wrap="square">
            <a:spAutoFit/>
          </a:bodyPr>
          <a:lstStyle/>
          <a:p>
            <a:pPr algn="l">
              <a:defRPr sz="950" b="0">
                <a:solidFill>
                  <a:srgbClr val="2D3748"/>
                </a:solidFill>
                <a:latin typeface="Calibri"/>
              </a:defRPr>
            </a:pPr>
            <a:r>
              <a:t>Insider threat &amp; valid-account abuse -- cohort z-score + cosine drift surfaces misuse</a:t>
            </a:r>
          </a:p>
        </p:txBody>
      </p:sp>
      <p:sp>
        <p:nvSpPr>
          <p:cNvPr id="15" name="TextBox 14"/>
          <p:cNvSpPr txBox="1"/>
          <p:nvPr/>
        </p:nvSpPr>
        <p:spPr>
          <a:xfrm>
            <a:off x="731520" y="4663440"/>
            <a:ext cx="4846320" cy="457200"/>
          </a:xfrm>
          <a:prstGeom prst="rect">
            <a:avLst/>
          </a:prstGeom>
          <a:noFill/>
        </p:spPr>
        <p:txBody>
          <a:bodyPr wrap="square">
            <a:spAutoFit/>
          </a:bodyPr>
          <a:lstStyle/>
          <a:p>
            <a:pPr algn="l">
              <a:defRPr sz="950" b="0">
                <a:solidFill>
                  <a:srgbClr val="2D3748"/>
                </a:solidFill>
                <a:latin typeface="Calibri"/>
              </a:defRPr>
            </a:pPr>
            <a:r>
              <a:t>Long-dwell stealth (Salt Typhoon signature) -- CUSUM 4-sigma on rolling 30-day baseline</a:t>
            </a:r>
          </a:p>
        </p:txBody>
      </p:sp>
      <p:sp>
        <p:nvSpPr>
          <p:cNvPr id="16" name="TextBox 15"/>
          <p:cNvSpPr txBox="1"/>
          <p:nvPr/>
        </p:nvSpPr>
        <p:spPr>
          <a:xfrm>
            <a:off x="731520" y="5166360"/>
            <a:ext cx="4846320" cy="457200"/>
          </a:xfrm>
          <a:prstGeom prst="rect">
            <a:avLst/>
          </a:prstGeom>
          <a:noFill/>
        </p:spPr>
        <p:txBody>
          <a:bodyPr wrap="square">
            <a:spAutoFit/>
          </a:bodyPr>
          <a:lstStyle/>
          <a:p>
            <a:pPr algn="l">
              <a:defRPr sz="950" b="0">
                <a:solidFill>
                  <a:srgbClr val="2D3748"/>
                </a:solidFill>
                <a:latin typeface="Calibri"/>
              </a:defRPr>
            </a:pPr>
            <a:r>
              <a:t>Mathematical proof of NIST 800-53 / SP800-207 / D3FEND control coverage</a:t>
            </a:r>
          </a:p>
        </p:txBody>
      </p:sp>
      <p:sp>
        <p:nvSpPr>
          <p:cNvPr id="17" name="Rounded Rectangle 16"/>
          <p:cNvSpPr/>
          <p:nvPr/>
        </p:nvSpPr>
        <p:spPr>
          <a:xfrm>
            <a:off x="6217920" y="1280160"/>
            <a:ext cx="5303520" cy="3474720"/>
          </a:xfrm>
          <a:prstGeom prst="roundRect">
            <a:avLst/>
          </a:prstGeom>
          <a:solidFill>
            <a:srgbClr val="FD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7920" y="1280160"/>
            <a:ext cx="91440" cy="3474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92240" y="1325880"/>
            <a:ext cx="4846320" cy="274320"/>
          </a:xfrm>
          <a:prstGeom prst="rect">
            <a:avLst/>
          </a:prstGeom>
          <a:noFill/>
        </p:spPr>
        <p:txBody>
          <a:bodyPr wrap="square">
            <a:spAutoFit/>
          </a:bodyPr>
          <a:lstStyle/>
          <a:p>
            <a:pPr algn="l">
              <a:defRPr sz="1400" b="1">
                <a:solidFill>
                  <a:srgbClr val="C0392B"/>
                </a:solidFill>
                <a:latin typeface="Calibri"/>
              </a:defRPr>
            </a:pPr>
            <a:r>
              <a:t>REMAINING GAPS (BY DESIGN)</a:t>
            </a:r>
          </a:p>
        </p:txBody>
      </p:sp>
      <p:sp>
        <p:nvSpPr>
          <p:cNvPr id="20" name="TextBox 19"/>
          <p:cNvSpPr txBox="1"/>
          <p:nvPr/>
        </p:nvSpPr>
        <p:spPr>
          <a:xfrm>
            <a:off x="6492240" y="1691640"/>
            <a:ext cx="4846320" cy="182880"/>
          </a:xfrm>
          <a:prstGeom prst="rect">
            <a:avLst/>
          </a:prstGeom>
          <a:noFill/>
        </p:spPr>
        <p:txBody>
          <a:bodyPr wrap="square">
            <a:spAutoFit/>
          </a:bodyPr>
          <a:lstStyle/>
          <a:p>
            <a:pPr algn="l">
              <a:defRPr sz="1000" b="1">
                <a:solidFill>
                  <a:srgbClr val="C0392B"/>
                </a:solidFill>
                <a:latin typeface="Calibri"/>
              </a:defRPr>
            </a:pPr>
            <a:r>
              <a:t>Endpoint runtime enforcement</a:t>
            </a:r>
          </a:p>
        </p:txBody>
      </p:sp>
      <p:sp>
        <p:nvSpPr>
          <p:cNvPr id="21" name="TextBox 20"/>
          <p:cNvSpPr txBox="1"/>
          <p:nvPr/>
        </p:nvSpPr>
        <p:spPr>
          <a:xfrm>
            <a:off x="6492240" y="1892808"/>
            <a:ext cx="4846320" cy="182880"/>
          </a:xfrm>
          <a:prstGeom prst="rect">
            <a:avLst/>
          </a:prstGeom>
          <a:noFill/>
        </p:spPr>
        <p:txBody>
          <a:bodyPr wrap="square">
            <a:spAutoFit/>
          </a:bodyPr>
          <a:lstStyle/>
          <a:p>
            <a:pPr algn="l">
              <a:defRPr sz="900" b="0">
                <a:solidFill>
                  <a:srgbClr val="5A6878"/>
                </a:solidFill>
                <a:latin typeface="Calibri"/>
              </a:defRPr>
            </a:pPr>
            <a:r>
              <a:t>Pair with CrowdStrike / MS Defender / SentinelOne</a:t>
            </a:r>
          </a:p>
        </p:txBody>
      </p:sp>
      <p:sp>
        <p:nvSpPr>
          <p:cNvPr id="22" name="TextBox 21"/>
          <p:cNvSpPr txBox="1"/>
          <p:nvPr/>
        </p:nvSpPr>
        <p:spPr>
          <a:xfrm>
            <a:off x="6492240" y="2194560"/>
            <a:ext cx="4846320" cy="182880"/>
          </a:xfrm>
          <a:prstGeom prst="rect">
            <a:avLst/>
          </a:prstGeom>
          <a:noFill/>
        </p:spPr>
        <p:txBody>
          <a:bodyPr wrap="square">
            <a:spAutoFit/>
          </a:bodyPr>
          <a:lstStyle/>
          <a:p>
            <a:pPr algn="l">
              <a:defRPr sz="1000" b="1">
                <a:solidFill>
                  <a:srgbClr val="C0392B"/>
                </a:solidFill>
                <a:latin typeface="Calibri"/>
              </a:defRPr>
            </a:pPr>
            <a:r>
              <a:t>Email &amp; phishing initial access</a:t>
            </a:r>
          </a:p>
        </p:txBody>
      </p:sp>
      <p:sp>
        <p:nvSpPr>
          <p:cNvPr id="23" name="TextBox 22"/>
          <p:cNvSpPr txBox="1"/>
          <p:nvPr/>
        </p:nvSpPr>
        <p:spPr>
          <a:xfrm>
            <a:off x="6492240" y="2395728"/>
            <a:ext cx="4846320" cy="182880"/>
          </a:xfrm>
          <a:prstGeom prst="rect">
            <a:avLst/>
          </a:prstGeom>
          <a:noFill/>
        </p:spPr>
        <p:txBody>
          <a:bodyPr wrap="square">
            <a:spAutoFit/>
          </a:bodyPr>
          <a:lstStyle/>
          <a:p>
            <a:pPr algn="l">
              <a:defRPr sz="900" b="0">
                <a:solidFill>
                  <a:srgbClr val="5A6878"/>
                </a:solidFill>
                <a:latin typeface="Calibri"/>
              </a:defRPr>
            </a:pPr>
            <a:r>
              <a:t>Pair with Proofpoint / Defender for O365</a:t>
            </a:r>
          </a:p>
        </p:txBody>
      </p:sp>
      <p:sp>
        <p:nvSpPr>
          <p:cNvPr id="24" name="TextBox 23"/>
          <p:cNvSpPr txBox="1"/>
          <p:nvPr/>
        </p:nvSpPr>
        <p:spPr>
          <a:xfrm>
            <a:off x="6492240" y="2697480"/>
            <a:ext cx="4846320" cy="182880"/>
          </a:xfrm>
          <a:prstGeom prst="rect">
            <a:avLst/>
          </a:prstGeom>
          <a:noFill/>
        </p:spPr>
        <p:txBody>
          <a:bodyPr wrap="square">
            <a:spAutoFit/>
          </a:bodyPr>
          <a:lstStyle/>
          <a:p>
            <a:pPr algn="l">
              <a:defRPr sz="1000" b="1">
                <a:solidFill>
                  <a:srgbClr val="C0392B"/>
                </a:solidFill>
                <a:latin typeface="Calibri"/>
              </a:defRPr>
            </a:pPr>
            <a:r>
              <a:t>OT/ICS-specific protocols</a:t>
            </a:r>
          </a:p>
        </p:txBody>
      </p:sp>
      <p:sp>
        <p:nvSpPr>
          <p:cNvPr id="25" name="TextBox 24"/>
          <p:cNvSpPr txBox="1"/>
          <p:nvPr/>
        </p:nvSpPr>
        <p:spPr>
          <a:xfrm>
            <a:off x="6492240" y="2898648"/>
            <a:ext cx="4846320" cy="182880"/>
          </a:xfrm>
          <a:prstGeom prst="rect">
            <a:avLst/>
          </a:prstGeom>
          <a:noFill/>
        </p:spPr>
        <p:txBody>
          <a:bodyPr wrap="square">
            <a:spAutoFit/>
          </a:bodyPr>
          <a:lstStyle/>
          <a:p>
            <a:pPr algn="l">
              <a:defRPr sz="900" b="0">
                <a:solidFill>
                  <a:srgbClr val="5A6878"/>
                </a:solidFill>
                <a:latin typeface="Calibri"/>
              </a:defRPr>
            </a:pPr>
            <a:r>
              <a:t>Pair with Dragos / Claroty / Nozomi / TXOne</a:t>
            </a:r>
          </a:p>
        </p:txBody>
      </p:sp>
      <p:sp>
        <p:nvSpPr>
          <p:cNvPr id="26" name="TextBox 25"/>
          <p:cNvSpPr txBox="1"/>
          <p:nvPr/>
        </p:nvSpPr>
        <p:spPr>
          <a:xfrm>
            <a:off x="6492240" y="3200400"/>
            <a:ext cx="4846320" cy="182880"/>
          </a:xfrm>
          <a:prstGeom prst="rect">
            <a:avLst/>
          </a:prstGeom>
          <a:noFill/>
        </p:spPr>
        <p:txBody>
          <a:bodyPr wrap="square">
            <a:spAutoFit/>
          </a:bodyPr>
          <a:lstStyle/>
          <a:p>
            <a:pPr algn="l">
              <a:defRPr sz="1000" b="1">
                <a:solidFill>
                  <a:srgbClr val="C0392B"/>
                </a:solidFill>
                <a:latin typeface="Calibri"/>
              </a:defRPr>
            </a:pPr>
            <a:r>
              <a:t>Physical &amp; supply-chain</a:t>
            </a:r>
          </a:p>
        </p:txBody>
      </p:sp>
      <p:sp>
        <p:nvSpPr>
          <p:cNvPr id="27" name="TextBox 26"/>
          <p:cNvSpPr txBox="1"/>
          <p:nvPr/>
        </p:nvSpPr>
        <p:spPr>
          <a:xfrm>
            <a:off x="6492240" y="3401568"/>
            <a:ext cx="4846320" cy="182880"/>
          </a:xfrm>
          <a:prstGeom prst="rect">
            <a:avLst/>
          </a:prstGeom>
          <a:noFill/>
        </p:spPr>
        <p:txBody>
          <a:bodyPr wrap="square">
            <a:spAutoFit/>
          </a:bodyPr>
          <a:lstStyle/>
          <a:p>
            <a:pPr algn="l">
              <a:defRPr sz="900" b="0">
                <a:solidFill>
                  <a:srgbClr val="5A6878"/>
                </a:solidFill>
                <a:latin typeface="Calibri"/>
              </a:defRPr>
            </a:pPr>
            <a:r>
              <a:t>Pair with TPRM platforms</a:t>
            </a:r>
          </a:p>
        </p:txBody>
      </p:sp>
      <p:sp>
        <p:nvSpPr>
          <p:cNvPr id="28" name="TextBox 27"/>
          <p:cNvSpPr txBox="1"/>
          <p:nvPr/>
        </p:nvSpPr>
        <p:spPr>
          <a:xfrm>
            <a:off x="6492240" y="3703320"/>
            <a:ext cx="4846320" cy="182880"/>
          </a:xfrm>
          <a:prstGeom prst="rect">
            <a:avLst/>
          </a:prstGeom>
          <a:noFill/>
        </p:spPr>
        <p:txBody>
          <a:bodyPr wrap="square">
            <a:spAutoFit/>
          </a:bodyPr>
          <a:lstStyle/>
          <a:p>
            <a:pPr algn="l">
              <a:defRPr sz="1000" b="1">
                <a:solidFill>
                  <a:srgbClr val="C0392B"/>
                </a:solidFill>
                <a:latin typeface="Calibri"/>
              </a:defRPr>
            </a:pPr>
            <a:r>
              <a:t>Human factors</a:t>
            </a:r>
          </a:p>
        </p:txBody>
      </p:sp>
      <p:sp>
        <p:nvSpPr>
          <p:cNvPr id="29" name="TextBox 28"/>
          <p:cNvSpPr txBox="1"/>
          <p:nvPr/>
        </p:nvSpPr>
        <p:spPr>
          <a:xfrm>
            <a:off x="6492240" y="3904488"/>
            <a:ext cx="4846320" cy="182880"/>
          </a:xfrm>
          <a:prstGeom prst="rect">
            <a:avLst/>
          </a:prstGeom>
          <a:noFill/>
        </p:spPr>
        <p:txBody>
          <a:bodyPr wrap="square">
            <a:spAutoFit/>
          </a:bodyPr>
          <a:lstStyle/>
          <a:p>
            <a:pPr algn="l">
              <a:defRPr sz="900" b="0">
                <a:solidFill>
                  <a:srgbClr val="5A6878"/>
                </a:solidFill>
                <a:latin typeface="Calibri"/>
              </a:defRPr>
            </a:pPr>
            <a:r>
              <a:t>Awareness training + tabletops</a:t>
            </a:r>
          </a:p>
        </p:txBody>
      </p:sp>
      <p:sp>
        <p:nvSpPr>
          <p:cNvPr id="30" name="Rounded Rectangle 29"/>
          <p:cNvSpPr/>
          <p:nvPr/>
        </p:nvSpPr>
        <p:spPr>
          <a:xfrm>
            <a:off x="6217920" y="4937760"/>
            <a:ext cx="5303520" cy="1188720"/>
          </a:xfrm>
          <a:prstGeom prst="round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17920" y="4937760"/>
            <a:ext cx="91440" cy="11887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92240" y="4983480"/>
            <a:ext cx="4846320" cy="228600"/>
          </a:xfrm>
          <a:prstGeom prst="rect">
            <a:avLst/>
          </a:prstGeom>
          <a:noFill/>
        </p:spPr>
        <p:txBody>
          <a:bodyPr wrap="square">
            <a:spAutoFit/>
          </a:bodyPr>
          <a:lstStyle/>
          <a:p>
            <a:pPr algn="l">
              <a:defRPr sz="1100" b="1">
                <a:solidFill>
                  <a:srgbClr val="0B1F3A"/>
                </a:solidFill>
                <a:latin typeface="Calibri"/>
              </a:defRPr>
            </a:pPr>
            <a:r>
              <a:t>RECOMMENDED FULL STACK</a:t>
            </a:r>
          </a:p>
        </p:txBody>
      </p:sp>
      <p:sp>
        <p:nvSpPr>
          <p:cNvPr id="33" name="TextBox 32"/>
          <p:cNvSpPr txBox="1"/>
          <p:nvPr/>
        </p:nvSpPr>
        <p:spPr>
          <a:xfrm>
            <a:off x="6492240" y="5257800"/>
            <a:ext cx="4846320" cy="731520"/>
          </a:xfrm>
          <a:prstGeom prst="rect">
            <a:avLst/>
          </a:prstGeom>
          <a:noFill/>
        </p:spPr>
        <p:txBody>
          <a:bodyPr wrap="square">
            <a:spAutoFit/>
          </a:bodyPr>
          <a:lstStyle/>
          <a:p>
            <a:pPr algn="l">
              <a:defRPr sz="1000" b="1">
                <a:solidFill>
                  <a:srgbClr val="0B1F3A"/>
                </a:solidFill>
                <a:latin typeface="Calibri"/>
              </a:defRPr>
            </a:pPr>
            <a:r>
              <a:t>Preemptive + ACECARD UEBA (core)</a:t>
            </a:r>
          </a:p>
          <a:p>
            <a:pPr>
              <a:spcBef>
                <a:spcPts val="400"/>
              </a:spcBef>
              <a:defRPr sz="900" b="0">
                <a:solidFill>
                  <a:srgbClr val="2D3748"/>
                </a:solidFill>
                <a:latin typeface="Calibri"/>
              </a:defRPr>
            </a:pPr>
            <a:r>
              <a:t>+ EDR/XDR (endpoint runtime)</a:t>
            </a:r>
          </a:p>
          <a:p>
            <a:pPr>
              <a:spcBef>
                <a:spcPts val="400"/>
              </a:spcBef>
              <a:defRPr sz="900" b="0">
                <a:solidFill>
                  <a:srgbClr val="2D3748"/>
                </a:solidFill>
                <a:latin typeface="Calibri"/>
              </a:defRPr>
            </a:pPr>
            <a:r>
              <a:t>+ Email Security (initial access vector)</a:t>
            </a:r>
          </a:p>
          <a:p>
            <a:pPr>
              <a:spcBef>
                <a:spcPts val="400"/>
              </a:spcBef>
              <a:defRPr sz="900" b="0">
                <a:solidFill>
                  <a:srgbClr val="2D3748"/>
                </a:solidFill>
                <a:latin typeface="Calibri"/>
              </a:defRPr>
            </a:pPr>
            <a:r>
              <a:t>+ NDR + SIEM (east-west visibility + log fabric)</a:t>
            </a:r>
          </a:p>
        </p:txBody>
      </p:sp>
      <p:sp>
        <p:nvSpPr>
          <p:cNvPr id="34" name="Rectangle 33"/>
          <p:cNvSpPr/>
          <p:nvPr/>
        </p:nvSpPr>
        <p:spPr>
          <a:xfrm>
            <a:off x="457200" y="6400800"/>
            <a:ext cx="11247120" cy="3657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 y="6400800"/>
            <a:ext cx="10972800" cy="365760"/>
          </a:xfrm>
          <a:prstGeom prst="rect">
            <a:avLst/>
          </a:prstGeom>
          <a:noFill/>
        </p:spPr>
        <p:txBody>
          <a:bodyPr wrap="square">
            <a:spAutoFit/>
          </a:bodyPr>
          <a:lstStyle/>
          <a:p>
            <a:pPr algn="ctr">
              <a:defRPr sz="1050" b="1">
                <a:solidFill>
                  <a:srgbClr val="B8862A"/>
                </a:solidFill>
                <a:latin typeface="Calibri"/>
              </a:defRPr>
            </a:pPr>
            <a:r>
              <a:t>Preemptive + ACECARD UEBA = comprehensive defense against Volt + Salt Typhoon. Containerized for Gabriel Nimbus.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7142A"/>
        </a:solidFill>
        <a:effectLst/>
      </p:bgPr>
    </p:bg>
    <p:spTree>
      <p:nvGrpSpPr>
        <p:cNvPr id="1" name=""/>
        <p:cNvGrpSpPr/>
        <p:nvPr/>
      </p:nvGrpSpPr>
      <p:grpSpPr>
        <a:xfrm>
          <a:off x="0" y="0"/>
          <a:ext cx="0" cy="0"/>
          <a:chOff x="0" y="0"/>
          <a:chExt cx="0" cy="0"/>
        </a:xfrm>
      </p:grpSpPr>
      <p:sp>
        <p:nvSpPr>
          <p:cNvPr id="2" name="TextBox 1"/>
          <p:cNvSpPr txBox="1"/>
          <p:nvPr/>
        </p:nvSpPr>
        <p:spPr>
          <a:xfrm>
            <a:off x="914400" y="914400"/>
            <a:ext cx="10332720" cy="457200"/>
          </a:xfrm>
          <a:prstGeom prst="rect">
            <a:avLst/>
          </a:prstGeom>
          <a:noFill/>
        </p:spPr>
        <p:txBody>
          <a:bodyPr wrap="square">
            <a:spAutoFit/>
          </a:bodyPr>
          <a:lstStyle/>
          <a:p>
            <a:pPr algn="ctr">
              <a:defRPr sz="1800" b="1">
                <a:solidFill>
                  <a:srgbClr val="B8862A"/>
                </a:solidFill>
                <a:latin typeface="Georgia"/>
              </a:defRPr>
            </a:pPr>
            <a:r>
              <a:t>22nd Century Technologies Inc.</a:t>
            </a:r>
          </a:p>
        </p:txBody>
      </p:sp>
      <p:sp>
        <p:nvSpPr>
          <p:cNvPr id="3" name="TextBox 2"/>
          <p:cNvSpPr txBox="1"/>
          <p:nvPr/>
        </p:nvSpPr>
        <p:spPr>
          <a:xfrm>
            <a:off x="914400" y="1645920"/>
            <a:ext cx="10332720" cy="914400"/>
          </a:xfrm>
          <a:prstGeom prst="rect">
            <a:avLst/>
          </a:prstGeom>
          <a:noFill/>
        </p:spPr>
        <p:txBody>
          <a:bodyPr wrap="square">
            <a:spAutoFit/>
          </a:bodyPr>
          <a:lstStyle/>
          <a:p>
            <a:pPr algn="ctr">
              <a:defRPr sz="4000" b="1">
                <a:solidFill>
                  <a:srgbClr val="FFFFFF"/>
                </a:solidFill>
                <a:latin typeface="Georgia"/>
              </a:defRPr>
            </a:pPr>
            <a:r>
              <a:t>BUILD YOUR DOME</a:t>
            </a:r>
          </a:p>
        </p:txBody>
      </p:sp>
      <p:sp>
        <p:nvSpPr>
          <p:cNvPr id="4" name="TextBox 3"/>
          <p:cNvSpPr txBox="1"/>
          <p:nvPr/>
        </p:nvSpPr>
        <p:spPr>
          <a:xfrm>
            <a:off x="914400" y="2743200"/>
            <a:ext cx="10332720" cy="457200"/>
          </a:xfrm>
          <a:prstGeom prst="rect">
            <a:avLst/>
          </a:prstGeom>
          <a:noFill/>
        </p:spPr>
        <p:txBody>
          <a:bodyPr wrap="square">
            <a:spAutoFit/>
          </a:bodyPr>
          <a:lstStyle/>
          <a:p>
            <a:pPr algn="ctr">
              <a:defRPr sz="1600" b="0">
                <a:solidFill>
                  <a:srgbClr val="A0B0C0"/>
                </a:solidFill>
                <a:latin typeface="Calibri"/>
              </a:defRPr>
            </a:pPr>
            <a:r>
              <a:t>Preemptive closes the door. ACECARD watches the room.</a:t>
            </a:r>
            <a:br/>
            <a:r>
              <a:t>Together: comprehensive defense for Gabriel Nimbus.</a:t>
            </a:r>
          </a:p>
        </p:txBody>
      </p:sp>
      <p:sp>
        <p:nvSpPr>
          <p:cNvPr id="5" name="TextBox 4"/>
          <p:cNvSpPr txBox="1"/>
          <p:nvPr/>
        </p:nvSpPr>
        <p:spPr>
          <a:xfrm>
            <a:off x="914400" y="3657600"/>
            <a:ext cx="10332720" cy="365760"/>
          </a:xfrm>
          <a:prstGeom prst="rect">
            <a:avLst/>
          </a:prstGeom>
          <a:noFill/>
        </p:spPr>
        <p:txBody>
          <a:bodyPr wrap="square">
            <a:spAutoFit/>
          </a:bodyPr>
          <a:lstStyle/>
          <a:p>
            <a:pPr algn="ctr">
              <a:defRPr sz="1600" b="1">
                <a:solidFill>
                  <a:srgbClr val="B8862A"/>
                </a:solidFill>
                <a:latin typeface="Georgia"/>
              </a:defRPr>
            </a:pPr>
            <a:r>
              <a:t>NEXT STEPS</a:t>
            </a:r>
          </a:p>
        </p:txBody>
      </p:sp>
      <p:sp>
        <p:nvSpPr>
          <p:cNvPr id="6" name="TextBox 5"/>
          <p:cNvSpPr txBox="1"/>
          <p:nvPr/>
        </p:nvSpPr>
        <p:spPr>
          <a:xfrm>
            <a:off x="2286000" y="4114800"/>
            <a:ext cx="457200" cy="320040"/>
          </a:xfrm>
          <a:prstGeom prst="rect">
            <a:avLst/>
          </a:prstGeom>
          <a:noFill/>
        </p:spPr>
        <p:txBody>
          <a:bodyPr wrap="square">
            <a:spAutoFit/>
          </a:bodyPr>
          <a:lstStyle/>
          <a:p>
            <a:pPr algn="l">
              <a:defRPr sz="1400" b="1">
                <a:solidFill>
                  <a:srgbClr val="B8862A"/>
                </a:solidFill>
                <a:latin typeface="Georgia"/>
              </a:defRPr>
            </a:pPr>
            <a:r>
              <a:t>1.</a:t>
            </a:r>
          </a:p>
        </p:txBody>
      </p:sp>
      <p:sp>
        <p:nvSpPr>
          <p:cNvPr id="7" name="TextBox 6"/>
          <p:cNvSpPr txBox="1"/>
          <p:nvPr/>
        </p:nvSpPr>
        <p:spPr>
          <a:xfrm>
            <a:off x="2743200" y="4114800"/>
            <a:ext cx="2286000" cy="320040"/>
          </a:xfrm>
          <a:prstGeom prst="rect">
            <a:avLst/>
          </a:prstGeom>
          <a:noFill/>
        </p:spPr>
        <p:txBody>
          <a:bodyPr wrap="square">
            <a:spAutoFit/>
          </a:bodyPr>
          <a:lstStyle/>
          <a:p>
            <a:pPr algn="l">
              <a:defRPr sz="1300" b="1">
                <a:solidFill>
                  <a:srgbClr val="FFFFFF"/>
                </a:solidFill>
                <a:latin typeface="Calibri"/>
              </a:defRPr>
            </a:pPr>
            <a:r>
              <a:t>Pilot Preemptive</a:t>
            </a:r>
          </a:p>
        </p:txBody>
      </p:sp>
      <p:sp>
        <p:nvSpPr>
          <p:cNvPr id="8" name="TextBox 7"/>
          <p:cNvSpPr txBox="1"/>
          <p:nvPr/>
        </p:nvSpPr>
        <p:spPr>
          <a:xfrm>
            <a:off x="5029200" y="4114800"/>
            <a:ext cx="5486400" cy="320040"/>
          </a:xfrm>
          <a:prstGeom prst="rect">
            <a:avLst/>
          </a:prstGeom>
          <a:noFill/>
        </p:spPr>
        <p:txBody>
          <a:bodyPr wrap="square">
            <a:spAutoFit/>
          </a:bodyPr>
          <a:lstStyle/>
          <a:p>
            <a:pPr algn="l">
              <a:defRPr sz="1100" b="0">
                <a:solidFill>
                  <a:srgbClr val="A0B0C0"/>
                </a:solidFill>
                <a:latin typeface="Calibri"/>
              </a:defRPr>
            </a:pPr>
            <a:r>
              <a:t>Formal Policy Analysis on edge defense estate against Volt + Salt Typhoon TTPs</a:t>
            </a:r>
          </a:p>
        </p:txBody>
      </p:sp>
      <p:sp>
        <p:nvSpPr>
          <p:cNvPr id="9" name="TextBox 8"/>
          <p:cNvSpPr txBox="1"/>
          <p:nvPr/>
        </p:nvSpPr>
        <p:spPr>
          <a:xfrm>
            <a:off x="2286000" y="4526280"/>
            <a:ext cx="457200" cy="320040"/>
          </a:xfrm>
          <a:prstGeom prst="rect">
            <a:avLst/>
          </a:prstGeom>
          <a:noFill/>
        </p:spPr>
        <p:txBody>
          <a:bodyPr wrap="square">
            <a:spAutoFit/>
          </a:bodyPr>
          <a:lstStyle/>
          <a:p>
            <a:pPr algn="l">
              <a:defRPr sz="1400" b="1">
                <a:solidFill>
                  <a:srgbClr val="B8862A"/>
                </a:solidFill>
                <a:latin typeface="Georgia"/>
              </a:defRPr>
            </a:pPr>
            <a:r>
              <a:t>2.</a:t>
            </a:r>
          </a:p>
        </p:txBody>
      </p:sp>
      <p:sp>
        <p:nvSpPr>
          <p:cNvPr id="10" name="TextBox 9"/>
          <p:cNvSpPr txBox="1"/>
          <p:nvPr/>
        </p:nvSpPr>
        <p:spPr>
          <a:xfrm>
            <a:off x="2743200" y="4526280"/>
            <a:ext cx="2286000" cy="320040"/>
          </a:xfrm>
          <a:prstGeom prst="rect">
            <a:avLst/>
          </a:prstGeom>
          <a:noFill/>
        </p:spPr>
        <p:txBody>
          <a:bodyPr wrap="square">
            <a:spAutoFit/>
          </a:bodyPr>
          <a:lstStyle/>
          <a:p>
            <a:pPr algn="l">
              <a:defRPr sz="1300" b="1">
                <a:solidFill>
                  <a:srgbClr val="FFFFFF"/>
                </a:solidFill>
                <a:latin typeface="Calibri"/>
              </a:defRPr>
            </a:pPr>
            <a:r>
              <a:t>Pilot ACECARD UEBA</a:t>
            </a:r>
          </a:p>
        </p:txBody>
      </p:sp>
      <p:sp>
        <p:nvSpPr>
          <p:cNvPr id="11" name="TextBox 10"/>
          <p:cNvSpPr txBox="1"/>
          <p:nvPr/>
        </p:nvSpPr>
        <p:spPr>
          <a:xfrm>
            <a:off x="5029200" y="4526280"/>
            <a:ext cx="5486400" cy="320040"/>
          </a:xfrm>
          <a:prstGeom prst="rect">
            <a:avLst/>
          </a:prstGeom>
          <a:noFill/>
        </p:spPr>
        <p:txBody>
          <a:bodyPr wrap="square">
            <a:spAutoFit/>
          </a:bodyPr>
          <a:lstStyle/>
          <a:p>
            <a:pPr algn="l">
              <a:defRPr sz="1100" b="0">
                <a:solidFill>
                  <a:srgbClr val="A0B0C0"/>
                </a:solidFill>
                <a:latin typeface="Calibri"/>
              </a:defRPr>
            </a:pPr>
            <a:r>
              <a:t>Replay Volt + Salt Typhoon scenarios on your telemetry; tune thresholds + cohorts</a:t>
            </a:r>
          </a:p>
        </p:txBody>
      </p:sp>
      <p:sp>
        <p:nvSpPr>
          <p:cNvPr id="12" name="TextBox 11"/>
          <p:cNvSpPr txBox="1"/>
          <p:nvPr/>
        </p:nvSpPr>
        <p:spPr>
          <a:xfrm>
            <a:off x="2286000" y="4937760"/>
            <a:ext cx="457200" cy="320040"/>
          </a:xfrm>
          <a:prstGeom prst="rect">
            <a:avLst/>
          </a:prstGeom>
          <a:noFill/>
        </p:spPr>
        <p:txBody>
          <a:bodyPr wrap="square">
            <a:spAutoFit/>
          </a:bodyPr>
          <a:lstStyle/>
          <a:p>
            <a:pPr algn="l">
              <a:defRPr sz="1400" b="1">
                <a:solidFill>
                  <a:srgbClr val="B8862A"/>
                </a:solidFill>
                <a:latin typeface="Georgia"/>
              </a:defRPr>
            </a:pPr>
            <a:r>
              <a:t>3.</a:t>
            </a:r>
          </a:p>
        </p:txBody>
      </p:sp>
      <p:sp>
        <p:nvSpPr>
          <p:cNvPr id="13" name="TextBox 12"/>
          <p:cNvSpPr txBox="1"/>
          <p:nvPr/>
        </p:nvSpPr>
        <p:spPr>
          <a:xfrm>
            <a:off x="2743200" y="4937760"/>
            <a:ext cx="2286000" cy="320040"/>
          </a:xfrm>
          <a:prstGeom prst="rect">
            <a:avLst/>
          </a:prstGeom>
          <a:noFill/>
        </p:spPr>
        <p:txBody>
          <a:bodyPr wrap="square">
            <a:spAutoFit/>
          </a:bodyPr>
          <a:lstStyle/>
          <a:p>
            <a:pPr algn="l">
              <a:defRPr sz="1300" b="1">
                <a:solidFill>
                  <a:srgbClr val="FFFFFF"/>
                </a:solidFill>
                <a:latin typeface="Calibri"/>
              </a:defRPr>
            </a:pPr>
            <a:r>
              <a:t>Integrate</a:t>
            </a:r>
          </a:p>
        </p:txBody>
      </p:sp>
      <p:sp>
        <p:nvSpPr>
          <p:cNvPr id="14" name="TextBox 13"/>
          <p:cNvSpPr txBox="1"/>
          <p:nvPr/>
        </p:nvSpPr>
        <p:spPr>
          <a:xfrm>
            <a:off x="5029200" y="4937760"/>
            <a:ext cx="5486400" cy="320040"/>
          </a:xfrm>
          <a:prstGeom prst="rect">
            <a:avLst/>
          </a:prstGeom>
          <a:noFill/>
        </p:spPr>
        <p:txBody>
          <a:bodyPr wrap="square">
            <a:spAutoFit/>
          </a:bodyPr>
          <a:lstStyle/>
          <a:p>
            <a:pPr algn="l">
              <a:defRPr sz="1100" b="0">
                <a:solidFill>
                  <a:srgbClr val="A0B0C0"/>
                </a:solidFill>
                <a:latin typeface="Calibri"/>
              </a:defRPr>
            </a:pPr>
            <a:r>
              <a:t>Preemptive verified findings raise ACECARD trust floor on entities traversing closed gaps</a:t>
            </a:r>
          </a:p>
        </p:txBody>
      </p:sp>
      <p:sp>
        <p:nvSpPr>
          <p:cNvPr id="15" name="TextBox 14"/>
          <p:cNvSpPr txBox="1"/>
          <p:nvPr/>
        </p:nvSpPr>
        <p:spPr>
          <a:xfrm>
            <a:off x="2286000" y="5349240"/>
            <a:ext cx="457200" cy="320040"/>
          </a:xfrm>
          <a:prstGeom prst="rect">
            <a:avLst/>
          </a:prstGeom>
          <a:noFill/>
        </p:spPr>
        <p:txBody>
          <a:bodyPr wrap="square">
            <a:spAutoFit/>
          </a:bodyPr>
          <a:lstStyle/>
          <a:p>
            <a:pPr algn="l">
              <a:defRPr sz="1400" b="1">
                <a:solidFill>
                  <a:srgbClr val="B8862A"/>
                </a:solidFill>
                <a:latin typeface="Georgia"/>
              </a:defRPr>
            </a:pPr>
            <a:r>
              <a:t>4.</a:t>
            </a:r>
          </a:p>
        </p:txBody>
      </p:sp>
      <p:sp>
        <p:nvSpPr>
          <p:cNvPr id="16" name="TextBox 15"/>
          <p:cNvSpPr txBox="1"/>
          <p:nvPr/>
        </p:nvSpPr>
        <p:spPr>
          <a:xfrm>
            <a:off x="2743200" y="5349240"/>
            <a:ext cx="2286000" cy="320040"/>
          </a:xfrm>
          <a:prstGeom prst="rect">
            <a:avLst/>
          </a:prstGeom>
          <a:noFill/>
        </p:spPr>
        <p:txBody>
          <a:bodyPr wrap="square">
            <a:spAutoFit/>
          </a:bodyPr>
          <a:lstStyle/>
          <a:p>
            <a:pPr algn="l">
              <a:defRPr sz="1300" b="1">
                <a:solidFill>
                  <a:srgbClr val="FFFFFF"/>
                </a:solidFill>
                <a:latin typeface="Calibri"/>
              </a:defRPr>
            </a:pPr>
            <a:r>
              <a:t>Deploy to Gabriel Nimbus</a:t>
            </a:r>
          </a:p>
        </p:txBody>
      </p:sp>
      <p:sp>
        <p:nvSpPr>
          <p:cNvPr id="17" name="TextBox 16"/>
          <p:cNvSpPr txBox="1"/>
          <p:nvPr/>
        </p:nvSpPr>
        <p:spPr>
          <a:xfrm>
            <a:off x="5029200" y="5349240"/>
            <a:ext cx="5486400" cy="320040"/>
          </a:xfrm>
          <a:prstGeom prst="rect">
            <a:avLst/>
          </a:prstGeom>
          <a:noFill/>
        </p:spPr>
        <p:txBody>
          <a:bodyPr wrap="square">
            <a:spAutoFit/>
          </a:bodyPr>
          <a:lstStyle/>
          <a:p>
            <a:pPr algn="l">
              <a:defRPr sz="1100" b="0">
                <a:solidFill>
                  <a:srgbClr val="A0B0C0"/>
                </a:solidFill>
                <a:latin typeface="Calibri"/>
              </a:defRPr>
            </a:pPr>
            <a:r>
              <a:t>Containerized K8s / Iron Bank / IL5-IL6-JWICS / cATO / continuous re-verification</a:t>
            </a:r>
          </a:p>
        </p:txBody>
      </p:sp>
      <p:sp>
        <p:nvSpPr>
          <p:cNvPr id="18" name="TextBox 17"/>
          <p:cNvSpPr txBox="1"/>
          <p:nvPr/>
        </p:nvSpPr>
        <p:spPr>
          <a:xfrm>
            <a:off x="914400" y="5943600"/>
            <a:ext cx="10332720" cy="274320"/>
          </a:xfrm>
          <a:prstGeom prst="rect">
            <a:avLst/>
          </a:prstGeom>
          <a:noFill/>
        </p:spPr>
        <p:txBody>
          <a:bodyPr wrap="square">
            <a:spAutoFit/>
          </a:bodyPr>
          <a:lstStyle/>
          <a:p>
            <a:pPr algn="ctr">
              <a:defRPr sz="1200" b="0">
                <a:solidFill>
                  <a:srgbClr val="A0B0C0"/>
                </a:solidFill>
                <a:latin typeface="Calibri"/>
              </a:defRPr>
            </a:pPr>
            <a:r>
              <a:t>Ravindra Shukla, Head of AI  |  ravindra.shukla@gmail.com  |  22nd Century Technologies Inc. (TSCTI)</a:t>
            </a:r>
          </a:p>
        </p:txBody>
      </p:sp>
      <p:sp>
        <p:nvSpPr>
          <p:cNvPr id="19" name="TextBox 18"/>
          <p:cNvSpPr txBox="1"/>
          <p:nvPr/>
        </p:nvSpPr>
        <p:spPr>
          <a:xfrm>
            <a:off x="914400" y="6309360"/>
            <a:ext cx="10332720" cy="274320"/>
          </a:xfrm>
          <a:prstGeom prst="rect">
            <a:avLst/>
          </a:prstGeom>
          <a:noFill/>
        </p:spPr>
        <p:txBody>
          <a:bodyPr wrap="square">
            <a:spAutoFit/>
          </a:bodyPr>
          <a:lstStyle/>
          <a:p>
            <a:pPr algn="ctr">
              <a:defRPr sz="1000" b="0">
                <a:solidFill>
                  <a:srgbClr val="708090"/>
                </a:solidFill>
                <a:latin typeface="Calibri"/>
              </a:defRPr>
            </a:pPr>
            <a:r>
              <a:t>CFIC Collaboration Event  |  Augusta, GA  |  May 6, 2026  |  CONFIDENTIAL</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PROOF POINTS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Rigor in Production: Real Customer Findings</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Selected findings from financial services, telecom, government, and critical infrastructure customers</a:t>
            </a:r>
            <a:endParaRPr lang="en-US" sz="1200" dirty="0"/>
          </a:p>
        </p:txBody>
      </p:sp>
      <p:sp>
        <p:nvSpPr>
          <p:cNvPr id="6" name="Shape 4"/>
          <p:cNvSpPr/>
          <p:nvPr/>
        </p:nvSpPr>
        <p:spPr>
          <a:xfrm>
            <a:off x="457200" y="150876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7" name="Shape 5"/>
          <p:cNvSpPr/>
          <p:nvPr/>
        </p:nvSpPr>
        <p:spPr>
          <a:xfrm>
            <a:off x="457200" y="1508760"/>
            <a:ext cx="3703320" cy="320040"/>
          </a:xfrm>
          <a:prstGeom prst="rect">
            <a:avLst/>
          </a:prstGeom>
          <a:solidFill>
            <a:srgbClr val="0B1F3A"/>
          </a:solidFill>
          <a:ln/>
        </p:spPr>
        <p:txBody>
          <a:bodyPr/>
          <a:lstStyle/>
          <a:p>
            <a:endParaRPr lang="en-US"/>
          </a:p>
        </p:txBody>
      </p:sp>
      <p:sp>
        <p:nvSpPr>
          <p:cNvPr id="8" name="Text 6"/>
          <p:cNvSpPr/>
          <p:nvPr/>
        </p:nvSpPr>
        <p:spPr>
          <a:xfrm>
            <a:off x="594360" y="150876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FinTech | Asia</a:t>
            </a:r>
            <a:endParaRPr lang="en-US" sz="1000" dirty="0"/>
          </a:p>
        </p:txBody>
      </p:sp>
      <p:sp>
        <p:nvSpPr>
          <p:cNvPr id="9" name="Text 7"/>
          <p:cNvSpPr/>
          <p:nvPr/>
        </p:nvSpPr>
        <p:spPr>
          <a:xfrm>
            <a:off x="640080" y="196596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Closed SMB Lateral Movement Path</a:t>
            </a:r>
            <a:endParaRPr lang="en-US" sz="1300" dirty="0"/>
          </a:p>
        </p:txBody>
      </p:sp>
      <p:sp>
        <p:nvSpPr>
          <p:cNvPr id="10" name="Text 8"/>
          <p:cNvSpPr/>
          <p:nvPr/>
        </p:nvSpPr>
        <p:spPr>
          <a:xfrm>
            <a:off x="640080" y="246888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SMB app-control profiles completely shadowed by 3 higher-priority rules — allowed unprotected SMBv1 between branches. Rigor formal model exposed the multi-rule shadow.</a:t>
            </a:r>
            <a:endParaRPr lang="en-US" sz="1100" dirty="0"/>
          </a:p>
        </p:txBody>
      </p:sp>
      <p:sp>
        <p:nvSpPr>
          <p:cNvPr id="11" name="Shape 9"/>
          <p:cNvSpPr/>
          <p:nvPr/>
        </p:nvSpPr>
        <p:spPr>
          <a:xfrm>
            <a:off x="4361688" y="150876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12" name="Shape 10"/>
          <p:cNvSpPr/>
          <p:nvPr/>
        </p:nvSpPr>
        <p:spPr>
          <a:xfrm>
            <a:off x="4361688" y="1508760"/>
            <a:ext cx="3703320" cy="320040"/>
          </a:xfrm>
          <a:prstGeom prst="rect">
            <a:avLst/>
          </a:prstGeom>
          <a:solidFill>
            <a:srgbClr val="0B1F3A"/>
          </a:solidFill>
          <a:ln/>
        </p:spPr>
        <p:txBody>
          <a:bodyPr/>
          <a:lstStyle/>
          <a:p>
            <a:endParaRPr lang="en-US"/>
          </a:p>
        </p:txBody>
      </p:sp>
      <p:sp>
        <p:nvSpPr>
          <p:cNvPr id="13" name="Text 11"/>
          <p:cNvSpPr/>
          <p:nvPr/>
        </p:nvSpPr>
        <p:spPr>
          <a:xfrm>
            <a:off x="4498848" y="150876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Communications | NA</a:t>
            </a:r>
            <a:endParaRPr lang="en-US" sz="1000" dirty="0"/>
          </a:p>
        </p:txBody>
      </p:sp>
      <p:sp>
        <p:nvSpPr>
          <p:cNvPr id="14" name="Text 12"/>
          <p:cNvSpPr/>
          <p:nvPr/>
        </p:nvSpPr>
        <p:spPr>
          <a:xfrm>
            <a:off x="4544568" y="196596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Eliminated Known CVE Exposure</a:t>
            </a:r>
            <a:endParaRPr lang="en-US" sz="1300" dirty="0"/>
          </a:p>
        </p:txBody>
      </p:sp>
      <p:sp>
        <p:nvSpPr>
          <p:cNvPr id="15" name="Text 13"/>
          <p:cNvSpPr/>
          <p:nvPr/>
        </p:nvSpPr>
        <p:spPr>
          <a:xfrm>
            <a:off x="4544568" y="246888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IPS filters were missing on rsync traffic to backup servers. Exposed enterprise to lateral malware movement and remote code execution against critical infra.</a:t>
            </a:r>
            <a:endParaRPr lang="en-US" sz="1100" dirty="0"/>
          </a:p>
        </p:txBody>
      </p:sp>
      <p:sp>
        <p:nvSpPr>
          <p:cNvPr id="16" name="Shape 14"/>
          <p:cNvSpPr/>
          <p:nvPr/>
        </p:nvSpPr>
        <p:spPr>
          <a:xfrm>
            <a:off x="8266176" y="150876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17" name="Shape 15"/>
          <p:cNvSpPr/>
          <p:nvPr/>
        </p:nvSpPr>
        <p:spPr>
          <a:xfrm>
            <a:off x="8266176" y="1508760"/>
            <a:ext cx="3703320" cy="320040"/>
          </a:xfrm>
          <a:prstGeom prst="rect">
            <a:avLst/>
          </a:prstGeom>
          <a:solidFill>
            <a:srgbClr val="0B1F3A"/>
          </a:solidFill>
          <a:ln/>
        </p:spPr>
        <p:txBody>
          <a:bodyPr/>
          <a:lstStyle/>
          <a:p>
            <a:endParaRPr lang="en-US"/>
          </a:p>
        </p:txBody>
      </p:sp>
      <p:sp>
        <p:nvSpPr>
          <p:cNvPr id="18" name="Text 16"/>
          <p:cNvSpPr/>
          <p:nvPr/>
        </p:nvSpPr>
        <p:spPr>
          <a:xfrm>
            <a:off x="8403336" y="150876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Regional Bank | E. Asia</a:t>
            </a:r>
            <a:endParaRPr lang="en-US" sz="1000" dirty="0"/>
          </a:p>
        </p:txBody>
      </p:sp>
      <p:sp>
        <p:nvSpPr>
          <p:cNvPr id="19" name="Text 17"/>
          <p:cNvSpPr/>
          <p:nvPr/>
        </p:nvSpPr>
        <p:spPr>
          <a:xfrm>
            <a:off x="8449056" y="196596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Closed RCE Attack Paths</a:t>
            </a:r>
            <a:endParaRPr lang="en-US" sz="1300" dirty="0"/>
          </a:p>
        </p:txBody>
      </p:sp>
      <p:sp>
        <p:nvSpPr>
          <p:cNvPr id="20" name="Text 18"/>
          <p:cNvSpPr/>
          <p:nvPr/>
        </p:nvSpPr>
        <p:spPr>
          <a:xfrm>
            <a:off x="8449056" y="246888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Both PANW and Fortinet NGFWs allowed Windows Update service traffic from trusted zones with no IPS — exposed bank to RCE on critical multi-vendor infra.</a:t>
            </a:r>
            <a:endParaRPr lang="en-US" sz="1100" dirty="0"/>
          </a:p>
        </p:txBody>
      </p:sp>
      <p:sp>
        <p:nvSpPr>
          <p:cNvPr id="21" name="Shape 19"/>
          <p:cNvSpPr/>
          <p:nvPr/>
        </p:nvSpPr>
        <p:spPr>
          <a:xfrm>
            <a:off x="457200" y="393192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22" name="Shape 20"/>
          <p:cNvSpPr/>
          <p:nvPr/>
        </p:nvSpPr>
        <p:spPr>
          <a:xfrm>
            <a:off x="457200" y="3931920"/>
            <a:ext cx="3703320" cy="320040"/>
          </a:xfrm>
          <a:prstGeom prst="rect">
            <a:avLst/>
          </a:prstGeom>
          <a:solidFill>
            <a:srgbClr val="0B1F3A"/>
          </a:solidFill>
          <a:ln/>
        </p:spPr>
        <p:txBody>
          <a:bodyPr/>
          <a:lstStyle/>
          <a:p>
            <a:endParaRPr lang="en-US"/>
          </a:p>
        </p:txBody>
      </p:sp>
      <p:sp>
        <p:nvSpPr>
          <p:cNvPr id="23" name="Text 21"/>
          <p:cNvSpPr/>
          <p:nvPr/>
        </p:nvSpPr>
        <p:spPr>
          <a:xfrm>
            <a:off x="594360" y="393192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Critical Infra | SE Asia</a:t>
            </a:r>
            <a:endParaRPr lang="en-US" sz="1000" dirty="0"/>
          </a:p>
        </p:txBody>
      </p:sp>
      <p:sp>
        <p:nvSpPr>
          <p:cNvPr id="24" name="Text 22"/>
          <p:cNvSpPr/>
          <p:nvPr/>
        </p:nvSpPr>
        <p:spPr>
          <a:xfrm>
            <a:off x="640080" y="438912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Closed Application Obfuscation Paths</a:t>
            </a:r>
            <a:endParaRPr lang="en-US" sz="1300" dirty="0"/>
          </a:p>
        </p:txBody>
      </p:sp>
      <p:sp>
        <p:nvSpPr>
          <p:cNvPr id="25" name="Text 23"/>
          <p:cNvSpPr/>
          <p:nvPr/>
        </p:nvSpPr>
        <p:spPr>
          <a:xfrm>
            <a:off x="640080" y="489204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Incorrectly configured vendor capabilities on DMZ rules — not all applications on the DMZ were blocked as intended. Susceptible to port-hopping evasion.</a:t>
            </a:r>
            <a:endParaRPr lang="en-US" sz="1100" dirty="0"/>
          </a:p>
        </p:txBody>
      </p:sp>
      <p:sp>
        <p:nvSpPr>
          <p:cNvPr id="26" name="Shape 24"/>
          <p:cNvSpPr/>
          <p:nvPr/>
        </p:nvSpPr>
        <p:spPr>
          <a:xfrm>
            <a:off x="4361688" y="393192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27" name="Shape 25"/>
          <p:cNvSpPr/>
          <p:nvPr/>
        </p:nvSpPr>
        <p:spPr>
          <a:xfrm>
            <a:off x="4361688" y="3931920"/>
            <a:ext cx="3703320" cy="320040"/>
          </a:xfrm>
          <a:prstGeom prst="rect">
            <a:avLst/>
          </a:prstGeom>
          <a:solidFill>
            <a:srgbClr val="0B1F3A"/>
          </a:solidFill>
          <a:ln/>
        </p:spPr>
        <p:txBody>
          <a:bodyPr/>
          <a:lstStyle/>
          <a:p>
            <a:endParaRPr lang="en-US"/>
          </a:p>
        </p:txBody>
      </p:sp>
      <p:sp>
        <p:nvSpPr>
          <p:cNvPr id="28" name="Text 26"/>
          <p:cNvSpPr/>
          <p:nvPr/>
        </p:nvSpPr>
        <p:spPr>
          <a:xfrm>
            <a:off x="4498848" y="393192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Finance | E. Asia</a:t>
            </a:r>
            <a:endParaRPr lang="en-US" sz="1000" dirty="0"/>
          </a:p>
        </p:txBody>
      </p:sp>
      <p:sp>
        <p:nvSpPr>
          <p:cNvPr id="29" name="Text 27"/>
          <p:cNvSpPr/>
          <p:nvPr/>
        </p:nvSpPr>
        <p:spPr>
          <a:xfrm>
            <a:off x="4544568" y="438912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NIST 800-53 SMTP Compliance</a:t>
            </a:r>
            <a:endParaRPr lang="en-US" sz="1300" dirty="0"/>
          </a:p>
        </p:txBody>
      </p:sp>
      <p:sp>
        <p:nvSpPr>
          <p:cNvPr id="30" name="Text 28"/>
          <p:cNvSpPr/>
          <p:nvPr/>
        </p:nvSpPr>
        <p:spPr>
          <a:xfrm>
            <a:off x="4544568" y="489204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SMTP traffic from trusted to untrusted zones had no threat inspection enabled, despite the NGFW's built-in capability — exposed customer to phishing &amp; credential harvest.</a:t>
            </a:r>
            <a:endParaRPr lang="en-US" sz="1100" dirty="0"/>
          </a:p>
        </p:txBody>
      </p:sp>
      <p:sp>
        <p:nvSpPr>
          <p:cNvPr id="31" name="Shape 29"/>
          <p:cNvSpPr/>
          <p:nvPr/>
        </p:nvSpPr>
        <p:spPr>
          <a:xfrm>
            <a:off x="8266176" y="3931920"/>
            <a:ext cx="3703320" cy="22860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32" name="Shape 30"/>
          <p:cNvSpPr/>
          <p:nvPr/>
        </p:nvSpPr>
        <p:spPr>
          <a:xfrm>
            <a:off x="8266176" y="3931920"/>
            <a:ext cx="3703320" cy="320040"/>
          </a:xfrm>
          <a:prstGeom prst="rect">
            <a:avLst/>
          </a:prstGeom>
          <a:solidFill>
            <a:srgbClr val="0B1F3A"/>
          </a:solidFill>
          <a:ln/>
        </p:spPr>
        <p:txBody>
          <a:bodyPr/>
          <a:lstStyle/>
          <a:p>
            <a:endParaRPr lang="en-US"/>
          </a:p>
        </p:txBody>
      </p:sp>
      <p:sp>
        <p:nvSpPr>
          <p:cNvPr id="33" name="Text 31"/>
          <p:cNvSpPr/>
          <p:nvPr/>
        </p:nvSpPr>
        <p:spPr>
          <a:xfrm>
            <a:off x="8403336" y="3931920"/>
            <a:ext cx="3474720" cy="320040"/>
          </a:xfrm>
          <a:prstGeom prst="rect">
            <a:avLst/>
          </a:prstGeom>
          <a:noFill/>
          <a:ln/>
        </p:spPr>
        <p:txBody>
          <a:bodyPr wrap="square" lIns="0" tIns="0" rIns="0" bIns="0"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EU Sov. Govt</a:t>
            </a:r>
            <a:endParaRPr lang="en-US" sz="1000" dirty="0"/>
          </a:p>
        </p:txBody>
      </p:sp>
      <p:sp>
        <p:nvSpPr>
          <p:cNvPr id="34" name="Text 32"/>
          <p:cNvSpPr/>
          <p:nvPr/>
        </p:nvSpPr>
        <p:spPr>
          <a:xfrm>
            <a:off x="8449056" y="4389120"/>
            <a:ext cx="3383280" cy="457200"/>
          </a:xfrm>
          <a:prstGeom prst="rect">
            <a:avLst/>
          </a:prstGeom>
          <a:noFill/>
          <a:ln/>
        </p:spPr>
        <p:txBody>
          <a:bodyPr wrap="square" lIns="0" tIns="0" rIns="0" bIns="0" rtlCol="0" anchor="t"/>
          <a:lstStyle/>
          <a:p>
            <a:pPr marL="0" indent="0">
              <a:buNone/>
            </a:pPr>
            <a:r>
              <a:rPr lang="en-US" sz="1300" b="1" dirty="0">
                <a:solidFill>
                  <a:srgbClr val="F26B1F"/>
                </a:solidFill>
                <a:latin typeface="Calibri" pitchFamily="34" charset="0"/>
                <a:ea typeface="Calibri" pitchFamily="34" charset="-122"/>
                <a:cs typeface="Calibri" pitchFamily="34" charset="-120"/>
              </a:rPr>
              <a:t>Preemptive ASM for National Agency</a:t>
            </a:r>
            <a:endParaRPr lang="en-US" sz="1300" dirty="0"/>
          </a:p>
        </p:txBody>
      </p:sp>
      <p:sp>
        <p:nvSpPr>
          <p:cNvPr id="35" name="Text 33"/>
          <p:cNvSpPr/>
          <p:nvPr/>
        </p:nvSpPr>
        <p:spPr>
          <a:xfrm>
            <a:off x="8449056" y="4892040"/>
            <a:ext cx="3383280" cy="128016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EU country's cyber defense umbrella — Rigor formally extended EASM scan coverage and proved compliance of external attack surface across 12 government agencies.</a:t>
            </a:r>
            <a:endParaRPr lang="en-US" sz="1100" dirty="0"/>
          </a:p>
        </p:txBody>
      </p:sp>
      <p:sp>
        <p:nvSpPr>
          <p:cNvPr id="36" name="Text 34"/>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20+ design partners across F500, federal, critical infrastructure, MSSPs, nation states. Engagements in NA, EU, ME, Asia, Pacific.</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14038</Words>
  <Application>Microsoft Office PowerPoint</Application>
  <PresentationFormat>Widescreen</PresentationFormat>
  <Paragraphs>1538</Paragraphs>
  <Slides>49</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Aptos</vt:lpstr>
      <vt:lpstr>Arial</vt:lpstr>
      <vt:lpstr>Arial Black</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Ravindra Shukla</cp:lastModifiedBy>
  <cp:revision>2</cp:revision>
  <dcterms:created xsi:type="dcterms:W3CDTF">2013-01-27T09:14:16Z</dcterms:created>
  <dcterms:modified xsi:type="dcterms:W3CDTF">2026-05-03T17:53:45Z</dcterms:modified>
  <cp:category/>
</cp:coreProperties>
</file>