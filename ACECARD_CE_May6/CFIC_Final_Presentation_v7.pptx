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377440"/>
            <a:ext cx="914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Containerized Behavioral</a:t>
            </a:r>
            <a:br/>
            <a:r>
              <a:t>Cyber Defense for Gabriel Nimbus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0B8D0"/>
                </a:solidFill>
                <a:latin typeface="Calibri"/>
              </a:defRPr>
            </a:pPr>
            <a:r>
              <a:t>Preemptive Posture Verification  +  ACECARD UEBA Behavioral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4846320"/>
            <a:ext cx="32004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51206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A8B9E"/>
                </a:solidFill>
                <a:latin typeface="Calibri"/>
              </a:defRPr>
            </a:pPr>
            <a:r>
              <a:t>CFIC Collaboration Event  |  Georgia Cyber Innovation &amp; Training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4864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A8B9E"/>
                </a:solidFill>
                <a:latin typeface="Calibri"/>
              </a:defRPr>
            </a:pPr>
            <a:r>
              <a:t>Augusta, GA  |  May 6,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Calibri"/>
              </a:defRPr>
            </a:pPr>
            <a:r>
              <a:t>PROPRIETARY  //  NOT FOR PUBLIC RELEASE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463040"/>
            <a:ext cx="3200400" cy="4572000"/>
          </a:xfrm>
          <a:prstGeom prst="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320040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53619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SITUATION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03120"/>
            <a:ext cx="2651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Nation-state adversaries (Volt Typhoon, Salt Typhoon) have dwelled inside U.S. critical infrastructure for years.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AI-enabled reconnaissance and evasion make these campaigns harder to detect with each cycle.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ARCYBER needs behavioral intelligence inside the Gabriel Nimbus classified big data platform.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463040"/>
            <a:ext cx="3200400" cy="4572000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463040"/>
            <a:ext cx="32004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53619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COMPLICATION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03120"/>
            <a:ext cx="2651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Config gaps are never PROVEN closed. Pentests sample; nobody exhaustively verifies.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Current UEBA uses fixed thresholds. LOTL tradecraft operates below every threshold.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Identity fragmented across 10+ systems. No cross-domain behavioral trajectory.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No containerized, K8s-native UEBA for classified enclaves.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463040"/>
            <a:ext cx="3200400" cy="457200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320040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53619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03120"/>
            <a:ext cx="2651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22CT Preemptive: Formal verification of every defensive config. Zero FP/FN within model scope.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ACECARD UEBA: 1536-d embeddings + CUSUM change-point + MITRE-mapped drift direction.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Together: attack surface never exists OR behavioral drift detected in hours, not years.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K8s-native, Iron Bank, IL5/IL6/JWICS. 90 days to first detection.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217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C757D"/>
                </a:solidFill>
                <a:latin typeface="Calibri"/>
              </a:defRPr>
            </a:pPr>
            <a:r>
              <a:t>DoD Zero Trust RA (Pillars 4 &amp; 7)  |  NIST 800-53 Rev 5  |  cATO path  |  RMF/eMASS ready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1.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AI-enabled adversaries dwell for years. Current defenses detect neither the entry nor the evolution.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AI-Enabled Adversaries Have Changed the Game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Nation-state actors use AI for reconnaissance, evasion, and adaptive persistence.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3291840" cy="30175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6459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6459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16002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AI-Powered</a:t>
            </a:r>
            <a:br/>
            <a:r>
              <a:t>Reconnaissance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77440"/>
            <a:ext cx="2743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LLMs generate exploit code from CVE descriptions in minutes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AI scans 100K+ endpoints for misconfiguration patterns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Automated supply-chain mapping identifies weakest links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463040"/>
            <a:ext cx="3291840" cy="30175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46320" y="16459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6459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16002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AI-Assisted</a:t>
            </a:r>
            <a:br/>
            <a:r>
              <a:t>Evasion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377440"/>
            <a:ext cx="2743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Adversary AI mutates C2 traffic to evade signature detection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ML models test payloads against defender rules pre-campaign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Generative AI produces convincing phishing at scale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463040"/>
            <a:ext cx="3291840" cy="30175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0" y="16459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459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6002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AI-Extended</a:t>
            </a:r>
            <a:br/>
            <a:r>
              <a:t>Dwell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377440"/>
            <a:ext cx="2743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Adaptive beaconing avoids pattern-based detection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AI decides when to move laterally based on defender activity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Automated credential rotation maintains persistence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754880"/>
            <a:ext cx="10058400" cy="82296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4754880"/>
            <a:ext cx="54864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84632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C0392B"/>
                </a:solidFill>
                <a:latin typeface="Calibri"/>
              </a:defRPr>
            </a:pPr>
            <a:r>
              <a:t>Two active campaigns operated inside U.S. critical infrastructure for years: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Volt Typhoon (G1017): active since mid-2021, pre-positioned in power, water, telecom   |   Salt Typhoon: 9+ U.S. telecoms, multi-year dwell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7607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Sources: CISA AA24-038A  |  FBI/NSA/CISA Joint Advisory (Dec 2024)  |  Microsoft Threat Intel  |  Cisco Talos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Case Study: Volt Typhoon (MITRE G1017)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Pre-positioned in U.S. critical infrastructure for future sabotage. Active since at least mid-2021.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618488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618488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3619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783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Initial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00200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Exploits unpatched Fortinet, Ivanti, Cisco IOS XE, PAN edge devices. CVE-2023-20198, CVE-2024-3400.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04288"/>
            <a:ext cx="100584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0160" y="2459736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459736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37744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62432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Credential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41448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ntdsutil.exe dumps NTDS.dit. LSASS memory extraction. All tools are legitimate Windows admin binaries.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145536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80160" y="3300984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300984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2186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46557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Lateral Movement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282696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RDP, WinRM, SMB to domain controllers. Routes C2 through KV botnet (compromised SOHO routers).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986784"/>
            <a:ext cx="100584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4142232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414223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05993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30682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Persistence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123944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Web shells (.aspx/.jspx). Scheduled tasks. Registry modification. Multi-year pre-positioning.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4828032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983480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49834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90118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1480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Defense Evasion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965192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Clears event logs. Deletes MRU keys. Living-off-the-Land only — no malware to detect.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760720"/>
            <a:ext cx="10058400" cy="5029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" y="583387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80160" y="583387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580644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C0392B"/>
                </a:solidFill>
                <a:latin typeface="Calibri"/>
              </a:defRPr>
            </a:pPr>
            <a:r>
              <a:t>Every tool is a legitimate admin binary. Every login uses valid credentials. No malware signature exists. Detection is structurally blind.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Case Study: Salt Typhoon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Carrier-scale telecom intrusions. 9+ U.S. telecoms compromised. Multi-year dwell. CALEA access.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618488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618488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3619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783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Edge Exploitation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00200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CVE-2023-20198 (Cisco IOS XE), CVE-2018-0171, CVE-2024-21887 (Ivanti). 1,000+ Cisco devices.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04288"/>
            <a:ext cx="100584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0160" y="2459736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459736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37744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62432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41448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Local privileged accounts on routers. ACL whitelisting. Guest Shell enabled. Config-resident.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145536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80160" y="3300984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300984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2186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46557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TACACS+ Harvest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282696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On-box packet capture of TCP/49. Harvests network engineer credentials. JumbledPath chains.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986784"/>
            <a:ext cx="100584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4142232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414223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05993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30682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Collection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123944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GRE tunnels siphon CDR/metadata. Targets CALEA lawful-intercept. GhostSpider + Demodex (Trend Micro).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4828032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983480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49834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90118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1480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Long-Term Espionage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965192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Slow, persistent CDR exfiltration over months/years. Encrypted C2. LOTL on network gear.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760720"/>
            <a:ext cx="10058400" cy="5029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" y="583387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80160" y="583387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580644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C0392B"/>
                </a:solidFill>
                <a:latin typeface="Calibri"/>
              </a:defRPr>
            </a:pPr>
            <a:r>
              <a:t>Salt Typhoon lives in router configs and ACLs — not in files. Their persistence IS the network configuration.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2. Why Current Tools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Neither configuration-only nor behavior-only defenses can detect these campaigns.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Four Structural Gaps Exploited by Both Campaigns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Each gap is a design limitation, not a tuning problem. No amount of rules or thresholds closes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54864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755648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75564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55448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Configuration Gaps Are Never PROVEN Closed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92024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99% of firewall breaches are misconfiguration (Gartner). Pentests sample. ASM enumerates. Nobody PROVES coverage across the combinatorial config state space.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606040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606040"/>
            <a:ext cx="54864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2898648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89864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69748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Behavioral Detection Has No Direction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06324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"User is 87% anomalous" — anomalous HOW? LOTL tools (ntdsutil, wmic, netsh) are legitimate admin binaries. Volt Typhoon operated BELOW all thresholds for years.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49040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749040"/>
            <a:ext cx="54864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71600" y="4041648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04164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84048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Identity Is Fragmented Across 10+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20624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AD, AAD, Okta, AWS IAM, K8s, CrowdStrike, VPN, Splunk, PKI, TACACS+. Cross-domain lateral reads as 4 unrelated weak signals. No composite trajectory.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892040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4892040"/>
            <a:ext cx="54864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71600" y="5184648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18464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98348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No Cloud-Native UEBA for Gabriel Nimbus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34924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Current UEBA is SaaS-only or legacy on-prem. No containerized, K8s-native behavioral platform for IL5/IL6/JWICS with cATO alignment.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Existing Security Stack vs. These Adversaries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Tool-by-tool assessment against Volt Typhoon and Salt Typhoon tradecraft.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SIEM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60020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Correlates known patterns. Cannot detect novel combinations of legitimate tool usage. Alert fatigue from 10K+ daily events.</a:t>
            </a:r>
          </a:p>
        </p:txBody>
      </p:sp>
      <p:sp>
        <p:nvSpPr>
          <p:cNvPr id="12" name="Oval 11"/>
          <p:cNvSpPr/>
          <p:nvPr/>
        </p:nvSpPr>
        <p:spPr>
          <a:xfrm>
            <a:off x="10607040" y="164592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16459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31720"/>
            <a:ext cx="1005840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33172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5146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EDR / XDR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46888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Catches known malware. LOTL binaries are allowlisted. Cannot reason about cross-host behavioral evolution. Blind on network gear.</a:t>
            </a:r>
          </a:p>
        </p:txBody>
      </p:sp>
      <p:sp>
        <p:nvSpPr>
          <p:cNvPr id="18" name="Oval 17"/>
          <p:cNvSpPr/>
          <p:nvPr/>
        </p:nvSpPr>
        <p:spPr>
          <a:xfrm>
            <a:off x="10607040" y="251460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0" y="251460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200400"/>
            <a:ext cx="1005840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20040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33832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Commercial UEBA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33756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Fixed thresholds. Per-source silos. No cross-system identity fusion. No drift direction. Cannot explain WHY.</a:t>
            </a:r>
          </a:p>
        </p:txBody>
      </p:sp>
      <p:sp>
        <p:nvSpPr>
          <p:cNvPr id="24" name="Oval 23"/>
          <p:cNvSpPr/>
          <p:nvPr/>
        </p:nvSpPr>
        <p:spPr>
          <a:xfrm>
            <a:off x="10607040" y="338328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0" y="33832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069080"/>
            <a:ext cx="1005840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406908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2519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Pentest / Red 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20624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Point-in-time sample. Cannot cover combinatorial state space. Exercises known TTPs only. Annual cadence vs. continuous adversary.</a:t>
            </a:r>
          </a:p>
        </p:txBody>
      </p:sp>
      <p:sp>
        <p:nvSpPr>
          <p:cNvPr id="30" name="Oval 29"/>
          <p:cNvSpPr/>
          <p:nvPr/>
        </p:nvSpPr>
        <p:spPr>
          <a:xfrm>
            <a:off x="10607040" y="425196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07040" y="425196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4937760"/>
            <a:ext cx="1005840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7280" y="493776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51206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ASM / BAS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50749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Enumerates attack surface. Cannot PROVE controls block every path. Statistical confidence, not mathematical certainty.</a:t>
            </a:r>
          </a:p>
        </p:txBody>
      </p:sp>
      <p:sp>
        <p:nvSpPr>
          <p:cNvPr id="36" name="Oval 35"/>
          <p:cNvSpPr/>
          <p:nvPr/>
        </p:nvSpPr>
        <p:spPr>
          <a:xfrm>
            <a:off x="10607040" y="512064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07040" y="512064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852160"/>
            <a:ext cx="10058400" cy="4572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58978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The gap is structural, not operational. A fundamentally different approach is required — one that PROVES and one that detects DIRECTION.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3. Our Solution: Two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Preemptive verification + behavioral trajectory intelligence. Together, they close all four gaps.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Two-Layer Defense: Preemptive + Behavioral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Layer 1 eliminates attack surface mathematically. Layer 2 detects what remains behaviorally.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4937760" cy="4206240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93776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80160" y="1536192"/>
            <a:ext cx="365760" cy="36576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53619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53619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1 — 22CT PREEMPTIVE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031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B4F72"/>
                </a:solidFill>
                <a:latin typeface="Calibri"/>
              </a:defRPr>
            </a:pPr>
            <a:r>
              <a:t>Closes Gap #1: Configuration never proven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468880"/>
            <a:ext cx="43891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Formal mathematical model of every NGFW, IPS, IdP, SASE, WAF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Exhaustively reasons over combinatorial config state space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Three Intelligences: Attack, Defense, Remediation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Re-verified hourly + on every config change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Supports PAN, Fortinet, Cisco, Check Point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1B4F72"/>
                </a:solidFill>
                <a:latin typeface="Calibri"/>
              </a:defRPr>
            </a:pPr>
            <a:r>
              <a:t>GUARANTEE: Zero FP/FN within formal model scope.</a:t>
            </a: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Complete reasoning, not sampling.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950" b="0">
                <a:solidFill>
                  <a:srgbClr val="6C757D"/>
                </a:solidFill>
                <a:latin typeface="Calibri"/>
              </a:defRPr>
            </a:pPr>
            <a:r>
              <a:t>Powered by Rigor AI (innovation partner).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4937760" cy="420624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463040"/>
            <a:ext cx="493776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536192"/>
            <a:ext cx="365760" cy="36576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53619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53619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2 — ACECARD UEBA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1031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E6B8A"/>
                </a:solidFill>
                <a:latin typeface="Calibri"/>
              </a:defRPr>
            </a:pPr>
            <a:r>
              <a:t>Closes Gaps #2, #3, #4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468880"/>
            <a:ext cx="43891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5 signals embedded into 1536-d vectors per entity/hour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CUSUM change-point catches sub-threshold drift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Drift DIRECTION with MITRE ATT&amp;CK mapping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Entity fusion across 10+ identity systems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Containerized K8s-native for Gabriel Nimbus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0E6B8A"/>
                </a:solidFill>
                <a:latin typeface="Calibri"/>
              </a:defRPr>
            </a:pPr>
            <a:r>
              <a:t>INNOVATION: Not what is anomalous —</a:t>
            </a: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what they are BECOMING. Direction, not magnitude.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897880"/>
            <a:ext cx="10058400" cy="41148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94360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Together: attack surface never exists (Preemptive) OR behavioral drift detected and contained within hours (ACECARD + ABAC)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Layer 1: Three Intelligences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From threat intel ingestion to verified remediation. Continuous, not periodic.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3291840" cy="4206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329184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68880" y="1645920"/>
            <a:ext cx="502920" cy="50292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6459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402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D1B2A"/>
                </a:solidFill>
                <a:latin typeface="Calibri"/>
              </a:defRPr>
            </a:pPr>
            <a:r>
              <a:t>Attack</a:t>
            </a:r>
            <a:br/>
            <a:r>
              <a:t>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17520"/>
            <a:ext cx="2743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MITRE-enriched attack graphs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Built by ML/NLP/LLM pipeline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Ingests: CVE, CISA, CTI, IOCs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Full TTP graph for G1017 + Salt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Updates on every new advisory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463040"/>
            <a:ext cx="3291840" cy="4206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463040"/>
            <a:ext cx="329184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0" y="1645920"/>
            <a:ext cx="502920" cy="50292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6459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2402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D1B2A"/>
                </a:solidFill>
                <a:latin typeface="Calibri"/>
              </a:defRPr>
            </a:pPr>
            <a:r>
              <a:t>Defense</a:t>
            </a:r>
            <a:br/>
            <a:r>
              <a:t>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017520"/>
            <a:ext cx="2743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Symbolic Model of Computation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Every config as formal logic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Exhaustive state-space reasoning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PROVES every path blocked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Or surfaces the exact gap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463040"/>
            <a:ext cx="3291840" cy="4206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463040"/>
            <a:ext cx="329184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1645920"/>
            <a:ext cx="502920" cy="50292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16459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2402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D1B2A"/>
                </a:solidFill>
                <a:latin typeface="Calibri"/>
              </a:defRPr>
            </a:pPr>
            <a:r>
              <a:t>Remediation</a:t>
            </a:r>
            <a:br/>
            <a:r>
              <a:t>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017520"/>
            <a:ext cx="2743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Guardrailed agentic-AI reasoners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Risk-prioritized, vendor-specific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Validates fix introduces no gaps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SOC playbooks auto-generated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ServiceNow/JIRA 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852160"/>
            <a:ext cx="1005840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8978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OUTPUT:  Mathematical proof every TTP path is blocked. Re-verified hourly. Config drift caught &lt;1hr. Vendor-specific fix generated.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Layer 2: ACECARD UEBA — Core Innovations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Behavioral trajectory intelligence. Not anomaly scores — directional, MITRE-mapped drift detection.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54864" cy="10058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737360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73736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536192"/>
            <a:ext cx="9052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1536-d Behavioral 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847088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5 signals (Auth, Process, Network, File, Identity) summarized as text, embedded into unified vector space. Captures the SHAPE of behavior. 6 vectors stored per entity per window.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542032"/>
            <a:ext cx="1005840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542032"/>
            <a:ext cx="54864" cy="10058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2816352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816352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615184"/>
            <a:ext cx="9052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CUSUM Change-Point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92608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Page's CUSUM (1954): accumulates small drifts that NEVER cross fixed thresholds. Minimax optimal for i.i.d. shift detection (Moustakides 1986). Alarm in hours, not years.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621024"/>
            <a:ext cx="1005840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621024"/>
            <a:ext cx="54864" cy="10058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71600" y="3895344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3895344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694176"/>
            <a:ext cx="9052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Drift Direction + MITRE 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005072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Drift vector projected onto 8 threat concepts via cosine similarity. Output: "drifting toward lateral_movement (0.78, T1021)" — not "87% anomalous."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700016"/>
            <a:ext cx="1005840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4700016"/>
            <a:ext cx="54864" cy="10058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71600" y="4974336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4974336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773168"/>
            <a:ext cx="9052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Entity Fusion (10+ Systems)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084064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One entity_uuid resolves AD, AAD, Okta, AWS, K8s, CrowdStrike, VPN, Splunk, PKI, TACACS+. Without fusion: 4 weak signals. With fusion: 1 strong trajectory, HIGH alert.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852160"/>
            <a:ext cx="10058400" cy="41148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89788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Calibri"/>
              </a:defRPr>
            </a:pPr>
            <a:r>
              <a:t>No commercial UEBA combines: behavioral embeddings + CUSUM on vectors + drift direction onto MITRE + entity fusion across 10+ sources.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Five Behavioral Signals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Each signal captures a distinct attack dimension. Together they form a complete behavioral fingerprint.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645920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64592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1600200"/>
            <a:ext cx="128016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166420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536192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Win 4624/4625/4768, Okta, AAD, CloudTrail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847088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onsolas"/>
              </a:defRPr>
            </a:pPr>
            <a:r>
              <a:t>logon_count, failure_rate, unique_hosts, off_hours_ratio, impossible_travel, mfa_skip_ratio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2350008"/>
            <a:ext cx="1005840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80160" y="2532888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53288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2487168"/>
            <a:ext cx="128016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2551176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423160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Sysmon EID 1/3, CrowdStrike, Defender, auditd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734056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onsolas"/>
              </a:defRPr>
            </a:pPr>
            <a:r>
              <a:t>unique_processes, cmdline_entropy, lolbin_count, parent_child_depth, unsigned_ratio, encoded_cmd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3236976"/>
            <a:ext cx="1005840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0160" y="3419856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3419856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3374136"/>
            <a:ext cx="128016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74519" y="3438144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310128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NetFlow/IPFIX, Zeek, PAN-OS, FortiGate, VPC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621024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onsolas"/>
              </a:defRPr>
            </a:pPr>
            <a:r>
              <a:t>unique_dest_ips, bytes_out_ratio, beacon_score, dns_query_rate, geo_anomaly, admin_share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123944"/>
            <a:ext cx="1005840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80160" y="4306824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4306824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4261104"/>
            <a:ext cx="128016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74519" y="4325112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197096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Sysmon EID 11, Win 4663, DLP, cloud storage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4507992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onsolas"/>
              </a:defRPr>
            </a:pPr>
            <a:r>
              <a:t>files_created, files_deleted, sensitive_access, archive_creates, ext_changes, shadow_copy_ops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5010912"/>
            <a:ext cx="1005840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" y="5193792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5193792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0" y="5148072"/>
            <a:ext cx="128016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74519" y="52120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084064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Win 4672/4728, CloudTrail IAM, K8s audit, AD change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39496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onsolas"/>
              </a:defRPr>
            </a:pPr>
            <a:r>
              <a:t>priv_escalations, group_adds, mfa_bypass, role_changes, service_acct_use, admin_actions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943600"/>
            <a:ext cx="10058400" cy="32004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597103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0E6B8A"/>
                </a:solidFill>
                <a:latin typeface="Calibri"/>
              </a:defRPr>
            </a:pPr>
            <a:r>
              <a:t>Air-gapped default: local embedding model (E5-Mistral / nomic-embed-text).  IL5 option: Azure OpenAI GovCloud.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4. How It Stops These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Phase-by-phase: what Preemptive eliminates and what ACECARD catches if preemption is bypassed.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Stopping Volt Typhoon: Both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Each kill-chain phase addressed by the appropriate layer. Defense-in-depth.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18872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39903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371600"/>
            <a:ext cx="274320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39903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ADVERSARY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39903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22CT PREEMPTIVE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017520" cy="3657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39903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 DETECTS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1783080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1874520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Initial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8745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Edge CVE exploit</a:t>
            </a:r>
            <a:br/>
            <a:r>
              <a:t>(Fortinet, Cisco, PAN)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87452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IPS + WAF verified;</a:t>
            </a:r>
            <a:br/>
            <a:r>
              <a:t>compensating controls proven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745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Auth: anomalous mgmt-plane</a:t>
            </a:r>
            <a:br/>
            <a:r>
              <a:t>source IP, drift 0.08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2624328"/>
            <a:ext cx="100584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2715768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Credential</a:t>
            </a:r>
            <a:br/>
            <a:r>
              <a:t>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715768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ntdsutil NTDS.dit dump;</a:t>
            </a:r>
            <a:br/>
            <a:r>
              <a:t>LSASS 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71576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EDR coverage verified;</a:t>
            </a:r>
            <a:br/>
            <a:r>
              <a:t>script-control blocks ntdsutil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715768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Process: lolbin_count 0→7,</a:t>
            </a:r>
            <a:br/>
            <a:r>
              <a:t>CUSUM alarm @ T+47min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465576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3557016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Lateral</a:t>
            </a:r>
            <a:br/>
            <a:r>
              <a:t>Movement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3557016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SMB/RDP/WinRM to DCs;</a:t>
            </a:r>
            <a:br/>
            <a:r>
              <a:t>cross-tenant pivots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557016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SMB shadow detected;</a:t>
            </a:r>
            <a:br/>
            <a:r>
              <a:t>micro-segmentation proven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557016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Network: unique_dest 3→18,</a:t>
            </a:r>
            <a:br/>
            <a:r>
              <a:t>cohort z=6.17, 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4306824"/>
            <a:ext cx="100584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4398264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Persistence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4398264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Web shells; local accounts;</a:t>
            </a:r>
            <a:br/>
            <a:r>
              <a:t>ACL modification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398264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Config Drift catches</a:t>
            </a:r>
            <a:br/>
            <a:r>
              <a:t>baseline deviation in &lt;1hr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398264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Identity: svc_acct spikes,</a:t>
            </a:r>
            <a:br/>
            <a:r>
              <a:t>drift toward T1078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5148072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5239512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Pre-position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5239512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Credential harvest;</a:t>
            </a:r>
            <a:br/>
            <a:r>
              <a:t>C2 to KV botnet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23951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Egress filtering proven;</a:t>
            </a:r>
            <a:br/>
            <a:r>
              <a:t>C2 IPs blocked all zones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239512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File: sensitive_access rises,</a:t>
            </a:r>
            <a:br/>
            <a:r>
              <a:t>CRITICAL → ABAC BLOCKED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Stopping Salt Typhoon: Both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Config-resident adversary. Preemptive catches config drift. ACECARD catches behavioral drift.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18872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39903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371600"/>
            <a:ext cx="274320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39903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ADVERSARY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39903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22CT PREEMPTIVE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017520" cy="3657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39903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 DETECTS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1783080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1874520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Edge CVE</a:t>
            </a:r>
            <a:br/>
            <a:r>
              <a:t>Exploit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8745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CVE-2023-20198 IOS XE;</a:t>
            </a:r>
            <a:br/>
            <a:r>
              <a:t>level-15 admin obtained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87452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WAF blocks /webui/ public;</a:t>
            </a:r>
            <a:br/>
            <a:r>
              <a:t>mgmt-plane ACL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745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Network: anomalous mgmt</a:t>
            </a:r>
            <a:br/>
            <a:r>
              <a:t>source IP, drift 0.09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2624328"/>
            <a:ext cx="100584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2715768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Account</a:t>
            </a:r>
            <a:br/>
            <a:r>
              <a:t>Creation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715768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Local priv account;</a:t>
            </a:r>
            <a:br/>
            <a:r>
              <a:t>AAA config modified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71576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Config Drift detects</a:t>
            </a:r>
            <a:br/>
            <a:r>
              <a:t>baseline diff in &lt;1 hour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715768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Identity: graph hash change;</a:t>
            </a:r>
            <a:br/>
            <a:r>
              <a:t>new SID linked to router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465576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3557016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TACACS+</a:t>
            </a:r>
            <a:br/>
            <a:r>
              <a:t>Capture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3557016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On-box PCAP TCP/49;</a:t>
            </a:r>
            <a:br/>
            <a:r>
              <a:t>creds harvested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557016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Capture restricted to</a:t>
            </a:r>
            <a:br/>
            <a:r>
              <a:t>authorized roles; mgmt VRF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557016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Process: tcpdump outside</a:t>
            </a:r>
            <a:br/>
            <a:r>
              <a:t>change window, CUSUM alarm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4306824"/>
            <a:ext cx="100584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4398264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JumbledPath</a:t>
            </a:r>
            <a:br/>
            <a:r>
              <a:t>Pivot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4398264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ELF binary chains across</a:t>
            </a:r>
            <a:br/>
            <a:r>
              <a:t>compromised routers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398264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Outbound to C2 blocked</a:t>
            </a:r>
            <a:br/>
            <a:r>
              <a:t>all internal zones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398264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Composite: same uuid</a:t>
            </a:r>
            <a:br/>
            <a:r>
              <a:t>across 4 router hops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5148072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5239512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GRE Tunnel</a:t>
            </a:r>
            <a:br/>
            <a:r>
              <a:t>+ Exfil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5239512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GRE tunnel; slow CDR</a:t>
            </a:r>
            <a:br/>
            <a:r>
              <a:t>exfil over months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23951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GRE peer auth verified;</a:t>
            </a:r>
            <a:br/>
            <a:r>
              <a:t>CALEA-zone seg proven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239512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data_exfiltration 0.44;</a:t>
            </a:r>
            <a:br/>
            <a:r>
              <a:t>slow drift: CUSUM alarm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Why CUSUM Catches What Thresholds Cannot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Volt Typhoon never crosses any fixed threshold. CUSUM accumulates small drifts until alarm.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5029200" cy="22860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502920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645920"/>
            <a:ext cx="365760" cy="36576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6459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002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THE ALGORITHM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03120"/>
            <a:ext cx="4480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onsolas"/>
              </a:defRPr>
            </a:pPr>
            <a:r>
              <a:t>S(t) = max(0, S(t-1) + drift(t) - μ - k)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S(t) = cumulative sum statistic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drift(t) = cosine distance from baseline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μ = expected baseline drift (calibrated)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k = 0.5σ (allowable noise)</a:t>
            </a:r>
          </a:p>
          <a:p>
            <a:pPr>
              <a:spcBef>
                <a:spcPts val="6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ALARM when S(t) &gt; h = 4σ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5029200" cy="22860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502920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0" y="1645920"/>
            <a:ext cx="365760" cy="36576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6459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6002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Calibri"/>
              </a:defRPr>
            </a:pPr>
            <a:r>
              <a:t>VOLT TYPHOON 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4480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Baseline: μ=0.03, σ=0.03</a:t>
            </a:r>
          </a:p>
          <a:p>
            <a:pPr>
              <a:spcBef>
                <a:spcPts val="600"/>
              </a:spcBef>
              <a:defRPr sz="1050" b="1">
                <a:solidFill>
                  <a:srgbClr val="0D1B2A"/>
                </a:solidFill>
                <a:latin typeface="Calibri"/>
              </a:defRPr>
            </a:pPr>
            <a:r>
              <a:t>k = 0.015  |  h = 0.12</a:t>
            </a:r>
          </a:p>
          <a:p>
            <a:pPr>
              <a:spcBef>
                <a:spcPts val="600"/>
              </a:spcBef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APT drift/window = 0.06 (below ALL thresholds)</a:t>
            </a:r>
          </a:p>
          <a:p>
            <a:pPr>
              <a:spcBef>
                <a:spcPts val="600"/>
              </a:spcBef>
              <a:defRPr sz="1050" b="1">
                <a:solidFill>
                  <a:srgbClr val="C0392B"/>
                </a:solidFill>
                <a:latin typeface="Calibri"/>
              </a:defRPr>
            </a:pPr>
            <a:r>
              <a:t>Fixed threshold = 0.15 → NEVER fires</a:t>
            </a:r>
          </a:p>
          <a:p>
            <a:pPr>
              <a:spcBef>
                <a:spcPts val="600"/>
              </a:spcBef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CUSUM: excess = 0.06 - 0.03 - 0.015 = 0.015</a:t>
            </a:r>
          </a:p>
          <a:p>
            <a:pPr>
              <a:spcBef>
                <a:spcPts val="600"/>
              </a:spcBef>
              <a:defRPr sz="1050" b="1">
                <a:solidFill>
                  <a:srgbClr val="0E6B8A"/>
                </a:solidFill>
                <a:latin typeface="Calibri"/>
              </a:defRPr>
            </a:pPr>
            <a:r>
              <a:t>Alarm in 0.12/0.015 = 8 windows = 8 hours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023360"/>
            <a:ext cx="5029200" cy="18288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023360"/>
            <a:ext cx="502920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71600" y="420624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20624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160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FIXED THRESHOLD (Current UEBA)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663440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Volt Typhoon per-window drift: 0.01 – 0.04</a:t>
            </a:r>
          </a:p>
          <a:p>
            <a:pPr>
              <a:spcBef>
                <a:spcPts val="600"/>
              </a:spcBef>
              <a:defRPr sz="1050" b="1">
                <a:solidFill>
                  <a:srgbClr val="C0392B"/>
                </a:solidFill>
                <a:latin typeface="Calibri"/>
              </a:defRPr>
            </a:pPr>
            <a:r>
              <a:t>NEVER crosses 0.15. Attacker dwells for YEARS.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Every commercial UEBA uses fixed thresholds.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023360"/>
            <a:ext cx="5029200" cy="18288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023360"/>
            <a:ext cx="502920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0" y="4206240"/>
            <a:ext cx="365760" cy="36576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20624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160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6B8A"/>
                </a:solidFill>
                <a:latin typeface="Calibri"/>
              </a:defRPr>
            </a:pPr>
            <a:r>
              <a:t>CUSUM (Our Approach)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663440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Same drift ACCUMULATES over windows.</a:t>
            </a:r>
          </a:p>
          <a:p>
            <a:pPr>
              <a:spcBef>
                <a:spcPts val="600"/>
              </a:spcBef>
              <a:defRPr sz="1050" b="1">
                <a:solidFill>
                  <a:srgbClr val="0E6B8A"/>
                </a:solidFill>
                <a:latin typeface="Calibri"/>
              </a:defRPr>
            </a:pPr>
            <a:r>
              <a:t>CUSUM alarm in 4–8 hours. Dwell: YEARS → HOURS.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Minimax optimal (Lorden 1971, Moustakides 1986).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5. Architecture &amp;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How the two layers feed each other. High-level architecture and data 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Four Integration Points: Better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Each layer makes the other stronger. Shared vocabulary: MITRE ATT&amp;CK technique IDs.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960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719072"/>
            <a:ext cx="457200" cy="45720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71907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36192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Preemptive Coverage Map → ACECARD 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847088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Preemptive publishes which MITRE techniques are config-blocked. ACECARD raises thresholds on covered concepts (less noise) and lowers on uncovered (more sensitivity).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514600"/>
            <a:ext cx="10058400" cy="960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71600" y="2770632"/>
            <a:ext cx="457200" cy="45720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77063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587752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Preemptive Gaps → ACECARD Trust Floor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898648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Unmitigated control gap found → ACECARD lowers trust floor for entities in that segment. ELEVATED_WATCH until gap closed. Step-up MFA applied automatically.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566160"/>
            <a:ext cx="10058400" cy="960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71600" y="3822192"/>
            <a:ext cx="457200" cy="45720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82219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639312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ACECARD Confirmed Alerts → Preemptive Threat Feed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950208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Analyst-confirmed TPs (with MITRE IDs + entity context) feed into Preemptive Attack Intelligence. Field-observed TTPs drive preemptive policy changes.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617720"/>
            <a:ext cx="10058400" cy="960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71600" y="4873752"/>
            <a:ext cx="457200" cy="45720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87375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690872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Shared Vocabulary: MITRE IDs + Entity UUIDs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001768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Both layers use MITRE ATT&amp;CK. ACECARD outputs T1003, T1021, T1041 — same IDs Preemptive uses. Entity UUIDs become the SOAR join key.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22CT Preemptive + ACECARD is a system, not a bundle of two products.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High-Level Architecture: Gabriel Nimbus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Five-layer stack. K8s-native. Iron Bank hardened. IL5 / IL6 / JWICS.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1463040"/>
            <a:ext cx="1463040" cy="804672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5448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828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6459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Plotly Dash / React  |  7-chart dashboard  |  Alert feed  |  Kill-chain  |  ABAC admin  |  CAC/PIV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340864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2340864"/>
            <a:ext cx="1463040" cy="804672"/>
          </a:xfrm>
          <a:prstGeom prst="roundRect">
            <a:avLst/>
          </a:prstGeom>
          <a:solidFill>
            <a:srgbClr val="1B6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432304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706624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API +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523744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FastAPI (async)  |  REST + WS  |  Istio mTLS  |  SOAR webhooks  |  ServiceNow/JIRA  |  RBAC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218688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80" y="3218688"/>
            <a:ext cx="1463040" cy="804672"/>
          </a:xfrm>
          <a:prstGeom prst="roundRect">
            <a:avLst/>
          </a:prstGeom>
          <a:solidFill>
            <a:srgbClr val="14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310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58444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BEHAVIORAL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40156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5 Signals  |  Embed  |  Trajectory  |  CUSUM  |  Drift Direction  |  Entity Fusion  |  ABAC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096512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4096512"/>
            <a:ext cx="1463040" cy="804672"/>
          </a:xfrm>
          <a:prstGeom prst="round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1879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46227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DATA PLANE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27939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PostgreSQL + pgvector (HNSW)  |  TimescaleDB  |  Redis  |  S3  |  Encryption at rest (AES-256)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4974336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97280" y="4974336"/>
            <a:ext cx="1463040" cy="8046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5065776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340096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157216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K8s (Big Bang / RKE2)  |  Iron Bank  |  Istio  |  Fluentd  |  Prometheus + Grafana  |  FIPS 140-2/3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5852160"/>
            <a:ext cx="10058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89788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Single Helm chart.  Air-gapped: same containers, local model, zero external calls.  cATO: OSCAL SSP, eMASS, STIG scans, POA&amp;M auto.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Data Flow: Raw Telemetry to Actionable Alert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End-to-end inside Gabriel Nimbus. No data leaves the enclave.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581912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81912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0876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55448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ECS / OCSF / STIX 2.1 from SIEM, EDR, NetFlow, IdP, K8s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6002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Kafka / Fluentd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1031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B4F7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2221992"/>
            <a:ext cx="10058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80160" y="2340864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340864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26771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313432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1-hour windows per entity_uuid. Entity fusion resolves 10+ identity systems.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35915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TimescaleDB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86207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B4F7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980944"/>
            <a:ext cx="1005840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0160" y="3099816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3099816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02666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SUMMARIZE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072384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5 signal summarizers produce structured text (metrics only). No PII.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11810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Python workers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621024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B4F7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3739896"/>
            <a:ext cx="10058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80160" y="3858768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385876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78561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EMBED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3831336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Concatenated text → 1536-d vector. Default: local model. IL5: Azure OpenAI GovCloud.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87705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pgvector HNSW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37997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B4F7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4498848"/>
            <a:ext cx="1005840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" y="4617720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61772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45445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4590288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Trajectory: cosine drift, velocity, accel. CUSUM 4σ. Drift direction → 8 concepts.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63600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Per entity/window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13892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B4F7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257800"/>
            <a:ext cx="10058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280160" y="5376672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5376672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5303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ALERT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534924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Alert tiers (CRITICAL→INFO) with MITRE IDs, cohort z-score. ABAC trust update.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53949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WS + SOAR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6035040"/>
            <a:ext cx="10058400" cy="2743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1600" y="6053328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&lt;3 sec/entity (API)  |  10K entities/hr per 4-vCPU pod  |  2K/hr (local, CPU)  |  Horizontal autoscale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Coverage Matrix: Which Layer Owns What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Preemptive handles config-resident threats. ACECARD handles behavior-resident threats.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393192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39903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Adversary 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371600"/>
            <a:ext cx="137160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39903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475488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9903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Why This 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1783080"/>
            <a:ext cx="10058400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1821180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Edge-device CVE exploitation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828800"/>
            <a:ext cx="1280160" cy="256032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837944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21180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Formal proof: patch enforced or compensating control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185416"/>
            <a:ext cx="10058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2223516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Misconfigured / shadowed FW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2231136"/>
            <a:ext cx="1280160" cy="256032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240280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223516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Math model finds shadows across multi-vendor config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2587752"/>
            <a:ext cx="10058400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2625852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Router ACL tampering / config drift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2633472"/>
            <a:ext cx="1280160" cy="256032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2642616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625852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Config drift re-verifies hourly vs approved baseline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2990088"/>
            <a:ext cx="10058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3028188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Compromised valid accounts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4920" y="3035808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3044952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028188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Policy-allowed traffic; only drift reveals abuse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3392424"/>
            <a:ext cx="10058400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430524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Living-off-the-Land binaries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74920" y="3438144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3447288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430524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lotl_execution concept + process signal structural shift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" y="3794760"/>
            <a:ext cx="10058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80160" y="3832860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Cross-domain lateral movement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74920" y="3840480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3849624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32860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Entity fusion joins identities into one drift trajectory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7280" y="4197096"/>
            <a:ext cx="10058400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4235196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Slow APT dwell (months/years)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74920" y="4242816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0" y="4251960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4235196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CUSUM accumulates sub-threshold drift; alarm in hours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97280" y="4599432"/>
            <a:ext cx="10058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80160" y="4637532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C2 to known malicious infra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74920" y="4645152"/>
            <a:ext cx="1280160" cy="25603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20640" y="4654296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BOTH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637532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Preemptive blocks known; ACECARD catches unknown via beacon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97280" y="5001768"/>
            <a:ext cx="10058400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80160" y="5039868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Zero-day / unmapped TTPs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74920" y="5047488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20640" y="5056632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039868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Behavioral anomaly detected even with no MITRE label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7280" y="5404104"/>
            <a:ext cx="10058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80160" y="5442204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Insider threat / data hoarding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74920" y="5449824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20640" y="5458968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5442204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insider_hoarding (T1074) + cohort outlier detection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6. MVP Timeline &amp; Qualifications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90 days from authorization to first detection. Phased deployment with incremental capability.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90 Days: Authorization to First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Assumes AO-approved pilot authorization or existing cATO reciprocity.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73152" cy="10515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1444752"/>
            <a:ext cx="1828800" cy="320040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46304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PHASE 1: Weeks 1–4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810512"/>
            <a:ext cx="9601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Deploy K8s containers (Iron Bank) into Gabriel Nimbus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Connect SIEM/EDR/NetFlow via ECS/OCSF connectors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Configure entity fusion (AD/AAD/Okta/AWS)</a:t>
            </a:r>
          </a:p>
          <a:p>
            <a:pPr>
              <a:spcBef>
                <a:spcPts val="300"/>
              </a:spcBef>
              <a:defRPr sz="1000" b="1">
                <a:solidFill>
                  <a:srgbClr val="0D1B2A"/>
                </a:solidFill>
                <a:latin typeface="Calibri"/>
              </a:defRPr>
            </a:pPr>
            <a:r>
              <a:t>✓  Data flowing, entities resolved, baselines computing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487168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487168"/>
            <a:ext cx="73152" cy="10515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371600" y="2560320"/>
            <a:ext cx="1828800" cy="320040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2578608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PHASE 2: Weeks 5–8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5786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926080"/>
            <a:ext cx="9601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Enable 5-signal embedding pipeline + trajectory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Activate CUSUM 4σ + drift direction (8 concepts)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Configure cohort definitions from AD/LDAP</a:t>
            </a:r>
          </a:p>
          <a:p>
            <a:pPr>
              <a:spcBef>
                <a:spcPts val="300"/>
              </a:spcBef>
              <a:defRPr sz="1000" b="1">
                <a:solidFill>
                  <a:srgbClr val="0D1B2A"/>
                </a:solidFill>
                <a:latin typeface="Calibri"/>
              </a:defRPr>
            </a:pPr>
            <a:r>
              <a:t>✓  Alerts firing, drift direction operational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602736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602736"/>
            <a:ext cx="73152" cy="10515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371600" y="3675888"/>
            <a:ext cx="1828800" cy="32004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3694176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PHASE 3: Weeks 9–12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69417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041648"/>
            <a:ext cx="9601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SOC integration (SOAR, ServiceNow)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Threshold tuning via analyst TP/FP feedback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ABAC enabled + Volt/Salt scenario replay</a:t>
            </a:r>
          </a:p>
          <a:p>
            <a:pPr>
              <a:spcBef>
                <a:spcPts val="300"/>
              </a:spcBef>
              <a:defRPr sz="1000" b="1">
                <a:solidFill>
                  <a:srgbClr val="0D1B2A"/>
                </a:solidFill>
                <a:latin typeface="Calibri"/>
              </a:defRPr>
            </a:pPr>
            <a:r>
              <a:t>✓  Full capability, ABAC enforcing, validated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718304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4718304"/>
            <a:ext cx="73152" cy="105156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371600" y="4791456"/>
            <a:ext cx="1828800" cy="320040"/>
          </a:xfrm>
          <a:prstGeom prst="round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4809744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PHASE 4: Week 13+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80974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7950B"/>
                </a:solidFill>
                <a:latin typeface="Calibri"/>
              </a:defRPr>
            </a:pPr>
            <a:r>
              <a:t>PREEMPTIVE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157216"/>
            <a:ext cx="9601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Integrate 22CT Preemptive config verification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Connect NGFW/IPS/SASE for formal analysis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Trust-floor coupling + continuous re-verification</a:t>
            </a:r>
          </a:p>
          <a:p>
            <a:pPr>
              <a:spcBef>
                <a:spcPts val="300"/>
              </a:spcBef>
              <a:defRPr sz="1000" b="1">
                <a:solidFill>
                  <a:srgbClr val="0D1B2A"/>
                </a:solidFill>
                <a:latin typeface="Calibri"/>
              </a:defRPr>
            </a:pPr>
            <a:r>
              <a:t>✓  Both layers operational, closed-loop defense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852160"/>
            <a:ext cx="10058400" cy="41148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89788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RISKS:  ATO timeline (mitigated: cATO + reciprocity)  |  Data quality (mitigated: 2-week connector sprint)  |  Red team within 60 days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Key Numbers &amp; 22CT Qualifications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132588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32588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⚠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128016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134416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99%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371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FW breaches = misconfiguration (Gartner)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182880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182880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178308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18470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0 /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874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FP / FN within formal model scope</a:t>
            </a:r>
          </a:p>
        </p:txBody>
      </p:sp>
      <p:sp>
        <p:nvSpPr>
          <p:cNvPr id="17" name="Oval 16"/>
          <p:cNvSpPr/>
          <p:nvPr/>
        </p:nvSpPr>
        <p:spPr>
          <a:xfrm>
            <a:off x="1188720" y="233172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233172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0" y="228600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235000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&lt;1 hour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3774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Config drift detection time</a:t>
            </a:r>
          </a:p>
        </p:txBody>
      </p:sp>
      <p:sp>
        <p:nvSpPr>
          <p:cNvPr id="22" name="Oval 21"/>
          <p:cNvSpPr/>
          <p:nvPr/>
        </p:nvSpPr>
        <p:spPr>
          <a:xfrm>
            <a:off x="1188720" y="283464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283464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278892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285292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1,536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28803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Embedding dimensions per signal</a:t>
            </a:r>
          </a:p>
        </p:txBody>
      </p:sp>
      <p:sp>
        <p:nvSpPr>
          <p:cNvPr id="27" name="Oval 26"/>
          <p:cNvSpPr/>
          <p:nvPr/>
        </p:nvSpPr>
        <p:spPr>
          <a:xfrm>
            <a:off x="1188720" y="333756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333756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0" y="329184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91640" y="335584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3832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Behavioral signals per entity</a:t>
            </a:r>
          </a:p>
        </p:txBody>
      </p:sp>
      <p:sp>
        <p:nvSpPr>
          <p:cNvPr id="32" name="Oval 31"/>
          <p:cNvSpPr/>
          <p:nvPr/>
        </p:nvSpPr>
        <p:spPr>
          <a:xfrm>
            <a:off x="1188720" y="384048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384048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0" y="379476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91640" y="385876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3886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MITRE threat concepts</a:t>
            </a:r>
          </a:p>
        </p:txBody>
      </p:sp>
      <p:sp>
        <p:nvSpPr>
          <p:cNvPr id="37" name="Oval 36"/>
          <p:cNvSpPr/>
          <p:nvPr/>
        </p:nvSpPr>
        <p:spPr>
          <a:xfrm>
            <a:off x="1188720" y="434340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8720" y="434340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0" y="429768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91640" y="43616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4σ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43891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CUSUM alarm threshold (configurable)</a:t>
            </a:r>
          </a:p>
        </p:txBody>
      </p:sp>
      <p:sp>
        <p:nvSpPr>
          <p:cNvPr id="42" name="Oval 41"/>
          <p:cNvSpPr/>
          <p:nvPr/>
        </p:nvSpPr>
        <p:spPr>
          <a:xfrm>
            <a:off x="1188720" y="484632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88720" y="484632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45920" y="480060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91640" y="486460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&lt;3 sec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48920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Event-to-analysis per entity</a:t>
            </a:r>
          </a:p>
        </p:txBody>
      </p:sp>
      <p:sp>
        <p:nvSpPr>
          <p:cNvPr id="47" name="Oval 46"/>
          <p:cNvSpPr/>
          <p:nvPr/>
        </p:nvSpPr>
        <p:spPr>
          <a:xfrm>
            <a:off x="1188720" y="534924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88720" y="534924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0" y="530352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91640" y="536752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90 days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53949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Authorization to first detection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1280160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583680" y="1417320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14173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86600" y="132588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$90M Army SOC/MDR Contract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162763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800+ cleared analysts. 24x7x365. Proven IR at scale.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0" y="2029968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83680" y="2167128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0" y="2167128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86600" y="2075688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USAF $108M | FBI TSC $56M | NAVAIR $145M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86600" y="237744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Active federal cyber contracts across DoD and IC.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2779776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583680" y="2916936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0" y="2916936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86600" y="2825496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Cleared Workforce (Secret – TS/SCI)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86600" y="3127248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MITRE ATT&amp;CK, NIST 800-53, DoD RMF trained.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0" y="3529584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583680" y="3666744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0" y="3666744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86600" y="3575304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IL5 / IL6 / JWICS Experience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86600" y="3877056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ATO artifacts, air-gapped ops. cATO alignment.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00800" y="4279392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583680" y="4416552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83680" y="441655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86600" y="432511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ACECARD: Built and Tested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86600" y="4626864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Working prototype. Synthetic Volt/Salt replay validated.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00800" y="5029200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583680" y="5166360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83680" y="516636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86600" y="507492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Innovation Partner: Rigor AI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86600" y="537667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Preemptive layer powered by Rigor AI technology.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97280" y="5943600"/>
            <a:ext cx="10058400" cy="320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71600" y="597103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NIST 800-53 Rev 5 (SI-4, AU-6, IR-4, SC-7)  |  DoD ZT RA Pillars 4 &amp; 7  |  DISA STIGs  |  RMF/eMASS  |  OSCAL SSP  |  DCO-IDM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Why Two Layers — Neither Alone Is Sufficient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371600"/>
            <a:ext cx="4846320" cy="201168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484632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444752"/>
            <a:ext cx="320040" cy="32004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444752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4173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PREEMPTIVE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20240"/>
            <a:ext cx="4389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0E6B8A"/>
                </a:solidFill>
                <a:latin typeface="Calibri"/>
              </a:defRPr>
            </a:pPr>
            <a:r>
              <a:t>✓  Eliminates config gaps (PROVEN)</a:t>
            </a:r>
          </a:p>
          <a:p>
            <a:pPr>
              <a:spcBef>
                <a:spcPts val="400"/>
              </a:spcBef>
              <a:defRPr sz="1100" b="0">
                <a:solidFill>
                  <a:srgbClr val="0E6B8A"/>
                </a:solidFill>
                <a:latin typeface="Calibri"/>
              </a:defRPr>
            </a:pPr>
            <a:r>
              <a:t>✓  Blocks known attack paths exhaustively</a:t>
            </a:r>
          </a:p>
          <a:p>
            <a:pPr>
              <a:spcBef>
                <a:spcPts val="400"/>
              </a:spcBef>
              <a:defRPr sz="1100" b="0">
                <a:solidFill>
                  <a:srgbClr val="0E6B8A"/>
                </a:solidFill>
                <a:latin typeface="Calibri"/>
              </a:defRPr>
            </a:pPr>
            <a:r>
              <a:t>✓  Zero FP/FN within model scope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C0392B"/>
                </a:solidFill>
                <a:latin typeface="Calibri"/>
              </a:defRPr>
            </a:pPr>
            <a:r>
              <a:t>✗  Cannot detect valid-credential abuse</a:t>
            </a:r>
          </a:p>
          <a:p>
            <a:pPr>
              <a:spcBef>
                <a:spcPts val="400"/>
              </a:spcBef>
              <a:defRPr sz="1100" b="0">
                <a:solidFill>
                  <a:srgbClr val="C0392B"/>
                </a:solidFill>
                <a:latin typeface="Calibri"/>
              </a:defRPr>
            </a:pPr>
            <a:r>
              <a:t>✗  Blind to LOTL tradecraft (tools are legit)</a:t>
            </a:r>
          </a:p>
          <a:p>
            <a:pPr>
              <a:spcBef>
                <a:spcPts val="400"/>
              </a:spcBef>
              <a:defRPr sz="1100" b="0">
                <a:solidFill>
                  <a:srgbClr val="C0392B"/>
                </a:solidFill>
                <a:latin typeface="Calibri"/>
              </a:defRPr>
            </a:pPr>
            <a:r>
              <a:t>✗  Cannot see behavioral evolution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4846320" cy="201168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484632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1444752"/>
            <a:ext cx="320040" cy="32004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44752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4173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ACECARD ALONE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20240"/>
            <a:ext cx="4389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0E6B8A"/>
                </a:solidFill>
                <a:latin typeface="Calibri"/>
              </a:defRPr>
            </a:pPr>
            <a:r>
              <a:t>✓  Detects behavioral evolution over time</a:t>
            </a:r>
          </a:p>
          <a:p>
            <a:pPr>
              <a:spcBef>
                <a:spcPts val="400"/>
              </a:spcBef>
              <a:defRPr sz="1100" b="0">
                <a:solidFill>
                  <a:srgbClr val="0E6B8A"/>
                </a:solidFill>
                <a:latin typeface="Calibri"/>
              </a:defRPr>
            </a:pPr>
            <a:r>
              <a:t>✓  Catches LOTL via process/network drift</a:t>
            </a:r>
          </a:p>
          <a:p>
            <a:pPr>
              <a:spcBef>
                <a:spcPts val="400"/>
              </a:spcBef>
              <a:defRPr sz="1100" b="0">
                <a:solidFill>
                  <a:srgbClr val="0E6B8A"/>
                </a:solidFill>
                <a:latin typeface="Calibri"/>
              </a:defRPr>
            </a:pPr>
            <a:r>
              <a:t>✓  Works even without signatures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C0392B"/>
                </a:solidFill>
                <a:latin typeface="Calibri"/>
              </a:defRPr>
            </a:pPr>
            <a:r>
              <a:t>✗  Only detects AFTER adversary is inside</a:t>
            </a:r>
          </a:p>
          <a:p>
            <a:pPr>
              <a:spcBef>
                <a:spcPts val="400"/>
              </a:spcBef>
              <a:defRPr sz="1100" b="0">
                <a:solidFill>
                  <a:srgbClr val="C0392B"/>
                </a:solidFill>
                <a:latin typeface="Calibri"/>
              </a:defRPr>
            </a:pPr>
            <a:r>
              <a:t>✗  Cannot prevent config gaps from existing</a:t>
            </a:r>
          </a:p>
          <a:p>
            <a:pPr>
              <a:spcBef>
                <a:spcPts val="400"/>
              </a:spcBef>
              <a:defRPr sz="1100" b="0">
                <a:solidFill>
                  <a:srgbClr val="C0392B"/>
                </a:solidFill>
                <a:latin typeface="Calibri"/>
              </a:defRPr>
            </a:pPr>
            <a:r>
              <a:t>✗  Reactive, not preemptive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3657600"/>
            <a:ext cx="10058400" cy="22860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3657600"/>
            <a:ext cx="10058400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8404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TOGETHER: DEFENSE IN DEPTH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97680"/>
            <a:ext cx="9601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2C3E50"/>
                </a:solidFill>
                <a:latin typeface="Calibri"/>
              </a:defRPr>
            </a:pPr>
            <a:r>
              <a:t>Preemptive eliminates the attack surface in configuration — adversary cannot enter through config gaps.</a:t>
            </a:r>
          </a:p>
          <a:p>
            <a:pPr>
              <a:spcBef>
                <a:spcPts val="600"/>
              </a:spcBef>
              <a:defRPr sz="1200" b="0">
                <a:solidFill>
                  <a:srgbClr val="2C3E50"/>
                </a:solidFill>
                <a:latin typeface="Calibri"/>
              </a:defRPr>
            </a:pPr>
            <a:r>
              <a:t>ACECARD detects behavioral evolution — catches adversaries who bypass via valid credentials &amp; legit tools.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 b="1">
                <a:solidFill>
                  <a:srgbClr val="0D1B2A"/>
                </a:solidFill>
                <a:latin typeface="Calibri"/>
              </a:defRPr>
            </a:pPr>
            <a:r>
              <a:t>Attack surface NEVER EXISTS  ...or...  attack detected in HOURS, not years.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9436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7950B"/>
                </a:solidFill>
                <a:latin typeface="Calibri"/>
              </a:defRPr>
            </a:pPr>
            <a:r>
              <a:t>Preemptive closes the door.  ACECARD watches the room.  Nothing gets through unnoticed.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How ACECARD Reads Behavior: Five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All tied to the same person via their login session. Together = complete behavioral fingerprint.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627632"/>
            <a:ext cx="438912" cy="43891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627632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1572768"/>
            <a:ext cx="146304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6459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53619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WHO logged in?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87452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Where from, when, how often, did they fail?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2304288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2468880"/>
            <a:ext cx="438912" cy="43891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46888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2414016"/>
            <a:ext cx="146304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248716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3774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WHAT did they run?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71576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Which programs, scripts, commands on their machines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3145536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71600" y="3310128"/>
            <a:ext cx="438912" cy="438912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3310128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5960" y="3255264"/>
            <a:ext cx="146304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332841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21868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WHERE did they connect?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3557016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Which IPs, how much data sent, any periodic beaconing?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3986784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71600" y="4151376"/>
            <a:ext cx="438912" cy="438912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151376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65960" y="4096512"/>
            <a:ext cx="146304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0" y="4169664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4059936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WHAT did they touch?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39826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Files opened, copied, deleted, archived, encrypted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4828032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71600" y="4992624"/>
            <a:ext cx="438912" cy="438912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499262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4937760"/>
            <a:ext cx="14630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11680" y="501091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4901184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WHAT POWER did they gain?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5239512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New privileges, group memberships, role changes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760720"/>
            <a:ext cx="4754880" cy="50292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580644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E6B8A"/>
                </a:solidFill>
                <a:latin typeface="Calibri"/>
              </a:defRPr>
            </a:pPr>
            <a:r>
              <a:t>Normal: Office, SharePoint, reports, 9-5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6480" y="5760720"/>
            <a:ext cx="5029200" cy="5029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80644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C0392B"/>
                </a:solidFill>
                <a:latin typeface="Calibri"/>
              </a:defRPr>
            </a:pPr>
            <a:r>
              <a:t>Compromised: ntdsutil, 18 servers, NTDS.dit, 2am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Living-off-the-Land: The Invisible Attack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Volt Typhoon brings NO malware. They use tools Microsoft already installed. Antivirus cannot see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4846320" cy="146304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484632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554480"/>
            <a:ext cx="365760" cy="36576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5544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50876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TRADITIONAL HACKER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920240"/>
            <a:ext cx="4389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Brings their own weapon (malware, virus, backdoor)</a:t>
            </a:r>
          </a:p>
          <a:p>
            <a:pPr>
              <a:spcBef>
                <a:spcPts val="400"/>
              </a:spcBef>
              <a:defRPr sz="1100" b="1">
                <a:solidFill>
                  <a:srgbClr val="0E6B8A"/>
                </a:solidFill>
                <a:latin typeface="Calibri"/>
              </a:defRPr>
            </a:pPr>
            <a:r>
              <a:t>Antivirus sees unknown file ▶ BLOCKED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4846320" cy="146304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484632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155448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50876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LIVING-OFF-THE-LAND (VOLT TYPHOON)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20240"/>
            <a:ext cx="4389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Brings NOTHING. Uses tools Windows already has.</a:t>
            </a: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Antivirus sees Microsoft binary ▶ "It's fine"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017520"/>
            <a:ext cx="274320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04495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Tool (signed by Microsoft)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3017520"/>
            <a:ext cx="3474720" cy="3200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304495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Legitimate Purpose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3017520"/>
            <a:ext cx="384048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3044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What Attacker Uses It For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337560"/>
            <a:ext cx="10058400" cy="320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336499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onsolas"/>
              </a:defRPr>
            </a:pPr>
            <a:r>
              <a:t>ntdsutil.exe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36499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Backup Active Directory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3649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Calibri"/>
              </a:defRPr>
            </a:pPr>
            <a:r>
              <a:t>Steal ALL domain passwords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3675888"/>
            <a:ext cx="1005840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37033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onsolas"/>
              </a:defRPr>
            </a:pPr>
            <a:r>
              <a:t>wmic.exe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370332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Query system info remotely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703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Calibri"/>
              </a:defRPr>
            </a:pPr>
            <a:r>
              <a:t>Run commands on other machines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014216"/>
            <a:ext cx="10058400" cy="320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4041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onsolas"/>
              </a:defRPr>
            </a:pPr>
            <a:r>
              <a:t>netsh.exe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04164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Configure network settings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04164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Calibri"/>
              </a:defRPr>
            </a:pPr>
            <a:r>
              <a:t>Open firewall holes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352544"/>
            <a:ext cx="1005840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" y="4379976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onsolas"/>
              </a:defRPr>
            </a:pPr>
            <a:r>
              <a:t>certutil.exe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4379976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Manage certificates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43799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Calibri"/>
              </a:defRPr>
            </a:pPr>
            <a:r>
              <a:t>Download files from internet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" y="4690872"/>
            <a:ext cx="10058400" cy="320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88720" y="4718304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onsolas"/>
              </a:defRPr>
            </a:pPr>
            <a:r>
              <a:t>powershell.exe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4718304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Automation / scripting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471830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Calibri"/>
              </a:defRPr>
            </a:pPr>
            <a:r>
              <a:t>Run attack scripts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029200"/>
            <a:ext cx="1005840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505663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onsolas"/>
              </a:defRPr>
            </a:pPr>
            <a:r>
              <a:t>rundll32.exe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505663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Run DLL files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505663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Calibri"/>
              </a:defRPr>
            </a:pPr>
            <a:r>
              <a:t>Execute malicious code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97280" y="5440680"/>
            <a:ext cx="10058400" cy="8229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97280" y="5440680"/>
            <a:ext cx="54864" cy="82296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71600" y="548640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The TOOLS are legitimate.  The PERSON running them is not an admin.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ACECARD tracks lolbin_count per user. John the accountant running ntdsutil = alarm.  John the sysadmin = normal.</a:t>
            </a:r>
          </a:p>
          <a:p>
            <a:pPr>
              <a:spcBef>
                <a:spcPts val="400"/>
              </a:spcBef>
              <a:defRPr sz="1100" b="1">
                <a:solidFill>
                  <a:srgbClr val="B7950B"/>
                </a:solidFill>
                <a:latin typeface="Calibri"/>
              </a:defRPr>
            </a:pPr>
            <a:r>
              <a:t>It's not about WHAT ran.  It's about WHO ran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What the Alert Numbers Actually Mean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Plain-English walkthrough of three real detection metrics.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3716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54864" cy="13716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508760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50876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4173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unique_dest_ips:  3 ▶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78308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How many different machines did this person REACH OUT TO.  Not where they logged in from — where they connected TO.</a:t>
            </a:r>
          </a:p>
          <a:p>
            <a:pPr>
              <a:spcBef>
                <a:spcPts val="300"/>
              </a:spcBef>
              <a:defRPr sz="1050" b="0">
                <a:solidFill>
                  <a:srgbClr val="0E6B8A"/>
                </a:solidFill>
                <a:latin typeface="Calibri"/>
              </a:defRPr>
            </a:pPr>
            <a:r>
              <a:t>Normal: John talks to 3 servers daily (file, email, SharePoint). Always the same 3.</a:t>
            </a:r>
          </a:p>
          <a:p>
            <a:pPr>
              <a:spcBef>
                <a:spcPts val="300"/>
              </a:spcBef>
              <a:defRPr sz="1050" b="0">
                <a:solidFill>
                  <a:srgbClr val="C0392B"/>
                </a:solidFill>
                <a:latin typeface="Calibri"/>
              </a:defRPr>
            </a:pPr>
            <a:r>
              <a:t>Attack: John suddenly connects to 18 servers — domain controllers, HR, finance, database servers. Lateral movement.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926080"/>
            <a:ext cx="10058400" cy="13716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926080"/>
            <a:ext cx="54864" cy="13716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3063240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06324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971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lolbin_count:  0 ▶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33756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How many Living-off-the-Land binaries did this person run (legit tools used for attack — ntdsutil, wmic, netsh, etc.)</a:t>
            </a:r>
          </a:p>
          <a:p>
            <a:pPr>
              <a:spcBef>
                <a:spcPts val="300"/>
              </a:spcBef>
              <a:defRPr sz="1050" b="0">
                <a:solidFill>
                  <a:srgbClr val="0E6B8A"/>
                </a:solidFill>
                <a:latin typeface="Calibri"/>
              </a:defRPr>
            </a:pPr>
            <a:r>
              <a:t>Normal: John the accountant runs 0 admin tools. Ever. That's his baseline.</a:t>
            </a:r>
          </a:p>
          <a:p>
            <a:pPr>
              <a:spcBef>
                <a:spcPts val="300"/>
              </a:spcBef>
              <a:defRPr sz="1050" b="0">
                <a:solidFill>
                  <a:srgbClr val="C0392B"/>
                </a:solidFill>
                <a:latin typeface="Calibri"/>
              </a:defRPr>
            </a:pPr>
            <a:r>
              <a:t>Attack: 7 admin tools in one hour. Same tools. But John never ran them before. WHO ran it matters, not WHAT ran.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480560"/>
            <a:ext cx="10058400" cy="13716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48056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71600" y="461772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61772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5262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service_account_usage:  0 ▶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89204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Service accounts (svc_backup, svc_sql) are for applications, not people. High privilege + weak security (often no MFA).</a:t>
            </a:r>
          </a:p>
          <a:p>
            <a:pPr>
              <a:spcBef>
                <a:spcPts val="300"/>
              </a:spcBef>
              <a:defRPr sz="1050" b="0">
                <a:solidFill>
                  <a:srgbClr val="0E6B8A"/>
                </a:solidFill>
                <a:latin typeface="Calibri"/>
              </a:defRPr>
            </a:pPr>
            <a:r>
              <a:t>Normal: John never uses service accounts — he uses his own account.</a:t>
            </a:r>
          </a:p>
          <a:p>
            <a:pPr>
              <a:spcBef>
                <a:spcPts val="300"/>
              </a:spcBef>
              <a:defRPr sz="1050" b="0">
                <a:solidFill>
                  <a:srgbClr val="C0392B"/>
                </a:solidFill>
                <a:latin typeface="Calibri"/>
              </a:defRPr>
            </a:pPr>
            <a:r>
              <a:t>Attack: John logs in as svc_backup 4 times. Getting high privilege through the back door. Persistence.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989320"/>
            <a:ext cx="10058400" cy="320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60167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Each number alone = slightly weird.  All three moving in the same direction = attack trajectory.  CUSUM catches the consistency.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CUSUM: The Bucket Under a Dripping Faucet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Why current tools miss slow attackers and CUSUM catches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4846320" cy="27432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484632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54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THE BUCKET ANALOGY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4389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Bucket = CUSUM statistic (starts empty)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Drip = behavioral drift each hour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Drain hole = allowance for normal noise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Overflow line = alarm threshold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0E6B8A"/>
                </a:solidFill>
                <a:latin typeface="Calibri"/>
              </a:defRPr>
            </a:pPr>
            <a:r>
              <a:t>Normal: drip &lt;= drain. Bucket never fills.</a:t>
            </a:r>
          </a:p>
          <a:p>
            <a:pPr>
              <a:spcBef>
                <a:spcPts val="6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Attack: drip slightly &gt; drain. Fills up.</a:t>
            </a:r>
          </a:p>
          <a:p>
            <a:pPr>
              <a:spcBef>
                <a:spcPts val="6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After 8 hours: OVERFLOW = ALARM.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4846320" cy="27432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484632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CURRENT TOOLS: NO BUCKET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4389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They look at each drip individually: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6C757D"/>
                </a:solidFill>
                <a:latin typeface="Calibri"/>
              </a:defRPr>
            </a:pPr>
            <a:r>
              <a:t>"Is THIS drip a flood? No."</a:t>
            </a:r>
          </a:p>
          <a:p>
            <a:pPr>
              <a:spcBef>
                <a:spcPts val="400"/>
              </a:spcBef>
              <a:defRPr sz="1100" b="0">
                <a:solidFill>
                  <a:srgbClr val="6C757D"/>
                </a:solidFill>
                <a:latin typeface="Calibri"/>
              </a:defRPr>
            </a:pPr>
            <a:r>
              <a:t>"Is THIS drip a flood? No."</a:t>
            </a:r>
          </a:p>
          <a:p>
            <a:pPr>
              <a:spcBef>
                <a:spcPts val="400"/>
              </a:spcBef>
              <a:defRPr sz="1100" b="0">
                <a:solidFill>
                  <a:srgbClr val="6C757D"/>
                </a:solidFill>
                <a:latin typeface="Calibri"/>
              </a:defRPr>
            </a:pPr>
            <a:r>
              <a:t>"Is THIS drip a flood? No."</a:t>
            </a:r>
          </a:p>
          <a:p>
            <a:pPr>
              <a:spcBef>
                <a:spcPts val="400"/>
              </a:spcBef>
              <a:defRPr sz="1100" b="0">
                <a:solidFill>
                  <a:srgbClr val="6C757D"/>
                </a:solidFill>
                <a:latin typeface="Calibri"/>
              </a:defRPr>
            </a:pPr>
            <a:r>
              <a:t>...forever "No."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They never accumulate evidence.</a:t>
            </a: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Slow attacker = forever invisible.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389120"/>
            <a:ext cx="1005840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4389120"/>
            <a:ext cx="100584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57200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THE FUNDAMENTAL DIFFERENCE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937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Fixed Threshold = alarm on 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212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"How far are you from normal right now?"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5778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Attacker can control position (stay close)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937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6B8A"/>
                </a:solidFill>
                <a:latin typeface="Calibri"/>
              </a:defRPr>
            </a:pPr>
            <a:r>
              <a:t>CUSUM = alarm on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212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"Are you consistently moving away, every hour?"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5778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E6B8A"/>
                </a:solidFill>
                <a:latin typeface="Calibri"/>
              </a:defRPr>
            </a:pPr>
            <a:r>
              <a:t>Attacker CANNOT hide intent (must keep moving)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Continuous Drift in One Direction =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Normal users drift randomly. Attackers MUST keep moving toward their objective.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4846320" cy="210312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484632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554480"/>
            <a:ext cx="365760" cy="36576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5544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55448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NORMAL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11680"/>
            <a:ext cx="4389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300" b="1">
                <a:solidFill>
                  <a:srgbClr val="0E6B8A"/>
                </a:solidFill>
                <a:latin typeface="Calibri"/>
              </a:defRPr>
            </a:pPr>
            <a:r>
              <a:t>Drift pattern:  ▶  ←  ▶  ▶  ←  ←  ▶  ←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Random direction each day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Cancels out over time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CUSUM stays near zero (resets on negative)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4846320" cy="21031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484632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155448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55448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ATTACKER (VOLT TYPHOON)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4389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  <a:latin typeface="Calibri"/>
              </a:defRPr>
            </a:pPr>
            <a:r>
              <a:t>Drift pattern:  ▶  ▶  ▶  ▶  ▶  ▶  ▶  ▶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Same direction every hour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MUST keep moving toward objective</a:t>
            </a: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CUSUM accumulates ▶ ALARM in 8 hours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49039"/>
            <a:ext cx="10058400" cy="22860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749039"/>
            <a:ext cx="100584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93192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WHY ATTACKERS CANNOT AVOID THIS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29768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To steal credentials: MUST run credential tools  ▶  Process signal drifts toward credential_theft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To move laterally: MUST connect to new hosts  ▶  Network signal drifts toward lateral_movement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To exfiltrate data: MUST send data outbound  ▶  File + Network signals drift toward exfiltration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0D1B2A"/>
                </a:solidFill>
                <a:latin typeface="Calibri"/>
              </a:defRPr>
            </a:pPr>
            <a:r>
              <a:t>They can go SLOW (and avoid thresholds). They cannot avoid MOVING.</a:t>
            </a:r>
          </a:p>
          <a:p>
            <a:pPr>
              <a:spcBef>
                <a:spcPts val="400"/>
              </a:spcBef>
              <a:defRPr sz="1200" b="1">
                <a:solidFill>
                  <a:srgbClr val="0E6B8A"/>
                </a:solidFill>
                <a:latin typeface="Calibri"/>
              </a:defRPr>
            </a:pPr>
            <a:r>
              <a:t>CUSUM catches the movement. Drift direction names the objective.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BEHAVIORAL 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Representing an Entity in 1536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Every user/device becomes a POINT in high-dimensional behavioral space. Similar behavior = nearby. Compromise = drift away.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82296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8229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607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THE 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Traditional UEBA stores flat metrics (login_count=12, bytes_out=4MB). We convert ALL behavior into a single 1536-dimensional vector -- a complete behavioral fingerprint where distance between points = behavioral difference.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5303520" cy="2011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91440" cy="20116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Calibri"/>
              </a:defRPr>
            </a:pPr>
            <a:r>
              <a:t>WHAT DO 1536 DIMENSIONS ENCODE?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4846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Each dimension = a semantic aspect of behavior:</a:t>
            </a:r>
          </a:p>
          <a:p>
            <a:pPr>
              <a:spcBef>
                <a:spcPts val="600"/>
              </a:spcBef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950" b="0">
                <a:solidFill>
                  <a:srgbClr val="2C3E50"/>
                </a:solidFill>
                <a:latin typeface="Cascadia Code"/>
              </a:defRPr>
            </a:pPr>
            <a:r>
              <a:t>  dim[42]  ~ "lateral movement aggressiveness"</a:t>
            </a:r>
          </a:p>
          <a:p>
            <a:pPr>
              <a:spcBef>
                <a:spcPts val="300"/>
              </a:spcBef>
              <a:defRPr sz="950" b="0">
                <a:solidFill>
                  <a:srgbClr val="2C3E50"/>
                </a:solidFill>
                <a:latin typeface="Cascadia Code"/>
              </a:defRPr>
            </a:pPr>
            <a:r>
              <a:t>  dim[813] ~ "privilege escalation velocity"</a:t>
            </a:r>
          </a:p>
          <a:p>
            <a:pPr>
              <a:spcBef>
                <a:spcPts val="300"/>
              </a:spcBef>
              <a:defRPr sz="950" b="0">
                <a:solidFill>
                  <a:srgbClr val="2C3E50"/>
                </a:solidFill>
                <a:latin typeface="Cascadia Code"/>
              </a:defRPr>
            </a:pPr>
            <a:r>
              <a:t>  dim[1201]~ "data access breadth"</a:t>
            </a:r>
          </a:p>
          <a:p>
            <a:pPr>
              <a:spcBef>
                <a:spcPts val="300"/>
              </a:spcBef>
              <a:defRPr sz="950" b="1">
                <a:solidFill>
                  <a:srgbClr val="0E6B8A"/>
                </a:solidFill>
                <a:latin typeface="Cascadia Code"/>
              </a:defRPr>
            </a:pPr>
            <a:r>
              <a:t>  ...all 1536 together = WHO this entity IS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Why 1536?  Enough to distinguish "admin doing admin things"</a:t>
            </a:r>
          </a:p>
          <a:p>
            <a:pPr>
              <a:spcBef>
                <a:spcPts val="200"/>
              </a:spcBef>
              <a:defRPr sz="1050" b="1">
                <a:solidFill>
                  <a:srgbClr val="C0392B"/>
                </a:solidFill>
                <a:latin typeface="Calibri"/>
              </a:defRPr>
            </a:pPr>
            <a:r>
              <a:t>from "attacker pretending to be admin."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377440"/>
            <a:ext cx="5394960" cy="2011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237744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42316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SPATIAL ANALOGY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97480"/>
            <a:ext cx="4937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In 3D space: a point (x, y, z) = a physical location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In 1536-D space: a point = a BEHAVIORAL location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0E6B8A"/>
                </a:solidFill>
                <a:latin typeface="Calibri"/>
              </a:defRPr>
            </a:pPr>
            <a:r>
              <a:t>✓  Normal users cluster together (similar behavior)</a:t>
            </a:r>
          </a:p>
          <a:p>
            <a:pPr>
              <a:spcBef>
                <a:spcPts val="400"/>
              </a:spcBef>
              <a:defRPr sz="1050" b="0">
                <a:solidFill>
                  <a:srgbClr val="C0392B"/>
                </a:solidFill>
                <a:latin typeface="Calibri"/>
              </a:defRPr>
            </a:pPr>
            <a:r>
              <a:t>✓  Compromised users drift AWAY from their cluster</a:t>
            </a:r>
          </a:p>
          <a:p>
            <a:pPr>
              <a:spcBef>
                <a:spcPts val="400"/>
              </a:spcBef>
              <a:defRPr sz="1050" b="0">
                <a:solidFill>
                  <a:srgbClr val="1B4F72"/>
                </a:solidFill>
                <a:latin typeface="Calibri"/>
              </a:defRPr>
            </a:pPr>
            <a:r>
              <a:t>✓  Distance = magnitude of behavioral change</a:t>
            </a:r>
          </a:p>
          <a:p>
            <a:pPr>
              <a:spcBef>
                <a:spcPts val="400"/>
              </a:spcBef>
              <a:defRPr sz="1050" b="0">
                <a:solidFill>
                  <a:srgbClr val="1B4F72"/>
                </a:solidFill>
                <a:latin typeface="Calibri"/>
              </a:defRPr>
            </a:pPr>
            <a:r>
              <a:t>✓  Direction = WHAT KIND of change (toward which threat)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11064240" cy="17373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11064240" cy="3200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90288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FIVE SIGNALS  ▶  ONE COMPOSITE VECTOR (per entity, per time window)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83480"/>
            <a:ext cx="2011680" cy="32004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0017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AUTH (1536-d)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49240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949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C757D"/>
                </a:solidFill>
                <a:latin typeface="Cascadia Code"/>
              </a:defRPr>
            </a:pPr>
            <a:r>
              <a:t>logon_count, failure_rate, unique_hosts, off_hours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4983480"/>
            <a:ext cx="2011680" cy="32004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50017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PROCESS (1536-d)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5349240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53949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C757D"/>
                </a:solidFill>
                <a:latin typeface="Cascadia Code"/>
              </a:defRPr>
            </a:pPr>
            <a:r>
              <a:t>lolbin_count, cmdline_entropy, unsigned_ratio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4983480"/>
            <a:ext cx="2011680" cy="3200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50017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NETWORK (1536-d)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0" y="5349240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53949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C757D"/>
                </a:solidFill>
                <a:latin typeface="Cascadia Code"/>
              </a:defRPr>
            </a:pPr>
            <a:r>
              <a:t>unique_dest_ips, beacon_score, bytes_out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19" y="4983480"/>
            <a:ext cx="2011680" cy="320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19" y="50017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FILE (1536-d)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19" y="5349240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59" y="53949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C757D"/>
                </a:solidFill>
                <a:latin typeface="Cascadia Code"/>
              </a:defRPr>
            </a:pPr>
            <a:r>
              <a:t>sensitive_access, archive_creates, shadow_ops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4983480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50017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IDENTITY (1536-d)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6880" y="5349240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0" y="53949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C757D"/>
                </a:solidFill>
                <a:latin typeface="Cascadia Code"/>
              </a:defRPr>
            </a:pPr>
            <a:r>
              <a:t>priv_escalations, group_adds, svc_acct_use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8978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▶  Weighted average  ▶  ONE composite 1536-d vector = "who this entity IS behaviorally right now"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373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7950B"/>
                </a:solidFill>
                <a:latin typeface="Calibri"/>
              </a:defRPr>
            </a:pPr>
            <a:r>
              <a:t>NOBODY IN THE INDUSTRY embeds 5 behavioral signals into a unified 1536-d vector space with per-signal drift decomposition.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DRIFT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E(t) - E(t-1): Measuring Behavioral Drift Across 1536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Subtract last window's vector from current. The DIFFERENCE vector tells you what changed, how much, and in which direction.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11887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457200" cy="118872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691640"/>
            <a:ext cx="4206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417320"/>
            <a:ext cx="9966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The Core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91640"/>
            <a:ext cx="9966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Cascadia Code"/>
              </a:defRPr>
            </a:pPr>
            <a:r>
              <a:t>drift_vector = E(t) - E(t-1)                     # 1536-d direction of change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scadia Code"/>
              </a:defRPr>
            </a:pPr>
            <a:r>
              <a:t>drift_magnitude = 1 - cos(E(t), E(t-1))          # scalar: how MUCH changed [0, 2]</a:t>
            </a:r>
          </a:p>
          <a:p>
            <a:pPr>
              <a:spcBef>
                <a:spcPts val="300"/>
              </a:spcBef>
              <a:defRPr sz="1000" b="1">
                <a:solidFill>
                  <a:srgbClr val="0E6B8A"/>
                </a:solidFill>
                <a:latin typeface="Cascadia Code"/>
              </a:defRPr>
            </a:pPr>
            <a:r>
              <a:t>drift_direction = cos(drift_vector, concept_c)    # alignment with each threat concept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5303520" cy="1554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457200" cy="155448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246120"/>
            <a:ext cx="4206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743200"/>
            <a:ext cx="4663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Why 1536 Dimensions Beat Single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017520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1 metric changing = noise (random variation)</a:t>
            </a:r>
          </a:p>
          <a:p>
            <a:pPr>
              <a:spcBef>
                <a:spcPts val="400"/>
              </a:spcBef>
              <a:defRPr sz="1050" b="1">
                <a:solidFill>
                  <a:srgbClr val="C0392B"/>
                </a:solidFill>
                <a:latin typeface="Calibri"/>
              </a:defRPr>
            </a:pPr>
            <a:r>
              <a:t>50+ dimensions shifting TOGETHER = signal</a:t>
            </a:r>
          </a:p>
          <a:p>
            <a:pPr>
              <a:spcBef>
                <a:spcPts val="600"/>
              </a:spcBef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✓  Captures CORRELATED changes across all signals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✓  Impossible to game -- can't move 1536 axes independently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✓  One subtraction: magnitude + direction + signal attribution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697480"/>
            <a:ext cx="5486400" cy="1554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2697480"/>
            <a:ext cx="457200" cy="1554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53328" y="3246120"/>
            <a:ext cx="4206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743200"/>
            <a:ext cx="4754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What the Drift Vector Tells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01752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MAGNITUDE:  "entity changed by 0.34"</a:t>
            </a:r>
          </a:p>
          <a:p>
            <a:pPr>
              <a:spcBef>
                <a:spcPts val="3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VELOCITY:   "rate of change is accelerating"</a:t>
            </a:r>
          </a:p>
          <a:p>
            <a:pPr>
              <a:spcBef>
                <a:spcPts val="300"/>
              </a:spcBef>
              <a:defRPr sz="1050" b="1">
                <a:solidFill>
                  <a:srgbClr val="C0392B"/>
                </a:solidFill>
                <a:latin typeface="Calibri"/>
              </a:defRPr>
            </a:pPr>
            <a:r>
              <a:t>DIRECTION:  "toward lateral_movement (T1021)"</a:t>
            </a:r>
          </a:p>
          <a:p>
            <a:pPr>
              <a:spcBef>
                <a:spcPts val="300"/>
              </a:spcBef>
              <a:defRPr sz="1050" b="1">
                <a:solidFill>
                  <a:srgbClr val="0E6B8A"/>
                </a:solidFill>
                <a:latin typeface="Calibri"/>
              </a:defRPr>
            </a:pPr>
            <a:r>
              <a:t>ATTRIBUTION: "PROCESS signal drove 72% of drift"</a:t>
            </a:r>
          </a:p>
          <a:p>
            <a:pPr>
              <a:spcBef>
                <a:spcPts val="600"/>
              </a:spcBef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50" b="1">
                <a:solidFill>
                  <a:srgbClr val="0D1B2A"/>
                </a:solidFill>
                <a:latin typeface="Calibri"/>
              </a:defRPr>
            </a:pPr>
            <a:r>
              <a:t>Not "87% anomalous" -- but WHY and TOWARD WHAT.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34840"/>
            <a:ext cx="11064240" cy="10515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434840"/>
            <a:ext cx="11064240" cy="2926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453128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EXAMPLE: User "John" -- Behavioral Embedding Trajectory Over 4 Months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00600"/>
            <a:ext cx="246888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18888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E6B8A"/>
                </a:solidFill>
                <a:latin typeface="Calibri"/>
              </a:defRPr>
            </a:pPr>
            <a:r>
              <a:t>Jan (baseline)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029200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C757D"/>
                </a:solidFill>
                <a:latin typeface="Cascadia Code"/>
              </a:defRPr>
            </a:pPr>
            <a:r>
              <a:t>E1=[0.01,-0.03,0.82,...]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12080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E6B8A"/>
                </a:solidFill>
                <a:latin typeface="Calibri"/>
              </a:defRPr>
            </a:pPr>
            <a:r>
              <a:t>Normal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498348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4800600"/>
            <a:ext cx="246888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818888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E6B8A"/>
                </a:solidFill>
                <a:latin typeface="Calibri"/>
              </a:defRPr>
            </a:pPr>
            <a:r>
              <a:t>Feb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5029200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C757D"/>
                </a:solidFill>
                <a:latin typeface="Cascadia Code"/>
              </a:defRPr>
            </a:pPr>
            <a:r>
              <a:t>E2=[0.01,-0.02,0.81,...]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5212080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E6B8A"/>
                </a:solidFill>
                <a:latin typeface="Calibri"/>
              </a:defRPr>
            </a:pPr>
            <a:r>
              <a:t>drift=0.02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498348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800600"/>
            <a:ext cx="246888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818888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B7950B"/>
                </a:solidFill>
                <a:latin typeface="Calibri"/>
              </a:defRPr>
            </a:pPr>
            <a:r>
              <a:t>Mar (compromise)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029200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C757D"/>
                </a:solidFill>
                <a:latin typeface="Cascadia Code"/>
              </a:defRPr>
            </a:pPr>
            <a:r>
              <a:t>E3=[0.08,-0.15,0.64,...]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212080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B7950B"/>
                </a:solidFill>
                <a:latin typeface="Calibri"/>
              </a:defRPr>
            </a:pPr>
            <a:r>
              <a:t>drift=0.19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98348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06839" y="4800600"/>
            <a:ext cx="246888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8279" y="4818888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C0392B"/>
                </a:solidFill>
                <a:latin typeface="Calibri"/>
              </a:defRPr>
            </a:pPr>
            <a:r>
              <a:t>Apr (active)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79" y="5029200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C757D"/>
                </a:solidFill>
                <a:latin typeface="Cascadia Code"/>
              </a:defRPr>
            </a:pPr>
            <a:r>
              <a:t>E4=[0.21,-0.38,0.41,...]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79" y="5212080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C0392B"/>
                </a:solidFill>
                <a:latin typeface="Calibri"/>
              </a:defRPr>
            </a:pPr>
            <a:r>
              <a:t>drift=0.34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623560"/>
            <a:ext cx="5303520" cy="64008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623560"/>
            <a:ext cx="73152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66928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950" b="1">
                <a:solidFill>
                  <a:srgbClr val="C0392B"/>
                </a:solidFill>
                <a:latin typeface="Calibri"/>
              </a:defRPr>
            </a:pPr>
            <a:r>
              <a:t>cos(drift_vec, lateral_movement) = 0.71  HIGH</a:t>
            </a:r>
          </a:p>
          <a:p>
            <a:pPr>
              <a:spcBef>
                <a:spcPts val="200"/>
              </a:spcBef>
              <a:defRPr sz="950" b="0">
                <a:solidFill>
                  <a:srgbClr val="B7950B"/>
                </a:solidFill>
                <a:latin typeface="Calibri"/>
              </a:defRPr>
            </a:pPr>
            <a:r>
              <a:t>cos(drift_vec, data_exfiltration) = 0.58  MEDIUM</a:t>
            </a:r>
          </a:p>
          <a:p>
            <a:pPr>
              <a:spcBef>
                <a:spcPts val="200"/>
              </a:spcBef>
              <a:defRPr sz="950" b="0">
                <a:solidFill>
                  <a:srgbClr val="0E6B8A"/>
                </a:solidFill>
                <a:latin typeface="Calibri"/>
              </a:defRPr>
            </a:pPr>
            <a:r>
              <a:t>cos(drift_vec, normal_role_change) = 0.09  LOW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0" y="5623560"/>
            <a:ext cx="5486400" cy="6400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35040" y="562356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566928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050" b="0">
                <a:solidFill>
                  <a:srgbClr val="6C757D"/>
                </a:solidFill>
                <a:latin typeface="Calibri"/>
              </a:defRPr>
            </a:pPr>
            <a:r>
              <a:t>Traditional: "logins went up 20%"  -- so what?</a:t>
            </a:r>
          </a:p>
          <a:p>
            <a:pPr>
              <a:spcBef>
                <a:spcPts val="2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ACECARD: "shifted 0.34 TOWARD lateral_movement</a:t>
            </a:r>
          </a:p>
          <a:p>
            <a:pPr>
              <a:spcBef>
                <a:spcPts val="200"/>
              </a:spcBef>
              <a:defRPr sz="1050" b="1">
                <a:solidFill>
                  <a:srgbClr val="0D1B2A"/>
                </a:solidFill>
                <a:latin typeface="Calibri"/>
              </a:defRPr>
            </a:pPr>
            <a:r>
              <a:t>  at 2.1x peer velocity" -- actionable.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6373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7950B"/>
                </a:solidFill>
                <a:latin typeface="Calibri"/>
              </a:defRPr>
            </a:pPr>
            <a:r>
              <a:t>Cosine drift + CUSUM + drift direction: three formulas that together catch Volt/Salt Typhoon where thresholds fail.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37744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Georgia"/>
              </a:defRPr>
            </a:pPr>
            <a:r>
              <a:t>From Detection to Preemption</a:t>
            </a:r>
            <a:br/>
            <a:r>
              <a:t>in 90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6576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8D0"/>
                </a:solidFill>
                <a:latin typeface="Calibri"/>
              </a:defRPr>
            </a:pPr>
            <a:r>
              <a:t>Preemptive closes the door.  ACECARD watches the room.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4297680"/>
            <a:ext cx="32004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572000"/>
            <a:ext cx="9144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1.  Pilot 22CT Preemptive — Formal analysis vs. Volt + Salt TTPs</a:t>
            </a:r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2.  Pilot ACECARD UEBA — Replay scenarios on your telemetry</a:t>
            </a:r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3.  Integrate — Preemptive findings drive ACECARD trust floor</a:t>
            </a:r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4.  Deploy to Gabriel Nimbus — K8s / Iron Bank / IL5-IL6-JWICS / cATO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7607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Ravindra Shukla, Head of AI  |  22nd Century Technologies Inc.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A8B9E"/>
                </a:solidFill>
                <a:latin typeface="Calibri"/>
              </a:defRPr>
            </a:pPr>
            <a:r>
              <a:t>CFIC Collaboration Event  |  Augusta, GA  |  May 6,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