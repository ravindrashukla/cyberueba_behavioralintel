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0" r:id="rId4"/>
    <p:sldId id="263" r:id="rId5"/>
    <p:sldId id="265" r:id="rId6"/>
    <p:sldId id="276" r:id="rId7"/>
    <p:sldId id="274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01" d="100"/>
          <a:sy n="101" d="100"/>
        </p:scale>
        <p:origin x="124" y="1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187128-EF00-4651-9C67-50EE07A71E6C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75E079-7AC8-474D-A890-7A78715A5E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923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Ravindra Shukla, 22CT, Head of AI. We solve the DODIN defense problem with two innovations and Provable Computing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5E079-7AC8-474D-A890-7A78715A5EF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6933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Two PRC campaigns — Volt and Salt Typhoon — are inside critical infrastructure undetected 4-5 years. Three reasons nothing catches them: LOTL uses only legit tools, persistence IS the config, and stolen valid creds pass every check. No tool provides formal proof that all attack paths are blocked.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5E079-7AC8-474D-A890-7A78715A5EF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8818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Layer 1: formal math model that reasons exhaustively over the entire config space. Not sampling — proof. 80% of attack surface eliminated. Layer 2: behavioral Digital Twin that catches the 20% that passes through with valid credentials. Combined: 95-98% coverage, dwell time from years to hours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5E079-7AC8-474D-A890-7A78715A5EF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215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Preemptive found 3 shadowed rules exposing SMB — no scanner could see it. ACECARD caught credential abuse because the behavior was wrong even though the credentials were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5E079-7AC8-474D-A890-7A78715A5EF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5546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 scenario: T-30 days we find the gap, T+0 attacker exploits, T+8 hours ACECARD blocks. That's 8-hour dwell vs. 5 years.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5E079-7AC8-474D-A890-7A78715A5EF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8069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1-5 second pipeline latency — every event processed in real time. Behavioral detection accumulates over hours to catch slow-moving adversaries like Volt Typhoon without generating false positives.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5E079-7AC8-474D-A890-7A78715A5EF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15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Give us 30 days and a dataset — we'll prove it works on your environment. Real findings, not a demo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5E079-7AC8-474D-A890-7A78715A5EF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4681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slide1_Picture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1440"/>
            <a:ext cx="5943600" cy="1371600"/>
          </a:xfrm>
          <a:prstGeom prst="rect">
            <a:avLst/>
          </a:prstGeom>
        </p:spPr>
      </p:pic>
      <p:pic>
        <p:nvPicPr>
          <p:cNvPr id="4" name="Picture 3" descr="slide1_Picture_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0" y="182880"/>
            <a:ext cx="731520" cy="731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0" y="10058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00" b="0">
                <a:solidFill>
                  <a:srgbClr val="8A9BAE"/>
                </a:solidFill>
                <a:latin typeface="Segoe UI"/>
              </a:defRPr>
            </a:pPr>
            <a:r>
              <a:t>ISO 9001 | 27001 | 28000 | 20000 | 17025 | 14001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82880"/>
            <a:ext cx="3383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B7950B"/>
                </a:solidFill>
                <a:latin typeface="Georgia"/>
              </a:defRPr>
            </a:pPr>
            <a:r>
              <a:t>U.S. ARMY CYBER COMMAND  |  ArCTIC / CFIC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64592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B7950B"/>
                </a:solidFill>
                <a:latin typeface="Georgia"/>
              </a:defRPr>
            </a:pPr>
            <a:r>
              <a:t>22nd Century Technologies Inc.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286000"/>
            <a:ext cx="91440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Georgia"/>
              </a:defRPr>
            </a:pPr>
            <a:r>
              <a:t>Preemptive Cyber Defense</a:t>
            </a:r>
            <a:br/>
            <a:r>
              <a:t>&amp; Behavioral Intelligence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93192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A0B8D0"/>
                </a:solidFill>
                <a:latin typeface="Segoe UI"/>
              </a:defRPr>
            </a:pPr>
            <a:r>
              <a:t>Provable Computing  |  DODIN Defense  |  Behavioral Intelligence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0" y="4663440"/>
            <a:ext cx="3200400" cy="2540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645920" y="484632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7A8B9E"/>
                </a:solidFill>
                <a:latin typeface="Segoe UI"/>
              </a:defRPr>
            </a:pPr>
            <a:r>
              <a:t>Formal Proof, Not Sampling — Defending the Warfighter Against Nation-State Adversaries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5234995"/>
            <a:ext cx="91440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 b="0">
                <a:solidFill>
                  <a:srgbClr val="7A8B9E"/>
                </a:solidFill>
                <a:latin typeface="Segoe UI"/>
              </a:defRPr>
            </a:pPr>
            <a:r>
              <a:rPr dirty="0" err="1"/>
              <a:t>ArCTIC</a:t>
            </a:r>
            <a:r>
              <a:rPr dirty="0"/>
              <a:t> / CFIC Collaboration Event  |  Behavioral Anomaly Detection (ACECARD</a:t>
            </a:r>
            <a:r>
              <a:rPr lang="en-US" dirty="0"/>
              <a:t> - </a:t>
            </a:r>
            <a:r>
              <a:rPr lang="en-US" sz="1100" dirty="0"/>
              <a:t>Adaptive Cybersecurity Engine for Continuous Anomaly and Risk Detection</a:t>
            </a:r>
            <a:r>
              <a:rPr dirty="0"/>
              <a:t>)  |  06 MAY 2026  |  Augusta, GA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Segoe UI"/>
              </a:defRPr>
            </a:pPr>
            <a:r>
              <a:t>Nation-state adversaries dwelling inside U.S. critical infrastructure — undetected 4–5+ years.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450514"/>
            <a:ext cx="10058400" cy="1603582"/>
          </a:xfrm>
          <a:prstGeom prst="roundRect">
            <a:avLst/>
          </a:prstGeom>
          <a:solidFill>
            <a:srgbClr val="FDEDEC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97280" y="1463040"/>
            <a:ext cx="10058400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71600" y="1600200"/>
            <a:ext cx="9601200" cy="145680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  <a:latin typeface="Segoe UI"/>
              </a:defRPr>
            </a:pPr>
            <a:r>
              <a:rPr dirty="0"/>
              <a:t>Two confirmed nation-state campaigns — Volt Typhoon and Salt Typhoon — have compromised</a:t>
            </a:r>
          </a:p>
          <a:p>
            <a:pPr>
              <a:spcBef>
                <a:spcPts val="800"/>
              </a:spcBef>
              <a:defRPr sz="1300" b="1">
                <a:solidFill>
                  <a:srgbClr val="2C3E50"/>
                </a:solidFill>
                <a:latin typeface="Segoe UI"/>
              </a:defRPr>
            </a:pPr>
            <a:r>
              <a:rPr dirty="0"/>
              <a:t>hundreds of critical infrastructure targets using techniques no existing tool can detect: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rPr dirty="0"/>
              <a:t>•  Living-off-the-Land (LOTL): only legitimate admin tools — no malware signatures to find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rPr dirty="0"/>
              <a:t>•  Configuration-resident persistence: the attack IS the network configuration itself</a:t>
            </a:r>
            <a:r>
              <a:rPr lang="en-US" dirty="0"/>
              <a:t> (</a:t>
            </a:r>
            <a:r>
              <a:rPr lang="en-US" sz="1200" dirty="0"/>
              <a:t>embedded in the legitimate operating state)</a:t>
            </a:r>
            <a:endParaRPr dirty="0"/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rPr dirty="0"/>
              <a:t>•  Stolen valid credentials: every access control says "approved"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3200400"/>
            <a:ext cx="10058400" cy="14630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97280" y="3200400"/>
            <a:ext cx="54864" cy="1463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71600" y="3291840"/>
            <a:ext cx="96012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Segoe UI"/>
              </a:defRPr>
            </a:pPr>
            <a:r>
              <a:rPr dirty="0"/>
              <a:t>ARCYBER DEFEND-THE-DODIN CHALLENGE — LIMITING FACTORS: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rPr dirty="0"/>
              <a:t>•  Tools detect known-bad signatures → adversaries use only known-good tools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rPr dirty="0"/>
              <a:t>•  Fixed thresholds → LOTL operates below every one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rPr dirty="0"/>
              <a:t>•  Point-in-time testing (annual </a:t>
            </a:r>
            <a:r>
              <a:rPr dirty="0" err="1"/>
              <a:t>pentests</a:t>
            </a:r>
            <a:r>
              <a:rPr dirty="0"/>
              <a:t>) → adversary is continuous</a:t>
            </a:r>
          </a:p>
          <a:p>
            <a:pPr>
              <a:spcBef>
                <a:spcPts val="800"/>
              </a:spcBef>
              <a:defRPr sz="1200" b="1">
                <a:solidFill>
                  <a:srgbClr val="C0392B"/>
                </a:solidFill>
                <a:latin typeface="Segoe UI"/>
              </a:defRPr>
            </a:pPr>
            <a:r>
              <a:rPr dirty="0"/>
              <a:t>•  No tool provides formal proof that all attack paths on the DODIN are blocked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4937760"/>
            <a:ext cx="10058400" cy="128016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97280" y="4937760"/>
            <a:ext cx="54864" cy="128016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371600" y="5029200"/>
            <a:ext cx="9601200" cy="113877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B4F72"/>
                </a:solidFill>
                <a:latin typeface="Segoe UI"/>
              </a:defRPr>
            </a:pPr>
            <a:r>
              <a:rPr dirty="0"/>
              <a:t>OUR APPROACH — PROVABLE COMPUTING + BEHAVIORAL INTELLIGENCE: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rPr dirty="0"/>
              <a:t>1.  Preemptive: </a:t>
            </a:r>
            <a:r>
              <a:rPr b="1" dirty="0"/>
              <a:t>Formal proof, not sampling — mathematical verification that configs block all known attack paths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rPr dirty="0"/>
              <a:t>2.  Behavioral (ACECARD): </a:t>
            </a:r>
            <a:r>
              <a:rPr b="1" dirty="0"/>
              <a:t>Digital Twin of each entity — detects sub-threshold drift that no threshold system catches</a:t>
            </a:r>
          </a:p>
          <a:p>
            <a:pPr>
              <a:spcBef>
                <a:spcPts val="800"/>
              </a:spcBef>
              <a:defRPr sz="1200" b="1">
                <a:solidFill>
                  <a:srgbClr val="0D1B2A"/>
                </a:solidFill>
                <a:latin typeface="Segoe UI"/>
              </a:defRPr>
            </a:pPr>
            <a:r>
              <a:rPr dirty="0"/>
              <a:t>Together: 95–98% DODIN coverage. Dwell time: 5 years → hours. Directly enhances ARCYBER DEFEND mission.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Our Solution: Two Layers of DODIN Defense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107707" y="820281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Segoe UI"/>
              </a:defRPr>
            </a:pPr>
            <a:r>
              <a:rPr dirty="0"/>
              <a:t>Formal proof, not sampling. 80% eliminated at network layer. Behavioral catches 15-18% that passes through.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199790"/>
            <a:ext cx="10058400" cy="2274930"/>
          </a:xfrm>
          <a:prstGeom prst="rect">
            <a:avLst/>
          </a:prstGeom>
          <a:solidFill>
            <a:srgbClr val="EBF5FB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97280" y="1199790"/>
            <a:ext cx="10058400" cy="41148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71600" y="124551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LAYER 1 — PREEMPTIVE VERIFICATION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0" y="1245510"/>
            <a:ext cx="2286000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32520" y="1263798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80% STOPPED HERE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1605911"/>
            <a:ext cx="4572000" cy="19236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C3E50"/>
                </a:solidFill>
                <a:latin typeface="Segoe UI"/>
              </a:defRPr>
            </a:pPr>
            <a:r>
              <a:rPr dirty="0"/>
              <a:t>Provable Computing: Formal Mathematical Model that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rPr dirty="0"/>
              <a:t>reasons exhaustively over the entire DODIN config space.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rPr dirty="0"/>
              <a:t>•  Ingests all threat intel continuously (MITRE attack graphs)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rPr dirty="0"/>
              <a:t>•  Models every defensive control formally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rPr dirty="0"/>
              <a:t>•  Proves whether ALL attack paths are blocked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rPr dirty="0"/>
              <a:t>•  Prescribes vendor-specific remediations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rPr dirty="0"/>
              <a:t>•  Re-verifies hourly + on every config change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748430"/>
            <a:ext cx="4572000" cy="162095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B4F72"/>
                </a:solidFill>
                <a:latin typeface="Segoe UI"/>
              </a:defRPr>
            </a:pPr>
            <a:r>
              <a:rPr dirty="0"/>
              <a:t>What it stops: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rPr dirty="0"/>
              <a:t>•  CVE exploits: proves IPS/threat-feed blocks every exploit path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rPr dirty="0"/>
              <a:t>•  C2 traffic: 50M+ rule combinations verified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rPr dirty="0"/>
              <a:t>•  Config drift: unauthorized changes caught within 1 hour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rPr dirty="0"/>
              <a:t>•  Shadow rules, conflicts, weak inspection profiles</a:t>
            </a:r>
          </a:p>
          <a:p>
            <a:pPr>
              <a:spcBef>
                <a:spcPts val="800"/>
              </a:spcBef>
              <a:defRPr sz="1000" b="1">
                <a:solidFill>
                  <a:srgbClr val="1B4F72"/>
                </a:solidFill>
                <a:latin typeface="Segoe UI"/>
              </a:defRPr>
            </a:pPr>
            <a:r>
              <a:rPr dirty="0"/>
              <a:t>Soundness within model scope. Zero F</a:t>
            </a:r>
            <a:r>
              <a:rPr lang="en-US" dirty="0"/>
              <a:t>alse </a:t>
            </a:r>
            <a:r>
              <a:rPr dirty="0"/>
              <a:t>P</a:t>
            </a:r>
            <a:r>
              <a:rPr lang="en-US" dirty="0"/>
              <a:t>ositive</a:t>
            </a:r>
            <a:r>
              <a:rPr dirty="0"/>
              <a:t>. Zero F</a:t>
            </a:r>
            <a:r>
              <a:rPr lang="en-US" dirty="0"/>
              <a:t>alse </a:t>
            </a:r>
            <a:r>
              <a:rPr dirty="0"/>
              <a:t>N</a:t>
            </a:r>
            <a:r>
              <a:rPr lang="en-US" dirty="0"/>
              <a:t>egative</a:t>
            </a:r>
            <a:r>
              <a:rPr dirty="0"/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52044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6C757D"/>
                </a:solidFill>
                <a:latin typeface="Segoe UI"/>
              </a:defRPr>
            </a:pPr>
            <a:r>
              <a:t>▼  20% passes through  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0" y="3794760"/>
            <a:ext cx="8595360" cy="2432304"/>
          </a:xfrm>
          <a:prstGeom prst="rect">
            <a:avLst/>
          </a:prstGeom>
          <a:solidFill>
            <a:srgbClr val="E8F4F8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828800" y="3794760"/>
            <a:ext cx="8595360" cy="41148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103120" y="384048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LAYER 2 — BEHAVIORAL INTELLIGENCE (ACECARD)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3840480"/>
            <a:ext cx="2011680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75320" y="3858768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15-18% DETECTED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4343400"/>
            <a:ext cx="4114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C3E50"/>
                </a:solidFill>
                <a:latin typeface="Segoe UI"/>
              </a:defRPr>
            </a:pPr>
            <a:r>
              <a:t>Digital Twin of each entity instance with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time dimension — behavioral evolution captured.</a:t>
            </a:r>
          </a:p>
          <a:p>
            <a:pPr>
              <a:spcBef>
                <a:spcPts val="800"/>
              </a:spcBef>
              <a:defRPr sz="600" b="0">
                <a:solidFill>
                  <a:srgbClr val="2C3E50"/>
                </a:solidFill>
                <a:latin typeface="Segoe UI"/>
              </a:defRPr>
            </a:pPr>
            <a:endParaRPr/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Multi-signal behavioral profiling per entity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Advanced change-point detection (sub-threshold)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Drift direction mapped to MITRE ATT&amp;CK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Cross-system entity fusion (10+ identity sources)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343400"/>
            <a:ext cx="4114800" cy="181588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E6B8A"/>
                </a:solidFill>
                <a:latin typeface="Segoe UI"/>
              </a:defRPr>
            </a:pPr>
            <a:r>
              <a:rPr dirty="0"/>
              <a:t>What it catches: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rPr dirty="0"/>
              <a:t>•  Compromised </a:t>
            </a:r>
            <a:r>
              <a:rPr b="1" dirty="0"/>
              <a:t>valid credentials (behaviorally abnormal)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rPr dirty="0"/>
              <a:t>•  LOTL: legit binaries in malicious combinations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rPr dirty="0"/>
              <a:t>•  Zero-day post-exploitation (</a:t>
            </a:r>
            <a:r>
              <a:rPr b="1" dirty="0"/>
              <a:t>drift with no signature</a:t>
            </a:r>
            <a:r>
              <a:rPr dirty="0"/>
              <a:t>)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rPr dirty="0"/>
              <a:t>•  Slow lateral movement (</a:t>
            </a:r>
            <a:r>
              <a:rPr b="1" dirty="0"/>
              <a:t>sub-threshold accumulation</a:t>
            </a:r>
            <a:r>
              <a:rPr dirty="0"/>
              <a:t>)</a:t>
            </a:r>
          </a:p>
          <a:p>
            <a:pPr>
              <a:spcBef>
                <a:spcPts val="800"/>
              </a:spcBef>
              <a:defRPr sz="600" b="0">
                <a:solidFill>
                  <a:srgbClr val="2C3E50"/>
                </a:solidFill>
                <a:latin typeface="Segoe UI"/>
              </a:defRPr>
            </a:pPr>
            <a:endParaRPr dirty="0"/>
          </a:p>
          <a:p>
            <a:pPr>
              <a:spcBef>
                <a:spcPts val="800"/>
              </a:spcBef>
              <a:defRPr sz="1000" b="1">
                <a:solidFill>
                  <a:srgbClr val="0E6B8A"/>
                </a:solidFill>
                <a:latin typeface="Segoe UI"/>
              </a:defRPr>
            </a:pPr>
            <a:r>
              <a:rPr dirty="0"/>
              <a:t>DETECTS: what no threshold system can see.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61163" y="6254496"/>
            <a:ext cx="10058400" cy="32004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417320" y="6254496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0D1B2A"/>
                </a:solidFill>
                <a:latin typeface="Segoe UI"/>
              </a:defRPr>
            </a:pPr>
            <a:r>
              <a:t>Combined: 95-98% coverage.  2-5% residual risk.  Dwell time: years → hours.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Stopping Volt Typhoon: Both Layers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Segoe UI"/>
              </a:defRPr>
            </a:pPr>
            <a:r>
              <a:t>Preemptive eliminates config weakness. ACECARD catches behavioral exploitation.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417320"/>
            <a:ext cx="10058400" cy="27432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80160" y="1435608"/>
            <a:ext cx="45720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PREEMPTIVE LAYER — config verification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1737360"/>
            <a:ext cx="10058400" cy="5486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78308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1B2A"/>
                </a:solidFill>
                <a:latin typeface="Segoe UI"/>
              </a:defRPr>
            </a:pPr>
            <a:r>
              <a:t>Initial Access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1783080"/>
            <a:ext cx="301752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C0392B"/>
                </a:solidFill>
                <a:latin typeface="Segoe UI"/>
              </a:defRPr>
            </a:pPr>
            <a:r>
              <a:rPr b="1" dirty="0"/>
              <a:t>Exploits unpatched Fortinet/Ivanti/PAN edge devices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1783080"/>
            <a:ext cx="493776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rPr dirty="0"/>
              <a:t>Maps </a:t>
            </a:r>
            <a:r>
              <a:rPr b="1" dirty="0"/>
              <a:t>every CVE to control. Proves IPS blocks exploit</a:t>
            </a:r>
            <a:r>
              <a:rPr dirty="0"/>
              <a:t>. Identifies compensating control.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2331720"/>
            <a:ext cx="10058400" cy="5486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80160" y="237744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1B2A"/>
                </a:solidFill>
                <a:latin typeface="Segoe UI"/>
              </a:defRPr>
            </a:pPr>
            <a:r>
              <a:t>Persistence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237744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C0392B"/>
                </a:solidFill>
                <a:latin typeface="Segoe UI"/>
              </a:defRPr>
            </a:pPr>
            <a:r>
              <a:t>Web shells. C2 via compromised SOHO routers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2377440"/>
            <a:ext cx="493776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rPr b="1" dirty="0"/>
              <a:t>Threat-feed IPs denied.</a:t>
            </a:r>
            <a:r>
              <a:rPr dirty="0"/>
              <a:t> 50M+ rule combos verified. WAF upload inspection proven.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2926080"/>
            <a:ext cx="10058400" cy="5486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80160" y="297180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1B2A"/>
                </a:solidFill>
                <a:latin typeface="Segoe UI"/>
              </a:defRPr>
            </a:pPr>
            <a:r>
              <a:t>Lateral Movement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2971800"/>
            <a:ext cx="301752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C0392B"/>
                </a:solidFill>
                <a:latin typeface="Segoe UI"/>
              </a:defRPr>
            </a:pPr>
            <a:r>
              <a:rPr b="1" dirty="0"/>
              <a:t>SMB/RDP/</a:t>
            </a:r>
            <a:r>
              <a:rPr b="1" dirty="0" err="1"/>
              <a:t>WinRM</a:t>
            </a:r>
            <a:r>
              <a:rPr b="1" dirty="0"/>
              <a:t> to DCs and file servers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2971800"/>
            <a:ext cx="493776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rPr dirty="0"/>
              <a:t>Real finding: </a:t>
            </a:r>
            <a:r>
              <a:rPr b="1" dirty="0"/>
              <a:t>3 shadowed rules exposed SMB</a:t>
            </a:r>
            <a:r>
              <a:rPr dirty="0"/>
              <a:t>. Model closed path no scanner found.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97280" y="3611880"/>
            <a:ext cx="10058400" cy="27432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280160" y="3630168"/>
            <a:ext cx="45720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ACECARD LAYER — behavioral detection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7280" y="3931920"/>
            <a:ext cx="10058400" cy="54864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280160" y="397764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0D1B2A"/>
                </a:solidFill>
                <a:latin typeface="Segoe UI"/>
              </a:defRPr>
            </a:pPr>
            <a:r>
              <a:t>Credential abuse</a:t>
            </a:r>
            <a:br/>
            <a:r>
              <a:t>(T1078)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397764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C0392B"/>
                </a:solidFill>
                <a:latin typeface="Segoe UI"/>
              </a:defRPr>
            </a:pPr>
            <a:r>
              <a:t>Valid creds — every control says "approved"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3977640"/>
            <a:ext cx="493776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rPr dirty="0"/>
              <a:t>Multi-signal: </a:t>
            </a:r>
            <a:r>
              <a:rPr b="1" dirty="0"/>
              <a:t>new source + off-hours + unusual targets.</a:t>
            </a:r>
            <a:r>
              <a:rPr dirty="0"/>
              <a:t> Structural shift triggers alarm.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4526280"/>
            <a:ext cx="10058400" cy="54864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280160" y="457200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0D1B2A"/>
                </a:solidFill>
                <a:latin typeface="Segoe UI"/>
              </a:defRPr>
            </a:pPr>
            <a:r>
              <a:t>LOTL execution</a:t>
            </a:r>
            <a:br/>
            <a:r>
              <a:t>(T1059)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0" y="457200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C0392B"/>
                </a:solidFill>
                <a:latin typeface="Segoe UI"/>
              </a:defRPr>
            </a:pPr>
            <a:r>
              <a:t>ntdsutil + wmic + netsh — all legit binaries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0" y="4572000"/>
            <a:ext cx="493776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rPr dirty="0"/>
              <a:t>Tool combination + sequence captured. Drift → "LOTL execution." </a:t>
            </a:r>
            <a:r>
              <a:rPr b="1" dirty="0"/>
              <a:t>Peer cohort: no match.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97280" y="5120640"/>
            <a:ext cx="10058400" cy="54864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280160" y="516636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0D1B2A"/>
                </a:solidFill>
                <a:latin typeface="Segoe UI"/>
              </a:defRPr>
            </a:pPr>
            <a:r>
              <a:t>Slow lateral</a:t>
            </a:r>
            <a:br/>
            <a:r>
              <a:t>(T1021)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26080" y="516636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C0392B"/>
                </a:solidFill>
                <a:latin typeface="Segoe UI"/>
              </a:defRPr>
            </a:pPr>
            <a:r>
              <a:t>Moves 1-2 hosts/week — below every threshold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35040" y="5166360"/>
            <a:ext cx="493776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rPr b="1" dirty="0"/>
              <a:t>Change-point accumulates sub-threshold drift over time.</a:t>
            </a:r>
            <a:r>
              <a:rPr dirty="0"/>
              <a:t> Eventually crosses alarm boundary.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97280" y="5715000"/>
            <a:ext cx="10058400" cy="54864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280160" y="576072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0D1B2A"/>
                </a:solidFill>
                <a:latin typeface="Segoe UI"/>
              </a:defRPr>
            </a:pPr>
            <a:r>
              <a:t>Unknown C2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26080" y="576072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C0392B"/>
                </a:solidFill>
                <a:latin typeface="Segoe UI"/>
              </a:defRPr>
            </a:pPr>
            <a:r>
              <a:t>Routes through newly compromised SOHO routers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35040" y="5760720"/>
            <a:ext cx="493776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rPr dirty="0"/>
              <a:t>Network signal: </a:t>
            </a:r>
            <a:r>
              <a:rPr b="1" dirty="0"/>
              <a:t>new persistent outbound to unusual destination.</a:t>
            </a:r>
            <a:r>
              <a:rPr dirty="0"/>
              <a:t> Direction: "C2 beaconing."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97280" y="6217920"/>
            <a:ext cx="10058400" cy="27432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371600" y="6236208"/>
            <a:ext cx="9601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0D1B2A"/>
                </a:solidFill>
                <a:latin typeface="Segoe UI"/>
              </a:defRPr>
            </a:pPr>
            <a:r>
              <a:t>Volt Typhoon (G1017): PRC state-sponsored. 5+ year dwell. LOTL. Critical infrastructure. Both layers needed.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Combined Detection Timeline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Segoe UI"/>
              </a:defRPr>
            </a:pPr>
            <a:r>
              <a:t>Real scenario: Volt Typhoon campaign. Preemptive finds the gap. ACECARD catches the exploitation.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325880"/>
            <a:ext cx="10058400" cy="320040"/>
          </a:xfrm>
          <a:prstGeom prst="roundRect">
            <a:avLst/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71600" y="1344168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C0392B"/>
                </a:solidFill>
                <a:latin typeface="Segoe UI"/>
              </a:defRPr>
            </a:pPr>
            <a:r>
              <a:t>Scenario: Volt Typhoon targets Air Force network via Fortinet VPN CVE + LOTL credential access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1737360"/>
            <a:ext cx="10058400" cy="5486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143000" y="1865376"/>
            <a:ext cx="640080" cy="2560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61288" y="1883664"/>
            <a:ext cx="60350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T-30d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74519" y="1865376"/>
            <a:ext cx="1371600" cy="256032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892807" y="1883664"/>
            <a:ext cx="13350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PREEMPTIVE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1847088"/>
            <a:ext cx="758952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rPr b="1" dirty="0"/>
              <a:t>Identifies missing IPS signature on VPN concentrator. Gap finding pushed to ticketing.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2313432"/>
            <a:ext cx="100584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143000" y="2441448"/>
            <a:ext cx="640080" cy="2560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61288" y="2459736"/>
            <a:ext cx="60350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T-30d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74519" y="2441448"/>
            <a:ext cx="1371600" cy="256032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892807" y="2459736"/>
            <a:ext cx="13350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INTEGRATION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2423160"/>
            <a:ext cx="7589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Gap triggers trust floor reduction. Behavioral sensitivity auto-heightened for VPN zone.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2889504"/>
            <a:ext cx="10058400" cy="5486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143000" y="3017520"/>
            <a:ext cx="640080" cy="2560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61288" y="3035808"/>
            <a:ext cx="60350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T+0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74519" y="3017520"/>
            <a:ext cx="1371600" cy="25603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892807" y="3035808"/>
            <a:ext cx="13350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ATTACKER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2999232"/>
            <a:ext cx="758952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rPr b="1" dirty="0">
                <a:solidFill>
                  <a:srgbClr val="FF0000"/>
                </a:solidFill>
              </a:rPr>
              <a:t>Exploits CVE. Lands on device. Creates local admin. Begins LOTL reconnaissance.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3465576"/>
            <a:ext cx="100584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143000" y="3593592"/>
            <a:ext cx="640080" cy="2560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161288" y="3611880"/>
            <a:ext cx="60350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T+2h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74519" y="3593592"/>
            <a:ext cx="1371600" cy="256032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892807" y="3611880"/>
            <a:ext cx="13350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ACECARD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3280" y="3575304"/>
            <a:ext cx="758952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rPr b="1" dirty="0"/>
              <a:t>Entity enters with reduced trust. Auth signal: new source, off-hours. Drift accumulating.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97280" y="4041648"/>
            <a:ext cx="10058400" cy="5486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1143000" y="4169664"/>
            <a:ext cx="640080" cy="2560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161288" y="4187952"/>
            <a:ext cx="60350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T+6h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874519" y="4169664"/>
            <a:ext cx="1371600" cy="256032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892807" y="4187952"/>
            <a:ext cx="13350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ACECARD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83280" y="4151376"/>
            <a:ext cx="7589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Process signal: wmic + ntdsutil chain. Change-point accumulating. Direction: LOTL execution.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97280" y="4617720"/>
            <a:ext cx="100584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1143000" y="4745736"/>
            <a:ext cx="640080" cy="2560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161288" y="4764024"/>
            <a:ext cx="60350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T+8h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874519" y="4745736"/>
            <a:ext cx="1371600" cy="256032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892807" y="4764024"/>
            <a:ext cx="13350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ACECARD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83280" y="4727448"/>
            <a:ext cx="758952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rPr b="1" dirty="0"/>
              <a:t>Change-point crosses alarm. Entity BLOCKED. Access revoked. IR ticket auto-created.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97280" y="5193792"/>
            <a:ext cx="10058400" cy="5486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1143000" y="5321808"/>
            <a:ext cx="640080" cy="2560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161288" y="5340096"/>
            <a:ext cx="60350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T+9h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874519" y="5321808"/>
            <a:ext cx="1371600" cy="256032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892807" y="5340096"/>
            <a:ext cx="13350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INTEGRATION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80" y="5303520"/>
            <a:ext cx="7589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Confirmed detection feeds back. Preemptive re-verifies all related configs. Similar gaps closed.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97280" y="5852160"/>
            <a:ext cx="10058400" cy="45720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371600" y="5879592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0D1B2A"/>
                </a:solidFill>
                <a:latin typeface="Segoe UI"/>
              </a:defRPr>
            </a:pPr>
            <a:r>
              <a:t>Result: 8-hour dwell (vs. 5+ years).  Preemptive found the gap.  ACECARD caught the exploitation.  Complete defense.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Streaming Architecture on Gabriel Nimbus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Segoe UI"/>
              </a:defRPr>
            </a:pPr>
            <a:r>
              <a:t>Cloud-native behavioral detection pipeline. End-to-end LOTL detection in 1-5 seconds.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417319"/>
            <a:ext cx="1828800" cy="3536205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97280" y="1417320"/>
            <a:ext cx="1828800" cy="36576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1463040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DODIN TELEMETRY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920240"/>
            <a:ext cx="146304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Segoe UI"/>
              </a:defRPr>
            </a:pPr>
            <a:r>
              <a:t>NGFW / IPS Logs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Identity (AD, Okta, Entra, TACACS+)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Endpoint (EDR / Sysmon)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Network (NetFlow, DNS, VPC)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Cloud (CloudTrail, Azure)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283464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1B4F72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1417320"/>
            <a:ext cx="1280160" cy="3536204"/>
          </a:xfrm>
          <a:prstGeom prst="round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37560" y="1554480"/>
            <a:ext cx="1188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Georgia"/>
              </a:defRPr>
            </a:pPr>
            <a:r>
              <a:t>Kafka</a:t>
            </a:r>
            <a:br/>
            <a:r>
              <a:t>/ Kinesis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29000" y="2240280"/>
            <a:ext cx="1005840" cy="127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83280" y="2377440"/>
            <a:ext cx="109728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A0C8E0"/>
                </a:solidFill>
                <a:latin typeface="Segoe UI"/>
              </a:defRPr>
            </a:pPr>
            <a:r>
              <a:t>Per-source topics</a:t>
            </a:r>
          </a:p>
          <a:p>
            <a:pPr>
              <a:spcBef>
                <a:spcPts val="800"/>
              </a:spcBef>
              <a:defRPr sz="1000" b="0">
                <a:solidFill>
                  <a:srgbClr val="A0C8E0"/>
                </a:solidFill>
                <a:latin typeface="Segoe UI"/>
              </a:defRPr>
            </a:pPr>
            <a:r>
              <a:t>Independent consumer groups</a:t>
            </a:r>
          </a:p>
          <a:p>
            <a:pPr>
              <a:spcBef>
                <a:spcPts val="800"/>
              </a:spcBef>
              <a:defRPr sz="600" b="0">
                <a:solidFill>
                  <a:srgbClr val="2C3E50"/>
                </a:solidFill>
                <a:latin typeface="Segoe UI"/>
              </a:defRPr>
            </a:pPr>
            <a:endParaRPr/>
          </a:p>
          <a:p>
            <a:pPr>
              <a:spcBef>
                <a:spcPts val="800"/>
              </a:spcBef>
              <a:defRPr sz="900" b="0">
                <a:solidFill>
                  <a:srgbClr val="7A9BBE"/>
                </a:solidFill>
                <a:latin typeface="Segoe UI"/>
              </a:defRPr>
            </a:pPr>
            <a:r>
              <a:t>Event-time watermarks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283464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1B4F72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37760" y="1417320"/>
            <a:ext cx="3291840" cy="3536204"/>
          </a:xfrm>
          <a:prstGeom prst="roundRect">
            <a:avLst/>
          </a:prstGeom>
          <a:solidFill>
            <a:srgbClr val="0D1B2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897880" y="1468716"/>
            <a:ext cx="1883979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Georgia"/>
              </a:defRPr>
            </a:pPr>
            <a:r>
              <a:rPr dirty="0"/>
              <a:t>Flink Cluster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20640" y="1874519"/>
            <a:ext cx="2926080" cy="438912"/>
          </a:xfrm>
          <a:prstGeom prst="roundRect">
            <a:avLst/>
          </a:prstGeom>
          <a:solidFill>
            <a:srgbClr val="1B4F72"/>
          </a:solidFill>
          <a:ln w="1270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212080" y="1911095"/>
            <a:ext cx="1463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1.  Kafka source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1911095"/>
            <a:ext cx="1280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A0C8E0"/>
                </a:solidFill>
                <a:latin typeface="Segoe UI"/>
              </a:defRPr>
            </a:pPr>
            <a:r>
              <a:t>Event-time, watermarks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20640" y="2350007"/>
            <a:ext cx="2926080" cy="438912"/>
          </a:xfrm>
          <a:prstGeom prst="roundRect">
            <a:avLst/>
          </a:prstGeom>
          <a:solidFill>
            <a:srgbClr val="1B4F72"/>
          </a:solidFill>
          <a:ln w="1270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212080" y="2386583"/>
            <a:ext cx="1463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2.  OCSF normalize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2386583"/>
            <a:ext cx="1280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A0C8E0"/>
                </a:solidFill>
                <a:latin typeface="Segoe UI"/>
              </a:defRPr>
            </a:pPr>
            <a:r>
              <a:t>Per-source parsers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20640" y="2825495"/>
            <a:ext cx="2926080" cy="438912"/>
          </a:xfrm>
          <a:prstGeom prst="roundRect">
            <a:avLst/>
          </a:prstGeom>
          <a:solidFill>
            <a:srgbClr val="1B4F72"/>
          </a:solidFill>
          <a:ln w="1270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12080" y="2862071"/>
            <a:ext cx="1463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3.  Enrich &amp; classify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2862071"/>
            <a:ext cx="1280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A0C8E0"/>
                </a:solidFill>
                <a:latin typeface="Segoe UI"/>
              </a:defRPr>
            </a:pPr>
            <a:r>
              <a:t>Identity, asset, tier, IOC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120640" y="3300983"/>
            <a:ext cx="2926080" cy="438912"/>
          </a:xfrm>
          <a:prstGeom prst="roundRect">
            <a:avLst/>
          </a:prstGeom>
          <a:solidFill>
            <a:srgbClr val="1B4F72"/>
          </a:solidFill>
          <a:ln w="1270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212080" y="3337559"/>
            <a:ext cx="1463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4.  CEP + ML detect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3337559"/>
            <a:ext cx="1280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A0C8E0"/>
                </a:solidFill>
                <a:latin typeface="Segoe UI"/>
              </a:defRPr>
            </a:pPr>
            <a:r>
              <a:t>NFA, Sigma, baselines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120640" y="3776471"/>
            <a:ext cx="2926080" cy="438912"/>
          </a:xfrm>
          <a:prstGeom prst="roundRect">
            <a:avLst/>
          </a:prstGeom>
          <a:solidFill>
            <a:srgbClr val="1B4F72"/>
          </a:solidFill>
          <a:ln w="1270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204986" y="3823451"/>
            <a:ext cx="146304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5.  </a:t>
            </a:r>
            <a:r>
              <a:rPr lang="en-US" dirty="0"/>
              <a:t>UEBA</a:t>
            </a:r>
            <a:endParaRPr dirty="0"/>
          </a:p>
        </p:txBody>
      </p:sp>
      <p:sp>
        <p:nvSpPr>
          <p:cNvPr id="34" name="TextBox 33"/>
          <p:cNvSpPr txBox="1"/>
          <p:nvPr/>
        </p:nvSpPr>
        <p:spPr>
          <a:xfrm>
            <a:off x="6675120" y="3813047"/>
            <a:ext cx="128016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A0C8E0"/>
                </a:solidFill>
                <a:latin typeface="Segoe UI"/>
              </a:defRPr>
            </a:pPr>
            <a:r>
              <a:rPr lang="en-US" dirty="0"/>
              <a:t>Digital Twin, Drift, MITRE</a:t>
            </a:r>
            <a:endParaRPr dirty="0"/>
          </a:p>
        </p:txBody>
      </p:sp>
      <p:sp>
        <p:nvSpPr>
          <p:cNvPr id="36" name="TextBox 35"/>
          <p:cNvSpPr txBox="1"/>
          <p:nvPr/>
        </p:nvSpPr>
        <p:spPr>
          <a:xfrm>
            <a:off x="8275320" y="283464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1B4F72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03920" y="1702955"/>
            <a:ext cx="2560320" cy="32004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595360" y="1417320"/>
            <a:ext cx="2560320" cy="36576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686800" y="146304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STORE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78240" y="1920240"/>
            <a:ext cx="21945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ClickHouse / Pinot (30-90d hot)</a:t>
            </a:r>
          </a:p>
          <a:p>
            <a:pPr>
              <a:spcBef>
                <a:spcPts val="800"/>
              </a:spcBef>
              <a:defRPr sz="1000" b="0">
                <a:solidFill>
                  <a:srgbClr val="2C3E50"/>
                </a:solidFill>
                <a:latin typeface="Segoe UI"/>
              </a:defRPr>
            </a:pPr>
            <a:r>
              <a:t>Vector DB / pgvector (behavioral)</a:t>
            </a:r>
          </a:p>
          <a:p>
            <a:pPr>
              <a:spcBef>
                <a:spcPts val="800"/>
              </a:spcBef>
              <a:defRPr sz="1000" b="0">
                <a:solidFill>
                  <a:srgbClr val="2C3E50"/>
                </a:solidFill>
                <a:latin typeface="Segoe UI"/>
              </a:defRPr>
            </a:pPr>
            <a:r>
              <a:t>Iceberg / S3 (cold archive)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732520" y="2880360"/>
            <a:ext cx="2286000" cy="12700"/>
          </a:xfrm>
          <a:prstGeom prst="rect">
            <a:avLst/>
          </a:prstGeom>
          <a:solidFill>
            <a:srgbClr val="E8E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778240" y="2971800"/>
            <a:ext cx="2194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E6B8A"/>
                </a:solidFill>
                <a:latin typeface="Segoe UI"/>
              </a:defRPr>
            </a:pPr>
            <a:r>
              <a:t>ANALYST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78240" y="3200400"/>
            <a:ext cx="21945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SIEM / SOAR (alerts)</a:t>
            </a:r>
          </a:p>
          <a:p>
            <a:pPr>
              <a:spcBef>
                <a:spcPts val="800"/>
              </a:spcBef>
              <a:defRPr sz="1000" b="0">
                <a:solidFill>
                  <a:srgbClr val="2C3E50"/>
                </a:solidFill>
                <a:latin typeface="Segoe UI"/>
              </a:defRPr>
            </a:pPr>
            <a:r>
              <a:t>SOC Dashboard (real-time)</a:t>
            </a:r>
          </a:p>
          <a:p>
            <a:pPr>
              <a:spcBef>
                <a:spcPts val="800"/>
              </a:spcBef>
              <a:defRPr sz="1000" b="0">
                <a:solidFill>
                  <a:srgbClr val="2C3E50"/>
                </a:solidFill>
                <a:latin typeface="Segoe UI"/>
              </a:defRPr>
            </a:pPr>
            <a:r>
              <a:t>Hunt UI (SQL hunts)</a:t>
            </a:r>
          </a:p>
          <a:p>
            <a:pPr>
              <a:spcBef>
                <a:spcPts val="800"/>
              </a:spcBef>
              <a:defRPr sz="1000" b="0">
                <a:solidFill>
                  <a:srgbClr val="2C3E50"/>
                </a:solidFill>
                <a:latin typeface="Segoe UI"/>
              </a:defRPr>
            </a:pPr>
            <a:r>
              <a:t>ServiceNow / JIRA (ticketing)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97280" y="5108973"/>
            <a:ext cx="3474720" cy="50292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1097280" y="5108973"/>
            <a:ext cx="54864" cy="50292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280160" y="5136405"/>
            <a:ext cx="3108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1B2A"/>
                </a:solidFill>
                <a:latin typeface="Segoe UI"/>
              </a:defRPr>
            </a:pPr>
            <a:r>
              <a:t>Preemptive Verification Engine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80160" y="5319285"/>
            <a:ext cx="3108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C757D"/>
                </a:solidFill>
                <a:latin typeface="Segoe UI"/>
              </a:defRPr>
            </a:pPr>
            <a:r>
              <a:t>Formal math model  ·  hourly + on config change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754880" y="5108973"/>
            <a:ext cx="3474720" cy="50292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4754880" y="5108973"/>
            <a:ext cx="54864" cy="50292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937760" y="5136405"/>
            <a:ext cx="3108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1B2A"/>
                </a:solidFill>
                <a:latin typeface="Segoe UI"/>
              </a:defRPr>
            </a:pPr>
            <a:r>
              <a:t>RocksDB Keyed State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937760" y="5319285"/>
            <a:ext cx="3108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C757D"/>
                </a:solidFill>
                <a:latin typeface="Segoe UI"/>
              </a:defRPr>
            </a:pPr>
            <a:r>
              <a:t>NVMe local + S3 incremental checkpoints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412480" y="5108973"/>
            <a:ext cx="2743200" cy="502920"/>
          </a:xfrm>
          <a:prstGeom prst="roundRect">
            <a:avLst/>
          </a:prstGeom>
          <a:solidFill>
            <a:srgbClr val="FEF9E7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8412480" y="5108973"/>
            <a:ext cx="54864" cy="50292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595360" y="5136405"/>
            <a:ext cx="2377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1B2A"/>
                </a:solidFill>
                <a:latin typeface="Segoe UI"/>
              </a:defRPr>
            </a:pPr>
            <a:r>
              <a:t>Remediation Intelligence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95360" y="5319285"/>
            <a:ext cx="2377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C757D"/>
                </a:solidFill>
                <a:latin typeface="Segoe UI"/>
              </a:defRPr>
            </a:pPr>
            <a:r>
              <a:t>Zero-FP playbooks  ·  auto-ticketing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097280" y="5852160"/>
            <a:ext cx="10058400" cy="5029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1097280" y="5852160"/>
            <a:ext cx="10058400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371600" y="5943600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D1B2A"/>
                </a:solidFill>
                <a:latin typeface="Segoe UI"/>
              </a:defRPr>
            </a:pPr>
            <a:r>
              <a:t>Gabriel Nimbus Platform Services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371600" y="6126480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6C757D"/>
                </a:solidFill>
                <a:latin typeface="Segoe UI"/>
              </a:defRPr>
            </a:pPr>
            <a:r>
              <a:t>Kubernetes Orchestration  |  Object Store (S3)  |  Platform IAM  |  Big Data Analytics  |  Monitoring  |  Service Mesh</a:t>
            </a:r>
          </a:p>
        </p:txBody>
      </p:sp>
      <p:sp>
        <p:nvSpPr>
          <p:cNvPr id="62" name="Rounded Rectangle 31">
            <a:extLst>
              <a:ext uri="{FF2B5EF4-FFF2-40B4-BE49-F238E27FC236}">
                <a16:creationId xmlns:a16="http://schemas.microsoft.com/office/drawing/2014/main" id="{953E11C8-56A3-1B5D-22EA-36254DA4EAAB}"/>
              </a:ext>
            </a:extLst>
          </p:cNvPr>
          <p:cNvSpPr/>
          <p:nvPr/>
        </p:nvSpPr>
        <p:spPr>
          <a:xfrm>
            <a:off x="5153226" y="4250489"/>
            <a:ext cx="2926080" cy="438912"/>
          </a:xfrm>
          <a:prstGeom prst="roundRect">
            <a:avLst/>
          </a:prstGeom>
          <a:solidFill>
            <a:srgbClr val="1B4F72"/>
          </a:solidFill>
          <a:ln w="1270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65F094D-9C81-A891-7A52-BDE629D52637}"/>
              </a:ext>
            </a:extLst>
          </p:cNvPr>
          <p:cNvSpPr txBox="1"/>
          <p:nvPr/>
        </p:nvSpPr>
        <p:spPr>
          <a:xfrm>
            <a:off x="5212080" y="4297680"/>
            <a:ext cx="146304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rPr lang="en-US" dirty="0"/>
              <a:t>6. </a:t>
            </a:r>
            <a:r>
              <a:rPr dirty="0"/>
              <a:t> </a:t>
            </a:r>
            <a:r>
              <a:rPr lang="en-US" dirty="0"/>
              <a:t>Sink Fanout</a:t>
            </a:r>
            <a:endParaRPr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8BD920A-E0AF-E1A5-1861-2FF3FA2A1C61}"/>
              </a:ext>
            </a:extLst>
          </p:cNvPr>
          <p:cNvSpPr txBox="1"/>
          <p:nvPr/>
        </p:nvSpPr>
        <p:spPr>
          <a:xfrm>
            <a:off x="6668026" y="4305981"/>
            <a:ext cx="1799318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A0C8E0"/>
                </a:solidFill>
                <a:latin typeface="Segoe UI"/>
              </a:defRPr>
            </a:pPr>
            <a:r>
              <a:rPr lang="en-US" dirty="0"/>
              <a:t>Alert, Event , Archive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645920" y="118872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B7950B"/>
                </a:solidFill>
                <a:latin typeface="Georgia"/>
              </a:defRPr>
            </a:pPr>
            <a:r>
              <a:t>22nd Century Technologies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1828800"/>
            <a:ext cx="9144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Georgia"/>
              </a:defRPr>
            </a:pPr>
            <a:r>
              <a:t>Concrete 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0" y="2651760"/>
            <a:ext cx="2743200" cy="2540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645920" y="292608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A0B8D0"/>
                </a:solidFill>
                <a:latin typeface="Segoe UI"/>
              </a:defRPr>
            </a:pPr>
            <a:r>
              <a:t>Three paths forward — all OTA/PIA compatible: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3383280"/>
            <a:ext cx="3017520" cy="2011680"/>
          </a:xfrm>
          <a:prstGeom prst="roundRect">
            <a:avLst/>
          </a:prstGeom>
          <a:solidFill>
            <a:srgbClr val="142434"/>
          </a:solidFill>
          <a:ln w="1270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371600" y="3383280"/>
            <a:ext cx="3017520" cy="36576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463040" y="3410712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410712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Technical Deep-Dive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840480"/>
            <a:ext cx="2651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0B8D0"/>
                </a:solidFill>
                <a:latin typeface="Segoe UI"/>
              </a:defRPr>
            </a:pPr>
            <a:r>
              <a:t>60-90 min follow-up with engineering</a:t>
            </a:r>
            <a:br/>
            <a:r>
              <a:t>team and ARCYBER science advisor.</a:t>
            </a:r>
            <a:br/>
            <a:r>
              <a:t>Architecture, integration points,</a:t>
            </a:r>
            <a:br/>
            <a:r>
              <a:t>formal methods detail.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3383280"/>
            <a:ext cx="3017520" cy="2011680"/>
          </a:xfrm>
          <a:prstGeom prst="roundRect">
            <a:avLst/>
          </a:prstGeom>
          <a:solidFill>
            <a:srgbClr val="142434"/>
          </a:solidFill>
          <a:ln w="12700">
            <a:solidFill>
              <a:srgbClr val="0E6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663440" y="3383280"/>
            <a:ext cx="3017520" cy="36576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80" y="3410712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3410712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PM DCO Capability Brief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3840480"/>
            <a:ext cx="2651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0B8D0"/>
                </a:solidFill>
                <a:latin typeface="Segoe UI"/>
              </a:defRPr>
            </a:pPr>
            <a:r>
              <a:t>30-min brief tailored to specific</a:t>
            </a:r>
            <a:br/>
            <a:r>
              <a:t>DCO capability gap. CFIC introduces.</a:t>
            </a:r>
            <a:br/>
            <a:r>
              <a:t>Aligned to BA-08 funding and</a:t>
            </a:r>
            <a:br/>
            <a:r>
              <a:t>Continuous Transformation cadence.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80" y="3383280"/>
            <a:ext cx="3017520" cy="2011680"/>
          </a:xfrm>
          <a:prstGeom prst="roundRect">
            <a:avLst/>
          </a:prstGeom>
          <a:solidFill>
            <a:srgbClr val="142434"/>
          </a:solidFill>
          <a:ln w="12700">
            <a:solidFill>
              <a:srgbClr val="B795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955280" y="3383280"/>
            <a:ext cx="3017520" cy="36576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20" y="3410712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410712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30-Day OTA Prototype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3840480"/>
            <a:ext cx="2651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0B8D0"/>
                </a:solidFill>
                <a:latin typeface="Segoe UI"/>
              </a:defRPr>
            </a:pPr>
            <a:r>
              <a:t>Scoped prototype on ARCYBER data</a:t>
            </a:r>
            <a:br/>
            <a:r>
              <a:t>(synthetic or DREN). Preemptive gap</a:t>
            </a:r>
            <a:br/>
            <a:r>
              <a:t>findings + behavioral detections.</a:t>
            </a:r>
            <a:br/>
            <a:r>
              <a:t>Milestone-based, TRL 6 → 7.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55778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B7950B"/>
                </a:solidFill>
                <a:latin typeface="Segoe UI"/>
              </a:defRPr>
            </a:pPr>
            <a:r>
              <a:t>Provable Computing is a stated CFIC focus area. We are the industry capability in that space.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0" y="5943600"/>
            <a:ext cx="4114800" cy="1270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58000" y="603504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Ravindra Shukla  |  Head of 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630936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A0B8D0"/>
                </a:solidFill>
                <a:latin typeface="Segoe UI"/>
              </a:defRPr>
            </a:pPr>
            <a:r>
              <a:t>ravindra.shukla@tscti.com  |  703-679-0117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1224</TotalTime>
  <Words>1711</Words>
  <Application>Microsoft Office PowerPoint</Application>
  <PresentationFormat>Widescreen</PresentationFormat>
  <Paragraphs>198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Ravindra Shukla</cp:lastModifiedBy>
  <cp:revision>7</cp:revision>
  <dcterms:created xsi:type="dcterms:W3CDTF">2013-01-27T09:14:16Z</dcterms:created>
  <dcterms:modified xsi:type="dcterms:W3CDTF">2026-05-06T09:53:40Z</dcterms:modified>
  <cp:category/>
</cp:coreProperties>
</file>