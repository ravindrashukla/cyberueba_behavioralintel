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B8862A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Georgia"/>
              </a:defRPr>
            </a:pPr>
            <a:r>
              <a:t>CONTAINERIZED BEHAVIORAL CYBER DEFENSE</a:t>
            </a:r>
            <a:br/>
            <a:r>
              <a:t>FOR GABRIEL NIMBUS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Posture Verification  +  ACECARD UEBA Behavioral Intelligence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389120"/>
            <a:ext cx="4389120" cy="914400"/>
          </a:xfrm>
          <a:prstGeom prst="roundRect">
            <a:avLst/>
          </a:prstGeom>
          <a:noFill/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44348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26B1F"/>
                </a:solidFill>
                <a:latin typeface="Calibri"/>
              </a:defRPr>
            </a:pPr>
            <a:r>
              <a:t>PREEMPTIVE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4709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Calibri"/>
              </a:defRPr>
            </a:pPr>
            <a:r>
              <a:t>Mathematically verifies every defensive control</a:t>
            </a:r>
            <a:br/>
            <a:r>
              <a:t>closes every known 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389120"/>
            <a:ext cx="4389120" cy="914400"/>
          </a:xfrm>
          <a:prstGeom prst="roundRect">
            <a:avLst/>
          </a:prstGeom>
          <a:noFill/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43484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891B2"/>
                </a:solidFill>
                <a:latin typeface="Calibri"/>
              </a:defRPr>
            </a:pPr>
            <a:r>
              <a:t>BEHAVIORAL LAYER -- ACECARD UEBA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47091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CCDDEE"/>
                </a:solidFill>
                <a:latin typeface="Calibri"/>
              </a:defRPr>
            </a:pPr>
            <a:r>
              <a:t>Continuous 1536-d behavioral trajectories</a:t>
            </a:r>
            <a:br/>
            <a:r>
              <a:t>with MITRE-mapped drift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B8862A"/>
                </a:solidFill>
                <a:latin typeface="Calibri"/>
              </a:defRPr>
            </a:pPr>
            <a:r>
              <a:t>Cloud-Native  |  Containerized (K8s/Iron Bank)  |  IL5/IL6/JWICS  |  cATO-Aligned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08090"/>
                </a:solidFill>
                <a:latin typeface="Calibri"/>
              </a:defRPr>
            </a:pPr>
            <a:r>
              <a:t>CFIC Collaboration Event  |  Augusta, GA  |  May 6, 2026  |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Four Limiting Factors in Current Cyber Defense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What Volt Typhoon (5+ yr dwell) and Salt Typhoon (200+ telcos) exploit -- and why current tools miss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064240" cy="1143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64008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13258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Configuration Gaps Are Never PROVEN Closed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600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99% of firewall breaches are misconfiguration (Gartner). Pentests sample. ASM enumerates. Nobody PROVES. 2^8000 config state space cannot be sampled adequately.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2057400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CONSEQUENCE:  Both Typhoons enter via unpatched/misconfigured edge devices (Fortinet, Cisco IOS XE, Ivanti, PAN).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87168"/>
            <a:ext cx="11064240" cy="1143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487168"/>
            <a:ext cx="9144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487168"/>
            <a:ext cx="64008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624328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2532888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Behavioral Detection Has No Direction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2807208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"User is 87% anomalous" -- anomalous HOW? Threshold-based scoring misses Living-off-the-Land because every tool used (wmic, ntdsutil, netsh) is a legitimate admin binary.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264408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CONSEQUENCE:  Volt Typhoon operated BELOW every threshold for 5+ years. No single metric ever crossed a line.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94176"/>
            <a:ext cx="11064240" cy="1143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694176"/>
            <a:ext cx="9144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694176"/>
            <a:ext cx="64008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831336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80160" y="3739896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Identity Is Fragmented Across 10+ Systems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014216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AD, AAD, Okta, AWS IAM, K8s, CrowdStrike, VPN, Splunk, PKI, TACACS+. Each sees one identifier. Cross-domain lateral movement reads as 4 unrelated weak signals.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80160" y="4471416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CONSEQUENCE:  One attacker = 10 unrelated identities. No correlation. No composite trajectory.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01184"/>
            <a:ext cx="11064240" cy="1143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01184"/>
            <a:ext cx="9144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01184"/>
            <a:ext cx="640080" cy="1143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038344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4946904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No Cloud-Native Behavioral Platform for Gabriel Nimbus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80160" y="5221224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Current UEBA tools are SaaS-only or legacy on-prem. No containerized, K8s-native solution exists that can deploy into Gabriel Nimbus at IL5/IL6 with cATO alignment.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5678424"/>
            <a:ext cx="9966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CONSEQUENCE:  ARCYBER needs behavioral intelligence INSIDE the classified big data platform, not outside it.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These four gaps define the attack surface Volt Typhoon and Salt Typhoon exploit. Our solution closes all four.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The Two-Layer Answer: Preemptive + Behavioral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verification shrinks the attack surface mathematically. ACECARD detects what remains behaviorally.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48463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303520" cy="457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1 -- PREEMPTIVE POSTURE VERIFICATION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CLOSES PROBLEM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Formal mathematical model of every NGFW, IPS, IdP, SASE, WAF.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Reasons exhaustively over 2^8000 state space.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1">
                <a:solidFill>
                  <a:srgbClr val="F26B1F"/>
                </a:solidFill>
                <a:latin typeface="Calibri"/>
              </a:defRPr>
            </a:pPr>
            <a:r>
              <a:t>THREE INTELLIGENCES: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Attack: MITRE-enriched attack graphs from CVE/CTI/IOC feeds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Defense: Symbolic Model of Computation -- exhaustive reasoning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Remediation: Vendor-specific fixes, no new errors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MATHEMATICAL GUARANTEE: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Zero false positives. Zero false negatives.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Complete reasoning, not sampling.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Re-verified hourly + on every config change.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303520" cy="4846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03520" cy="457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89888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LAYER 2 -- ACECARD UEBA (BEHAVIORAL)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92024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CLOSES PROBLEMS 2, 3, 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19456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Embeds 5 behavioral signals into 1536-d vectors per entity per hour.</a:t>
            </a:r>
          </a:p>
          <a:p>
            <a:pPr>
              <a:spcBef>
                <a:spcPts val="400"/>
              </a:spcBef>
              <a:defRPr sz="1100" b="0">
                <a:solidFill>
                  <a:srgbClr val="2D3748"/>
                </a:solidFill>
                <a:latin typeface="Calibri"/>
              </a:defRPr>
            </a:pPr>
            <a:r>
              <a:t>Tracks behavioral TRAJECTORY, not just anomaly score.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FOUR INNOVATIONS: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1. CUSUM change-point catches sub-threshold drift (Problem 2)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2. Drift DIRECTION with MITRE mapping -- "drifting toward T1021" (Problem 2)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3. Entity fusion across 10+ identity systems (Problem 3)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4. Containerized K8s-native for Gabriel Nimbus (Problem 4)</a:t>
            </a:r>
          </a:p>
          <a:p>
            <a:pPr>
              <a:spcBef>
                <a:spcPts val="400"/>
              </a:spcBef>
              <a:defRPr sz="6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STRUCTURAL INNOVATION: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Not what is anomalous -- what they are BECOMING.</a:t>
            </a:r>
          </a:p>
          <a:p>
            <a:pPr>
              <a:spcBef>
                <a:spcPts val="400"/>
              </a:spcBef>
              <a:defRPr sz="1100" b="1">
                <a:solidFill>
                  <a:srgbClr val="0B1F3A"/>
                </a:solidFill>
                <a:latin typeface="Calibri"/>
              </a:defRPr>
            </a:pPr>
            <a:r>
              <a:t>Direction, not just magnitude.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Together: the attack surface never existed (Preemptive) OR the attack is detected within hours (ACECARD + ABAC)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1 -- PREEMPTIVE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Close the Door Before They Knock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Three intelligences working together -- from threat intel to verified remediation.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65760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Analyze All Known</a:t>
            </a:r>
            <a:br/>
            <a:r>
              <a:t>Threat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Terabytes of CVE, advisories, CTI, IOCs, IOAs, PSIRTs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365760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246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Attack Intelligence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MITRE-enriched attack graphs via ML/NLP/LLM pipeline. Full TTP coverage of Volt Typhoon (G1017) and Salt Typhoon. Auto-updates on new advisory.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371600"/>
            <a:ext cx="365760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20" y="137160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63440" y="14173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Identify Every</a:t>
            </a:r>
            <a:br/>
            <a:r>
              <a:t>Defensive Control Gap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Exponential combination of NGFW, IdP, IPS, SASE, WAF configs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200400"/>
            <a:ext cx="365760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2004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246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Defense Intelligence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794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Symbolic Model of Computation. Formal mathematical model -- exhaustively reasons over 2^8000 state space. No sampling. Every path analyzed.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21040" y="1371600"/>
            <a:ext cx="3657600" cy="1645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21040" y="1371600"/>
            <a:ext cx="91440" cy="16459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14173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1600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Prescribe Correct</a:t>
            </a:r>
            <a:br/>
            <a:r>
              <a:t>Configurations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2148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Without creating new errors or business disruption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3200400"/>
            <a:ext cx="3657600" cy="2743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321040" y="3200400"/>
            <a:ext cx="91440" cy="27432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246120"/>
            <a:ext cx="3200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3429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Remediation Intelligence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379476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Guardrailed agentic-AI reasoners. Risk-prioritized, vendor-specific fixes. No false positives. No false negatives.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Supports PAN, Fortinet, Cisco, Check Point. SaaS, on-prem, and air-gapped deployments.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1 -- PREEMPTIVE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How Preemptive Stops Both Typhoons -- Phase by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Configuration weakness is the entry point for both groups. We mathematically prove those weaknesses do not exist.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64008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98448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280160"/>
            <a:ext cx="320040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2984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ATTACKER BEHAVIOR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280160"/>
            <a:ext cx="365760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29844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HOW WE PREEMPT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55279" y="1280160"/>
            <a:ext cx="356616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1298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IF BYPASSED: ACECARD DETECTS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1691640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717040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F3A"/>
                </a:solidFill>
                <a:latin typeface="Calibri"/>
              </a:defRPr>
            </a:pPr>
            <a:r>
              <a:t>Initial</a:t>
            </a:r>
            <a:br/>
            <a:r>
              <a:t>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1717040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Edge CVE exploit (Fortinet, Cisco IOS XE, Ivanti, PAN)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717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IPS signature + WAF verified; compensating controls proven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717040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91B2"/>
                </a:solidFill>
                <a:latin typeface="Calibri"/>
              </a:defRPr>
            </a:pPr>
            <a:r>
              <a:t>Auth: anomalous mgmt-plane source IP, drift 0.08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2587752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613152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F3A"/>
                </a:solidFill>
                <a:latin typeface="Calibri"/>
              </a:defRPr>
            </a:pPr>
            <a:r>
              <a:t>Credential</a:t>
            </a:r>
            <a:br/>
            <a:r>
              <a:t>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2613152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ntdsutil NTDS.dit dump; LSASS extraction; TACACS+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613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EDR coverage verified; script-control blocks ntdsutil for non-admin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13152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91B2"/>
                </a:solidFill>
                <a:latin typeface="Calibri"/>
              </a:defRPr>
            </a:pPr>
            <a:r>
              <a:t>Process: lolbin_count 0-&gt;7, CUSUM alarm @ T+47min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83864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509264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F3A"/>
                </a:solidFill>
                <a:latin typeface="Calibri"/>
              </a:defRPr>
            </a:pPr>
            <a:r>
              <a:t>Lateral</a:t>
            </a:r>
            <a:br/>
            <a:r>
              <a:t>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3509264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SMB/RDP/WinRM to DCs; cross-tenant pivots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350926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SMB inspection shadow detected + remediated; micro-segmentation proven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509264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91B2"/>
                </a:solidFill>
                <a:latin typeface="Calibri"/>
              </a:defRPr>
            </a:pPr>
            <a:r>
              <a:t>Network: unique_dest 3-&gt;18, cohort z=6.17, HIGH alert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379976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05376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F3A"/>
                </a:solidFill>
                <a:latin typeface="Calibri"/>
              </a:defRPr>
            </a:pPr>
            <a:r>
              <a:t>Persistence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4405376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Web shells; local accounts; ACL modification; GRE tunnels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4405376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Config Drift catches baseline deviation within 1 hour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4405376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91B2"/>
                </a:solidFill>
                <a:latin typeface="Calibri"/>
              </a:defRPr>
            </a:pPr>
            <a:r>
              <a:t>Identity: svc_acct spikes, group_adds, drift toward T1078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276088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301488"/>
            <a:ext cx="594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0B1F3A"/>
                </a:solidFill>
                <a:latin typeface="Calibri"/>
              </a:defRPr>
            </a:pPr>
            <a:r>
              <a:t>Exfiltration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88720" y="5301488"/>
            <a:ext cx="3063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CDR/metadata exfil; C2 to KV botnet / JumbledPath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530148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A4D8C"/>
                </a:solidFill>
                <a:latin typeface="Calibri"/>
              </a:defRPr>
            </a:pPr>
            <a:r>
              <a:t>Egress filtering proven; C2 IPs blocked all zones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5301488"/>
            <a:ext cx="3474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891B2"/>
                </a:solidFill>
                <a:latin typeface="Calibri"/>
              </a:defRPr>
            </a:pPr>
            <a:r>
              <a:t>File: sensitive_access rises, CRITICAL -&gt; ABAC BLOCKED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Both Typhoons defeated: config gaps never exist (Preemptive) + behavioral drift caught in hours (ACECARD)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Five Behavioral Signals Into One 1536-d Vector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Each signal individually embedded (1536-d) + one fused composite. 6 vectors = 9,216 dimensions per entity.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194560" cy="32004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219456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1E4D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Win 4624/4625/4768, Okta, AAD, AWS CloudTrail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B1F3A"/>
                </a:solidFill>
                <a:latin typeface="Cascadia Code"/>
              </a:defRPr>
            </a:pPr>
            <a:r>
              <a:t>logon_count, failure_rate, unique_hosts, off_hours_ratio, impossible_travel, mfa_skip_ratio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1371600"/>
            <a:ext cx="219456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PROCESS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34640" y="1737360"/>
            <a:ext cx="219456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6C2E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8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Sysmon EID 1/3, CrowdStrike, Defender, auditd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2148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B1F3A"/>
                </a:solidFill>
                <a:latin typeface="Cascadia Code"/>
              </a:defRPr>
            </a:pPr>
            <a:r>
              <a:t>unique_processes, cmdline_entropy, lolbin_count, parent_child_depth, unsigned_ratio, encoded_cmd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12080" y="1371600"/>
            <a:ext cx="219456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1208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NETWORK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1737360"/>
            <a:ext cx="219456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NetFlow/IPFIX, Zeek, PAN-OS, FortiGate, VPC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2148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B1F3A"/>
                </a:solidFill>
                <a:latin typeface="Cascadia Code"/>
              </a:defRPr>
            </a:pPr>
            <a:r>
              <a:t>unique_dest_ips, bytes_out_ratio, beacon_score, dns_query_rate, geo_anomaly, admin_share_access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1371600"/>
            <a:ext cx="219456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952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FILE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89520" y="1737360"/>
            <a:ext cx="219456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Sysmon EID 11, Win 4663, DLP, cloud storage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2148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B1F3A"/>
                </a:solidFill>
                <a:latin typeface="Cascadia Code"/>
              </a:defRPr>
            </a:pPr>
            <a:r>
              <a:t>files_created, files_deleted, sensitive_access, archive_creates, extension_changes, shadow_copy_ops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966960" y="1371600"/>
            <a:ext cx="2194560" cy="3200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138988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IDENTITY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1737360"/>
            <a:ext cx="2194560" cy="128016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0" y="1783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Win 4672/4728, CloudTrail IAM, K8s audit, AD change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2148840"/>
            <a:ext cx="2011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B1F3A"/>
                </a:solidFill>
                <a:latin typeface="Cascadia Code"/>
              </a:defRPr>
            </a:pPr>
            <a:r>
              <a:t>priv_escalations, group_adds, mfa_bypass, role_changes, service_acct_use, admin_actions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200400"/>
            <a:ext cx="1106424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218688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B8862A"/>
                </a:solidFill>
                <a:latin typeface="Calibri"/>
              </a:defRPr>
            </a:pPr>
            <a:r>
              <a:t>All 5 concatenated -&gt; 1 COMPOSITE 1536-d vector (holistic entity behavioral state)  |  Total: 6 x 1,536 = 9,216 dims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749039"/>
            <a:ext cx="34747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57200" y="3749039"/>
            <a:ext cx="91440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WHY EMBEDDING?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Captures the SHAPE of behavior, not just metrics.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 in shape = attack even if no metric spikes.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Direction: "drifting toward T1021" not "87% anomalous"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Traditional UEBA: rules + thresholds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ACECARD: vector geometry + MITRE mapping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3749039"/>
            <a:ext cx="365760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06240" y="3749039"/>
            <a:ext cx="91440" cy="22860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80560" y="37947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ENTITY FUSION (PROBLEM 3)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80560" y="402336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One entity_uuid resolves 10+ identity systems: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AD, AAD, Okta, AWS, K8s, CrowdStrike,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VPN, Splunk, PKI, TACACS+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Without fusion: 4 weak signals, no alert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With fusion: 1 strong trajectory, HIGH alert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3749039"/>
            <a:ext cx="34747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046720" y="3749039"/>
            <a:ext cx="91440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21040" y="379476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4023360"/>
            <a:ext cx="3017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IL5: OpenAI text-embedding-3-small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IL6: Local Phi-4 (14B) or Mistral 7B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JWICS: Same SLM, air-gapped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Switch: env var only, no code change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1">
                <a:solidFill>
                  <a:srgbClr val="B8862A"/>
                </a:solidFill>
                <a:latin typeface="Calibri"/>
              </a:defRPr>
            </a:pPr>
            <a:r>
              <a:t>PRIVACY: No raw event content sent.</a:t>
            </a:r>
          </a:p>
          <a:p>
            <a:pPr>
              <a:spcBef>
                <a:spcPts val="400"/>
              </a:spcBef>
              <a:defRPr sz="1000" b="0">
                <a:solidFill>
                  <a:srgbClr val="B8862A"/>
                </a:solidFill>
                <a:latin typeface="Calibri"/>
              </a:defRPr>
            </a:pPr>
            <a:r>
              <a:t>Only summarized metrics. No PII.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NOBODY embeds behavioral signals into a unified vector space with per-signal drift decomposition and entity fusion.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 -- CUSUM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CUSUM: Catching What Thresholds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Page's Cumulative Sum detects small, sustained behavioral shifts -- the Volt Typhoon signature.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91440" cy="2286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891B2"/>
                </a:solidFill>
                <a:latin typeface="Calibri"/>
              </a:defRPr>
            </a:pPr>
            <a:r>
              <a:t>THE ALGORITHM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scadia Code"/>
              </a:defRPr>
            </a:pPr>
            <a:r>
              <a:t>S(t) = max(0, S(t-1) + drift(t) - (mu + k))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S(t) = CUSUM statistic at time t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drift(t) = cosine distance from baseline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mu = expected mean drift (30-day rolling)</a:t>
            </a: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k = slack = 0.5 * sigma (allowable noise)</a:t>
            </a:r>
          </a:p>
          <a:p>
            <a:pPr>
              <a:spcBef>
                <a:spcPts val="400"/>
              </a:spcBef>
              <a:defRPr sz="1100" b="1">
                <a:solidFill>
                  <a:srgbClr val="C0392B"/>
                </a:solidFill>
                <a:latin typeface="Calibri"/>
              </a:defRPr>
            </a:pPr>
            <a:r>
              <a:t>ALARM when S(t) &gt; h = 4 * sigma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Resets to 0 when drift returns to normal.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30352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91440" cy="22860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1732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WORKED EXAMPLE: VOLT TYPHOON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169164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Baseline: mu=0.03, sigma=0.03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k = 0.5 * 0.03 = 0.015</a:t>
            </a:r>
          </a:p>
          <a:p>
            <a:pPr>
              <a:spcBef>
                <a:spcPts val="400"/>
              </a:spcBef>
              <a:defRPr sz="1000" b="1">
                <a:solidFill>
                  <a:srgbClr val="0B1F3A"/>
                </a:solidFill>
                <a:latin typeface="Calibri"/>
              </a:defRPr>
            </a:pPr>
            <a:r>
              <a:t>h = 4 * 0.03 = 0.12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APT drift per window = 0.06 (below threshold!)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Fixed threshold = 0.15 --&gt; NEVER fires</a:t>
            </a:r>
          </a:p>
          <a:p>
            <a:pPr>
              <a:spcBef>
                <a:spcPts val="400"/>
              </a:spcBef>
              <a:defRPr sz="400" b="0">
                <a:solidFill>
                  <a:srgbClr val="5A6878"/>
                </a:solidFill>
                <a:latin typeface="Calibri"/>
              </a:defRPr>
            </a:pPr>
          </a:p>
          <a:p>
            <a:pPr>
              <a:spcBef>
                <a:spcPts val="400"/>
              </a:spcBef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accumulation: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  Excess per window: 0.06 - 0.03 - 0.015 = 0.015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  ALARM in 0.12/0.015 = 8 windows (8 hours)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840480"/>
            <a:ext cx="11064240" cy="22860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840480"/>
            <a:ext cx="91440" cy="2286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862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WHY CUSUM CATCHES VOLT TYPHOON BUT THRESHOLDS DO NOT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297680"/>
            <a:ext cx="502920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31596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FIXED THRESHOLD = 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17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drift per window = 0.01-0.04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NEVER crosses 0.15. Ever.</a:t>
            </a:r>
          </a:p>
          <a:p>
            <a:pPr>
              <a:spcBef>
                <a:spcPts val="400"/>
              </a:spcBef>
              <a:defRPr sz="1000" b="1">
                <a:solidFill>
                  <a:srgbClr val="C0392B"/>
                </a:solidFill>
                <a:latin typeface="Calibri"/>
              </a:defRPr>
            </a:pPr>
            <a:r>
              <a:t>Attacker operates for 5+ YEARS undetected.</a:t>
            </a:r>
          </a:p>
          <a:p>
            <a:pPr>
              <a:spcBef>
                <a:spcPts val="400"/>
              </a:spcBef>
              <a:defRPr sz="1000" b="0">
                <a:solidFill>
                  <a:srgbClr val="C0392B"/>
                </a:solidFill>
                <a:latin typeface="Calibri"/>
              </a:defRPr>
            </a:pPr>
            <a:r>
              <a:t>Every commercial UEBA uses fixed thresholds.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4297680"/>
            <a:ext cx="502920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4315968"/>
            <a:ext cx="49377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CUSUM (h = 4*sigma = 0.12)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61772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Same drift 0.03-0.04 ACCUMULATES over windows.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CUSUM alarm in 4-8 days.</a:t>
            </a:r>
          </a:p>
          <a:p>
            <a:pPr>
              <a:spcBef>
                <a:spcPts val="400"/>
              </a:spcBef>
              <a:defRPr sz="1000" b="1">
                <a:solidFill>
                  <a:srgbClr val="0891B2"/>
                </a:solidFill>
                <a:latin typeface="Calibri"/>
              </a:defRPr>
            </a:pPr>
            <a:r>
              <a:t>Dwell time: YEARS --&gt; DAYS.</a:t>
            </a:r>
          </a:p>
          <a:p>
            <a:pPr>
              <a:spcBef>
                <a:spcPts val="400"/>
              </a:spcBef>
              <a:defRPr sz="1000" b="0">
                <a:solidFill>
                  <a:srgbClr val="0891B2"/>
                </a:solidFill>
                <a:latin typeface="Calibri"/>
              </a:defRPr>
            </a:pPr>
            <a:r>
              <a:t>Minimax optimal (Lorden 1971, Moustakides 1986).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NO COMMERCIAL UEBA uses CUSUM on behavioral embeddings. This is original research applied to cybersecurity.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 -- DRIFT DIRECTION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Drift Direction: What Is the Entity Becoming?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Cosine projection onto 8 MITRE-mapped threat concepts. Not "87% anomalous" -- "drifting toward T1021 at 0.82."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2194560" cy="228600"/>
          </a:xfrm>
          <a:prstGeom prst="rect">
            <a:avLst/>
          </a:prstGeom>
          <a:solidFill>
            <a:srgbClr val="1E4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credential_dumping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42646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13898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LSASS access, SAM reads, ntdsutil, DCSync, Kerberoasting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901952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1947672"/>
            <a:ext cx="2194560" cy="2286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5681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lateral_movement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195681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T1021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19202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RDP/WinRM/SSH to new hosts, admin shares, PtH/PtT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32304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2478024"/>
            <a:ext cx="219456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48716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data_exfiltration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248716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T1041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45059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Bytes-out inversion, archive staging, DNS tunneling, GRE tunneling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62656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08376"/>
            <a:ext cx="219456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0175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c2_beaconing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3017520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298094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Regular-interval callbacks, DGA domains, KV botnet, JumbledPath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493008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57200" y="3538728"/>
            <a:ext cx="2194560" cy="2286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35478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lotl_execution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547872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T1059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66160" y="351129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wmic/ntdsutil/netsh/rundll32 chains, encoded PowerShell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023360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4069080"/>
            <a:ext cx="2194560" cy="2286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07822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privilege_escalation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4078224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66160" y="40416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Group adds (Domain Admins), sudo abuse, token manipulation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553712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599432"/>
            <a:ext cx="2194560" cy="22860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02920" y="46085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defense_evasion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608576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T1562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45720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AV exclusions, log clearing, agent tampering, ACL modification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084064"/>
            <a:ext cx="11064240" cy="5029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129784"/>
            <a:ext cx="2194560" cy="22860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138928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FFFFFF"/>
                </a:solidFill>
                <a:latin typeface="Calibri"/>
              </a:defRPr>
            </a:pPr>
            <a:r>
              <a:t>insider_hoarding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5138928"/>
            <a:ext cx="731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scadia Code"/>
              </a:defRPr>
            </a:pPr>
            <a:r>
              <a:t>T1074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566160" y="51023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Steady sensitive access increase, bulk downloads, data staging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69280"/>
            <a:ext cx="11064240" cy="5486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5669280"/>
            <a:ext cx="91440" cy="5486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687568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projection = cosine(drift_vector, concept_embedding). Top 3 returned with MITRE IDs. Result: "Entity drifting toward lateral_movement (0.82, T1021) + lotl_execution (0.71, T1059)" -- actionable, mappable, auditable.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NO OTHER UEBA projects drift direction onto MITRE techniques. This is the core innovation.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 -- COHORT + ALERTING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Peer Cohort Comparison + Calibrated Alert Tiers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A sysadmin logging into 30 hosts is normal. A finance analyst doing the same is anomalous.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50292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9844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PEER COHORT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scadia Code"/>
              </a:defRPr>
            </a:pPr>
            <a:r>
              <a:t>z = (entity_drift - cohort_mean) / cohort_std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0312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Flag outlier if z &gt; 2.0  |  Cohort = role / OU / security group from AD/LDAP/IAM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68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26B1F"/>
                </a:solidFill>
                <a:latin typeface="Calibri"/>
              </a:defRPr>
            </a:pPr>
            <a:r>
              <a:t>EXAMPLE -- Lateral Movement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4320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Entity: jsmith (financial_analyst, cohort = 42 peers)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10896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jsmith drift: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3108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scadia Code"/>
              </a:defRPr>
            </a:pPr>
            <a:r>
              <a:t>0.142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1089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(38 failed logons to 12 new hosts)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38328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Cohort mean: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8328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scadia Code"/>
              </a:defRPr>
            </a:pPr>
            <a:r>
              <a:t>0.031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338328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(peers avg 2.1 failed, 0.3 new hosts)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65760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Cohort std: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0320" y="36576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scadia Code"/>
              </a:defRPr>
            </a:pPr>
            <a:r>
              <a:t>0.018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931920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z-score: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3931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392B"/>
                </a:solidFill>
                <a:latin typeface="Cascadia Code"/>
              </a:defRPr>
            </a:pPr>
            <a:r>
              <a:t>6.17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9319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&gt;&gt;&gt; OUTLIER (z &gt; 2.0)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297680"/>
            <a:ext cx="5029200" cy="16459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34340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1">
                <a:solidFill>
                  <a:srgbClr val="0891B2"/>
                </a:solidFill>
                <a:latin typeface="Calibri"/>
              </a:defRPr>
            </a:pPr>
            <a:r>
              <a:t>Drift direction:  lateral_movement (0.78), credential_dumping (0.45)</a:t>
            </a:r>
          </a:p>
          <a:p>
            <a:pPr>
              <a:spcBef>
                <a:spcPts val="400"/>
              </a:spcBef>
              <a:defRPr sz="950" b="1">
                <a:solidFill>
                  <a:srgbClr val="0B1F3A"/>
                </a:solidFill>
                <a:latin typeface="Calibri"/>
              </a:defRPr>
            </a:pPr>
            <a:r>
              <a:t>MITRE:  T1021 (Remote Services), T1003 (Credential Dumping)</a:t>
            </a:r>
          </a:p>
          <a:p>
            <a:pPr>
              <a:spcBef>
                <a:spcPts val="400"/>
              </a:spcBef>
              <a:defRPr sz="950" b="1">
                <a:solidFill>
                  <a:srgbClr val="F26B1F"/>
                </a:solidFill>
                <a:latin typeface="Calibri"/>
              </a:defRPr>
            </a:pPr>
            <a:r>
              <a:t>Action:  HIGH severity -&gt; SOAR playbook triggered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280160"/>
            <a:ext cx="5303520" cy="50292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17920" y="1280160"/>
            <a:ext cx="91440" cy="50292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17920" y="1280160"/>
            <a:ext cx="53035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12984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ALERT TIERS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1737360"/>
            <a:ext cx="4937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00800" y="1783080"/>
            <a:ext cx="100584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18745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CRITICAL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79" y="17830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scadia Code"/>
              </a:defRPr>
            </a:pPr>
            <a:r>
              <a:t>Health &lt; 40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79" y="2011680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C0392B"/>
                </a:solidFill>
                <a:latin typeface="Calibri"/>
              </a:defRPr>
            </a:pPr>
            <a:r>
              <a:t>Immediate SOC investigation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79" y="224028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Multiple signals anomalous, CUSUM triggered, drift &gt; 0.15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2633472"/>
            <a:ext cx="4937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400800" y="2679192"/>
            <a:ext cx="1005840" cy="7772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277063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HIGH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79" y="267919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scadia Code"/>
              </a:defRPr>
            </a:pPr>
            <a:r>
              <a:t>Health &lt; 40 OR Velocity z &gt; 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98079" y="2907792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Tier-2 triage in 15 min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79" y="3136392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Rapid behavioral divergence or composite health collapse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3529584"/>
            <a:ext cx="4937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00800" y="3575304"/>
            <a:ext cx="1005840" cy="77724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46520" y="36667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357530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scadia Code"/>
              </a:defRPr>
            </a:pPr>
            <a:r>
              <a:t>Health &lt; 70 + change-point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498079" y="3803904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B8862A"/>
                </a:solidFill>
                <a:latin typeface="Calibri"/>
              </a:defRPr>
            </a:pPr>
            <a:r>
              <a:t>Tier-1 review in 1 hour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498079" y="4032504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Recent structural shift detected but not yet severe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0" y="4425696"/>
            <a:ext cx="4937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400800" y="4471416"/>
            <a:ext cx="1005840" cy="7772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46520" y="456285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79" y="4471416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scadia Code"/>
              </a:defRPr>
            </a:pPr>
            <a:r>
              <a:t>Health 70-85 AND cohort z &gt; 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98079" y="4700016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Watchlist; auto-enrich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98079" y="4928616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Peer outlier but within normal drift range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400800" y="5321808"/>
            <a:ext cx="493776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400800" y="5367528"/>
            <a:ext cx="1005840" cy="777240"/>
          </a:xfrm>
          <a:prstGeom prst="rect">
            <a:avLst/>
          </a:prstGeom>
          <a:solidFill>
            <a:srgbClr val="5A68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46520" y="545896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INFO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79" y="536752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scadia Code"/>
              </a:defRPr>
            </a:pPr>
            <a:r>
              <a:t>Any CUSUM trigger (4-sigma)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498079" y="5596128"/>
            <a:ext cx="374903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5A6878"/>
                </a:solidFill>
                <a:latin typeface="Calibri"/>
              </a:defRPr>
            </a:pPr>
            <a:r>
              <a:t>Log for trend analysis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79" y="5824728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Structural change; may be benign (role change, new project)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Analyst TP/FP feedback per alert feeds back as labeled data -&gt; threshold auto-tuning + ABAC trust tags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 -- ABAC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ABAC Trust State Machine: Detection to Enforcement in &lt;5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Not binary lockout. Graduated, reversible, proportional response with analyst feedback loop.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9844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THE LOOP -- closes in &lt;5 minutes from TP/FP click to ABAC tag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37360"/>
            <a:ext cx="17373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0352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CUSUM/health</a:t>
            </a:r>
            <a:br/>
            <a:r>
              <a:t>triggers alert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0" y="1737360"/>
            <a:ext cx="17373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78308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59152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TRIAGE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Analyst reviews</a:t>
            </a:r>
            <a:br/>
            <a:r>
              <a:t>7-chart dashboard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1737360"/>
            <a:ext cx="17373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60520" y="178308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87952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Analyst marks</a:t>
            </a:r>
            <a:br/>
            <a:r>
              <a:t>TP or FP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0" y="1737360"/>
            <a:ext cx="17373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89320" y="178308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6752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LEARN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Labeled data feeds</a:t>
            </a:r>
            <a:br/>
            <a:r>
              <a:t>threshold tuning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0" y="1737360"/>
            <a:ext cx="17373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818120" y="178308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45552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8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TAG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Entity trust state</a:t>
            </a:r>
            <a:br/>
            <a:r>
              <a:t>updated in ABAC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0" y="1737360"/>
            <a:ext cx="1737360" cy="1097280"/>
          </a:xfrm>
          <a:prstGeom prst="roundRect">
            <a:avLst/>
          </a:prstGeom>
          <a:solidFill>
            <a:srgbClr val="F7F8FA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46920" y="1783080"/>
            <a:ext cx="32004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4352" y="180136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12680" y="1801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ENFORCE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214884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2D3748"/>
                </a:solidFill>
                <a:latin typeface="Calibri"/>
              </a:defRPr>
            </a:pPr>
            <a:r>
              <a:t>ABAC adjusts:</a:t>
            </a:r>
            <a:br/>
            <a:r>
              <a:t>MFA, restrict, block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017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ABAC TRUST STATES -- proportional response, not binary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3383280"/>
            <a:ext cx="11064240" cy="6400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57200" y="3474720"/>
            <a:ext cx="2103120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3493008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TRUSTED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3429000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91B2"/>
                </a:solidFill>
                <a:latin typeface="Calibri"/>
              </a:defRPr>
            </a:pPr>
            <a:r>
              <a:t>CONDITION: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36118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&gt;= 70, no recent alerts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3429000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0891B2"/>
                </a:solidFill>
                <a:latin typeface="Calibri"/>
              </a:defRPr>
            </a:pPr>
            <a:r>
              <a:t>ENFORCEMENT: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6118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Normal access, standard MFA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050792"/>
            <a:ext cx="11064240" cy="6400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57200" y="4142232"/>
            <a:ext cx="2103120" cy="274320"/>
          </a:xfrm>
          <a:prstGeom prst="rect">
            <a:avLst/>
          </a:prstGeom>
          <a:solidFill>
            <a:srgbClr val="B8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4160520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ELEVATED_WATCH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43200" y="4096512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8862A"/>
                </a:solidFill>
                <a:latin typeface="Calibri"/>
              </a:defRPr>
            </a:pPr>
            <a:r>
              <a:t>CONDITION: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427939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40-70 OR cohort z &gt;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0" y="4096512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B8862A"/>
                </a:solidFill>
                <a:latin typeface="Calibri"/>
              </a:defRPr>
            </a:pPr>
            <a:r>
              <a:t>ENFORCEMENT: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0" y="4279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Step-up MFA on sensitive resources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4718304"/>
            <a:ext cx="11064240" cy="6400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57200" y="4809744"/>
            <a:ext cx="2103120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4828032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RESTRICTED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4764024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1F"/>
                </a:solidFill>
                <a:latin typeface="Calibri"/>
              </a:defRPr>
            </a:pPr>
            <a:r>
              <a:t>CONDITION: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43200" y="494690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Health &lt; 40 OR TP alert confirmed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4764024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F26B1F"/>
                </a:solidFill>
                <a:latin typeface="Calibri"/>
              </a:defRPr>
            </a:pPr>
            <a:r>
              <a:t>ENFORCEMENT: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0" y="494690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Read-only access, no lateral movement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385816"/>
            <a:ext cx="11064240" cy="6400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5477256"/>
            <a:ext cx="210312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02920" y="5495544"/>
            <a:ext cx="2011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BLOCKED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743200" y="5431536"/>
            <a:ext cx="1097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392B"/>
                </a:solidFill>
                <a:latin typeface="Calibri"/>
              </a:defRPr>
            </a:pPr>
            <a:r>
              <a:t>CONDITION: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0" y="561441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Active incident confirmed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58000" y="5431536"/>
            <a:ext cx="1371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1">
                <a:solidFill>
                  <a:srgbClr val="C0392B"/>
                </a:solidFill>
                <a:latin typeface="Calibri"/>
              </a:defRPr>
            </a:pPr>
            <a:r>
              <a:t>ENFORCEMENT: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858000" y="561441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Account disabled, session terminated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Self-reinforcing: TP label strengthens signals. FP raises thresholds for that role. ABAC enforcement is automatic.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DEPLOYMENT -- GABRIEL NIMBUS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Containerized Cloud-Native Architecture for Gabriel Nimbus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Kubernetes-native. Iron Bank hardened images. IL5/IL6/JWICS. cATO-aligned.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06424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9144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2560320" cy="32004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5: PRESENTATION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32588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Plotly Dash / React UI  |  7-chart entity dashboard  |  Alert feed  |  Kill-chain visualization  |  ABAC admin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9164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CAC/PIV auth  |  Role-based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240280"/>
            <a:ext cx="1106424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2240280"/>
            <a:ext cx="91440" cy="9144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240280"/>
            <a:ext cx="256032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25856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4: API 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28600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FastAPI (async)  |  REST + WebSocket  |  RBAC middleware  |  Rate limiting  |  OpenAPI docs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65176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Istio service mesh  |  mTLS between services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200400"/>
            <a:ext cx="1106424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91440" cy="9144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200400"/>
            <a:ext cx="256032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21868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3: BEHAVIORAL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324612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Signal Summarizers (5)  |  Embedding Pipeline  |  Trajectory Analysis  |  CUSUM  |  Drift Direction  |  Entity Fusion  |  ABAC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61188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Horizontal pod autoscaling  |  10K entities/hr per 4-vCPU pod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160520"/>
            <a:ext cx="1106424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4160520"/>
            <a:ext cx="91440" cy="9144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25603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1788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2: DATA PLANE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0" y="420624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PostgreSQL + pgvector (HNSW)  |  TimescaleDB (time-series)  |  Redis (cache + pub/sub)  |  S3-compatible object store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457200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Persistent volumes  |  Automated backups  |  Encryption at rest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120640"/>
            <a:ext cx="11064240" cy="91440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5120640"/>
            <a:ext cx="91440" cy="91440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120640"/>
            <a:ext cx="2560320" cy="32004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513892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LAYER 1: INFRASTRUCTURE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5166360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Kubernetes (Big Bang / RKE2)  |  Iron Bank hardened containers  |  Istio  |  Fluentd  |  Prometheus + Grafana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5532120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cATO artifacts auto-generated  |  STIG-compliant  |  FIPS 140-2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Entire stack deploys via helm chart. Air-gapped: same containers, local SLM (Phi-4/Mistral), no external calls.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DEPLOYMENT -- DATA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Data Flow: From Raw Telemetry to Actionable Alert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End-to-end pipeline inside Gabriel Nimbus. No data leaves the enclave.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25880"/>
            <a:ext cx="548640" cy="68580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3258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66B3A"/>
                </a:solidFill>
                <a:latin typeface="Calibri"/>
              </a:defRPr>
            </a:pPr>
            <a:r>
              <a:t>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32588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ECS / OCSF / STIX 2.1 normalized events arrive from SIEM, EDR, NetFlow, IdP, K8s audit logs.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173736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Kafka / Fluentd 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4173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66B3A"/>
                </a:solidFill>
                <a:latin typeface="Calibri"/>
              </a:defRPr>
            </a:pPr>
            <a:r>
              <a:t>&lt;3 sec per entity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84832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130552"/>
            <a:ext cx="548640" cy="6858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176272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1305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891B2"/>
                </a:solidFill>
                <a:latin typeface="Calibri"/>
              </a:defRPr>
            </a:pPr>
            <a:r>
              <a:t>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2130552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Aggregate into 1-hour time windows per entity_uuid. Entity fusion resolves 10+ identity systems.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542032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TimescaleDB hypertable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22219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891B2"/>
                </a:solidFill>
                <a:latin typeface="Calibri"/>
              </a:defRPr>
            </a:pPr>
            <a:r>
              <a:t>&lt;3 sec per entity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889504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2935224"/>
            <a:ext cx="548640" cy="68580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2980944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293522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C2ED9"/>
                </a:solidFill>
                <a:latin typeface="Calibri"/>
              </a:defRPr>
            </a:pPr>
            <a:r>
              <a:t>SUMMARIZE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2935224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5 signal summarizers produce structured text (metrics only). No raw content. No PII.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346704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Python workers (horizontal autoscale)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80" y="3026664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6C2ED9"/>
                </a:solidFill>
                <a:latin typeface="Calibri"/>
              </a:defRPr>
            </a:pPr>
            <a:r>
              <a:t>&lt;3 sec per entity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694176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739896"/>
            <a:ext cx="548640" cy="6858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785616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73989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26B1F"/>
                </a:solidFill>
                <a:latin typeface="Calibri"/>
              </a:defRPr>
            </a:pPr>
            <a:r>
              <a:t>EMBED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3739896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Concatenated signal text embedded into 1536-d vector. IL5: OpenAI API. IL6/JWICS: local Phi-4.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86000" y="4151376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pgvector HNSW index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26880" y="3831336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26B1F"/>
                </a:solidFill>
                <a:latin typeface="Calibri"/>
              </a:defRPr>
            </a:pPr>
            <a:r>
              <a:t>env var switches model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4498848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57200" y="4544568"/>
            <a:ext cx="548640" cy="6858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59028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" y="4544568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ANALYZE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86000" y="4544568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Trajectory analysis: cosine drift, velocity, acceleration, CUSUM 4-sigma, drift direction onto 8 concepts.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0" y="4956048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Per-entity, per-window computation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4636008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0B1F3A"/>
                </a:solidFill>
                <a:latin typeface="Calibri"/>
              </a:defRPr>
            </a:pPr>
            <a:r>
              <a:t>&lt;3 sec per entity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303520"/>
            <a:ext cx="11064240" cy="77724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349240"/>
            <a:ext cx="54864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53949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Georgia"/>
              </a:defRPr>
            </a:pPr>
            <a: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53492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C0392B"/>
                </a:solidFill>
                <a:latin typeface="Calibri"/>
              </a:defRPr>
            </a:pPr>
            <a:r>
              <a:t>ALERT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0" y="534924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Alert tiers (CRITICAL through INFO) with MITRE technique IDs, cohort z-score, ABAC trust state update.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86000" y="57607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50" b="0">
                <a:solidFill>
                  <a:srgbClr val="5A6878"/>
                </a:solidFill>
                <a:latin typeface="Calibri"/>
              </a:defRPr>
            </a:pPr>
            <a:r>
              <a:t>WebSocket push to dashboard + SOAR webhook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440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C0392B"/>
                </a:solidFill>
                <a:latin typeface="Calibri"/>
              </a:defRPr>
            </a:pPr>
            <a:r>
              <a:t>&lt;3 sec per entity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Raw event to actionable alert: &lt;3 seconds per entity. 10K entities/hour per 4-vCPU pod. Horizontal autoscale.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INTEGRATION -- COMBINED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End-to-End Architecture: Preemptive + ACECARD UEBA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Preemptive proves what cannot happen. ACECARD detects what is happening. Shared MITRE vocabulary.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2286000" cy="48463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4846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22860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38988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INPUTS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2880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Threat Intel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0116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MITRE ATT&amp;CK, CISA, FBI, NSA, CTI feeds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37744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Defense Config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56032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NGFW, IPS, IdP, IAM, SASE, WAF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92608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Telemetry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10896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Win EventLog, Sysmon, EDR, NetFlow, Zeek, Okta, K8s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1920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65760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5A6878"/>
                </a:solidFill>
                <a:latin typeface="Calibri"/>
              </a:defRPr>
            </a:pPr>
            <a:r>
              <a:t>ECS, OCSF, STIX 2.1 normalized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17520" y="1371600"/>
            <a:ext cx="4114800" cy="4846320"/>
          </a:xfrm>
          <a:prstGeom prst="roundRect">
            <a:avLst/>
          </a:prstGeom>
          <a:solidFill>
            <a:srgbClr val="FDE5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017520" y="1371600"/>
            <a:ext cx="91440" cy="4846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017520" y="1371600"/>
            <a:ext cx="411480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13898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1 -- PREEMPTIVE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00400" y="1828800"/>
            <a:ext cx="3749039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83280" y="1874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Attack Intelligence</a:t>
            </a:r>
            <a:br/>
            <a:r>
              <a:t>MITRE-enriched attack graphs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00400" y="2606040"/>
            <a:ext cx="3749039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83280" y="2651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Defense Intelligence</a:t>
            </a:r>
            <a:br/>
            <a:r>
              <a:t>Symbolic Model of Computation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00400" y="3383280"/>
            <a:ext cx="3749039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Remediation Intelligence</a:t>
            </a:r>
            <a:br/>
            <a:r>
              <a:t>Risk-prioritized config fixes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00400" y="420624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2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383280" y="422452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26B1F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Hardened defense posture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Verified SOC playbooks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MITRE TTP coverage proof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1371600"/>
            <a:ext cx="4114800" cy="4846320"/>
          </a:xfrm>
          <a:prstGeom prst="roundRect">
            <a:avLst/>
          </a:prstGeom>
          <a:solidFill>
            <a:srgbClr val="E0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406640" y="1371600"/>
            <a:ext cx="91440" cy="4846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406640" y="1371600"/>
            <a:ext cx="411480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98079" y="1389888"/>
            <a:ext cx="3931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 2 -- ACECARD UEBA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589520" y="1828800"/>
            <a:ext cx="3749039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0" y="187452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5 Signal Summarizers -&gt; 1536-d</a:t>
            </a:r>
            <a:br/>
            <a:r>
              <a:t>Auth, Process, Network, File, Identity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89520" y="2606040"/>
            <a:ext cx="3749039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772400" y="265176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Trajectory Analysis</a:t>
            </a:r>
            <a:br/>
            <a:r>
              <a:t>Cosine drift + velocity + CUSUM 4-sigma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3383280"/>
            <a:ext cx="3749039" cy="7315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0" y="34290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Drift Direction -&gt; 8 MITRE Concepts</a:t>
            </a:r>
            <a:br/>
            <a:r>
              <a:t>Top-3 projections -&gt; ATT&amp;CK technique IDs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89520" y="4206240"/>
            <a:ext cx="3749039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772400" y="4224528"/>
            <a:ext cx="33832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891B2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443484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5-tier alerts (CRITICAL -&gt; INFO)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ABAC trust state per entity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7-chart dashboard + SOAR hooks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5303520"/>
            <a:ext cx="850392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0" y="5321808"/>
            <a:ext cx="8138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B8862A"/>
                </a:solidFill>
                <a:latin typeface="Calibri"/>
              </a:defRPr>
            </a:pPr>
            <a:r>
              <a:t>Shared vocabulary: MITRE ATT&amp;CK technique IDs  (T1003, T1021, T1041, T1059, T1071, T1078, T1190, T1556 ...)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60720"/>
            <a:ext cx="11064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5A6878"/>
                </a:solidFill>
                <a:latin typeface="Calibri"/>
              </a:defRPr>
            </a:pPr>
            <a:r>
              <a:t>Iron Bank  |  Big Bang  |  IL5/IL6/JWICS  |  CAC/PIV  |  cATO-aligned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Both layers share MITRE ATT&amp;CK as their analytical vocabulary. One alert = what, which TTP, which entity, is config covered.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9048" cy="2743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9048" y="0"/>
            <a:ext cx="6099048" cy="2743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COVERAGE MATRIX -- WHICH LAYER OWNS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Combined Coverage: Preemptive First, Behavioral as Backstop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06424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115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Adversary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115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VT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115568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11155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Owner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115568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FFFFF"/>
                </a:solidFill>
                <a:latin typeface="Calibri"/>
              </a:defRPr>
            </a:pPr>
            <a:r>
              <a:t>Why This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463040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488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Edge-device CVE exploitation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1488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488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303520" y="1527048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0" y="153619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4884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Formal proof patch enforced or compensating control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1892808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19182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Misconfigured / shadowed FW rules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918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191820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0" y="1956816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303520" y="196596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91820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Math model finds shadows across multi-vendor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2322576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23479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Router ACL tampering / 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2347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4663440" y="23479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303520" y="2386584"/>
            <a:ext cx="1005840" cy="219456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0" y="239572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PREEMPT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234797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 drift re-verifies hourly vs baseline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2752344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48640" y="277774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C2 to known malicious infra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777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277774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2816352"/>
            <a:ext cx="1005840" cy="219456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303520" y="282549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BOTH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277774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Preemptive blocks known; ACECARD catches unknown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182112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32075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Compromised valid accounts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14800" y="3207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63440" y="3207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303520" y="3246120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03520" y="325526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320751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Policy-allowed traffic; only drift reveals abuse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57200" y="3611880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36372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Living-off-the-Land (T1059)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363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3637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303520" y="3675888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303520" y="368503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92240" y="36372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lotl_execution concept + process signal shift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041648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48640" y="40670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Cross-domain lateral movement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114800" y="406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670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303520" y="4105656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303520" y="4114800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92240" y="40670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Entity fusion joins all identities -&gt; one drift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57200" y="4471416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449681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Slow APT (months/years)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114800" y="449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663440" y="449681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03520" y="4535424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03520" y="45445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92240" y="449681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CUSUM accumulates sub-threshold drift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57200" y="4901184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4926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Zero-day / unknown TTPs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114800" y="4926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663440" y="492658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  <a:r>
              <a:t>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03520" y="4965192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303520" y="4974336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92240" y="49265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Behavioral anomaly even with no MITRE label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457200" y="5330952"/>
            <a:ext cx="11064240" cy="411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535635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B1F3A"/>
                </a:solidFill>
                <a:latin typeface="Calibri"/>
              </a:defRPr>
            </a:pPr>
            <a:r>
              <a:t>Insider threat / data hoarding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114800" y="535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</a:p>
        </p:txBody>
      </p:sp>
      <p:sp>
        <p:nvSpPr>
          <p:cNvPr id="78" name="TextBox 77"/>
          <p:cNvSpPr txBox="1"/>
          <p:nvPr/>
        </p:nvSpPr>
        <p:spPr>
          <a:xfrm>
            <a:off x="4663440" y="535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C0392B"/>
                </a:solidFill>
                <a:latin typeface="Calibri"/>
              </a:defRPr>
            </a:pPr>
          </a:p>
        </p:txBody>
      </p:sp>
      <p:sp>
        <p:nvSpPr>
          <p:cNvPr id="79" name="Rectangle 78"/>
          <p:cNvSpPr/>
          <p:nvPr/>
        </p:nvSpPr>
        <p:spPr>
          <a:xfrm>
            <a:off x="5303520" y="5394960"/>
            <a:ext cx="1005840" cy="21945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303520" y="5404104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492240" y="535635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insider_hoarding (T1074) + cohort z-score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Together: attack surface never existed (Preemptive) OR attack detected and contained within hours (ACECARD + ABAC)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INNOVATION -- NOBODY ELSE HAS THIS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Exists vs. What We Built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Systematic comparison of our innovations against every commercial UEBA and preemptive platform.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73152" cy="4114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05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Formal verification of 2^8000 config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1305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Pentests sample. ASM enumerates. Nobody PROVES.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0" y="1353312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36245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719072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1719072"/>
            <a:ext cx="73152" cy="4114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17444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Zero false positives / zero false negatives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74447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Mathematical guarantee, not probabilistic.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601200" y="1792224"/>
            <a:ext cx="1828800" cy="22860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180136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22CT PREEMPT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157984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2157984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218338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Behavioral embedding in unified 1536-d space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18338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Industry uses features/rules. We use vectors.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01200" y="2231136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0" y="224028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596896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7200" y="2596896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62229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Per-signal drift decomposition (5 individual)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262229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Others embed once. We embed 6x for attribution.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601200" y="2670048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0" y="267919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035808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035808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06120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CUSUM on embedding trajectories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30612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Nobody applies sequential change-point to vectors.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01200" y="3108960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0" y="311810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474720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3474720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3500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Drift direction with MITRE technique mapping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60720" y="35001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"Drifting toward T1021" -- no other UEBA does this.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01200" y="3547872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0" y="3557016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3913632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3913632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39390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Entity fusion across 10+ identity systems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939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Commercial UEBA: 1-3 sources max. We fuse 10+.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601200" y="3986784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0" y="3995928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4352544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57200" y="4352544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377944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HMAC-chained forensic evidence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37794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Tamper-evident behavioral chains. Novel.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601200" y="4425696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601200" y="4434840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4791456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57200" y="4791456"/>
            <a:ext cx="73152" cy="4114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4816856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ABAC trust loop with behavioral triggers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60720" y="4816856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Detection + enforcement in one system. &lt;5 min.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601200" y="4864608"/>
            <a:ext cx="1828800" cy="2286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0" y="4873752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ACECARD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57200" y="5230368"/>
            <a:ext cx="1106424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57200" y="5230368"/>
            <a:ext cx="73152" cy="4114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0080" y="5255768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Containerized K8s-native for Gabriel Nimbus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760720" y="52557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No existing UEBA ships as Iron Bank container.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601200" y="5303520"/>
            <a:ext cx="1828800" cy="228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5312664"/>
            <a:ext cx="18288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Calibri"/>
              </a:defRPr>
            </a:pPr>
            <a:r>
              <a:t>COMBINED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Combined: 10 innovations that do not exist anywhere else in the industry. This is not incremental improvement.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KEY NUMBERS TO MEMORIZE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Key Numbers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" y="11430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161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5+ years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1612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Volt Typhoon dwell 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6002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16184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4+ years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16184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Salt Typhoon dwell time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0116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84632" y="20574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2" y="20756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200+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0756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Telcos compromised by Salt Typhoon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24688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" y="25146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25328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99%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25328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FW breaches = misconfig (Gartner)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9260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84632" y="29718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29900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2^8000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29900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state space (cannot be sampled)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3832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" y="34290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0352" y="3447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50M+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34472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Rule combinations reasoned over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38404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" y="38862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0352" y="39044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39044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positives (mathematical proof)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2976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632" y="43434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0352" y="43616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3616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False negatives (exhaustive reasoning)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7548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84632" y="48006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0352" y="48188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&lt;1 hour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48188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Config drift detection time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10972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45352" y="11430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91072" y="1161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1,536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89520" y="11612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Embedding dims per signal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15544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45352" y="16002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16184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9,216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16184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Total dims (6 x 1536) per entity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20116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45352" y="20574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291072" y="20756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89520" y="20756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Behavioral signals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217920" y="24688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45352" y="25146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91072" y="25328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89520" y="25328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MITRE threat concepts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17920" y="29260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45352" y="29718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291072" y="29900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4-sigma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89520" y="29900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CUSUM alarm threshold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6217920" y="33832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245352" y="34290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291072" y="34472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&lt;3 sec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34472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Event to analysis per entity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217920" y="38404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45352" y="38862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91072" y="39044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10K/hr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589520" y="39044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Entities per 4-vCPU worker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217920" y="42976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245352" y="43434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6291072" y="43616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90 days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589520" y="43616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Contract to first detection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17920" y="4754880"/>
            <a:ext cx="5486400" cy="4114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245352" y="4800600"/>
            <a:ext cx="1188720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291072" y="4818888"/>
            <a:ext cx="10972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Cascadia Code"/>
              </a:defRPr>
            </a:pPr>
            <a:r>
              <a:t>IL5/IL6/JWICS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589520" y="4818888"/>
            <a:ext cx="3931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Three enclave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22ND CENTURY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Why 22CT: Proven at Scale in Federal Cyber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Operating the largest Army SOC/MDR contract with 800+ cleared analysts.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86868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26B1F"/>
                </a:solidFill>
                <a:latin typeface="Calibri"/>
              </a:defRPr>
            </a:pPr>
            <a:r>
              <a:t>$90M Army SOC/MDR Contract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0020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Active Army SOC and Managed Detection &amp; Response. 800+ cleared analysts across multiple installations. 24x7x365 operations. Proven incident response at enterprise scale.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0280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240280"/>
            <a:ext cx="91440" cy="86868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600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891B2"/>
                </a:solidFill>
                <a:latin typeface="Calibri"/>
              </a:defRPr>
            </a:pPr>
            <a:r>
              <a:t>Cleared Workforce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56032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800+ cleared analysts (Secret through TS/SCI). Trained on MITRE ATT&amp;CK, NIST 800-53, DoD RMF. Ready to operate ACECARD from Day 1 -- no hiring ramp.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00400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00400"/>
            <a:ext cx="91440" cy="8686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24612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B1F3A"/>
                </a:solidFill>
                <a:latin typeface="Calibri"/>
              </a:defRPr>
            </a:pPr>
            <a:r>
              <a:t>Gabriel Nimbus Experience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2044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Team members with direct experience operating within classified big data platforms. Understand the deployment constraints, accreditation requirements, and operational workflows.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160520"/>
            <a:ext cx="91440" cy="86868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20624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66B3A"/>
                </a:solidFill>
                <a:latin typeface="Calibri"/>
              </a:defRPr>
            </a:pPr>
            <a:r>
              <a:t>IL5/IL6/JWICS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48056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Existing infrastructure and ATO artifacts for IL5 and IL6 deployments. Air-gapped operation validated. cATO artifacts auto-generated by platform.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120640"/>
            <a:ext cx="11064240" cy="86868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120640"/>
            <a:ext cx="91440" cy="868680"/>
          </a:xfrm>
          <a:prstGeom prst="rect">
            <a:avLst/>
          </a:prstGeom>
          <a:solidFill>
            <a:srgbClr val="6C2E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C2ED9"/>
                </a:solidFill>
                <a:latin typeface="Calibri"/>
              </a:defRPr>
            </a:pPr>
            <a:r>
              <a:t>ACECARD: Built and Tested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406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ACECARD UEBA is not a concept -- it is a working prototype with synthetic Volt/Salt Typhoon replay scenarios, full trajectory analytics, drift direction, entity fusion, and ABAC enforcement.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22CT brings the analysts, the clearances, the infrastructure, and the technology. Ready to deploy.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DEPLOYMENT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90 Days: Contract to First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Phased deployment into Gabriel Nimbus with incremental capability delivery.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11064240" cy="1188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11887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1371600" cy="32004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2984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129844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66B3A"/>
                </a:solidFill>
                <a:latin typeface="Calibri"/>
              </a:defRPr>
            </a:pPr>
            <a:r>
              <a:t>Weeks 1-4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298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FOUNDATION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Deploy K8s containers into Gabriel Nimbus (Iron Bank images)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Connect SIEM/EDR/NetFlow telemetry via ECS/OCSF connectors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Configure entity fusion rules (AD/AAD/Okta mapping)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Baseline 30-day rolling centroid per entity</a:t>
            </a:r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DELIVERABLE: Data flowing, entities resolved, baselines computing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14600"/>
            <a:ext cx="11064240" cy="1188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514600"/>
            <a:ext cx="91440" cy="1188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1371600" cy="32004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3288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53288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891B2"/>
                </a:solidFill>
                <a:latin typeface="Calibri"/>
              </a:defRPr>
            </a:pPr>
            <a:r>
              <a:t>Weeks 5-8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253288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DETECTION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2880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Enable 5-signal embedding pipeline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Activate trajectory analysis (drift, velocity, CUSUM)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Deploy 8 threat concept vectors + drift direction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Configure cohort definitions from AD/LDAP</a:t>
            </a:r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DELIVERABLE: Alerts firing, drift direction operational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49040"/>
            <a:ext cx="11064240" cy="1188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749040"/>
            <a:ext cx="91440" cy="118872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749040"/>
            <a:ext cx="1371600" cy="320040"/>
          </a:xfrm>
          <a:prstGeom prst="rect">
            <a:avLst/>
          </a:prstGeom>
          <a:solidFill>
            <a:srgbClr val="F2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7673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76732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26B1F"/>
                </a:solidFill>
                <a:latin typeface="Calibri"/>
              </a:defRPr>
            </a:pPr>
            <a:r>
              <a:t>Weeks 9-12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0" y="37673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OPERATIONS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14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Integrate with SOC workflows (SOAR webhooks, ServiceNow)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Tune alert thresholds with analyst TP/FP feedback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Enable ABAC trust state machine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Replay Volt + Salt Typhoon scenarios for validation</a:t>
            </a:r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DELIVERABLE: Full operational capability, ABAC enforcing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983480"/>
            <a:ext cx="11064240" cy="1188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983480"/>
            <a:ext cx="9144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4983480"/>
            <a:ext cx="1371600" cy="32004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00176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50017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Week 13+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500176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B1F3A"/>
                </a:solidFill>
                <a:latin typeface="Calibri"/>
              </a:defRPr>
            </a:pPr>
            <a:r>
              <a:t>PREEMPTIVE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349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2D3748"/>
                </a:solidFill>
                <a:latin typeface="Calibri"/>
              </a:defRPr>
            </a:pPr>
            <a:r>
              <a:t>Integrate preemptive config verification layer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Connect NGFW/IPS/SASE configs for formal analysis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Enable trust-floor coupling (preemptive gaps -&gt; ABAC)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Continuous re-verification on config/threat-feed changes</a:t>
            </a:r>
          </a:p>
          <a:p>
            <a:pPr>
              <a:spcBef>
                <a:spcPts val="400"/>
              </a:spcBef>
              <a:defRPr sz="900" b="1">
                <a:solidFill>
                  <a:srgbClr val="0B1F3A"/>
                </a:solidFill>
                <a:latin typeface="Calibri"/>
              </a:defRPr>
            </a:pPr>
            <a:r>
              <a:t>DELIVERABLE: Both layers operational, closed-loop defense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VERDICT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1F3A"/>
                </a:solidFill>
                <a:latin typeface="Georgia"/>
              </a:defRPr>
            </a:pPr>
            <a:r>
              <a:t>What the Combined Solution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A6878"/>
                </a:solidFill>
                <a:latin typeface="Calibri"/>
              </a:defRPr>
            </a:pPr>
            <a:r>
              <a:t>Mapped against the full Volt + Salt Typhoon kill chain and the four limiting factors.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303520" cy="484632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91440" cy="4846320"/>
          </a:xfrm>
          <a:prstGeom prst="rect">
            <a:avLst/>
          </a:prstGeom>
          <a:solidFill>
            <a:srgbClr val="166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25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66B3A"/>
                </a:solidFill>
                <a:latin typeface="Calibri"/>
              </a:defRPr>
            </a:pPr>
            <a:r>
              <a:t>WHAT IT COVERS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459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Every known MITRE TTP for Volt + Salt Typhoon -- preempted at config layer (Problem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Living-off-the-Land tradecraft -- caught as behavioral drift, not tool signatures (Problem 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651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Cross-domain identity fusion -- one trajectory across AD/AAD/AWS/Okta/K8s (Problem 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1546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Containerized K8s-native deployment for Gabriel Nimbus at IL5/IL6/JWICS (Problem 4)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Zero-day &amp; unmapped TTPs -- caught as deviation from baseline even with no MITRE label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16052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Insider threat &amp; valid-account abuse -- cohort z-score + cosine drift surfaces misuse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66344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Long-dwell stealth (Salt Typhoon signature) -- CUSUM 4-sigma on rolling 30-day baseline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166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50" b="0">
                <a:solidFill>
                  <a:srgbClr val="2D3748"/>
                </a:solidFill>
                <a:latin typeface="Calibri"/>
              </a:defRPr>
            </a:pPr>
            <a:r>
              <a:t>Mathematical proof of NIST 800-53 / SP800-207 / D3FEND control coverage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280160"/>
            <a:ext cx="5303520" cy="3474720"/>
          </a:xfrm>
          <a:prstGeom prst="roundRect">
            <a:avLst/>
          </a:prstGeom>
          <a:solidFill>
            <a:srgbClr val="FDEB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80160"/>
            <a:ext cx="91440" cy="34747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325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392B"/>
                </a:solidFill>
                <a:latin typeface="Calibri"/>
              </a:defRPr>
            </a:pPr>
            <a:r>
              <a:t>REMAINING GAPS (BY DESIGN)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69164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Endpoint runtime enforcement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189280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Pair with CrowdStrike / MS Defender / SentinelOne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19456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Email &amp; phishing initial access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39572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Pair with Proofpoint / Defender for O365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69748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OT/ICS-specific protocols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289864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Pair with Dragos / Claroty / Nozomi / TXOne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320040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Physical &amp; supply-chain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340156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Pair with TPRM platforms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703320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C0392B"/>
                </a:solidFill>
                <a:latin typeface="Calibri"/>
              </a:defRPr>
            </a:pPr>
            <a:r>
              <a:t>Human factors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904488"/>
            <a:ext cx="4846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A6878"/>
                </a:solidFill>
                <a:latin typeface="Calibri"/>
              </a:defRPr>
            </a:pPr>
            <a:r>
              <a:t>Awareness training + tabletops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4937760"/>
            <a:ext cx="5303520" cy="1188720"/>
          </a:xfrm>
          <a:prstGeom prst="roundRect">
            <a:avLst/>
          </a:prstGeom>
          <a:solidFill>
            <a:srgbClr val="F7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937760"/>
            <a:ext cx="91440" cy="11887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4983480"/>
            <a:ext cx="4846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B1F3A"/>
                </a:solidFill>
                <a:latin typeface="Calibri"/>
              </a:defRPr>
            </a:pPr>
            <a:r>
              <a:t>RECOMMENDED FULL STACK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5257800"/>
            <a:ext cx="4846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B1F3A"/>
                </a:solidFill>
                <a:latin typeface="Calibri"/>
              </a:defRPr>
            </a:pPr>
            <a:r>
              <a:t>Preemptive + ACECARD UEBA (core)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+ EDR/XDR (endpoint runtime)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+ Email Security (initial access vector)</a:t>
            </a:r>
          </a:p>
          <a:p>
            <a:pPr>
              <a:spcBef>
                <a:spcPts val="400"/>
              </a:spcBef>
              <a:defRPr sz="900" b="0">
                <a:solidFill>
                  <a:srgbClr val="2D3748"/>
                </a:solidFill>
                <a:latin typeface="Calibri"/>
              </a:defRPr>
            </a:pPr>
            <a:r>
              <a:t>+ NDR + SIEM (east-west visibility + log fabric)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8862A"/>
                </a:solidFill>
                <a:latin typeface="Calibri"/>
              </a:defRPr>
            </a:pPr>
            <a:r>
              <a:t>Preemptive + ACECARD UEBA = comprehensive defense against Volt + Salt Typhoon. Containerized for Gabriel Nimbus.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8862A"/>
                </a:solidFill>
                <a:latin typeface="Georgia"/>
              </a:defRPr>
            </a:pPr>
            <a:r>
              <a:t>22nd Century Technologies Inc.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Georgia"/>
              </a:defRPr>
            </a:pPr>
            <a:r>
              <a:t>BUILD YOUR DOME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B0C0"/>
                </a:solidFill>
                <a:latin typeface="Calibri"/>
              </a:defRPr>
            </a:pPr>
            <a:r>
              <a:t>Preemptive closes the door. ACECARD watches the room.</a:t>
            </a:r>
            <a:br/>
            <a:r>
              <a:t>Together: comprehensive defense for Gabriel Nimbus.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B8862A"/>
                </a:solidFill>
                <a:latin typeface="Georgia"/>
              </a:defRPr>
            </a:pPr>
            <a:r>
              <a:t>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4114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2A"/>
                </a:solidFill>
                <a:latin typeface="Georgia"/>
              </a:defRPr>
            </a:pPr>
            <a: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4114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Pilot Preemptive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41148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Formal Policy Analysis on edge defense estate against Volt + Salt Typhoon TTPs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26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2A"/>
                </a:solidFill>
                <a:latin typeface="Georgia"/>
              </a:defRPr>
            </a:pPr>
            <a:r>
              <a:t>2.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4526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Pilot ACECARD 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5262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Replay Volt + Salt Typhoon scenarios on your telemetry; tune thresholds + cohorts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9377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2A"/>
                </a:solidFill>
                <a:latin typeface="Georgia"/>
              </a:defRPr>
            </a:pPr>
            <a: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4937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Preemptive verified findings raise ACECARD trust floor on entities traversing closed gaps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534924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B8862A"/>
                </a:solidFill>
                <a:latin typeface="Georgia"/>
              </a:defRPr>
            </a:pPr>
            <a: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349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Deploy to Gabriel Nimbus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53492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B0C0"/>
                </a:solidFill>
                <a:latin typeface="Calibri"/>
              </a:defRPr>
            </a:pPr>
            <a:r>
              <a:t>Containerized K8s / Iron Bank / IL5-IL6-JWICS / cATO / continuous re-verification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9436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B0C0"/>
                </a:solidFill>
                <a:latin typeface="Calibri"/>
              </a:defRPr>
            </a:pPr>
            <a:r>
              <a:t>Ravindra Shukla, Head of AI  |  ravindra.shukla@gmail.com  |  22nd Century Technologies Inc. (TSCTI)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30936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708090"/>
                </a:solidFill>
                <a:latin typeface="Calibri"/>
              </a:defRPr>
            </a:pPr>
            <a:r>
              <a:t>CFIC Collaboration Event  |  Augusta, GA  |  May 6, 2026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