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cybersecurity lifecycle: preemptive vs. reactive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274320" y="502920"/>
            <a:ext cx="8595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1D9E75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411480" y="5303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1: PREEMPT &amp; PROVE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5303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missing layer — before any traffic flows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749808"/>
            <a:ext cx="685800" cy="685800"/>
          </a:xfrm>
          <a:prstGeom prst="ellipse">
            <a:avLst/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795528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~85%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188720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eliminated*</a:t>
            </a:r>
            <a:endParaRPr lang="en-US" sz="600" dirty="0"/>
          </a:p>
        </p:txBody>
      </p:sp>
      <p:sp>
        <p:nvSpPr>
          <p:cNvPr id="9" name="Shape 7"/>
          <p:cNvSpPr/>
          <p:nvPr/>
        </p:nvSpPr>
        <p:spPr>
          <a:xfrm>
            <a:off x="1280160" y="749808"/>
            <a:ext cx="7406640" cy="713232"/>
          </a:xfrm>
          <a:prstGeom prst="roundRect">
            <a:avLst>
              <a:gd name="adj" fmla="val 7692"/>
            </a:avLst>
          </a:prstGeom>
          <a:solidFill>
            <a:srgbClr val="E1F5EE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768096"/>
            <a:ext cx="7223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Preemptive posture verification — formal mathematical defense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371600" y="960120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Intel: </a:t>
            </a:r>
            <a:pPr indent="0" marL="0">
              <a:buNone/>
            </a:pPr>
            <a:r>
              <a:rPr lang="en-US" sz="75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MITRE ATT&amp;CK attack graphs from threat intel  |  </a:t>
            </a:r>
            <a:pPr indent="0" marL="0">
              <a:buNone/>
            </a:pPr>
            <a:r>
              <a:rPr lang="en-US" sz="75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Intel: </a:t>
            </a:r>
            <a:pPr indent="0" marL="0">
              <a:buNone/>
            </a:pPr>
            <a:r>
              <a:rPr lang="en-US" sz="75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model of all NGFW configs (2⁸⁰⁰⁰ state space)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371600" y="1115568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Remediation Intel: </a:t>
            </a:r>
            <a:pPr indent="0" marL="0">
              <a:buNone/>
            </a:pPr>
            <a:r>
              <a:rPr lang="en-US" sz="75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Guardrailed AI prescribes vendor-specific fixes  |  </a:t>
            </a:r>
            <a:pPr indent="0" marL="0">
              <a:buNone/>
            </a:pPr>
            <a:r>
              <a:rPr lang="en-US" sz="75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Finds: </a:t>
            </a:r>
            <a:pPr indent="0" marL="0">
              <a:buNone/>
            </a:pPr>
            <a:r>
              <a:rPr lang="en-US" sz="75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shadows, conflicts, weak rules, intent errors, multi-device errors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371600" y="1280160"/>
            <a:ext cx="7223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99% of firewall breaches caused by misconfiguration (Gartner) • No agents • Config-only • Zero false positives • Value &lt; 4 wks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572000" y="1554480"/>
            <a:ext cx="0" cy="137160"/>
          </a:xfrm>
          <a:prstGeom prst="line">
            <a:avLst/>
          </a:prstGeom>
          <a:noFill/>
          <a:ln w="12700">
            <a:solidFill>
              <a:srgbClr val="1D9E7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74320" y="1737360"/>
            <a:ext cx="8595360" cy="2880360"/>
          </a:xfrm>
          <a:prstGeom prst="roundRect">
            <a:avLst>
              <a:gd name="adj" fmla="val 2540"/>
            </a:avLst>
          </a:prstGeom>
          <a:solidFill>
            <a:srgbClr val="FAFAFA"/>
          </a:solidFill>
          <a:ln w="12700">
            <a:solidFill>
              <a:srgbClr val="B4B2A9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274320" y="1764792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ENVIRONMENT — all reactive (detect &amp; respond after breach)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11480" y="193852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2: PREVENT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229600" y="1920240"/>
            <a:ext cx="502920" cy="502920"/>
          </a:xfrm>
          <a:prstGeom prst="ellipse">
            <a:avLst/>
          </a:prstGeom>
          <a:solidFill>
            <a:srgbClr val="E6F1FB"/>
          </a:solidFill>
          <a:ln w="12700">
            <a:solidFill>
              <a:srgbClr val="85B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9476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0" y="2240280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411480" y="2121408"/>
            <a:ext cx="2377440" cy="384048"/>
          </a:xfrm>
          <a:prstGeom prst="roundRect">
            <a:avLst>
              <a:gd name="adj" fmla="val 9524"/>
            </a:avLst>
          </a:prstGeom>
          <a:solidFill>
            <a:srgbClr val="E6F1FB"/>
          </a:solidFill>
          <a:ln w="6350">
            <a:solidFill>
              <a:srgbClr val="85B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" y="2139696"/>
            <a:ext cx="22311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NGFW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4632" y="2286000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Palo Alto, Fortinet, Cisco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2926080" y="2121408"/>
            <a:ext cx="2377440" cy="384048"/>
          </a:xfrm>
          <a:prstGeom prst="roundRect">
            <a:avLst>
              <a:gd name="adj" fmla="val 9524"/>
            </a:avLst>
          </a:prstGeom>
          <a:solidFill>
            <a:srgbClr val="E6F1FB"/>
          </a:solidFill>
          <a:ln w="6350">
            <a:solidFill>
              <a:srgbClr val="85B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99232" y="2139696"/>
            <a:ext cx="22311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Vulnerability scanners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999232" y="2286000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Qualys, Tenable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5440680" y="2121408"/>
            <a:ext cx="1188720" cy="384048"/>
          </a:xfrm>
          <a:prstGeom prst="roundRect">
            <a:avLst>
              <a:gd name="adj" fmla="val 9524"/>
            </a:avLst>
          </a:prstGeom>
          <a:solidFill>
            <a:srgbClr val="E6F1FB"/>
          </a:solidFill>
          <a:ln w="6350">
            <a:solidFill>
              <a:srgbClr val="85B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13832" y="2139696"/>
            <a:ext cx="10424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IAM/PAM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513832" y="2286000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CyberArk, Okta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6766560" y="2121408"/>
            <a:ext cx="1325880" cy="384048"/>
          </a:xfrm>
          <a:prstGeom prst="roundRect">
            <a:avLst>
              <a:gd name="adj" fmla="val 9524"/>
            </a:avLst>
          </a:prstGeom>
          <a:solidFill>
            <a:srgbClr val="E6F1FB"/>
          </a:solidFill>
          <a:ln w="6350">
            <a:solidFill>
              <a:srgbClr val="85B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39712" y="2139696"/>
            <a:ext cx="11795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ZTNA / DLP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839712" y="2286000"/>
            <a:ext cx="1179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Zscaler, Symantec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4572000" y="2560320"/>
            <a:ext cx="0" cy="109728"/>
          </a:xfrm>
          <a:prstGeom prst="line">
            <a:avLst/>
          </a:prstGeom>
          <a:noFill/>
          <a:ln w="9525">
            <a:solidFill>
              <a:srgbClr val="B4B2A9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4709160" y="2542032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breakout: avg 29 min ³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411480" y="2697480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3: DETECT &amp; RESPOND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8229600" y="2679192"/>
            <a:ext cx="502920" cy="502920"/>
          </a:xfrm>
          <a:prstGeom prst="ellipse">
            <a:avLst/>
          </a:prstGeom>
          <a:solidFill>
            <a:srgbClr val="FAEEDA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0" y="270662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~4%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229600" y="2999232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54F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600" dirty="0"/>
          </a:p>
        </p:txBody>
      </p:sp>
      <p:sp>
        <p:nvSpPr>
          <p:cNvPr id="39" name="Shape 37"/>
          <p:cNvSpPr/>
          <p:nvPr/>
        </p:nvSpPr>
        <p:spPr>
          <a:xfrm>
            <a:off x="411480" y="2880360"/>
            <a:ext cx="2377440" cy="384048"/>
          </a:xfrm>
          <a:prstGeom prst="roundRect">
            <a:avLst>
              <a:gd name="adj" fmla="val 9524"/>
            </a:avLst>
          </a:prstGeom>
          <a:solidFill>
            <a:srgbClr val="FAEEDA"/>
          </a:solidFill>
          <a:ln w="6350">
            <a:solidFill>
              <a:srgbClr val="EF9F2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" y="2898648"/>
            <a:ext cx="22311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EDR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84632" y="3044952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54F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CrowdStrike, Defender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2926080" y="2880360"/>
            <a:ext cx="2377440" cy="384048"/>
          </a:xfrm>
          <a:prstGeom prst="roundRect">
            <a:avLst>
              <a:gd name="adj" fmla="val 9524"/>
            </a:avLst>
          </a:prstGeom>
          <a:solidFill>
            <a:srgbClr val="FAEEDA"/>
          </a:solidFill>
          <a:ln w="6350">
            <a:solidFill>
              <a:srgbClr val="EF9F2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999232" y="2898648"/>
            <a:ext cx="22311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NDR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999232" y="3044952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54F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Darktrace, ExtraHop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5440680" y="2880360"/>
            <a:ext cx="2651760" cy="384048"/>
          </a:xfrm>
          <a:prstGeom prst="roundRect">
            <a:avLst>
              <a:gd name="adj" fmla="val 9524"/>
            </a:avLst>
          </a:prstGeom>
          <a:solidFill>
            <a:srgbClr val="FAEEDA"/>
          </a:solidFill>
          <a:ln w="6350">
            <a:solidFill>
              <a:srgbClr val="EF9F2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2898648"/>
            <a:ext cx="2505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UEBA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513832" y="3044952"/>
            <a:ext cx="2505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54F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analytics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4572000" y="3310128"/>
            <a:ext cx="0" cy="109728"/>
          </a:xfrm>
          <a:prstGeom prst="line">
            <a:avLst/>
          </a:prstGeom>
          <a:noFill/>
          <a:ln w="9525">
            <a:solidFill>
              <a:srgbClr val="B4B2A9"/>
            </a:solidFill>
            <a:prstDash val="solid"/>
            <a:tailEnd type="triangle"/>
          </a:ln>
        </p:spPr>
      </p:sp>
      <p:sp>
        <p:nvSpPr>
          <p:cNvPr id="49" name="Text 47"/>
          <p:cNvSpPr/>
          <p:nvPr/>
        </p:nvSpPr>
        <p:spPr>
          <a:xfrm>
            <a:off x="411480" y="345643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4: VISIBILITY &amp; TRIAGE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8229600" y="3438144"/>
            <a:ext cx="502920" cy="502920"/>
          </a:xfrm>
          <a:prstGeom prst="ellipse">
            <a:avLst/>
          </a:prstGeom>
          <a:solidFill>
            <a:srgbClr val="FAECE7"/>
          </a:solidFill>
          <a:ln w="12700">
            <a:solidFill>
              <a:srgbClr val="F0997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229600" y="346557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~1%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229600" y="375818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600" dirty="0"/>
          </a:p>
        </p:txBody>
      </p:sp>
      <p:sp>
        <p:nvSpPr>
          <p:cNvPr id="53" name="Shape 51"/>
          <p:cNvSpPr/>
          <p:nvPr/>
        </p:nvSpPr>
        <p:spPr>
          <a:xfrm>
            <a:off x="411480" y="3639312"/>
            <a:ext cx="3794760" cy="384048"/>
          </a:xfrm>
          <a:prstGeom prst="roundRect">
            <a:avLst>
              <a:gd name="adj" fmla="val 9524"/>
            </a:avLst>
          </a:prstGeom>
          <a:solidFill>
            <a:srgbClr val="FAECE7"/>
          </a:solidFill>
          <a:ln w="6350">
            <a:solidFill>
              <a:srgbClr val="F0997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4632" y="3657600"/>
            <a:ext cx="3648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84632" y="3803904"/>
            <a:ext cx="3648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Splunk, Sentinel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4343400" y="3639312"/>
            <a:ext cx="3749040" cy="384048"/>
          </a:xfrm>
          <a:prstGeom prst="roundRect">
            <a:avLst>
              <a:gd name="adj" fmla="val 9524"/>
            </a:avLst>
          </a:prstGeom>
          <a:solidFill>
            <a:srgbClr val="FAECE7"/>
          </a:solidFill>
          <a:ln w="6350">
            <a:solidFill>
              <a:srgbClr val="F0997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416552" y="3657600"/>
            <a:ext cx="3602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SOAR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416552" y="3803904"/>
            <a:ext cx="3602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XSOAR, Splunk SOAR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274320" y="4663440"/>
            <a:ext cx="8595360" cy="384048"/>
          </a:xfrm>
          <a:prstGeom prst="roundRect">
            <a:avLst>
              <a:gd name="adj" fmla="val 9524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11480" y="468172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reactive tool is an alarm after the burglar is inside. We ensure the locks were installed correctly — mathematically guaranteeing the burglar never gets in.  |  * Illustrative model — see appendix for sources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Securing USDA’s farm-to-table supply chain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74320" y="41148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security is national security — a single compromised vendor can cascade into national supply disruption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Today’s reality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1920240" cy="411480"/>
          </a:xfrm>
          <a:prstGeom prst="roundRect">
            <a:avLst>
              <a:gd name="adj" fmla="val 8889"/>
            </a:avLst>
          </a:prstGeom>
          <a:solidFill>
            <a:srgbClr val="FAECE7"/>
          </a:solidFill>
          <a:ln w="6350">
            <a:solidFill>
              <a:srgbClr val="F099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326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Farms &amp; producers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468880" y="914400"/>
            <a:ext cx="1920240" cy="411480"/>
          </a:xfrm>
          <a:prstGeom prst="roundRect">
            <a:avLst>
              <a:gd name="adj" fmla="val 8889"/>
            </a:avLst>
          </a:prstGeom>
          <a:solidFill>
            <a:srgbClr val="FAECE7"/>
          </a:solidFill>
          <a:ln w="6350">
            <a:solidFill>
              <a:srgbClr val="F099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9326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 (OT)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057400" y="960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✖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463040"/>
            <a:ext cx="1920240" cy="411480"/>
          </a:xfrm>
          <a:prstGeom prst="roundRect">
            <a:avLst>
              <a:gd name="adj" fmla="val 8889"/>
            </a:avLst>
          </a:prstGeom>
          <a:solidFill>
            <a:srgbClr val="FAECE7"/>
          </a:solidFill>
          <a:ln w="6350">
            <a:solidFill>
              <a:srgbClr val="F099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4813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Distributors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468880" y="1463040"/>
            <a:ext cx="1920240" cy="411480"/>
          </a:xfrm>
          <a:prstGeom prst="roundRect">
            <a:avLst>
              <a:gd name="adj" fmla="val 8889"/>
            </a:avLst>
          </a:prstGeom>
          <a:solidFill>
            <a:srgbClr val="FAECE7"/>
          </a:solidFill>
          <a:ln w="6350">
            <a:solidFill>
              <a:srgbClr val="F099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14813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vendors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057400" y="1508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✖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1234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✖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91840" y="1234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✖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011680"/>
            <a:ext cx="4114800" cy="365760"/>
          </a:xfrm>
          <a:prstGeom prst="roundRect">
            <a:avLst>
              <a:gd name="adj" fmla="val 10000"/>
            </a:avLst>
          </a:prstGeom>
          <a:solidFill>
            <a:srgbClr val="FFF5F5"/>
          </a:solidFill>
          <a:ln w="6350">
            <a:solidFill>
              <a:srgbClr val="E24B4A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365760" y="202996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USDA 29 agencies (siloed, no unified view)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74320" y="2487168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agents on OT endpoints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Vendor paths never verified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IT/OT boundary unproven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Paper compliance ≠ security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663440" y="65836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preemptive verification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896112"/>
            <a:ext cx="4206240" cy="320040"/>
          </a:xfrm>
          <a:prstGeom prst="roundRect">
            <a:avLst>
              <a:gd name="adj" fmla="val 11429"/>
            </a:avLst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9144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mathematical verification layer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806440" y="1216152"/>
            <a:ext cx="0" cy="109728"/>
          </a:xfrm>
          <a:prstGeom prst="line">
            <a:avLst/>
          </a:prstGeom>
          <a:noFill/>
          <a:ln w="9525">
            <a:solidFill>
              <a:srgbClr val="1D9E75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909560" y="1216152"/>
            <a:ext cx="0" cy="109728"/>
          </a:xfrm>
          <a:prstGeom prst="line">
            <a:avLst/>
          </a:prstGeom>
          <a:noFill/>
          <a:ln w="9525">
            <a:solidFill>
              <a:srgbClr val="1D9E75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663440" y="1353312"/>
            <a:ext cx="1920240" cy="411480"/>
          </a:xfrm>
          <a:prstGeom prst="roundRect">
            <a:avLst>
              <a:gd name="adj" fmla="val 8889"/>
            </a:avLst>
          </a:prstGeom>
          <a:solidFill>
            <a:srgbClr val="E1F5EE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1371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Farms &amp; producers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858000" y="1353312"/>
            <a:ext cx="2011680" cy="411480"/>
          </a:xfrm>
          <a:prstGeom prst="roundRect">
            <a:avLst>
              <a:gd name="adj" fmla="val 8889"/>
            </a:avLst>
          </a:prstGeom>
          <a:solidFill>
            <a:srgbClr val="E1F5EE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0" y="13716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Processing (OT)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583680" y="1563624"/>
            <a:ext cx="274320" cy="0"/>
          </a:xfrm>
          <a:prstGeom prst="line">
            <a:avLst/>
          </a:prstGeom>
          <a:noFill/>
          <a:ln w="9525">
            <a:solidFill>
              <a:srgbClr val="1D9E7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1874520"/>
            <a:ext cx="1920240" cy="411480"/>
          </a:xfrm>
          <a:prstGeom prst="roundRect">
            <a:avLst>
              <a:gd name="adj" fmla="val 8889"/>
            </a:avLst>
          </a:prstGeom>
          <a:solidFill>
            <a:srgbClr val="E1F5EE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18928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Distributors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858000" y="1874520"/>
            <a:ext cx="2011680" cy="411480"/>
          </a:xfrm>
          <a:prstGeom prst="roundRect">
            <a:avLst>
              <a:gd name="adj" fmla="val 8889"/>
            </a:avLst>
          </a:prstGeom>
          <a:solidFill>
            <a:srgbClr val="E1F5EE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0" y="18928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Tech vendors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583680" y="2084832"/>
            <a:ext cx="274320" cy="0"/>
          </a:xfrm>
          <a:prstGeom prst="line">
            <a:avLst/>
          </a:prstGeom>
          <a:noFill/>
          <a:ln w="9525">
            <a:solidFill>
              <a:srgbClr val="1D9E7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23560" y="1764792"/>
            <a:ext cx="0" cy="109728"/>
          </a:xfrm>
          <a:prstGeom prst="line">
            <a:avLst/>
          </a:prstGeom>
          <a:noFill/>
          <a:ln w="9525">
            <a:solidFill>
              <a:srgbClr val="1D9E7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863840" y="1764792"/>
            <a:ext cx="0" cy="109728"/>
          </a:xfrm>
          <a:prstGeom prst="line">
            <a:avLst/>
          </a:prstGeom>
          <a:noFill/>
          <a:ln w="9525">
            <a:solidFill>
              <a:srgbClr val="1D9E7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23560" y="2286000"/>
            <a:ext cx="0" cy="109728"/>
          </a:xfrm>
          <a:prstGeom prst="line">
            <a:avLst/>
          </a:prstGeom>
          <a:noFill/>
          <a:ln w="9525">
            <a:solidFill>
              <a:srgbClr val="1D9E75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7863840" y="2286000"/>
            <a:ext cx="0" cy="109728"/>
          </a:xfrm>
          <a:prstGeom prst="line">
            <a:avLst/>
          </a:prstGeom>
          <a:noFill/>
          <a:ln w="9525">
            <a:solidFill>
              <a:srgbClr val="1D9E75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4663440" y="2423160"/>
            <a:ext cx="4206240" cy="365760"/>
          </a:xfrm>
          <a:prstGeom prst="roundRect">
            <a:avLst>
              <a:gd name="adj" fmla="val 10000"/>
            </a:avLst>
          </a:prstGeom>
          <a:solidFill>
            <a:srgbClr val="E1F5EE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244144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USDA 29 agencies (unified, formally verified)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663440" y="288036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Agentless — config metadata only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Every vendor path proven safe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IT/OT boundary formally verified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Math proof replaces paper compliance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74320" y="3657600"/>
            <a:ext cx="8595360" cy="0"/>
          </a:xfrm>
          <a:prstGeom prst="line">
            <a:avLst/>
          </a:prstGeom>
          <a:noFill/>
          <a:ln w="6350">
            <a:solidFill>
              <a:srgbClr val="D3D1C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3730752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protect the supply chain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3950208"/>
            <a:ext cx="201168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47472" y="4005072"/>
            <a:ext cx="228600" cy="22860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46" name="Text 44"/>
          <p:cNvSpPr/>
          <p:nvPr/>
        </p:nvSpPr>
        <p:spPr>
          <a:xfrm>
            <a:off x="347472" y="40050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40080" y="40050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access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65760" y="427024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Proves vendor portals have zero network paths to core databases. Least privilege by construction.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2404872" y="3950208"/>
            <a:ext cx="201168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478024" y="4005072"/>
            <a:ext cx="228600" cy="22860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51" name="Text 49"/>
          <p:cNvSpPr/>
          <p:nvPr/>
        </p:nvSpPr>
        <p:spPr>
          <a:xfrm>
            <a:off x="2478024" y="40050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770632" y="40050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Cross-agency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496312" y="427024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mathematical model across 29 agencies. Shows inter-agency trust gaps deterministically.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4535424" y="3950208"/>
            <a:ext cx="201168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608576" y="4005072"/>
            <a:ext cx="228600" cy="22860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56" name="Text 54"/>
          <p:cNvSpPr/>
          <p:nvPr/>
        </p:nvSpPr>
        <p:spPr>
          <a:xfrm>
            <a:off x="4608576" y="40050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901184" y="40050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IT/OT security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626864" y="427024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Proves IT ransomware cannot cross boundary to shut down physical processing plants.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6665976" y="3950208"/>
            <a:ext cx="201168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739128" y="4005072"/>
            <a:ext cx="228600" cy="22860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61" name="Text 59"/>
          <p:cNvSpPr/>
          <p:nvPr/>
        </p:nvSpPr>
        <p:spPr>
          <a:xfrm>
            <a:off x="6739128" y="40050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7031736" y="40050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EASM inside-out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757416" y="427024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external attack surface visibility by analyzing configs from the inside. Zero false negatives.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Appendix: The cybersecurity stack explained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74320" y="548640"/>
            <a:ext cx="777240" cy="164592"/>
          </a:xfrm>
          <a:prstGeom prst="rect">
            <a:avLst/>
          </a:prstGeom>
          <a:solidFill>
            <a:srgbClr val="185FA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PERIMETER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143000" y="530352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NGFW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3000" y="676656"/>
            <a:ext cx="2286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Palo Alto, Fortinet, Cisco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566160" y="530352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Gatekeepers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937760" y="53035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or allow traffic based on configured rules. Only as good as their configuration.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74320" y="868680"/>
            <a:ext cx="8595360" cy="0"/>
          </a:xfrm>
          <a:prstGeom prst="line">
            <a:avLst/>
          </a:prstGeom>
          <a:noFill/>
          <a:ln w="3810">
            <a:solidFill>
              <a:srgbClr val="E8E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932688"/>
            <a:ext cx="777240" cy="164592"/>
          </a:xfrm>
          <a:prstGeom prst="rect">
            <a:avLst/>
          </a:prstGeom>
          <a:solidFill>
            <a:srgbClr val="185FA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SCANNING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143000" y="91440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Vulnerability scanners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43000" y="1060704"/>
            <a:ext cx="2286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Qualys, Tenable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566160" y="91440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Inspectors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937760" y="9144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for known CVEs. Cover only the vulnerability-based fraction of attacks.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74320" y="1252728"/>
            <a:ext cx="8595360" cy="0"/>
          </a:xfrm>
          <a:prstGeom prst="line">
            <a:avLst/>
          </a:prstGeom>
          <a:noFill/>
          <a:ln w="3810">
            <a:solidFill>
              <a:srgbClr val="E8E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316736"/>
            <a:ext cx="777240" cy="164592"/>
          </a:xfrm>
          <a:prstGeom prst="rect">
            <a:avLst/>
          </a:prstGeom>
          <a:solidFill>
            <a:srgbClr val="185FA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1143000" y="1298448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IAM / PAM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43000" y="1444752"/>
            <a:ext cx="2286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CyberArk, Okta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566160" y="129844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masters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937760" y="129844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who gets access. Can’t verify network rules protecting those assets are correct.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74320" y="1636776"/>
            <a:ext cx="8595360" cy="0"/>
          </a:xfrm>
          <a:prstGeom prst="line">
            <a:avLst/>
          </a:prstGeom>
          <a:noFill/>
          <a:ln w="3810">
            <a:solidFill>
              <a:srgbClr val="E8E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1700784"/>
            <a:ext cx="777240" cy="164592"/>
          </a:xfrm>
          <a:prstGeom prst="rect">
            <a:avLst/>
          </a:prstGeom>
          <a:solidFill>
            <a:srgbClr val="185FA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143000" y="1682496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ZTNA / CASB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43000" y="1828800"/>
            <a:ext cx="2286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Zscaler, Netskope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566160" y="1682496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bouncers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937760" y="168249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 zero-trust policies. Trust that underlying configs are correct.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74320" y="2020824"/>
            <a:ext cx="8595360" cy="0"/>
          </a:xfrm>
          <a:prstGeom prst="line">
            <a:avLst/>
          </a:prstGeom>
          <a:noFill/>
          <a:ln w="3810">
            <a:solidFill>
              <a:srgbClr val="E8E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2084832"/>
            <a:ext cx="777240" cy="164592"/>
          </a:xfrm>
          <a:prstGeom prst="rect">
            <a:avLst/>
          </a:prstGeom>
          <a:solidFill>
            <a:srgbClr val="185FA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1143000" y="2066544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DLP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43000" y="2212848"/>
            <a:ext cx="2286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Symantec, Forcepoint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566160" y="2066544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guards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937760" y="206654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 data leaving. Only catch predefined patterns after data is moving.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74320" y="2404872"/>
            <a:ext cx="8595360" cy="0"/>
          </a:xfrm>
          <a:prstGeom prst="line">
            <a:avLst/>
          </a:prstGeom>
          <a:noFill/>
          <a:ln w="3810">
            <a:solidFill>
              <a:srgbClr val="E8E8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2468880"/>
            <a:ext cx="777240" cy="164592"/>
          </a:xfrm>
          <a:prstGeom prst="rect">
            <a:avLst/>
          </a:prstGeom>
          <a:solidFill>
            <a:srgbClr val="BA751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1143000" y="2450592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EDR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143000" y="2596896"/>
            <a:ext cx="2286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CrowdStrike, Defender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566160" y="2450592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BA7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Bodyguards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937760" y="245059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and kill malware on endpoints after attacker bypasses perimeter.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74320" y="2788920"/>
            <a:ext cx="8595360" cy="0"/>
          </a:xfrm>
          <a:prstGeom prst="line">
            <a:avLst/>
          </a:prstGeom>
          <a:noFill/>
          <a:ln w="3810">
            <a:solidFill>
              <a:srgbClr val="E8E8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2852928"/>
            <a:ext cx="777240" cy="164592"/>
          </a:xfrm>
          <a:prstGeom prst="rect">
            <a:avLst/>
          </a:prstGeom>
          <a:solidFill>
            <a:srgbClr val="BA751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1143000" y="283464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NDR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143000" y="2980944"/>
            <a:ext cx="2286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Darktrace, ExtraHop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3566160" y="283464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BA7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 tappers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937760" y="28346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east-west traffic for anomalies. Attacker already inside.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74320" y="3172968"/>
            <a:ext cx="8595360" cy="0"/>
          </a:xfrm>
          <a:prstGeom prst="line">
            <a:avLst/>
          </a:prstGeom>
          <a:noFill/>
          <a:ln w="3810">
            <a:solidFill>
              <a:srgbClr val="E8E8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3236976"/>
            <a:ext cx="777240" cy="164592"/>
          </a:xfrm>
          <a:prstGeom prst="rect">
            <a:avLst/>
          </a:prstGeom>
          <a:solidFill>
            <a:srgbClr val="BA751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1143000" y="3218688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UEBA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1143000" y="3364992"/>
            <a:ext cx="2286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Exabeam, Splunk UBA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3566160" y="321868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BA7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Profilers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937760" y="32186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 behavioral deviations. Catches insider threats after anomaly occurs.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74320" y="3557016"/>
            <a:ext cx="8595360" cy="0"/>
          </a:xfrm>
          <a:prstGeom prst="line">
            <a:avLst/>
          </a:prstGeom>
          <a:noFill/>
          <a:ln w="3810">
            <a:solidFill>
              <a:srgbClr val="E8E8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4320" y="3621024"/>
            <a:ext cx="777240" cy="164592"/>
          </a:xfrm>
          <a:prstGeom prst="rect">
            <a:avLst/>
          </a:prstGeom>
          <a:solidFill>
            <a:srgbClr val="993C1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1143000" y="3602736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1143000" y="3749040"/>
            <a:ext cx="2286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Splunk, Sentinel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3566160" y="3602736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cameras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937760" y="360273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 logs, trigger alerts. Reviewing footage of a crime already committed.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274320" y="3941064"/>
            <a:ext cx="8595360" cy="0"/>
          </a:xfrm>
          <a:prstGeom prst="line">
            <a:avLst/>
          </a:prstGeom>
          <a:noFill/>
          <a:ln w="3810">
            <a:solidFill>
              <a:srgbClr val="E8E8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74320" y="4005072"/>
            <a:ext cx="777240" cy="164592"/>
          </a:xfrm>
          <a:prstGeom prst="rect">
            <a:avLst/>
          </a:prstGeom>
          <a:solidFill>
            <a:srgbClr val="993C1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1143000" y="3986784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SOAR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1143000" y="4133088"/>
            <a:ext cx="2286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XSOAR, Splunk SOAR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3566160" y="3986784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Autopilot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4937760" y="398678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response playbooks. Still dependent on reactive alert triggers.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274320" y="4325112"/>
            <a:ext cx="8595360" cy="0"/>
          </a:xfrm>
          <a:prstGeom prst="line">
            <a:avLst/>
          </a:prstGeom>
          <a:noFill/>
          <a:ln w="3810">
            <a:solidFill>
              <a:srgbClr val="E8E8E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74320" y="4389120"/>
            <a:ext cx="8595360" cy="0"/>
          </a:xfrm>
          <a:prstGeom prst="line">
            <a:avLst/>
          </a:prstGeom>
          <a:noFill/>
          <a:ln w="12700">
            <a:solidFill>
              <a:srgbClr val="1D9E7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74320" y="4462272"/>
            <a:ext cx="777240" cy="164592"/>
          </a:xfrm>
          <a:prstGeom prst="rect">
            <a:avLst/>
          </a:prstGeom>
          <a:solidFill>
            <a:srgbClr val="1D9E7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PREEMPTIVE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1143000" y="4443984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platform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1143000" y="4590288"/>
            <a:ext cx="2286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verification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3566160" y="4443984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architect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4937760" y="444398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Mathematically proves configs are correct before traffic flows. Zero false positives.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274320" y="4782312"/>
            <a:ext cx="8595360" cy="0"/>
          </a:xfrm>
          <a:prstGeom prst="line">
            <a:avLst/>
          </a:prstGeom>
          <a:noFill/>
          <a:ln w="3810">
            <a:solidFill>
              <a:srgbClr val="E8E8E8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Appendix: Sources &amp; data verification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74320" y="5486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¹  99% of firewall breaches caused by misconfiguration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7315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Gartner predicted through 2023, 99% of firewall breaches will be caused by misconfigurations, not flaws. Widely cited by Palo Alto, Akamai, FireMon.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95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Gartner, "Technology Insight for Network Security Policy Management," Feb 2019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8595360" cy="0"/>
          </a:xfrm>
          <a:prstGeom prst="line">
            <a:avLst/>
          </a:prstGeom>
          <a:noFill/>
          <a:ln w="3810">
            <a:solidFill>
              <a:srgbClr val="E8E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8872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²  Vulnerability scanners address only the vulnerability-based fraction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37160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CISA KEV catalog: ~1,200 entries vs 277K+ total CVEs. Many attacks (credential theft, misconfiguration, social engineering) are not CVE-based.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74320" y="1600200"/>
            <a:ext cx="8595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CISA KEV Catalog; Gartner (Sept 2025, 277K CVEs)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74320" y="1783080"/>
            <a:ext cx="8595360" cy="0"/>
          </a:xfrm>
          <a:prstGeom prst="line">
            <a:avLst/>
          </a:prstGeom>
          <a:noFill/>
          <a:ln w="3810">
            <a:solidFill>
              <a:srgbClr val="E8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82880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³  Average breakout time: 29 minutes (fastest: 27 seconds)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" y="201168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eCrime breakout fell to 29 min in 2025, from 48 min (2024), 62 min (2023). Fastest: 27 sec. Exfiltration observed within 4 min of access.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74320" y="2240280"/>
            <a:ext cx="8595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CrowdStrike 2026 Global Threat Report, Feb 2026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74320" y="2423160"/>
            <a:ext cx="8595360" cy="0"/>
          </a:xfrm>
          <a:prstGeom prst="line">
            <a:avLst/>
          </a:prstGeom>
          <a:noFill/>
          <a:ln w="3810">
            <a:solidFill>
              <a:srgbClr val="E8E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46888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⁴  50% of IT security spending on preemptive by 2030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4320" y="265176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Gartner projects preemptive cybersecurity will account for 50% of IT security spending by 2030, up from &lt;5% in 2024.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74320" y="2880360"/>
            <a:ext cx="8595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Gartner Press Release, September 18, 2025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274320" y="3063240"/>
            <a:ext cx="8595360" cy="0"/>
          </a:xfrm>
          <a:prstGeom prst="line">
            <a:avLst/>
          </a:prstGeom>
          <a:noFill/>
          <a:ln w="3810">
            <a:solidFill>
              <a:srgbClr val="E8E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10896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⁵  60%+ of security incidents traced to misconfigured controls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" y="329184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Gartner: through 2029, 60%+ of incidents from misconfigured controls. Verizon 2024 DBIR: 68% of breaches involved non-malicious human element.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74320" y="3520440"/>
            <a:ext cx="8595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Gartner ASCA Report, Aug 2024; Verizon 2024 DBIR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274320" y="3703320"/>
            <a:ext cx="8595360" cy="0"/>
          </a:xfrm>
          <a:prstGeom prst="line">
            <a:avLst/>
          </a:prstGeom>
          <a:noFill/>
          <a:ln w="3810">
            <a:solidFill>
              <a:srgbClr val="E8E8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749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⁶  Additional data points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4320" y="39319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$10.5T cybercrime cost (Cybersecurity Ventures) | 202% attack surge (SlashNext) | 1M+ CVEs by 2030 (Gartner) | 82% malware-free intrusions (CrowdStrike)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74320" y="4160520"/>
            <a:ext cx="8595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sources as cited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74320" y="4343400"/>
            <a:ext cx="8595360" cy="0"/>
          </a:xfrm>
          <a:prstGeom prst="line">
            <a:avLst/>
          </a:prstGeom>
          <a:noFill/>
          <a:ln w="3810">
            <a:solidFill>
              <a:srgbClr val="E8E8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4434840"/>
            <a:ext cx="8595360" cy="548640"/>
          </a:xfrm>
          <a:prstGeom prst="roundRect">
            <a:avLst>
              <a:gd name="adj" fmla="val 10000"/>
            </a:avLst>
          </a:prstGeom>
          <a:solidFill>
            <a:srgbClr val="F9F9F6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462272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on ~85/10/4/1% distribution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1148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model derived from: Gartner 99% misconfiguration (Stage 1 dominance), limited CVE coverage of vuln scanners (Stage 2), reactive nature of EDR/SIEM (Stages 3–4). Directionally grounded in published research; exact ratios are illustrative.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22CT Cybersecurity Solutions</dc:title>
  <dc:subject>PptxGenJS Presentation</dc:subject>
  <dc:creator>PptxGenJS</dc:creator>
  <cp:lastModifiedBy>PptxGenJS</cp:lastModifiedBy>
  <cp:revision>1</cp:revision>
  <dcterms:created xsi:type="dcterms:W3CDTF">2026-04-17T16:06:25Z</dcterms:created>
  <dcterms:modified xsi:type="dcterms:W3CDTF">2026-04-17T16:06:25Z</dcterms:modified>
</cp:coreProperties>
</file>