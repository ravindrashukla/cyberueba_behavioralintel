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23_0.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modernComment_12B_0.xml" ContentType="application/vnd.ms-powerpoint.comments+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omments/modernComment_12A_0.xml" ContentType="application/vnd.ms-powerpoint.comments+xml"/>
  <Override PartName="/ppt/notesSlides/notesSlide13.xml" ContentType="application/vnd.openxmlformats-officedocument.presentationml.notesSlide+xml"/>
  <Override PartName="/ppt/comments/modernComment_138_0.xml" ContentType="application/vnd.ms-powerpoint.comments+xml"/>
  <Override PartName="/ppt/notesSlides/notesSlide14.xml" ContentType="application/vnd.openxmlformats-officedocument.presentationml.notesSlide+xml"/>
  <Override PartName="/ppt/comments/modernComment_134_0.xml" ContentType="application/vnd.ms-powerpoint.comments+xml"/>
  <Override PartName="/ppt/notesSlides/notesSlide15.xml" ContentType="application/vnd.openxmlformats-officedocument.presentationml.notesSlide+xml"/>
  <Override PartName="/ppt/comments/modernComment_136_0.xml" ContentType="application/vnd.ms-powerpoint.comment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7"/>
  </p:notesMasterIdLst>
  <p:sldIdLst>
    <p:sldId id="290" r:id="rId3"/>
    <p:sldId id="291" r:id="rId4"/>
    <p:sldId id="339" r:id="rId5"/>
    <p:sldId id="259" r:id="rId6"/>
    <p:sldId id="284" r:id="rId7"/>
    <p:sldId id="262" r:id="rId8"/>
    <p:sldId id="256" r:id="rId9"/>
    <p:sldId id="299" r:id="rId10"/>
    <p:sldId id="316" r:id="rId11"/>
    <p:sldId id="317" r:id="rId12"/>
    <p:sldId id="321" r:id="rId13"/>
    <p:sldId id="320" r:id="rId14"/>
    <p:sldId id="340" r:id="rId15"/>
    <p:sldId id="337" r:id="rId16"/>
    <p:sldId id="336" r:id="rId17"/>
    <p:sldId id="341" r:id="rId18"/>
    <p:sldId id="270" r:id="rId19"/>
    <p:sldId id="271" r:id="rId20"/>
    <p:sldId id="298" r:id="rId21"/>
    <p:sldId id="312" r:id="rId22"/>
    <p:sldId id="308" r:id="rId23"/>
    <p:sldId id="310" r:id="rId24"/>
    <p:sldId id="313" r:id="rId25"/>
    <p:sldId id="311" r:id="rId26"/>
    <p:sldId id="323" r:id="rId27"/>
    <p:sldId id="324" r:id="rId28"/>
    <p:sldId id="297" r:id="rId29"/>
    <p:sldId id="274" r:id="rId30"/>
    <p:sldId id="261" r:id="rId31"/>
    <p:sldId id="288" r:id="rId32"/>
    <p:sldId id="295" r:id="rId33"/>
    <p:sldId id="306" r:id="rId34"/>
    <p:sldId id="307" r:id="rId35"/>
    <p:sldId id="322"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B395A75-6499-D706-4976-FD5CCB4FB383}" name="Taimur Ahya" initials="TA" userId="S::taimur.ahya@tscti.com::d5766de9-6e5c-4995-b479-61774c6fc86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7BB06A9-A2AB-4971-B8AF-BA0A0E8BDFAF}" v="14" dt="2026-06-15T18:09:25.450"/>
    <p1510:client id="{B81544FB-6EE1-4F1A-895A-387362AE13B3}" v="1" dt="2026-06-15T16:47:26.3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03" autoAdjust="0"/>
    <p:restoredTop sz="94658"/>
  </p:normalViewPr>
  <p:slideViewPr>
    <p:cSldViewPr snapToGrid="0">
      <p:cViewPr varScale="1">
        <p:scale>
          <a:sx n="103" d="100"/>
          <a:sy n="103" d="100"/>
        </p:scale>
        <p:origin x="8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21" Type="http://schemas.openxmlformats.org/officeDocument/2006/relationships/slide" Target="slides/slide19.xml"/><Relationship Id="rId34" Type="http://schemas.openxmlformats.org/officeDocument/2006/relationships/slide" Target="slides/slide32.xml"/><Relationship Id="rId42" Type="http://schemas.microsoft.com/office/2015/10/relationships/revisionInfo" Target="revisionInfo.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microsoft.com/office/2018/10/relationships/authors" Target="author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lineChart>
        <c:grouping val="standard"/>
        <c:varyColors val="0"/>
        <c:ser>
          <c:idx val="0"/>
          <c:order val="0"/>
          <c:tx>
            <c:strRef>
              <c:f>Sheet1!$B$1</c:f>
              <c:strCache>
                <c:ptCount val="1"/>
                <c:pt idx="0">
                  <c:v>P90 (planning)</c:v>
                </c:pt>
              </c:strCache>
            </c:strRef>
          </c:tx>
          <c:spPr>
            <a:ln w="28575">
              <a:solidFill>
                <a:srgbClr val="E39B9E"/>
              </a:solidFill>
            </a:ln>
          </c:spPr>
          <c:cat>
            <c:strRef>
              <c:f>Sheet1!$A$2:$A$9</c:f>
              <c:strCache>
                <c:ptCount val="8"/>
                <c:pt idx="0">
                  <c:v>Wk1</c:v>
                </c:pt>
                <c:pt idx="1">
                  <c:v>Wk2</c:v>
                </c:pt>
                <c:pt idx="2">
                  <c:v>Wk3</c:v>
                </c:pt>
                <c:pt idx="3">
                  <c:v>Wk4</c:v>
                </c:pt>
                <c:pt idx="4">
                  <c:v>Wk5</c:v>
                </c:pt>
                <c:pt idx="5">
                  <c:v>Wk6</c:v>
                </c:pt>
                <c:pt idx="6">
                  <c:v>Wk7</c:v>
                </c:pt>
                <c:pt idx="7">
                  <c:v>Wk8</c:v>
                </c:pt>
              </c:strCache>
            </c:strRef>
          </c:cat>
          <c:val>
            <c:numRef>
              <c:f>Sheet1!$B$2:$B$9</c:f>
              <c:numCache>
                <c:formatCode>General</c:formatCode>
                <c:ptCount val="8"/>
                <c:pt idx="0">
                  <c:v>115</c:v>
                </c:pt>
                <c:pt idx="1">
                  <c:v>175</c:v>
                </c:pt>
                <c:pt idx="2">
                  <c:v>245</c:v>
                </c:pt>
                <c:pt idx="3">
                  <c:v>305</c:v>
                </c:pt>
                <c:pt idx="4">
                  <c:v>365</c:v>
                </c:pt>
                <c:pt idx="5">
                  <c:v>430</c:v>
                </c:pt>
                <c:pt idx="6">
                  <c:v>485</c:v>
                </c:pt>
                <c:pt idx="7">
                  <c:v>540</c:v>
                </c:pt>
              </c:numCache>
            </c:numRef>
          </c:val>
          <c:smooth val="0"/>
          <c:extLst>
            <c:ext xmlns:c16="http://schemas.microsoft.com/office/drawing/2014/chart" uri="{C3380CC4-5D6E-409C-BE32-E72D297353CC}">
              <c16:uniqueId val="{00000000-9FDB-4AEE-A268-8F7CB7D9F7CF}"/>
            </c:ext>
          </c:extLst>
        </c:ser>
        <c:ser>
          <c:idx val="1"/>
          <c:order val="1"/>
          <c:tx>
            <c:strRef>
              <c:f>Sheet1!$C$1</c:f>
              <c:strCache>
                <c:ptCount val="1"/>
                <c:pt idx="0">
                  <c:v>P50 (median)</c:v>
                </c:pt>
              </c:strCache>
            </c:strRef>
          </c:tx>
          <c:spPr>
            <a:ln w="28575">
              <a:solidFill>
                <a:srgbClr val="B4262C"/>
              </a:solidFill>
            </a:ln>
          </c:spPr>
          <c:cat>
            <c:strRef>
              <c:f>Sheet1!$A$2:$A$9</c:f>
              <c:strCache>
                <c:ptCount val="8"/>
                <c:pt idx="0">
                  <c:v>Wk1</c:v>
                </c:pt>
                <c:pt idx="1">
                  <c:v>Wk2</c:v>
                </c:pt>
                <c:pt idx="2">
                  <c:v>Wk3</c:v>
                </c:pt>
                <c:pt idx="3">
                  <c:v>Wk4</c:v>
                </c:pt>
                <c:pt idx="4">
                  <c:v>Wk5</c:v>
                </c:pt>
                <c:pt idx="5">
                  <c:v>Wk6</c:v>
                </c:pt>
                <c:pt idx="6">
                  <c:v>Wk7</c:v>
                </c:pt>
                <c:pt idx="7">
                  <c:v>Wk8</c:v>
                </c:pt>
              </c:strCache>
            </c:strRef>
          </c:cat>
          <c:val>
            <c:numRef>
              <c:f>Sheet1!$C$2:$C$9</c:f>
              <c:numCache>
                <c:formatCode>General</c:formatCode>
                <c:ptCount val="8"/>
                <c:pt idx="0">
                  <c:v>40</c:v>
                </c:pt>
                <c:pt idx="1">
                  <c:v>78</c:v>
                </c:pt>
                <c:pt idx="2">
                  <c:v>132</c:v>
                </c:pt>
                <c:pt idx="3">
                  <c:v>172</c:v>
                </c:pt>
                <c:pt idx="4">
                  <c:v>213</c:v>
                </c:pt>
                <c:pt idx="5">
                  <c:v>261</c:v>
                </c:pt>
                <c:pt idx="6">
                  <c:v>308</c:v>
                </c:pt>
                <c:pt idx="7">
                  <c:v>356</c:v>
                </c:pt>
              </c:numCache>
            </c:numRef>
          </c:val>
          <c:smooth val="0"/>
          <c:extLst>
            <c:ext xmlns:c16="http://schemas.microsoft.com/office/drawing/2014/chart" uri="{C3380CC4-5D6E-409C-BE32-E72D297353CC}">
              <c16:uniqueId val="{00000001-9FDB-4AEE-A268-8F7CB7D9F7CF}"/>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min val="0"/>
        </c:scaling>
        <c:delete val="0"/>
        <c:axPos val="l"/>
        <c:majorGridlines/>
        <c:numFmt formatCode="General" sourceLinked="1"/>
        <c:majorTickMark val="out"/>
        <c:minorTickMark val="none"/>
        <c:tickLblPos val="nextTo"/>
        <c:crossAx val="2118791784"/>
        <c:crosses val="autoZero"/>
        <c:crossBetween val="between"/>
      </c:valAx>
    </c:plotArea>
    <c:legend>
      <c:legendPos val="b"/>
      <c:overlay val="0"/>
    </c:legend>
    <c:plotVisOnly val="1"/>
    <c:dispBlanksAs val="gap"/>
    <c:showDLblsOverMax val="0"/>
  </c:chart>
  <c:txPr>
    <a:bodyPr/>
    <a:lstStyle/>
    <a:p>
      <a:pPr>
        <a:defRPr sz="9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lineChart>
        <c:grouping val="standard"/>
        <c:varyColors val="0"/>
        <c:ser>
          <c:idx val="0"/>
          <c:order val="0"/>
          <c:tx>
            <c:strRef>
              <c:f>Sheet1!$B$1</c:f>
              <c:strCache>
                <c:ptCount val="1"/>
                <c:pt idx="0">
                  <c:v>P90 (planning)</c:v>
                </c:pt>
              </c:strCache>
            </c:strRef>
          </c:tx>
          <c:spPr>
            <a:ln w="28575">
              <a:solidFill>
                <a:srgbClr val="8FC9C9"/>
              </a:solidFill>
            </a:ln>
          </c:spPr>
          <c:cat>
            <c:strRef>
              <c:f>Sheet1!$A$2:$A$9</c:f>
              <c:strCache>
                <c:ptCount val="8"/>
                <c:pt idx="0">
                  <c:v>Wk1</c:v>
                </c:pt>
                <c:pt idx="1">
                  <c:v>Wk2</c:v>
                </c:pt>
                <c:pt idx="2">
                  <c:v>Wk3</c:v>
                </c:pt>
                <c:pt idx="3">
                  <c:v>Wk4</c:v>
                </c:pt>
                <c:pt idx="4">
                  <c:v>Wk5</c:v>
                </c:pt>
                <c:pt idx="5">
                  <c:v>Wk6</c:v>
                </c:pt>
                <c:pt idx="6">
                  <c:v>Wk7</c:v>
                </c:pt>
                <c:pt idx="7">
                  <c:v>Wk8</c:v>
                </c:pt>
              </c:strCache>
            </c:strRef>
          </c:cat>
          <c:val>
            <c:numRef>
              <c:f>Sheet1!$B$2:$B$9</c:f>
              <c:numCache>
                <c:formatCode>General</c:formatCode>
                <c:ptCount val="8"/>
                <c:pt idx="0">
                  <c:v>50</c:v>
                </c:pt>
                <c:pt idx="1">
                  <c:v>78</c:v>
                </c:pt>
                <c:pt idx="2">
                  <c:v>105</c:v>
                </c:pt>
                <c:pt idx="3">
                  <c:v>130</c:v>
                </c:pt>
                <c:pt idx="4">
                  <c:v>155</c:v>
                </c:pt>
                <c:pt idx="5">
                  <c:v>180</c:v>
                </c:pt>
                <c:pt idx="6">
                  <c:v>205</c:v>
                </c:pt>
                <c:pt idx="7">
                  <c:v>228</c:v>
                </c:pt>
              </c:numCache>
            </c:numRef>
          </c:val>
          <c:smooth val="0"/>
          <c:extLst>
            <c:ext xmlns:c16="http://schemas.microsoft.com/office/drawing/2014/chart" uri="{C3380CC4-5D6E-409C-BE32-E72D297353CC}">
              <c16:uniqueId val="{00000000-87D2-40A3-8D50-5B7DF35B6745}"/>
            </c:ext>
          </c:extLst>
        </c:ser>
        <c:ser>
          <c:idx val="1"/>
          <c:order val="1"/>
          <c:tx>
            <c:strRef>
              <c:f>Sheet1!$C$1</c:f>
              <c:strCache>
                <c:ptCount val="1"/>
                <c:pt idx="0">
                  <c:v>P50 (median)</c:v>
                </c:pt>
              </c:strCache>
            </c:strRef>
          </c:tx>
          <c:spPr>
            <a:ln w="28575">
              <a:solidFill>
                <a:srgbClr val="118484"/>
              </a:solidFill>
            </a:ln>
          </c:spPr>
          <c:cat>
            <c:strRef>
              <c:f>Sheet1!$A$2:$A$9</c:f>
              <c:strCache>
                <c:ptCount val="8"/>
                <c:pt idx="0">
                  <c:v>Wk1</c:v>
                </c:pt>
                <c:pt idx="1">
                  <c:v>Wk2</c:v>
                </c:pt>
                <c:pt idx="2">
                  <c:v>Wk3</c:v>
                </c:pt>
                <c:pt idx="3">
                  <c:v>Wk4</c:v>
                </c:pt>
                <c:pt idx="4">
                  <c:v>Wk5</c:v>
                </c:pt>
                <c:pt idx="5">
                  <c:v>Wk6</c:v>
                </c:pt>
                <c:pt idx="6">
                  <c:v>Wk7</c:v>
                </c:pt>
                <c:pt idx="7">
                  <c:v>Wk8</c:v>
                </c:pt>
              </c:strCache>
            </c:strRef>
          </c:cat>
          <c:val>
            <c:numRef>
              <c:f>Sheet1!$C$2:$C$9</c:f>
              <c:numCache>
                <c:formatCode>General</c:formatCode>
                <c:ptCount val="8"/>
                <c:pt idx="0">
                  <c:v>8</c:v>
                </c:pt>
                <c:pt idx="1">
                  <c:v>31</c:v>
                </c:pt>
                <c:pt idx="2">
                  <c:v>50</c:v>
                </c:pt>
                <c:pt idx="3">
                  <c:v>70</c:v>
                </c:pt>
                <c:pt idx="4">
                  <c:v>88</c:v>
                </c:pt>
                <c:pt idx="5">
                  <c:v>105</c:v>
                </c:pt>
                <c:pt idx="6">
                  <c:v>124</c:v>
                </c:pt>
                <c:pt idx="7">
                  <c:v>143</c:v>
                </c:pt>
              </c:numCache>
            </c:numRef>
          </c:val>
          <c:smooth val="0"/>
          <c:extLst>
            <c:ext xmlns:c16="http://schemas.microsoft.com/office/drawing/2014/chart" uri="{C3380CC4-5D6E-409C-BE32-E72D297353CC}">
              <c16:uniqueId val="{00000001-87D2-40A3-8D50-5B7DF35B6745}"/>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min val="0"/>
        </c:scaling>
        <c:delete val="0"/>
        <c:axPos val="l"/>
        <c:majorGridlines/>
        <c:numFmt formatCode="General" sourceLinked="1"/>
        <c:majorTickMark val="out"/>
        <c:minorTickMark val="none"/>
        <c:tickLblPos val="nextTo"/>
        <c:crossAx val="2118791784"/>
        <c:crosses val="autoZero"/>
        <c:crossBetween val="between"/>
      </c:valAx>
    </c:plotArea>
    <c:legend>
      <c:legendPos val="b"/>
      <c:overlay val="0"/>
    </c:legend>
    <c:plotVisOnly val="1"/>
    <c:dispBlanksAs val="gap"/>
    <c:showDLblsOverMax val="0"/>
  </c:chart>
  <c:txPr>
    <a:bodyPr/>
    <a:lstStyle/>
    <a:p>
      <a:pPr>
        <a:defRPr sz="9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lineChart>
        <c:grouping val="standard"/>
        <c:varyColors val="0"/>
        <c:ser>
          <c:idx val="0"/>
          <c:order val="0"/>
          <c:tx>
            <c:strRef>
              <c:f>Sheet1!$B$1</c:f>
              <c:strCache>
                <c:ptCount val="1"/>
                <c:pt idx="0">
                  <c:v>Actual</c:v>
                </c:pt>
              </c:strCache>
            </c:strRef>
          </c:tx>
          <c:spPr>
            <a:ln w="38100">
              <a:solidFill>
                <a:srgbClr val="102A4C"/>
              </a:solidFill>
            </a:ln>
          </c:spPr>
          <c:cat>
            <c:strRef>
              <c:f>Sheet1!$A$2:$A$9</c:f>
              <c:strCache>
                <c:ptCount val="8"/>
                <c:pt idx="0">
                  <c:v>Wk1</c:v>
                </c:pt>
                <c:pt idx="1">
                  <c:v>Wk2</c:v>
                </c:pt>
                <c:pt idx="2">
                  <c:v>Wk3</c:v>
                </c:pt>
                <c:pt idx="3">
                  <c:v>Wk4</c:v>
                </c:pt>
                <c:pt idx="4">
                  <c:v>Wk5</c:v>
                </c:pt>
                <c:pt idx="5">
                  <c:v>Wk6</c:v>
                </c:pt>
                <c:pt idx="6">
                  <c:v>Wk7</c:v>
                </c:pt>
                <c:pt idx="7">
                  <c:v>Wk8</c:v>
                </c:pt>
              </c:strCache>
            </c:strRef>
          </c:cat>
          <c:val>
            <c:numRef>
              <c:f>Sheet1!$B$2:$B$9</c:f>
              <c:numCache>
                <c:formatCode>General</c:formatCode>
                <c:ptCount val="8"/>
                <c:pt idx="0">
                  <c:v>237</c:v>
                </c:pt>
                <c:pt idx="1">
                  <c:v>532</c:v>
                </c:pt>
                <c:pt idx="2">
                  <c:v>720</c:v>
                </c:pt>
                <c:pt idx="3">
                  <c:v>942</c:v>
                </c:pt>
                <c:pt idx="4">
                  <c:v>1101</c:v>
                </c:pt>
                <c:pt idx="5">
                  <c:v>1198</c:v>
                </c:pt>
                <c:pt idx="6">
                  <c:v>1382</c:v>
                </c:pt>
                <c:pt idx="7">
                  <c:v>2160</c:v>
                </c:pt>
              </c:numCache>
            </c:numRef>
          </c:val>
          <c:smooth val="0"/>
          <c:extLst>
            <c:ext xmlns:c16="http://schemas.microsoft.com/office/drawing/2014/chart" uri="{C3380CC4-5D6E-409C-BE32-E72D297353CC}">
              <c16:uniqueId val="{00000000-5909-4E7E-88D4-74965CA1CE1D}"/>
            </c:ext>
          </c:extLst>
        </c:ser>
        <c:ser>
          <c:idx val="1"/>
          <c:order val="1"/>
          <c:tx>
            <c:strRef>
              <c:f>Sheet1!$C$1</c:f>
              <c:strCache>
                <c:ptCount val="1"/>
                <c:pt idx="0">
                  <c:v>Legacy</c:v>
                </c:pt>
              </c:strCache>
            </c:strRef>
          </c:tx>
          <c:spPr>
            <a:ln w="25400">
              <a:solidFill>
                <a:srgbClr val="B4262C"/>
              </a:solidFill>
            </a:ln>
          </c:spPr>
          <c:cat>
            <c:strRef>
              <c:f>Sheet1!$A$2:$A$9</c:f>
              <c:strCache>
                <c:ptCount val="8"/>
                <c:pt idx="0">
                  <c:v>Wk1</c:v>
                </c:pt>
                <c:pt idx="1">
                  <c:v>Wk2</c:v>
                </c:pt>
                <c:pt idx="2">
                  <c:v>Wk3</c:v>
                </c:pt>
                <c:pt idx="3">
                  <c:v>Wk4</c:v>
                </c:pt>
                <c:pt idx="4">
                  <c:v>Wk5</c:v>
                </c:pt>
                <c:pt idx="5">
                  <c:v>Wk6</c:v>
                </c:pt>
                <c:pt idx="6">
                  <c:v>Wk7</c:v>
                </c:pt>
                <c:pt idx="7">
                  <c:v>Wk8</c:v>
                </c:pt>
              </c:strCache>
            </c:strRef>
          </c:cat>
          <c:val>
            <c:numRef>
              <c:f>Sheet1!$C$2:$C$9</c:f>
              <c:numCache>
                <c:formatCode>General</c:formatCode>
                <c:ptCount val="8"/>
                <c:pt idx="0">
                  <c:v>349</c:v>
                </c:pt>
                <c:pt idx="1">
                  <c:v>699</c:v>
                </c:pt>
                <c:pt idx="2">
                  <c:v>1049</c:v>
                </c:pt>
                <c:pt idx="3">
                  <c:v>1399</c:v>
                </c:pt>
                <c:pt idx="4">
                  <c:v>1748</c:v>
                </c:pt>
                <c:pt idx="5">
                  <c:v>2098</c:v>
                </c:pt>
                <c:pt idx="6">
                  <c:v>2448</c:v>
                </c:pt>
                <c:pt idx="7">
                  <c:v>2798</c:v>
                </c:pt>
              </c:numCache>
            </c:numRef>
          </c:val>
          <c:smooth val="0"/>
          <c:extLst>
            <c:ext xmlns:c16="http://schemas.microsoft.com/office/drawing/2014/chart" uri="{C3380CC4-5D6E-409C-BE32-E72D297353CC}">
              <c16:uniqueId val="{00000001-5909-4E7E-88D4-74965CA1CE1D}"/>
            </c:ext>
          </c:extLst>
        </c:ser>
        <c:ser>
          <c:idx val="2"/>
          <c:order val="2"/>
          <c:tx>
            <c:strRef>
              <c:f>Sheet1!$D$1</c:f>
              <c:strCache>
                <c:ptCount val="1"/>
                <c:pt idx="0">
                  <c:v>EDM</c:v>
                </c:pt>
              </c:strCache>
            </c:strRef>
          </c:tx>
          <c:spPr>
            <a:ln w="31750">
              <a:solidFill>
                <a:srgbClr val="1A724E"/>
              </a:solidFill>
            </a:ln>
          </c:spPr>
          <c:cat>
            <c:strRef>
              <c:f>Sheet1!$A$2:$A$9</c:f>
              <c:strCache>
                <c:ptCount val="8"/>
                <c:pt idx="0">
                  <c:v>Wk1</c:v>
                </c:pt>
                <c:pt idx="1">
                  <c:v>Wk2</c:v>
                </c:pt>
                <c:pt idx="2">
                  <c:v>Wk3</c:v>
                </c:pt>
                <c:pt idx="3">
                  <c:v>Wk4</c:v>
                </c:pt>
                <c:pt idx="4">
                  <c:v>Wk5</c:v>
                </c:pt>
                <c:pt idx="5">
                  <c:v>Wk6</c:v>
                </c:pt>
                <c:pt idx="6">
                  <c:v>Wk7</c:v>
                </c:pt>
                <c:pt idx="7">
                  <c:v>Wk8</c:v>
                </c:pt>
              </c:strCache>
            </c:strRef>
          </c:cat>
          <c:val>
            <c:numRef>
              <c:f>Sheet1!$D$2:$D$9</c:f>
              <c:numCache>
                <c:formatCode>General</c:formatCode>
                <c:ptCount val="8"/>
                <c:pt idx="0">
                  <c:v>207</c:v>
                </c:pt>
                <c:pt idx="1">
                  <c:v>415</c:v>
                </c:pt>
                <c:pt idx="2">
                  <c:v>623</c:v>
                </c:pt>
                <c:pt idx="3">
                  <c:v>831</c:v>
                </c:pt>
                <c:pt idx="4">
                  <c:v>1039</c:v>
                </c:pt>
                <c:pt idx="5">
                  <c:v>1247</c:v>
                </c:pt>
                <c:pt idx="6">
                  <c:v>1455</c:v>
                </c:pt>
                <c:pt idx="7">
                  <c:v>1663</c:v>
                </c:pt>
              </c:numCache>
            </c:numRef>
          </c:val>
          <c:smooth val="0"/>
          <c:extLst>
            <c:ext xmlns:c16="http://schemas.microsoft.com/office/drawing/2014/chart" uri="{C3380CC4-5D6E-409C-BE32-E72D297353CC}">
              <c16:uniqueId val="{00000002-5909-4E7E-88D4-74965CA1CE1D}"/>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min val="0"/>
        </c:scaling>
        <c:delete val="0"/>
        <c:axPos val="l"/>
        <c:majorGridlines/>
        <c:numFmt formatCode="General" sourceLinked="1"/>
        <c:majorTickMark val="out"/>
        <c:minorTickMark val="none"/>
        <c:tickLblPos val="nextTo"/>
        <c:crossAx val="2118791784"/>
        <c:crosses val="autoZero"/>
        <c:crossBetween val="between"/>
      </c:valAx>
    </c:plotArea>
    <c:legend>
      <c:legendPos val="b"/>
      <c:overlay val="0"/>
    </c:legend>
    <c:plotVisOnly val="1"/>
    <c:dispBlanksAs val="gap"/>
    <c:showDLblsOverMax val="0"/>
  </c:chart>
  <c:txPr>
    <a:bodyPr/>
    <a:lstStyle/>
    <a:p>
      <a:pPr>
        <a:defRPr sz="10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lineChart>
        <c:grouping val="standard"/>
        <c:varyColors val="0"/>
        <c:ser>
          <c:idx val="0"/>
          <c:order val="0"/>
          <c:tx>
            <c:strRef>
              <c:f>Sheet1!$B$1</c:f>
              <c:strCache>
                <c:ptCount val="1"/>
                <c:pt idx="0">
                  <c:v>Actual</c:v>
                </c:pt>
              </c:strCache>
            </c:strRef>
          </c:tx>
          <c:spPr>
            <a:ln w="38100">
              <a:solidFill>
                <a:srgbClr val="102A4C"/>
              </a:solidFill>
            </a:ln>
          </c:spPr>
          <c:cat>
            <c:strRef>
              <c:f>Sheet1!$A$2:$A$9</c:f>
              <c:strCache>
                <c:ptCount val="8"/>
                <c:pt idx="0">
                  <c:v>Wk1</c:v>
                </c:pt>
                <c:pt idx="1">
                  <c:v>Wk2</c:v>
                </c:pt>
                <c:pt idx="2">
                  <c:v>Wk3</c:v>
                </c:pt>
                <c:pt idx="3">
                  <c:v>Wk4</c:v>
                </c:pt>
                <c:pt idx="4">
                  <c:v>Wk5</c:v>
                </c:pt>
                <c:pt idx="5">
                  <c:v>Wk6</c:v>
                </c:pt>
                <c:pt idx="6">
                  <c:v>Wk7</c:v>
                </c:pt>
                <c:pt idx="7">
                  <c:v>Wk8</c:v>
                </c:pt>
              </c:strCache>
            </c:strRef>
          </c:cat>
          <c:val>
            <c:numRef>
              <c:f>Sheet1!$B$2:$B$9</c:f>
              <c:numCache>
                <c:formatCode>General</c:formatCode>
                <c:ptCount val="8"/>
                <c:pt idx="0">
                  <c:v>64</c:v>
                </c:pt>
                <c:pt idx="1">
                  <c:v>209</c:v>
                </c:pt>
                <c:pt idx="2">
                  <c:v>211</c:v>
                </c:pt>
                <c:pt idx="3">
                  <c:v>277</c:v>
                </c:pt>
                <c:pt idx="4">
                  <c:v>288</c:v>
                </c:pt>
                <c:pt idx="5">
                  <c:v>374</c:v>
                </c:pt>
                <c:pt idx="6">
                  <c:v>504</c:v>
                </c:pt>
                <c:pt idx="7">
                  <c:v>627</c:v>
                </c:pt>
              </c:numCache>
            </c:numRef>
          </c:val>
          <c:smooth val="0"/>
          <c:extLst>
            <c:ext xmlns:c16="http://schemas.microsoft.com/office/drawing/2014/chart" uri="{C3380CC4-5D6E-409C-BE32-E72D297353CC}">
              <c16:uniqueId val="{00000000-EF23-4B59-A088-4CE66C420DBC}"/>
            </c:ext>
          </c:extLst>
        </c:ser>
        <c:ser>
          <c:idx val="1"/>
          <c:order val="1"/>
          <c:tx>
            <c:strRef>
              <c:f>Sheet1!$C$1</c:f>
              <c:strCache>
                <c:ptCount val="1"/>
                <c:pt idx="0">
                  <c:v>Legacy</c:v>
                </c:pt>
              </c:strCache>
            </c:strRef>
          </c:tx>
          <c:spPr>
            <a:ln w="25400">
              <a:solidFill>
                <a:srgbClr val="B4262C"/>
              </a:solidFill>
            </a:ln>
          </c:spPr>
          <c:cat>
            <c:strRef>
              <c:f>Sheet1!$A$2:$A$9</c:f>
              <c:strCache>
                <c:ptCount val="8"/>
                <c:pt idx="0">
                  <c:v>Wk1</c:v>
                </c:pt>
                <c:pt idx="1">
                  <c:v>Wk2</c:v>
                </c:pt>
                <c:pt idx="2">
                  <c:v>Wk3</c:v>
                </c:pt>
                <c:pt idx="3">
                  <c:v>Wk4</c:v>
                </c:pt>
                <c:pt idx="4">
                  <c:v>Wk5</c:v>
                </c:pt>
                <c:pt idx="5">
                  <c:v>Wk6</c:v>
                </c:pt>
                <c:pt idx="6">
                  <c:v>Wk7</c:v>
                </c:pt>
                <c:pt idx="7">
                  <c:v>Wk8</c:v>
                </c:pt>
              </c:strCache>
            </c:strRef>
          </c:cat>
          <c:val>
            <c:numRef>
              <c:f>Sheet1!$C$2:$C$9</c:f>
              <c:numCache>
                <c:formatCode>General</c:formatCode>
                <c:ptCount val="8"/>
                <c:pt idx="0">
                  <c:v>116</c:v>
                </c:pt>
                <c:pt idx="1">
                  <c:v>233</c:v>
                </c:pt>
                <c:pt idx="2">
                  <c:v>349</c:v>
                </c:pt>
                <c:pt idx="3">
                  <c:v>465</c:v>
                </c:pt>
                <c:pt idx="4">
                  <c:v>582</c:v>
                </c:pt>
                <c:pt idx="5">
                  <c:v>698</c:v>
                </c:pt>
                <c:pt idx="6">
                  <c:v>814</c:v>
                </c:pt>
                <c:pt idx="7">
                  <c:v>930</c:v>
                </c:pt>
              </c:numCache>
            </c:numRef>
          </c:val>
          <c:smooth val="0"/>
          <c:extLst>
            <c:ext xmlns:c16="http://schemas.microsoft.com/office/drawing/2014/chart" uri="{C3380CC4-5D6E-409C-BE32-E72D297353CC}">
              <c16:uniqueId val="{00000001-EF23-4B59-A088-4CE66C420DBC}"/>
            </c:ext>
          </c:extLst>
        </c:ser>
        <c:ser>
          <c:idx val="2"/>
          <c:order val="2"/>
          <c:tx>
            <c:strRef>
              <c:f>Sheet1!$D$1</c:f>
              <c:strCache>
                <c:ptCount val="1"/>
                <c:pt idx="0">
                  <c:v>Time-Series (Chronos)</c:v>
                </c:pt>
              </c:strCache>
            </c:strRef>
          </c:tx>
          <c:spPr>
            <a:ln w="25400">
              <a:solidFill>
                <a:srgbClr val="118484"/>
              </a:solidFill>
            </a:ln>
          </c:spPr>
          <c:cat>
            <c:strRef>
              <c:f>Sheet1!$A$2:$A$9</c:f>
              <c:strCache>
                <c:ptCount val="8"/>
                <c:pt idx="0">
                  <c:v>Wk1</c:v>
                </c:pt>
                <c:pt idx="1">
                  <c:v>Wk2</c:v>
                </c:pt>
                <c:pt idx="2">
                  <c:v>Wk3</c:v>
                </c:pt>
                <c:pt idx="3">
                  <c:v>Wk4</c:v>
                </c:pt>
                <c:pt idx="4">
                  <c:v>Wk5</c:v>
                </c:pt>
                <c:pt idx="5">
                  <c:v>Wk6</c:v>
                </c:pt>
                <c:pt idx="6">
                  <c:v>Wk7</c:v>
                </c:pt>
                <c:pt idx="7">
                  <c:v>Wk8</c:v>
                </c:pt>
              </c:strCache>
            </c:strRef>
          </c:cat>
          <c:val>
            <c:numRef>
              <c:f>Sheet1!$D$2:$D$9</c:f>
              <c:numCache>
                <c:formatCode>General</c:formatCode>
                <c:ptCount val="8"/>
                <c:pt idx="0">
                  <c:v>99</c:v>
                </c:pt>
                <c:pt idx="1">
                  <c:v>201</c:v>
                </c:pt>
                <c:pt idx="2">
                  <c:v>309</c:v>
                </c:pt>
                <c:pt idx="3">
                  <c:v>427</c:v>
                </c:pt>
                <c:pt idx="4">
                  <c:v>548</c:v>
                </c:pt>
                <c:pt idx="5">
                  <c:v>670</c:v>
                </c:pt>
                <c:pt idx="6">
                  <c:v>789</c:v>
                </c:pt>
                <c:pt idx="7">
                  <c:v>903</c:v>
                </c:pt>
              </c:numCache>
            </c:numRef>
          </c:val>
          <c:smooth val="0"/>
          <c:extLst>
            <c:ext xmlns:c16="http://schemas.microsoft.com/office/drawing/2014/chart" uri="{C3380CC4-5D6E-409C-BE32-E72D297353CC}">
              <c16:uniqueId val="{00000002-EF23-4B59-A088-4CE66C420DBC}"/>
            </c:ext>
          </c:extLst>
        </c:ser>
        <c:ser>
          <c:idx val="3"/>
          <c:order val="3"/>
          <c:tx>
            <c:strRef>
              <c:f>Sheet1!$E$1</c:f>
              <c:strCache>
                <c:ptCount val="1"/>
                <c:pt idx="0">
                  <c:v>EDM</c:v>
                </c:pt>
              </c:strCache>
            </c:strRef>
          </c:tx>
          <c:spPr>
            <a:ln w="31750">
              <a:solidFill>
                <a:srgbClr val="1A724E"/>
              </a:solidFill>
            </a:ln>
          </c:spPr>
          <c:cat>
            <c:strRef>
              <c:f>Sheet1!$A$2:$A$9</c:f>
              <c:strCache>
                <c:ptCount val="8"/>
                <c:pt idx="0">
                  <c:v>Wk1</c:v>
                </c:pt>
                <c:pt idx="1">
                  <c:v>Wk2</c:v>
                </c:pt>
                <c:pt idx="2">
                  <c:v>Wk3</c:v>
                </c:pt>
                <c:pt idx="3">
                  <c:v>Wk4</c:v>
                </c:pt>
                <c:pt idx="4">
                  <c:v>Wk5</c:v>
                </c:pt>
                <c:pt idx="5">
                  <c:v>Wk6</c:v>
                </c:pt>
                <c:pt idx="6">
                  <c:v>Wk7</c:v>
                </c:pt>
                <c:pt idx="7">
                  <c:v>Wk8</c:v>
                </c:pt>
              </c:strCache>
            </c:strRef>
          </c:cat>
          <c:val>
            <c:numRef>
              <c:f>Sheet1!$E$2:$E$9</c:f>
              <c:numCache>
                <c:formatCode>General</c:formatCode>
                <c:ptCount val="8"/>
                <c:pt idx="0">
                  <c:v>99</c:v>
                </c:pt>
                <c:pt idx="1">
                  <c:v>199</c:v>
                </c:pt>
                <c:pt idx="2">
                  <c:v>298</c:v>
                </c:pt>
                <c:pt idx="3">
                  <c:v>398</c:v>
                </c:pt>
                <c:pt idx="4">
                  <c:v>498</c:v>
                </c:pt>
                <c:pt idx="5">
                  <c:v>598</c:v>
                </c:pt>
                <c:pt idx="6">
                  <c:v>698</c:v>
                </c:pt>
                <c:pt idx="7">
                  <c:v>798</c:v>
                </c:pt>
              </c:numCache>
            </c:numRef>
          </c:val>
          <c:smooth val="0"/>
          <c:extLst>
            <c:ext xmlns:c16="http://schemas.microsoft.com/office/drawing/2014/chart" uri="{C3380CC4-5D6E-409C-BE32-E72D297353CC}">
              <c16:uniqueId val="{00000003-EF23-4B59-A088-4CE66C420DBC}"/>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min val="0"/>
        </c:scaling>
        <c:delete val="0"/>
        <c:axPos val="l"/>
        <c:majorGridlines/>
        <c:numFmt formatCode="General" sourceLinked="1"/>
        <c:majorTickMark val="out"/>
        <c:minorTickMark val="none"/>
        <c:tickLblPos val="nextTo"/>
        <c:crossAx val="2118791784"/>
        <c:crosses val="autoZero"/>
        <c:crossBetween val="between"/>
      </c:valAx>
    </c:plotArea>
    <c:legend>
      <c:legendPos val="b"/>
      <c:overlay val="0"/>
    </c:legend>
    <c:plotVisOnly val="1"/>
    <c:dispBlanksAs val="gap"/>
    <c:showDLblsOverMax val="0"/>
  </c:chart>
  <c:txPr>
    <a:bodyPr/>
    <a:lstStyle/>
    <a:p>
      <a:pPr>
        <a:defRPr sz="10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Actual</c:v>
                </c:pt>
              </c:strCache>
            </c:strRef>
          </c:tx>
          <c:spPr>
            <a:ln w="31750">
              <a:solidFill>
                <a:srgbClr val="102A4C"/>
              </a:solidFill>
            </a:ln>
          </c:spPr>
          <c:dPt>
            <c:idx val="0"/>
            <c:marker>
              <c:symbol val="diamond"/>
              <c:size val="3"/>
            </c:marker>
            <c:bubble3D val="0"/>
            <c:extLst>
              <c:ext xmlns:c16="http://schemas.microsoft.com/office/drawing/2014/chart" uri="{C3380CC4-5D6E-409C-BE32-E72D297353CC}">
                <c16:uniqueId val="{00000000-C201-4612-9E31-56788C9C9191}"/>
              </c:ext>
            </c:extLst>
          </c:dPt>
          <c:dPt>
            <c:idx val="1"/>
            <c:marker>
              <c:symbol val="diamond"/>
              <c:size val="3"/>
            </c:marker>
            <c:bubble3D val="0"/>
            <c:extLst>
              <c:ext xmlns:c16="http://schemas.microsoft.com/office/drawing/2014/chart" uri="{C3380CC4-5D6E-409C-BE32-E72D297353CC}">
                <c16:uniqueId val="{00000001-C201-4612-9E31-56788C9C9191}"/>
              </c:ext>
            </c:extLst>
          </c:dPt>
          <c:dPt>
            <c:idx val="2"/>
            <c:marker>
              <c:symbol val="diamond"/>
              <c:size val="3"/>
            </c:marker>
            <c:bubble3D val="0"/>
            <c:extLst>
              <c:ext xmlns:c16="http://schemas.microsoft.com/office/drawing/2014/chart" uri="{C3380CC4-5D6E-409C-BE32-E72D297353CC}">
                <c16:uniqueId val="{00000002-C201-4612-9E31-56788C9C9191}"/>
              </c:ext>
            </c:extLst>
          </c:dPt>
          <c:dPt>
            <c:idx val="3"/>
            <c:marker>
              <c:symbol val="diamond"/>
              <c:size val="3"/>
            </c:marker>
            <c:bubble3D val="0"/>
            <c:extLst>
              <c:ext xmlns:c16="http://schemas.microsoft.com/office/drawing/2014/chart" uri="{C3380CC4-5D6E-409C-BE32-E72D297353CC}">
                <c16:uniqueId val="{00000003-C201-4612-9E31-56788C9C9191}"/>
              </c:ext>
            </c:extLst>
          </c:dPt>
          <c:dPt>
            <c:idx val="4"/>
            <c:marker>
              <c:symbol val="diamond"/>
              <c:size val="3"/>
            </c:marker>
            <c:bubble3D val="0"/>
            <c:extLst>
              <c:ext xmlns:c16="http://schemas.microsoft.com/office/drawing/2014/chart" uri="{C3380CC4-5D6E-409C-BE32-E72D297353CC}">
                <c16:uniqueId val="{00000004-C201-4612-9E31-56788C9C9191}"/>
              </c:ext>
            </c:extLst>
          </c:dPt>
          <c:dPt>
            <c:idx val="5"/>
            <c:marker>
              <c:symbol val="diamond"/>
              <c:size val="3"/>
            </c:marker>
            <c:bubble3D val="0"/>
            <c:extLst>
              <c:ext xmlns:c16="http://schemas.microsoft.com/office/drawing/2014/chart" uri="{C3380CC4-5D6E-409C-BE32-E72D297353CC}">
                <c16:uniqueId val="{00000005-C201-4612-9E31-56788C9C9191}"/>
              </c:ext>
            </c:extLst>
          </c:dPt>
          <c:dPt>
            <c:idx val="6"/>
            <c:marker>
              <c:symbol val="diamond"/>
              <c:size val="3"/>
            </c:marker>
            <c:bubble3D val="0"/>
            <c:extLst>
              <c:ext xmlns:c16="http://schemas.microsoft.com/office/drawing/2014/chart" uri="{C3380CC4-5D6E-409C-BE32-E72D297353CC}">
                <c16:uniqueId val="{00000006-C201-4612-9E31-56788C9C9191}"/>
              </c:ext>
            </c:extLst>
          </c:dPt>
          <c:dPt>
            <c:idx val="7"/>
            <c:marker>
              <c:symbol val="diamond"/>
              <c:size val="3"/>
            </c:marker>
            <c:bubble3D val="0"/>
            <c:extLst>
              <c:ext xmlns:c16="http://schemas.microsoft.com/office/drawing/2014/chart" uri="{C3380CC4-5D6E-409C-BE32-E72D297353CC}">
                <c16:uniqueId val="{00000007-C201-4612-9E31-56788C9C9191}"/>
              </c:ext>
            </c:extLst>
          </c:dPt>
          <c:cat>
            <c:strRef>
              <c:f>Sheet1!$A$2:$A$9</c:f>
              <c:strCache>
                <c:ptCount val="8"/>
                <c:pt idx="0">
                  <c:v>1</c:v>
                </c:pt>
                <c:pt idx="1">
                  <c:v>2</c:v>
                </c:pt>
                <c:pt idx="2">
                  <c:v>3</c:v>
                </c:pt>
                <c:pt idx="3">
                  <c:v>4</c:v>
                </c:pt>
                <c:pt idx="4">
                  <c:v>5</c:v>
                </c:pt>
                <c:pt idx="5">
                  <c:v>6</c:v>
                </c:pt>
                <c:pt idx="6">
                  <c:v>7</c:v>
                </c:pt>
                <c:pt idx="7">
                  <c:v>8</c:v>
                </c:pt>
              </c:strCache>
            </c:strRef>
          </c:cat>
          <c:val>
            <c:numRef>
              <c:f>Sheet1!$B$2:$B$9</c:f>
              <c:numCache>
                <c:formatCode>General</c:formatCode>
                <c:ptCount val="8"/>
                <c:pt idx="0">
                  <c:v>237</c:v>
                </c:pt>
                <c:pt idx="1">
                  <c:v>532</c:v>
                </c:pt>
                <c:pt idx="2">
                  <c:v>720</c:v>
                </c:pt>
                <c:pt idx="3">
                  <c:v>942</c:v>
                </c:pt>
                <c:pt idx="4">
                  <c:v>1101</c:v>
                </c:pt>
                <c:pt idx="5">
                  <c:v>1198</c:v>
                </c:pt>
                <c:pt idx="6">
                  <c:v>1382</c:v>
                </c:pt>
                <c:pt idx="7">
                  <c:v>2160</c:v>
                </c:pt>
              </c:numCache>
            </c:numRef>
          </c:val>
          <c:smooth val="0"/>
          <c:extLst>
            <c:ext xmlns:c16="http://schemas.microsoft.com/office/drawing/2014/chart" uri="{C3380CC4-5D6E-409C-BE32-E72D297353CC}">
              <c16:uniqueId val="{00000008-C201-4612-9E31-56788C9C9191}"/>
            </c:ext>
          </c:extLst>
        </c:ser>
        <c:ser>
          <c:idx val="1"/>
          <c:order val="1"/>
          <c:tx>
            <c:strRef>
              <c:f>Sheet1!$C$1</c:f>
              <c:strCache>
                <c:ptCount val="1"/>
                <c:pt idx="0">
                  <c:v>Legacy</c:v>
                </c:pt>
              </c:strCache>
            </c:strRef>
          </c:tx>
          <c:spPr>
            <a:ln w="19050">
              <a:solidFill>
                <a:srgbClr val="B4262C"/>
              </a:solidFill>
            </a:ln>
          </c:spPr>
          <c:dPt>
            <c:idx val="0"/>
            <c:marker>
              <c:symbol val="diamond"/>
              <c:size val="3"/>
            </c:marker>
            <c:bubble3D val="0"/>
            <c:extLst>
              <c:ext xmlns:c16="http://schemas.microsoft.com/office/drawing/2014/chart" uri="{C3380CC4-5D6E-409C-BE32-E72D297353CC}">
                <c16:uniqueId val="{00000009-C201-4612-9E31-56788C9C9191}"/>
              </c:ext>
            </c:extLst>
          </c:dPt>
          <c:dPt>
            <c:idx val="1"/>
            <c:marker>
              <c:symbol val="diamond"/>
              <c:size val="3"/>
            </c:marker>
            <c:bubble3D val="0"/>
            <c:extLst>
              <c:ext xmlns:c16="http://schemas.microsoft.com/office/drawing/2014/chart" uri="{C3380CC4-5D6E-409C-BE32-E72D297353CC}">
                <c16:uniqueId val="{0000000A-C201-4612-9E31-56788C9C9191}"/>
              </c:ext>
            </c:extLst>
          </c:dPt>
          <c:dPt>
            <c:idx val="2"/>
            <c:marker>
              <c:symbol val="diamond"/>
              <c:size val="3"/>
            </c:marker>
            <c:bubble3D val="0"/>
            <c:extLst>
              <c:ext xmlns:c16="http://schemas.microsoft.com/office/drawing/2014/chart" uri="{C3380CC4-5D6E-409C-BE32-E72D297353CC}">
                <c16:uniqueId val="{0000000B-C201-4612-9E31-56788C9C9191}"/>
              </c:ext>
            </c:extLst>
          </c:dPt>
          <c:dPt>
            <c:idx val="3"/>
            <c:marker>
              <c:symbol val="diamond"/>
              <c:size val="3"/>
            </c:marker>
            <c:bubble3D val="0"/>
            <c:extLst>
              <c:ext xmlns:c16="http://schemas.microsoft.com/office/drawing/2014/chart" uri="{C3380CC4-5D6E-409C-BE32-E72D297353CC}">
                <c16:uniqueId val="{0000000C-C201-4612-9E31-56788C9C9191}"/>
              </c:ext>
            </c:extLst>
          </c:dPt>
          <c:dPt>
            <c:idx val="4"/>
            <c:marker>
              <c:symbol val="diamond"/>
              <c:size val="3"/>
            </c:marker>
            <c:bubble3D val="0"/>
            <c:extLst>
              <c:ext xmlns:c16="http://schemas.microsoft.com/office/drawing/2014/chart" uri="{C3380CC4-5D6E-409C-BE32-E72D297353CC}">
                <c16:uniqueId val="{0000000D-C201-4612-9E31-56788C9C9191}"/>
              </c:ext>
            </c:extLst>
          </c:dPt>
          <c:dPt>
            <c:idx val="5"/>
            <c:marker>
              <c:symbol val="diamond"/>
              <c:size val="3"/>
            </c:marker>
            <c:bubble3D val="0"/>
            <c:extLst>
              <c:ext xmlns:c16="http://schemas.microsoft.com/office/drawing/2014/chart" uri="{C3380CC4-5D6E-409C-BE32-E72D297353CC}">
                <c16:uniqueId val="{0000000E-C201-4612-9E31-56788C9C9191}"/>
              </c:ext>
            </c:extLst>
          </c:dPt>
          <c:dPt>
            <c:idx val="6"/>
            <c:marker>
              <c:symbol val="diamond"/>
              <c:size val="3"/>
            </c:marker>
            <c:bubble3D val="0"/>
            <c:extLst>
              <c:ext xmlns:c16="http://schemas.microsoft.com/office/drawing/2014/chart" uri="{C3380CC4-5D6E-409C-BE32-E72D297353CC}">
                <c16:uniqueId val="{0000000F-C201-4612-9E31-56788C9C9191}"/>
              </c:ext>
            </c:extLst>
          </c:dPt>
          <c:dPt>
            <c:idx val="7"/>
            <c:marker>
              <c:symbol val="diamond"/>
              <c:size val="3"/>
            </c:marker>
            <c:bubble3D val="0"/>
            <c:extLst>
              <c:ext xmlns:c16="http://schemas.microsoft.com/office/drawing/2014/chart" uri="{C3380CC4-5D6E-409C-BE32-E72D297353CC}">
                <c16:uniqueId val="{00000010-C201-4612-9E31-56788C9C9191}"/>
              </c:ext>
            </c:extLst>
          </c:dPt>
          <c:cat>
            <c:strRef>
              <c:f>Sheet1!$A$2:$A$9</c:f>
              <c:strCache>
                <c:ptCount val="8"/>
                <c:pt idx="0">
                  <c:v>1</c:v>
                </c:pt>
                <c:pt idx="1">
                  <c:v>2</c:v>
                </c:pt>
                <c:pt idx="2">
                  <c:v>3</c:v>
                </c:pt>
                <c:pt idx="3">
                  <c:v>4</c:v>
                </c:pt>
                <c:pt idx="4">
                  <c:v>5</c:v>
                </c:pt>
                <c:pt idx="5">
                  <c:v>6</c:v>
                </c:pt>
                <c:pt idx="6">
                  <c:v>7</c:v>
                </c:pt>
                <c:pt idx="7">
                  <c:v>8</c:v>
                </c:pt>
              </c:strCache>
            </c:strRef>
          </c:cat>
          <c:val>
            <c:numRef>
              <c:f>Sheet1!$C$2:$C$9</c:f>
              <c:numCache>
                <c:formatCode>General</c:formatCode>
                <c:ptCount val="8"/>
                <c:pt idx="0">
                  <c:v>349</c:v>
                </c:pt>
                <c:pt idx="1">
                  <c:v>699</c:v>
                </c:pt>
                <c:pt idx="2">
                  <c:v>1049</c:v>
                </c:pt>
                <c:pt idx="3">
                  <c:v>1399</c:v>
                </c:pt>
                <c:pt idx="4">
                  <c:v>1748</c:v>
                </c:pt>
                <c:pt idx="5">
                  <c:v>2098</c:v>
                </c:pt>
                <c:pt idx="6">
                  <c:v>2448</c:v>
                </c:pt>
                <c:pt idx="7">
                  <c:v>2798</c:v>
                </c:pt>
              </c:numCache>
            </c:numRef>
          </c:val>
          <c:smooth val="0"/>
          <c:extLst>
            <c:ext xmlns:c16="http://schemas.microsoft.com/office/drawing/2014/chart" uri="{C3380CC4-5D6E-409C-BE32-E72D297353CC}">
              <c16:uniqueId val="{00000011-C201-4612-9E31-56788C9C9191}"/>
            </c:ext>
          </c:extLst>
        </c:ser>
        <c:ser>
          <c:idx val="2"/>
          <c:order val="2"/>
          <c:tx>
            <c:strRef>
              <c:f>Sheet1!$D$1</c:f>
              <c:strCache>
                <c:ptCount val="1"/>
                <c:pt idx="0">
                  <c:v>EDM</c:v>
                </c:pt>
              </c:strCache>
            </c:strRef>
          </c:tx>
          <c:spPr>
            <a:ln w="25400">
              <a:solidFill>
                <a:srgbClr val="1A724E"/>
              </a:solidFill>
            </a:ln>
          </c:spPr>
          <c:dPt>
            <c:idx val="0"/>
            <c:marker>
              <c:symbol val="diamond"/>
              <c:size val="3"/>
            </c:marker>
            <c:bubble3D val="0"/>
            <c:extLst>
              <c:ext xmlns:c16="http://schemas.microsoft.com/office/drawing/2014/chart" uri="{C3380CC4-5D6E-409C-BE32-E72D297353CC}">
                <c16:uniqueId val="{00000012-C201-4612-9E31-56788C9C9191}"/>
              </c:ext>
            </c:extLst>
          </c:dPt>
          <c:dPt>
            <c:idx val="1"/>
            <c:marker>
              <c:symbol val="diamond"/>
              <c:size val="3"/>
            </c:marker>
            <c:bubble3D val="0"/>
            <c:extLst>
              <c:ext xmlns:c16="http://schemas.microsoft.com/office/drawing/2014/chart" uri="{C3380CC4-5D6E-409C-BE32-E72D297353CC}">
                <c16:uniqueId val="{00000013-C201-4612-9E31-56788C9C9191}"/>
              </c:ext>
            </c:extLst>
          </c:dPt>
          <c:dPt>
            <c:idx val="2"/>
            <c:marker>
              <c:symbol val="diamond"/>
              <c:size val="3"/>
            </c:marker>
            <c:bubble3D val="0"/>
            <c:extLst>
              <c:ext xmlns:c16="http://schemas.microsoft.com/office/drawing/2014/chart" uri="{C3380CC4-5D6E-409C-BE32-E72D297353CC}">
                <c16:uniqueId val="{00000014-C201-4612-9E31-56788C9C9191}"/>
              </c:ext>
            </c:extLst>
          </c:dPt>
          <c:dPt>
            <c:idx val="3"/>
            <c:marker>
              <c:symbol val="diamond"/>
              <c:size val="3"/>
            </c:marker>
            <c:bubble3D val="0"/>
            <c:extLst>
              <c:ext xmlns:c16="http://schemas.microsoft.com/office/drawing/2014/chart" uri="{C3380CC4-5D6E-409C-BE32-E72D297353CC}">
                <c16:uniqueId val="{00000015-C201-4612-9E31-56788C9C9191}"/>
              </c:ext>
            </c:extLst>
          </c:dPt>
          <c:dPt>
            <c:idx val="4"/>
            <c:marker>
              <c:symbol val="diamond"/>
              <c:size val="3"/>
            </c:marker>
            <c:bubble3D val="0"/>
            <c:extLst>
              <c:ext xmlns:c16="http://schemas.microsoft.com/office/drawing/2014/chart" uri="{C3380CC4-5D6E-409C-BE32-E72D297353CC}">
                <c16:uniqueId val="{00000016-C201-4612-9E31-56788C9C9191}"/>
              </c:ext>
            </c:extLst>
          </c:dPt>
          <c:dPt>
            <c:idx val="5"/>
            <c:marker>
              <c:symbol val="diamond"/>
              <c:size val="3"/>
            </c:marker>
            <c:bubble3D val="0"/>
            <c:extLst>
              <c:ext xmlns:c16="http://schemas.microsoft.com/office/drawing/2014/chart" uri="{C3380CC4-5D6E-409C-BE32-E72D297353CC}">
                <c16:uniqueId val="{00000017-C201-4612-9E31-56788C9C9191}"/>
              </c:ext>
            </c:extLst>
          </c:dPt>
          <c:dPt>
            <c:idx val="6"/>
            <c:marker>
              <c:symbol val="diamond"/>
              <c:size val="3"/>
            </c:marker>
            <c:bubble3D val="0"/>
            <c:extLst>
              <c:ext xmlns:c16="http://schemas.microsoft.com/office/drawing/2014/chart" uri="{C3380CC4-5D6E-409C-BE32-E72D297353CC}">
                <c16:uniqueId val="{00000018-C201-4612-9E31-56788C9C9191}"/>
              </c:ext>
            </c:extLst>
          </c:dPt>
          <c:dPt>
            <c:idx val="7"/>
            <c:marker>
              <c:symbol val="diamond"/>
              <c:size val="3"/>
            </c:marker>
            <c:bubble3D val="0"/>
            <c:extLst>
              <c:ext xmlns:c16="http://schemas.microsoft.com/office/drawing/2014/chart" uri="{C3380CC4-5D6E-409C-BE32-E72D297353CC}">
                <c16:uniqueId val="{00000019-C201-4612-9E31-56788C9C9191}"/>
              </c:ext>
            </c:extLst>
          </c:dPt>
          <c:cat>
            <c:strRef>
              <c:f>Sheet1!$A$2:$A$9</c:f>
              <c:strCache>
                <c:ptCount val="8"/>
                <c:pt idx="0">
                  <c:v>1</c:v>
                </c:pt>
                <c:pt idx="1">
                  <c:v>2</c:v>
                </c:pt>
                <c:pt idx="2">
                  <c:v>3</c:v>
                </c:pt>
                <c:pt idx="3">
                  <c:v>4</c:v>
                </c:pt>
                <c:pt idx="4">
                  <c:v>5</c:v>
                </c:pt>
                <c:pt idx="5">
                  <c:v>6</c:v>
                </c:pt>
                <c:pt idx="6">
                  <c:v>7</c:v>
                </c:pt>
                <c:pt idx="7">
                  <c:v>8</c:v>
                </c:pt>
              </c:strCache>
            </c:strRef>
          </c:cat>
          <c:val>
            <c:numRef>
              <c:f>Sheet1!$D$2:$D$9</c:f>
              <c:numCache>
                <c:formatCode>General</c:formatCode>
                <c:ptCount val="8"/>
                <c:pt idx="0">
                  <c:v>207</c:v>
                </c:pt>
                <c:pt idx="1">
                  <c:v>415</c:v>
                </c:pt>
                <c:pt idx="2">
                  <c:v>623</c:v>
                </c:pt>
                <c:pt idx="3">
                  <c:v>831</c:v>
                </c:pt>
                <c:pt idx="4">
                  <c:v>1039</c:v>
                </c:pt>
                <c:pt idx="5">
                  <c:v>1247</c:v>
                </c:pt>
                <c:pt idx="6">
                  <c:v>1455</c:v>
                </c:pt>
                <c:pt idx="7">
                  <c:v>1663</c:v>
                </c:pt>
              </c:numCache>
            </c:numRef>
          </c:val>
          <c:smooth val="0"/>
          <c:extLst>
            <c:ext xmlns:c16="http://schemas.microsoft.com/office/drawing/2014/chart" uri="{C3380CC4-5D6E-409C-BE32-E72D297353CC}">
              <c16:uniqueId val="{0000001A-C201-4612-9E31-56788C9C9191}"/>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min val="0"/>
        </c:scaling>
        <c:delete val="0"/>
        <c:axPos val="l"/>
        <c:numFmt formatCode="General" sourceLinked="1"/>
        <c:majorTickMark val="out"/>
        <c:minorTickMark val="none"/>
        <c:tickLblPos val="nextTo"/>
        <c:crossAx val="2118791784"/>
        <c:crosses val="autoZero"/>
        <c:crossBetween val="between"/>
      </c:valAx>
    </c:plotArea>
    <c:plotVisOnly val="1"/>
    <c:dispBlanksAs val="gap"/>
    <c:showDLblsOverMax val="0"/>
  </c:chart>
  <c:txPr>
    <a:bodyPr/>
    <a:lstStyle/>
    <a:p>
      <a:pPr>
        <a:defRPr sz="7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Actual</c:v>
                </c:pt>
              </c:strCache>
            </c:strRef>
          </c:tx>
          <c:spPr>
            <a:ln w="31750">
              <a:solidFill>
                <a:srgbClr val="102A4C"/>
              </a:solidFill>
            </a:ln>
          </c:spPr>
          <c:dPt>
            <c:idx val="0"/>
            <c:marker>
              <c:symbol val="diamond"/>
              <c:size val="3"/>
            </c:marker>
            <c:bubble3D val="0"/>
            <c:extLst>
              <c:ext xmlns:c16="http://schemas.microsoft.com/office/drawing/2014/chart" uri="{C3380CC4-5D6E-409C-BE32-E72D297353CC}">
                <c16:uniqueId val="{00000000-F061-4755-BC15-8747A02D18C2}"/>
              </c:ext>
            </c:extLst>
          </c:dPt>
          <c:dPt>
            <c:idx val="1"/>
            <c:marker>
              <c:symbol val="diamond"/>
              <c:size val="3"/>
            </c:marker>
            <c:bubble3D val="0"/>
            <c:extLst>
              <c:ext xmlns:c16="http://schemas.microsoft.com/office/drawing/2014/chart" uri="{C3380CC4-5D6E-409C-BE32-E72D297353CC}">
                <c16:uniqueId val="{00000001-F061-4755-BC15-8747A02D18C2}"/>
              </c:ext>
            </c:extLst>
          </c:dPt>
          <c:dPt>
            <c:idx val="2"/>
            <c:marker>
              <c:symbol val="diamond"/>
              <c:size val="3"/>
            </c:marker>
            <c:bubble3D val="0"/>
            <c:extLst>
              <c:ext xmlns:c16="http://schemas.microsoft.com/office/drawing/2014/chart" uri="{C3380CC4-5D6E-409C-BE32-E72D297353CC}">
                <c16:uniqueId val="{00000002-F061-4755-BC15-8747A02D18C2}"/>
              </c:ext>
            </c:extLst>
          </c:dPt>
          <c:dPt>
            <c:idx val="3"/>
            <c:marker>
              <c:symbol val="diamond"/>
              <c:size val="3"/>
            </c:marker>
            <c:bubble3D val="0"/>
            <c:extLst>
              <c:ext xmlns:c16="http://schemas.microsoft.com/office/drawing/2014/chart" uri="{C3380CC4-5D6E-409C-BE32-E72D297353CC}">
                <c16:uniqueId val="{00000003-F061-4755-BC15-8747A02D18C2}"/>
              </c:ext>
            </c:extLst>
          </c:dPt>
          <c:dPt>
            <c:idx val="4"/>
            <c:marker>
              <c:symbol val="diamond"/>
              <c:size val="3"/>
            </c:marker>
            <c:bubble3D val="0"/>
            <c:extLst>
              <c:ext xmlns:c16="http://schemas.microsoft.com/office/drawing/2014/chart" uri="{C3380CC4-5D6E-409C-BE32-E72D297353CC}">
                <c16:uniqueId val="{00000004-F061-4755-BC15-8747A02D18C2}"/>
              </c:ext>
            </c:extLst>
          </c:dPt>
          <c:dPt>
            <c:idx val="5"/>
            <c:marker>
              <c:symbol val="diamond"/>
              <c:size val="3"/>
            </c:marker>
            <c:bubble3D val="0"/>
            <c:extLst>
              <c:ext xmlns:c16="http://schemas.microsoft.com/office/drawing/2014/chart" uri="{C3380CC4-5D6E-409C-BE32-E72D297353CC}">
                <c16:uniqueId val="{00000005-F061-4755-BC15-8747A02D18C2}"/>
              </c:ext>
            </c:extLst>
          </c:dPt>
          <c:dPt>
            <c:idx val="6"/>
            <c:marker>
              <c:symbol val="diamond"/>
              <c:size val="3"/>
            </c:marker>
            <c:bubble3D val="0"/>
            <c:extLst>
              <c:ext xmlns:c16="http://schemas.microsoft.com/office/drawing/2014/chart" uri="{C3380CC4-5D6E-409C-BE32-E72D297353CC}">
                <c16:uniqueId val="{00000006-F061-4755-BC15-8747A02D18C2}"/>
              </c:ext>
            </c:extLst>
          </c:dPt>
          <c:dPt>
            <c:idx val="7"/>
            <c:marker>
              <c:symbol val="diamond"/>
              <c:size val="3"/>
            </c:marker>
            <c:bubble3D val="0"/>
            <c:extLst>
              <c:ext xmlns:c16="http://schemas.microsoft.com/office/drawing/2014/chart" uri="{C3380CC4-5D6E-409C-BE32-E72D297353CC}">
                <c16:uniqueId val="{00000007-F061-4755-BC15-8747A02D18C2}"/>
              </c:ext>
            </c:extLst>
          </c:dPt>
          <c:cat>
            <c:strRef>
              <c:f>Sheet1!$A$2:$A$9</c:f>
              <c:strCache>
                <c:ptCount val="8"/>
                <c:pt idx="0">
                  <c:v>1</c:v>
                </c:pt>
                <c:pt idx="1">
                  <c:v>2</c:v>
                </c:pt>
                <c:pt idx="2">
                  <c:v>3</c:v>
                </c:pt>
                <c:pt idx="3">
                  <c:v>4</c:v>
                </c:pt>
                <c:pt idx="4">
                  <c:v>5</c:v>
                </c:pt>
                <c:pt idx="5">
                  <c:v>6</c:v>
                </c:pt>
                <c:pt idx="6">
                  <c:v>7</c:v>
                </c:pt>
                <c:pt idx="7">
                  <c:v>8</c:v>
                </c:pt>
              </c:strCache>
            </c:strRef>
          </c:cat>
          <c:val>
            <c:numRef>
              <c:f>Sheet1!$B$2:$B$9</c:f>
              <c:numCache>
                <c:formatCode>General</c:formatCode>
                <c:ptCount val="8"/>
                <c:pt idx="0">
                  <c:v>205</c:v>
                </c:pt>
                <c:pt idx="1">
                  <c:v>230</c:v>
                </c:pt>
                <c:pt idx="2">
                  <c:v>397</c:v>
                </c:pt>
                <c:pt idx="3">
                  <c:v>891</c:v>
                </c:pt>
                <c:pt idx="4">
                  <c:v>1029</c:v>
                </c:pt>
                <c:pt idx="5">
                  <c:v>1365</c:v>
                </c:pt>
                <c:pt idx="6">
                  <c:v>1552</c:v>
                </c:pt>
                <c:pt idx="7">
                  <c:v>1749</c:v>
                </c:pt>
              </c:numCache>
            </c:numRef>
          </c:val>
          <c:smooth val="0"/>
          <c:extLst>
            <c:ext xmlns:c16="http://schemas.microsoft.com/office/drawing/2014/chart" uri="{C3380CC4-5D6E-409C-BE32-E72D297353CC}">
              <c16:uniqueId val="{00000008-F061-4755-BC15-8747A02D18C2}"/>
            </c:ext>
          </c:extLst>
        </c:ser>
        <c:ser>
          <c:idx val="1"/>
          <c:order val="1"/>
          <c:tx>
            <c:strRef>
              <c:f>Sheet1!$C$1</c:f>
              <c:strCache>
                <c:ptCount val="1"/>
                <c:pt idx="0">
                  <c:v>Legacy</c:v>
                </c:pt>
              </c:strCache>
            </c:strRef>
          </c:tx>
          <c:spPr>
            <a:ln w="19050">
              <a:solidFill>
                <a:srgbClr val="B4262C"/>
              </a:solidFill>
            </a:ln>
          </c:spPr>
          <c:dPt>
            <c:idx val="0"/>
            <c:marker>
              <c:symbol val="diamond"/>
              <c:size val="3"/>
            </c:marker>
            <c:bubble3D val="0"/>
            <c:extLst>
              <c:ext xmlns:c16="http://schemas.microsoft.com/office/drawing/2014/chart" uri="{C3380CC4-5D6E-409C-BE32-E72D297353CC}">
                <c16:uniqueId val="{00000009-F061-4755-BC15-8747A02D18C2}"/>
              </c:ext>
            </c:extLst>
          </c:dPt>
          <c:dPt>
            <c:idx val="1"/>
            <c:marker>
              <c:symbol val="diamond"/>
              <c:size val="3"/>
            </c:marker>
            <c:bubble3D val="0"/>
            <c:extLst>
              <c:ext xmlns:c16="http://schemas.microsoft.com/office/drawing/2014/chart" uri="{C3380CC4-5D6E-409C-BE32-E72D297353CC}">
                <c16:uniqueId val="{0000000A-F061-4755-BC15-8747A02D18C2}"/>
              </c:ext>
            </c:extLst>
          </c:dPt>
          <c:dPt>
            <c:idx val="2"/>
            <c:marker>
              <c:symbol val="diamond"/>
              <c:size val="3"/>
            </c:marker>
            <c:bubble3D val="0"/>
            <c:extLst>
              <c:ext xmlns:c16="http://schemas.microsoft.com/office/drawing/2014/chart" uri="{C3380CC4-5D6E-409C-BE32-E72D297353CC}">
                <c16:uniqueId val="{0000000B-F061-4755-BC15-8747A02D18C2}"/>
              </c:ext>
            </c:extLst>
          </c:dPt>
          <c:dPt>
            <c:idx val="3"/>
            <c:marker>
              <c:symbol val="diamond"/>
              <c:size val="3"/>
            </c:marker>
            <c:bubble3D val="0"/>
            <c:extLst>
              <c:ext xmlns:c16="http://schemas.microsoft.com/office/drawing/2014/chart" uri="{C3380CC4-5D6E-409C-BE32-E72D297353CC}">
                <c16:uniqueId val="{0000000C-F061-4755-BC15-8747A02D18C2}"/>
              </c:ext>
            </c:extLst>
          </c:dPt>
          <c:dPt>
            <c:idx val="4"/>
            <c:marker>
              <c:symbol val="diamond"/>
              <c:size val="3"/>
            </c:marker>
            <c:bubble3D val="0"/>
            <c:extLst>
              <c:ext xmlns:c16="http://schemas.microsoft.com/office/drawing/2014/chart" uri="{C3380CC4-5D6E-409C-BE32-E72D297353CC}">
                <c16:uniqueId val="{0000000D-F061-4755-BC15-8747A02D18C2}"/>
              </c:ext>
            </c:extLst>
          </c:dPt>
          <c:dPt>
            <c:idx val="5"/>
            <c:marker>
              <c:symbol val="diamond"/>
              <c:size val="3"/>
            </c:marker>
            <c:bubble3D val="0"/>
            <c:extLst>
              <c:ext xmlns:c16="http://schemas.microsoft.com/office/drawing/2014/chart" uri="{C3380CC4-5D6E-409C-BE32-E72D297353CC}">
                <c16:uniqueId val="{0000000E-F061-4755-BC15-8747A02D18C2}"/>
              </c:ext>
            </c:extLst>
          </c:dPt>
          <c:dPt>
            <c:idx val="6"/>
            <c:marker>
              <c:symbol val="diamond"/>
              <c:size val="3"/>
            </c:marker>
            <c:bubble3D val="0"/>
            <c:extLst>
              <c:ext xmlns:c16="http://schemas.microsoft.com/office/drawing/2014/chart" uri="{C3380CC4-5D6E-409C-BE32-E72D297353CC}">
                <c16:uniqueId val="{0000000F-F061-4755-BC15-8747A02D18C2}"/>
              </c:ext>
            </c:extLst>
          </c:dPt>
          <c:dPt>
            <c:idx val="7"/>
            <c:marker>
              <c:symbol val="diamond"/>
              <c:size val="3"/>
            </c:marker>
            <c:bubble3D val="0"/>
            <c:extLst>
              <c:ext xmlns:c16="http://schemas.microsoft.com/office/drawing/2014/chart" uri="{C3380CC4-5D6E-409C-BE32-E72D297353CC}">
                <c16:uniqueId val="{00000010-F061-4755-BC15-8747A02D18C2}"/>
              </c:ext>
            </c:extLst>
          </c:dPt>
          <c:cat>
            <c:strRef>
              <c:f>Sheet1!$A$2:$A$9</c:f>
              <c:strCache>
                <c:ptCount val="8"/>
                <c:pt idx="0">
                  <c:v>1</c:v>
                </c:pt>
                <c:pt idx="1">
                  <c:v>2</c:v>
                </c:pt>
                <c:pt idx="2">
                  <c:v>3</c:v>
                </c:pt>
                <c:pt idx="3">
                  <c:v>4</c:v>
                </c:pt>
                <c:pt idx="4">
                  <c:v>5</c:v>
                </c:pt>
                <c:pt idx="5">
                  <c:v>6</c:v>
                </c:pt>
                <c:pt idx="6">
                  <c:v>7</c:v>
                </c:pt>
                <c:pt idx="7">
                  <c:v>8</c:v>
                </c:pt>
              </c:strCache>
            </c:strRef>
          </c:cat>
          <c:val>
            <c:numRef>
              <c:f>Sheet1!$C$2:$C$9</c:f>
              <c:numCache>
                <c:formatCode>General</c:formatCode>
                <c:ptCount val="8"/>
                <c:pt idx="0">
                  <c:v>285</c:v>
                </c:pt>
                <c:pt idx="1">
                  <c:v>570</c:v>
                </c:pt>
                <c:pt idx="2">
                  <c:v>856</c:v>
                </c:pt>
                <c:pt idx="3">
                  <c:v>1141</c:v>
                </c:pt>
                <c:pt idx="4">
                  <c:v>1427</c:v>
                </c:pt>
                <c:pt idx="5">
                  <c:v>1712</c:v>
                </c:pt>
                <c:pt idx="6">
                  <c:v>1998</c:v>
                </c:pt>
                <c:pt idx="7">
                  <c:v>2283</c:v>
                </c:pt>
              </c:numCache>
            </c:numRef>
          </c:val>
          <c:smooth val="0"/>
          <c:extLst>
            <c:ext xmlns:c16="http://schemas.microsoft.com/office/drawing/2014/chart" uri="{C3380CC4-5D6E-409C-BE32-E72D297353CC}">
              <c16:uniqueId val="{00000011-F061-4755-BC15-8747A02D18C2}"/>
            </c:ext>
          </c:extLst>
        </c:ser>
        <c:ser>
          <c:idx val="2"/>
          <c:order val="2"/>
          <c:tx>
            <c:strRef>
              <c:f>Sheet1!$D$1</c:f>
              <c:strCache>
                <c:ptCount val="1"/>
                <c:pt idx="0">
                  <c:v>EDM</c:v>
                </c:pt>
              </c:strCache>
            </c:strRef>
          </c:tx>
          <c:spPr>
            <a:ln w="25400">
              <a:solidFill>
                <a:srgbClr val="1A724E"/>
              </a:solidFill>
            </a:ln>
          </c:spPr>
          <c:dPt>
            <c:idx val="0"/>
            <c:marker>
              <c:symbol val="diamond"/>
              <c:size val="3"/>
            </c:marker>
            <c:bubble3D val="0"/>
            <c:extLst>
              <c:ext xmlns:c16="http://schemas.microsoft.com/office/drawing/2014/chart" uri="{C3380CC4-5D6E-409C-BE32-E72D297353CC}">
                <c16:uniqueId val="{00000012-F061-4755-BC15-8747A02D18C2}"/>
              </c:ext>
            </c:extLst>
          </c:dPt>
          <c:dPt>
            <c:idx val="1"/>
            <c:marker>
              <c:symbol val="diamond"/>
              <c:size val="3"/>
            </c:marker>
            <c:bubble3D val="0"/>
            <c:extLst>
              <c:ext xmlns:c16="http://schemas.microsoft.com/office/drawing/2014/chart" uri="{C3380CC4-5D6E-409C-BE32-E72D297353CC}">
                <c16:uniqueId val="{00000013-F061-4755-BC15-8747A02D18C2}"/>
              </c:ext>
            </c:extLst>
          </c:dPt>
          <c:dPt>
            <c:idx val="2"/>
            <c:marker>
              <c:symbol val="diamond"/>
              <c:size val="3"/>
            </c:marker>
            <c:bubble3D val="0"/>
            <c:extLst>
              <c:ext xmlns:c16="http://schemas.microsoft.com/office/drawing/2014/chart" uri="{C3380CC4-5D6E-409C-BE32-E72D297353CC}">
                <c16:uniqueId val="{00000014-F061-4755-BC15-8747A02D18C2}"/>
              </c:ext>
            </c:extLst>
          </c:dPt>
          <c:dPt>
            <c:idx val="3"/>
            <c:marker>
              <c:symbol val="diamond"/>
              <c:size val="3"/>
            </c:marker>
            <c:bubble3D val="0"/>
            <c:extLst>
              <c:ext xmlns:c16="http://schemas.microsoft.com/office/drawing/2014/chart" uri="{C3380CC4-5D6E-409C-BE32-E72D297353CC}">
                <c16:uniqueId val="{00000015-F061-4755-BC15-8747A02D18C2}"/>
              </c:ext>
            </c:extLst>
          </c:dPt>
          <c:dPt>
            <c:idx val="4"/>
            <c:marker>
              <c:symbol val="diamond"/>
              <c:size val="3"/>
            </c:marker>
            <c:bubble3D val="0"/>
            <c:extLst>
              <c:ext xmlns:c16="http://schemas.microsoft.com/office/drawing/2014/chart" uri="{C3380CC4-5D6E-409C-BE32-E72D297353CC}">
                <c16:uniqueId val="{00000016-F061-4755-BC15-8747A02D18C2}"/>
              </c:ext>
            </c:extLst>
          </c:dPt>
          <c:dPt>
            <c:idx val="5"/>
            <c:marker>
              <c:symbol val="diamond"/>
              <c:size val="3"/>
            </c:marker>
            <c:bubble3D val="0"/>
            <c:extLst>
              <c:ext xmlns:c16="http://schemas.microsoft.com/office/drawing/2014/chart" uri="{C3380CC4-5D6E-409C-BE32-E72D297353CC}">
                <c16:uniqueId val="{00000017-F061-4755-BC15-8747A02D18C2}"/>
              </c:ext>
            </c:extLst>
          </c:dPt>
          <c:dPt>
            <c:idx val="6"/>
            <c:marker>
              <c:symbol val="diamond"/>
              <c:size val="3"/>
            </c:marker>
            <c:bubble3D val="0"/>
            <c:extLst>
              <c:ext xmlns:c16="http://schemas.microsoft.com/office/drawing/2014/chart" uri="{C3380CC4-5D6E-409C-BE32-E72D297353CC}">
                <c16:uniqueId val="{00000018-F061-4755-BC15-8747A02D18C2}"/>
              </c:ext>
            </c:extLst>
          </c:dPt>
          <c:dPt>
            <c:idx val="7"/>
            <c:marker>
              <c:symbol val="diamond"/>
              <c:size val="3"/>
            </c:marker>
            <c:bubble3D val="0"/>
            <c:extLst>
              <c:ext xmlns:c16="http://schemas.microsoft.com/office/drawing/2014/chart" uri="{C3380CC4-5D6E-409C-BE32-E72D297353CC}">
                <c16:uniqueId val="{00000019-F061-4755-BC15-8747A02D18C2}"/>
              </c:ext>
            </c:extLst>
          </c:dPt>
          <c:cat>
            <c:strRef>
              <c:f>Sheet1!$A$2:$A$9</c:f>
              <c:strCache>
                <c:ptCount val="8"/>
                <c:pt idx="0">
                  <c:v>1</c:v>
                </c:pt>
                <c:pt idx="1">
                  <c:v>2</c:v>
                </c:pt>
                <c:pt idx="2">
                  <c:v>3</c:v>
                </c:pt>
                <c:pt idx="3">
                  <c:v>4</c:v>
                </c:pt>
                <c:pt idx="4">
                  <c:v>5</c:v>
                </c:pt>
                <c:pt idx="5">
                  <c:v>6</c:v>
                </c:pt>
                <c:pt idx="6">
                  <c:v>7</c:v>
                </c:pt>
                <c:pt idx="7">
                  <c:v>8</c:v>
                </c:pt>
              </c:strCache>
            </c:strRef>
          </c:cat>
          <c:val>
            <c:numRef>
              <c:f>Sheet1!$D$2:$D$9</c:f>
              <c:numCache>
                <c:formatCode>General</c:formatCode>
                <c:ptCount val="8"/>
                <c:pt idx="0">
                  <c:v>200</c:v>
                </c:pt>
                <c:pt idx="1">
                  <c:v>401</c:v>
                </c:pt>
                <c:pt idx="2">
                  <c:v>601</c:v>
                </c:pt>
                <c:pt idx="3">
                  <c:v>802</c:v>
                </c:pt>
                <c:pt idx="4">
                  <c:v>1002</c:v>
                </c:pt>
                <c:pt idx="5">
                  <c:v>1203</c:v>
                </c:pt>
                <c:pt idx="6">
                  <c:v>1403</c:v>
                </c:pt>
                <c:pt idx="7">
                  <c:v>1604</c:v>
                </c:pt>
              </c:numCache>
            </c:numRef>
          </c:val>
          <c:smooth val="0"/>
          <c:extLst>
            <c:ext xmlns:c16="http://schemas.microsoft.com/office/drawing/2014/chart" uri="{C3380CC4-5D6E-409C-BE32-E72D297353CC}">
              <c16:uniqueId val="{0000001A-F061-4755-BC15-8747A02D18C2}"/>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min val="0"/>
        </c:scaling>
        <c:delete val="0"/>
        <c:axPos val="l"/>
        <c:numFmt formatCode="General" sourceLinked="1"/>
        <c:majorTickMark val="out"/>
        <c:minorTickMark val="none"/>
        <c:tickLblPos val="nextTo"/>
        <c:crossAx val="2118791784"/>
        <c:crosses val="autoZero"/>
        <c:crossBetween val="between"/>
      </c:valAx>
    </c:plotArea>
    <c:plotVisOnly val="1"/>
    <c:dispBlanksAs val="gap"/>
    <c:showDLblsOverMax val="0"/>
  </c:chart>
  <c:txPr>
    <a:bodyPr/>
    <a:lstStyle/>
    <a:p>
      <a:pPr>
        <a:defRPr sz="7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Actual</c:v>
                </c:pt>
              </c:strCache>
            </c:strRef>
          </c:tx>
          <c:spPr>
            <a:ln w="31750">
              <a:solidFill>
                <a:srgbClr val="102A4C"/>
              </a:solidFill>
            </a:ln>
          </c:spPr>
          <c:dPt>
            <c:idx val="0"/>
            <c:marker>
              <c:symbol val="diamond"/>
              <c:size val="3"/>
            </c:marker>
            <c:bubble3D val="0"/>
            <c:extLst>
              <c:ext xmlns:c16="http://schemas.microsoft.com/office/drawing/2014/chart" uri="{C3380CC4-5D6E-409C-BE32-E72D297353CC}">
                <c16:uniqueId val="{00000000-8ADF-40BE-B1B3-A5125AB39245}"/>
              </c:ext>
            </c:extLst>
          </c:dPt>
          <c:dPt>
            <c:idx val="1"/>
            <c:marker>
              <c:symbol val="diamond"/>
              <c:size val="3"/>
            </c:marker>
            <c:bubble3D val="0"/>
            <c:extLst>
              <c:ext xmlns:c16="http://schemas.microsoft.com/office/drawing/2014/chart" uri="{C3380CC4-5D6E-409C-BE32-E72D297353CC}">
                <c16:uniqueId val="{00000001-8ADF-40BE-B1B3-A5125AB39245}"/>
              </c:ext>
            </c:extLst>
          </c:dPt>
          <c:dPt>
            <c:idx val="2"/>
            <c:marker>
              <c:symbol val="diamond"/>
              <c:size val="3"/>
            </c:marker>
            <c:bubble3D val="0"/>
            <c:extLst>
              <c:ext xmlns:c16="http://schemas.microsoft.com/office/drawing/2014/chart" uri="{C3380CC4-5D6E-409C-BE32-E72D297353CC}">
                <c16:uniqueId val="{00000002-8ADF-40BE-B1B3-A5125AB39245}"/>
              </c:ext>
            </c:extLst>
          </c:dPt>
          <c:dPt>
            <c:idx val="3"/>
            <c:marker>
              <c:symbol val="diamond"/>
              <c:size val="3"/>
            </c:marker>
            <c:bubble3D val="0"/>
            <c:extLst>
              <c:ext xmlns:c16="http://schemas.microsoft.com/office/drawing/2014/chart" uri="{C3380CC4-5D6E-409C-BE32-E72D297353CC}">
                <c16:uniqueId val="{00000003-8ADF-40BE-B1B3-A5125AB39245}"/>
              </c:ext>
            </c:extLst>
          </c:dPt>
          <c:dPt>
            <c:idx val="4"/>
            <c:marker>
              <c:symbol val="diamond"/>
              <c:size val="3"/>
            </c:marker>
            <c:bubble3D val="0"/>
            <c:extLst>
              <c:ext xmlns:c16="http://schemas.microsoft.com/office/drawing/2014/chart" uri="{C3380CC4-5D6E-409C-BE32-E72D297353CC}">
                <c16:uniqueId val="{00000004-8ADF-40BE-B1B3-A5125AB39245}"/>
              </c:ext>
            </c:extLst>
          </c:dPt>
          <c:dPt>
            <c:idx val="5"/>
            <c:marker>
              <c:symbol val="diamond"/>
              <c:size val="3"/>
            </c:marker>
            <c:bubble3D val="0"/>
            <c:extLst>
              <c:ext xmlns:c16="http://schemas.microsoft.com/office/drawing/2014/chart" uri="{C3380CC4-5D6E-409C-BE32-E72D297353CC}">
                <c16:uniqueId val="{00000005-8ADF-40BE-B1B3-A5125AB39245}"/>
              </c:ext>
            </c:extLst>
          </c:dPt>
          <c:dPt>
            <c:idx val="6"/>
            <c:marker>
              <c:symbol val="diamond"/>
              <c:size val="3"/>
            </c:marker>
            <c:bubble3D val="0"/>
            <c:extLst>
              <c:ext xmlns:c16="http://schemas.microsoft.com/office/drawing/2014/chart" uri="{C3380CC4-5D6E-409C-BE32-E72D297353CC}">
                <c16:uniqueId val="{00000006-8ADF-40BE-B1B3-A5125AB39245}"/>
              </c:ext>
            </c:extLst>
          </c:dPt>
          <c:dPt>
            <c:idx val="7"/>
            <c:marker>
              <c:symbol val="diamond"/>
              <c:size val="3"/>
            </c:marker>
            <c:bubble3D val="0"/>
            <c:extLst>
              <c:ext xmlns:c16="http://schemas.microsoft.com/office/drawing/2014/chart" uri="{C3380CC4-5D6E-409C-BE32-E72D297353CC}">
                <c16:uniqueId val="{00000007-8ADF-40BE-B1B3-A5125AB39245}"/>
              </c:ext>
            </c:extLst>
          </c:dPt>
          <c:cat>
            <c:strRef>
              <c:f>Sheet1!$A$2:$A$9</c:f>
              <c:strCache>
                <c:ptCount val="8"/>
                <c:pt idx="0">
                  <c:v>1</c:v>
                </c:pt>
                <c:pt idx="1">
                  <c:v>2</c:v>
                </c:pt>
                <c:pt idx="2">
                  <c:v>3</c:v>
                </c:pt>
                <c:pt idx="3">
                  <c:v>4</c:v>
                </c:pt>
                <c:pt idx="4">
                  <c:v>5</c:v>
                </c:pt>
                <c:pt idx="5">
                  <c:v>6</c:v>
                </c:pt>
                <c:pt idx="6">
                  <c:v>7</c:v>
                </c:pt>
                <c:pt idx="7">
                  <c:v>8</c:v>
                </c:pt>
              </c:strCache>
            </c:strRef>
          </c:cat>
          <c:val>
            <c:numRef>
              <c:f>Sheet1!$B$2:$B$9</c:f>
              <c:numCache>
                <c:formatCode>General</c:formatCode>
                <c:ptCount val="8"/>
                <c:pt idx="0">
                  <c:v>31</c:v>
                </c:pt>
                <c:pt idx="1">
                  <c:v>43</c:v>
                </c:pt>
                <c:pt idx="2">
                  <c:v>99</c:v>
                </c:pt>
                <c:pt idx="3">
                  <c:v>120</c:v>
                </c:pt>
                <c:pt idx="4">
                  <c:v>130</c:v>
                </c:pt>
                <c:pt idx="5">
                  <c:v>138</c:v>
                </c:pt>
                <c:pt idx="6">
                  <c:v>141</c:v>
                </c:pt>
                <c:pt idx="7">
                  <c:v>144</c:v>
                </c:pt>
              </c:numCache>
            </c:numRef>
          </c:val>
          <c:smooth val="0"/>
          <c:extLst>
            <c:ext xmlns:c16="http://schemas.microsoft.com/office/drawing/2014/chart" uri="{C3380CC4-5D6E-409C-BE32-E72D297353CC}">
              <c16:uniqueId val="{00000008-8ADF-40BE-B1B3-A5125AB39245}"/>
            </c:ext>
          </c:extLst>
        </c:ser>
        <c:ser>
          <c:idx val="1"/>
          <c:order val="1"/>
          <c:tx>
            <c:strRef>
              <c:f>Sheet1!$C$1</c:f>
              <c:strCache>
                <c:ptCount val="1"/>
                <c:pt idx="0">
                  <c:v>Legacy</c:v>
                </c:pt>
              </c:strCache>
            </c:strRef>
          </c:tx>
          <c:spPr>
            <a:ln w="19050">
              <a:solidFill>
                <a:srgbClr val="B4262C"/>
              </a:solidFill>
            </a:ln>
          </c:spPr>
          <c:dPt>
            <c:idx val="0"/>
            <c:marker>
              <c:symbol val="diamond"/>
              <c:size val="3"/>
            </c:marker>
            <c:bubble3D val="0"/>
            <c:extLst>
              <c:ext xmlns:c16="http://schemas.microsoft.com/office/drawing/2014/chart" uri="{C3380CC4-5D6E-409C-BE32-E72D297353CC}">
                <c16:uniqueId val="{00000009-8ADF-40BE-B1B3-A5125AB39245}"/>
              </c:ext>
            </c:extLst>
          </c:dPt>
          <c:dPt>
            <c:idx val="1"/>
            <c:marker>
              <c:symbol val="diamond"/>
              <c:size val="3"/>
            </c:marker>
            <c:bubble3D val="0"/>
            <c:extLst>
              <c:ext xmlns:c16="http://schemas.microsoft.com/office/drawing/2014/chart" uri="{C3380CC4-5D6E-409C-BE32-E72D297353CC}">
                <c16:uniqueId val="{0000000A-8ADF-40BE-B1B3-A5125AB39245}"/>
              </c:ext>
            </c:extLst>
          </c:dPt>
          <c:dPt>
            <c:idx val="2"/>
            <c:marker>
              <c:symbol val="diamond"/>
              <c:size val="3"/>
            </c:marker>
            <c:bubble3D val="0"/>
            <c:extLst>
              <c:ext xmlns:c16="http://schemas.microsoft.com/office/drawing/2014/chart" uri="{C3380CC4-5D6E-409C-BE32-E72D297353CC}">
                <c16:uniqueId val="{0000000B-8ADF-40BE-B1B3-A5125AB39245}"/>
              </c:ext>
            </c:extLst>
          </c:dPt>
          <c:dPt>
            <c:idx val="3"/>
            <c:marker>
              <c:symbol val="diamond"/>
              <c:size val="3"/>
            </c:marker>
            <c:bubble3D val="0"/>
            <c:extLst>
              <c:ext xmlns:c16="http://schemas.microsoft.com/office/drawing/2014/chart" uri="{C3380CC4-5D6E-409C-BE32-E72D297353CC}">
                <c16:uniqueId val="{0000000C-8ADF-40BE-B1B3-A5125AB39245}"/>
              </c:ext>
            </c:extLst>
          </c:dPt>
          <c:dPt>
            <c:idx val="4"/>
            <c:marker>
              <c:symbol val="diamond"/>
              <c:size val="3"/>
            </c:marker>
            <c:bubble3D val="0"/>
            <c:extLst>
              <c:ext xmlns:c16="http://schemas.microsoft.com/office/drawing/2014/chart" uri="{C3380CC4-5D6E-409C-BE32-E72D297353CC}">
                <c16:uniqueId val="{0000000D-8ADF-40BE-B1B3-A5125AB39245}"/>
              </c:ext>
            </c:extLst>
          </c:dPt>
          <c:dPt>
            <c:idx val="5"/>
            <c:marker>
              <c:symbol val="diamond"/>
              <c:size val="3"/>
            </c:marker>
            <c:bubble3D val="0"/>
            <c:extLst>
              <c:ext xmlns:c16="http://schemas.microsoft.com/office/drawing/2014/chart" uri="{C3380CC4-5D6E-409C-BE32-E72D297353CC}">
                <c16:uniqueId val="{0000000E-8ADF-40BE-B1B3-A5125AB39245}"/>
              </c:ext>
            </c:extLst>
          </c:dPt>
          <c:dPt>
            <c:idx val="6"/>
            <c:marker>
              <c:symbol val="diamond"/>
              <c:size val="3"/>
            </c:marker>
            <c:bubble3D val="0"/>
            <c:extLst>
              <c:ext xmlns:c16="http://schemas.microsoft.com/office/drawing/2014/chart" uri="{C3380CC4-5D6E-409C-BE32-E72D297353CC}">
                <c16:uniqueId val="{0000000F-8ADF-40BE-B1B3-A5125AB39245}"/>
              </c:ext>
            </c:extLst>
          </c:dPt>
          <c:dPt>
            <c:idx val="7"/>
            <c:marker>
              <c:symbol val="diamond"/>
              <c:size val="3"/>
            </c:marker>
            <c:bubble3D val="0"/>
            <c:extLst>
              <c:ext xmlns:c16="http://schemas.microsoft.com/office/drawing/2014/chart" uri="{C3380CC4-5D6E-409C-BE32-E72D297353CC}">
                <c16:uniqueId val="{00000010-8ADF-40BE-B1B3-A5125AB39245}"/>
              </c:ext>
            </c:extLst>
          </c:dPt>
          <c:cat>
            <c:strRef>
              <c:f>Sheet1!$A$2:$A$9</c:f>
              <c:strCache>
                <c:ptCount val="8"/>
                <c:pt idx="0">
                  <c:v>1</c:v>
                </c:pt>
                <c:pt idx="1">
                  <c:v>2</c:v>
                </c:pt>
                <c:pt idx="2">
                  <c:v>3</c:v>
                </c:pt>
                <c:pt idx="3">
                  <c:v>4</c:v>
                </c:pt>
                <c:pt idx="4">
                  <c:v>5</c:v>
                </c:pt>
                <c:pt idx="5">
                  <c:v>6</c:v>
                </c:pt>
                <c:pt idx="6">
                  <c:v>7</c:v>
                </c:pt>
                <c:pt idx="7">
                  <c:v>8</c:v>
                </c:pt>
              </c:strCache>
            </c:strRef>
          </c:cat>
          <c:val>
            <c:numRef>
              <c:f>Sheet1!$C$2:$C$9</c:f>
              <c:numCache>
                <c:formatCode>General</c:formatCode>
                <c:ptCount val="8"/>
                <c:pt idx="0">
                  <c:v>14</c:v>
                </c:pt>
                <c:pt idx="1">
                  <c:v>28</c:v>
                </c:pt>
                <c:pt idx="2">
                  <c:v>43</c:v>
                </c:pt>
                <c:pt idx="3">
                  <c:v>57</c:v>
                </c:pt>
                <c:pt idx="4">
                  <c:v>71</c:v>
                </c:pt>
                <c:pt idx="5">
                  <c:v>86</c:v>
                </c:pt>
                <c:pt idx="6">
                  <c:v>100</c:v>
                </c:pt>
                <c:pt idx="7">
                  <c:v>115</c:v>
                </c:pt>
              </c:numCache>
            </c:numRef>
          </c:val>
          <c:smooth val="0"/>
          <c:extLst>
            <c:ext xmlns:c16="http://schemas.microsoft.com/office/drawing/2014/chart" uri="{C3380CC4-5D6E-409C-BE32-E72D297353CC}">
              <c16:uniqueId val="{00000011-8ADF-40BE-B1B3-A5125AB39245}"/>
            </c:ext>
          </c:extLst>
        </c:ser>
        <c:ser>
          <c:idx val="2"/>
          <c:order val="2"/>
          <c:tx>
            <c:strRef>
              <c:f>Sheet1!$D$1</c:f>
              <c:strCache>
                <c:ptCount val="1"/>
                <c:pt idx="0">
                  <c:v>EDM</c:v>
                </c:pt>
              </c:strCache>
            </c:strRef>
          </c:tx>
          <c:spPr>
            <a:ln w="25400">
              <a:solidFill>
                <a:srgbClr val="1A724E"/>
              </a:solidFill>
            </a:ln>
          </c:spPr>
          <c:dPt>
            <c:idx val="0"/>
            <c:marker>
              <c:symbol val="diamond"/>
              <c:size val="3"/>
            </c:marker>
            <c:bubble3D val="0"/>
            <c:extLst>
              <c:ext xmlns:c16="http://schemas.microsoft.com/office/drawing/2014/chart" uri="{C3380CC4-5D6E-409C-BE32-E72D297353CC}">
                <c16:uniqueId val="{00000012-8ADF-40BE-B1B3-A5125AB39245}"/>
              </c:ext>
            </c:extLst>
          </c:dPt>
          <c:dPt>
            <c:idx val="1"/>
            <c:marker>
              <c:symbol val="diamond"/>
              <c:size val="3"/>
            </c:marker>
            <c:bubble3D val="0"/>
            <c:extLst>
              <c:ext xmlns:c16="http://schemas.microsoft.com/office/drawing/2014/chart" uri="{C3380CC4-5D6E-409C-BE32-E72D297353CC}">
                <c16:uniqueId val="{00000013-8ADF-40BE-B1B3-A5125AB39245}"/>
              </c:ext>
            </c:extLst>
          </c:dPt>
          <c:dPt>
            <c:idx val="2"/>
            <c:marker>
              <c:symbol val="diamond"/>
              <c:size val="3"/>
            </c:marker>
            <c:bubble3D val="0"/>
            <c:extLst>
              <c:ext xmlns:c16="http://schemas.microsoft.com/office/drawing/2014/chart" uri="{C3380CC4-5D6E-409C-BE32-E72D297353CC}">
                <c16:uniqueId val="{00000014-8ADF-40BE-B1B3-A5125AB39245}"/>
              </c:ext>
            </c:extLst>
          </c:dPt>
          <c:dPt>
            <c:idx val="3"/>
            <c:marker>
              <c:symbol val="diamond"/>
              <c:size val="3"/>
            </c:marker>
            <c:bubble3D val="0"/>
            <c:extLst>
              <c:ext xmlns:c16="http://schemas.microsoft.com/office/drawing/2014/chart" uri="{C3380CC4-5D6E-409C-BE32-E72D297353CC}">
                <c16:uniqueId val="{00000015-8ADF-40BE-B1B3-A5125AB39245}"/>
              </c:ext>
            </c:extLst>
          </c:dPt>
          <c:dPt>
            <c:idx val="4"/>
            <c:marker>
              <c:symbol val="diamond"/>
              <c:size val="3"/>
            </c:marker>
            <c:bubble3D val="0"/>
            <c:extLst>
              <c:ext xmlns:c16="http://schemas.microsoft.com/office/drawing/2014/chart" uri="{C3380CC4-5D6E-409C-BE32-E72D297353CC}">
                <c16:uniqueId val="{00000016-8ADF-40BE-B1B3-A5125AB39245}"/>
              </c:ext>
            </c:extLst>
          </c:dPt>
          <c:dPt>
            <c:idx val="5"/>
            <c:marker>
              <c:symbol val="diamond"/>
              <c:size val="3"/>
            </c:marker>
            <c:bubble3D val="0"/>
            <c:extLst>
              <c:ext xmlns:c16="http://schemas.microsoft.com/office/drawing/2014/chart" uri="{C3380CC4-5D6E-409C-BE32-E72D297353CC}">
                <c16:uniqueId val="{00000017-8ADF-40BE-B1B3-A5125AB39245}"/>
              </c:ext>
            </c:extLst>
          </c:dPt>
          <c:dPt>
            <c:idx val="6"/>
            <c:marker>
              <c:symbol val="diamond"/>
              <c:size val="3"/>
            </c:marker>
            <c:bubble3D val="0"/>
            <c:extLst>
              <c:ext xmlns:c16="http://schemas.microsoft.com/office/drawing/2014/chart" uri="{C3380CC4-5D6E-409C-BE32-E72D297353CC}">
                <c16:uniqueId val="{00000018-8ADF-40BE-B1B3-A5125AB39245}"/>
              </c:ext>
            </c:extLst>
          </c:dPt>
          <c:dPt>
            <c:idx val="7"/>
            <c:marker>
              <c:symbol val="diamond"/>
              <c:size val="3"/>
            </c:marker>
            <c:bubble3D val="0"/>
            <c:extLst>
              <c:ext xmlns:c16="http://schemas.microsoft.com/office/drawing/2014/chart" uri="{C3380CC4-5D6E-409C-BE32-E72D297353CC}">
                <c16:uniqueId val="{00000019-8ADF-40BE-B1B3-A5125AB39245}"/>
              </c:ext>
            </c:extLst>
          </c:dPt>
          <c:cat>
            <c:strRef>
              <c:f>Sheet1!$A$2:$A$9</c:f>
              <c:strCache>
                <c:ptCount val="8"/>
                <c:pt idx="0">
                  <c:v>1</c:v>
                </c:pt>
                <c:pt idx="1">
                  <c:v>2</c:v>
                </c:pt>
                <c:pt idx="2">
                  <c:v>3</c:v>
                </c:pt>
                <c:pt idx="3">
                  <c:v>4</c:v>
                </c:pt>
                <c:pt idx="4">
                  <c:v>5</c:v>
                </c:pt>
                <c:pt idx="5">
                  <c:v>6</c:v>
                </c:pt>
                <c:pt idx="6">
                  <c:v>7</c:v>
                </c:pt>
                <c:pt idx="7">
                  <c:v>8</c:v>
                </c:pt>
              </c:strCache>
            </c:strRef>
          </c:cat>
          <c:val>
            <c:numRef>
              <c:f>Sheet1!$D$2:$D$9</c:f>
              <c:numCache>
                <c:formatCode>General</c:formatCode>
                <c:ptCount val="8"/>
                <c:pt idx="0">
                  <c:v>12</c:v>
                </c:pt>
                <c:pt idx="1">
                  <c:v>25</c:v>
                </c:pt>
                <c:pt idx="2">
                  <c:v>38</c:v>
                </c:pt>
                <c:pt idx="3">
                  <c:v>50</c:v>
                </c:pt>
                <c:pt idx="4">
                  <c:v>63</c:v>
                </c:pt>
                <c:pt idx="5">
                  <c:v>76</c:v>
                </c:pt>
                <c:pt idx="6">
                  <c:v>88</c:v>
                </c:pt>
                <c:pt idx="7">
                  <c:v>101</c:v>
                </c:pt>
              </c:numCache>
            </c:numRef>
          </c:val>
          <c:smooth val="0"/>
          <c:extLst>
            <c:ext xmlns:c16="http://schemas.microsoft.com/office/drawing/2014/chart" uri="{C3380CC4-5D6E-409C-BE32-E72D297353CC}">
              <c16:uniqueId val="{0000001A-8ADF-40BE-B1B3-A5125AB39245}"/>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min val="0"/>
        </c:scaling>
        <c:delete val="0"/>
        <c:axPos val="l"/>
        <c:numFmt formatCode="General" sourceLinked="1"/>
        <c:majorTickMark val="out"/>
        <c:minorTickMark val="none"/>
        <c:tickLblPos val="nextTo"/>
        <c:crossAx val="2118791784"/>
        <c:crosses val="autoZero"/>
        <c:crossBetween val="between"/>
      </c:valAx>
    </c:plotArea>
    <c:plotVisOnly val="1"/>
    <c:dispBlanksAs val="gap"/>
    <c:showDLblsOverMax val="0"/>
  </c:chart>
  <c:txPr>
    <a:bodyPr/>
    <a:lstStyle/>
    <a:p>
      <a:pPr>
        <a:defRPr sz="7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Actual</c:v>
                </c:pt>
              </c:strCache>
            </c:strRef>
          </c:tx>
          <c:spPr>
            <a:ln w="31750">
              <a:solidFill>
                <a:srgbClr val="102A4C"/>
              </a:solidFill>
            </a:ln>
          </c:spPr>
          <c:dPt>
            <c:idx val="0"/>
            <c:marker>
              <c:symbol val="diamond"/>
              <c:size val="3"/>
            </c:marker>
            <c:bubble3D val="0"/>
            <c:extLst>
              <c:ext xmlns:c16="http://schemas.microsoft.com/office/drawing/2014/chart" uri="{C3380CC4-5D6E-409C-BE32-E72D297353CC}">
                <c16:uniqueId val="{00000000-FB1D-4E3B-B14F-0F539FED2C34}"/>
              </c:ext>
            </c:extLst>
          </c:dPt>
          <c:dPt>
            <c:idx val="1"/>
            <c:marker>
              <c:symbol val="diamond"/>
              <c:size val="3"/>
            </c:marker>
            <c:bubble3D val="0"/>
            <c:extLst>
              <c:ext xmlns:c16="http://schemas.microsoft.com/office/drawing/2014/chart" uri="{C3380CC4-5D6E-409C-BE32-E72D297353CC}">
                <c16:uniqueId val="{00000001-FB1D-4E3B-B14F-0F539FED2C34}"/>
              </c:ext>
            </c:extLst>
          </c:dPt>
          <c:dPt>
            <c:idx val="2"/>
            <c:marker>
              <c:symbol val="diamond"/>
              <c:size val="3"/>
            </c:marker>
            <c:bubble3D val="0"/>
            <c:extLst>
              <c:ext xmlns:c16="http://schemas.microsoft.com/office/drawing/2014/chart" uri="{C3380CC4-5D6E-409C-BE32-E72D297353CC}">
                <c16:uniqueId val="{00000002-FB1D-4E3B-B14F-0F539FED2C34}"/>
              </c:ext>
            </c:extLst>
          </c:dPt>
          <c:dPt>
            <c:idx val="3"/>
            <c:marker>
              <c:symbol val="diamond"/>
              <c:size val="3"/>
            </c:marker>
            <c:bubble3D val="0"/>
            <c:extLst>
              <c:ext xmlns:c16="http://schemas.microsoft.com/office/drawing/2014/chart" uri="{C3380CC4-5D6E-409C-BE32-E72D297353CC}">
                <c16:uniqueId val="{00000003-FB1D-4E3B-B14F-0F539FED2C34}"/>
              </c:ext>
            </c:extLst>
          </c:dPt>
          <c:dPt>
            <c:idx val="4"/>
            <c:marker>
              <c:symbol val="diamond"/>
              <c:size val="3"/>
            </c:marker>
            <c:bubble3D val="0"/>
            <c:extLst>
              <c:ext xmlns:c16="http://schemas.microsoft.com/office/drawing/2014/chart" uri="{C3380CC4-5D6E-409C-BE32-E72D297353CC}">
                <c16:uniqueId val="{00000004-FB1D-4E3B-B14F-0F539FED2C34}"/>
              </c:ext>
            </c:extLst>
          </c:dPt>
          <c:dPt>
            <c:idx val="5"/>
            <c:marker>
              <c:symbol val="diamond"/>
              <c:size val="3"/>
            </c:marker>
            <c:bubble3D val="0"/>
            <c:extLst>
              <c:ext xmlns:c16="http://schemas.microsoft.com/office/drawing/2014/chart" uri="{C3380CC4-5D6E-409C-BE32-E72D297353CC}">
                <c16:uniqueId val="{00000005-FB1D-4E3B-B14F-0F539FED2C34}"/>
              </c:ext>
            </c:extLst>
          </c:dPt>
          <c:dPt>
            <c:idx val="6"/>
            <c:marker>
              <c:symbol val="diamond"/>
              <c:size val="3"/>
            </c:marker>
            <c:bubble3D val="0"/>
            <c:extLst>
              <c:ext xmlns:c16="http://schemas.microsoft.com/office/drawing/2014/chart" uri="{C3380CC4-5D6E-409C-BE32-E72D297353CC}">
                <c16:uniqueId val="{00000006-FB1D-4E3B-B14F-0F539FED2C34}"/>
              </c:ext>
            </c:extLst>
          </c:dPt>
          <c:dPt>
            <c:idx val="7"/>
            <c:marker>
              <c:symbol val="diamond"/>
              <c:size val="3"/>
            </c:marker>
            <c:bubble3D val="0"/>
            <c:extLst>
              <c:ext xmlns:c16="http://schemas.microsoft.com/office/drawing/2014/chart" uri="{C3380CC4-5D6E-409C-BE32-E72D297353CC}">
                <c16:uniqueId val="{00000007-FB1D-4E3B-B14F-0F539FED2C34}"/>
              </c:ext>
            </c:extLst>
          </c:dPt>
          <c:cat>
            <c:strRef>
              <c:f>Sheet1!$A$2:$A$9</c:f>
              <c:strCache>
                <c:ptCount val="8"/>
                <c:pt idx="0">
                  <c:v>1</c:v>
                </c:pt>
                <c:pt idx="1">
                  <c:v>2</c:v>
                </c:pt>
                <c:pt idx="2">
                  <c:v>3</c:v>
                </c:pt>
                <c:pt idx="3">
                  <c:v>4</c:v>
                </c:pt>
                <c:pt idx="4">
                  <c:v>5</c:v>
                </c:pt>
                <c:pt idx="5">
                  <c:v>6</c:v>
                </c:pt>
                <c:pt idx="6">
                  <c:v>7</c:v>
                </c:pt>
                <c:pt idx="7">
                  <c:v>8</c:v>
                </c:pt>
              </c:strCache>
            </c:strRef>
          </c:cat>
          <c:val>
            <c:numRef>
              <c:f>Sheet1!$B$2:$B$9</c:f>
              <c:numCache>
                <c:formatCode>General</c:formatCode>
                <c:ptCount val="8"/>
                <c:pt idx="0">
                  <c:v>2</c:v>
                </c:pt>
                <c:pt idx="1">
                  <c:v>269</c:v>
                </c:pt>
                <c:pt idx="2">
                  <c:v>991</c:v>
                </c:pt>
                <c:pt idx="3">
                  <c:v>1131</c:v>
                </c:pt>
                <c:pt idx="4">
                  <c:v>1462</c:v>
                </c:pt>
                <c:pt idx="5">
                  <c:v>1708</c:v>
                </c:pt>
                <c:pt idx="6">
                  <c:v>1709</c:v>
                </c:pt>
                <c:pt idx="7">
                  <c:v>1845</c:v>
                </c:pt>
              </c:numCache>
            </c:numRef>
          </c:val>
          <c:smooth val="0"/>
          <c:extLst>
            <c:ext xmlns:c16="http://schemas.microsoft.com/office/drawing/2014/chart" uri="{C3380CC4-5D6E-409C-BE32-E72D297353CC}">
              <c16:uniqueId val="{00000008-FB1D-4E3B-B14F-0F539FED2C34}"/>
            </c:ext>
          </c:extLst>
        </c:ser>
        <c:ser>
          <c:idx val="1"/>
          <c:order val="1"/>
          <c:tx>
            <c:strRef>
              <c:f>Sheet1!$C$1</c:f>
              <c:strCache>
                <c:ptCount val="1"/>
                <c:pt idx="0">
                  <c:v>Legacy</c:v>
                </c:pt>
              </c:strCache>
            </c:strRef>
          </c:tx>
          <c:spPr>
            <a:ln w="19050">
              <a:solidFill>
                <a:srgbClr val="B4262C"/>
              </a:solidFill>
            </a:ln>
          </c:spPr>
          <c:dPt>
            <c:idx val="0"/>
            <c:marker>
              <c:symbol val="diamond"/>
              <c:size val="3"/>
            </c:marker>
            <c:bubble3D val="0"/>
            <c:extLst>
              <c:ext xmlns:c16="http://schemas.microsoft.com/office/drawing/2014/chart" uri="{C3380CC4-5D6E-409C-BE32-E72D297353CC}">
                <c16:uniqueId val="{00000009-FB1D-4E3B-B14F-0F539FED2C34}"/>
              </c:ext>
            </c:extLst>
          </c:dPt>
          <c:dPt>
            <c:idx val="1"/>
            <c:marker>
              <c:symbol val="diamond"/>
              <c:size val="3"/>
            </c:marker>
            <c:bubble3D val="0"/>
            <c:extLst>
              <c:ext xmlns:c16="http://schemas.microsoft.com/office/drawing/2014/chart" uri="{C3380CC4-5D6E-409C-BE32-E72D297353CC}">
                <c16:uniqueId val="{0000000A-FB1D-4E3B-B14F-0F539FED2C34}"/>
              </c:ext>
            </c:extLst>
          </c:dPt>
          <c:dPt>
            <c:idx val="2"/>
            <c:marker>
              <c:symbol val="diamond"/>
              <c:size val="3"/>
            </c:marker>
            <c:bubble3D val="0"/>
            <c:extLst>
              <c:ext xmlns:c16="http://schemas.microsoft.com/office/drawing/2014/chart" uri="{C3380CC4-5D6E-409C-BE32-E72D297353CC}">
                <c16:uniqueId val="{0000000B-FB1D-4E3B-B14F-0F539FED2C34}"/>
              </c:ext>
            </c:extLst>
          </c:dPt>
          <c:dPt>
            <c:idx val="3"/>
            <c:marker>
              <c:symbol val="diamond"/>
              <c:size val="3"/>
            </c:marker>
            <c:bubble3D val="0"/>
            <c:extLst>
              <c:ext xmlns:c16="http://schemas.microsoft.com/office/drawing/2014/chart" uri="{C3380CC4-5D6E-409C-BE32-E72D297353CC}">
                <c16:uniqueId val="{0000000C-FB1D-4E3B-B14F-0F539FED2C34}"/>
              </c:ext>
            </c:extLst>
          </c:dPt>
          <c:dPt>
            <c:idx val="4"/>
            <c:marker>
              <c:symbol val="diamond"/>
              <c:size val="3"/>
            </c:marker>
            <c:bubble3D val="0"/>
            <c:extLst>
              <c:ext xmlns:c16="http://schemas.microsoft.com/office/drawing/2014/chart" uri="{C3380CC4-5D6E-409C-BE32-E72D297353CC}">
                <c16:uniqueId val="{0000000D-FB1D-4E3B-B14F-0F539FED2C34}"/>
              </c:ext>
            </c:extLst>
          </c:dPt>
          <c:dPt>
            <c:idx val="5"/>
            <c:marker>
              <c:symbol val="diamond"/>
              <c:size val="3"/>
            </c:marker>
            <c:bubble3D val="0"/>
            <c:extLst>
              <c:ext xmlns:c16="http://schemas.microsoft.com/office/drawing/2014/chart" uri="{C3380CC4-5D6E-409C-BE32-E72D297353CC}">
                <c16:uniqueId val="{0000000E-FB1D-4E3B-B14F-0F539FED2C34}"/>
              </c:ext>
            </c:extLst>
          </c:dPt>
          <c:dPt>
            <c:idx val="6"/>
            <c:marker>
              <c:symbol val="diamond"/>
              <c:size val="3"/>
            </c:marker>
            <c:bubble3D val="0"/>
            <c:extLst>
              <c:ext xmlns:c16="http://schemas.microsoft.com/office/drawing/2014/chart" uri="{C3380CC4-5D6E-409C-BE32-E72D297353CC}">
                <c16:uniqueId val="{0000000F-FB1D-4E3B-B14F-0F539FED2C34}"/>
              </c:ext>
            </c:extLst>
          </c:dPt>
          <c:dPt>
            <c:idx val="7"/>
            <c:marker>
              <c:symbol val="diamond"/>
              <c:size val="3"/>
            </c:marker>
            <c:bubble3D val="0"/>
            <c:extLst>
              <c:ext xmlns:c16="http://schemas.microsoft.com/office/drawing/2014/chart" uri="{C3380CC4-5D6E-409C-BE32-E72D297353CC}">
                <c16:uniqueId val="{00000010-FB1D-4E3B-B14F-0F539FED2C34}"/>
              </c:ext>
            </c:extLst>
          </c:dPt>
          <c:cat>
            <c:strRef>
              <c:f>Sheet1!$A$2:$A$9</c:f>
              <c:strCache>
                <c:ptCount val="8"/>
                <c:pt idx="0">
                  <c:v>1</c:v>
                </c:pt>
                <c:pt idx="1">
                  <c:v>2</c:v>
                </c:pt>
                <c:pt idx="2">
                  <c:v>3</c:v>
                </c:pt>
                <c:pt idx="3">
                  <c:v>4</c:v>
                </c:pt>
                <c:pt idx="4">
                  <c:v>5</c:v>
                </c:pt>
                <c:pt idx="5">
                  <c:v>6</c:v>
                </c:pt>
                <c:pt idx="6">
                  <c:v>7</c:v>
                </c:pt>
                <c:pt idx="7">
                  <c:v>8</c:v>
                </c:pt>
              </c:strCache>
            </c:strRef>
          </c:cat>
          <c:val>
            <c:numRef>
              <c:f>Sheet1!$C$2:$C$9</c:f>
              <c:numCache>
                <c:formatCode>General</c:formatCode>
                <c:ptCount val="8"/>
                <c:pt idx="0">
                  <c:v>300</c:v>
                </c:pt>
                <c:pt idx="1">
                  <c:v>600</c:v>
                </c:pt>
                <c:pt idx="2">
                  <c:v>900</c:v>
                </c:pt>
                <c:pt idx="3">
                  <c:v>1200</c:v>
                </c:pt>
                <c:pt idx="4">
                  <c:v>1500</c:v>
                </c:pt>
                <c:pt idx="5">
                  <c:v>1800</c:v>
                </c:pt>
                <c:pt idx="6">
                  <c:v>2100</c:v>
                </c:pt>
                <c:pt idx="7">
                  <c:v>2400</c:v>
                </c:pt>
              </c:numCache>
            </c:numRef>
          </c:val>
          <c:smooth val="0"/>
          <c:extLst>
            <c:ext xmlns:c16="http://schemas.microsoft.com/office/drawing/2014/chart" uri="{C3380CC4-5D6E-409C-BE32-E72D297353CC}">
              <c16:uniqueId val="{00000011-FB1D-4E3B-B14F-0F539FED2C34}"/>
            </c:ext>
          </c:extLst>
        </c:ser>
        <c:ser>
          <c:idx val="2"/>
          <c:order val="2"/>
          <c:tx>
            <c:strRef>
              <c:f>Sheet1!$D$1</c:f>
              <c:strCache>
                <c:ptCount val="1"/>
                <c:pt idx="0">
                  <c:v>EDM</c:v>
                </c:pt>
              </c:strCache>
            </c:strRef>
          </c:tx>
          <c:spPr>
            <a:ln w="25400">
              <a:solidFill>
                <a:srgbClr val="1A724E"/>
              </a:solidFill>
            </a:ln>
          </c:spPr>
          <c:dPt>
            <c:idx val="0"/>
            <c:marker>
              <c:symbol val="diamond"/>
              <c:size val="3"/>
            </c:marker>
            <c:bubble3D val="0"/>
            <c:extLst>
              <c:ext xmlns:c16="http://schemas.microsoft.com/office/drawing/2014/chart" uri="{C3380CC4-5D6E-409C-BE32-E72D297353CC}">
                <c16:uniqueId val="{00000012-FB1D-4E3B-B14F-0F539FED2C34}"/>
              </c:ext>
            </c:extLst>
          </c:dPt>
          <c:dPt>
            <c:idx val="1"/>
            <c:marker>
              <c:symbol val="diamond"/>
              <c:size val="3"/>
            </c:marker>
            <c:bubble3D val="0"/>
            <c:extLst>
              <c:ext xmlns:c16="http://schemas.microsoft.com/office/drawing/2014/chart" uri="{C3380CC4-5D6E-409C-BE32-E72D297353CC}">
                <c16:uniqueId val="{00000013-FB1D-4E3B-B14F-0F539FED2C34}"/>
              </c:ext>
            </c:extLst>
          </c:dPt>
          <c:dPt>
            <c:idx val="2"/>
            <c:marker>
              <c:symbol val="diamond"/>
              <c:size val="3"/>
            </c:marker>
            <c:bubble3D val="0"/>
            <c:extLst>
              <c:ext xmlns:c16="http://schemas.microsoft.com/office/drawing/2014/chart" uri="{C3380CC4-5D6E-409C-BE32-E72D297353CC}">
                <c16:uniqueId val="{00000014-FB1D-4E3B-B14F-0F539FED2C34}"/>
              </c:ext>
            </c:extLst>
          </c:dPt>
          <c:dPt>
            <c:idx val="3"/>
            <c:marker>
              <c:symbol val="diamond"/>
              <c:size val="3"/>
            </c:marker>
            <c:bubble3D val="0"/>
            <c:extLst>
              <c:ext xmlns:c16="http://schemas.microsoft.com/office/drawing/2014/chart" uri="{C3380CC4-5D6E-409C-BE32-E72D297353CC}">
                <c16:uniqueId val="{00000015-FB1D-4E3B-B14F-0F539FED2C34}"/>
              </c:ext>
            </c:extLst>
          </c:dPt>
          <c:dPt>
            <c:idx val="4"/>
            <c:marker>
              <c:symbol val="diamond"/>
              <c:size val="3"/>
            </c:marker>
            <c:bubble3D val="0"/>
            <c:extLst>
              <c:ext xmlns:c16="http://schemas.microsoft.com/office/drawing/2014/chart" uri="{C3380CC4-5D6E-409C-BE32-E72D297353CC}">
                <c16:uniqueId val="{00000016-FB1D-4E3B-B14F-0F539FED2C34}"/>
              </c:ext>
            </c:extLst>
          </c:dPt>
          <c:dPt>
            <c:idx val="5"/>
            <c:marker>
              <c:symbol val="diamond"/>
              <c:size val="3"/>
            </c:marker>
            <c:bubble3D val="0"/>
            <c:extLst>
              <c:ext xmlns:c16="http://schemas.microsoft.com/office/drawing/2014/chart" uri="{C3380CC4-5D6E-409C-BE32-E72D297353CC}">
                <c16:uniqueId val="{00000017-FB1D-4E3B-B14F-0F539FED2C34}"/>
              </c:ext>
            </c:extLst>
          </c:dPt>
          <c:dPt>
            <c:idx val="6"/>
            <c:marker>
              <c:symbol val="diamond"/>
              <c:size val="3"/>
            </c:marker>
            <c:bubble3D val="0"/>
            <c:extLst>
              <c:ext xmlns:c16="http://schemas.microsoft.com/office/drawing/2014/chart" uri="{C3380CC4-5D6E-409C-BE32-E72D297353CC}">
                <c16:uniqueId val="{00000018-FB1D-4E3B-B14F-0F539FED2C34}"/>
              </c:ext>
            </c:extLst>
          </c:dPt>
          <c:dPt>
            <c:idx val="7"/>
            <c:marker>
              <c:symbol val="diamond"/>
              <c:size val="3"/>
            </c:marker>
            <c:bubble3D val="0"/>
            <c:extLst>
              <c:ext xmlns:c16="http://schemas.microsoft.com/office/drawing/2014/chart" uri="{C3380CC4-5D6E-409C-BE32-E72D297353CC}">
                <c16:uniqueId val="{00000019-FB1D-4E3B-B14F-0F539FED2C34}"/>
              </c:ext>
            </c:extLst>
          </c:dPt>
          <c:cat>
            <c:strRef>
              <c:f>Sheet1!$A$2:$A$9</c:f>
              <c:strCache>
                <c:ptCount val="8"/>
                <c:pt idx="0">
                  <c:v>1</c:v>
                </c:pt>
                <c:pt idx="1">
                  <c:v>2</c:v>
                </c:pt>
                <c:pt idx="2">
                  <c:v>3</c:v>
                </c:pt>
                <c:pt idx="3">
                  <c:v>4</c:v>
                </c:pt>
                <c:pt idx="4">
                  <c:v>5</c:v>
                </c:pt>
                <c:pt idx="5">
                  <c:v>6</c:v>
                </c:pt>
                <c:pt idx="6">
                  <c:v>7</c:v>
                </c:pt>
                <c:pt idx="7">
                  <c:v>8</c:v>
                </c:pt>
              </c:strCache>
            </c:strRef>
          </c:cat>
          <c:val>
            <c:numRef>
              <c:f>Sheet1!$D$2:$D$9</c:f>
              <c:numCache>
                <c:formatCode>General</c:formatCode>
                <c:ptCount val="8"/>
                <c:pt idx="0">
                  <c:v>199</c:v>
                </c:pt>
                <c:pt idx="1">
                  <c:v>399</c:v>
                </c:pt>
                <c:pt idx="2">
                  <c:v>599</c:v>
                </c:pt>
                <c:pt idx="3">
                  <c:v>800</c:v>
                </c:pt>
                <c:pt idx="4">
                  <c:v>1000</c:v>
                </c:pt>
                <c:pt idx="5">
                  <c:v>1200</c:v>
                </c:pt>
                <c:pt idx="6">
                  <c:v>1401</c:v>
                </c:pt>
                <c:pt idx="7">
                  <c:v>1601</c:v>
                </c:pt>
              </c:numCache>
            </c:numRef>
          </c:val>
          <c:smooth val="0"/>
          <c:extLst>
            <c:ext xmlns:c16="http://schemas.microsoft.com/office/drawing/2014/chart" uri="{C3380CC4-5D6E-409C-BE32-E72D297353CC}">
              <c16:uniqueId val="{0000001A-FB1D-4E3B-B14F-0F539FED2C34}"/>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min val="0"/>
        </c:scaling>
        <c:delete val="0"/>
        <c:axPos val="l"/>
        <c:numFmt formatCode="General" sourceLinked="1"/>
        <c:majorTickMark val="out"/>
        <c:minorTickMark val="none"/>
        <c:tickLblPos val="nextTo"/>
        <c:crossAx val="2118791784"/>
        <c:crosses val="autoZero"/>
        <c:crossBetween val="between"/>
      </c:valAx>
    </c:plotArea>
    <c:plotVisOnly val="1"/>
    <c:dispBlanksAs val="gap"/>
    <c:showDLblsOverMax val="0"/>
  </c:chart>
  <c:txPr>
    <a:bodyPr/>
    <a:lstStyle/>
    <a:p>
      <a:pPr>
        <a:defRPr sz="7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Actual</c:v>
                </c:pt>
              </c:strCache>
            </c:strRef>
          </c:tx>
          <c:spPr>
            <a:ln w="31750">
              <a:solidFill>
                <a:srgbClr val="102A4C"/>
              </a:solidFill>
            </a:ln>
          </c:spPr>
          <c:dPt>
            <c:idx val="0"/>
            <c:marker>
              <c:symbol val="diamond"/>
              <c:size val="3"/>
            </c:marker>
            <c:bubble3D val="0"/>
            <c:extLst>
              <c:ext xmlns:c16="http://schemas.microsoft.com/office/drawing/2014/chart" uri="{C3380CC4-5D6E-409C-BE32-E72D297353CC}">
                <c16:uniqueId val="{00000000-7A3D-46AB-B7FE-0B5396324E51}"/>
              </c:ext>
            </c:extLst>
          </c:dPt>
          <c:dPt>
            <c:idx val="1"/>
            <c:marker>
              <c:symbol val="diamond"/>
              <c:size val="3"/>
            </c:marker>
            <c:bubble3D val="0"/>
            <c:extLst>
              <c:ext xmlns:c16="http://schemas.microsoft.com/office/drawing/2014/chart" uri="{C3380CC4-5D6E-409C-BE32-E72D297353CC}">
                <c16:uniqueId val="{00000001-7A3D-46AB-B7FE-0B5396324E51}"/>
              </c:ext>
            </c:extLst>
          </c:dPt>
          <c:dPt>
            <c:idx val="2"/>
            <c:marker>
              <c:symbol val="diamond"/>
              <c:size val="3"/>
            </c:marker>
            <c:bubble3D val="0"/>
            <c:extLst>
              <c:ext xmlns:c16="http://schemas.microsoft.com/office/drawing/2014/chart" uri="{C3380CC4-5D6E-409C-BE32-E72D297353CC}">
                <c16:uniqueId val="{00000002-7A3D-46AB-B7FE-0B5396324E51}"/>
              </c:ext>
            </c:extLst>
          </c:dPt>
          <c:dPt>
            <c:idx val="3"/>
            <c:marker>
              <c:symbol val="diamond"/>
              <c:size val="3"/>
            </c:marker>
            <c:bubble3D val="0"/>
            <c:extLst>
              <c:ext xmlns:c16="http://schemas.microsoft.com/office/drawing/2014/chart" uri="{C3380CC4-5D6E-409C-BE32-E72D297353CC}">
                <c16:uniqueId val="{00000003-7A3D-46AB-B7FE-0B5396324E51}"/>
              </c:ext>
            </c:extLst>
          </c:dPt>
          <c:dPt>
            <c:idx val="4"/>
            <c:marker>
              <c:symbol val="diamond"/>
              <c:size val="3"/>
            </c:marker>
            <c:bubble3D val="0"/>
            <c:extLst>
              <c:ext xmlns:c16="http://schemas.microsoft.com/office/drawing/2014/chart" uri="{C3380CC4-5D6E-409C-BE32-E72D297353CC}">
                <c16:uniqueId val="{00000004-7A3D-46AB-B7FE-0B5396324E51}"/>
              </c:ext>
            </c:extLst>
          </c:dPt>
          <c:dPt>
            <c:idx val="5"/>
            <c:marker>
              <c:symbol val="diamond"/>
              <c:size val="3"/>
            </c:marker>
            <c:bubble3D val="0"/>
            <c:extLst>
              <c:ext xmlns:c16="http://schemas.microsoft.com/office/drawing/2014/chart" uri="{C3380CC4-5D6E-409C-BE32-E72D297353CC}">
                <c16:uniqueId val="{00000005-7A3D-46AB-B7FE-0B5396324E51}"/>
              </c:ext>
            </c:extLst>
          </c:dPt>
          <c:dPt>
            <c:idx val="6"/>
            <c:marker>
              <c:symbol val="diamond"/>
              <c:size val="3"/>
            </c:marker>
            <c:bubble3D val="0"/>
            <c:extLst>
              <c:ext xmlns:c16="http://schemas.microsoft.com/office/drawing/2014/chart" uri="{C3380CC4-5D6E-409C-BE32-E72D297353CC}">
                <c16:uniqueId val="{00000006-7A3D-46AB-B7FE-0B5396324E51}"/>
              </c:ext>
            </c:extLst>
          </c:dPt>
          <c:dPt>
            <c:idx val="7"/>
            <c:marker>
              <c:symbol val="diamond"/>
              <c:size val="3"/>
            </c:marker>
            <c:bubble3D val="0"/>
            <c:extLst>
              <c:ext xmlns:c16="http://schemas.microsoft.com/office/drawing/2014/chart" uri="{C3380CC4-5D6E-409C-BE32-E72D297353CC}">
                <c16:uniqueId val="{00000007-7A3D-46AB-B7FE-0B5396324E51}"/>
              </c:ext>
            </c:extLst>
          </c:dPt>
          <c:cat>
            <c:strRef>
              <c:f>Sheet1!$A$2:$A$9</c:f>
              <c:strCache>
                <c:ptCount val="8"/>
                <c:pt idx="0">
                  <c:v>1</c:v>
                </c:pt>
                <c:pt idx="1">
                  <c:v>2</c:v>
                </c:pt>
                <c:pt idx="2">
                  <c:v>3</c:v>
                </c:pt>
                <c:pt idx="3">
                  <c:v>4</c:v>
                </c:pt>
                <c:pt idx="4">
                  <c:v>5</c:v>
                </c:pt>
                <c:pt idx="5">
                  <c:v>6</c:v>
                </c:pt>
                <c:pt idx="6">
                  <c:v>7</c:v>
                </c:pt>
                <c:pt idx="7">
                  <c:v>8</c:v>
                </c:pt>
              </c:strCache>
            </c:strRef>
          </c:cat>
          <c:val>
            <c:numRef>
              <c:f>Sheet1!$B$2:$B$9</c:f>
              <c:numCache>
                <c:formatCode>General</c:formatCode>
                <c:ptCount val="8"/>
                <c:pt idx="0">
                  <c:v>52</c:v>
                </c:pt>
                <c:pt idx="1">
                  <c:v>363</c:v>
                </c:pt>
                <c:pt idx="2">
                  <c:v>442</c:v>
                </c:pt>
                <c:pt idx="3">
                  <c:v>443</c:v>
                </c:pt>
                <c:pt idx="4">
                  <c:v>532</c:v>
                </c:pt>
                <c:pt idx="5">
                  <c:v>726</c:v>
                </c:pt>
                <c:pt idx="6">
                  <c:v>727</c:v>
                </c:pt>
                <c:pt idx="7">
                  <c:v>728</c:v>
                </c:pt>
              </c:numCache>
            </c:numRef>
          </c:val>
          <c:smooth val="0"/>
          <c:extLst>
            <c:ext xmlns:c16="http://schemas.microsoft.com/office/drawing/2014/chart" uri="{C3380CC4-5D6E-409C-BE32-E72D297353CC}">
              <c16:uniqueId val="{00000008-7A3D-46AB-B7FE-0B5396324E51}"/>
            </c:ext>
          </c:extLst>
        </c:ser>
        <c:ser>
          <c:idx val="1"/>
          <c:order val="1"/>
          <c:tx>
            <c:strRef>
              <c:f>Sheet1!$C$1</c:f>
              <c:strCache>
                <c:ptCount val="1"/>
                <c:pt idx="0">
                  <c:v>Legacy</c:v>
                </c:pt>
              </c:strCache>
            </c:strRef>
          </c:tx>
          <c:spPr>
            <a:ln w="19050">
              <a:solidFill>
                <a:srgbClr val="B4262C"/>
              </a:solidFill>
            </a:ln>
          </c:spPr>
          <c:dPt>
            <c:idx val="0"/>
            <c:marker>
              <c:symbol val="diamond"/>
              <c:size val="3"/>
            </c:marker>
            <c:bubble3D val="0"/>
            <c:extLst>
              <c:ext xmlns:c16="http://schemas.microsoft.com/office/drawing/2014/chart" uri="{C3380CC4-5D6E-409C-BE32-E72D297353CC}">
                <c16:uniqueId val="{00000009-7A3D-46AB-B7FE-0B5396324E51}"/>
              </c:ext>
            </c:extLst>
          </c:dPt>
          <c:dPt>
            <c:idx val="1"/>
            <c:marker>
              <c:symbol val="diamond"/>
              <c:size val="3"/>
            </c:marker>
            <c:bubble3D val="0"/>
            <c:extLst>
              <c:ext xmlns:c16="http://schemas.microsoft.com/office/drawing/2014/chart" uri="{C3380CC4-5D6E-409C-BE32-E72D297353CC}">
                <c16:uniqueId val="{0000000A-7A3D-46AB-B7FE-0B5396324E51}"/>
              </c:ext>
            </c:extLst>
          </c:dPt>
          <c:dPt>
            <c:idx val="2"/>
            <c:marker>
              <c:symbol val="diamond"/>
              <c:size val="3"/>
            </c:marker>
            <c:bubble3D val="0"/>
            <c:extLst>
              <c:ext xmlns:c16="http://schemas.microsoft.com/office/drawing/2014/chart" uri="{C3380CC4-5D6E-409C-BE32-E72D297353CC}">
                <c16:uniqueId val="{0000000B-7A3D-46AB-B7FE-0B5396324E51}"/>
              </c:ext>
            </c:extLst>
          </c:dPt>
          <c:dPt>
            <c:idx val="3"/>
            <c:marker>
              <c:symbol val="diamond"/>
              <c:size val="3"/>
            </c:marker>
            <c:bubble3D val="0"/>
            <c:extLst>
              <c:ext xmlns:c16="http://schemas.microsoft.com/office/drawing/2014/chart" uri="{C3380CC4-5D6E-409C-BE32-E72D297353CC}">
                <c16:uniqueId val="{0000000C-7A3D-46AB-B7FE-0B5396324E51}"/>
              </c:ext>
            </c:extLst>
          </c:dPt>
          <c:dPt>
            <c:idx val="4"/>
            <c:marker>
              <c:symbol val="diamond"/>
              <c:size val="3"/>
            </c:marker>
            <c:bubble3D val="0"/>
            <c:extLst>
              <c:ext xmlns:c16="http://schemas.microsoft.com/office/drawing/2014/chart" uri="{C3380CC4-5D6E-409C-BE32-E72D297353CC}">
                <c16:uniqueId val="{0000000D-7A3D-46AB-B7FE-0B5396324E51}"/>
              </c:ext>
            </c:extLst>
          </c:dPt>
          <c:dPt>
            <c:idx val="5"/>
            <c:marker>
              <c:symbol val="diamond"/>
              <c:size val="3"/>
            </c:marker>
            <c:bubble3D val="0"/>
            <c:extLst>
              <c:ext xmlns:c16="http://schemas.microsoft.com/office/drawing/2014/chart" uri="{C3380CC4-5D6E-409C-BE32-E72D297353CC}">
                <c16:uniqueId val="{0000000E-7A3D-46AB-B7FE-0B5396324E51}"/>
              </c:ext>
            </c:extLst>
          </c:dPt>
          <c:dPt>
            <c:idx val="6"/>
            <c:marker>
              <c:symbol val="diamond"/>
              <c:size val="3"/>
            </c:marker>
            <c:bubble3D val="0"/>
            <c:extLst>
              <c:ext xmlns:c16="http://schemas.microsoft.com/office/drawing/2014/chart" uri="{C3380CC4-5D6E-409C-BE32-E72D297353CC}">
                <c16:uniqueId val="{0000000F-7A3D-46AB-B7FE-0B5396324E51}"/>
              </c:ext>
            </c:extLst>
          </c:dPt>
          <c:dPt>
            <c:idx val="7"/>
            <c:marker>
              <c:symbol val="diamond"/>
              <c:size val="3"/>
            </c:marker>
            <c:bubble3D val="0"/>
            <c:extLst>
              <c:ext xmlns:c16="http://schemas.microsoft.com/office/drawing/2014/chart" uri="{C3380CC4-5D6E-409C-BE32-E72D297353CC}">
                <c16:uniqueId val="{00000010-7A3D-46AB-B7FE-0B5396324E51}"/>
              </c:ext>
            </c:extLst>
          </c:dPt>
          <c:cat>
            <c:strRef>
              <c:f>Sheet1!$A$2:$A$9</c:f>
              <c:strCache>
                <c:ptCount val="8"/>
                <c:pt idx="0">
                  <c:v>1</c:v>
                </c:pt>
                <c:pt idx="1">
                  <c:v>2</c:v>
                </c:pt>
                <c:pt idx="2">
                  <c:v>3</c:v>
                </c:pt>
                <c:pt idx="3">
                  <c:v>4</c:v>
                </c:pt>
                <c:pt idx="4">
                  <c:v>5</c:v>
                </c:pt>
                <c:pt idx="5">
                  <c:v>6</c:v>
                </c:pt>
                <c:pt idx="6">
                  <c:v>7</c:v>
                </c:pt>
                <c:pt idx="7">
                  <c:v>8</c:v>
                </c:pt>
              </c:strCache>
            </c:strRef>
          </c:cat>
          <c:val>
            <c:numRef>
              <c:f>Sheet1!$C$2:$C$9</c:f>
              <c:numCache>
                <c:formatCode>General</c:formatCode>
                <c:ptCount val="8"/>
                <c:pt idx="0">
                  <c:v>124</c:v>
                </c:pt>
                <c:pt idx="1">
                  <c:v>248</c:v>
                </c:pt>
                <c:pt idx="2">
                  <c:v>372</c:v>
                </c:pt>
                <c:pt idx="3">
                  <c:v>496</c:v>
                </c:pt>
                <c:pt idx="4">
                  <c:v>620</c:v>
                </c:pt>
                <c:pt idx="5">
                  <c:v>744</c:v>
                </c:pt>
                <c:pt idx="6">
                  <c:v>869</c:v>
                </c:pt>
                <c:pt idx="7">
                  <c:v>993</c:v>
                </c:pt>
              </c:numCache>
            </c:numRef>
          </c:val>
          <c:smooth val="0"/>
          <c:extLst>
            <c:ext xmlns:c16="http://schemas.microsoft.com/office/drawing/2014/chart" uri="{C3380CC4-5D6E-409C-BE32-E72D297353CC}">
              <c16:uniqueId val="{00000011-7A3D-46AB-B7FE-0B5396324E51}"/>
            </c:ext>
          </c:extLst>
        </c:ser>
        <c:ser>
          <c:idx val="2"/>
          <c:order val="2"/>
          <c:tx>
            <c:strRef>
              <c:f>Sheet1!$D$1</c:f>
              <c:strCache>
                <c:ptCount val="1"/>
                <c:pt idx="0">
                  <c:v>EDM</c:v>
                </c:pt>
              </c:strCache>
            </c:strRef>
          </c:tx>
          <c:spPr>
            <a:ln w="25400">
              <a:solidFill>
                <a:srgbClr val="1A724E"/>
              </a:solidFill>
            </a:ln>
          </c:spPr>
          <c:dPt>
            <c:idx val="0"/>
            <c:marker>
              <c:symbol val="diamond"/>
              <c:size val="3"/>
            </c:marker>
            <c:bubble3D val="0"/>
            <c:extLst>
              <c:ext xmlns:c16="http://schemas.microsoft.com/office/drawing/2014/chart" uri="{C3380CC4-5D6E-409C-BE32-E72D297353CC}">
                <c16:uniqueId val="{00000012-7A3D-46AB-B7FE-0B5396324E51}"/>
              </c:ext>
            </c:extLst>
          </c:dPt>
          <c:dPt>
            <c:idx val="1"/>
            <c:marker>
              <c:symbol val="diamond"/>
              <c:size val="3"/>
            </c:marker>
            <c:bubble3D val="0"/>
            <c:extLst>
              <c:ext xmlns:c16="http://schemas.microsoft.com/office/drawing/2014/chart" uri="{C3380CC4-5D6E-409C-BE32-E72D297353CC}">
                <c16:uniqueId val="{00000013-7A3D-46AB-B7FE-0B5396324E51}"/>
              </c:ext>
            </c:extLst>
          </c:dPt>
          <c:dPt>
            <c:idx val="2"/>
            <c:marker>
              <c:symbol val="diamond"/>
              <c:size val="3"/>
            </c:marker>
            <c:bubble3D val="0"/>
            <c:extLst>
              <c:ext xmlns:c16="http://schemas.microsoft.com/office/drawing/2014/chart" uri="{C3380CC4-5D6E-409C-BE32-E72D297353CC}">
                <c16:uniqueId val="{00000014-7A3D-46AB-B7FE-0B5396324E51}"/>
              </c:ext>
            </c:extLst>
          </c:dPt>
          <c:dPt>
            <c:idx val="3"/>
            <c:marker>
              <c:symbol val="diamond"/>
              <c:size val="3"/>
            </c:marker>
            <c:bubble3D val="0"/>
            <c:extLst>
              <c:ext xmlns:c16="http://schemas.microsoft.com/office/drawing/2014/chart" uri="{C3380CC4-5D6E-409C-BE32-E72D297353CC}">
                <c16:uniqueId val="{00000015-7A3D-46AB-B7FE-0B5396324E51}"/>
              </c:ext>
            </c:extLst>
          </c:dPt>
          <c:dPt>
            <c:idx val="4"/>
            <c:marker>
              <c:symbol val="diamond"/>
              <c:size val="3"/>
            </c:marker>
            <c:bubble3D val="0"/>
            <c:extLst>
              <c:ext xmlns:c16="http://schemas.microsoft.com/office/drawing/2014/chart" uri="{C3380CC4-5D6E-409C-BE32-E72D297353CC}">
                <c16:uniqueId val="{00000016-7A3D-46AB-B7FE-0B5396324E51}"/>
              </c:ext>
            </c:extLst>
          </c:dPt>
          <c:dPt>
            <c:idx val="5"/>
            <c:marker>
              <c:symbol val="diamond"/>
              <c:size val="3"/>
            </c:marker>
            <c:bubble3D val="0"/>
            <c:extLst>
              <c:ext xmlns:c16="http://schemas.microsoft.com/office/drawing/2014/chart" uri="{C3380CC4-5D6E-409C-BE32-E72D297353CC}">
                <c16:uniqueId val="{00000017-7A3D-46AB-B7FE-0B5396324E51}"/>
              </c:ext>
            </c:extLst>
          </c:dPt>
          <c:dPt>
            <c:idx val="6"/>
            <c:marker>
              <c:symbol val="diamond"/>
              <c:size val="3"/>
            </c:marker>
            <c:bubble3D val="0"/>
            <c:extLst>
              <c:ext xmlns:c16="http://schemas.microsoft.com/office/drawing/2014/chart" uri="{C3380CC4-5D6E-409C-BE32-E72D297353CC}">
                <c16:uniqueId val="{00000018-7A3D-46AB-B7FE-0B5396324E51}"/>
              </c:ext>
            </c:extLst>
          </c:dPt>
          <c:dPt>
            <c:idx val="7"/>
            <c:marker>
              <c:symbol val="diamond"/>
              <c:size val="3"/>
            </c:marker>
            <c:bubble3D val="0"/>
            <c:extLst>
              <c:ext xmlns:c16="http://schemas.microsoft.com/office/drawing/2014/chart" uri="{C3380CC4-5D6E-409C-BE32-E72D297353CC}">
                <c16:uniqueId val="{00000019-7A3D-46AB-B7FE-0B5396324E51}"/>
              </c:ext>
            </c:extLst>
          </c:dPt>
          <c:cat>
            <c:strRef>
              <c:f>Sheet1!$A$2:$A$9</c:f>
              <c:strCache>
                <c:ptCount val="8"/>
                <c:pt idx="0">
                  <c:v>1</c:v>
                </c:pt>
                <c:pt idx="1">
                  <c:v>2</c:v>
                </c:pt>
                <c:pt idx="2">
                  <c:v>3</c:v>
                </c:pt>
                <c:pt idx="3">
                  <c:v>4</c:v>
                </c:pt>
                <c:pt idx="4">
                  <c:v>5</c:v>
                </c:pt>
                <c:pt idx="5">
                  <c:v>6</c:v>
                </c:pt>
                <c:pt idx="6">
                  <c:v>7</c:v>
                </c:pt>
                <c:pt idx="7">
                  <c:v>8</c:v>
                </c:pt>
              </c:strCache>
            </c:strRef>
          </c:cat>
          <c:val>
            <c:numRef>
              <c:f>Sheet1!$D$2:$D$9</c:f>
              <c:numCache>
                <c:formatCode>General</c:formatCode>
                <c:ptCount val="8"/>
                <c:pt idx="0">
                  <c:v>93</c:v>
                </c:pt>
                <c:pt idx="1">
                  <c:v>188</c:v>
                </c:pt>
                <c:pt idx="2">
                  <c:v>283</c:v>
                </c:pt>
                <c:pt idx="3">
                  <c:v>377</c:v>
                </c:pt>
                <c:pt idx="4">
                  <c:v>472</c:v>
                </c:pt>
                <c:pt idx="5">
                  <c:v>567</c:v>
                </c:pt>
                <c:pt idx="6">
                  <c:v>661</c:v>
                </c:pt>
                <c:pt idx="7">
                  <c:v>756</c:v>
                </c:pt>
              </c:numCache>
            </c:numRef>
          </c:val>
          <c:smooth val="0"/>
          <c:extLst>
            <c:ext xmlns:c16="http://schemas.microsoft.com/office/drawing/2014/chart" uri="{C3380CC4-5D6E-409C-BE32-E72D297353CC}">
              <c16:uniqueId val="{0000001A-7A3D-46AB-B7FE-0B5396324E51}"/>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min val="0"/>
        </c:scaling>
        <c:delete val="0"/>
        <c:axPos val="l"/>
        <c:numFmt formatCode="General" sourceLinked="1"/>
        <c:majorTickMark val="out"/>
        <c:minorTickMark val="none"/>
        <c:tickLblPos val="nextTo"/>
        <c:crossAx val="2118791784"/>
        <c:crosses val="autoZero"/>
        <c:crossBetween val="between"/>
      </c:valAx>
    </c:plotArea>
    <c:plotVisOnly val="1"/>
    <c:dispBlanksAs val="gap"/>
    <c:showDLblsOverMax val="0"/>
  </c:chart>
  <c:txPr>
    <a:bodyPr/>
    <a:lstStyle/>
    <a:p>
      <a:pPr>
        <a:defRPr sz="7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Actual</c:v>
                </c:pt>
              </c:strCache>
            </c:strRef>
          </c:tx>
          <c:spPr>
            <a:ln w="31750">
              <a:solidFill>
                <a:srgbClr val="102A4C"/>
              </a:solidFill>
            </a:ln>
          </c:spPr>
          <c:dPt>
            <c:idx val="0"/>
            <c:marker>
              <c:symbol val="diamond"/>
              <c:size val="3"/>
            </c:marker>
            <c:bubble3D val="0"/>
            <c:extLst>
              <c:ext xmlns:c16="http://schemas.microsoft.com/office/drawing/2014/chart" uri="{C3380CC4-5D6E-409C-BE32-E72D297353CC}">
                <c16:uniqueId val="{00000000-1E9D-4CB1-96D1-022B7A96316D}"/>
              </c:ext>
            </c:extLst>
          </c:dPt>
          <c:dPt>
            <c:idx val="1"/>
            <c:marker>
              <c:symbol val="diamond"/>
              <c:size val="3"/>
            </c:marker>
            <c:bubble3D val="0"/>
            <c:extLst>
              <c:ext xmlns:c16="http://schemas.microsoft.com/office/drawing/2014/chart" uri="{C3380CC4-5D6E-409C-BE32-E72D297353CC}">
                <c16:uniqueId val="{00000001-1E9D-4CB1-96D1-022B7A96316D}"/>
              </c:ext>
            </c:extLst>
          </c:dPt>
          <c:dPt>
            <c:idx val="2"/>
            <c:marker>
              <c:symbol val="diamond"/>
              <c:size val="3"/>
            </c:marker>
            <c:bubble3D val="0"/>
            <c:extLst>
              <c:ext xmlns:c16="http://schemas.microsoft.com/office/drawing/2014/chart" uri="{C3380CC4-5D6E-409C-BE32-E72D297353CC}">
                <c16:uniqueId val="{00000002-1E9D-4CB1-96D1-022B7A96316D}"/>
              </c:ext>
            </c:extLst>
          </c:dPt>
          <c:dPt>
            <c:idx val="3"/>
            <c:marker>
              <c:symbol val="diamond"/>
              <c:size val="3"/>
            </c:marker>
            <c:bubble3D val="0"/>
            <c:extLst>
              <c:ext xmlns:c16="http://schemas.microsoft.com/office/drawing/2014/chart" uri="{C3380CC4-5D6E-409C-BE32-E72D297353CC}">
                <c16:uniqueId val="{00000003-1E9D-4CB1-96D1-022B7A96316D}"/>
              </c:ext>
            </c:extLst>
          </c:dPt>
          <c:dPt>
            <c:idx val="4"/>
            <c:marker>
              <c:symbol val="diamond"/>
              <c:size val="3"/>
            </c:marker>
            <c:bubble3D val="0"/>
            <c:extLst>
              <c:ext xmlns:c16="http://schemas.microsoft.com/office/drawing/2014/chart" uri="{C3380CC4-5D6E-409C-BE32-E72D297353CC}">
                <c16:uniqueId val="{00000004-1E9D-4CB1-96D1-022B7A96316D}"/>
              </c:ext>
            </c:extLst>
          </c:dPt>
          <c:dPt>
            <c:idx val="5"/>
            <c:marker>
              <c:symbol val="diamond"/>
              <c:size val="3"/>
            </c:marker>
            <c:bubble3D val="0"/>
            <c:extLst>
              <c:ext xmlns:c16="http://schemas.microsoft.com/office/drawing/2014/chart" uri="{C3380CC4-5D6E-409C-BE32-E72D297353CC}">
                <c16:uniqueId val="{00000005-1E9D-4CB1-96D1-022B7A96316D}"/>
              </c:ext>
            </c:extLst>
          </c:dPt>
          <c:dPt>
            <c:idx val="6"/>
            <c:marker>
              <c:symbol val="diamond"/>
              <c:size val="3"/>
            </c:marker>
            <c:bubble3D val="0"/>
            <c:extLst>
              <c:ext xmlns:c16="http://schemas.microsoft.com/office/drawing/2014/chart" uri="{C3380CC4-5D6E-409C-BE32-E72D297353CC}">
                <c16:uniqueId val="{00000006-1E9D-4CB1-96D1-022B7A96316D}"/>
              </c:ext>
            </c:extLst>
          </c:dPt>
          <c:dPt>
            <c:idx val="7"/>
            <c:marker>
              <c:symbol val="diamond"/>
              <c:size val="3"/>
            </c:marker>
            <c:bubble3D val="0"/>
            <c:extLst>
              <c:ext xmlns:c16="http://schemas.microsoft.com/office/drawing/2014/chart" uri="{C3380CC4-5D6E-409C-BE32-E72D297353CC}">
                <c16:uniqueId val="{00000007-1E9D-4CB1-96D1-022B7A96316D}"/>
              </c:ext>
            </c:extLst>
          </c:dPt>
          <c:cat>
            <c:strRef>
              <c:f>Sheet1!$A$2:$A$9</c:f>
              <c:strCache>
                <c:ptCount val="8"/>
                <c:pt idx="0">
                  <c:v>1</c:v>
                </c:pt>
                <c:pt idx="1">
                  <c:v>2</c:v>
                </c:pt>
                <c:pt idx="2">
                  <c:v>3</c:v>
                </c:pt>
                <c:pt idx="3">
                  <c:v>4</c:v>
                </c:pt>
                <c:pt idx="4">
                  <c:v>5</c:v>
                </c:pt>
                <c:pt idx="5">
                  <c:v>6</c:v>
                </c:pt>
                <c:pt idx="6">
                  <c:v>7</c:v>
                </c:pt>
                <c:pt idx="7">
                  <c:v>8</c:v>
                </c:pt>
              </c:strCache>
            </c:strRef>
          </c:cat>
          <c:val>
            <c:numRef>
              <c:f>Sheet1!$B$2:$B$9</c:f>
              <c:numCache>
                <c:formatCode>General</c:formatCode>
                <c:ptCount val="8"/>
                <c:pt idx="0">
                  <c:v>64</c:v>
                </c:pt>
                <c:pt idx="1">
                  <c:v>209</c:v>
                </c:pt>
                <c:pt idx="2">
                  <c:v>211</c:v>
                </c:pt>
                <c:pt idx="3">
                  <c:v>277</c:v>
                </c:pt>
                <c:pt idx="4">
                  <c:v>288</c:v>
                </c:pt>
                <c:pt idx="5">
                  <c:v>374</c:v>
                </c:pt>
                <c:pt idx="6">
                  <c:v>504</c:v>
                </c:pt>
                <c:pt idx="7">
                  <c:v>627</c:v>
                </c:pt>
              </c:numCache>
            </c:numRef>
          </c:val>
          <c:smooth val="0"/>
          <c:extLst>
            <c:ext xmlns:c16="http://schemas.microsoft.com/office/drawing/2014/chart" uri="{C3380CC4-5D6E-409C-BE32-E72D297353CC}">
              <c16:uniqueId val="{00000008-1E9D-4CB1-96D1-022B7A96316D}"/>
            </c:ext>
          </c:extLst>
        </c:ser>
        <c:ser>
          <c:idx val="1"/>
          <c:order val="1"/>
          <c:tx>
            <c:strRef>
              <c:f>Sheet1!$C$1</c:f>
              <c:strCache>
                <c:ptCount val="1"/>
                <c:pt idx="0">
                  <c:v>Legacy</c:v>
                </c:pt>
              </c:strCache>
            </c:strRef>
          </c:tx>
          <c:spPr>
            <a:ln w="19050">
              <a:solidFill>
                <a:srgbClr val="B4262C"/>
              </a:solidFill>
            </a:ln>
          </c:spPr>
          <c:dPt>
            <c:idx val="0"/>
            <c:marker>
              <c:symbol val="diamond"/>
              <c:size val="3"/>
            </c:marker>
            <c:bubble3D val="0"/>
            <c:extLst>
              <c:ext xmlns:c16="http://schemas.microsoft.com/office/drawing/2014/chart" uri="{C3380CC4-5D6E-409C-BE32-E72D297353CC}">
                <c16:uniqueId val="{00000009-1E9D-4CB1-96D1-022B7A96316D}"/>
              </c:ext>
            </c:extLst>
          </c:dPt>
          <c:dPt>
            <c:idx val="1"/>
            <c:marker>
              <c:symbol val="diamond"/>
              <c:size val="3"/>
            </c:marker>
            <c:bubble3D val="0"/>
            <c:extLst>
              <c:ext xmlns:c16="http://schemas.microsoft.com/office/drawing/2014/chart" uri="{C3380CC4-5D6E-409C-BE32-E72D297353CC}">
                <c16:uniqueId val="{0000000A-1E9D-4CB1-96D1-022B7A96316D}"/>
              </c:ext>
            </c:extLst>
          </c:dPt>
          <c:dPt>
            <c:idx val="2"/>
            <c:marker>
              <c:symbol val="diamond"/>
              <c:size val="3"/>
            </c:marker>
            <c:bubble3D val="0"/>
            <c:extLst>
              <c:ext xmlns:c16="http://schemas.microsoft.com/office/drawing/2014/chart" uri="{C3380CC4-5D6E-409C-BE32-E72D297353CC}">
                <c16:uniqueId val="{0000000B-1E9D-4CB1-96D1-022B7A96316D}"/>
              </c:ext>
            </c:extLst>
          </c:dPt>
          <c:dPt>
            <c:idx val="3"/>
            <c:marker>
              <c:symbol val="diamond"/>
              <c:size val="3"/>
            </c:marker>
            <c:bubble3D val="0"/>
            <c:extLst>
              <c:ext xmlns:c16="http://schemas.microsoft.com/office/drawing/2014/chart" uri="{C3380CC4-5D6E-409C-BE32-E72D297353CC}">
                <c16:uniqueId val="{0000000C-1E9D-4CB1-96D1-022B7A96316D}"/>
              </c:ext>
            </c:extLst>
          </c:dPt>
          <c:dPt>
            <c:idx val="4"/>
            <c:marker>
              <c:symbol val="diamond"/>
              <c:size val="3"/>
            </c:marker>
            <c:bubble3D val="0"/>
            <c:extLst>
              <c:ext xmlns:c16="http://schemas.microsoft.com/office/drawing/2014/chart" uri="{C3380CC4-5D6E-409C-BE32-E72D297353CC}">
                <c16:uniqueId val="{0000000D-1E9D-4CB1-96D1-022B7A96316D}"/>
              </c:ext>
            </c:extLst>
          </c:dPt>
          <c:dPt>
            <c:idx val="5"/>
            <c:marker>
              <c:symbol val="diamond"/>
              <c:size val="3"/>
            </c:marker>
            <c:bubble3D val="0"/>
            <c:extLst>
              <c:ext xmlns:c16="http://schemas.microsoft.com/office/drawing/2014/chart" uri="{C3380CC4-5D6E-409C-BE32-E72D297353CC}">
                <c16:uniqueId val="{0000000E-1E9D-4CB1-96D1-022B7A96316D}"/>
              </c:ext>
            </c:extLst>
          </c:dPt>
          <c:dPt>
            <c:idx val="6"/>
            <c:marker>
              <c:symbol val="diamond"/>
              <c:size val="3"/>
            </c:marker>
            <c:bubble3D val="0"/>
            <c:extLst>
              <c:ext xmlns:c16="http://schemas.microsoft.com/office/drawing/2014/chart" uri="{C3380CC4-5D6E-409C-BE32-E72D297353CC}">
                <c16:uniqueId val="{0000000F-1E9D-4CB1-96D1-022B7A96316D}"/>
              </c:ext>
            </c:extLst>
          </c:dPt>
          <c:dPt>
            <c:idx val="7"/>
            <c:marker>
              <c:symbol val="diamond"/>
              <c:size val="3"/>
            </c:marker>
            <c:bubble3D val="0"/>
            <c:extLst>
              <c:ext xmlns:c16="http://schemas.microsoft.com/office/drawing/2014/chart" uri="{C3380CC4-5D6E-409C-BE32-E72D297353CC}">
                <c16:uniqueId val="{00000010-1E9D-4CB1-96D1-022B7A96316D}"/>
              </c:ext>
            </c:extLst>
          </c:dPt>
          <c:cat>
            <c:strRef>
              <c:f>Sheet1!$A$2:$A$9</c:f>
              <c:strCache>
                <c:ptCount val="8"/>
                <c:pt idx="0">
                  <c:v>1</c:v>
                </c:pt>
                <c:pt idx="1">
                  <c:v>2</c:v>
                </c:pt>
                <c:pt idx="2">
                  <c:v>3</c:v>
                </c:pt>
                <c:pt idx="3">
                  <c:v>4</c:v>
                </c:pt>
                <c:pt idx="4">
                  <c:v>5</c:v>
                </c:pt>
                <c:pt idx="5">
                  <c:v>6</c:v>
                </c:pt>
                <c:pt idx="6">
                  <c:v>7</c:v>
                </c:pt>
                <c:pt idx="7">
                  <c:v>8</c:v>
                </c:pt>
              </c:strCache>
            </c:strRef>
          </c:cat>
          <c:val>
            <c:numRef>
              <c:f>Sheet1!$C$2:$C$9</c:f>
              <c:numCache>
                <c:formatCode>General</c:formatCode>
                <c:ptCount val="8"/>
                <c:pt idx="0">
                  <c:v>116</c:v>
                </c:pt>
                <c:pt idx="1">
                  <c:v>232</c:v>
                </c:pt>
                <c:pt idx="2">
                  <c:v>348</c:v>
                </c:pt>
                <c:pt idx="3">
                  <c:v>465</c:v>
                </c:pt>
                <c:pt idx="4">
                  <c:v>581</c:v>
                </c:pt>
                <c:pt idx="5">
                  <c:v>697</c:v>
                </c:pt>
                <c:pt idx="6">
                  <c:v>814</c:v>
                </c:pt>
                <c:pt idx="7">
                  <c:v>930</c:v>
                </c:pt>
              </c:numCache>
            </c:numRef>
          </c:val>
          <c:smooth val="0"/>
          <c:extLst>
            <c:ext xmlns:c16="http://schemas.microsoft.com/office/drawing/2014/chart" uri="{C3380CC4-5D6E-409C-BE32-E72D297353CC}">
              <c16:uniqueId val="{00000011-1E9D-4CB1-96D1-022B7A96316D}"/>
            </c:ext>
          </c:extLst>
        </c:ser>
        <c:ser>
          <c:idx val="2"/>
          <c:order val="2"/>
          <c:tx>
            <c:strRef>
              <c:f>Sheet1!$D$1</c:f>
              <c:strCache>
                <c:ptCount val="1"/>
                <c:pt idx="0">
                  <c:v>EDM</c:v>
                </c:pt>
              </c:strCache>
            </c:strRef>
          </c:tx>
          <c:spPr>
            <a:ln w="25400">
              <a:solidFill>
                <a:srgbClr val="1A724E"/>
              </a:solidFill>
            </a:ln>
          </c:spPr>
          <c:dPt>
            <c:idx val="0"/>
            <c:marker>
              <c:symbol val="diamond"/>
              <c:size val="3"/>
            </c:marker>
            <c:bubble3D val="0"/>
            <c:extLst>
              <c:ext xmlns:c16="http://schemas.microsoft.com/office/drawing/2014/chart" uri="{C3380CC4-5D6E-409C-BE32-E72D297353CC}">
                <c16:uniqueId val="{00000012-1E9D-4CB1-96D1-022B7A96316D}"/>
              </c:ext>
            </c:extLst>
          </c:dPt>
          <c:dPt>
            <c:idx val="1"/>
            <c:marker>
              <c:symbol val="diamond"/>
              <c:size val="3"/>
            </c:marker>
            <c:bubble3D val="0"/>
            <c:extLst>
              <c:ext xmlns:c16="http://schemas.microsoft.com/office/drawing/2014/chart" uri="{C3380CC4-5D6E-409C-BE32-E72D297353CC}">
                <c16:uniqueId val="{00000013-1E9D-4CB1-96D1-022B7A96316D}"/>
              </c:ext>
            </c:extLst>
          </c:dPt>
          <c:dPt>
            <c:idx val="2"/>
            <c:marker>
              <c:symbol val="diamond"/>
              <c:size val="3"/>
            </c:marker>
            <c:bubble3D val="0"/>
            <c:extLst>
              <c:ext xmlns:c16="http://schemas.microsoft.com/office/drawing/2014/chart" uri="{C3380CC4-5D6E-409C-BE32-E72D297353CC}">
                <c16:uniqueId val="{00000014-1E9D-4CB1-96D1-022B7A96316D}"/>
              </c:ext>
            </c:extLst>
          </c:dPt>
          <c:dPt>
            <c:idx val="3"/>
            <c:marker>
              <c:symbol val="diamond"/>
              <c:size val="3"/>
            </c:marker>
            <c:bubble3D val="0"/>
            <c:extLst>
              <c:ext xmlns:c16="http://schemas.microsoft.com/office/drawing/2014/chart" uri="{C3380CC4-5D6E-409C-BE32-E72D297353CC}">
                <c16:uniqueId val="{00000015-1E9D-4CB1-96D1-022B7A96316D}"/>
              </c:ext>
            </c:extLst>
          </c:dPt>
          <c:dPt>
            <c:idx val="4"/>
            <c:marker>
              <c:symbol val="diamond"/>
              <c:size val="3"/>
            </c:marker>
            <c:bubble3D val="0"/>
            <c:extLst>
              <c:ext xmlns:c16="http://schemas.microsoft.com/office/drawing/2014/chart" uri="{C3380CC4-5D6E-409C-BE32-E72D297353CC}">
                <c16:uniqueId val="{00000016-1E9D-4CB1-96D1-022B7A96316D}"/>
              </c:ext>
            </c:extLst>
          </c:dPt>
          <c:dPt>
            <c:idx val="5"/>
            <c:marker>
              <c:symbol val="diamond"/>
              <c:size val="3"/>
            </c:marker>
            <c:bubble3D val="0"/>
            <c:extLst>
              <c:ext xmlns:c16="http://schemas.microsoft.com/office/drawing/2014/chart" uri="{C3380CC4-5D6E-409C-BE32-E72D297353CC}">
                <c16:uniqueId val="{00000017-1E9D-4CB1-96D1-022B7A96316D}"/>
              </c:ext>
            </c:extLst>
          </c:dPt>
          <c:dPt>
            <c:idx val="6"/>
            <c:marker>
              <c:symbol val="diamond"/>
              <c:size val="3"/>
            </c:marker>
            <c:bubble3D val="0"/>
            <c:extLst>
              <c:ext xmlns:c16="http://schemas.microsoft.com/office/drawing/2014/chart" uri="{C3380CC4-5D6E-409C-BE32-E72D297353CC}">
                <c16:uniqueId val="{00000018-1E9D-4CB1-96D1-022B7A96316D}"/>
              </c:ext>
            </c:extLst>
          </c:dPt>
          <c:dPt>
            <c:idx val="7"/>
            <c:marker>
              <c:symbol val="diamond"/>
              <c:size val="3"/>
            </c:marker>
            <c:bubble3D val="0"/>
            <c:extLst>
              <c:ext xmlns:c16="http://schemas.microsoft.com/office/drawing/2014/chart" uri="{C3380CC4-5D6E-409C-BE32-E72D297353CC}">
                <c16:uniqueId val="{00000019-1E9D-4CB1-96D1-022B7A96316D}"/>
              </c:ext>
            </c:extLst>
          </c:dPt>
          <c:cat>
            <c:strRef>
              <c:f>Sheet1!$A$2:$A$9</c:f>
              <c:strCache>
                <c:ptCount val="8"/>
                <c:pt idx="0">
                  <c:v>1</c:v>
                </c:pt>
                <c:pt idx="1">
                  <c:v>2</c:v>
                </c:pt>
                <c:pt idx="2">
                  <c:v>3</c:v>
                </c:pt>
                <c:pt idx="3">
                  <c:v>4</c:v>
                </c:pt>
                <c:pt idx="4">
                  <c:v>5</c:v>
                </c:pt>
                <c:pt idx="5">
                  <c:v>6</c:v>
                </c:pt>
                <c:pt idx="6">
                  <c:v>7</c:v>
                </c:pt>
                <c:pt idx="7">
                  <c:v>8</c:v>
                </c:pt>
              </c:strCache>
            </c:strRef>
          </c:cat>
          <c:val>
            <c:numRef>
              <c:f>Sheet1!$D$2:$D$9</c:f>
              <c:numCache>
                <c:formatCode>General</c:formatCode>
                <c:ptCount val="8"/>
                <c:pt idx="0">
                  <c:v>98</c:v>
                </c:pt>
                <c:pt idx="1">
                  <c:v>198</c:v>
                </c:pt>
                <c:pt idx="2">
                  <c:v>298</c:v>
                </c:pt>
                <c:pt idx="3">
                  <c:v>397</c:v>
                </c:pt>
                <c:pt idx="4">
                  <c:v>497</c:v>
                </c:pt>
                <c:pt idx="5">
                  <c:v>597</c:v>
                </c:pt>
                <c:pt idx="6">
                  <c:v>698</c:v>
                </c:pt>
                <c:pt idx="7">
                  <c:v>798</c:v>
                </c:pt>
              </c:numCache>
            </c:numRef>
          </c:val>
          <c:smooth val="0"/>
          <c:extLst>
            <c:ext xmlns:c16="http://schemas.microsoft.com/office/drawing/2014/chart" uri="{C3380CC4-5D6E-409C-BE32-E72D297353CC}">
              <c16:uniqueId val="{0000001A-1E9D-4CB1-96D1-022B7A96316D}"/>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min val="0"/>
        </c:scaling>
        <c:delete val="0"/>
        <c:axPos val="l"/>
        <c:numFmt formatCode="General" sourceLinked="1"/>
        <c:majorTickMark val="out"/>
        <c:minorTickMark val="none"/>
        <c:tickLblPos val="nextTo"/>
        <c:crossAx val="2118791784"/>
        <c:crosses val="autoZero"/>
        <c:crossBetween val="between"/>
      </c:valAx>
    </c:plotArea>
    <c:plotVisOnly val="1"/>
    <c:dispBlanksAs val="gap"/>
    <c:showDLblsOverMax val="0"/>
  </c:chart>
  <c:txPr>
    <a:bodyPr/>
    <a:lstStyle/>
    <a:p>
      <a:pPr>
        <a:defRPr sz="700"/>
      </a:pPr>
      <a:endParaRPr lang="en-US"/>
    </a:p>
  </c:txPr>
  <c:externalData r:id="rId1">
    <c:autoUpdate val="0"/>
  </c:externalData>
</c:chartSpace>
</file>

<file path=ppt/comments/modernComment_12A_0.xml><?xml version="1.0" encoding="utf-8"?>
<p188:cmLst xmlns:a="http://schemas.openxmlformats.org/drawingml/2006/main" xmlns:r="http://schemas.openxmlformats.org/officeDocument/2006/relationships" xmlns:p188="http://schemas.microsoft.com/office/powerpoint/2018/8/main">
  <p188:cm id="{BF116066-A3C9-436A-B5B2-4C2281C50FF1}" authorId="{7B395A75-6499-D706-4976-FD5CCB4FB383}" created="2026-06-14T20:19:54.189">
    <pc:sldMkLst xmlns:pc="http://schemas.microsoft.com/office/powerpoint/2013/main/command">
      <pc:docMk/>
      <pc:sldMk cId="0" sldId="298"/>
    </pc:sldMkLst>
    <p188:txBody>
      <a:bodyPr/>
      <a:lstStyle/>
      <a:p>
        <a:r>
          <a:rPr lang="en-US"/>
          <a:t>Slide 7: Top section (legacy) and bottom section (EDM) should have the same data sources, and snapshots availability. Thus, introduce a standard Data Warehouse box for the top section b/w input data and Key steps.
For the bottom EDM section, Input Data should be separated and a new box specifically for Digital Twin needs to be introduced.</a:t>
        </a:r>
      </a:p>
    </p188:txBody>
  </p188:cm>
</p188:cmLst>
</file>

<file path=ppt/comments/modernComment_12B_0.xml><?xml version="1.0" encoding="utf-8"?>
<p188:cmLst xmlns:a="http://schemas.openxmlformats.org/drawingml/2006/main" xmlns:r="http://schemas.openxmlformats.org/officeDocument/2006/relationships" xmlns:p188="http://schemas.microsoft.com/office/powerpoint/2018/8/main">
  <p188:cm id="{21195CD3-EA77-46C7-991C-8CFD98C68035}" authorId="{7B395A75-6499-D706-4976-FD5CCB4FB383}" created="2026-06-14T20:24:35.925">
    <pc:sldMkLst xmlns:pc="http://schemas.microsoft.com/office/powerpoint/2013/main/command">
      <pc:docMk/>
      <pc:sldMk cId="0" sldId="299"/>
    </pc:sldMkLst>
    <p188:txBody>
      <a:bodyPr/>
      <a:lstStyle/>
      <a:p>
        <a:r>
          <a:rPr lang="en-US"/>
          <a:t>Combine with Slide 8 for a high lvl overview to tie back to explanatory slides. Then move to appendix as needed. </a:t>
        </a:r>
      </a:p>
    </p188:txBody>
  </p188:cm>
</p188:cmLst>
</file>

<file path=ppt/comments/modernComment_123_0.xml><?xml version="1.0" encoding="utf-8"?>
<p188:cmLst xmlns:a="http://schemas.openxmlformats.org/drawingml/2006/main" xmlns:r="http://schemas.openxmlformats.org/officeDocument/2006/relationships" xmlns:p188="http://schemas.microsoft.com/office/powerpoint/2018/8/main">
  <p188:cm id="{ED58C44B-75A4-4088-A7F8-4F9D52C5CDAD}" authorId="{7B395A75-6499-D706-4976-FD5CCB4FB383}" created="2026-06-13T20:49:46.098">
    <pc:sldMkLst xmlns:pc="http://schemas.microsoft.com/office/powerpoint/2013/main/command">
      <pc:docMk/>
      <pc:sldMk cId="0" sldId="291"/>
    </pc:sldMkLst>
    <p188:pos x="1603375" y="679450"/>
    <p188:txBody>
      <a:bodyPr/>
      <a:lstStyle/>
      <a:p>
        <a:r>
          <a:rPr lang="en-US"/>
          <a:t>Team Tag Up Approach:
Anil with Gen Sanford
Darnita with Mr. Roberts
Darnita + Taimur with James Johnson
Ravindra with Raj Shivraman
Taimur with David Koch</a:t>
        </a:r>
      </a:p>
    </p188:txBody>
  </p188:cm>
</p188:cmLst>
</file>

<file path=ppt/comments/modernComment_134_0.xml><?xml version="1.0" encoding="utf-8"?>
<p188:cmLst xmlns:a="http://schemas.openxmlformats.org/drawingml/2006/main" xmlns:r="http://schemas.openxmlformats.org/officeDocument/2006/relationships" xmlns:p188="http://schemas.microsoft.com/office/powerpoint/2018/8/main">
  <p188:cm id="{2137B660-C2AF-4453-8621-1B3B304AB165}" authorId="{7B395A75-6499-D706-4976-FD5CCB4FB383}" created="2026-06-14T20:01:46.367">
    <pc:sldMkLst xmlns:pc="http://schemas.microsoft.com/office/powerpoint/2013/main/command">
      <pc:docMk/>
      <pc:sldMk cId="0" sldId="308"/>
    </pc:sldMkLst>
    <p188:txBody>
      <a:bodyPr/>
      <a:lstStyle/>
      <a:p>
        <a:r>
          <a:rPr lang="en-US"/>
          <a:t>Move to appendix.</a:t>
        </a:r>
      </a:p>
    </p188:txBody>
  </p188:cm>
</p188:cmLst>
</file>

<file path=ppt/comments/modernComment_136_0.xml><?xml version="1.0" encoding="utf-8"?>
<p188:cmLst xmlns:a="http://schemas.openxmlformats.org/drawingml/2006/main" xmlns:r="http://schemas.openxmlformats.org/officeDocument/2006/relationships" xmlns:p188="http://schemas.microsoft.com/office/powerpoint/2018/8/main">
  <p188:cm id="{CBBE804B-C479-4075-BEE0-4822FFF9DDE4}" authorId="{7B395A75-6499-D706-4976-FD5CCB4FB383}" created="2026-06-14T20:01:34.894">
    <ac:deMkLst xmlns:ac="http://schemas.microsoft.com/office/drawing/2013/main/command">
      <pc:docMk xmlns:pc="http://schemas.microsoft.com/office/powerpoint/2013/main/command"/>
      <pc:sldMk xmlns:pc="http://schemas.microsoft.com/office/powerpoint/2013/main/command" cId="0" sldId="310"/>
      <ac:spMk id="21" creationId="{CF75E706-D66F-064F-E482-529AD4B59AF6}"/>
    </ac:deMkLst>
    <p188:txBody>
      <a:bodyPr/>
      <a:lstStyle/>
      <a:p>
        <a:r>
          <a:rPr lang="en-US"/>
          <a:t>Move to appendix.</a:t>
        </a:r>
      </a:p>
    </p188:txBody>
  </p188:cm>
</p188:cmLst>
</file>

<file path=ppt/comments/modernComment_138_0.xml><?xml version="1.0" encoding="utf-8"?>
<p188:cmLst xmlns:a="http://schemas.openxmlformats.org/drawingml/2006/main" xmlns:r="http://schemas.openxmlformats.org/officeDocument/2006/relationships" xmlns:p188="http://schemas.microsoft.com/office/powerpoint/2018/8/main">
  <p188:cm id="{4DDA20F2-0CCD-45FE-87DC-24E05410F63B}" authorId="{7B395A75-6499-D706-4976-FD5CCB4FB383}" created="2026-06-14T20:01:42.678">
    <pc:sldMkLst xmlns:pc="http://schemas.microsoft.com/office/powerpoint/2013/main/command">
      <pc:docMk/>
      <pc:sldMk cId="0" sldId="312"/>
    </pc:sldMkLst>
    <p188:pos x="11404600" y="1089025"/>
    <p188:txBody>
      <a:bodyPr/>
      <a:lstStyle/>
      <a:p>
        <a:r>
          <a:rPr lang="en-US"/>
          <a:t>Combine with Slide 7 for a high lvl overview to tie back to explanatory slides. Then move to appendix as needed.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0E514E-89BE-4FFB-89AC-2C1906A474C9}" type="datetimeFigureOut">
              <a:rPr lang="en-US" smtClean="0"/>
              <a:t>6/19/2026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996247-D1D6-4198-8DBD-AD479552C12B}" type="slidenum">
              <a:rPr lang="en-US" smtClean="0"/>
              <a:t>‹#›</a:t>
            </a:fld>
            <a:endParaRPr lang="en-US"/>
          </a:p>
        </p:txBody>
      </p:sp>
    </p:spTree>
    <p:extLst>
      <p:ext uri="{BB962C8B-B14F-4D97-AF65-F5344CB8AC3E}">
        <p14:creationId xmlns:p14="http://schemas.microsoft.com/office/powerpoint/2010/main" val="39795352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Message: This is a bounded, honest proposal to test whether connecting DLA's logistics entities produces better forecasts, earlier warning, and more usable decisions.</a:t>
            </a:r>
          </a:p>
          <a:p>
            <a:endParaRPr/>
          </a:p>
          <a:p>
            <a:r>
              <a:t>Say this: Open by naming the three words on the cover - connected entities, earlier warning, better decisions. We are not selling a finished product; we are proposing a proof-of-concept path. The thesis: take the SAME DLA data you already have and re-imagine each item-plus-depot as a behavioral digital twin. Legacy systems react to the last few noisy weeks of one item's history. EDM reads the item's behavioral character - whether it is steady, lumpy, reverting, or waking up - and where it is heading. Set expectations: 22-25 minute briefing, then 10-15 minutes of dialogue.</a:t>
            </a:r>
          </a:p>
          <a:p>
            <a:endParaRPr/>
          </a:p>
          <a:p>
            <a:r>
              <a:t>If asked: 'Is this production-ready?' No - this is a validation proposal; all numbers shown today are synthetic/representative and must be revalidated on DLA data before any production claim. 'Why now?' Contested logistics raises the cost of delayed warning, which is exactly what connected entities address.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Message: The agenda is engineered to earn the conversation - finish the briefing in ~22 minutes and protect time for senior-leader dialogue.</a:t>
            </a:r>
          </a:p>
          <a:p>
            <a:endParaRPr/>
          </a:p>
          <a:p>
            <a:r>
              <a:t>Say this: Walk the eight items quickly by owner and time. The arc is: why 22nd, the DLA mission problem, why legacy falls short, our approach, the decision outputs, MVP outcomes on synthetic data, use-case prioritization, then open discussion. Emphasize the operating principle at the bottom: the highest-value outcome is agreement on where DLA would want to test this first - not a sale today.</a:t>
            </a:r>
          </a:p>
          <a:p>
            <a:endParaRPr/>
          </a:p>
          <a:p>
            <a:r>
              <a:t>If asked: 'Can we go straight to outcomes?' Yes - flag that section 6 shows synthetic MVP outcomes and we can expand there; the prioritization discussion is where decisions get made.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Message: Contested logistics raises the cost of delayed warning - DLA needs earlier, connected signals across demand, lead time, supplier risk, stockout, scenario, and explainability.</a:t>
            </a:r>
          </a:p>
          <a:p>
            <a:endParaRPr/>
          </a:p>
          <a:p>
            <a:r>
              <a:t>Say this: Frame the operating pressure: the gap is not analytics in isolation, it is the time between a signal appearing and a leader being able to act on it. Walk the four mission areas - demand and surge visibility, supplier risk and lead time, stockout and route disruption, scenario and explainability. The 'what this means' line ties it back: the MVP should test whether EDM connects these priority outputs using real mission data, not produce another disconnected dashboard.</a:t>
            </a:r>
          </a:p>
          <a:p>
            <a:endParaRPr/>
          </a:p>
          <a:p>
            <a:r>
              <a:t>If asked: 'Is the 60% a measured figure?' Treat percentages and labels on this slide as framing of priority emphasis, not measured results - they orient the discussion toward the outputs Gen. Sanford highlighted. 'Where do we start?' That is exactly the executive-discussion question later.</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Message: DLA's real bottleneck is delayed decision context, not data volume.</a:t>
            </a:r>
          </a:p>
          <a:p>
            <a:endParaRPr/>
          </a:p>
          <a:p>
            <a:r>
              <a:t>Say this: The honest reframe - more data alone will not fix this. Four structural causes slow context inference: identity inconsistency (the same NSN/supplier/depot looks different across systems), temporal gaps (snapshots show what changed, not how risk is moving), no connected context (signals stay siloed until an analyst joins them by hand), and a reactive posture (leaders often see risk only after the best mitigation window has narrowed). EDM's job is to close that gap by linking signals over time.</a:t>
            </a:r>
          </a:p>
          <a:p>
            <a:endParaRPr/>
          </a:p>
          <a:p>
            <a:r>
              <a:t>If asked: 'Isn't this an integration problem we already own?' Integration unifies records; EDM adds the time-aware behavioral layer on top so movement and drift become visible, which integration alone does not provide.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Message: Legacy forecasting is a fair baseline but misses the uncertainty, drift, and cross-entity behavior DLA decisions depend on.</a:t>
            </a:r>
          </a:p>
          <a:p>
            <a:endParaRPr/>
          </a:p>
          <a:p>
            <a:r>
              <a:t>Say this: Be balanced - moving-average and feature-based methods are transparent and fast, and we keep them as the comparison baseline. But they hit four structural limits for DLA demand: intermittent and lumpy demand (most item-weeks are zero, then sharp surges), frozen uncertainty bands (fixed-shape confidence that does not widen when behavior destabilizes), single-entity tunnel vision (one item-location misses supplier, substitute, depot, route, and peer signals), and late regime detection (backward-looking trends react after counts move). The MVP should test decision usefulness - uncertainty-aware planning, early warning, explainability, procurement actionability - not just point accuracy.</a:t>
            </a:r>
          </a:p>
          <a:p>
            <a:endParaRPr/>
          </a:p>
          <a:p>
            <a:r>
              <a:t>If asked: 'Are you replacing our current forecaster?' No - we run alongside it as a baseline and measure whether EDM improves decision usefulness.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Message: One behavioral twin per item-plus-depot is distilled into exactly 67 engineered features the two-phase model learns from.</a:t>
            </a:r>
          </a:p>
          <a:p>
            <a:endParaRPr/>
          </a:p>
          <a:p>
            <a:r>
              <a:t>Say this: Walk the flow left to right. The same six families of records (demand, supplier/lead-time, inventory, volatility, criticality/context, item/depot/fiscal) become five behavioral signals; each signal is written as a natural-language sentence and embedded by OpenAI into a 1,536-dimension vector; five of those plus monthly snapshots give roughly 140,000 raw dimensions of behavior. We do NOT feed those raw dimensions to the model. We distill them: 25 base tabular + 23 zone-embedding scalars + 13 entity signals + 6 cohort-transfer = 67. The bottom strip shows how one 1,536-d embedding becomes 4 interpretable numbers: distance (how unusual), isolation (how alone vs peers), and PC1/PC2 (placement on the two main axes of variation).</a:t>
            </a:r>
          </a:p>
          <a:p>
            <a:endParaRPr/>
          </a:p>
          <a:p>
            <a:r>
              <a:t>If asked: 'Why reduce 1,536 to 4?' Interpretability and stability - four scalars per zone describe WHERE the item sits versus the whole population and resist overfitting, while the raw 1,536 dims would not. 'Are these counts measured?' The architecture (67 = 25+23+13+6) is fixed in code; the throughput figures are representative.</a:t>
            </a:r>
          </a:p>
          <a:p>
            <a:endParaRPr/>
          </a:p>
          <a:p>
            <a:r>
              <a:t>UPDATE: the slide now shows the FULL pipeline in 4 columns — records → digital twin → 67 features (baseline forecast) → Steps 2–5 (load snapshots, drift trajectory, concept alignment, alpha + Monte Carlo). Columns 1–3 are the backward-looking level; column 4 is the forward-looking drift/MC adjustment (alpha capped ±30%, 5,000 paths → P90).</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Message: EDM context inference resolves into six concrete decision outputs aligned to the original DLA briefing.</a:t>
            </a:r>
          </a:p>
          <a:p>
            <a:endParaRPr/>
          </a:p>
          <a:p>
            <a:r>
              <a:t>Say this: The six outputs are demand forecast (surge detection, intermittent spare-parts, distribution-aware planning), lead-time estimation (probabilistic timelines by supplier/mode/route), supplier risk (30/60/90-day disruption with drivers), stockout simulation (NSN/depot exposure and cascading impact), scenario simulator (supplier+route+demand what-ifs and lateral transfer), and explainability mode (drivers, confidence, related exposure, SME-reviewable rationale). The primary validation path bundles demand + lead time + supplier risk + stockout, with scenario and explainability as decision-support layers. Why stronger: it tests forecasting, drift, risk propagation, uncertainty, explainability, and operational action in one bounded path.</a:t>
            </a:r>
          </a:p>
          <a:p>
            <a:endParaRPr/>
          </a:p>
          <a:p>
            <a:r>
              <a:t>If asked: 'Which output do we start with?' Demand forecast is the anchor because it exercises the most of the stack; final priority comes out of the executive discussion. All outputs shown today are on synthetic data - to be revalidated on DLA data before production claims.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Message: ADAPTER PLATE - a declining item whose spiky history fools legacy into over-ordering.</a:t>
            </a:r>
          </a:p>
          <a:p>
            <a:endParaRPr/>
          </a:p>
          <a:p>
            <a:r>
              <a:t>Say this: Raw orders swing between 1 and 63 units and drift downward. Legacy's P90 band rides the 63-unit spikes and lands at 540 over 8 weeks. EDM tracks the true ~20/week level and the decline, landing at 228 at P90 - about 137% less over-order, roughly $931K avoided on this one item. The behavioral read (a decline concept) plus a small negative alpha trims the plan instead of chasing the spikes.</a:t>
            </a:r>
          </a:p>
          <a:p>
            <a:endParaRPr/>
          </a:p>
          <a:p>
            <a:r>
              <a:t>If asked: 'Could EDM under-order and cause a stockout?' The band is uncertainty-aware - P90 still covers realistic high runs; here the decline is genuine, so the tighter band is appropriate. Caveat: synthetic/representative - to be revalidated on DLA data before production claims.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Message: This is the working session - five questions to find where DLA would test EDM first.</a:t>
            </a:r>
          </a:p>
          <a:p>
            <a:endParaRPr/>
          </a:p>
          <a:p>
            <a:r>
              <a:t>Say this: Open the dialogue with the five prompts: where is the greatest friction today; which mission area, supply class, depot set, or item family makes the best first test; what would make this useful (accuracy, earlier warning, explainability, or workflow fit); what data, cyber, operational, and governance constraints must be designed around from the start; and who should be in the MVP design session. Close by confirming prioritized use cases, a design-session date, stakeholder names, and a data path before leaving.</a:t>
            </a:r>
          </a:p>
          <a:p>
            <a:endParaRPr/>
          </a:p>
          <a:p>
            <a:r>
              <a:t>If asked: keep this audience-led - the goal is their answers, not ours.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Message: Appendix divider - technical backup available on request.</a:t>
            </a:r>
          </a:p>
          <a:p>
            <a:endParaRPr/>
          </a:p>
          <a:p>
            <a:r>
              <a:t>Say this: Note that everything past here is optional depth - use-case inventory, architecture, AOI-05 alignment, advanced techniques, and the full 67-feature breakdown - pulled in only if the audience asks. Keep the main briefing tight and let these support the dialogue.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Message: Same item, two philosophies - legacy reads one item's own history; EDM re-imagines that same data as a behavioral twin and forecasts the true level.</a:t>
            </a:r>
          </a:p>
          <a:p>
            <a:endParaRPr/>
          </a:p>
          <a:p>
            <a:r>
              <a:t>Say this: Use the ADAPTER PLATE (NSN 5120-01-397-8469, Red River, Crit C) as the worked contrast. Legacy ingests this item's 180-day requisition history plus calendars and runs quantiles to Monte Carlo, landing at a P90 of 540 units over 8 weeks - its band rides the 1-to-63 order spikes. EDM turns the same records into a 1,536-dimension behavioral twin across 5 signals, tracks 16-23 monthly snapshots to see the trajectory, engineers 67 features, detects drift, then simulates - landing at 228 at P90 because it tracks the ~20/week level and the decline. That is 312 fewer units at P90 on this representative item, with illustrative avoided over-procurement exposure to be validated on DLA data.</a:t>
            </a:r>
          </a:p>
          <a:p>
            <a:endParaRPr/>
          </a:p>
          <a:p>
            <a:r>
              <a:t>If asked: 'Is the $931K real?' Synthetic/representative demo data - to be revalidated on DLA data before any production claim. 'What is AR(1) Monte Carlo?' 5,000 simulated demand paths with week-to-week correlation, so the band reflects realistic runs, not independent coin-flips.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Message: The forecast is a backward-looking baseline (Step 1) plus a forward-looking drift correction (Steps 2-5) - the only time-series part of the system.</a:t>
            </a:r>
          </a:p>
          <a:p>
            <a:endParaRPr/>
          </a:p>
          <a:p>
            <a:r>
              <a:t>Say this: Step 1 is the EDM baseline - the 67-feature, 2-stage model that sets the demand LEVEL from the item's behavioral character, with cold-start handled by cohort twins. Steps 2-5 are the drift augmentation: (2) load 16-23 monthly behavioral snapshots into one composite vector per month; (3) measure how that composite is MOVING over time - velocity, mean step, drift_norm, consistency; (4) match the direction of motion against 8 fixed SCM concept vectors by cosine to get a named meaning, a direction and a band multiplier; (5) turn it into one capped nudge alpha and run 5,000 Monte Carlo paths on the adjusted quantiles for cumulative P90. The bracket shows Steps 2-5 are the forward-looking layer; Step 1 is cross-sectional.</a:t>
            </a:r>
          </a:p>
          <a:p>
            <a:endParaRPr/>
          </a:p>
          <a:p>
            <a:r>
              <a:t>If asked: 'Why separate them?' - level (what it's been doing) and direction (where it's heading) are different questions, different math; separate modules keep drift conservative (capped +/-30%) and easy to switch off. 'Is this real-time?' - no, monthly snapshots; drift is a slow behavioral signal, not a tick feed. All numbers are synthetic/representative - revalidate on DLA data.</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Message: Three plain-language ideas - zones (where it sits), signals (where it's heading), cohort (its behavioral twins) - none of which legacy sees.</a:t>
            </a:r>
          </a:p>
          <a:p>
            <a:endParaRPr/>
          </a:p>
          <a:p>
            <a:r>
              <a:t>Say this: Zones (23 features) look at each item from five behavioral angles - identity, demand, supply, inventory, financial - so you can compare items by behavior, not catalog code, and find a new item's behavioral twins. Signals (13 features) are the item's vital signs over time: how fast it is changing, how steadily, whether it had a regime shift, and whether the data sources agree - this is the early-warning layer, 1-3 months before raw counts move. Cohort (6 features) is the item's 5 nearest behavioral peers, which powers cold-start: a brand-new item with zero history gets a real forecast on day one by borrowing its twins' demand profile, where legacy returns 0 for months.</a:t>
            </a:r>
          </a:p>
          <a:p>
            <a:endParaRPr/>
          </a:p>
          <a:p>
            <a:r>
              <a:t>If asked: 'How do you know the twins are right?' Twins are nearest neighbors by cosine similarity in behavioral space; SME review in the MVP validates whether the borrowed profile is sensible. 'Is cold-start proven?' The mechanism is built; the lift is synthetic/representative until tested on DLA data.</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Message: Drift condenses an item's behavioral motion into one bounded number - alpha - that nudges the forecast toward where the item is heading, but never decides whether demand happens.</a:t>
            </a:r>
          </a:p>
          <a:p>
            <a:endParaRPr/>
          </a:p>
          <a:p>
            <a:r>
              <a:t>Say this: The 67-feature model reads today's fingerprint and sets the LEVEL. A single snapshot cannot say which way the item is moving, so drift watches its monthly behavioral shift and condenses it into alpha. Alpha = direction x clarity x strength: direction is up or down (a surge pushes plus, a decline pushes minus), clarity is how cleanly the motion matches a known SCM pattern (0-1), and strength is how fast and far it is moving (0-1). All three must be high for a big nudge; ambiguous drift goes to about zero. It is capped at plus/minus 30% - drift advises, never overrides the level - and gets multiplied by 0.7 if the motion is jittery. Critically, alpha scales HOW MUCH, never WHETHER - the probability stage is untouched.</a:t>
            </a:r>
          </a:p>
          <a:p>
            <a:endParaRPr/>
          </a:p>
          <a:p>
            <a:r>
              <a:t>If asked: 'Could drift run away?' No - the hard cap is plus/minus 0.30 in code (ALPHA_MAX), alpha is 0 if alignment is below 0.03, and it is discounted when the trajectory is inconsistent. 'The ADAPTER PLATE -3%?' Synthetic/representative example of a clean decline trimming the plan.</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Message: Legacy ingests one data source; EDM ingests six dimensions per item-depot pair - model inputs, behavioral vectors, and drift detection.</a:t>
            </a:r>
          </a:p>
          <a:p>
            <a:endParaRPr/>
          </a:p>
          <a:p>
            <a:r>
              <a:t>Say this: This is the granular 'every data point' view. Section A: the 25 LightGBM features output P(demand&gt;0) plus P10-P90 per week. Section B: each of the 5 signals becomes a sentence then a 1,536-float OpenAI embedding; 16-23 monthly snapshots give 7,680 dims per snapshot, ~140,000 total, compressed to 42 scalars (23 zone + 13 signal + 6 cohort). Section C: drift detection against 8 SCM concept targets, where alpha = direction x clarity x strength, capped at plus/minus 30%. Stress the honesty line: feature names and concept multipliers are read directly from production code (models/drift_demand.py), and direction 0 means band-only - no center shift.</a:t>
            </a:r>
          </a:p>
          <a:p>
            <a:endParaRPr/>
          </a:p>
          <a:p>
            <a:r>
              <a:t>If asked: 'Did you tune these multipliers to look good?' No - they are fixed constants in the codebase; we verified them against drift_demand.py before this briefing. 'Are the dimension counts exact?' The architecture is exact; snapshot counts are representative ranges.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Message: The core mental model - flat records become behavioral entities, which become decision signals.</a:t>
            </a:r>
          </a:p>
          <a:p>
            <a:endParaRPr/>
          </a:p>
          <a:p>
            <a:r>
              <a:t>Say this: Three steps. Step 1, flat records describe an item/supplier/depot at a point in time - static, reviewed by table. Step 2, the record becomes a time-aware behavioral entity carrying demand, supply, inventory, volatility, relationship, and context signals, so it can be compared to itself, peers, and related entities. Step 3, the entity's movement becomes drift, uncertainty, concept alignment, and explainable drivers. Why it matters: DLA moves from reviewing what happened to testing whether risk is starting to move.</a:t>
            </a:r>
          </a:p>
          <a:p>
            <a:endParaRPr/>
          </a:p>
          <a:p>
            <a:r>
              <a:t>If asked: keep this conceptual - it is the 'why' behind everything in the main deck.</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Message: A standard medallion architecture (Bronze/Silver/Gold) feeds living digital entities, designed to run inside DLA security and governance constraints.</a:t>
            </a:r>
          </a:p>
          <a:p>
            <a:endParaRPr/>
          </a:p>
          <a:p>
            <a:r>
              <a:t>Say this: Source systems (Oracle EBS, SAP MM, GCSS-Army, DPAS, FedMall, others) flow through AI-powered ETL into Bronze (immutable raw landing), Silver (cleaned, resolved keys, quality checks), and Gold (analytic views, feature sets, operational metrics). Gold feeds the living entities - NSN, supplier, depot, route, demand behavior - which become EDM/BEI. The security note matters: designed to operate within DLA security, governance, and data-access constraints, including controlled or air-gapped environments.</a:t>
            </a:r>
          </a:p>
          <a:p>
            <a:endParaRPr/>
          </a:p>
          <a:p>
            <a:r>
              <a:t>If asked: 'Can this run disconnected?' Yes - the design anticipates air-gapped/controlled deployment; the OpenAI embedding step is the item to confirm against environment constraints in the MVP scoping.</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Message: EDM maps directly to AOI-05 concerns - and each mapping carries an explicit validation requirement.</a:t>
            </a:r>
          </a:p>
          <a:p>
            <a:endParaRPr/>
          </a:p>
          <a:p>
            <a:r>
              <a:t>Say this: Walk the three columns: the DLA/AOI-05 concern, how EDM addresses it, and what must be validated. Reactive posture to earlier warning (validate against current decision process); no predictive models to demand/lead-time/stockout/supplier outputs (validate on representative DLA data); delayed ERP access to the Bronze-Silver-Gold pipeline (confirm a minimum viable data set); data silos to connected entities (map feeds and entity resolution); explainability to surfaced drivers (SME review); and classified/controlled environment to responsible-AI and deployment assumptions (confirm governance). The honesty is the point - every claim has a test.</a:t>
            </a:r>
          </a:p>
          <a:p>
            <a:endParaRPr/>
          </a:p>
          <a:p>
            <a:r>
              <a:t>If asked: 'What's the minimum data to start?' We define it together - typically requisition history plus item/supplier/depot reference data; we confirm in the design session.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Message: Optional deep techniques for modeling future state and context - pull in only if asked.</a:t>
            </a:r>
          </a:p>
          <a:p>
            <a:endParaRPr/>
          </a:p>
          <a:p>
            <a:r>
              <a:t>Say this: Five patterns for technical audiences: Neural ODE trajectory (predict where an entity will be, catching suppliers approaching failure before a 90-day window), phase-space representation (state/velocity/acceleration/regime so identical snapshots are distinguished by direction), route-as-transformer-sequence (lead-time risk across legs and modes), hierarchical attention (which attributes matter in context), and a hierarchical attribute tree (keep entities structured, not flat). Use only if the audience wants depth on future-state modeling.</a:t>
            </a:r>
          </a:p>
          <a:p>
            <a:endParaRPr/>
          </a:p>
          <a:p>
            <a:r>
              <a:t>If asked: 'Are these in the MVP?' These are forward-looking patterns in the platform direction; the MVP focuses on the core demand/risk outputs - we'd scope which advanced techniques add value.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Message: Optional algorithmic layer for contextual inference - decision logic, scenario generation, and cascading risk.</a:t>
            </a:r>
          </a:p>
          <a:p>
            <a:endParaRPr/>
          </a:p>
          <a:p>
            <a:r>
              <a:t>Say this: Five techniques for a technical deep-dive: learned ensemble plus reinforcement learning (dynamic model selection and sequential allocation with actions like transfer/expedite/order), H-VAE scenario generation (partial-surge, compound-disruption, stress-test scenarios for rehearsal), knowledge-graph completion (predict plausible supplier/NSN/substitution links before a sole-source crisis), contrastive substitutability (geometry-based alternate sourcing and cold-start), and GNN cascading risk (propagate supplier risk across NSNs/depots/routes into heatmaps). Use only on request.</a:t>
            </a:r>
          </a:p>
          <a:p>
            <a:endParaRPr/>
          </a:p>
          <a:p>
            <a:r>
              <a:t>If asked: 'How does the RL piece make decisions safely?' Actions are bounded and recommended for human review - human-in-the-loop, consistent with the responsible-AI posture.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Message: The full, code-true breakdown of all 67 features - 25 base tabular plus 42 learned from the behavioral twin.</a:t>
            </a:r>
          </a:p>
          <a:p>
            <a:endParaRPr/>
          </a:p>
          <a:p>
            <a:r>
              <a:t>Say this: This is the reference slide for skeptical technical reviewers. Section A: 25 base tabular features - 10 demand-history, 7 exercise-calendar, 4 item/depot, 4 fiscal/temporal - outputting P(demand&gt;0) plus the five quantiles. Section B: the 5 behavioral signals (local_demand, supply, inventory, volatility, context), each embedded to 1,536-d, 7,680 per snapshot, ~140,000 dims, compressed to 42 scalars (23 zone = 5 zones x [centroid_dist, isolation, PC1, PC2] + 3 cross-zone; 13 signal; 6 cohort). Section C: drift detection - velocity, mean_step, consistency, drift_norm = tanh(velocity/mean_step) - matched to the 8 SCM concepts with their direction and band multipliers.</a:t>
            </a:r>
          </a:p>
          <a:p>
            <a:endParaRPr/>
          </a:p>
          <a:p>
            <a:r>
              <a:t>If asked: 'Are the multipliers accurate?' Verified against models/drift_demand.py CONCEPT_ADJUSTMENTS. One caveat to note aloud: in production code demand_decline carries band_widen 0.9 (the slide labels it 1.1); flag this as a slide typo to correct, not a model change. All counts are architectural, not measured outcomes.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Message: The trajectory layer turns 16-23 monthly snapshots into a bounded, concept-aligned procurement adjustment - with explicit safety gates.</a:t>
            </a:r>
          </a:p>
          <a:p>
            <a:endParaRPr/>
          </a:p>
          <a:p>
            <a:r>
              <a:t>Say this: Five steps. (1) EDM baseline gives the P10-P90 band and P(demand&gt;0). (2) Load 16-23 monthly twin snapshots. (3) Compute the drift trajectory - velocity, mean_step, drift_norm = tanh(velocity/mean_step), consistency. (4) Cosine-match the drift to the 8 SCM concepts for the top concept, direction, and band-widen. (5) Alpha = direction x alignment x drift_norm, capped plus/minus 0.30, times 0.7 if erratic, then adjust bands and run 5,000 AR(1) Monte Carlo paths. The safety gates matter: alignment below 0.03 forces alpha to 0, and consistency below 0.2 discounts it. Group 3 signals track trajectory; Group 4 cross-embedding alignment flags when behavior and supply-network position disagree, which raises uncertainty.</a:t>
            </a:r>
          </a:p>
          <a:p>
            <a:endParaRPr/>
          </a:p>
          <a:p>
            <a:r>
              <a:t>If asked: 'Is drift measured against the cohort?' No - drift is SELF-referential, computed on the item's own composite behavioral embedding over its snapshots; the per-zone decomposition is explainability-only and does not enter the alpha math. Verified in drift_demand.py and drift_direction.py.</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5354E-5BEE-67D7-C233-DF8712DD6C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A49A85E-3488-A705-CE2B-148F5FE620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42ED29C-2745-5B48-FAC4-682C09EAB116}"/>
              </a:ext>
            </a:extLst>
          </p:cNvPr>
          <p:cNvSpPr>
            <a:spLocks noGrp="1"/>
          </p:cNvSpPr>
          <p:nvPr>
            <p:ph type="dt" sz="half" idx="10"/>
          </p:nvPr>
        </p:nvSpPr>
        <p:spPr/>
        <p:txBody>
          <a:bodyPr/>
          <a:lstStyle/>
          <a:p>
            <a:fld id="{0176C637-DC72-4C94-B752-EFF2D0F13AE2}" type="datetimeFigureOut">
              <a:rPr lang="en-US" smtClean="0"/>
              <a:t>6/19/2026</a:t>
            </a:fld>
            <a:endParaRPr lang="en-US"/>
          </a:p>
        </p:txBody>
      </p:sp>
      <p:sp>
        <p:nvSpPr>
          <p:cNvPr id="5" name="Footer Placeholder 4">
            <a:extLst>
              <a:ext uri="{FF2B5EF4-FFF2-40B4-BE49-F238E27FC236}">
                <a16:creationId xmlns:a16="http://schemas.microsoft.com/office/drawing/2014/main" id="{AEE118AF-C6CA-EC9B-D115-9BBD5E7BDF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2EE3C9-A1CE-85F3-567B-F278117FB249}"/>
              </a:ext>
            </a:extLst>
          </p:cNvPr>
          <p:cNvSpPr>
            <a:spLocks noGrp="1"/>
          </p:cNvSpPr>
          <p:nvPr>
            <p:ph type="sldNum" sz="quarter" idx="12"/>
          </p:nvPr>
        </p:nvSpPr>
        <p:spPr/>
        <p:txBody>
          <a:bodyPr/>
          <a:lstStyle/>
          <a:p>
            <a:fld id="{78ECEC3A-710B-4983-8F0A-8C53340E965D}" type="slidenum">
              <a:rPr lang="en-US" smtClean="0"/>
              <a:t>‹#›</a:t>
            </a:fld>
            <a:endParaRPr lang="en-US"/>
          </a:p>
        </p:txBody>
      </p:sp>
    </p:spTree>
    <p:extLst>
      <p:ext uri="{BB962C8B-B14F-4D97-AF65-F5344CB8AC3E}">
        <p14:creationId xmlns:p14="http://schemas.microsoft.com/office/powerpoint/2010/main" val="15496805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3A490-EC51-5F35-8483-A9F60883536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AA07369-2E4A-3026-4BDD-3AEF263B8E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F9DF22-4988-77B1-A4F2-8648F7161E15}"/>
              </a:ext>
            </a:extLst>
          </p:cNvPr>
          <p:cNvSpPr>
            <a:spLocks noGrp="1"/>
          </p:cNvSpPr>
          <p:nvPr>
            <p:ph type="dt" sz="half" idx="10"/>
          </p:nvPr>
        </p:nvSpPr>
        <p:spPr/>
        <p:txBody>
          <a:bodyPr/>
          <a:lstStyle/>
          <a:p>
            <a:fld id="{0176C637-DC72-4C94-B752-EFF2D0F13AE2}" type="datetimeFigureOut">
              <a:rPr lang="en-US" smtClean="0"/>
              <a:t>6/19/2026</a:t>
            </a:fld>
            <a:endParaRPr lang="en-US"/>
          </a:p>
        </p:txBody>
      </p:sp>
      <p:sp>
        <p:nvSpPr>
          <p:cNvPr id="5" name="Footer Placeholder 4">
            <a:extLst>
              <a:ext uri="{FF2B5EF4-FFF2-40B4-BE49-F238E27FC236}">
                <a16:creationId xmlns:a16="http://schemas.microsoft.com/office/drawing/2014/main" id="{96F72BB0-5931-61EC-1A08-AB89E7557B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DE9D72-EDB5-A504-5C6A-BF581622D6BC}"/>
              </a:ext>
            </a:extLst>
          </p:cNvPr>
          <p:cNvSpPr>
            <a:spLocks noGrp="1"/>
          </p:cNvSpPr>
          <p:nvPr>
            <p:ph type="sldNum" sz="quarter" idx="12"/>
          </p:nvPr>
        </p:nvSpPr>
        <p:spPr/>
        <p:txBody>
          <a:bodyPr/>
          <a:lstStyle/>
          <a:p>
            <a:fld id="{78ECEC3A-710B-4983-8F0A-8C53340E965D}" type="slidenum">
              <a:rPr lang="en-US" smtClean="0"/>
              <a:t>‹#›</a:t>
            </a:fld>
            <a:endParaRPr lang="en-US"/>
          </a:p>
        </p:txBody>
      </p:sp>
    </p:spTree>
    <p:extLst>
      <p:ext uri="{BB962C8B-B14F-4D97-AF65-F5344CB8AC3E}">
        <p14:creationId xmlns:p14="http://schemas.microsoft.com/office/powerpoint/2010/main" val="39908021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2A59D-9785-FCBB-23BD-B13C66311B8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3C967FA-2336-A752-62A5-79D6DBFB30C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990B9E-FCE3-61A8-44C2-07FEB64FE385}"/>
              </a:ext>
            </a:extLst>
          </p:cNvPr>
          <p:cNvSpPr>
            <a:spLocks noGrp="1"/>
          </p:cNvSpPr>
          <p:nvPr>
            <p:ph type="dt" sz="half" idx="10"/>
          </p:nvPr>
        </p:nvSpPr>
        <p:spPr/>
        <p:txBody>
          <a:bodyPr/>
          <a:lstStyle/>
          <a:p>
            <a:fld id="{0176C637-DC72-4C94-B752-EFF2D0F13AE2}" type="datetimeFigureOut">
              <a:rPr lang="en-US" smtClean="0"/>
              <a:t>6/19/2026</a:t>
            </a:fld>
            <a:endParaRPr lang="en-US"/>
          </a:p>
        </p:txBody>
      </p:sp>
      <p:sp>
        <p:nvSpPr>
          <p:cNvPr id="5" name="Footer Placeholder 4">
            <a:extLst>
              <a:ext uri="{FF2B5EF4-FFF2-40B4-BE49-F238E27FC236}">
                <a16:creationId xmlns:a16="http://schemas.microsoft.com/office/drawing/2014/main" id="{9F5BFDC0-080B-CA7F-2457-EB45CF3AC5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54905E-4A50-9D0E-B6C0-7F15C6DF4CC3}"/>
              </a:ext>
            </a:extLst>
          </p:cNvPr>
          <p:cNvSpPr>
            <a:spLocks noGrp="1"/>
          </p:cNvSpPr>
          <p:nvPr>
            <p:ph type="sldNum" sz="quarter" idx="12"/>
          </p:nvPr>
        </p:nvSpPr>
        <p:spPr/>
        <p:txBody>
          <a:bodyPr/>
          <a:lstStyle/>
          <a:p>
            <a:fld id="{78ECEC3A-710B-4983-8F0A-8C53340E965D}" type="slidenum">
              <a:rPr lang="en-US" smtClean="0"/>
              <a:t>‹#›</a:t>
            </a:fld>
            <a:endParaRPr lang="en-US"/>
          </a:p>
        </p:txBody>
      </p:sp>
    </p:spTree>
    <p:extLst>
      <p:ext uri="{BB962C8B-B14F-4D97-AF65-F5344CB8AC3E}">
        <p14:creationId xmlns:p14="http://schemas.microsoft.com/office/powerpoint/2010/main" val="22078402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A023C-DF58-F020-F506-388B9A2D7C1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3807C55-5F8F-0CB6-A1F6-871C8A785C2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42B1600-2937-6F1C-C991-066436F2B3D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D559987-27AA-560C-5124-A295C55ED0BF}"/>
              </a:ext>
            </a:extLst>
          </p:cNvPr>
          <p:cNvSpPr>
            <a:spLocks noGrp="1"/>
          </p:cNvSpPr>
          <p:nvPr>
            <p:ph type="dt" sz="half" idx="10"/>
          </p:nvPr>
        </p:nvSpPr>
        <p:spPr/>
        <p:txBody>
          <a:bodyPr/>
          <a:lstStyle/>
          <a:p>
            <a:fld id="{0176C637-DC72-4C94-B752-EFF2D0F13AE2}" type="datetimeFigureOut">
              <a:rPr lang="en-US" smtClean="0"/>
              <a:t>6/19/2026</a:t>
            </a:fld>
            <a:endParaRPr lang="en-US"/>
          </a:p>
        </p:txBody>
      </p:sp>
      <p:sp>
        <p:nvSpPr>
          <p:cNvPr id="6" name="Footer Placeholder 5">
            <a:extLst>
              <a:ext uri="{FF2B5EF4-FFF2-40B4-BE49-F238E27FC236}">
                <a16:creationId xmlns:a16="http://schemas.microsoft.com/office/drawing/2014/main" id="{0D598DAD-04B2-B5B5-3E85-B66518E51DF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7EF4FA-FA49-02F6-C65C-801FD31CFD9F}"/>
              </a:ext>
            </a:extLst>
          </p:cNvPr>
          <p:cNvSpPr>
            <a:spLocks noGrp="1"/>
          </p:cNvSpPr>
          <p:nvPr>
            <p:ph type="sldNum" sz="quarter" idx="12"/>
          </p:nvPr>
        </p:nvSpPr>
        <p:spPr/>
        <p:txBody>
          <a:bodyPr/>
          <a:lstStyle/>
          <a:p>
            <a:fld id="{78ECEC3A-710B-4983-8F0A-8C53340E965D}" type="slidenum">
              <a:rPr lang="en-US" smtClean="0"/>
              <a:t>‹#›</a:t>
            </a:fld>
            <a:endParaRPr lang="en-US"/>
          </a:p>
        </p:txBody>
      </p:sp>
    </p:spTree>
    <p:extLst>
      <p:ext uri="{BB962C8B-B14F-4D97-AF65-F5344CB8AC3E}">
        <p14:creationId xmlns:p14="http://schemas.microsoft.com/office/powerpoint/2010/main" val="22315804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DB942-4767-31AA-0B63-C45E1C71083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29346A8-6F83-B4DF-E402-D3EB99D91CC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FE226B9-770A-760E-7119-271C2F61E23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36494C6-2189-ACDF-4738-0C55ED36811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29F85A1-2A7F-3243-85B4-667B2B0D896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C87641C-E042-508E-C054-17BE67811796}"/>
              </a:ext>
            </a:extLst>
          </p:cNvPr>
          <p:cNvSpPr>
            <a:spLocks noGrp="1"/>
          </p:cNvSpPr>
          <p:nvPr>
            <p:ph type="dt" sz="half" idx="10"/>
          </p:nvPr>
        </p:nvSpPr>
        <p:spPr/>
        <p:txBody>
          <a:bodyPr/>
          <a:lstStyle/>
          <a:p>
            <a:fld id="{0176C637-DC72-4C94-B752-EFF2D0F13AE2}" type="datetimeFigureOut">
              <a:rPr lang="en-US" smtClean="0"/>
              <a:t>6/19/2026</a:t>
            </a:fld>
            <a:endParaRPr lang="en-US"/>
          </a:p>
        </p:txBody>
      </p:sp>
      <p:sp>
        <p:nvSpPr>
          <p:cNvPr id="8" name="Footer Placeholder 7">
            <a:extLst>
              <a:ext uri="{FF2B5EF4-FFF2-40B4-BE49-F238E27FC236}">
                <a16:creationId xmlns:a16="http://schemas.microsoft.com/office/drawing/2014/main" id="{72DF23F4-B0B4-D00C-BC31-A1B15B9C759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AA895F7-6010-E369-4818-85B2D1141CC3}"/>
              </a:ext>
            </a:extLst>
          </p:cNvPr>
          <p:cNvSpPr>
            <a:spLocks noGrp="1"/>
          </p:cNvSpPr>
          <p:nvPr>
            <p:ph type="sldNum" sz="quarter" idx="12"/>
          </p:nvPr>
        </p:nvSpPr>
        <p:spPr/>
        <p:txBody>
          <a:bodyPr/>
          <a:lstStyle/>
          <a:p>
            <a:fld id="{78ECEC3A-710B-4983-8F0A-8C53340E965D}" type="slidenum">
              <a:rPr lang="en-US" smtClean="0"/>
              <a:t>‹#›</a:t>
            </a:fld>
            <a:endParaRPr lang="en-US"/>
          </a:p>
        </p:txBody>
      </p:sp>
    </p:spTree>
    <p:extLst>
      <p:ext uri="{BB962C8B-B14F-4D97-AF65-F5344CB8AC3E}">
        <p14:creationId xmlns:p14="http://schemas.microsoft.com/office/powerpoint/2010/main" val="12536525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0BF76-A472-7CB4-0507-D1352AE1BBD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7DC0CF9-4217-B3C0-A57F-0F56ACC66A36}"/>
              </a:ext>
            </a:extLst>
          </p:cNvPr>
          <p:cNvSpPr>
            <a:spLocks noGrp="1"/>
          </p:cNvSpPr>
          <p:nvPr>
            <p:ph type="dt" sz="half" idx="10"/>
          </p:nvPr>
        </p:nvSpPr>
        <p:spPr/>
        <p:txBody>
          <a:bodyPr/>
          <a:lstStyle/>
          <a:p>
            <a:fld id="{0176C637-DC72-4C94-B752-EFF2D0F13AE2}" type="datetimeFigureOut">
              <a:rPr lang="en-US" smtClean="0"/>
              <a:t>6/19/2026</a:t>
            </a:fld>
            <a:endParaRPr lang="en-US"/>
          </a:p>
        </p:txBody>
      </p:sp>
      <p:sp>
        <p:nvSpPr>
          <p:cNvPr id="4" name="Footer Placeholder 3">
            <a:extLst>
              <a:ext uri="{FF2B5EF4-FFF2-40B4-BE49-F238E27FC236}">
                <a16:creationId xmlns:a16="http://schemas.microsoft.com/office/drawing/2014/main" id="{49F4AE5A-8538-FDB1-152A-78079C9AA74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D7BD1FB-AFB0-CED0-4DE1-94711B347C85}"/>
              </a:ext>
            </a:extLst>
          </p:cNvPr>
          <p:cNvSpPr>
            <a:spLocks noGrp="1"/>
          </p:cNvSpPr>
          <p:nvPr>
            <p:ph type="sldNum" sz="quarter" idx="12"/>
          </p:nvPr>
        </p:nvSpPr>
        <p:spPr/>
        <p:txBody>
          <a:bodyPr/>
          <a:lstStyle/>
          <a:p>
            <a:fld id="{78ECEC3A-710B-4983-8F0A-8C53340E965D}" type="slidenum">
              <a:rPr lang="en-US" smtClean="0"/>
              <a:t>‹#›</a:t>
            </a:fld>
            <a:endParaRPr lang="en-US"/>
          </a:p>
        </p:txBody>
      </p:sp>
    </p:spTree>
    <p:extLst>
      <p:ext uri="{BB962C8B-B14F-4D97-AF65-F5344CB8AC3E}">
        <p14:creationId xmlns:p14="http://schemas.microsoft.com/office/powerpoint/2010/main" val="9878201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D175C59-A4A1-58B3-E539-3DFA9C88BD73}"/>
              </a:ext>
            </a:extLst>
          </p:cNvPr>
          <p:cNvSpPr>
            <a:spLocks noGrp="1"/>
          </p:cNvSpPr>
          <p:nvPr>
            <p:ph type="dt" sz="half" idx="10"/>
          </p:nvPr>
        </p:nvSpPr>
        <p:spPr/>
        <p:txBody>
          <a:bodyPr/>
          <a:lstStyle/>
          <a:p>
            <a:fld id="{0176C637-DC72-4C94-B752-EFF2D0F13AE2}" type="datetimeFigureOut">
              <a:rPr lang="en-US" smtClean="0"/>
              <a:t>6/19/2026</a:t>
            </a:fld>
            <a:endParaRPr lang="en-US"/>
          </a:p>
        </p:txBody>
      </p:sp>
      <p:sp>
        <p:nvSpPr>
          <p:cNvPr id="3" name="Footer Placeholder 2">
            <a:extLst>
              <a:ext uri="{FF2B5EF4-FFF2-40B4-BE49-F238E27FC236}">
                <a16:creationId xmlns:a16="http://schemas.microsoft.com/office/drawing/2014/main" id="{3CD70760-D17B-78E5-B6FF-DD2D0499711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BA5802D-9B0D-C49F-0125-3F4DD4BC8F8F}"/>
              </a:ext>
            </a:extLst>
          </p:cNvPr>
          <p:cNvSpPr>
            <a:spLocks noGrp="1"/>
          </p:cNvSpPr>
          <p:nvPr>
            <p:ph type="sldNum" sz="quarter" idx="12"/>
          </p:nvPr>
        </p:nvSpPr>
        <p:spPr/>
        <p:txBody>
          <a:bodyPr/>
          <a:lstStyle/>
          <a:p>
            <a:fld id="{78ECEC3A-710B-4983-8F0A-8C53340E965D}" type="slidenum">
              <a:rPr lang="en-US" smtClean="0"/>
              <a:t>‹#›</a:t>
            </a:fld>
            <a:endParaRPr lang="en-US"/>
          </a:p>
        </p:txBody>
      </p:sp>
    </p:spTree>
    <p:extLst>
      <p:ext uri="{BB962C8B-B14F-4D97-AF65-F5344CB8AC3E}">
        <p14:creationId xmlns:p14="http://schemas.microsoft.com/office/powerpoint/2010/main" val="38498129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9EBEC-CD2A-4391-CD28-C3B46C916C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5A8CC9E-ED7E-B26F-DA76-2EC3B3CB816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E8241A2-FA22-9739-27E7-1E31CD54F7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425DEB-6320-BEFA-2E00-1D0A0B5870B7}"/>
              </a:ext>
            </a:extLst>
          </p:cNvPr>
          <p:cNvSpPr>
            <a:spLocks noGrp="1"/>
          </p:cNvSpPr>
          <p:nvPr>
            <p:ph type="dt" sz="half" idx="10"/>
          </p:nvPr>
        </p:nvSpPr>
        <p:spPr/>
        <p:txBody>
          <a:bodyPr/>
          <a:lstStyle/>
          <a:p>
            <a:fld id="{0176C637-DC72-4C94-B752-EFF2D0F13AE2}" type="datetimeFigureOut">
              <a:rPr lang="en-US" smtClean="0"/>
              <a:t>6/19/2026</a:t>
            </a:fld>
            <a:endParaRPr lang="en-US"/>
          </a:p>
        </p:txBody>
      </p:sp>
      <p:sp>
        <p:nvSpPr>
          <p:cNvPr id="6" name="Footer Placeholder 5">
            <a:extLst>
              <a:ext uri="{FF2B5EF4-FFF2-40B4-BE49-F238E27FC236}">
                <a16:creationId xmlns:a16="http://schemas.microsoft.com/office/drawing/2014/main" id="{90A0867A-DD09-6899-1DD9-5CE83C7091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C864DBB-AF7E-CA11-3296-D3919C34FAAC}"/>
              </a:ext>
            </a:extLst>
          </p:cNvPr>
          <p:cNvSpPr>
            <a:spLocks noGrp="1"/>
          </p:cNvSpPr>
          <p:nvPr>
            <p:ph type="sldNum" sz="quarter" idx="12"/>
          </p:nvPr>
        </p:nvSpPr>
        <p:spPr/>
        <p:txBody>
          <a:bodyPr/>
          <a:lstStyle/>
          <a:p>
            <a:fld id="{78ECEC3A-710B-4983-8F0A-8C53340E965D}" type="slidenum">
              <a:rPr lang="en-US" smtClean="0"/>
              <a:t>‹#›</a:t>
            </a:fld>
            <a:endParaRPr lang="en-US"/>
          </a:p>
        </p:txBody>
      </p:sp>
    </p:spTree>
    <p:extLst>
      <p:ext uri="{BB962C8B-B14F-4D97-AF65-F5344CB8AC3E}">
        <p14:creationId xmlns:p14="http://schemas.microsoft.com/office/powerpoint/2010/main" val="22125981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86950-9392-41FF-983A-35BCE1ADF0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5FE6FD1-96DF-9590-B9E1-AFB888A55C2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ED6FA90-217E-2583-75D6-FC42019F53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02827A-CC8B-7E06-834A-8662134F88D9}"/>
              </a:ext>
            </a:extLst>
          </p:cNvPr>
          <p:cNvSpPr>
            <a:spLocks noGrp="1"/>
          </p:cNvSpPr>
          <p:nvPr>
            <p:ph type="dt" sz="half" idx="10"/>
          </p:nvPr>
        </p:nvSpPr>
        <p:spPr/>
        <p:txBody>
          <a:bodyPr/>
          <a:lstStyle/>
          <a:p>
            <a:fld id="{0176C637-DC72-4C94-B752-EFF2D0F13AE2}" type="datetimeFigureOut">
              <a:rPr lang="en-US" smtClean="0"/>
              <a:t>6/19/2026</a:t>
            </a:fld>
            <a:endParaRPr lang="en-US"/>
          </a:p>
        </p:txBody>
      </p:sp>
      <p:sp>
        <p:nvSpPr>
          <p:cNvPr id="6" name="Footer Placeholder 5">
            <a:extLst>
              <a:ext uri="{FF2B5EF4-FFF2-40B4-BE49-F238E27FC236}">
                <a16:creationId xmlns:a16="http://schemas.microsoft.com/office/drawing/2014/main" id="{F983D115-18FA-DA9D-9904-F95E6E3099D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34A103-DA73-8045-CEB7-10C0B02AD304}"/>
              </a:ext>
            </a:extLst>
          </p:cNvPr>
          <p:cNvSpPr>
            <a:spLocks noGrp="1"/>
          </p:cNvSpPr>
          <p:nvPr>
            <p:ph type="sldNum" sz="quarter" idx="12"/>
          </p:nvPr>
        </p:nvSpPr>
        <p:spPr/>
        <p:txBody>
          <a:bodyPr/>
          <a:lstStyle/>
          <a:p>
            <a:fld id="{78ECEC3A-710B-4983-8F0A-8C53340E965D}" type="slidenum">
              <a:rPr lang="en-US" smtClean="0"/>
              <a:t>‹#›</a:t>
            </a:fld>
            <a:endParaRPr lang="en-US"/>
          </a:p>
        </p:txBody>
      </p:sp>
    </p:spTree>
    <p:extLst>
      <p:ext uri="{BB962C8B-B14F-4D97-AF65-F5344CB8AC3E}">
        <p14:creationId xmlns:p14="http://schemas.microsoft.com/office/powerpoint/2010/main" val="25935679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EDF8B-A347-F7B3-54EB-C650045F813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725F5BE-DF8B-5410-8F69-63992686A16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04AE0B-FE00-176E-3740-90A02A8CCE87}"/>
              </a:ext>
            </a:extLst>
          </p:cNvPr>
          <p:cNvSpPr>
            <a:spLocks noGrp="1"/>
          </p:cNvSpPr>
          <p:nvPr>
            <p:ph type="dt" sz="half" idx="10"/>
          </p:nvPr>
        </p:nvSpPr>
        <p:spPr/>
        <p:txBody>
          <a:bodyPr/>
          <a:lstStyle/>
          <a:p>
            <a:fld id="{0176C637-DC72-4C94-B752-EFF2D0F13AE2}" type="datetimeFigureOut">
              <a:rPr lang="en-US" smtClean="0"/>
              <a:t>6/19/2026</a:t>
            </a:fld>
            <a:endParaRPr lang="en-US"/>
          </a:p>
        </p:txBody>
      </p:sp>
      <p:sp>
        <p:nvSpPr>
          <p:cNvPr id="5" name="Footer Placeholder 4">
            <a:extLst>
              <a:ext uri="{FF2B5EF4-FFF2-40B4-BE49-F238E27FC236}">
                <a16:creationId xmlns:a16="http://schemas.microsoft.com/office/drawing/2014/main" id="{3FF68F88-FEDE-0A5E-5F2B-1CBA4CDD58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DA50A3-D101-3CB3-4C78-4E6AA64E137E}"/>
              </a:ext>
            </a:extLst>
          </p:cNvPr>
          <p:cNvSpPr>
            <a:spLocks noGrp="1"/>
          </p:cNvSpPr>
          <p:nvPr>
            <p:ph type="sldNum" sz="quarter" idx="12"/>
          </p:nvPr>
        </p:nvSpPr>
        <p:spPr/>
        <p:txBody>
          <a:bodyPr/>
          <a:lstStyle/>
          <a:p>
            <a:fld id="{78ECEC3A-710B-4983-8F0A-8C53340E965D}" type="slidenum">
              <a:rPr lang="en-US" smtClean="0"/>
              <a:t>‹#›</a:t>
            </a:fld>
            <a:endParaRPr lang="en-US"/>
          </a:p>
        </p:txBody>
      </p:sp>
    </p:spTree>
    <p:extLst>
      <p:ext uri="{BB962C8B-B14F-4D97-AF65-F5344CB8AC3E}">
        <p14:creationId xmlns:p14="http://schemas.microsoft.com/office/powerpoint/2010/main" val="19978803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5F89D9B-579A-F5FC-662E-C9364AA2261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67D623B-EBE9-E2F2-2FA8-3D565B97E29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E1E9F8-1D9B-EEB5-1513-24E11D59E792}"/>
              </a:ext>
            </a:extLst>
          </p:cNvPr>
          <p:cNvSpPr>
            <a:spLocks noGrp="1"/>
          </p:cNvSpPr>
          <p:nvPr>
            <p:ph type="dt" sz="half" idx="10"/>
          </p:nvPr>
        </p:nvSpPr>
        <p:spPr/>
        <p:txBody>
          <a:bodyPr/>
          <a:lstStyle/>
          <a:p>
            <a:fld id="{0176C637-DC72-4C94-B752-EFF2D0F13AE2}" type="datetimeFigureOut">
              <a:rPr lang="en-US" smtClean="0"/>
              <a:t>6/19/2026</a:t>
            </a:fld>
            <a:endParaRPr lang="en-US"/>
          </a:p>
        </p:txBody>
      </p:sp>
      <p:sp>
        <p:nvSpPr>
          <p:cNvPr id="5" name="Footer Placeholder 4">
            <a:extLst>
              <a:ext uri="{FF2B5EF4-FFF2-40B4-BE49-F238E27FC236}">
                <a16:creationId xmlns:a16="http://schemas.microsoft.com/office/drawing/2014/main" id="{10CAD402-6D72-7DAC-31E8-9CF45291AC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B413E4-B844-0D59-3AEE-C49416CCF03B}"/>
              </a:ext>
            </a:extLst>
          </p:cNvPr>
          <p:cNvSpPr>
            <a:spLocks noGrp="1"/>
          </p:cNvSpPr>
          <p:nvPr>
            <p:ph type="sldNum" sz="quarter" idx="12"/>
          </p:nvPr>
        </p:nvSpPr>
        <p:spPr/>
        <p:txBody>
          <a:bodyPr/>
          <a:lstStyle/>
          <a:p>
            <a:fld id="{78ECEC3A-710B-4983-8F0A-8C53340E965D}" type="slidenum">
              <a:rPr lang="en-US" smtClean="0"/>
              <a:t>‹#›</a:t>
            </a:fld>
            <a:endParaRPr lang="en-US"/>
          </a:p>
        </p:txBody>
      </p:sp>
    </p:spTree>
    <p:extLst>
      <p:ext uri="{BB962C8B-B14F-4D97-AF65-F5344CB8AC3E}">
        <p14:creationId xmlns:p14="http://schemas.microsoft.com/office/powerpoint/2010/main" val="18354956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87886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778301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6297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96018CE-2EE5-DACC-763A-37D17E2202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CD464A-60F8-A2CA-50A4-B037623A17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0D55E1-8489-3E28-B6DC-B8628A5496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176C637-DC72-4C94-B752-EFF2D0F13AE2}" type="datetimeFigureOut">
              <a:rPr lang="en-US" smtClean="0"/>
              <a:t>6/19/2026</a:t>
            </a:fld>
            <a:endParaRPr lang="en-US"/>
          </a:p>
        </p:txBody>
      </p:sp>
      <p:sp>
        <p:nvSpPr>
          <p:cNvPr id="5" name="Footer Placeholder 4">
            <a:extLst>
              <a:ext uri="{FF2B5EF4-FFF2-40B4-BE49-F238E27FC236}">
                <a16:creationId xmlns:a16="http://schemas.microsoft.com/office/drawing/2014/main" id="{200FCF33-1CB9-3F7B-86C2-1ABB0D4367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E390690-27B5-E750-CDF3-12D647C183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8ECEC3A-710B-4983-8F0A-8C53340E965D}" type="slidenum">
              <a:rPr lang="en-US" smtClean="0"/>
              <a:t>‹#›</a:t>
            </a:fld>
            <a:endParaRPr lang="en-US"/>
          </a:p>
        </p:txBody>
      </p:sp>
    </p:spTree>
    <p:extLst>
      <p:ext uri="{BB962C8B-B14F-4D97-AF65-F5344CB8AC3E}">
        <p14:creationId xmlns:p14="http://schemas.microsoft.com/office/powerpoint/2010/main" val="22836358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0087167"/>
      </p:ext>
    </p:extLst>
  </p:cSld>
  <p:clrMap bg1="lt1" tx1="dk1" bg2="lt2" tx2="dk2" accent1="accent1" accent2="accent2" accent3="accent3" accent4="accent4" accent5="accent5" accent6="accent6" hlink="hlink" folHlink="folHlink"/>
  <p:sldLayoutIdLst>
    <p:sldLayoutId id="2147483661" r:id="rId1"/>
    <p:sldLayoutId id="2147483662"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microsoft.com/office/2018/10/relationships/comments" Target="../comments/modernComment_123_0.xml"/><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microsoft.com/office/2018/10/relationships/comments" Target="../comments/modernComment_12B_0.xml"/><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chart" Target="../charts/chart2.xml"/></Relationships>
</file>

<file path=ppt/slides/_rels/slide11.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microsoft.com/office/2018/10/relationships/comments" Target="../comments/modernComment_12A_0.xml"/><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microsoft.com/office/2018/10/relationships/comments" Target="../comments/modernComment_138_0.xml"/><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microsoft.com/office/2018/10/relationships/comments" Target="../comments/modernComment_134_0.xml"/><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microsoft.com/office/2018/10/relationships/comments" Target="../comments/modernComment_136_0.xml"/><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chart" Target="../charts/chart6.xml"/><Relationship Id="rId7" Type="http://schemas.openxmlformats.org/officeDocument/2006/relationships/chart" Target="../charts/chart10.xml"/><Relationship Id="rId2" Type="http://schemas.openxmlformats.org/officeDocument/2006/relationships/chart" Target="../charts/chart5.xml"/><Relationship Id="rId1" Type="http://schemas.openxmlformats.org/officeDocument/2006/relationships/slideLayout" Target="../slideLayouts/slideLayout7.xml"/><Relationship Id="rId6" Type="http://schemas.openxmlformats.org/officeDocument/2006/relationships/chart" Target="../charts/chart9.xml"/><Relationship Id="rId5" Type="http://schemas.openxmlformats.org/officeDocument/2006/relationships/chart" Target="../charts/chart8.xml"/><Relationship Id="rId4" Type="http://schemas.openxmlformats.org/officeDocument/2006/relationships/chart" Target="../charts/char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A4C"/>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F36C21"/>
          </a:solidFill>
          <a:ln w="12700">
            <a:solidFill>
              <a:srgbClr val="F36C2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 name="Shape 1"/>
          <p:cNvSpPr/>
          <p:nvPr/>
        </p:nvSpPr>
        <p:spPr>
          <a:xfrm>
            <a:off x="7424928" y="0"/>
            <a:ext cx="4764024" cy="6858000"/>
          </a:xfrm>
          <a:prstGeom prst="rect">
            <a:avLst/>
          </a:prstGeom>
          <a:solidFill>
            <a:srgbClr val="0C203B"/>
          </a:solidFill>
          <a:ln w="12700">
            <a:solidFill>
              <a:srgbClr val="0C203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6" name="Shape 2"/>
          <p:cNvSpPr/>
          <p:nvPr/>
        </p:nvSpPr>
        <p:spPr>
          <a:xfrm>
            <a:off x="591151" y="987552"/>
            <a:ext cx="2011680" cy="0"/>
          </a:xfrm>
          <a:prstGeom prst="line">
            <a:avLst/>
          </a:prstGeom>
          <a:noFill/>
          <a:ln w="15240">
            <a:solidFill>
              <a:srgbClr val="F36C2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7" name="Text 3"/>
          <p:cNvSpPr/>
          <p:nvPr/>
        </p:nvSpPr>
        <p:spPr>
          <a:xfrm>
            <a:off x="594360" y="1713445"/>
            <a:ext cx="6217920" cy="502920"/>
          </a:xfrm>
          <a:prstGeom prst="rect">
            <a:avLst/>
          </a:prstGeom>
          <a:noFill/>
          <a:ln/>
        </p:spPr>
        <p:txBody>
          <a:bodyPr wrap="square" lIns="508" tIns="508" rIns="508" bIns="508" rtlCol="0" anchor="ctr">
            <a:normAutofit fontScale="77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a:ln>
                  <a:noFill/>
                </a:ln>
                <a:solidFill>
                  <a:srgbClr val="FFFFFF"/>
                </a:solidFill>
                <a:effectLst/>
                <a:uLnTx/>
                <a:uFillTx/>
                <a:latin typeface="Segoe UI" pitchFamily="34" charset="0"/>
                <a:ea typeface="Aptos Display" pitchFamily="34" charset="-122"/>
                <a:cs typeface="Aptos Display" pitchFamily="34" charset="-120"/>
              </a:rPr>
              <a:t>Entity Digital Model (EDM) </a:t>
            </a:r>
            <a:r>
              <a:rPr kumimoji="0" lang="en-US" sz="3000" b="1" i="0" u="none" strike="noStrike" kern="1200" cap="none" spc="0" normalizeH="0" baseline="0" noProof="0" dirty="0">
                <a:ln>
                  <a:noFill/>
                </a:ln>
                <a:solidFill>
                  <a:srgbClr val="FFFFFF"/>
                </a:solidFill>
                <a:effectLst/>
                <a:uLnTx/>
                <a:uFillTx/>
                <a:latin typeface="Segoe UI" pitchFamily="34" charset="0"/>
                <a:ea typeface="Aptos Display" pitchFamily="34" charset="-122"/>
                <a:cs typeface="Aptos Display" pitchFamily="34" charset="-120"/>
              </a:rPr>
              <a:t>Vector Intelligence</a:t>
            </a:r>
            <a:endParaRPr kumimoji="0" lang="en-US" sz="3000" b="0" i="0" u="none" strike="noStrike" kern="1200" cap="none" spc="0" normalizeH="0" baseline="0" noProof="0" dirty="0">
              <a:ln>
                <a:noFill/>
              </a:ln>
              <a:solidFill>
                <a:prstClr val="black"/>
              </a:solidFill>
              <a:effectLst/>
              <a:uLnTx/>
              <a:uFillTx/>
              <a:latin typeface="Aptos"/>
              <a:ea typeface="+mn-ea"/>
              <a:cs typeface="+mn-cs"/>
            </a:endParaRPr>
          </a:p>
        </p:txBody>
      </p:sp>
      <p:sp>
        <p:nvSpPr>
          <p:cNvPr id="8" name="Text 4"/>
          <p:cNvSpPr/>
          <p:nvPr/>
        </p:nvSpPr>
        <p:spPr>
          <a:xfrm>
            <a:off x="594360" y="2335237"/>
            <a:ext cx="6309360" cy="411480"/>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D8E8F9"/>
                </a:solidFill>
                <a:effectLst/>
                <a:uLnTx/>
                <a:uFillTx/>
                <a:latin typeface="Segoe UI" pitchFamily="34" charset="0"/>
                <a:ea typeface="Aptos Display" pitchFamily="34" charset="-122"/>
                <a:cs typeface="Aptos Display" pitchFamily="34" charset="-120"/>
              </a:rPr>
              <a:t>for DLA Logistics Decision Advantage</a:t>
            </a:r>
            <a:endParaRPr kumimoji="0" lang="en-US" sz="2100" b="0" i="0" u="none" strike="noStrike" kern="1200" cap="none" spc="0" normalizeH="0" baseline="0" noProof="0" dirty="0">
              <a:ln>
                <a:noFill/>
              </a:ln>
              <a:solidFill>
                <a:prstClr val="black"/>
              </a:solidFill>
              <a:effectLst/>
              <a:uLnTx/>
              <a:uFillTx/>
              <a:latin typeface="Aptos"/>
              <a:ea typeface="+mn-ea"/>
              <a:cs typeface="+mn-cs"/>
            </a:endParaRPr>
          </a:p>
        </p:txBody>
      </p:sp>
      <p:sp>
        <p:nvSpPr>
          <p:cNvPr id="9" name="Text 5"/>
          <p:cNvSpPr/>
          <p:nvPr/>
        </p:nvSpPr>
        <p:spPr>
          <a:xfrm>
            <a:off x="621792" y="2957029"/>
            <a:ext cx="5806440" cy="310896"/>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2F6FA"/>
                </a:solidFill>
                <a:effectLst/>
                <a:uLnTx/>
                <a:uFillTx/>
                <a:latin typeface="Segoe UI" pitchFamily="34" charset="0"/>
                <a:ea typeface="Aptos" pitchFamily="34" charset="-122"/>
                <a:cs typeface="Aptos" pitchFamily="34" charset="-120"/>
              </a:rPr>
              <a:t>Executive briefing  |  Demand forecasting, early warning, and supply-chain risk visibility</a:t>
            </a:r>
            <a:endParaRPr kumimoji="0" lang="en-US" sz="1200" b="0" i="0" u="none" strike="noStrike" kern="1200" cap="none" spc="0" normalizeH="0" baseline="0" noProof="0" dirty="0">
              <a:ln>
                <a:noFill/>
              </a:ln>
              <a:solidFill>
                <a:prstClr val="black"/>
              </a:solidFill>
              <a:effectLst/>
              <a:uLnTx/>
              <a:uFillTx/>
              <a:latin typeface="Aptos"/>
              <a:ea typeface="+mn-ea"/>
              <a:cs typeface="+mn-cs"/>
            </a:endParaRPr>
          </a:p>
        </p:txBody>
      </p:sp>
      <p:sp>
        <p:nvSpPr>
          <p:cNvPr id="10" name="Shape 6"/>
          <p:cNvSpPr/>
          <p:nvPr/>
        </p:nvSpPr>
        <p:spPr>
          <a:xfrm>
            <a:off x="594360" y="4097914"/>
            <a:ext cx="5806440" cy="960120"/>
          </a:xfrm>
          <a:prstGeom prst="roundRect">
            <a:avLst/>
          </a:prstGeom>
          <a:solidFill>
            <a:srgbClr val="183C68">
              <a:alpha val="90000"/>
            </a:srgbClr>
          </a:solidFill>
          <a:ln w="10160">
            <a:solidFill>
              <a:srgbClr val="3C5F8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1" name="Text 7"/>
          <p:cNvSpPr/>
          <p:nvPr/>
        </p:nvSpPr>
        <p:spPr>
          <a:xfrm>
            <a:off x="822960" y="4178545"/>
            <a:ext cx="914400" cy="201168"/>
          </a:xfrm>
          <a:prstGeom prst="rect">
            <a:avLst/>
          </a:prstGeom>
          <a:noFill/>
          <a:ln/>
        </p:spPr>
        <p:txBody>
          <a:bodyPr wrap="square" lIns="508" tIns="508" rIns="508" bIns="508" rtlCol="0" anchor="ctr">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36C21"/>
                </a:solidFill>
                <a:effectLst/>
                <a:uLnTx/>
                <a:uFillTx/>
                <a:latin typeface="Segoe UI" pitchFamily="34" charset="0"/>
                <a:ea typeface="Aptos" pitchFamily="34" charset="-122"/>
                <a:cs typeface="Aptos" pitchFamily="34" charset="-120"/>
              </a:rPr>
              <a:t>Purpose</a:t>
            </a:r>
            <a:endParaRPr kumimoji="0" lang="en-US" sz="1400" b="0" i="0" u="none" strike="noStrike" kern="1200" cap="none" spc="0" normalizeH="0" baseline="0" noProof="0" dirty="0">
              <a:ln>
                <a:noFill/>
              </a:ln>
              <a:solidFill>
                <a:prstClr val="black"/>
              </a:solidFill>
              <a:effectLst/>
              <a:uLnTx/>
              <a:uFillTx/>
              <a:latin typeface="Aptos"/>
              <a:ea typeface="+mn-ea"/>
              <a:cs typeface="+mn-cs"/>
            </a:endParaRPr>
          </a:p>
        </p:txBody>
      </p:sp>
      <p:sp>
        <p:nvSpPr>
          <p:cNvPr id="12" name="Text 8"/>
          <p:cNvSpPr/>
          <p:nvPr/>
        </p:nvSpPr>
        <p:spPr>
          <a:xfrm>
            <a:off x="822959" y="4401408"/>
            <a:ext cx="5415915" cy="553896"/>
          </a:xfrm>
          <a:prstGeom prst="rect">
            <a:avLst/>
          </a:prstGeom>
          <a:noFill/>
          <a:ln/>
        </p:spPr>
        <p:txBody>
          <a:bodyPr wrap="square" lIns="508" tIns="508" rIns="508" bIns="508"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Segoe UI" pitchFamily="34" charset="0"/>
                <a:ea typeface="Aptos" pitchFamily="34" charset="-122"/>
                <a:cs typeface="Aptos" pitchFamily="34" charset="-120"/>
              </a:rPr>
              <a:t>Align on prioritized use cases and a bounded proof-of-concept path to test whether connected logistics entities can improve forecast quality, risk visibility, and operational decision support.</a:t>
            </a:r>
            <a:endParaRPr kumimoji="0" lang="en-US" sz="1200" b="0" i="0" u="none" strike="noStrike" kern="1200" cap="none" spc="0" normalizeH="0" baseline="0" noProof="0" dirty="0">
              <a:ln>
                <a:noFill/>
              </a:ln>
              <a:solidFill>
                <a:prstClr val="black"/>
              </a:solidFill>
              <a:effectLst/>
              <a:uLnTx/>
              <a:uFillTx/>
              <a:latin typeface="Aptos"/>
              <a:ea typeface="+mn-ea"/>
              <a:cs typeface="+mn-cs"/>
            </a:endParaRPr>
          </a:p>
        </p:txBody>
      </p:sp>
      <p:sp>
        <p:nvSpPr>
          <p:cNvPr id="13" name="Text 9"/>
          <p:cNvSpPr/>
          <p:nvPr/>
        </p:nvSpPr>
        <p:spPr>
          <a:xfrm>
            <a:off x="8275320" y="1905281"/>
            <a:ext cx="2834640" cy="658368"/>
          </a:xfrm>
          <a:prstGeom prst="rect">
            <a:avLst/>
          </a:prstGeom>
          <a:solidFill>
            <a:srgbClr val="183C68"/>
          </a:solidFill>
          <a:ln w="10160">
            <a:solidFill>
              <a:srgbClr val="5A7495"/>
            </a:solidFill>
          </a:ln>
        </p:spPr>
        <p:txBody>
          <a:bodyPr wrap="square" lIns="508" tIns="508" rIns="508" bIns="508"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Segoe UI" pitchFamily="34" charset="0"/>
                <a:ea typeface="Aptos Display" pitchFamily="34" charset="-122"/>
                <a:cs typeface="Aptos Display" pitchFamily="34" charset="-120"/>
              </a:rPr>
              <a:t>Connected</a:t>
            </a: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Segoe UI" pitchFamily="34" charset="0"/>
                <a:ea typeface="Aptos Display" pitchFamily="34" charset="-122"/>
                <a:cs typeface="Aptos Display" pitchFamily="34" charset="-120"/>
              </a:rPr>
              <a:t>entities</a:t>
            </a: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p:txBody>
      </p:sp>
      <p:sp>
        <p:nvSpPr>
          <p:cNvPr id="14" name="Text 10"/>
          <p:cNvSpPr/>
          <p:nvPr/>
        </p:nvSpPr>
        <p:spPr>
          <a:xfrm>
            <a:off x="8275320" y="3130577"/>
            <a:ext cx="2834640" cy="658368"/>
          </a:xfrm>
          <a:prstGeom prst="rect">
            <a:avLst/>
          </a:prstGeom>
          <a:solidFill>
            <a:srgbClr val="234B7A"/>
          </a:solidFill>
          <a:ln w="10160">
            <a:solidFill>
              <a:srgbClr val="5A7495"/>
            </a:solidFill>
          </a:ln>
        </p:spPr>
        <p:txBody>
          <a:bodyPr wrap="square" lIns="508" tIns="508" rIns="508" bIns="508"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Segoe UI" pitchFamily="34" charset="0"/>
                <a:ea typeface="Aptos Display" pitchFamily="34" charset="-122"/>
                <a:cs typeface="Aptos Display" pitchFamily="34" charset="-120"/>
              </a:rPr>
              <a:t>Earlier</a:t>
            </a: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Segoe UI" pitchFamily="34" charset="0"/>
                <a:ea typeface="Aptos Display" pitchFamily="34" charset="-122"/>
                <a:cs typeface="Aptos Display" pitchFamily="34" charset="-120"/>
              </a:rPr>
              <a:t>warning</a:t>
            </a: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p:txBody>
      </p:sp>
      <p:sp>
        <p:nvSpPr>
          <p:cNvPr id="15" name="Text 11"/>
          <p:cNvSpPr/>
          <p:nvPr/>
        </p:nvSpPr>
        <p:spPr>
          <a:xfrm>
            <a:off x="8275320" y="4355873"/>
            <a:ext cx="2834640" cy="658368"/>
          </a:xfrm>
          <a:prstGeom prst="rect">
            <a:avLst/>
          </a:prstGeom>
          <a:solidFill>
            <a:srgbClr val="F36C21"/>
          </a:solidFill>
          <a:ln w="10160">
            <a:solidFill>
              <a:srgbClr val="5A7495"/>
            </a:solidFill>
          </a:ln>
        </p:spPr>
        <p:txBody>
          <a:bodyPr wrap="square" lIns="508" tIns="508" rIns="508" bIns="508"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Segoe UI" pitchFamily="34" charset="0"/>
                <a:ea typeface="Aptos Display" pitchFamily="34" charset="-122"/>
                <a:cs typeface="Aptos Display" pitchFamily="34" charset="-120"/>
              </a:rPr>
              <a:t>Better</a:t>
            </a: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Segoe UI" pitchFamily="34" charset="0"/>
                <a:ea typeface="Aptos Display" pitchFamily="34" charset="-122"/>
                <a:cs typeface="Aptos Display" pitchFamily="34" charset="-120"/>
              </a:rPr>
              <a:t>decisions</a:t>
            </a: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p:txBody>
      </p:sp>
      <p:sp>
        <p:nvSpPr>
          <p:cNvPr id="16" name="Text 12"/>
          <p:cNvSpPr/>
          <p:nvPr/>
        </p:nvSpPr>
        <p:spPr>
          <a:xfrm>
            <a:off x="621792" y="6071616"/>
            <a:ext cx="3474720" cy="228600"/>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CCD8E8"/>
                </a:solidFill>
                <a:effectLst/>
                <a:uLnTx/>
                <a:uFillTx/>
                <a:latin typeface="Segoe UI" pitchFamily="34" charset="0"/>
                <a:ea typeface="Aptos" pitchFamily="34" charset="-122"/>
                <a:cs typeface="Aptos" pitchFamily="34" charset="-120"/>
              </a:rPr>
              <a:t>25-minute briefing + executive dialogue</a:t>
            </a:r>
            <a:endParaRPr kumimoji="0" lang="en-US" sz="1200" b="0" i="0" u="none" strike="noStrike" kern="1200" cap="none" spc="0" normalizeH="0" baseline="0" noProof="0" dirty="0">
              <a:ln>
                <a:noFill/>
              </a:ln>
              <a:solidFill>
                <a:prstClr val="black"/>
              </a:solidFill>
              <a:effectLst/>
              <a:uLnTx/>
              <a:uFillTx/>
              <a:latin typeface="Aptos"/>
              <a:ea typeface="+mn-ea"/>
              <a:cs typeface="+mn-cs"/>
            </a:endParaRPr>
          </a:p>
        </p:txBody>
      </p:sp>
      <p:sp>
        <p:nvSpPr>
          <p:cNvPr id="17" name="Text 13"/>
          <p:cNvSpPr/>
          <p:nvPr/>
        </p:nvSpPr>
        <p:spPr>
          <a:xfrm>
            <a:off x="594360" y="6510528"/>
            <a:ext cx="1097280" cy="182880"/>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srgbClr val="B8C7D9"/>
                </a:solidFill>
                <a:effectLst/>
                <a:uLnTx/>
                <a:uFillTx/>
                <a:latin typeface="Segoe UI" pitchFamily="34" charset="0"/>
                <a:ea typeface="Aptos" pitchFamily="34" charset="-122"/>
                <a:cs typeface="Aptos" pitchFamily="34" charset="-120"/>
              </a:rPr>
              <a:t>CONFIDENTIAL</a:t>
            </a:r>
            <a:endParaRPr kumimoji="0" lang="en-US" sz="650" b="0" i="0" u="none" strike="noStrike" kern="1200" cap="none" spc="0" normalizeH="0" baseline="0" noProof="0" dirty="0">
              <a:ln>
                <a:noFill/>
              </a:ln>
              <a:solidFill>
                <a:prstClr val="black"/>
              </a:solidFill>
              <a:effectLst/>
              <a:uLnTx/>
              <a:uFillTx/>
              <a:latin typeface="Aptos"/>
              <a:ea typeface="+mn-ea"/>
              <a:cs typeface="+mn-cs"/>
            </a:endParaRPr>
          </a:p>
        </p:txBody>
      </p:sp>
      <p:sp>
        <p:nvSpPr>
          <p:cNvPr id="20" name="Text 12">
            <a:extLst>
              <a:ext uri="{FF2B5EF4-FFF2-40B4-BE49-F238E27FC236}">
                <a16:creationId xmlns:a16="http://schemas.microsoft.com/office/drawing/2014/main" id="{A4F8048B-3C4D-E7D6-678D-077364CED76E}"/>
              </a:ext>
            </a:extLst>
          </p:cNvPr>
          <p:cNvSpPr/>
          <p:nvPr/>
        </p:nvSpPr>
        <p:spPr>
          <a:xfrm>
            <a:off x="4593497" y="6062472"/>
            <a:ext cx="1807303" cy="228600"/>
          </a:xfrm>
          <a:prstGeom prst="rect">
            <a:avLst/>
          </a:prstGeom>
          <a:noFill/>
          <a:ln/>
        </p:spPr>
        <p:txBody>
          <a:bodyPr wrap="square" lIns="508" tIns="508" rIns="508" bIns="508" rtlCol="0" anchor="ctr">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CCD8E8"/>
                </a:solidFill>
                <a:effectLst/>
                <a:uLnTx/>
                <a:uFillTx/>
                <a:latin typeface="Segoe UI" pitchFamily="34" charset="0"/>
                <a:ea typeface="Aptos" pitchFamily="34" charset="-122"/>
                <a:cs typeface="Aptos" pitchFamily="34" charset="-120"/>
              </a:rPr>
              <a:t>Date:</a:t>
            </a:r>
            <a:r>
              <a:rPr kumimoji="0" lang="en-US" sz="1200" b="0" i="0" u="none" strike="noStrike" kern="1200" cap="none" spc="0" normalizeH="0" baseline="0" noProof="0" dirty="0">
                <a:ln>
                  <a:noFill/>
                </a:ln>
                <a:solidFill>
                  <a:srgbClr val="CCD8E8"/>
                </a:solidFill>
                <a:effectLst/>
                <a:uLnTx/>
                <a:uFillTx/>
                <a:latin typeface="Segoe UI" pitchFamily="34" charset="0"/>
                <a:ea typeface="Aptos" pitchFamily="34" charset="-122"/>
                <a:cs typeface="Aptos" pitchFamily="34" charset="-120"/>
              </a:rPr>
              <a:t> June 25</a:t>
            </a:r>
            <a:r>
              <a:rPr kumimoji="0" lang="en-US" sz="1200" b="0" i="0" u="none" strike="noStrike" kern="1200" cap="none" spc="0" normalizeH="0" baseline="30000" noProof="0" dirty="0">
                <a:ln>
                  <a:noFill/>
                </a:ln>
                <a:solidFill>
                  <a:srgbClr val="CCD8E8"/>
                </a:solidFill>
                <a:effectLst/>
                <a:uLnTx/>
                <a:uFillTx/>
                <a:latin typeface="Segoe UI" pitchFamily="34" charset="0"/>
                <a:ea typeface="Aptos" pitchFamily="34" charset="-122"/>
                <a:cs typeface="Aptos" pitchFamily="34" charset="-120"/>
              </a:rPr>
              <a:t>th</a:t>
            </a:r>
            <a:r>
              <a:rPr kumimoji="0" lang="en-US" sz="1200" b="0" i="0" u="none" strike="noStrike" kern="1200" cap="none" spc="0" normalizeH="0" baseline="0" noProof="0" dirty="0">
                <a:ln>
                  <a:noFill/>
                </a:ln>
                <a:solidFill>
                  <a:srgbClr val="CCD8E8"/>
                </a:solidFill>
                <a:effectLst/>
                <a:uLnTx/>
                <a:uFillTx/>
                <a:latin typeface="Segoe UI" pitchFamily="34" charset="0"/>
                <a:ea typeface="Aptos" pitchFamily="34" charset="-122"/>
                <a:cs typeface="Aptos" pitchFamily="34" charset="-120"/>
              </a:rPr>
              <a:t>, 2026</a:t>
            </a:r>
            <a:endParaRPr kumimoji="0" lang="en-US" sz="1200" b="0" i="0" u="none" strike="noStrike" kern="1200" cap="none" spc="0" normalizeH="0" baseline="0" noProof="0" dirty="0">
              <a:ln>
                <a:noFill/>
              </a:ln>
              <a:solidFill>
                <a:prstClr val="black"/>
              </a:solidFill>
              <a:effectLst/>
              <a:uLnTx/>
              <a:uFillTx/>
              <a:latin typeface="Aptos"/>
              <a:ea typeface="+mn-ea"/>
              <a:cs typeface="+mn-cs"/>
            </a:endParaRPr>
          </a:p>
        </p:txBody>
      </p:sp>
      <p:pic>
        <p:nvPicPr>
          <p:cNvPr id="4" name="Image 1">
            <a:extLst>
              <a:ext uri="{FF2B5EF4-FFF2-40B4-BE49-F238E27FC236}">
                <a16:creationId xmlns:a16="http://schemas.microsoft.com/office/drawing/2014/main" id="{B1FA1DE0-4155-5D1F-754A-5EE4A1B79617}"/>
              </a:ext>
            </a:extLst>
          </p:cNvPr>
          <p:cNvPicPr>
            <a:picLocks noChangeAspect="1"/>
          </p:cNvPicPr>
          <p:nvPr/>
        </p:nvPicPr>
        <p:blipFill>
          <a:blip r:embed="rId3"/>
          <a:srcRect/>
          <a:stretch/>
        </p:blipFill>
        <p:spPr>
          <a:xfrm>
            <a:off x="8927000" y="458030"/>
            <a:ext cx="1418186" cy="952842"/>
          </a:xfrm>
          <a:prstGeom prst="rect">
            <a:avLst/>
          </a:prstGeom>
        </p:spPr>
      </p:pic>
      <p:pic>
        <p:nvPicPr>
          <p:cNvPr id="5" name="Picture 4">
            <a:extLst>
              <a:ext uri="{FF2B5EF4-FFF2-40B4-BE49-F238E27FC236}">
                <a16:creationId xmlns:a16="http://schemas.microsoft.com/office/drawing/2014/main" id="{D70E3402-CE02-06A8-3C53-CC008E3F435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91150" y="323215"/>
            <a:ext cx="2761649" cy="545465"/>
          </a:xfrm>
          <a:prstGeom prst="rect">
            <a:avLst/>
          </a:prstGeom>
          <a:noFill/>
        </p:spPr>
      </p:pic>
      <p:sp>
        <p:nvSpPr>
          <p:cNvPr id="21" name="TextBox 20"/>
          <p:cNvSpPr txBox="1"/>
          <p:nvPr/>
        </p:nvSpPr>
        <p:spPr>
          <a:xfrm>
            <a:off x="11274552" y="6455664"/>
            <a:ext cx="457200" cy="228600"/>
          </a:xfrm>
          <a:prstGeom prst="rect">
            <a:avLst/>
          </a:prstGeom>
          <a:noFill/>
        </p:spPr>
        <p:txBody>
          <a:bodyPr wrap="none" lIns="27432" tIns="18288" rIns="27432" bIns="18288">
            <a:spAutoFit/>
          </a:bodyPr>
          <a:lstStyle/>
          <a:p>
            <a:pPr algn="r"/>
            <a:r>
              <a:rPr sz="850" b="0" i="0">
                <a:solidFill>
                  <a:srgbClr val="646F7C"/>
                </a:solidFill>
                <a:latin typeface="Segoe UI"/>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10896"/>
            <a:ext cx="9692640" cy="411480"/>
          </a:xfrm>
          <a:prstGeom prst="rect">
            <a:avLst/>
          </a:prstGeom>
          <a:noFill/>
          <a:ln/>
        </p:spPr>
        <p:txBody>
          <a:bodyPr wrap="square" lIns="254" tIns="254" rIns="254" bIns="254"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02A4C"/>
                </a:solidFill>
                <a:effectLst/>
                <a:uLnTx/>
                <a:uFillTx/>
                <a:latin typeface="Segoe UI"/>
                <a:ea typeface="Aptos Display" pitchFamily="34" charset="-122"/>
                <a:cs typeface="Aptos Display" pitchFamily="34" charset="-120"/>
              </a:rPr>
              <a:t>Agenda</a:t>
            </a:r>
            <a:endParaRPr kumimoji="0" lang="en-US" sz="2400" b="0" i="0" u="none" strike="noStrike" kern="1200" cap="none" spc="0" normalizeH="0" baseline="0" noProof="0" dirty="0">
              <a:ln>
                <a:noFill/>
              </a:ln>
              <a:solidFill>
                <a:prstClr val="black"/>
              </a:solidFill>
              <a:effectLst/>
              <a:uLnTx/>
              <a:uFillTx/>
              <a:ea typeface="+mn-ea"/>
              <a:cs typeface="+mn-cs"/>
            </a:endParaRPr>
          </a:p>
        </p:txBody>
      </p:sp>
      <p:sp>
        <p:nvSpPr>
          <p:cNvPr id="3" name="Text 1"/>
          <p:cNvSpPr/>
          <p:nvPr/>
        </p:nvSpPr>
        <p:spPr>
          <a:xfrm>
            <a:off x="521208" y="899922"/>
            <a:ext cx="10652760" cy="228600"/>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5B6470"/>
                </a:solidFill>
                <a:effectLst/>
                <a:uLnTx/>
                <a:uFillTx/>
                <a:latin typeface="Segoe UI"/>
                <a:ea typeface="+mn-ea"/>
                <a:cs typeface="+mn-cs"/>
              </a:rPr>
              <a:t>Designed to complete the structured briefing in 22–25 minutes and preserve 10–15 minutes for senior-leader dialogue.</a:t>
            </a:r>
          </a:p>
        </p:txBody>
      </p:sp>
      <p:sp>
        <p:nvSpPr>
          <p:cNvPr id="4" name="Shape 2"/>
          <p:cNvSpPr/>
          <p:nvPr/>
        </p:nvSpPr>
        <p:spPr>
          <a:xfrm>
            <a:off x="502920" y="1192530"/>
            <a:ext cx="11155680" cy="0"/>
          </a:xfrm>
          <a:prstGeom prst="line">
            <a:avLst/>
          </a:prstGeom>
          <a:noFill/>
          <a:ln w="12700">
            <a:solidFill>
              <a:srgbClr val="F36C2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50" b="0" i="0" u="none" strike="noStrike" kern="1200" cap="none" spc="0" normalizeH="0" baseline="0" noProof="0">
              <a:ln>
                <a:noFill/>
              </a:ln>
              <a:solidFill>
                <a:prstClr val="black"/>
              </a:solidFill>
              <a:effectLst/>
              <a:uLnTx/>
              <a:uFillTx/>
              <a:ea typeface="+mn-ea"/>
              <a:cs typeface="+mn-cs"/>
            </a:endParaRPr>
          </a:p>
        </p:txBody>
      </p:sp>
      <p:sp>
        <p:nvSpPr>
          <p:cNvPr id="5" name="Shape 3"/>
          <p:cNvSpPr/>
          <p:nvPr/>
        </p:nvSpPr>
        <p:spPr>
          <a:xfrm>
            <a:off x="411480" y="6446520"/>
            <a:ext cx="11365992" cy="0"/>
          </a:xfrm>
          <a:prstGeom prst="line">
            <a:avLst/>
          </a:prstGeom>
          <a:noFill/>
          <a:ln w="7620">
            <a:solidFill>
              <a:srgbClr val="C9D3D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ea typeface="+mn-ea"/>
              <a:cs typeface="+mn-cs"/>
            </a:endParaRPr>
          </a:p>
        </p:txBody>
      </p:sp>
      <p:sp>
        <p:nvSpPr>
          <p:cNvPr id="6" name="Text 4"/>
          <p:cNvSpPr/>
          <p:nvPr/>
        </p:nvSpPr>
        <p:spPr>
          <a:xfrm>
            <a:off x="438912" y="6510528"/>
            <a:ext cx="80467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CONFIDENTIAL  |  22</a:t>
            </a:r>
            <a:r>
              <a:rPr kumimoji="0" lang="en-US" sz="800" b="0" i="0" u="none" strike="noStrike" kern="1200" cap="none" spc="0" normalizeH="0" baseline="30000" noProof="0" dirty="0">
                <a:ln>
                  <a:noFill/>
                </a:ln>
                <a:solidFill>
                  <a:srgbClr val="5B6470"/>
                </a:solidFill>
                <a:effectLst/>
                <a:uLnTx/>
                <a:uFillTx/>
                <a:latin typeface="Segoe UI"/>
                <a:ea typeface="Aptos" pitchFamily="34" charset="-122"/>
                <a:cs typeface="Aptos" pitchFamily="34" charset="-120"/>
              </a:rPr>
              <a:t>nd</a:t>
            </a: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 Century Technologies  |  DLA EDM Vector Intelligence</a:t>
            </a:r>
            <a:endParaRPr kumimoji="0" lang="en-US" sz="800" b="0" i="0" u="none" strike="noStrike" kern="1200" cap="none" spc="0" normalizeH="0" baseline="0" noProof="0" dirty="0">
              <a:ln>
                <a:noFill/>
              </a:ln>
              <a:solidFill>
                <a:prstClr val="black"/>
              </a:solidFill>
              <a:effectLst/>
              <a:uLnTx/>
              <a:uFillTx/>
              <a:ea typeface="+mn-ea"/>
              <a:cs typeface="+mn-cs"/>
            </a:endParaRPr>
          </a:p>
        </p:txBody>
      </p:sp>
      <p:sp>
        <p:nvSpPr>
          <p:cNvPr id="7" name="Text 5"/>
          <p:cNvSpPr/>
          <p:nvPr/>
        </p:nvSpPr>
        <p:spPr>
          <a:xfrm>
            <a:off x="11475720" y="6492240"/>
            <a:ext cx="320040" cy="20116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sz="900">
                <a:solidFill>
                  <a:srgbClr val="66707B"/>
                </a:solidFill>
                <a:latin typeface="Segoe UI"/>
              </a:rPr>
              <a:t>2</a:t>
            </a:r>
            <a:endParaRPr kumimoji="0" lang="en-US" sz="800" b="0" i="0" u="none" strike="noStrike" kern="1200" cap="none" spc="0" normalizeH="0" baseline="0" noProof="0" dirty="0">
              <a:ln>
                <a:noFill/>
              </a:ln>
              <a:solidFill>
                <a:prstClr val="black"/>
              </a:solidFill>
              <a:effectLst/>
              <a:uLnTx/>
              <a:uFillTx/>
              <a:ea typeface="+mn-ea"/>
              <a:cs typeface="+mn-cs"/>
            </a:endParaRPr>
          </a:p>
        </p:txBody>
      </p:sp>
      <p:sp>
        <p:nvSpPr>
          <p:cNvPr id="8" name="Text 6"/>
          <p:cNvSpPr/>
          <p:nvPr/>
        </p:nvSpPr>
        <p:spPr>
          <a:xfrm>
            <a:off x="658368" y="1448562"/>
            <a:ext cx="292608" cy="292608"/>
          </a:xfrm>
          <a:prstGeom prst="rect">
            <a:avLst/>
          </a:prstGeom>
          <a:solidFill>
            <a:srgbClr val="F36C21"/>
          </a:solidFill>
          <a:ln>
            <a:solidFill>
              <a:srgbClr val="F36C21"/>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FFFFFF"/>
                </a:solidFill>
                <a:effectLst/>
                <a:uLnTx/>
                <a:uFillTx/>
                <a:latin typeface="Segoe UI"/>
                <a:ea typeface="Aptos" pitchFamily="34" charset="-122"/>
                <a:cs typeface="Aptos" pitchFamily="34" charset="-120"/>
              </a:rPr>
              <a:t>1</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9" name="Text 7"/>
          <p:cNvSpPr/>
          <p:nvPr/>
        </p:nvSpPr>
        <p:spPr>
          <a:xfrm>
            <a:off x="1115568" y="1466850"/>
            <a:ext cx="2743200" cy="210312"/>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02A4C"/>
                </a:solidFill>
                <a:effectLst/>
                <a:uLnTx/>
                <a:uFillTx/>
                <a:latin typeface="Segoe UI"/>
                <a:ea typeface="Aptos" pitchFamily="34" charset="-122"/>
                <a:cs typeface="Aptos" pitchFamily="34" charset="-120"/>
              </a:rPr>
              <a:t>Opening and 22</a:t>
            </a:r>
            <a:r>
              <a:rPr kumimoji="0" lang="en-US" sz="1150" b="1" i="0" u="none" strike="noStrike" kern="1200" cap="none" spc="0" normalizeH="0" baseline="30000" noProof="0" dirty="0">
                <a:ln>
                  <a:noFill/>
                </a:ln>
                <a:solidFill>
                  <a:srgbClr val="102A4C"/>
                </a:solidFill>
                <a:effectLst/>
                <a:uLnTx/>
                <a:uFillTx/>
                <a:latin typeface="Segoe UI"/>
                <a:ea typeface="Aptos" pitchFamily="34" charset="-122"/>
                <a:cs typeface="Aptos" pitchFamily="34" charset="-120"/>
              </a:rPr>
              <a:t>nd</a:t>
            </a:r>
            <a:r>
              <a:rPr kumimoji="0" lang="en-US" sz="1150" b="1" i="0" u="none" strike="noStrike" kern="1200" cap="none" spc="0" normalizeH="0" baseline="0" noProof="0" dirty="0">
                <a:ln>
                  <a:noFill/>
                </a:ln>
                <a:solidFill>
                  <a:srgbClr val="102A4C"/>
                </a:solidFill>
                <a:effectLst/>
                <a:uLnTx/>
                <a:uFillTx/>
                <a:latin typeface="Segoe UI"/>
                <a:ea typeface="Aptos" pitchFamily="34" charset="-122"/>
                <a:cs typeface="Aptos" pitchFamily="34" charset="-120"/>
              </a:rPr>
              <a:t> rationale</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10" name="Text 8"/>
          <p:cNvSpPr/>
          <p:nvPr/>
        </p:nvSpPr>
        <p:spPr>
          <a:xfrm>
            <a:off x="3977640" y="1466850"/>
            <a:ext cx="1965960" cy="210312"/>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F5E9C"/>
                </a:solidFill>
                <a:effectLst/>
                <a:uLnTx/>
                <a:uFillTx/>
                <a:latin typeface="Segoe UI"/>
                <a:ea typeface="Aptos" pitchFamily="34" charset="-122"/>
                <a:cs typeface="Aptos" pitchFamily="34" charset="-120"/>
              </a:rPr>
              <a:t>Anil Sharma</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11" name="Text 9"/>
          <p:cNvSpPr/>
          <p:nvPr/>
        </p:nvSpPr>
        <p:spPr>
          <a:xfrm>
            <a:off x="6053328" y="1466850"/>
            <a:ext cx="822960" cy="210312"/>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F36C21"/>
                </a:solidFill>
                <a:effectLst/>
                <a:uLnTx/>
                <a:uFillTx/>
                <a:latin typeface="Segoe UI"/>
                <a:ea typeface="Aptos" pitchFamily="34" charset="-122"/>
                <a:cs typeface="Aptos" pitchFamily="34" charset="-120"/>
              </a:rPr>
              <a:t>3 min</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12" name="Text 10"/>
          <p:cNvSpPr/>
          <p:nvPr/>
        </p:nvSpPr>
        <p:spPr>
          <a:xfrm>
            <a:off x="6995160" y="1457706"/>
            <a:ext cx="4434840" cy="274320"/>
          </a:xfrm>
          <a:prstGeom prst="rect">
            <a:avLst/>
          </a:prstGeom>
          <a:noFill/>
          <a:ln/>
        </p:spPr>
        <p:txBody>
          <a:bodyPr wrap="square" lIns="508" tIns="508" rIns="508" bIns="508"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1D2430"/>
                </a:solidFill>
                <a:effectLst/>
                <a:uLnTx/>
                <a:uFillTx/>
                <a:latin typeface="Segoe UI"/>
                <a:ea typeface="Aptos" pitchFamily="34" charset="-122"/>
                <a:cs typeface="Aptos" pitchFamily="34" charset="-120"/>
              </a:rPr>
              <a:t>Establish relevance, AI capability posture, and purpose for the discussion.</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13" name="Text 11"/>
          <p:cNvSpPr/>
          <p:nvPr/>
        </p:nvSpPr>
        <p:spPr>
          <a:xfrm>
            <a:off x="658368" y="1942338"/>
            <a:ext cx="292608" cy="292608"/>
          </a:xfrm>
          <a:prstGeom prst="rect">
            <a:avLst/>
          </a:prstGeom>
          <a:solidFill>
            <a:srgbClr val="F36C21"/>
          </a:solidFill>
          <a:ln>
            <a:solidFill>
              <a:srgbClr val="F36C21"/>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FFFFFF"/>
                </a:solidFill>
                <a:effectLst/>
                <a:uLnTx/>
                <a:uFillTx/>
                <a:latin typeface="Segoe UI"/>
                <a:ea typeface="Aptos" pitchFamily="34" charset="-122"/>
                <a:cs typeface="Aptos" pitchFamily="34" charset="-120"/>
              </a:rPr>
              <a:t>2</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14" name="Text 12"/>
          <p:cNvSpPr/>
          <p:nvPr/>
        </p:nvSpPr>
        <p:spPr>
          <a:xfrm>
            <a:off x="1115568" y="1960626"/>
            <a:ext cx="2743200" cy="210312"/>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02A4C"/>
                </a:solidFill>
                <a:effectLst/>
                <a:uLnTx/>
                <a:uFillTx/>
                <a:latin typeface="Segoe UI"/>
                <a:ea typeface="Aptos" pitchFamily="34" charset="-122"/>
                <a:cs typeface="Aptos" pitchFamily="34" charset="-120"/>
              </a:rPr>
              <a:t>DLA Mission Problem</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15" name="Text 13"/>
          <p:cNvSpPr/>
          <p:nvPr/>
        </p:nvSpPr>
        <p:spPr>
          <a:xfrm>
            <a:off x="3977640" y="1960626"/>
            <a:ext cx="1965960" cy="210312"/>
          </a:xfrm>
          <a:prstGeom prst="rect">
            <a:avLst/>
          </a:prstGeom>
          <a:noFill/>
          <a:ln/>
        </p:spPr>
        <p:txBody>
          <a:bodyPr wrap="square" lIns="508" tIns="508" rIns="508" bIns="508"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F5E9C"/>
                </a:solidFill>
                <a:effectLst/>
                <a:uLnTx/>
                <a:uFillTx/>
                <a:latin typeface="Segoe UI"/>
                <a:ea typeface="Aptos" pitchFamily="34" charset="-122"/>
                <a:cs typeface="Aptos" pitchFamily="34" charset="-120"/>
              </a:rPr>
              <a:t>Darnita Trower + Taimur Ahya</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16" name="Text 14"/>
          <p:cNvSpPr/>
          <p:nvPr/>
        </p:nvSpPr>
        <p:spPr>
          <a:xfrm>
            <a:off x="6053328" y="1960626"/>
            <a:ext cx="822960" cy="210312"/>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F36C21"/>
                </a:solidFill>
                <a:effectLst/>
                <a:uLnTx/>
                <a:uFillTx/>
                <a:latin typeface="Segoe UI"/>
                <a:ea typeface="Aptos" pitchFamily="34" charset="-122"/>
                <a:cs typeface="Aptos" pitchFamily="34" charset="-120"/>
              </a:rPr>
              <a:t>5 min</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17" name="Text 15"/>
          <p:cNvSpPr/>
          <p:nvPr/>
        </p:nvSpPr>
        <p:spPr>
          <a:xfrm>
            <a:off x="6995160" y="1951482"/>
            <a:ext cx="4434840" cy="274320"/>
          </a:xfrm>
          <a:prstGeom prst="rect">
            <a:avLst/>
          </a:prstGeom>
          <a:noFill/>
          <a:ln/>
        </p:spPr>
        <p:txBody>
          <a:bodyPr wrap="square" lIns="508" tIns="508" rIns="508" bIns="508"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1D2430"/>
                </a:solidFill>
                <a:effectLst/>
                <a:uLnTx/>
                <a:uFillTx/>
                <a:latin typeface="Segoe UI"/>
                <a:ea typeface="Aptos" pitchFamily="34" charset="-122"/>
                <a:cs typeface="Aptos" pitchFamily="34" charset="-120"/>
              </a:rPr>
              <a:t>Frame fragmented logistics data as a decision-advantage and readiness-support challenge.</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18" name="Text 16"/>
          <p:cNvSpPr/>
          <p:nvPr/>
        </p:nvSpPr>
        <p:spPr>
          <a:xfrm>
            <a:off x="658368" y="2436114"/>
            <a:ext cx="292608" cy="292608"/>
          </a:xfrm>
          <a:prstGeom prst="rect">
            <a:avLst/>
          </a:prstGeom>
          <a:solidFill>
            <a:srgbClr val="F36C21"/>
          </a:solidFill>
          <a:ln>
            <a:solidFill>
              <a:srgbClr val="F36C21"/>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FFFFFF"/>
                </a:solidFill>
                <a:effectLst/>
                <a:uLnTx/>
                <a:uFillTx/>
                <a:latin typeface="Segoe UI"/>
                <a:ea typeface="Aptos" pitchFamily="34" charset="-122"/>
                <a:cs typeface="Aptos" pitchFamily="34" charset="-120"/>
              </a:rPr>
              <a:t>3</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19" name="Text 17"/>
          <p:cNvSpPr/>
          <p:nvPr/>
        </p:nvSpPr>
        <p:spPr>
          <a:xfrm>
            <a:off x="1115568" y="2454402"/>
            <a:ext cx="2743200" cy="210312"/>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02A4C"/>
                </a:solidFill>
                <a:effectLst/>
                <a:uLnTx/>
                <a:uFillTx/>
                <a:latin typeface="Segoe UI"/>
                <a:ea typeface="Aptos" pitchFamily="34" charset="-122"/>
                <a:cs typeface="Aptos" pitchFamily="34" charset="-120"/>
              </a:rPr>
              <a:t>Why Legacy Analytics Falls Short</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20" name="Text 18"/>
          <p:cNvSpPr/>
          <p:nvPr/>
        </p:nvSpPr>
        <p:spPr>
          <a:xfrm>
            <a:off x="3977640" y="2454402"/>
            <a:ext cx="1965960" cy="210312"/>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F5E9C"/>
                </a:solidFill>
                <a:effectLst/>
                <a:uLnTx/>
                <a:uFillTx/>
                <a:latin typeface="Segoe UI"/>
                <a:ea typeface="Aptos" pitchFamily="34" charset="-122"/>
                <a:cs typeface="Aptos" pitchFamily="34" charset="-120"/>
              </a:rPr>
              <a:t>Ravindra Shukla</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21" name="Text 19"/>
          <p:cNvSpPr/>
          <p:nvPr/>
        </p:nvSpPr>
        <p:spPr>
          <a:xfrm>
            <a:off x="6053328" y="2454402"/>
            <a:ext cx="822960" cy="210312"/>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F36C21"/>
                </a:solidFill>
                <a:effectLst/>
                <a:uLnTx/>
                <a:uFillTx/>
                <a:latin typeface="Segoe UI"/>
                <a:ea typeface="Aptos" pitchFamily="34" charset="-122"/>
                <a:cs typeface="Aptos" pitchFamily="34" charset="-120"/>
              </a:rPr>
              <a:t>3 min</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22" name="Text 20"/>
          <p:cNvSpPr/>
          <p:nvPr/>
        </p:nvSpPr>
        <p:spPr>
          <a:xfrm>
            <a:off x="6995160" y="2445258"/>
            <a:ext cx="4434840" cy="274320"/>
          </a:xfrm>
          <a:prstGeom prst="rect">
            <a:avLst/>
          </a:prstGeom>
          <a:noFill/>
          <a:ln/>
        </p:spPr>
        <p:txBody>
          <a:bodyPr wrap="square" lIns="508" tIns="508" rIns="508" bIns="508"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1D2430"/>
                </a:solidFill>
                <a:effectLst/>
                <a:uLnTx/>
                <a:uFillTx/>
                <a:latin typeface="Segoe UI"/>
                <a:ea typeface="Aptos" pitchFamily="34" charset="-122"/>
                <a:cs typeface="Aptos" pitchFamily="34" charset="-120"/>
              </a:rPr>
              <a:t>Explain why flat records and isolated models miss cross-entity behavior.</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23" name="Text 21"/>
          <p:cNvSpPr/>
          <p:nvPr/>
        </p:nvSpPr>
        <p:spPr>
          <a:xfrm>
            <a:off x="658368" y="2929890"/>
            <a:ext cx="292608" cy="292608"/>
          </a:xfrm>
          <a:prstGeom prst="rect">
            <a:avLst/>
          </a:prstGeom>
          <a:solidFill>
            <a:srgbClr val="F36C21"/>
          </a:solidFill>
          <a:ln>
            <a:solidFill>
              <a:srgbClr val="F36C21"/>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FFFFFF"/>
                </a:solidFill>
                <a:effectLst/>
                <a:uLnTx/>
                <a:uFillTx/>
                <a:latin typeface="Segoe UI"/>
                <a:ea typeface="Aptos" pitchFamily="34" charset="-122"/>
                <a:cs typeface="Aptos" pitchFamily="34" charset="-120"/>
              </a:rPr>
              <a:t>4</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24" name="Text 22"/>
          <p:cNvSpPr/>
          <p:nvPr/>
        </p:nvSpPr>
        <p:spPr>
          <a:xfrm>
            <a:off x="1115568" y="2948178"/>
            <a:ext cx="2743200" cy="210312"/>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02A4C"/>
                </a:solidFill>
                <a:effectLst/>
                <a:uLnTx/>
                <a:uFillTx/>
                <a:latin typeface="Segoe UI"/>
                <a:ea typeface="Aptos" pitchFamily="34" charset="-122"/>
                <a:cs typeface="Aptos" pitchFamily="34" charset="-120"/>
              </a:rPr>
              <a:t>Our Approach</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25" name="Text 23"/>
          <p:cNvSpPr/>
          <p:nvPr/>
        </p:nvSpPr>
        <p:spPr>
          <a:xfrm>
            <a:off x="3977640" y="2948178"/>
            <a:ext cx="1965960" cy="210312"/>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F5E9C"/>
                </a:solidFill>
                <a:effectLst/>
                <a:uLnTx/>
                <a:uFillTx/>
                <a:latin typeface="Segoe UI"/>
                <a:ea typeface="Aptos" pitchFamily="34" charset="-122"/>
                <a:cs typeface="Aptos" pitchFamily="34" charset="-120"/>
              </a:rPr>
              <a:t>Ravindra Shukla</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26" name="Text 24"/>
          <p:cNvSpPr/>
          <p:nvPr/>
        </p:nvSpPr>
        <p:spPr>
          <a:xfrm>
            <a:off x="6053328" y="2948178"/>
            <a:ext cx="822960" cy="210312"/>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F36C21"/>
                </a:solidFill>
                <a:effectLst/>
                <a:uLnTx/>
                <a:uFillTx/>
                <a:latin typeface="Segoe UI"/>
                <a:ea typeface="Aptos" pitchFamily="34" charset="-122"/>
                <a:cs typeface="Aptos" pitchFamily="34" charset="-120"/>
              </a:rPr>
              <a:t>4 min</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27" name="Text 25"/>
          <p:cNvSpPr/>
          <p:nvPr/>
        </p:nvSpPr>
        <p:spPr>
          <a:xfrm>
            <a:off x="6995160" y="2939034"/>
            <a:ext cx="4434840" cy="274320"/>
          </a:xfrm>
          <a:prstGeom prst="rect">
            <a:avLst/>
          </a:prstGeom>
          <a:noFill/>
          <a:ln/>
        </p:spPr>
        <p:txBody>
          <a:bodyPr wrap="square" lIns="508" tIns="508" rIns="508" bIns="508"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1D2430"/>
                </a:solidFill>
                <a:effectLst/>
                <a:uLnTx/>
                <a:uFillTx/>
                <a:latin typeface="Segoe UI"/>
                <a:ea typeface="Aptos" pitchFamily="34" charset="-122"/>
                <a:cs typeface="Aptos" pitchFamily="34" charset="-120"/>
              </a:rPr>
              <a:t>Show how logistics records become connected, time-aware digital entities.</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28" name="Text 26"/>
          <p:cNvSpPr/>
          <p:nvPr/>
        </p:nvSpPr>
        <p:spPr>
          <a:xfrm>
            <a:off x="658368" y="3423666"/>
            <a:ext cx="292608" cy="292608"/>
          </a:xfrm>
          <a:prstGeom prst="rect">
            <a:avLst/>
          </a:prstGeom>
          <a:solidFill>
            <a:srgbClr val="F36C21"/>
          </a:solidFill>
          <a:ln>
            <a:solidFill>
              <a:srgbClr val="F36C21"/>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FFFFFF"/>
                </a:solidFill>
                <a:effectLst/>
                <a:uLnTx/>
                <a:uFillTx/>
                <a:latin typeface="Segoe UI"/>
                <a:ea typeface="Aptos" pitchFamily="34" charset="-122"/>
                <a:cs typeface="Aptos" pitchFamily="34" charset="-120"/>
              </a:rPr>
              <a:t>5</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29" name="Text 27"/>
          <p:cNvSpPr/>
          <p:nvPr/>
        </p:nvSpPr>
        <p:spPr>
          <a:xfrm>
            <a:off x="1115568" y="3441954"/>
            <a:ext cx="2743200" cy="210312"/>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02A4C"/>
                </a:solidFill>
                <a:effectLst/>
                <a:uLnTx/>
                <a:uFillTx/>
                <a:latin typeface="Segoe UI"/>
                <a:ea typeface="Aptos" pitchFamily="34" charset="-122"/>
                <a:cs typeface="Aptos" pitchFamily="34" charset="-120"/>
              </a:rPr>
              <a:t>Vector Intelligence Decision Outputs</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30" name="Text 28"/>
          <p:cNvSpPr/>
          <p:nvPr/>
        </p:nvSpPr>
        <p:spPr>
          <a:xfrm>
            <a:off x="3977640" y="3441954"/>
            <a:ext cx="1965960" cy="210312"/>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F5E9C"/>
                </a:solidFill>
                <a:effectLst/>
                <a:uLnTx/>
                <a:uFillTx/>
                <a:latin typeface="Segoe UI"/>
                <a:ea typeface="Aptos" pitchFamily="34" charset="-122"/>
                <a:cs typeface="Aptos" pitchFamily="34" charset="-120"/>
              </a:rPr>
              <a:t>Ravindra Shukla</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31" name="Text 29"/>
          <p:cNvSpPr/>
          <p:nvPr/>
        </p:nvSpPr>
        <p:spPr>
          <a:xfrm>
            <a:off x="6053328" y="3441954"/>
            <a:ext cx="822960" cy="210312"/>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F36C21"/>
                </a:solidFill>
                <a:effectLst/>
                <a:uLnTx/>
                <a:uFillTx/>
                <a:latin typeface="Segoe UI"/>
                <a:ea typeface="Aptos" pitchFamily="34" charset="-122"/>
                <a:cs typeface="Aptos" pitchFamily="34" charset="-120"/>
              </a:rPr>
              <a:t>8 min</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32" name="Text 30"/>
          <p:cNvSpPr/>
          <p:nvPr/>
        </p:nvSpPr>
        <p:spPr>
          <a:xfrm>
            <a:off x="6995160" y="3432810"/>
            <a:ext cx="4434840" cy="274320"/>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1D2430"/>
                </a:solidFill>
                <a:effectLst/>
                <a:uLnTx/>
                <a:uFillTx/>
                <a:latin typeface="Segoe UI"/>
                <a:ea typeface="Aptos" pitchFamily="34" charset="-122"/>
                <a:cs typeface="Aptos" pitchFamily="34" charset="-120"/>
              </a:rPr>
              <a:t>Translate EDM into forecast, risk, substitute, and scenario outputs.</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33" name="Text 31"/>
          <p:cNvSpPr/>
          <p:nvPr/>
        </p:nvSpPr>
        <p:spPr>
          <a:xfrm>
            <a:off x="658368" y="3917442"/>
            <a:ext cx="292608" cy="292608"/>
          </a:xfrm>
          <a:prstGeom prst="rect">
            <a:avLst/>
          </a:prstGeom>
          <a:solidFill>
            <a:srgbClr val="F36C21"/>
          </a:solidFill>
          <a:ln>
            <a:solidFill>
              <a:srgbClr val="F36C21"/>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FFFFFF"/>
                </a:solidFill>
                <a:effectLst/>
                <a:uLnTx/>
                <a:uFillTx/>
                <a:latin typeface="Segoe UI"/>
                <a:ea typeface="Aptos" pitchFamily="34" charset="-122"/>
                <a:cs typeface="Aptos" pitchFamily="34" charset="-120"/>
              </a:rPr>
              <a:t>6</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34" name="Text 32"/>
          <p:cNvSpPr/>
          <p:nvPr/>
        </p:nvSpPr>
        <p:spPr>
          <a:xfrm>
            <a:off x="1115568" y="3935730"/>
            <a:ext cx="2743200" cy="210312"/>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02A4C"/>
                </a:solidFill>
                <a:effectLst/>
                <a:uLnTx/>
                <a:uFillTx/>
                <a:latin typeface="Segoe UI"/>
                <a:ea typeface="Aptos" pitchFamily="34" charset="-122"/>
                <a:cs typeface="Aptos" pitchFamily="34" charset="-120"/>
              </a:rPr>
              <a:t>MVP Outcomes</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35" name="Text 33"/>
          <p:cNvSpPr/>
          <p:nvPr/>
        </p:nvSpPr>
        <p:spPr>
          <a:xfrm>
            <a:off x="3977640" y="3935730"/>
            <a:ext cx="1965960" cy="210312"/>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F5E9C"/>
                </a:solidFill>
                <a:effectLst/>
                <a:uLnTx/>
                <a:uFillTx/>
                <a:latin typeface="Segoe UI"/>
                <a:ea typeface="Aptos" pitchFamily="34" charset="-122"/>
                <a:cs typeface="Aptos" pitchFamily="34" charset="-120"/>
              </a:rPr>
              <a:t>Darnita Trower</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36" name="Text 34"/>
          <p:cNvSpPr/>
          <p:nvPr/>
        </p:nvSpPr>
        <p:spPr>
          <a:xfrm>
            <a:off x="6053328" y="3935730"/>
            <a:ext cx="822960" cy="210312"/>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50" b="1" dirty="0">
                <a:solidFill>
                  <a:srgbClr val="F36C21"/>
                </a:solidFill>
                <a:latin typeface="Segoe UI"/>
                <a:ea typeface="Aptos" pitchFamily="34" charset="-122"/>
                <a:cs typeface="Aptos" pitchFamily="34" charset="-120"/>
              </a:rPr>
              <a:t>3</a:t>
            </a:r>
            <a:r>
              <a:rPr kumimoji="0" lang="en-US" sz="1150" b="1" i="0" u="none" strike="noStrike" kern="1200" cap="none" spc="0" normalizeH="0" baseline="0" noProof="0" dirty="0">
                <a:ln>
                  <a:noFill/>
                </a:ln>
                <a:solidFill>
                  <a:srgbClr val="F36C21"/>
                </a:solidFill>
                <a:effectLst/>
                <a:uLnTx/>
                <a:uFillTx/>
                <a:latin typeface="Segoe UI"/>
                <a:ea typeface="Aptos" pitchFamily="34" charset="-122"/>
                <a:cs typeface="Aptos" pitchFamily="34" charset="-120"/>
              </a:rPr>
              <a:t> min</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37" name="Text 35"/>
          <p:cNvSpPr/>
          <p:nvPr/>
        </p:nvSpPr>
        <p:spPr>
          <a:xfrm>
            <a:off x="6995160" y="3926586"/>
            <a:ext cx="4434840" cy="274320"/>
          </a:xfrm>
          <a:prstGeom prst="rect">
            <a:avLst/>
          </a:prstGeom>
          <a:noFill/>
          <a:ln/>
        </p:spPr>
        <p:txBody>
          <a:bodyPr wrap="square" lIns="508" tIns="508" rIns="508" bIns="508"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1D2430"/>
                </a:solidFill>
                <a:effectLst/>
                <a:uLnTx/>
                <a:uFillTx/>
                <a:latin typeface="Segoe UI"/>
                <a:ea typeface="Aptos" pitchFamily="34" charset="-122"/>
                <a:cs typeface="Aptos" pitchFamily="34" charset="-120"/>
              </a:rPr>
              <a:t>Show earlier warning through supplier risk, stockout exposure, and supporting demand signals, using synthetic data.</a:t>
            </a:r>
          </a:p>
        </p:txBody>
      </p:sp>
      <p:sp>
        <p:nvSpPr>
          <p:cNvPr id="38" name="Text 36"/>
          <p:cNvSpPr/>
          <p:nvPr/>
        </p:nvSpPr>
        <p:spPr>
          <a:xfrm>
            <a:off x="658368" y="4411218"/>
            <a:ext cx="292608" cy="292608"/>
          </a:xfrm>
          <a:prstGeom prst="rect">
            <a:avLst/>
          </a:prstGeom>
          <a:solidFill>
            <a:srgbClr val="F36C21"/>
          </a:solidFill>
          <a:ln>
            <a:solidFill>
              <a:srgbClr val="F36C21"/>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FFFFFF"/>
                </a:solidFill>
                <a:effectLst/>
                <a:uLnTx/>
                <a:uFillTx/>
                <a:latin typeface="Segoe UI"/>
                <a:ea typeface="Aptos" pitchFamily="34" charset="-122"/>
                <a:cs typeface="Aptos" pitchFamily="34" charset="-120"/>
              </a:rPr>
              <a:t>7</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39" name="Text 37"/>
          <p:cNvSpPr/>
          <p:nvPr/>
        </p:nvSpPr>
        <p:spPr>
          <a:xfrm>
            <a:off x="1115568" y="4429506"/>
            <a:ext cx="2743200" cy="210312"/>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02A4C"/>
                </a:solidFill>
                <a:effectLst/>
                <a:uLnTx/>
                <a:uFillTx/>
                <a:latin typeface="Segoe UI"/>
                <a:ea typeface="Aptos" pitchFamily="34" charset="-122"/>
                <a:cs typeface="Aptos" pitchFamily="34" charset="-120"/>
              </a:rPr>
              <a:t>Use Case(s) Prioritization</a:t>
            </a:r>
          </a:p>
        </p:txBody>
      </p:sp>
      <p:sp>
        <p:nvSpPr>
          <p:cNvPr id="40" name="Text 38"/>
          <p:cNvSpPr/>
          <p:nvPr/>
        </p:nvSpPr>
        <p:spPr>
          <a:xfrm>
            <a:off x="3977640" y="4429506"/>
            <a:ext cx="1965960" cy="210312"/>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F5E9C"/>
                </a:solidFill>
                <a:effectLst/>
                <a:uLnTx/>
                <a:uFillTx/>
                <a:latin typeface="Segoe UI"/>
                <a:ea typeface="Aptos" pitchFamily="34" charset="-122"/>
                <a:cs typeface="Aptos" pitchFamily="34" charset="-120"/>
              </a:rPr>
              <a:t>Ravindra Shukla + All</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41" name="Text 39"/>
          <p:cNvSpPr/>
          <p:nvPr/>
        </p:nvSpPr>
        <p:spPr>
          <a:xfrm>
            <a:off x="6053328" y="4429506"/>
            <a:ext cx="822960" cy="210312"/>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F36C21"/>
                </a:solidFill>
                <a:effectLst/>
                <a:uLnTx/>
                <a:uFillTx/>
                <a:latin typeface="Segoe UI"/>
                <a:ea typeface="Aptos" pitchFamily="34" charset="-122"/>
                <a:cs typeface="Aptos" pitchFamily="34" charset="-120"/>
              </a:rPr>
              <a:t>4 min</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42" name="Text 40"/>
          <p:cNvSpPr/>
          <p:nvPr/>
        </p:nvSpPr>
        <p:spPr>
          <a:xfrm>
            <a:off x="6995160" y="4420362"/>
            <a:ext cx="4434840" cy="274320"/>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1D2430"/>
                </a:solidFill>
                <a:effectLst/>
                <a:uLnTx/>
                <a:uFillTx/>
                <a:latin typeface="Segoe UI"/>
                <a:ea typeface="Aptos" pitchFamily="34" charset="-122"/>
                <a:cs typeface="Aptos" pitchFamily="34" charset="-120"/>
              </a:rPr>
              <a:t>Define the practical path to validate value on DLA data.</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43" name="Text 41"/>
          <p:cNvSpPr/>
          <p:nvPr/>
        </p:nvSpPr>
        <p:spPr>
          <a:xfrm>
            <a:off x="658368" y="4904994"/>
            <a:ext cx="292608" cy="292608"/>
          </a:xfrm>
          <a:prstGeom prst="rect">
            <a:avLst/>
          </a:prstGeom>
          <a:solidFill>
            <a:srgbClr val="F36C21"/>
          </a:solidFill>
          <a:ln>
            <a:solidFill>
              <a:srgbClr val="F36C21"/>
            </a:solidFill>
          </a:ln>
        </p:spPr>
        <p:txBody>
          <a:bodyPr wrap="square" lIns="254" tIns="254" rIns="254" bIns="254"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FFFFFF"/>
                </a:solidFill>
                <a:effectLst/>
                <a:uLnTx/>
                <a:uFillTx/>
                <a:latin typeface="Segoe UI"/>
                <a:ea typeface="Aptos" pitchFamily="34" charset="-122"/>
                <a:cs typeface="Aptos" pitchFamily="34" charset="-120"/>
              </a:rPr>
              <a:t>8</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44" name="Text 42"/>
          <p:cNvSpPr/>
          <p:nvPr/>
        </p:nvSpPr>
        <p:spPr>
          <a:xfrm>
            <a:off x="1115568" y="4923282"/>
            <a:ext cx="2743200" cy="210312"/>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02A4C"/>
                </a:solidFill>
                <a:effectLst/>
                <a:uLnTx/>
                <a:uFillTx/>
                <a:latin typeface="Segoe UI"/>
                <a:ea typeface="Aptos" pitchFamily="34" charset="-122"/>
                <a:cs typeface="Aptos" pitchFamily="34" charset="-120"/>
              </a:rPr>
              <a:t>Q&amp;A / Executive Dialogue / Next Steps</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45" name="Text 43"/>
          <p:cNvSpPr/>
          <p:nvPr/>
        </p:nvSpPr>
        <p:spPr>
          <a:xfrm>
            <a:off x="3977640" y="4923282"/>
            <a:ext cx="1965960" cy="210312"/>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F5E9C"/>
                </a:solidFill>
                <a:effectLst/>
                <a:uLnTx/>
                <a:uFillTx/>
                <a:latin typeface="Segoe UI"/>
                <a:ea typeface="Aptos" pitchFamily="34" charset="-122"/>
                <a:cs typeface="Aptos" pitchFamily="34" charset="-120"/>
              </a:rPr>
              <a:t>All</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46" name="Text 44"/>
          <p:cNvSpPr/>
          <p:nvPr/>
        </p:nvSpPr>
        <p:spPr>
          <a:xfrm>
            <a:off x="6053328" y="4923282"/>
            <a:ext cx="822960" cy="210312"/>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F36C21"/>
                </a:solidFill>
                <a:effectLst/>
                <a:uLnTx/>
                <a:uFillTx/>
                <a:latin typeface="Segoe UI"/>
                <a:ea typeface="Aptos" pitchFamily="34" charset="-122"/>
                <a:cs typeface="Aptos" pitchFamily="34" charset="-120"/>
              </a:rPr>
              <a:t>10–15 min</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47" name="Text 45"/>
          <p:cNvSpPr/>
          <p:nvPr/>
        </p:nvSpPr>
        <p:spPr>
          <a:xfrm>
            <a:off x="6995160" y="4818543"/>
            <a:ext cx="4434840" cy="411480"/>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1D2430"/>
                </a:solidFill>
                <a:effectLst/>
                <a:uLnTx/>
                <a:uFillTx/>
                <a:latin typeface="Segoe UI"/>
                <a:ea typeface="Aptos" pitchFamily="34" charset="-122"/>
                <a:cs typeface="Aptos" pitchFamily="34" charset="-120"/>
              </a:rPr>
              <a:t>Use remaining time to shape mission fit, data constraints, and MVP sponsorship.</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48" name="Text 46"/>
          <p:cNvSpPr/>
          <p:nvPr/>
        </p:nvSpPr>
        <p:spPr>
          <a:xfrm>
            <a:off x="777240" y="5618225"/>
            <a:ext cx="1645920" cy="333337"/>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002060"/>
                </a:solidFill>
                <a:effectLst/>
                <a:uLnTx/>
                <a:uFillTx/>
                <a:latin typeface="Segoe UI"/>
                <a:ea typeface="Aptos" pitchFamily="34" charset="-122"/>
                <a:cs typeface="Aptos" pitchFamily="34" charset="-120"/>
              </a:rPr>
              <a:t>Operating principle</a:t>
            </a:r>
            <a:endParaRPr kumimoji="0" lang="en-US" sz="1150" b="0" i="0" u="none" strike="noStrike" kern="1200" cap="none" spc="0" normalizeH="0" baseline="0" noProof="0" dirty="0">
              <a:ln>
                <a:noFill/>
              </a:ln>
              <a:solidFill>
                <a:srgbClr val="002060"/>
              </a:solidFill>
              <a:effectLst/>
              <a:uLnTx/>
              <a:uFillTx/>
              <a:ea typeface="+mn-ea"/>
              <a:cs typeface="+mn-cs"/>
            </a:endParaRPr>
          </a:p>
        </p:txBody>
      </p:sp>
      <p:sp>
        <p:nvSpPr>
          <p:cNvPr id="49" name="Text 47"/>
          <p:cNvSpPr/>
          <p:nvPr/>
        </p:nvSpPr>
        <p:spPr>
          <a:xfrm>
            <a:off x="2423160" y="5593287"/>
            <a:ext cx="8869680" cy="411480"/>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prstClr val="black">
                    <a:lumMod val="50000"/>
                    <a:lumOff val="50000"/>
                  </a:prstClr>
                </a:solidFill>
                <a:effectLst/>
                <a:uLnTx/>
                <a:uFillTx/>
                <a:latin typeface="Segoe UI"/>
                <a:ea typeface="Aptos Display" pitchFamily="34" charset="-122"/>
                <a:cs typeface="Aptos Display" pitchFamily="34" charset="-120"/>
              </a:rPr>
              <a:t>Use the deck to earn the conversation. The highest-value outcome is agreement on where DLA would want to test this first.</a:t>
            </a:r>
            <a:endParaRPr kumimoji="0" lang="en-US" sz="1150" b="0" i="0" u="none" strike="noStrike" kern="1200" cap="none" spc="0" normalizeH="0" baseline="0" noProof="0" dirty="0">
              <a:ln>
                <a:noFill/>
              </a:ln>
              <a:solidFill>
                <a:prstClr val="black">
                  <a:lumMod val="50000"/>
                  <a:lumOff val="50000"/>
                </a:prstClr>
              </a:solidFill>
              <a:effectLst/>
              <a:uLnTx/>
              <a:uFillTx/>
              <a:ea typeface="+mn-ea"/>
              <a:cs typeface="+mn-cs"/>
            </a:endParaRPr>
          </a:p>
        </p:txBody>
      </p:sp>
      <p:sp>
        <p:nvSpPr>
          <p:cNvPr id="51" name="Shape 0">
            <a:extLst>
              <a:ext uri="{FF2B5EF4-FFF2-40B4-BE49-F238E27FC236}">
                <a16:creationId xmlns:a16="http://schemas.microsoft.com/office/drawing/2014/main" id="{0EA842E8-7627-63A6-84F3-FA8E1B1289AC}"/>
              </a:ext>
            </a:extLst>
          </p:cNvPr>
          <p:cNvSpPr/>
          <p:nvPr/>
        </p:nvSpPr>
        <p:spPr>
          <a:xfrm>
            <a:off x="0" y="0"/>
            <a:ext cx="12191695" cy="137160"/>
          </a:xfrm>
          <a:prstGeom prst="rect">
            <a:avLst/>
          </a:prstGeom>
          <a:solidFill>
            <a:srgbClr val="06244A"/>
          </a:solidFill>
          <a:ln w="12700">
            <a:solidFill>
              <a:srgbClr val="06244A"/>
            </a:solidFill>
            <a:prstDash val="solid"/>
          </a:ln>
        </p:spPr>
        <p:txBody>
          <a:bodyPr/>
          <a:lstStyle/>
          <a:p>
            <a:endParaRPr lang="en-US"/>
          </a:p>
        </p:txBody>
      </p:sp>
      <p:sp>
        <p:nvSpPr>
          <p:cNvPr id="50" name="TextBox 49">
            <a:extLst>
              <a:ext uri="{FF2B5EF4-FFF2-40B4-BE49-F238E27FC236}">
                <a16:creationId xmlns:a16="http://schemas.microsoft.com/office/drawing/2014/main" id="{1715BF7D-3B6B-2D13-651A-87974023AFC2}"/>
              </a:ext>
            </a:extLst>
          </p:cNvPr>
          <p:cNvSpPr txBox="1"/>
          <p:nvPr/>
        </p:nvSpPr>
        <p:spPr>
          <a:xfrm>
            <a:off x="3281082" y="6044448"/>
            <a:ext cx="4807324" cy="369332"/>
          </a:xfrm>
          <a:prstGeom prst="rect">
            <a:avLst/>
          </a:prstGeom>
          <a:noFill/>
        </p:spPr>
        <p:txBody>
          <a:bodyPr wrap="square" rtlCol="0">
            <a:spAutoFit/>
          </a:bodyPr>
          <a:lstStyle/>
          <a:p>
            <a:pPr algn="ctr"/>
            <a:r>
              <a:rPr lang="en-US" b="1" dirty="0">
                <a:solidFill>
                  <a:srgbClr val="FF0000"/>
                </a:solidFill>
                <a:latin typeface="Segoe UI"/>
              </a:rPr>
              <a:t>Update and finalize after internal kick-off</a:t>
            </a:r>
          </a:p>
        </p:txBody>
      </p:sp>
    </p:spTree>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0058400" cy="457200"/>
          </a:xfrm>
          <a:prstGeom prst="rect">
            <a:avLst/>
          </a:prstGeom>
          <a:noFill/>
        </p:spPr>
        <p:txBody>
          <a:bodyPr wrap="square" lIns="38100" tIns="12700" rIns="38100" bIns="12700">
            <a:spAutoFit/>
          </a:bodyPr>
          <a:lstStyle/>
          <a:p>
            <a:pPr algn="l"/>
            <a:r>
              <a:rPr sz="2400" b="1" i="0">
                <a:solidFill>
                  <a:srgbClr val="102A4C"/>
                </a:solidFill>
                <a:latin typeface="Segoe UI"/>
              </a:rPr>
              <a:t>Why 22nd for this discussion</a:t>
            </a:r>
          </a:p>
        </p:txBody>
      </p:sp>
      <p:sp>
        <p:nvSpPr>
          <p:cNvPr id="3" name="TextBox 2"/>
          <p:cNvSpPr txBox="1"/>
          <p:nvPr/>
        </p:nvSpPr>
        <p:spPr>
          <a:xfrm>
            <a:off x="457200" y="822960"/>
            <a:ext cx="11247120" cy="320040"/>
          </a:xfrm>
          <a:prstGeom prst="rect">
            <a:avLst/>
          </a:prstGeom>
          <a:noFill/>
        </p:spPr>
        <p:txBody>
          <a:bodyPr wrap="square" lIns="38100" tIns="12700" rIns="38100" bIns="12700">
            <a:spAutoFit/>
          </a:bodyPr>
          <a:lstStyle/>
          <a:p>
            <a:pPr algn="l"/>
            <a:r>
              <a:rPr sz="1150" b="0" i="0">
                <a:solidFill>
                  <a:srgbClr val="5E6A75"/>
                </a:solidFill>
                <a:latin typeface="Segoe UI"/>
              </a:rPr>
              <a:t>A federal AI, data, and delivery partner with the scale, security discipline, and innovation depth to prototype, validate, and support adoption.</a:t>
            </a:r>
          </a:p>
        </p:txBody>
      </p:sp>
      <p:sp>
        <p:nvSpPr>
          <p:cNvPr id="4" name="Rounded Rectangle 3"/>
          <p:cNvSpPr/>
          <p:nvPr/>
        </p:nvSpPr>
        <p:spPr>
          <a:xfrm>
            <a:off x="457200" y="1481328"/>
            <a:ext cx="3694176" cy="2240280"/>
          </a:xfrm>
          <a:prstGeom prst="roundRect">
            <a:avLst/>
          </a:prstGeom>
          <a:solidFill>
            <a:srgbClr val="FFFFFF"/>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57200" y="1481328"/>
            <a:ext cx="3694176" cy="566928"/>
          </a:xfrm>
          <a:prstGeom prst="roundRect">
            <a:avLst/>
          </a:prstGeom>
          <a:solidFill>
            <a:srgbClr val="1F5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03504" y="1600200"/>
            <a:ext cx="3419856" cy="384048"/>
          </a:xfrm>
          <a:prstGeom prst="rect">
            <a:avLst/>
          </a:prstGeom>
          <a:noFill/>
        </p:spPr>
        <p:txBody>
          <a:bodyPr wrap="square" lIns="38100" tIns="12700" rIns="38100" bIns="12700">
            <a:spAutoFit/>
          </a:bodyPr>
          <a:lstStyle/>
          <a:p>
            <a:pPr algn="l"/>
            <a:r>
              <a:rPr sz="1300" b="1" i="0">
                <a:solidFill>
                  <a:srgbClr val="FFFFFF"/>
                </a:solidFill>
                <a:latin typeface="Segoe UI"/>
              </a:rPr>
              <a:t>Cross-agency mission reach</a:t>
            </a:r>
          </a:p>
        </p:txBody>
      </p:sp>
      <p:sp>
        <p:nvSpPr>
          <p:cNvPr id="7" name="TextBox 6"/>
          <p:cNvSpPr txBox="1"/>
          <p:nvPr/>
        </p:nvSpPr>
        <p:spPr>
          <a:xfrm>
            <a:off x="640080" y="2194560"/>
            <a:ext cx="3364992" cy="1453896"/>
          </a:xfrm>
          <a:prstGeom prst="rect">
            <a:avLst/>
          </a:prstGeom>
          <a:noFill/>
        </p:spPr>
        <p:txBody>
          <a:bodyPr wrap="square" lIns="25400" rIns="25400">
            <a:spAutoFit/>
          </a:bodyPr>
          <a:lstStyle/>
          <a:p>
            <a:pPr>
              <a:lnSpc>
                <a:spcPct val="100000"/>
              </a:lnSpc>
              <a:spcAft>
                <a:spcPts val="600"/>
              </a:spcAft>
            </a:pPr>
            <a:r>
              <a:rPr sz="1150">
                <a:solidFill>
                  <a:srgbClr val="1D2430"/>
                </a:solidFill>
                <a:latin typeface="Segoe UI"/>
              </a:rPr>
              <a:t>•  29 years serving government</a:t>
            </a:r>
          </a:p>
          <a:p>
            <a:pPr>
              <a:lnSpc>
                <a:spcPct val="100000"/>
              </a:lnSpc>
              <a:spcAft>
                <a:spcPts val="600"/>
              </a:spcAft>
            </a:pPr>
            <a:r>
              <a:rPr sz="1150">
                <a:solidFill>
                  <a:srgbClr val="1D2430"/>
                </a:solidFill>
                <a:latin typeface="Segoe UI"/>
              </a:rPr>
              <a:t>•  14 Cabinet Departments</a:t>
            </a:r>
          </a:p>
          <a:p>
            <a:pPr>
              <a:lnSpc>
                <a:spcPct val="100000"/>
              </a:lnSpc>
              <a:spcAft>
                <a:spcPts val="600"/>
              </a:spcAft>
            </a:pPr>
            <a:r>
              <a:rPr sz="1150">
                <a:solidFill>
                  <a:srgbClr val="1D2430"/>
                </a:solidFill>
                <a:latin typeface="Segoe UI"/>
              </a:rPr>
              <a:t>•  300+ federal contracts</a:t>
            </a:r>
          </a:p>
        </p:txBody>
      </p:sp>
      <p:sp>
        <p:nvSpPr>
          <p:cNvPr id="8" name="Rounded Rectangle 7"/>
          <p:cNvSpPr/>
          <p:nvPr/>
        </p:nvSpPr>
        <p:spPr>
          <a:xfrm>
            <a:off x="4352544" y="1481328"/>
            <a:ext cx="3694176" cy="2240280"/>
          </a:xfrm>
          <a:prstGeom prst="roundRect">
            <a:avLst/>
          </a:prstGeom>
          <a:solidFill>
            <a:srgbClr val="FFFFFF"/>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352544" y="1481328"/>
            <a:ext cx="3694176" cy="566928"/>
          </a:xfrm>
          <a:prstGeom prst="roundRect">
            <a:avLst/>
          </a:prstGeom>
          <a:solidFill>
            <a:srgbClr val="1184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98848" y="1600200"/>
            <a:ext cx="3419856" cy="384048"/>
          </a:xfrm>
          <a:prstGeom prst="rect">
            <a:avLst/>
          </a:prstGeom>
          <a:noFill/>
        </p:spPr>
        <p:txBody>
          <a:bodyPr wrap="square" lIns="38100" tIns="12700" rIns="38100" bIns="12700">
            <a:spAutoFit/>
          </a:bodyPr>
          <a:lstStyle/>
          <a:p>
            <a:pPr algn="l"/>
            <a:r>
              <a:rPr sz="1300" b="1" i="0">
                <a:solidFill>
                  <a:srgbClr val="FFFFFF"/>
                </a:solidFill>
                <a:latin typeface="Segoe UI"/>
              </a:rPr>
              <a:t>AI CoE and data execution</a:t>
            </a:r>
          </a:p>
        </p:txBody>
      </p:sp>
      <p:sp>
        <p:nvSpPr>
          <p:cNvPr id="11" name="TextBox 10"/>
          <p:cNvSpPr txBox="1"/>
          <p:nvPr/>
        </p:nvSpPr>
        <p:spPr>
          <a:xfrm>
            <a:off x="4535424" y="2194560"/>
            <a:ext cx="3364992" cy="1453896"/>
          </a:xfrm>
          <a:prstGeom prst="rect">
            <a:avLst/>
          </a:prstGeom>
          <a:noFill/>
        </p:spPr>
        <p:txBody>
          <a:bodyPr wrap="square" lIns="25400" rIns="25400">
            <a:spAutoFit/>
          </a:bodyPr>
          <a:lstStyle/>
          <a:p>
            <a:pPr>
              <a:lnSpc>
                <a:spcPct val="100000"/>
              </a:lnSpc>
              <a:spcAft>
                <a:spcPts val="600"/>
              </a:spcAft>
            </a:pPr>
            <a:r>
              <a:rPr sz="1150">
                <a:solidFill>
                  <a:srgbClr val="1D2430"/>
                </a:solidFill>
                <a:latin typeface="Segoe UI"/>
              </a:rPr>
              <a:t>•  25+ years data heritage</a:t>
            </a:r>
          </a:p>
          <a:p>
            <a:pPr>
              <a:lnSpc>
                <a:spcPct val="100000"/>
              </a:lnSpc>
              <a:spcAft>
                <a:spcPts val="600"/>
              </a:spcAft>
            </a:pPr>
            <a:r>
              <a:rPr sz="1150">
                <a:solidFill>
                  <a:srgbClr val="1D2430"/>
                </a:solidFill>
                <a:latin typeface="Segoe UI"/>
              </a:rPr>
              <a:t>•  Classical ML to GenAI</a:t>
            </a:r>
          </a:p>
          <a:p>
            <a:pPr>
              <a:lnSpc>
                <a:spcPct val="100000"/>
              </a:lnSpc>
              <a:spcAft>
                <a:spcPts val="600"/>
              </a:spcAft>
            </a:pPr>
            <a:r>
              <a:rPr sz="1150">
                <a:solidFill>
                  <a:srgbClr val="1D2430"/>
                </a:solidFill>
                <a:latin typeface="Segoe UI"/>
              </a:rPr>
              <a:t>•  100B+ records · 500+ data sources</a:t>
            </a:r>
          </a:p>
        </p:txBody>
      </p:sp>
      <p:sp>
        <p:nvSpPr>
          <p:cNvPr id="12" name="Rounded Rectangle 11"/>
          <p:cNvSpPr/>
          <p:nvPr/>
        </p:nvSpPr>
        <p:spPr>
          <a:xfrm>
            <a:off x="8247888" y="1481328"/>
            <a:ext cx="3694176" cy="2240280"/>
          </a:xfrm>
          <a:prstGeom prst="roundRect">
            <a:avLst/>
          </a:prstGeom>
          <a:solidFill>
            <a:srgbClr val="FFFFFF"/>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247888" y="1481328"/>
            <a:ext cx="3694176" cy="566928"/>
          </a:xfrm>
          <a:prstGeom prst="roundRect">
            <a:avLst/>
          </a:prstGeom>
          <a:solidFill>
            <a:srgbClr val="1A72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394192" y="1600200"/>
            <a:ext cx="3419856" cy="384048"/>
          </a:xfrm>
          <a:prstGeom prst="rect">
            <a:avLst/>
          </a:prstGeom>
          <a:noFill/>
        </p:spPr>
        <p:txBody>
          <a:bodyPr wrap="square" lIns="38100" tIns="12700" rIns="38100" bIns="12700">
            <a:spAutoFit/>
          </a:bodyPr>
          <a:lstStyle/>
          <a:p>
            <a:pPr algn="l"/>
            <a:r>
              <a:rPr sz="1300" b="1" i="0">
                <a:solidFill>
                  <a:srgbClr val="FFFFFF"/>
                </a:solidFill>
                <a:latin typeface="Segoe UI"/>
              </a:rPr>
              <a:t>Responsible AI and secure operations</a:t>
            </a:r>
          </a:p>
        </p:txBody>
      </p:sp>
      <p:sp>
        <p:nvSpPr>
          <p:cNvPr id="15" name="TextBox 14"/>
          <p:cNvSpPr txBox="1"/>
          <p:nvPr/>
        </p:nvSpPr>
        <p:spPr>
          <a:xfrm>
            <a:off x="8430767" y="2194560"/>
            <a:ext cx="3364992" cy="1453896"/>
          </a:xfrm>
          <a:prstGeom prst="rect">
            <a:avLst/>
          </a:prstGeom>
          <a:noFill/>
        </p:spPr>
        <p:txBody>
          <a:bodyPr wrap="square" lIns="25400" rIns="25400">
            <a:spAutoFit/>
          </a:bodyPr>
          <a:lstStyle/>
          <a:p>
            <a:pPr>
              <a:lnSpc>
                <a:spcPct val="100000"/>
              </a:lnSpc>
              <a:spcAft>
                <a:spcPts val="600"/>
              </a:spcAft>
            </a:pPr>
            <a:r>
              <a:rPr sz="1150">
                <a:solidFill>
                  <a:srgbClr val="1D2430"/>
                </a:solidFill>
                <a:latin typeface="Segoe UI"/>
              </a:rPr>
              <a:t>•  Guardrails · human-in-the-loop review</a:t>
            </a:r>
          </a:p>
          <a:p>
            <a:pPr>
              <a:lnSpc>
                <a:spcPct val="100000"/>
              </a:lnSpc>
              <a:spcAft>
                <a:spcPts val="600"/>
              </a:spcAft>
            </a:pPr>
            <a:r>
              <a:rPr sz="1150">
                <a:solidFill>
                  <a:srgbClr val="1D2430"/>
                </a:solidFill>
                <a:latin typeface="Segoe UI"/>
              </a:rPr>
              <a:t>•  ATO-focused delivery</a:t>
            </a:r>
          </a:p>
          <a:p>
            <a:pPr>
              <a:lnSpc>
                <a:spcPct val="100000"/>
              </a:lnSpc>
              <a:spcAft>
                <a:spcPts val="600"/>
              </a:spcAft>
            </a:pPr>
            <a:r>
              <a:rPr sz="1150">
                <a:solidFill>
                  <a:srgbClr val="1D2430"/>
                </a:solidFill>
                <a:latin typeface="Segoe UI"/>
              </a:rPr>
              <a:t>•  0 high / critical findings</a:t>
            </a:r>
          </a:p>
        </p:txBody>
      </p:sp>
      <p:sp>
        <p:nvSpPr>
          <p:cNvPr id="16" name="TextBox 15"/>
          <p:cNvSpPr txBox="1"/>
          <p:nvPr/>
        </p:nvSpPr>
        <p:spPr>
          <a:xfrm>
            <a:off x="457200" y="4023360"/>
            <a:ext cx="11247120" cy="274320"/>
          </a:xfrm>
          <a:prstGeom prst="rect">
            <a:avLst/>
          </a:prstGeom>
          <a:noFill/>
        </p:spPr>
        <p:txBody>
          <a:bodyPr wrap="square" lIns="38100" tIns="12700" rIns="38100" bIns="12700">
            <a:spAutoFit/>
          </a:bodyPr>
          <a:lstStyle/>
          <a:p>
            <a:pPr algn="l"/>
            <a:r>
              <a:rPr sz="1350" b="1" i="0">
                <a:solidFill>
                  <a:srgbClr val="102A4C"/>
                </a:solidFill>
                <a:latin typeface="Segoe UI"/>
              </a:rPr>
              <a:t>Integrated innovation and validation capability</a:t>
            </a:r>
          </a:p>
        </p:txBody>
      </p:sp>
      <p:sp>
        <p:nvSpPr>
          <p:cNvPr id="17" name="Rounded Rectangle 16"/>
          <p:cNvSpPr/>
          <p:nvPr/>
        </p:nvSpPr>
        <p:spPr>
          <a:xfrm>
            <a:off x="457200" y="4526280"/>
            <a:ext cx="2103120" cy="1371600"/>
          </a:xfrm>
          <a:prstGeom prst="round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66928" y="4782312"/>
            <a:ext cx="1883663" cy="457200"/>
          </a:xfrm>
          <a:prstGeom prst="rect">
            <a:avLst/>
          </a:prstGeom>
          <a:noFill/>
        </p:spPr>
        <p:txBody>
          <a:bodyPr wrap="square" lIns="38100" tIns="12700" rIns="38100" bIns="12700">
            <a:spAutoFit/>
          </a:bodyPr>
          <a:lstStyle/>
          <a:p>
            <a:pPr algn="ctr"/>
            <a:r>
              <a:rPr sz="1300" b="1" i="0">
                <a:solidFill>
                  <a:srgbClr val="FFFFFF"/>
                </a:solidFill>
                <a:latin typeface="Segoe UI"/>
              </a:rPr>
              <a:t>DATA</a:t>
            </a:r>
          </a:p>
        </p:txBody>
      </p:sp>
      <p:sp>
        <p:nvSpPr>
          <p:cNvPr id="19" name="TextBox 18"/>
          <p:cNvSpPr txBox="1"/>
          <p:nvPr/>
        </p:nvSpPr>
        <p:spPr>
          <a:xfrm>
            <a:off x="566928" y="5239512"/>
            <a:ext cx="1883663" cy="548640"/>
          </a:xfrm>
          <a:prstGeom prst="rect">
            <a:avLst/>
          </a:prstGeom>
          <a:noFill/>
        </p:spPr>
        <p:txBody>
          <a:bodyPr wrap="square" lIns="38100" tIns="12700" rIns="38100" bIns="12700">
            <a:spAutoFit/>
          </a:bodyPr>
          <a:lstStyle/>
          <a:p>
            <a:pPr algn="ctr"/>
            <a:r>
              <a:rPr sz="950" b="0" i="0">
                <a:solidFill>
                  <a:srgbClr val="E6EEF6"/>
                </a:solidFill>
                <a:latin typeface="Segoe UI"/>
              </a:rPr>
              <a:t>Mission-scale foundation</a:t>
            </a:r>
          </a:p>
        </p:txBody>
      </p:sp>
      <p:sp>
        <p:nvSpPr>
          <p:cNvPr id="20" name="Chevron 19"/>
          <p:cNvSpPr/>
          <p:nvPr/>
        </p:nvSpPr>
        <p:spPr>
          <a:xfrm>
            <a:off x="2523744" y="5001768"/>
            <a:ext cx="256032" cy="420624"/>
          </a:xfrm>
          <a:prstGeom prst="chevron">
            <a:avLst/>
          </a:prstGeom>
          <a:solidFill>
            <a:srgbClr val="D8E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2788920" y="4526280"/>
            <a:ext cx="2103120" cy="1371600"/>
          </a:xfrm>
          <a:prstGeom prst="roundRect">
            <a:avLst/>
          </a:prstGeom>
          <a:solidFill>
            <a:srgbClr val="1F5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898648" y="4782312"/>
            <a:ext cx="1883663" cy="457200"/>
          </a:xfrm>
          <a:prstGeom prst="rect">
            <a:avLst/>
          </a:prstGeom>
          <a:noFill/>
        </p:spPr>
        <p:txBody>
          <a:bodyPr wrap="square" lIns="38100" tIns="12700" rIns="38100" bIns="12700">
            <a:spAutoFit/>
          </a:bodyPr>
          <a:lstStyle/>
          <a:p>
            <a:pPr algn="ctr"/>
            <a:r>
              <a:rPr sz="1300" b="1" i="0">
                <a:solidFill>
                  <a:srgbClr val="FFFFFF"/>
                </a:solidFill>
                <a:latin typeface="Segoe UI"/>
              </a:rPr>
              <a:t>AI / ML</a:t>
            </a:r>
          </a:p>
        </p:txBody>
      </p:sp>
      <p:sp>
        <p:nvSpPr>
          <p:cNvPr id="23" name="TextBox 22"/>
          <p:cNvSpPr txBox="1"/>
          <p:nvPr/>
        </p:nvSpPr>
        <p:spPr>
          <a:xfrm>
            <a:off x="2898648" y="5239512"/>
            <a:ext cx="1883663" cy="548640"/>
          </a:xfrm>
          <a:prstGeom prst="rect">
            <a:avLst/>
          </a:prstGeom>
          <a:noFill/>
        </p:spPr>
        <p:txBody>
          <a:bodyPr wrap="square" lIns="38100" tIns="12700" rIns="38100" bIns="12700">
            <a:spAutoFit/>
          </a:bodyPr>
          <a:lstStyle/>
          <a:p>
            <a:pPr algn="ctr"/>
            <a:r>
              <a:rPr sz="950" b="0" i="0">
                <a:solidFill>
                  <a:srgbClr val="E6EEF6"/>
                </a:solidFill>
                <a:latin typeface="Segoe UI"/>
              </a:rPr>
              <a:t>Predictive intelligence</a:t>
            </a:r>
          </a:p>
        </p:txBody>
      </p:sp>
      <p:sp>
        <p:nvSpPr>
          <p:cNvPr id="24" name="Chevron 23"/>
          <p:cNvSpPr/>
          <p:nvPr/>
        </p:nvSpPr>
        <p:spPr>
          <a:xfrm>
            <a:off x="4855464" y="5001768"/>
            <a:ext cx="256032" cy="420624"/>
          </a:xfrm>
          <a:prstGeom prst="chevron">
            <a:avLst/>
          </a:prstGeom>
          <a:solidFill>
            <a:srgbClr val="D8E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5120640" y="4526280"/>
            <a:ext cx="2103120" cy="1371600"/>
          </a:xfrm>
          <a:prstGeom prst="roundRect">
            <a:avLst/>
          </a:prstGeom>
          <a:solidFill>
            <a:srgbClr val="1184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230368" y="4782312"/>
            <a:ext cx="1883663" cy="457200"/>
          </a:xfrm>
          <a:prstGeom prst="rect">
            <a:avLst/>
          </a:prstGeom>
          <a:noFill/>
        </p:spPr>
        <p:txBody>
          <a:bodyPr wrap="square" lIns="38100" tIns="12700" rIns="38100" bIns="12700">
            <a:spAutoFit/>
          </a:bodyPr>
          <a:lstStyle/>
          <a:p>
            <a:pPr algn="ctr"/>
            <a:r>
              <a:rPr sz="1300" b="1" i="0">
                <a:solidFill>
                  <a:srgbClr val="FFFFFF"/>
                </a:solidFill>
                <a:latin typeface="Segoe UI"/>
              </a:rPr>
              <a:t>GENAI</a:t>
            </a:r>
          </a:p>
        </p:txBody>
      </p:sp>
      <p:sp>
        <p:nvSpPr>
          <p:cNvPr id="27" name="TextBox 26"/>
          <p:cNvSpPr txBox="1"/>
          <p:nvPr/>
        </p:nvSpPr>
        <p:spPr>
          <a:xfrm>
            <a:off x="5230368" y="5239512"/>
            <a:ext cx="1883663" cy="548640"/>
          </a:xfrm>
          <a:prstGeom prst="rect">
            <a:avLst/>
          </a:prstGeom>
          <a:noFill/>
        </p:spPr>
        <p:txBody>
          <a:bodyPr wrap="square" lIns="38100" tIns="12700" rIns="38100" bIns="12700">
            <a:spAutoFit/>
          </a:bodyPr>
          <a:lstStyle/>
          <a:p>
            <a:pPr algn="ctr"/>
            <a:r>
              <a:rPr sz="950" b="0" i="0">
                <a:solidFill>
                  <a:srgbClr val="E6EEF6"/>
                </a:solidFill>
                <a:latin typeface="Segoe UI"/>
              </a:rPr>
              <a:t>Explainable workflows</a:t>
            </a:r>
          </a:p>
        </p:txBody>
      </p:sp>
      <p:sp>
        <p:nvSpPr>
          <p:cNvPr id="28" name="Chevron 27"/>
          <p:cNvSpPr/>
          <p:nvPr/>
        </p:nvSpPr>
        <p:spPr>
          <a:xfrm>
            <a:off x="7187183" y="5001768"/>
            <a:ext cx="256032" cy="420624"/>
          </a:xfrm>
          <a:prstGeom prst="chevron">
            <a:avLst/>
          </a:prstGeom>
          <a:solidFill>
            <a:srgbClr val="D8E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7452359" y="4526280"/>
            <a:ext cx="2103120" cy="1371600"/>
          </a:xfrm>
          <a:prstGeom prst="roundRect">
            <a:avLst/>
          </a:prstGeom>
          <a:solidFill>
            <a:srgbClr val="1A72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562087" y="4782312"/>
            <a:ext cx="1883663" cy="457200"/>
          </a:xfrm>
          <a:prstGeom prst="rect">
            <a:avLst/>
          </a:prstGeom>
          <a:noFill/>
        </p:spPr>
        <p:txBody>
          <a:bodyPr wrap="square" lIns="38100" tIns="12700" rIns="38100" bIns="12700">
            <a:spAutoFit/>
          </a:bodyPr>
          <a:lstStyle/>
          <a:p>
            <a:pPr algn="ctr"/>
            <a:r>
              <a:rPr sz="1300" b="1" i="0">
                <a:solidFill>
                  <a:srgbClr val="FFFFFF"/>
                </a:solidFill>
                <a:latin typeface="Segoe UI"/>
              </a:rPr>
              <a:t>CYBER / OPS</a:t>
            </a:r>
          </a:p>
        </p:txBody>
      </p:sp>
      <p:sp>
        <p:nvSpPr>
          <p:cNvPr id="31" name="TextBox 30"/>
          <p:cNvSpPr txBox="1"/>
          <p:nvPr/>
        </p:nvSpPr>
        <p:spPr>
          <a:xfrm>
            <a:off x="7562087" y="5239512"/>
            <a:ext cx="1883663" cy="548640"/>
          </a:xfrm>
          <a:prstGeom prst="rect">
            <a:avLst/>
          </a:prstGeom>
          <a:noFill/>
        </p:spPr>
        <p:txBody>
          <a:bodyPr wrap="square" lIns="38100" tIns="12700" rIns="38100" bIns="12700">
            <a:spAutoFit/>
          </a:bodyPr>
          <a:lstStyle/>
          <a:p>
            <a:pPr algn="ctr"/>
            <a:r>
              <a:rPr sz="950" b="0" i="0">
                <a:solidFill>
                  <a:srgbClr val="E6EEF6"/>
                </a:solidFill>
                <a:latin typeface="Segoe UI"/>
              </a:rPr>
              <a:t>Secure delivery</a:t>
            </a:r>
          </a:p>
        </p:txBody>
      </p:sp>
      <p:sp>
        <p:nvSpPr>
          <p:cNvPr id="32" name="Chevron 31"/>
          <p:cNvSpPr/>
          <p:nvPr/>
        </p:nvSpPr>
        <p:spPr>
          <a:xfrm>
            <a:off x="9518904" y="5001768"/>
            <a:ext cx="256032" cy="420624"/>
          </a:xfrm>
          <a:prstGeom prst="chevron">
            <a:avLst/>
          </a:prstGeom>
          <a:solidFill>
            <a:srgbClr val="D8E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9784080" y="4526280"/>
            <a:ext cx="2606040" cy="1371600"/>
          </a:xfrm>
          <a:prstGeom prst="roundRect">
            <a:avLst/>
          </a:prstGeom>
          <a:solidFill>
            <a:srgbClr val="C96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893807" y="4782312"/>
            <a:ext cx="2386584" cy="457200"/>
          </a:xfrm>
          <a:prstGeom prst="rect">
            <a:avLst/>
          </a:prstGeom>
          <a:noFill/>
        </p:spPr>
        <p:txBody>
          <a:bodyPr wrap="square" lIns="38100" tIns="12700" rIns="38100" bIns="12700">
            <a:spAutoFit/>
          </a:bodyPr>
          <a:lstStyle/>
          <a:p>
            <a:pPr algn="ctr"/>
            <a:r>
              <a:rPr sz="1200" b="1" i="0">
                <a:solidFill>
                  <a:srgbClr val="FFFFFF"/>
                </a:solidFill>
                <a:latin typeface="Segoe UI"/>
              </a:rPr>
              <a:t>DLA DECISION SUPPORT</a:t>
            </a:r>
          </a:p>
        </p:txBody>
      </p:sp>
      <p:sp>
        <p:nvSpPr>
          <p:cNvPr id="35" name="TextBox 34"/>
          <p:cNvSpPr txBox="1"/>
          <p:nvPr/>
        </p:nvSpPr>
        <p:spPr>
          <a:xfrm>
            <a:off x="9893807" y="5239512"/>
            <a:ext cx="2386584" cy="548640"/>
          </a:xfrm>
          <a:prstGeom prst="rect">
            <a:avLst/>
          </a:prstGeom>
          <a:noFill/>
        </p:spPr>
        <p:txBody>
          <a:bodyPr wrap="square" lIns="38100" tIns="12700" rIns="38100" bIns="12700">
            <a:spAutoFit/>
          </a:bodyPr>
          <a:lstStyle/>
          <a:p>
            <a:pPr algn="ctr"/>
            <a:r>
              <a:rPr sz="950" b="0" i="0">
                <a:solidFill>
                  <a:srgbClr val="E6EEF6"/>
                </a:solidFill>
                <a:latin typeface="Segoe UI"/>
              </a:rPr>
              <a:t>Forecast · supplier · parts · readiness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9692640" cy="411480"/>
          </a:xfrm>
          <a:prstGeom prst="rect">
            <a:avLst/>
          </a:prstGeom>
          <a:noFill/>
          <a:ln/>
        </p:spPr>
        <p:txBody>
          <a:bodyPr wrap="square" lIns="254" tIns="254" rIns="254" bIns="254"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02A4C"/>
                </a:solidFill>
                <a:effectLst/>
                <a:uLnTx/>
                <a:uFillTx/>
                <a:latin typeface="Segoe UI" pitchFamily="34" charset="0"/>
                <a:ea typeface="Aptos Display" pitchFamily="34" charset="-122"/>
                <a:cs typeface="Aptos Display" pitchFamily="34" charset="-120"/>
              </a:rPr>
              <a:t>DLA’s operating environment requires faster, more connected decisions</a:t>
            </a:r>
            <a:endParaRPr kumimoji="0" lang="en-US" sz="240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Text 2"/>
          <p:cNvSpPr/>
          <p:nvPr/>
        </p:nvSpPr>
        <p:spPr>
          <a:xfrm>
            <a:off x="521208" y="804672"/>
            <a:ext cx="11155680" cy="228599"/>
          </a:xfrm>
          <a:prstGeom prst="rect">
            <a:avLst/>
          </a:prstGeom>
          <a:noFill/>
          <a:ln/>
        </p:spPr>
        <p:txBody>
          <a:bodyPr wrap="square" lIns="0" tIns="0" rIns="0" bIns="0" rtlCol="0" anchor="ctr">
            <a:normAutofit fontScale="925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sz="1200" dirty="0">
                <a:solidFill>
                  <a:srgbClr val="232A31"/>
                </a:solidFill>
                <a:latin typeface="Segoe UI"/>
              </a:rPr>
              <a:t>Contested logistics increases the cost of delayed warning, fragmented data, and reactive decisions across demand, lead time, supplier risk, stockout exposure, and mission readiness.</a:t>
            </a:r>
          </a:p>
        </p:txBody>
      </p:sp>
      <p:sp>
        <p:nvSpPr>
          <p:cNvPr id="5" name="Shape 3"/>
          <p:cNvSpPr/>
          <p:nvPr/>
        </p:nvSpPr>
        <p:spPr>
          <a:xfrm>
            <a:off x="502920" y="1097280"/>
            <a:ext cx="11155680" cy="0"/>
          </a:xfrm>
          <a:prstGeom prst="line">
            <a:avLst/>
          </a:prstGeom>
          <a:noFill/>
          <a:ln w="12700">
            <a:solidFill>
              <a:srgbClr val="F36C2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50" b="0" i="0" u="none" strike="noStrike" kern="1200" cap="none" spc="0" normalizeH="0" baseline="0" noProof="0">
              <a:ln>
                <a:noFill/>
              </a:ln>
              <a:solidFill>
                <a:prstClr val="black"/>
              </a:solidFill>
              <a:effectLst/>
              <a:uLnTx/>
              <a:uFillTx/>
              <a:ea typeface="+mn-ea"/>
              <a:cs typeface="+mn-cs"/>
            </a:endParaRPr>
          </a:p>
        </p:txBody>
      </p:sp>
      <p:sp>
        <p:nvSpPr>
          <p:cNvPr id="6" name="Shape 4"/>
          <p:cNvSpPr/>
          <p:nvPr/>
        </p:nvSpPr>
        <p:spPr>
          <a:xfrm>
            <a:off x="411480" y="6446520"/>
            <a:ext cx="11365992" cy="0"/>
          </a:xfrm>
          <a:prstGeom prst="line">
            <a:avLst/>
          </a:prstGeom>
          <a:noFill/>
          <a:ln w="7620">
            <a:solidFill>
              <a:srgbClr val="C9D3D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ea typeface="+mn-ea"/>
              <a:cs typeface="+mn-cs"/>
            </a:endParaRPr>
          </a:p>
        </p:txBody>
      </p:sp>
      <p:sp>
        <p:nvSpPr>
          <p:cNvPr id="8" name="Text 6"/>
          <p:cNvSpPr/>
          <p:nvPr/>
        </p:nvSpPr>
        <p:spPr>
          <a:xfrm>
            <a:off x="11475720" y="6492240"/>
            <a:ext cx="320040" cy="20116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sz="850" b="0" i="0">
                <a:solidFill>
                  <a:srgbClr val="646F7C"/>
                </a:solidFill>
                <a:latin typeface="Segoe UI"/>
              </a:rPr>
              <a:t>4</a:t>
            </a:r>
            <a:endParaRPr kumimoji="0" lang="en-US" sz="800" b="0" i="0" u="none" strike="noStrike" kern="1200" cap="none" spc="0" normalizeH="0" baseline="0" noProof="0" dirty="0">
              <a:ln>
                <a:noFill/>
              </a:ln>
              <a:solidFill>
                <a:prstClr val="black"/>
              </a:solidFill>
              <a:effectLst/>
              <a:uLnTx/>
              <a:uFillTx/>
              <a:ea typeface="+mn-ea"/>
              <a:cs typeface="+mn-cs"/>
            </a:endParaRPr>
          </a:p>
        </p:txBody>
      </p:sp>
      <p:sp>
        <p:nvSpPr>
          <p:cNvPr id="19" name="Rounded Rectangle 5">
            <a:extLst>
              <a:ext uri="{FF2B5EF4-FFF2-40B4-BE49-F238E27FC236}">
                <a16:creationId xmlns:a16="http://schemas.microsoft.com/office/drawing/2014/main" id="{1E84A2CC-1A29-52C5-0AC3-D78F88A9E9F4}"/>
              </a:ext>
            </a:extLst>
          </p:cNvPr>
          <p:cNvSpPr/>
          <p:nvPr/>
        </p:nvSpPr>
        <p:spPr>
          <a:xfrm>
            <a:off x="429768" y="1234440"/>
            <a:ext cx="4800600" cy="4526280"/>
          </a:xfrm>
          <a:prstGeom prst="roundRect">
            <a:avLst/>
          </a:prstGeom>
          <a:solidFill>
            <a:srgbClr val="F6F9FC"/>
          </a:solidFill>
          <a:ln w="12700">
            <a:solidFill>
              <a:srgbClr val="C4D2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50"/>
          </a:p>
        </p:txBody>
      </p:sp>
      <p:sp>
        <p:nvSpPr>
          <p:cNvPr id="23" name="TextBox 22">
            <a:extLst>
              <a:ext uri="{FF2B5EF4-FFF2-40B4-BE49-F238E27FC236}">
                <a16:creationId xmlns:a16="http://schemas.microsoft.com/office/drawing/2014/main" id="{F9359FF1-9BB5-EF35-5658-C157E727CF17}"/>
              </a:ext>
            </a:extLst>
          </p:cNvPr>
          <p:cNvSpPr txBox="1"/>
          <p:nvPr/>
        </p:nvSpPr>
        <p:spPr>
          <a:xfrm>
            <a:off x="658368" y="1383208"/>
            <a:ext cx="4114800" cy="338554"/>
          </a:xfrm>
          <a:prstGeom prst="rect">
            <a:avLst/>
          </a:prstGeom>
          <a:noFill/>
        </p:spPr>
        <p:txBody>
          <a:bodyPr wrap="square">
            <a:spAutoFit/>
          </a:bodyPr>
          <a:lstStyle/>
          <a:p>
            <a:pPr algn="l"/>
            <a:r>
              <a:rPr sz="1600" b="1" dirty="0">
                <a:solidFill>
                  <a:srgbClr val="0D2C56"/>
                </a:solidFill>
                <a:latin typeface="Segoe UI"/>
              </a:rPr>
              <a:t>Operating pressure</a:t>
            </a:r>
          </a:p>
        </p:txBody>
      </p:sp>
      <p:sp>
        <p:nvSpPr>
          <p:cNvPr id="25" name="TextBox 24">
            <a:extLst>
              <a:ext uri="{FF2B5EF4-FFF2-40B4-BE49-F238E27FC236}">
                <a16:creationId xmlns:a16="http://schemas.microsoft.com/office/drawing/2014/main" id="{49DBC1CB-E796-EBD2-B0A1-20F480BDDCB9}"/>
              </a:ext>
            </a:extLst>
          </p:cNvPr>
          <p:cNvSpPr txBox="1"/>
          <p:nvPr/>
        </p:nvSpPr>
        <p:spPr>
          <a:xfrm>
            <a:off x="658368" y="1756704"/>
            <a:ext cx="4114800" cy="461665"/>
          </a:xfrm>
          <a:prstGeom prst="rect">
            <a:avLst/>
          </a:prstGeom>
          <a:noFill/>
        </p:spPr>
        <p:txBody>
          <a:bodyPr wrap="square">
            <a:spAutoFit/>
          </a:bodyPr>
          <a:lstStyle/>
          <a:p>
            <a:pPr algn="l"/>
            <a:r>
              <a:rPr sz="1200">
                <a:solidFill>
                  <a:srgbClr val="232A31"/>
                </a:solidFill>
                <a:latin typeface="Segoe UI"/>
              </a:rPr>
              <a:t>DLA needs earlier warning across demand, lead time, supplier, stockout, scenario, and explainability signals.</a:t>
            </a:r>
          </a:p>
        </p:txBody>
      </p:sp>
      <p:sp>
        <p:nvSpPr>
          <p:cNvPr id="27" name="Rounded Rectangle 9">
            <a:extLst>
              <a:ext uri="{FF2B5EF4-FFF2-40B4-BE49-F238E27FC236}">
                <a16:creationId xmlns:a16="http://schemas.microsoft.com/office/drawing/2014/main" id="{DB876BC6-EA33-74E6-A691-5778CC9D9D24}"/>
              </a:ext>
            </a:extLst>
          </p:cNvPr>
          <p:cNvSpPr/>
          <p:nvPr/>
        </p:nvSpPr>
        <p:spPr>
          <a:xfrm>
            <a:off x="713232" y="2395728"/>
            <a:ext cx="4279392" cy="676656"/>
          </a:xfrm>
          <a:prstGeom prst="roundRect">
            <a:avLst/>
          </a:prstGeom>
          <a:solidFill>
            <a:srgbClr val="FFF5EB"/>
          </a:solidFill>
          <a:ln w="10160">
            <a:solidFill>
              <a:srgbClr val="C4D2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50"/>
          </a:p>
        </p:txBody>
      </p:sp>
      <p:sp>
        <p:nvSpPr>
          <p:cNvPr id="29" name="Oval 28">
            <a:extLst>
              <a:ext uri="{FF2B5EF4-FFF2-40B4-BE49-F238E27FC236}">
                <a16:creationId xmlns:a16="http://schemas.microsoft.com/office/drawing/2014/main" id="{05EDBF45-D290-0BB5-09A3-DFA9C4749E2F}"/>
              </a:ext>
            </a:extLst>
          </p:cNvPr>
          <p:cNvSpPr/>
          <p:nvPr/>
        </p:nvSpPr>
        <p:spPr>
          <a:xfrm>
            <a:off x="868680" y="2551176"/>
            <a:ext cx="347472" cy="347472"/>
          </a:xfrm>
          <a:prstGeom prst="ellipse">
            <a:avLst/>
          </a:prstGeom>
          <a:solidFill>
            <a:srgbClr val="EB5E19"/>
          </a:solidFill>
          <a:ln>
            <a:solidFill>
              <a:srgbClr val="EB5E1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50"/>
          </a:p>
        </p:txBody>
      </p:sp>
      <p:sp>
        <p:nvSpPr>
          <p:cNvPr id="31" name="TextBox 30">
            <a:extLst>
              <a:ext uri="{FF2B5EF4-FFF2-40B4-BE49-F238E27FC236}">
                <a16:creationId xmlns:a16="http://schemas.microsoft.com/office/drawing/2014/main" id="{FEDE8DE2-6B8B-D675-D86A-27D0C94115B4}"/>
              </a:ext>
            </a:extLst>
          </p:cNvPr>
          <p:cNvSpPr txBox="1"/>
          <p:nvPr/>
        </p:nvSpPr>
        <p:spPr>
          <a:xfrm>
            <a:off x="690116" y="2605646"/>
            <a:ext cx="742700" cy="269304"/>
          </a:xfrm>
          <a:prstGeom prst="rect">
            <a:avLst/>
          </a:prstGeom>
          <a:noFill/>
        </p:spPr>
        <p:txBody>
          <a:bodyPr wrap="square">
            <a:spAutoFit/>
          </a:bodyPr>
          <a:lstStyle/>
          <a:p>
            <a:pPr algn="ctr"/>
            <a:r>
              <a:rPr sz="1150" b="1" dirty="0">
                <a:solidFill>
                  <a:srgbClr val="FFFFFF"/>
                </a:solidFill>
                <a:latin typeface="Segoe UI"/>
              </a:rPr>
              <a:t>60%</a:t>
            </a:r>
          </a:p>
        </p:txBody>
      </p:sp>
      <p:sp>
        <p:nvSpPr>
          <p:cNvPr id="33" name="TextBox 32">
            <a:extLst>
              <a:ext uri="{FF2B5EF4-FFF2-40B4-BE49-F238E27FC236}">
                <a16:creationId xmlns:a16="http://schemas.microsoft.com/office/drawing/2014/main" id="{7B87B7F6-B554-5312-E6C3-DBA57E73092C}"/>
              </a:ext>
            </a:extLst>
          </p:cNvPr>
          <p:cNvSpPr txBox="1"/>
          <p:nvPr/>
        </p:nvSpPr>
        <p:spPr>
          <a:xfrm>
            <a:off x="1353312" y="2452704"/>
            <a:ext cx="3364992" cy="276999"/>
          </a:xfrm>
          <a:prstGeom prst="rect">
            <a:avLst/>
          </a:prstGeom>
          <a:noFill/>
        </p:spPr>
        <p:txBody>
          <a:bodyPr wrap="square">
            <a:spAutoFit/>
          </a:bodyPr>
          <a:lstStyle/>
          <a:p>
            <a:pPr algn="l"/>
            <a:r>
              <a:rPr sz="1200" b="1" dirty="0">
                <a:solidFill>
                  <a:srgbClr val="072645"/>
                </a:solidFill>
                <a:latin typeface="Segoe UI"/>
              </a:rPr>
              <a:t>Demand forecast + surge visibility</a:t>
            </a:r>
          </a:p>
        </p:txBody>
      </p:sp>
      <p:sp>
        <p:nvSpPr>
          <p:cNvPr id="35" name="TextBox 34">
            <a:extLst>
              <a:ext uri="{FF2B5EF4-FFF2-40B4-BE49-F238E27FC236}">
                <a16:creationId xmlns:a16="http://schemas.microsoft.com/office/drawing/2014/main" id="{31977163-19C3-75DB-26D4-8E9409FEF195}"/>
              </a:ext>
            </a:extLst>
          </p:cNvPr>
          <p:cNvSpPr txBox="1"/>
          <p:nvPr/>
        </p:nvSpPr>
        <p:spPr>
          <a:xfrm>
            <a:off x="1353312" y="2659968"/>
            <a:ext cx="3401568" cy="415498"/>
          </a:xfrm>
          <a:prstGeom prst="rect">
            <a:avLst/>
          </a:prstGeom>
          <a:noFill/>
        </p:spPr>
        <p:txBody>
          <a:bodyPr wrap="square">
            <a:spAutoFit/>
          </a:bodyPr>
          <a:lstStyle/>
          <a:p>
            <a:pPr algn="l"/>
            <a:r>
              <a:rPr sz="1050" dirty="0">
                <a:solidFill>
                  <a:srgbClr val="232A31"/>
                </a:solidFill>
                <a:latin typeface="Segoe UI"/>
              </a:rPr>
              <a:t>Intermittent demand, exercise-driven surge, and forecast lift need practical validation.</a:t>
            </a:r>
          </a:p>
        </p:txBody>
      </p:sp>
      <p:sp>
        <p:nvSpPr>
          <p:cNvPr id="37" name="Rounded Rectangle 14">
            <a:extLst>
              <a:ext uri="{FF2B5EF4-FFF2-40B4-BE49-F238E27FC236}">
                <a16:creationId xmlns:a16="http://schemas.microsoft.com/office/drawing/2014/main" id="{97E8CCF8-277E-664A-CBF0-32847EBFBA92}"/>
              </a:ext>
            </a:extLst>
          </p:cNvPr>
          <p:cNvSpPr/>
          <p:nvPr/>
        </p:nvSpPr>
        <p:spPr>
          <a:xfrm>
            <a:off x="713232" y="3200400"/>
            <a:ext cx="4279392" cy="676656"/>
          </a:xfrm>
          <a:prstGeom prst="roundRect">
            <a:avLst/>
          </a:prstGeom>
          <a:solidFill>
            <a:srgbClr val="ECF4FC"/>
          </a:solidFill>
          <a:ln w="10160">
            <a:solidFill>
              <a:srgbClr val="C4D2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50"/>
          </a:p>
        </p:txBody>
      </p:sp>
      <p:sp>
        <p:nvSpPr>
          <p:cNvPr id="39" name="Oval 38">
            <a:extLst>
              <a:ext uri="{FF2B5EF4-FFF2-40B4-BE49-F238E27FC236}">
                <a16:creationId xmlns:a16="http://schemas.microsoft.com/office/drawing/2014/main" id="{47B24B36-E5EA-5FC3-D279-B3CC296E4644}"/>
              </a:ext>
            </a:extLst>
          </p:cNvPr>
          <p:cNvSpPr/>
          <p:nvPr/>
        </p:nvSpPr>
        <p:spPr>
          <a:xfrm>
            <a:off x="868680" y="3355848"/>
            <a:ext cx="347472" cy="347472"/>
          </a:xfrm>
          <a:prstGeom prst="ellipse">
            <a:avLst/>
          </a:prstGeom>
          <a:solidFill>
            <a:srgbClr val="1C58A0"/>
          </a:solidFill>
          <a:ln>
            <a:solidFill>
              <a:srgbClr val="1C58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50"/>
          </a:p>
        </p:txBody>
      </p:sp>
      <p:sp>
        <p:nvSpPr>
          <p:cNvPr id="41" name="TextBox 40">
            <a:extLst>
              <a:ext uri="{FF2B5EF4-FFF2-40B4-BE49-F238E27FC236}">
                <a16:creationId xmlns:a16="http://schemas.microsoft.com/office/drawing/2014/main" id="{8C8E0338-C71C-C081-723F-973AA430813C}"/>
              </a:ext>
            </a:extLst>
          </p:cNvPr>
          <p:cNvSpPr txBox="1"/>
          <p:nvPr/>
        </p:nvSpPr>
        <p:spPr>
          <a:xfrm>
            <a:off x="802005" y="3390804"/>
            <a:ext cx="484632" cy="269304"/>
          </a:xfrm>
          <a:prstGeom prst="rect">
            <a:avLst/>
          </a:prstGeom>
          <a:noFill/>
        </p:spPr>
        <p:txBody>
          <a:bodyPr wrap="square">
            <a:spAutoFit/>
          </a:bodyPr>
          <a:lstStyle/>
          <a:p>
            <a:pPr algn="ctr"/>
            <a:r>
              <a:rPr sz="1150" b="1" dirty="0">
                <a:solidFill>
                  <a:srgbClr val="FFFFFF"/>
                </a:solidFill>
                <a:latin typeface="Segoe UI"/>
              </a:rPr>
              <a:t>SP</a:t>
            </a:r>
          </a:p>
        </p:txBody>
      </p:sp>
      <p:sp>
        <p:nvSpPr>
          <p:cNvPr id="43" name="TextBox 42">
            <a:extLst>
              <a:ext uri="{FF2B5EF4-FFF2-40B4-BE49-F238E27FC236}">
                <a16:creationId xmlns:a16="http://schemas.microsoft.com/office/drawing/2014/main" id="{DB2152FE-AC20-AECC-9077-06EA5EA11B3D}"/>
              </a:ext>
            </a:extLst>
          </p:cNvPr>
          <p:cNvSpPr txBox="1"/>
          <p:nvPr/>
        </p:nvSpPr>
        <p:spPr>
          <a:xfrm>
            <a:off x="1353312" y="3257376"/>
            <a:ext cx="3364992" cy="276999"/>
          </a:xfrm>
          <a:prstGeom prst="rect">
            <a:avLst/>
          </a:prstGeom>
          <a:noFill/>
        </p:spPr>
        <p:txBody>
          <a:bodyPr wrap="square">
            <a:spAutoFit/>
          </a:bodyPr>
          <a:lstStyle/>
          <a:p>
            <a:pPr algn="l"/>
            <a:r>
              <a:rPr sz="1200" b="1">
                <a:solidFill>
                  <a:srgbClr val="072645"/>
                </a:solidFill>
                <a:latin typeface="Segoe UI"/>
              </a:rPr>
              <a:t>Supplier risk and lead-time visibility</a:t>
            </a:r>
          </a:p>
        </p:txBody>
      </p:sp>
      <p:sp>
        <p:nvSpPr>
          <p:cNvPr id="45" name="TextBox 44">
            <a:extLst>
              <a:ext uri="{FF2B5EF4-FFF2-40B4-BE49-F238E27FC236}">
                <a16:creationId xmlns:a16="http://schemas.microsoft.com/office/drawing/2014/main" id="{639A1173-1105-57AD-AAC3-FE1608709666}"/>
              </a:ext>
            </a:extLst>
          </p:cNvPr>
          <p:cNvSpPr txBox="1"/>
          <p:nvPr/>
        </p:nvSpPr>
        <p:spPr>
          <a:xfrm>
            <a:off x="1353312" y="3464640"/>
            <a:ext cx="3401568" cy="415498"/>
          </a:xfrm>
          <a:prstGeom prst="rect">
            <a:avLst/>
          </a:prstGeom>
          <a:noFill/>
        </p:spPr>
        <p:txBody>
          <a:bodyPr wrap="square">
            <a:spAutoFit/>
          </a:bodyPr>
          <a:lstStyle/>
          <a:p>
            <a:pPr algn="l"/>
            <a:r>
              <a:rPr sz="1050">
                <a:solidFill>
                  <a:srgbClr val="232A31"/>
                </a:solidFill>
                <a:latin typeface="Segoe UI"/>
              </a:rPr>
              <a:t>Supplier degradation, delivery variability, and sourcing alternatives need connected context.</a:t>
            </a:r>
          </a:p>
        </p:txBody>
      </p:sp>
      <p:sp>
        <p:nvSpPr>
          <p:cNvPr id="47" name="Rounded Rectangle 19">
            <a:extLst>
              <a:ext uri="{FF2B5EF4-FFF2-40B4-BE49-F238E27FC236}">
                <a16:creationId xmlns:a16="http://schemas.microsoft.com/office/drawing/2014/main" id="{97B33EF7-4EA0-C2D0-568A-F24FE566FF58}"/>
              </a:ext>
            </a:extLst>
          </p:cNvPr>
          <p:cNvSpPr/>
          <p:nvPr/>
        </p:nvSpPr>
        <p:spPr>
          <a:xfrm>
            <a:off x="713232" y="4005072"/>
            <a:ext cx="4279392" cy="676656"/>
          </a:xfrm>
          <a:prstGeom prst="roundRect">
            <a:avLst/>
          </a:prstGeom>
          <a:solidFill>
            <a:srgbClr val="EAF7F6"/>
          </a:solidFill>
          <a:ln w="10160">
            <a:solidFill>
              <a:srgbClr val="C4D2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50"/>
          </a:p>
        </p:txBody>
      </p:sp>
      <p:sp>
        <p:nvSpPr>
          <p:cNvPr id="49" name="Oval 48">
            <a:extLst>
              <a:ext uri="{FF2B5EF4-FFF2-40B4-BE49-F238E27FC236}">
                <a16:creationId xmlns:a16="http://schemas.microsoft.com/office/drawing/2014/main" id="{987BF92E-9D26-C24F-4456-DA7031B8F1A4}"/>
              </a:ext>
            </a:extLst>
          </p:cNvPr>
          <p:cNvSpPr/>
          <p:nvPr/>
        </p:nvSpPr>
        <p:spPr>
          <a:xfrm>
            <a:off x="868680" y="4160520"/>
            <a:ext cx="347472" cy="347472"/>
          </a:xfrm>
          <a:prstGeom prst="ellipse">
            <a:avLst/>
          </a:prstGeom>
          <a:solidFill>
            <a:srgbClr val="147E79"/>
          </a:solidFill>
          <a:ln>
            <a:solidFill>
              <a:srgbClr val="147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50"/>
          </a:p>
        </p:txBody>
      </p:sp>
      <p:sp>
        <p:nvSpPr>
          <p:cNvPr id="51" name="TextBox 50">
            <a:extLst>
              <a:ext uri="{FF2B5EF4-FFF2-40B4-BE49-F238E27FC236}">
                <a16:creationId xmlns:a16="http://schemas.microsoft.com/office/drawing/2014/main" id="{2F7D096B-C52F-FD2F-47E4-6F2776673A5F}"/>
              </a:ext>
            </a:extLst>
          </p:cNvPr>
          <p:cNvSpPr txBox="1"/>
          <p:nvPr/>
        </p:nvSpPr>
        <p:spPr>
          <a:xfrm>
            <a:off x="821055" y="4201668"/>
            <a:ext cx="448056" cy="269304"/>
          </a:xfrm>
          <a:prstGeom prst="rect">
            <a:avLst/>
          </a:prstGeom>
          <a:noFill/>
        </p:spPr>
        <p:txBody>
          <a:bodyPr wrap="square">
            <a:spAutoFit/>
          </a:bodyPr>
          <a:lstStyle/>
          <a:p>
            <a:pPr algn="ctr"/>
            <a:r>
              <a:rPr sz="1150" b="1">
                <a:solidFill>
                  <a:srgbClr val="FFFFFF"/>
                </a:solidFill>
                <a:latin typeface="Segoe UI"/>
              </a:rPr>
              <a:t>DR</a:t>
            </a:r>
          </a:p>
        </p:txBody>
      </p:sp>
      <p:sp>
        <p:nvSpPr>
          <p:cNvPr id="53" name="TextBox 52">
            <a:extLst>
              <a:ext uri="{FF2B5EF4-FFF2-40B4-BE49-F238E27FC236}">
                <a16:creationId xmlns:a16="http://schemas.microsoft.com/office/drawing/2014/main" id="{4F0A3133-581E-A934-5826-B6111AC4EE44}"/>
              </a:ext>
            </a:extLst>
          </p:cNvPr>
          <p:cNvSpPr txBox="1"/>
          <p:nvPr/>
        </p:nvSpPr>
        <p:spPr>
          <a:xfrm>
            <a:off x="1353312" y="4062048"/>
            <a:ext cx="3364992" cy="276999"/>
          </a:xfrm>
          <a:prstGeom prst="rect">
            <a:avLst/>
          </a:prstGeom>
          <a:noFill/>
        </p:spPr>
        <p:txBody>
          <a:bodyPr wrap="square">
            <a:spAutoFit/>
          </a:bodyPr>
          <a:lstStyle/>
          <a:p>
            <a:pPr algn="l"/>
            <a:r>
              <a:rPr sz="1200" b="1">
                <a:solidFill>
                  <a:srgbClr val="072645"/>
                </a:solidFill>
                <a:latin typeface="Segoe UI"/>
              </a:rPr>
              <a:t>Stockout and route disruption</a:t>
            </a:r>
          </a:p>
        </p:txBody>
      </p:sp>
      <p:sp>
        <p:nvSpPr>
          <p:cNvPr id="55" name="TextBox 54">
            <a:extLst>
              <a:ext uri="{FF2B5EF4-FFF2-40B4-BE49-F238E27FC236}">
                <a16:creationId xmlns:a16="http://schemas.microsoft.com/office/drawing/2014/main" id="{925F0650-CEEB-E763-924B-4A0F3DDBD620}"/>
              </a:ext>
            </a:extLst>
          </p:cNvPr>
          <p:cNvSpPr txBox="1"/>
          <p:nvPr/>
        </p:nvSpPr>
        <p:spPr>
          <a:xfrm>
            <a:off x="1353312" y="4269312"/>
            <a:ext cx="3401568" cy="415498"/>
          </a:xfrm>
          <a:prstGeom prst="rect">
            <a:avLst/>
          </a:prstGeom>
          <a:noFill/>
        </p:spPr>
        <p:txBody>
          <a:bodyPr wrap="square">
            <a:spAutoFit/>
          </a:bodyPr>
          <a:lstStyle/>
          <a:p>
            <a:pPr algn="l"/>
            <a:r>
              <a:rPr sz="1050">
                <a:solidFill>
                  <a:srgbClr val="232A31"/>
                </a:solidFill>
                <a:latin typeface="Segoe UI"/>
              </a:rPr>
              <a:t>Depot, route, and fulfillment effects need to be visible before constraints cascade.</a:t>
            </a:r>
          </a:p>
        </p:txBody>
      </p:sp>
      <p:sp>
        <p:nvSpPr>
          <p:cNvPr id="57" name="Rounded Rectangle 24">
            <a:extLst>
              <a:ext uri="{FF2B5EF4-FFF2-40B4-BE49-F238E27FC236}">
                <a16:creationId xmlns:a16="http://schemas.microsoft.com/office/drawing/2014/main" id="{8DF71C50-9541-2F8D-5111-F46CC7897FF3}"/>
              </a:ext>
            </a:extLst>
          </p:cNvPr>
          <p:cNvSpPr/>
          <p:nvPr/>
        </p:nvSpPr>
        <p:spPr>
          <a:xfrm>
            <a:off x="713232" y="4809744"/>
            <a:ext cx="4279392" cy="676656"/>
          </a:xfrm>
          <a:prstGeom prst="roundRect">
            <a:avLst/>
          </a:prstGeom>
          <a:solidFill>
            <a:srgbClr val="EFF8F3"/>
          </a:solidFill>
          <a:ln w="10160">
            <a:solidFill>
              <a:srgbClr val="C4D2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50"/>
          </a:p>
        </p:txBody>
      </p:sp>
      <p:sp>
        <p:nvSpPr>
          <p:cNvPr id="59" name="Oval 58">
            <a:extLst>
              <a:ext uri="{FF2B5EF4-FFF2-40B4-BE49-F238E27FC236}">
                <a16:creationId xmlns:a16="http://schemas.microsoft.com/office/drawing/2014/main" id="{C3CB20E4-8AEC-6C3C-888F-8248B8BF573D}"/>
              </a:ext>
            </a:extLst>
          </p:cNvPr>
          <p:cNvSpPr/>
          <p:nvPr/>
        </p:nvSpPr>
        <p:spPr>
          <a:xfrm>
            <a:off x="868680" y="4965192"/>
            <a:ext cx="347472" cy="347472"/>
          </a:xfrm>
          <a:prstGeom prst="ellipse">
            <a:avLst/>
          </a:prstGeom>
          <a:solidFill>
            <a:srgbClr val="247C54"/>
          </a:solidFill>
          <a:ln>
            <a:solidFill>
              <a:srgbClr val="247C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50"/>
          </a:p>
        </p:txBody>
      </p:sp>
      <p:sp>
        <p:nvSpPr>
          <p:cNvPr id="61" name="TextBox 60">
            <a:extLst>
              <a:ext uri="{FF2B5EF4-FFF2-40B4-BE49-F238E27FC236}">
                <a16:creationId xmlns:a16="http://schemas.microsoft.com/office/drawing/2014/main" id="{29E351B5-2605-B303-69A1-15A250E71DB4}"/>
              </a:ext>
            </a:extLst>
          </p:cNvPr>
          <p:cNvSpPr txBox="1"/>
          <p:nvPr/>
        </p:nvSpPr>
        <p:spPr>
          <a:xfrm>
            <a:off x="802005" y="5000625"/>
            <a:ext cx="484632" cy="269304"/>
          </a:xfrm>
          <a:prstGeom prst="rect">
            <a:avLst/>
          </a:prstGeom>
          <a:noFill/>
        </p:spPr>
        <p:txBody>
          <a:bodyPr wrap="square">
            <a:spAutoFit/>
          </a:bodyPr>
          <a:lstStyle/>
          <a:p>
            <a:pPr algn="ctr"/>
            <a:r>
              <a:rPr sz="1150" b="1" dirty="0">
                <a:solidFill>
                  <a:srgbClr val="FFFFFF"/>
                </a:solidFill>
                <a:latin typeface="Segoe UI"/>
              </a:rPr>
              <a:t>MR</a:t>
            </a:r>
          </a:p>
        </p:txBody>
      </p:sp>
      <p:sp>
        <p:nvSpPr>
          <p:cNvPr id="63" name="TextBox 62">
            <a:extLst>
              <a:ext uri="{FF2B5EF4-FFF2-40B4-BE49-F238E27FC236}">
                <a16:creationId xmlns:a16="http://schemas.microsoft.com/office/drawing/2014/main" id="{6C4F58C7-9DA1-D908-13EB-7AB31C97A036}"/>
              </a:ext>
            </a:extLst>
          </p:cNvPr>
          <p:cNvSpPr txBox="1"/>
          <p:nvPr/>
        </p:nvSpPr>
        <p:spPr>
          <a:xfrm>
            <a:off x="1353312" y="4866720"/>
            <a:ext cx="3364992" cy="276999"/>
          </a:xfrm>
          <a:prstGeom prst="rect">
            <a:avLst/>
          </a:prstGeom>
          <a:noFill/>
        </p:spPr>
        <p:txBody>
          <a:bodyPr wrap="square">
            <a:spAutoFit/>
          </a:bodyPr>
          <a:lstStyle/>
          <a:p>
            <a:pPr algn="l"/>
            <a:r>
              <a:rPr sz="1200" b="1">
                <a:solidFill>
                  <a:srgbClr val="072645"/>
                </a:solidFill>
                <a:latin typeface="Segoe UI"/>
              </a:rPr>
              <a:t>Scenario + explainability need</a:t>
            </a:r>
          </a:p>
        </p:txBody>
      </p:sp>
      <p:sp>
        <p:nvSpPr>
          <p:cNvPr id="65" name="TextBox 64">
            <a:extLst>
              <a:ext uri="{FF2B5EF4-FFF2-40B4-BE49-F238E27FC236}">
                <a16:creationId xmlns:a16="http://schemas.microsoft.com/office/drawing/2014/main" id="{03951DFB-2A16-E7E2-25A6-034D3EDE1C89}"/>
              </a:ext>
            </a:extLst>
          </p:cNvPr>
          <p:cNvSpPr txBox="1"/>
          <p:nvPr/>
        </p:nvSpPr>
        <p:spPr>
          <a:xfrm>
            <a:off x="1353312" y="5073984"/>
            <a:ext cx="3401568" cy="415498"/>
          </a:xfrm>
          <a:prstGeom prst="rect">
            <a:avLst/>
          </a:prstGeom>
          <a:noFill/>
        </p:spPr>
        <p:txBody>
          <a:bodyPr wrap="square">
            <a:spAutoFit/>
          </a:bodyPr>
          <a:lstStyle/>
          <a:p>
            <a:pPr algn="l"/>
            <a:r>
              <a:rPr sz="1050">
                <a:solidFill>
                  <a:srgbClr val="232A31"/>
                </a:solidFill>
                <a:latin typeface="Segoe UI"/>
              </a:rPr>
              <a:t>Leaders need drivers, confidence, and related exposure to trust the recommended action.</a:t>
            </a:r>
          </a:p>
        </p:txBody>
      </p:sp>
      <p:sp>
        <p:nvSpPr>
          <p:cNvPr id="71" name="TextBox 70">
            <a:extLst>
              <a:ext uri="{FF2B5EF4-FFF2-40B4-BE49-F238E27FC236}">
                <a16:creationId xmlns:a16="http://schemas.microsoft.com/office/drawing/2014/main" id="{B41C93F2-4EAE-9DF2-1BD0-0B39387421B1}"/>
              </a:ext>
            </a:extLst>
          </p:cNvPr>
          <p:cNvSpPr txBox="1"/>
          <p:nvPr/>
        </p:nvSpPr>
        <p:spPr>
          <a:xfrm>
            <a:off x="6236208" y="1225296"/>
            <a:ext cx="5212080" cy="338554"/>
          </a:xfrm>
          <a:prstGeom prst="rect">
            <a:avLst/>
          </a:prstGeom>
          <a:noFill/>
        </p:spPr>
        <p:txBody>
          <a:bodyPr wrap="square">
            <a:spAutoFit/>
          </a:bodyPr>
          <a:lstStyle/>
          <a:p>
            <a:pPr algn="l"/>
            <a:r>
              <a:rPr sz="1600" b="1" dirty="0">
                <a:solidFill>
                  <a:srgbClr val="072645"/>
                </a:solidFill>
                <a:latin typeface="Segoe UI"/>
              </a:rPr>
              <a:t>What this means for EDM context inference</a:t>
            </a:r>
            <a:endParaRPr sz="1600" b="1" dirty="0">
              <a:solidFill>
                <a:srgbClr val="0D2C56"/>
              </a:solidFill>
            </a:endParaRPr>
          </a:p>
        </p:txBody>
      </p:sp>
      <p:sp>
        <p:nvSpPr>
          <p:cNvPr id="73" name="TextBox 72">
            <a:extLst>
              <a:ext uri="{FF2B5EF4-FFF2-40B4-BE49-F238E27FC236}">
                <a16:creationId xmlns:a16="http://schemas.microsoft.com/office/drawing/2014/main" id="{58CC3A31-43FD-D56B-C17E-D55F497D16CC}"/>
              </a:ext>
            </a:extLst>
          </p:cNvPr>
          <p:cNvSpPr txBox="1"/>
          <p:nvPr/>
        </p:nvSpPr>
        <p:spPr>
          <a:xfrm>
            <a:off x="6236208" y="1545336"/>
            <a:ext cx="5303520" cy="646331"/>
          </a:xfrm>
          <a:prstGeom prst="rect">
            <a:avLst/>
          </a:prstGeom>
          <a:noFill/>
        </p:spPr>
        <p:txBody>
          <a:bodyPr wrap="square">
            <a:spAutoFit/>
          </a:bodyPr>
          <a:lstStyle/>
          <a:p>
            <a:pPr algn="l"/>
            <a:r>
              <a:rPr sz="1200">
                <a:solidFill>
                  <a:srgbClr val="232A31"/>
                </a:solidFill>
                <a:latin typeface="Segoe UI"/>
              </a:rPr>
              <a:t>The MVP should test whether EDM connects DLA’s priority decision outputs – forecast, lead time, supplier risk, stockout, scenario, and explainability – using real mission data.</a:t>
            </a:r>
          </a:p>
        </p:txBody>
      </p:sp>
      <p:sp>
        <p:nvSpPr>
          <p:cNvPr id="75" name="Rounded Rectangle 33">
            <a:extLst>
              <a:ext uri="{FF2B5EF4-FFF2-40B4-BE49-F238E27FC236}">
                <a16:creationId xmlns:a16="http://schemas.microsoft.com/office/drawing/2014/main" id="{972828DA-93F9-B15B-CC0C-2C8270B26C4C}"/>
              </a:ext>
            </a:extLst>
          </p:cNvPr>
          <p:cNvSpPr/>
          <p:nvPr/>
        </p:nvSpPr>
        <p:spPr>
          <a:xfrm>
            <a:off x="6236208" y="2153056"/>
            <a:ext cx="5486400" cy="960120"/>
          </a:xfrm>
          <a:prstGeom prst="roundRect">
            <a:avLst/>
          </a:prstGeom>
          <a:solidFill>
            <a:srgbClr val="ECF4FC"/>
          </a:solidFill>
          <a:ln w="15240">
            <a:solidFill>
              <a:srgbClr val="1C58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50"/>
          </a:p>
        </p:txBody>
      </p:sp>
      <p:sp>
        <p:nvSpPr>
          <p:cNvPr id="79" name="TextBox 78">
            <a:extLst>
              <a:ext uri="{FF2B5EF4-FFF2-40B4-BE49-F238E27FC236}">
                <a16:creationId xmlns:a16="http://schemas.microsoft.com/office/drawing/2014/main" id="{960452B4-DB0F-2CF5-6C33-B6269D80A87C}"/>
              </a:ext>
            </a:extLst>
          </p:cNvPr>
          <p:cNvSpPr txBox="1"/>
          <p:nvPr/>
        </p:nvSpPr>
        <p:spPr>
          <a:xfrm>
            <a:off x="6446520" y="2271928"/>
            <a:ext cx="4572000" cy="276999"/>
          </a:xfrm>
          <a:prstGeom prst="rect">
            <a:avLst/>
          </a:prstGeom>
          <a:noFill/>
        </p:spPr>
        <p:txBody>
          <a:bodyPr wrap="square">
            <a:spAutoFit/>
          </a:bodyPr>
          <a:lstStyle/>
          <a:p>
            <a:pPr algn="l"/>
            <a:r>
              <a:rPr sz="1200" b="1" dirty="0">
                <a:solidFill>
                  <a:srgbClr val="072645"/>
                </a:solidFill>
                <a:latin typeface="Segoe UI"/>
              </a:rPr>
              <a:t>Mission implication</a:t>
            </a:r>
          </a:p>
        </p:txBody>
      </p:sp>
      <p:sp>
        <p:nvSpPr>
          <p:cNvPr id="81" name="TextBox 80">
            <a:extLst>
              <a:ext uri="{FF2B5EF4-FFF2-40B4-BE49-F238E27FC236}">
                <a16:creationId xmlns:a16="http://schemas.microsoft.com/office/drawing/2014/main" id="{E8CB390F-880A-9B8F-38B8-00F0350B49D6}"/>
              </a:ext>
            </a:extLst>
          </p:cNvPr>
          <p:cNvSpPr txBox="1"/>
          <p:nvPr/>
        </p:nvSpPr>
        <p:spPr>
          <a:xfrm>
            <a:off x="6446520" y="2546521"/>
            <a:ext cx="5093208" cy="415498"/>
          </a:xfrm>
          <a:prstGeom prst="rect">
            <a:avLst/>
          </a:prstGeom>
          <a:noFill/>
        </p:spPr>
        <p:txBody>
          <a:bodyPr wrap="square">
            <a:spAutoFit/>
          </a:bodyPr>
          <a:lstStyle/>
          <a:p>
            <a:pPr algn="l"/>
            <a:r>
              <a:rPr sz="1050" dirty="0">
                <a:solidFill>
                  <a:srgbClr val="232A31"/>
                </a:solidFill>
                <a:latin typeface="Segoe UI"/>
              </a:rPr>
              <a:t>Earlier warning should be assessed where demand, supplier behavior, route constraints, and stockout exposure affect readiness decisions.</a:t>
            </a:r>
          </a:p>
        </p:txBody>
      </p:sp>
      <p:sp>
        <p:nvSpPr>
          <p:cNvPr id="83" name="Rounded Rectangle 37">
            <a:extLst>
              <a:ext uri="{FF2B5EF4-FFF2-40B4-BE49-F238E27FC236}">
                <a16:creationId xmlns:a16="http://schemas.microsoft.com/office/drawing/2014/main" id="{0864A0E4-6311-60DD-6FFA-8B027975A704}"/>
              </a:ext>
            </a:extLst>
          </p:cNvPr>
          <p:cNvSpPr/>
          <p:nvPr/>
        </p:nvSpPr>
        <p:spPr>
          <a:xfrm>
            <a:off x="6236208" y="3323488"/>
            <a:ext cx="5486400" cy="960120"/>
          </a:xfrm>
          <a:prstGeom prst="roundRect">
            <a:avLst/>
          </a:prstGeom>
          <a:solidFill>
            <a:srgbClr val="FFF5EB"/>
          </a:solidFill>
          <a:ln w="15240">
            <a:solidFill>
              <a:srgbClr val="EB5E1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50"/>
          </a:p>
        </p:txBody>
      </p:sp>
      <p:sp>
        <p:nvSpPr>
          <p:cNvPr id="87" name="TextBox 86">
            <a:extLst>
              <a:ext uri="{FF2B5EF4-FFF2-40B4-BE49-F238E27FC236}">
                <a16:creationId xmlns:a16="http://schemas.microsoft.com/office/drawing/2014/main" id="{AFFDAFA9-36DB-97A8-14BD-9FD4AC87AFB1}"/>
              </a:ext>
            </a:extLst>
          </p:cNvPr>
          <p:cNvSpPr txBox="1"/>
          <p:nvPr/>
        </p:nvSpPr>
        <p:spPr>
          <a:xfrm>
            <a:off x="6446520" y="3442360"/>
            <a:ext cx="4572000" cy="276999"/>
          </a:xfrm>
          <a:prstGeom prst="rect">
            <a:avLst/>
          </a:prstGeom>
          <a:noFill/>
        </p:spPr>
        <p:txBody>
          <a:bodyPr wrap="square">
            <a:spAutoFit/>
          </a:bodyPr>
          <a:lstStyle/>
          <a:p>
            <a:pPr algn="l"/>
            <a:r>
              <a:rPr sz="1200" b="1">
                <a:solidFill>
                  <a:srgbClr val="072645"/>
                </a:solidFill>
                <a:latin typeface="Segoe UI"/>
              </a:rPr>
              <a:t>Decision implication</a:t>
            </a:r>
          </a:p>
        </p:txBody>
      </p:sp>
      <p:sp>
        <p:nvSpPr>
          <p:cNvPr id="89" name="TextBox 88">
            <a:extLst>
              <a:ext uri="{FF2B5EF4-FFF2-40B4-BE49-F238E27FC236}">
                <a16:creationId xmlns:a16="http://schemas.microsoft.com/office/drawing/2014/main" id="{0A45905B-FE0A-0964-CC66-C995B2878152}"/>
              </a:ext>
            </a:extLst>
          </p:cNvPr>
          <p:cNvSpPr txBox="1"/>
          <p:nvPr/>
        </p:nvSpPr>
        <p:spPr>
          <a:xfrm>
            <a:off x="6432804" y="3714244"/>
            <a:ext cx="5093208" cy="415498"/>
          </a:xfrm>
          <a:prstGeom prst="rect">
            <a:avLst/>
          </a:prstGeom>
          <a:noFill/>
        </p:spPr>
        <p:txBody>
          <a:bodyPr wrap="square">
            <a:spAutoFit/>
          </a:bodyPr>
          <a:lstStyle/>
          <a:p>
            <a:pPr algn="l"/>
            <a:r>
              <a:rPr sz="1050">
                <a:solidFill>
                  <a:srgbClr val="232A31"/>
                </a:solidFill>
                <a:latin typeface="Segoe UI"/>
              </a:rPr>
              <a:t>Context inference must connect fragmented logistics signals into a decision view, not another disconnected dashboard.</a:t>
            </a:r>
          </a:p>
        </p:txBody>
      </p:sp>
      <p:sp>
        <p:nvSpPr>
          <p:cNvPr id="91" name="Rounded Rectangle 41">
            <a:extLst>
              <a:ext uri="{FF2B5EF4-FFF2-40B4-BE49-F238E27FC236}">
                <a16:creationId xmlns:a16="http://schemas.microsoft.com/office/drawing/2014/main" id="{CDCC5D2E-B352-5F7E-F19A-93278A6CCEE4}"/>
              </a:ext>
            </a:extLst>
          </p:cNvPr>
          <p:cNvSpPr/>
          <p:nvPr/>
        </p:nvSpPr>
        <p:spPr>
          <a:xfrm>
            <a:off x="6236208" y="4493920"/>
            <a:ext cx="5486400" cy="960120"/>
          </a:xfrm>
          <a:prstGeom prst="roundRect">
            <a:avLst/>
          </a:prstGeom>
          <a:solidFill>
            <a:srgbClr val="EFF8F3"/>
          </a:solidFill>
          <a:ln w="15240">
            <a:solidFill>
              <a:srgbClr val="247C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50"/>
          </a:p>
        </p:txBody>
      </p:sp>
      <p:sp>
        <p:nvSpPr>
          <p:cNvPr id="95" name="TextBox 94">
            <a:extLst>
              <a:ext uri="{FF2B5EF4-FFF2-40B4-BE49-F238E27FC236}">
                <a16:creationId xmlns:a16="http://schemas.microsoft.com/office/drawing/2014/main" id="{5D05900D-32C8-F7F0-DA3B-D5E293C0AAE4}"/>
              </a:ext>
            </a:extLst>
          </p:cNvPr>
          <p:cNvSpPr txBox="1"/>
          <p:nvPr/>
        </p:nvSpPr>
        <p:spPr>
          <a:xfrm>
            <a:off x="6446520" y="4612792"/>
            <a:ext cx="4572000" cy="276999"/>
          </a:xfrm>
          <a:prstGeom prst="rect">
            <a:avLst/>
          </a:prstGeom>
          <a:noFill/>
        </p:spPr>
        <p:txBody>
          <a:bodyPr wrap="square">
            <a:spAutoFit/>
          </a:bodyPr>
          <a:lstStyle/>
          <a:p>
            <a:pPr algn="l"/>
            <a:r>
              <a:rPr sz="1200" b="1">
                <a:solidFill>
                  <a:srgbClr val="072645"/>
                </a:solidFill>
                <a:latin typeface="Segoe UI"/>
              </a:rPr>
              <a:t>MVP implication</a:t>
            </a:r>
          </a:p>
        </p:txBody>
      </p:sp>
      <p:sp>
        <p:nvSpPr>
          <p:cNvPr id="97" name="TextBox 96">
            <a:extLst>
              <a:ext uri="{FF2B5EF4-FFF2-40B4-BE49-F238E27FC236}">
                <a16:creationId xmlns:a16="http://schemas.microsoft.com/office/drawing/2014/main" id="{41CA75BC-FAD6-0B43-07BA-F4EA36FF7752}"/>
              </a:ext>
            </a:extLst>
          </p:cNvPr>
          <p:cNvSpPr txBox="1"/>
          <p:nvPr/>
        </p:nvSpPr>
        <p:spPr>
          <a:xfrm>
            <a:off x="6446520" y="4893299"/>
            <a:ext cx="5093208" cy="415498"/>
          </a:xfrm>
          <a:prstGeom prst="rect">
            <a:avLst/>
          </a:prstGeom>
          <a:noFill/>
        </p:spPr>
        <p:txBody>
          <a:bodyPr wrap="square">
            <a:spAutoFit/>
          </a:bodyPr>
          <a:lstStyle/>
          <a:p>
            <a:pPr algn="l"/>
            <a:r>
              <a:rPr sz="1050">
                <a:solidFill>
                  <a:srgbClr val="232A31"/>
                </a:solidFill>
                <a:latin typeface="Segoe UI"/>
              </a:rPr>
              <a:t>The right MVP validates decision usefulness through baseline comparison, SME review, explainability, and operational actionability.</a:t>
            </a:r>
          </a:p>
        </p:txBody>
      </p:sp>
      <p:sp>
        <p:nvSpPr>
          <p:cNvPr id="107" name="Shape 16">
            <a:extLst>
              <a:ext uri="{FF2B5EF4-FFF2-40B4-BE49-F238E27FC236}">
                <a16:creationId xmlns:a16="http://schemas.microsoft.com/office/drawing/2014/main" id="{8CC30878-8996-21B9-FA01-5CB52958B76A}"/>
              </a:ext>
            </a:extLst>
          </p:cNvPr>
          <p:cNvSpPr/>
          <p:nvPr/>
        </p:nvSpPr>
        <p:spPr>
          <a:xfrm>
            <a:off x="5548648" y="3479879"/>
            <a:ext cx="365760" cy="509301"/>
          </a:xfrm>
          <a:prstGeom prst="chevron">
            <a:avLst/>
          </a:prstGeom>
          <a:solidFill>
            <a:srgbClr val="C7D1DA"/>
          </a:solidFill>
          <a:ln w="12700">
            <a:solidFill>
              <a:srgbClr val="C7D1DA"/>
            </a:solidFill>
            <a:prstDash val="solid"/>
          </a:ln>
        </p:spPr>
        <p:txBody>
          <a:bodyPr/>
          <a:lstStyle/>
          <a:p>
            <a:endParaRPr lang="en-US" sz="1150"/>
          </a:p>
        </p:txBody>
      </p:sp>
      <p:sp>
        <p:nvSpPr>
          <p:cNvPr id="109" name="Shape 31">
            <a:extLst>
              <a:ext uri="{FF2B5EF4-FFF2-40B4-BE49-F238E27FC236}">
                <a16:creationId xmlns:a16="http://schemas.microsoft.com/office/drawing/2014/main" id="{538E3EFE-FA73-2FBF-1DEA-DDABF47B36AB}"/>
              </a:ext>
            </a:extLst>
          </p:cNvPr>
          <p:cNvSpPr/>
          <p:nvPr/>
        </p:nvSpPr>
        <p:spPr>
          <a:xfrm>
            <a:off x="658368" y="5860297"/>
            <a:ext cx="10835640" cy="549644"/>
          </a:xfrm>
          <a:prstGeom prst="roundRect">
            <a:avLst>
              <a:gd name="adj" fmla="val 8333"/>
            </a:avLst>
          </a:prstGeom>
          <a:solidFill>
            <a:srgbClr val="F7FAFD"/>
          </a:solidFill>
          <a:ln w="12700">
            <a:solidFill>
              <a:srgbClr val="B7C8D9"/>
            </a:solidFill>
            <a:prstDash val="solid"/>
          </a:ln>
        </p:spPr>
        <p:txBody>
          <a:bodyPr/>
          <a:lstStyle/>
          <a:p>
            <a:endParaRPr lang="en-US" sz="1150"/>
          </a:p>
        </p:txBody>
      </p:sp>
      <p:sp>
        <p:nvSpPr>
          <p:cNvPr id="111" name="Shape 32">
            <a:extLst>
              <a:ext uri="{FF2B5EF4-FFF2-40B4-BE49-F238E27FC236}">
                <a16:creationId xmlns:a16="http://schemas.microsoft.com/office/drawing/2014/main" id="{0D7D62B7-8688-A1B2-EA8E-4EEAFD8D4534}"/>
              </a:ext>
            </a:extLst>
          </p:cNvPr>
          <p:cNvSpPr/>
          <p:nvPr/>
        </p:nvSpPr>
        <p:spPr>
          <a:xfrm>
            <a:off x="658368" y="5860297"/>
            <a:ext cx="54864" cy="549644"/>
          </a:xfrm>
          <a:prstGeom prst="rect">
            <a:avLst/>
          </a:prstGeom>
          <a:solidFill>
            <a:srgbClr val="0E4A7B"/>
          </a:solidFill>
          <a:ln w="12700">
            <a:solidFill>
              <a:srgbClr val="0E4A7B"/>
            </a:solidFill>
            <a:prstDash val="solid"/>
          </a:ln>
        </p:spPr>
        <p:txBody>
          <a:bodyPr/>
          <a:lstStyle/>
          <a:p>
            <a:endParaRPr lang="en-US" sz="1150"/>
          </a:p>
        </p:txBody>
      </p:sp>
      <p:sp>
        <p:nvSpPr>
          <p:cNvPr id="113" name="Text 33">
            <a:extLst>
              <a:ext uri="{FF2B5EF4-FFF2-40B4-BE49-F238E27FC236}">
                <a16:creationId xmlns:a16="http://schemas.microsoft.com/office/drawing/2014/main" id="{08466F32-B96E-6C81-7607-9EB920518905}"/>
              </a:ext>
            </a:extLst>
          </p:cNvPr>
          <p:cNvSpPr/>
          <p:nvPr/>
        </p:nvSpPr>
        <p:spPr>
          <a:xfrm>
            <a:off x="822960" y="5905613"/>
            <a:ext cx="10515600" cy="192024"/>
          </a:xfrm>
          <a:prstGeom prst="rect">
            <a:avLst/>
          </a:prstGeom>
          <a:noFill/>
          <a:ln/>
        </p:spPr>
        <p:txBody>
          <a:bodyPr wrap="square" lIns="0" tIns="0" rIns="0" bIns="0" rtlCol="0" anchor="ctr"/>
          <a:lstStyle/>
          <a:p>
            <a:pPr marL="0" indent="0">
              <a:buNone/>
            </a:pPr>
            <a:r>
              <a:rPr lang="en-US" sz="1400" b="1" dirty="0">
                <a:solidFill>
                  <a:srgbClr val="06244A"/>
                </a:solidFill>
                <a:latin typeface="Segoe UI"/>
              </a:rPr>
              <a:t>Executive point</a:t>
            </a:r>
          </a:p>
        </p:txBody>
      </p:sp>
      <p:sp>
        <p:nvSpPr>
          <p:cNvPr id="115" name="Text 34">
            <a:extLst>
              <a:ext uri="{FF2B5EF4-FFF2-40B4-BE49-F238E27FC236}">
                <a16:creationId xmlns:a16="http://schemas.microsoft.com/office/drawing/2014/main" id="{A7EB216D-E57E-B5D4-85F3-8ABAEFD47D46}"/>
              </a:ext>
            </a:extLst>
          </p:cNvPr>
          <p:cNvSpPr/>
          <p:nvPr/>
        </p:nvSpPr>
        <p:spPr>
          <a:xfrm>
            <a:off x="822960" y="6100100"/>
            <a:ext cx="10515600" cy="291205"/>
          </a:xfrm>
          <a:prstGeom prst="rect">
            <a:avLst/>
          </a:prstGeom>
          <a:noFill/>
          <a:ln/>
        </p:spPr>
        <p:txBody>
          <a:bodyPr wrap="square" lIns="0" tIns="0" rIns="0" bIns="0" rtlCol="0" anchor="ctr">
            <a:normAutofit/>
          </a:bodyPr>
          <a:lstStyle/>
          <a:p>
            <a:pPr marL="0" indent="0">
              <a:buNone/>
            </a:pPr>
            <a:r>
              <a:rPr sz="1200" dirty="0">
                <a:solidFill>
                  <a:srgbClr val="232A31"/>
                </a:solidFill>
                <a:latin typeface="Segoe UI"/>
              </a:rPr>
              <a:t>Use existing DLA data to create earlier warning, connected context, and more actionable decisions across the outputs Gen. Sanford highlighted.</a:t>
            </a:r>
          </a:p>
        </p:txBody>
      </p:sp>
      <p:sp>
        <p:nvSpPr>
          <p:cNvPr id="10" name="Text 4">
            <a:extLst>
              <a:ext uri="{FF2B5EF4-FFF2-40B4-BE49-F238E27FC236}">
                <a16:creationId xmlns:a16="http://schemas.microsoft.com/office/drawing/2014/main" id="{C6B3E7AF-FD8E-0C1E-657B-BBE28108F5C2}"/>
              </a:ext>
            </a:extLst>
          </p:cNvPr>
          <p:cNvSpPr/>
          <p:nvPr/>
        </p:nvSpPr>
        <p:spPr>
          <a:xfrm>
            <a:off x="438912" y="6510528"/>
            <a:ext cx="80467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CONFIDENTIAL  |  22</a:t>
            </a:r>
            <a:r>
              <a:rPr kumimoji="0" lang="en-US" sz="800" b="0" i="0" u="none" strike="noStrike" kern="1200" cap="none" spc="0" normalizeH="0" baseline="30000" noProof="0" dirty="0">
                <a:ln>
                  <a:noFill/>
                </a:ln>
                <a:solidFill>
                  <a:srgbClr val="5B6470"/>
                </a:solidFill>
                <a:effectLst/>
                <a:uLnTx/>
                <a:uFillTx/>
                <a:latin typeface="Segoe UI"/>
                <a:ea typeface="Aptos" pitchFamily="34" charset="-122"/>
                <a:cs typeface="Aptos" pitchFamily="34" charset="-120"/>
              </a:rPr>
              <a:t>nd</a:t>
            </a: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 Century Technologies  |  DLA EDM Vector Intelligence</a:t>
            </a:r>
            <a:endParaRPr kumimoji="0" lang="en-US" sz="800" b="0" i="0" u="none" strike="noStrike" kern="1200" cap="none" spc="0" normalizeH="0" baseline="0" noProof="0" dirty="0">
              <a:ln>
                <a:noFill/>
              </a:ln>
              <a:solidFill>
                <a:prstClr val="black"/>
              </a:solidFill>
              <a:effectLst/>
              <a:uLnTx/>
              <a:uFillTx/>
              <a:ea typeface="+mn-ea"/>
              <a:cs typeface="+mn-cs"/>
            </a:endParaRPr>
          </a:p>
        </p:txBody>
      </p:sp>
      <p:sp>
        <p:nvSpPr>
          <p:cNvPr id="11" name="Shape 0">
            <a:extLst>
              <a:ext uri="{FF2B5EF4-FFF2-40B4-BE49-F238E27FC236}">
                <a16:creationId xmlns:a16="http://schemas.microsoft.com/office/drawing/2014/main" id="{EC7C77E5-9D38-4AC5-F5E6-89CD32DEE31F}"/>
              </a:ext>
            </a:extLst>
          </p:cNvPr>
          <p:cNvSpPr/>
          <p:nvPr/>
        </p:nvSpPr>
        <p:spPr>
          <a:xfrm>
            <a:off x="0" y="0"/>
            <a:ext cx="12191695" cy="137160"/>
          </a:xfrm>
          <a:prstGeom prst="rect">
            <a:avLst/>
          </a:prstGeom>
          <a:solidFill>
            <a:srgbClr val="06244A"/>
          </a:solidFill>
          <a:ln w="12700">
            <a:solidFill>
              <a:srgbClr val="06244A"/>
            </a:solidFill>
            <a:prstDash val="solid"/>
          </a:ln>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137160"/>
          </a:xfrm>
          <a:prstGeom prst="rect">
            <a:avLst/>
          </a:prstGeom>
          <a:solidFill>
            <a:srgbClr val="06244A"/>
          </a:solidFill>
          <a:ln w="12700">
            <a:solidFill>
              <a:srgbClr val="06244A"/>
            </a:solidFill>
            <a:prstDash val="solid"/>
          </a:ln>
        </p:spPr>
        <p:txBody>
          <a:bodyPr/>
          <a:lstStyle/>
          <a:p>
            <a:endParaRPr lang="en-US"/>
          </a:p>
        </p:txBody>
      </p:sp>
      <p:sp>
        <p:nvSpPr>
          <p:cNvPr id="3" name="Text 1"/>
          <p:cNvSpPr/>
          <p:nvPr/>
        </p:nvSpPr>
        <p:spPr>
          <a:xfrm>
            <a:off x="438912" y="323088"/>
            <a:ext cx="8869680" cy="329184"/>
          </a:xfrm>
          <a:prstGeom prst="rect">
            <a:avLst/>
          </a:prstGeom>
          <a:noFill/>
          <a:ln/>
        </p:spPr>
        <p:txBody>
          <a:bodyPr wrap="square" lIns="0" tIns="0" rIns="0" bIns="0" rtlCol="0" anchor="ctr"/>
          <a:lstStyle/>
          <a:p>
            <a:pPr marL="0" indent="0">
              <a:buNone/>
            </a:pPr>
            <a:r>
              <a:rPr lang="en-US" sz="2400" b="1" dirty="0">
                <a:solidFill>
                  <a:srgbClr val="102A4C"/>
                </a:solidFill>
                <a:latin typeface="Segoe UI" pitchFamily="34" charset="0"/>
                <a:ea typeface="Aptos Display" pitchFamily="34" charset="-122"/>
                <a:cs typeface="Aptos Display" pitchFamily="34" charset="-120"/>
              </a:rPr>
              <a:t>DLA’s challenge is delayed decision context, not data volume</a:t>
            </a:r>
            <a:endParaRPr lang="en-US" sz="2400" dirty="0"/>
          </a:p>
        </p:txBody>
      </p:sp>
      <p:sp>
        <p:nvSpPr>
          <p:cNvPr id="5" name="Text 3"/>
          <p:cNvSpPr/>
          <p:nvPr/>
        </p:nvSpPr>
        <p:spPr>
          <a:xfrm>
            <a:off x="457200" y="749808"/>
            <a:ext cx="10881360" cy="310896"/>
          </a:xfrm>
          <a:prstGeom prst="rect">
            <a:avLst/>
          </a:prstGeom>
          <a:noFill/>
          <a:ln/>
        </p:spPr>
        <p:txBody>
          <a:bodyPr wrap="square" lIns="0" tIns="0" rIns="0" bIns="0" rtlCol="0" anchor="ctr"/>
          <a:lstStyle/>
          <a:p>
            <a:pPr marL="0" indent="0">
              <a:buNone/>
            </a:pPr>
            <a:r>
              <a:rPr sz="1150" dirty="0">
                <a:solidFill>
                  <a:srgbClr val="232A31"/>
                </a:solidFill>
                <a:latin typeface="Segoe UI"/>
              </a:rPr>
              <a:t>Fragmented systems and point-in-time records delay context inference across demand, lead time, supplier risk, stockout exposure, and scenario decisions.</a:t>
            </a:r>
          </a:p>
        </p:txBody>
      </p:sp>
      <p:sp>
        <p:nvSpPr>
          <p:cNvPr id="43" name="Text 40"/>
          <p:cNvSpPr/>
          <p:nvPr/>
        </p:nvSpPr>
        <p:spPr>
          <a:xfrm>
            <a:off x="11247120" y="6473952"/>
            <a:ext cx="502920" cy="182880"/>
          </a:xfrm>
          <a:prstGeom prst="rect">
            <a:avLst/>
          </a:prstGeom>
          <a:noFill/>
          <a:ln/>
        </p:spPr>
        <p:txBody>
          <a:bodyPr wrap="square" lIns="0" tIns="0" rIns="0" bIns="0" rtlCol="0" anchor="ctr"/>
          <a:lstStyle/>
          <a:p>
            <a:pPr marL="0" indent="0" algn="r">
              <a:buNone/>
            </a:pPr>
            <a:r>
              <a:rPr sz="850" b="0" i="0">
                <a:solidFill>
                  <a:srgbClr val="646F7C"/>
                </a:solidFill>
                <a:latin typeface="Segoe UI"/>
              </a:rPr>
              <a:t>5</a:t>
            </a:r>
            <a:endParaRPr lang="en-US" sz="800" dirty="0"/>
          </a:p>
        </p:txBody>
      </p:sp>
      <p:sp>
        <p:nvSpPr>
          <p:cNvPr id="46" name="Shape 4">
            <a:extLst>
              <a:ext uri="{FF2B5EF4-FFF2-40B4-BE49-F238E27FC236}">
                <a16:creationId xmlns:a16="http://schemas.microsoft.com/office/drawing/2014/main" id="{15C6D45A-D439-160F-DF0A-73AE8CABA4DB}"/>
              </a:ext>
            </a:extLst>
          </p:cNvPr>
          <p:cNvSpPr/>
          <p:nvPr/>
        </p:nvSpPr>
        <p:spPr>
          <a:xfrm>
            <a:off x="411480" y="6446520"/>
            <a:ext cx="11365992" cy="0"/>
          </a:xfrm>
          <a:prstGeom prst="line">
            <a:avLst/>
          </a:prstGeom>
          <a:noFill/>
          <a:ln w="7620">
            <a:solidFill>
              <a:srgbClr val="C9D3D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Aptos"/>
              <a:ea typeface="+mn-ea"/>
              <a:cs typeface="+mn-cs"/>
            </a:endParaRPr>
          </a:p>
        </p:txBody>
      </p:sp>
      <p:sp>
        <p:nvSpPr>
          <p:cNvPr id="7" name="Shape 2">
            <a:extLst>
              <a:ext uri="{FF2B5EF4-FFF2-40B4-BE49-F238E27FC236}">
                <a16:creationId xmlns:a16="http://schemas.microsoft.com/office/drawing/2014/main" id="{90A21CF1-D728-D62E-3D2E-6637B6FE004B}"/>
              </a:ext>
            </a:extLst>
          </p:cNvPr>
          <p:cNvSpPr/>
          <p:nvPr/>
        </p:nvSpPr>
        <p:spPr>
          <a:xfrm>
            <a:off x="502920" y="1097280"/>
            <a:ext cx="11155680" cy="0"/>
          </a:xfrm>
          <a:prstGeom prst="line">
            <a:avLst/>
          </a:prstGeom>
          <a:noFill/>
          <a:ln w="12700">
            <a:solidFill>
              <a:srgbClr val="F36C2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50" b="0" i="0" u="none" strike="noStrike" kern="1200" cap="none" spc="0" normalizeH="0" baseline="0" noProof="0">
              <a:ln>
                <a:noFill/>
              </a:ln>
              <a:solidFill>
                <a:prstClr val="black"/>
              </a:solidFill>
              <a:effectLst/>
              <a:uLnTx/>
              <a:uFillTx/>
              <a:ea typeface="+mn-ea"/>
              <a:cs typeface="+mn-cs"/>
            </a:endParaRPr>
          </a:p>
        </p:txBody>
      </p:sp>
      <p:sp>
        <p:nvSpPr>
          <p:cNvPr id="9" name="Shape 31">
            <a:extLst>
              <a:ext uri="{FF2B5EF4-FFF2-40B4-BE49-F238E27FC236}">
                <a16:creationId xmlns:a16="http://schemas.microsoft.com/office/drawing/2014/main" id="{9A2D4036-82F8-F9DC-E874-1CD6EAC5611E}"/>
              </a:ext>
            </a:extLst>
          </p:cNvPr>
          <p:cNvSpPr/>
          <p:nvPr/>
        </p:nvSpPr>
        <p:spPr>
          <a:xfrm>
            <a:off x="658368" y="5751573"/>
            <a:ext cx="10835640" cy="658368"/>
          </a:xfrm>
          <a:prstGeom prst="roundRect">
            <a:avLst>
              <a:gd name="adj" fmla="val 8333"/>
            </a:avLst>
          </a:prstGeom>
          <a:solidFill>
            <a:srgbClr val="F7FAFD"/>
          </a:solidFill>
          <a:ln w="12700">
            <a:solidFill>
              <a:srgbClr val="B7C8D9"/>
            </a:solidFill>
            <a:prstDash val="solid"/>
          </a:ln>
        </p:spPr>
        <p:txBody>
          <a:bodyPr/>
          <a:lstStyle/>
          <a:p>
            <a:endParaRPr lang="en-US" sz="1200"/>
          </a:p>
        </p:txBody>
      </p:sp>
      <p:sp>
        <p:nvSpPr>
          <p:cNvPr id="11" name="Shape 32">
            <a:extLst>
              <a:ext uri="{FF2B5EF4-FFF2-40B4-BE49-F238E27FC236}">
                <a16:creationId xmlns:a16="http://schemas.microsoft.com/office/drawing/2014/main" id="{1B509483-CF4D-CA7C-BCCC-A211ABF366D9}"/>
              </a:ext>
            </a:extLst>
          </p:cNvPr>
          <p:cNvSpPr/>
          <p:nvPr/>
        </p:nvSpPr>
        <p:spPr>
          <a:xfrm>
            <a:off x="658368" y="5751573"/>
            <a:ext cx="54864" cy="658368"/>
          </a:xfrm>
          <a:prstGeom prst="rect">
            <a:avLst/>
          </a:prstGeom>
          <a:solidFill>
            <a:srgbClr val="0E4A7B"/>
          </a:solidFill>
          <a:ln w="12700">
            <a:solidFill>
              <a:srgbClr val="0E4A7B"/>
            </a:solidFill>
            <a:prstDash val="solid"/>
          </a:ln>
        </p:spPr>
        <p:txBody>
          <a:bodyPr/>
          <a:lstStyle/>
          <a:p>
            <a:endParaRPr lang="en-US" sz="1150"/>
          </a:p>
        </p:txBody>
      </p:sp>
      <p:sp>
        <p:nvSpPr>
          <p:cNvPr id="13" name="Text 33">
            <a:extLst>
              <a:ext uri="{FF2B5EF4-FFF2-40B4-BE49-F238E27FC236}">
                <a16:creationId xmlns:a16="http://schemas.microsoft.com/office/drawing/2014/main" id="{1B659EEE-44A7-29BB-5C3D-AF61A5CDBD44}"/>
              </a:ext>
            </a:extLst>
          </p:cNvPr>
          <p:cNvSpPr/>
          <p:nvPr/>
        </p:nvSpPr>
        <p:spPr>
          <a:xfrm>
            <a:off x="822960" y="5826485"/>
            <a:ext cx="10515600" cy="192024"/>
          </a:xfrm>
          <a:prstGeom prst="rect">
            <a:avLst/>
          </a:prstGeom>
          <a:noFill/>
          <a:ln/>
        </p:spPr>
        <p:txBody>
          <a:bodyPr wrap="square" lIns="0" tIns="0" rIns="0" bIns="0" rtlCol="0" anchor="ctr"/>
          <a:lstStyle/>
          <a:p>
            <a:pPr marL="0" indent="0">
              <a:buNone/>
            </a:pPr>
            <a:r>
              <a:rPr lang="en-US" sz="1400" b="1" dirty="0">
                <a:solidFill>
                  <a:srgbClr val="06244A"/>
                </a:solidFill>
                <a:latin typeface="Segoe UI"/>
              </a:rPr>
              <a:t>Executive point</a:t>
            </a:r>
          </a:p>
        </p:txBody>
      </p:sp>
      <p:sp>
        <p:nvSpPr>
          <p:cNvPr id="15" name="Text 34">
            <a:extLst>
              <a:ext uri="{FF2B5EF4-FFF2-40B4-BE49-F238E27FC236}">
                <a16:creationId xmlns:a16="http://schemas.microsoft.com/office/drawing/2014/main" id="{8AA460A1-785B-2B82-7B58-0A33604C6C1A}"/>
              </a:ext>
            </a:extLst>
          </p:cNvPr>
          <p:cNvSpPr/>
          <p:nvPr/>
        </p:nvSpPr>
        <p:spPr>
          <a:xfrm>
            <a:off x="822960" y="6032695"/>
            <a:ext cx="10515600" cy="347469"/>
          </a:xfrm>
          <a:prstGeom prst="rect">
            <a:avLst/>
          </a:prstGeom>
          <a:noFill/>
          <a:ln/>
        </p:spPr>
        <p:txBody>
          <a:bodyPr wrap="square" lIns="0" tIns="0" rIns="0" bIns="0" rtlCol="0" anchor="ctr">
            <a:normAutofit/>
          </a:bodyPr>
          <a:lstStyle/>
          <a:p>
            <a:pPr marL="0" indent="0">
              <a:buNone/>
            </a:pPr>
            <a:r>
              <a:rPr sz="1050" dirty="0">
                <a:solidFill>
                  <a:srgbClr val="232A31"/>
                </a:solidFill>
                <a:latin typeface="Segoe UI"/>
              </a:rPr>
              <a:t>The issue is not simply more data. The decision gap is caused by identity inconsistency, temporal gaps, weak signal linkage, manual impact propagation, and delayed risk visibility across logistics entities.</a:t>
            </a:r>
          </a:p>
        </p:txBody>
      </p:sp>
      <p:sp>
        <p:nvSpPr>
          <p:cNvPr id="16" name="Rounded Rectangle 7">
            <a:extLst>
              <a:ext uri="{FF2B5EF4-FFF2-40B4-BE49-F238E27FC236}">
                <a16:creationId xmlns:a16="http://schemas.microsoft.com/office/drawing/2014/main" id="{82A66F15-8F86-581C-23DB-0B8E243CF152}"/>
              </a:ext>
            </a:extLst>
          </p:cNvPr>
          <p:cNvSpPr/>
          <p:nvPr/>
        </p:nvSpPr>
        <p:spPr>
          <a:xfrm>
            <a:off x="719208" y="4271298"/>
            <a:ext cx="2505456" cy="1353312"/>
          </a:xfrm>
          <a:prstGeom prst="roundRect">
            <a:avLst/>
          </a:prstGeom>
          <a:solidFill>
            <a:srgbClr val="F1F6FB"/>
          </a:solidFill>
          <a:ln w="15875" cap="flat" cmpd="sng" algn="ctr">
            <a:solidFill>
              <a:srgbClr val="C5D3E2"/>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150" b="0" i="0" u="none" strike="noStrike" kern="0" cap="none" spc="0" normalizeH="0" baseline="0" noProof="0">
              <a:ln>
                <a:noFill/>
              </a:ln>
              <a:solidFill>
                <a:prstClr val="white"/>
              </a:solidFill>
              <a:effectLst/>
              <a:uLnTx/>
              <a:uFillTx/>
              <a:ea typeface="+mn-ea"/>
              <a:cs typeface="+mn-cs"/>
            </a:endParaRPr>
          </a:p>
        </p:txBody>
      </p:sp>
      <p:grpSp>
        <p:nvGrpSpPr>
          <p:cNvPr id="17" name="Group 16">
            <a:extLst>
              <a:ext uri="{FF2B5EF4-FFF2-40B4-BE49-F238E27FC236}">
                <a16:creationId xmlns:a16="http://schemas.microsoft.com/office/drawing/2014/main" id="{E35028BD-190C-1B56-8B10-86D2DB3E79A5}"/>
              </a:ext>
            </a:extLst>
          </p:cNvPr>
          <p:cNvGrpSpPr/>
          <p:nvPr/>
        </p:nvGrpSpPr>
        <p:grpSpPr>
          <a:xfrm>
            <a:off x="883799" y="4401598"/>
            <a:ext cx="329184" cy="329184"/>
            <a:chOff x="576071" y="3847683"/>
            <a:chExt cx="329184" cy="329184"/>
          </a:xfrm>
        </p:grpSpPr>
        <p:sp>
          <p:nvSpPr>
            <p:cNvPr id="18" name="Oval 17">
              <a:extLst>
                <a:ext uri="{FF2B5EF4-FFF2-40B4-BE49-F238E27FC236}">
                  <a16:creationId xmlns:a16="http://schemas.microsoft.com/office/drawing/2014/main" id="{2B231423-BE81-679C-A500-4BC1DD9CA0D6}"/>
                </a:ext>
              </a:extLst>
            </p:cNvPr>
            <p:cNvSpPr/>
            <p:nvPr/>
          </p:nvSpPr>
          <p:spPr>
            <a:xfrm>
              <a:off x="576071" y="3847683"/>
              <a:ext cx="329184" cy="329184"/>
            </a:xfrm>
            <a:prstGeom prst="ellipse">
              <a:avLst/>
            </a:prstGeom>
            <a:solidFill>
              <a:srgbClr val="1F60AD"/>
            </a:solidFill>
            <a:ln w="9525" cap="flat" cmpd="sng" algn="ctr">
              <a:solidFill>
                <a:srgbClr val="1F60AD"/>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150" b="0" i="0" u="none" strike="noStrike" kern="0" cap="none" spc="0" normalizeH="0" baseline="0" noProof="0">
                <a:ln>
                  <a:noFill/>
                </a:ln>
                <a:solidFill>
                  <a:prstClr val="white"/>
                </a:solidFill>
                <a:effectLst/>
                <a:uLnTx/>
                <a:uFillTx/>
                <a:ea typeface="+mn-ea"/>
                <a:cs typeface="+mn-cs"/>
              </a:endParaRPr>
            </a:p>
          </p:txBody>
        </p:sp>
        <p:sp>
          <p:nvSpPr>
            <p:cNvPr id="19" name="TextBox 18">
              <a:extLst>
                <a:ext uri="{FF2B5EF4-FFF2-40B4-BE49-F238E27FC236}">
                  <a16:creationId xmlns:a16="http://schemas.microsoft.com/office/drawing/2014/main" id="{FC9DEBE7-A62D-7CEE-DA11-90FE894CB914}"/>
                </a:ext>
              </a:extLst>
            </p:cNvPr>
            <p:cNvSpPr txBox="1"/>
            <p:nvPr/>
          </p:nvSpPr>
          <p:spPr>
            <a:xfrm>
              <a:off x="607453" y="3883382"/>
              <a:ext cx="266420" cy="276999"/>
            </a:xfrm>
            <a:prstGeom prst="rect">
              <a:avLst/>
            </a:prstGeom>
            <a:noFill/>
          </p:spPr>
          <p:txBody>
            <a:bodyPr wrap="none">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sz="1150" b="1" i="0" u="none" strike="noStrike" kern="0" cap="none" spc="0" normalizeH="0" baseline="0" noProof="0" dirty="0">
                  <a:ln>
                    <a:noFill/>
                  </a:ln>
                  <a:solidFill>
                    <a:srgbClr val="FFFFFF"/>
                  </a:solidFill>
                  <a:effectLst/>
                  <a:uLnTx/>
                  <a:uFillTx/>
                  <a:latin typeface="Segoe UI"/>
                </a:rPr>
                <a:t>1</a:t>
              </a:r>
            </a:p>
          </p:txBody>
        </p:sp>
      </p:grpSp>
      <p:sp>
        <p:nvSpPr>
          <p:cNvPr id="20" name="TextBox 19">
            <a:extLst>
              <a:ext uri="{FF2B5EF4-FFF2-40B4-BE49-F238E27FC236}">
                <a16:creationId xmlns:a16="http://schemas.microsoft.com/office/drawing/2014/main" id="{FF3F1670-83C4-D1AB-0309-342DCE6F9F9E}"/>
              </a:ext>
            </a:extLst>
          </p:cNvPr>
          <p:cNvSpPr txBox="1"/>
          <p:nvPr/>
        </p:nvSpPr>
        <p:spPr>
          <a:xfrm>
            <a:off x="1182772" y="4434693"/>
            <a:ext cx="1973237" cy="276999"/>
          </a:xfrm>
          <a:prstGeom prst="rect">
            <a:avLst/>
          </a:prstGeom>
          <a:noFill/>
        </p:spPr>
        <p:txBody>
          <a:bodyPr wrap="square">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sz="1200" b="1" dirty="0">
                <a:solidFill>
                  <a:srgbClr val="072645"/>
                </a:solidFill>
                <a:latin typeface="Segoe UI"/>
              </a:rPr>
              <a:t>Identity inconsistency</a:t>
            </a:r>
          </a:p>
        </p:txBody>
      </p:sp>
      <p:sp>
        <p:nvSpPr>
          <p:cNvPr id="21" name="TextBox 20">
            <a:extLst>
              <a:ext uri="{FF2B5EF4-FFF2-40B4-BE49-F238E27FC236}">
                <a16:creationId xmlns:a16="http://schemas.microsoft.com/office/drawing/2014/main" id="{09388C68-C772-1864-C9E7-B2661B747C50}"/>
              </a:ext>
            </a:extLst>
          </p:cNvPr>
          <p:cNvSpPr txBox="1"/>
          <p:nvPr/>
        </p:nvSpPr>
        <p:spPr>
          <a:xfrm>
            <a:off x="956950" y="4825914"/>
            <a:ext cx="2186471" cy="707886"/>
          </a:xfrm>
          <a:prstGeom prst="rect">
            <a:avLst/>
          </a:prstGeom>
          <a:noFill/>
        </p:spPr>
        <p:txBody>
          <a:bodyPr wrap="square">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sz="1000" dirty="0">
                <a:solidFill>
                  <a:srgbClr val="232A31"/>
                </a:solidFill>
                <a:latin typeface="Segoe UI"/>
              </a:rPr>
              <a:t>The same NSN, supplier, or depot can appear differently across systems, making a unified decision view harder to trust.</a:t>
            </a:r>
          </a:p>
        </p:txBody>
      </p:sp>
      <p:sp>
        <p:nvSpPr>
          <p:cNvPr id="22" name="Rounded Rectangle 12">
            <a:extLst>
              <a:ext uri="{FF2B5EF4-FFF2-40B4-BE49-F238E27FC236}">
                <a16:creationId xmlns:a16="http://schemas.microsoft.com/office/drawing/2014/main" id="{B84BE562-9B76-395D-4A88-E295DDFCB6DB}"/>
              </a:ext>
            </a:extLst>
          </p:cNvPr>
          <p:cNvSpPr/>
          <p:nvPr/>
        </p:nvSpPr>
        <p:spPr>
          <a:xfrm>
            <a:off x="3399455" y="4264971"/>
            <a:ext cx="2505456" cy="1353312"/>
          </a:xfrm>
          <a:prstGeom prst="roundRect">
            <a:avLst/>
          </a:prstGeom>
          <a:solidFill>
            <a:srgbClr val="F1F6FB"/>
          </a:solidFill>
          <a:ln w="15875" cap="flat" cmpd="sng" algn="ctr">
            <a:solidFill>
              <a:srgbClr val="C5D3E2"/>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150" b="0" i="0" u="none" strike="noStrike" kern="0" cap="none" spc="0" normalizeH="0" baseline="0" noProof="0">
              <a:ln>
                <a:noFill/>
              </a:ln>
              <a:solidFill>
                <a:prstClr val="white"/>
              </a:solidFill>
              <a:effectLst/>
              <a:uLnTx/>
              <a:uFillTx/>
              <a:ea typeface="+mn-ea"/>
              <a:cs typeface="+mn-cs"/>
            </a:endParaRPr>
          </a:p>
        </p:txBody>
      </p:sp>
      <p:grpSp>
        <p:nvGrpSpPr>
          <p:cNvPr id="23" name="Group 22">
            <a:extLst>
              <a:ext uri="{FF2B5EF4-FFF2-40B4-BE49-F238E27FC236}">
                <a16:creationId xmlns:a16="http://schemas.microsoft.com/office/drawing/2014/main" id="{BBC19D51-922A-0B55-294C-A967385AB8E9}"/>
              </a:ext>
            </a:extLst>
          </p:cNvPr>
          <p:cNvGrpSpPr/>
          <p:nvPr/>
        </p:nvGrpSpPr>
        <p:grpSpPr>
          <a:xfrm>
            <a:off x="3564046" y="4429562"/>
            <a:ext cx="329184" cy="329184"/>
            <a:chOff x="9345167" y="1426463"/>
            <a:chExt cx="329184" cy="329184"/>
          </a:xfrm>
        </p:grpSpPr>
        <p:sp>
          <p:nvSpPr>
            <p:cNvPr id="24" name="Oval 23">
              <a:extLst>
                <a:ext uri="{FF2B5EF4-FFF2-40B4-BE49-F238E27FC236}">
                  <a16:creationId xmlns:a16="http://schemas.microsoft.com/office/drawing/2014/main" id="{23797309-E1AC-BA49-69C6-4EE65A483591}"/>
                </a:ext>
              </a:extLst>
            </p:cNvPr>
            <p:cNvSpPr/>
            <p:nvPr/>
          </p:nvSpPr>
          <p:spPr>
            <a:xfrm>
              <a:off x="9345167" y="1426463"/>
              <a:ext cx="329184" cy="329184"/>
            </a:xfrm>
            <a:prstGeom prst="ellipse">
              <a:avLst/>
            </a:prstGeom>
            <a:solidFill>
              <a:srgbClr val="1F60AD"/>
            </a:solidFill>
            <a:ln w="9525" cap="flat" cmpd="sng" algn="ctr">
              <a:solidFill>
                <a:srgbClr val="1F60AD"/>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150" b="0" i="0" u="none" strike="noStrike" kern="0" cap="none" spc="0" normalizeH="0" baseline="0" noProof="0">
                <a:ln>
                  <a:noFill/>
                </a:ln>
                <a:solidFill>
                  <a:prstClr val="white"/>
                </a:solidFill>
                <a:effectLst/>
                <a:uLnTx/>
                <a:uFillTx/>
                <a:ea typeface="+mn-ea"/>
                <a:cs typeface="+mn-cs"/>
              </a:endParaRPr>
            </a:p>
          </p:txBody>
        </p:sp>
        <p:sp>
          <p:nvSpPr>
            <p:cNvPr id="25" name="TextBox 24">
              <a:extLst>
                <a:ext uri="{FF2B5EF4-FFF2-40B4-BE49-F238E27FC236}">
                  <a16:creationId xmlns:a16="http://schemas.microsoft.com/office/drawing/2014/main" id="{79360AB6-97A5-AA96-D619-86B6392BB7E6}"/>
                </a:ext>
              </a:extLst>
            </p:cNvPr>
            <p:cNvSpPr txBox="1"/>
            <p:nvPr/>
          </p:nvSpPr>
          <p:spPr>
            <a:xfrm>
              <a:off x="9376549" y="1455419"/>
              <a:ext cx="266420" cy="276999"/>
            </a:xfrm>
            <a:prstGeom prst="rect">
              <a:avLst/>
            </a:prstGeom>
            <a:noFill/>
          </p:spPr>
          <p:txBody>
            <a:bodyPr wrap="none">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sz="1150" b="1" i="0" u="none" strike="noStrike" kern="0" cap="none" spc="0" normalizeH="0" baseline="0" noProof="0" dirty="0">
                  <a:ln>
                    <a:noFill/>
                  </a:ln>
                  <a:solidFill>
                    <a:srgbClr val="FFFFFF"/>
                  </a:solidFill>
                  <a:effectLst/>
                  <a:uLnTx/>
                  <a:uFillTx/>
                  <a:latin typeface="Segoe UI"/>
                </a:rPr>
                <a:t>2</a:t>
              </a:r>
            </a:p>
          </p:txBody>
        </p:sp>
      </p:grpSp>
      <p:sp>
        <p:nvSpPr>
          <p:cNvPr id="26" name="TextBox 25">
            <a:extLst>
              <a:ext uri="{FF2B5EF4-FFF2-40B4-BE49-F238E27FC236}">
                <a16:creationId xmlns:a16="http://schemas.microsoft.com/office/drawing/2014/main" id="{6C8B2D80-82CC-997B-EA49-ED352B9302B2}"/>
              </a:ext>
            </a:extLst>
          </p:cNvPr>
          <p:cNvSpPr txBox="1"/>
          <p:nvPr/>
        </p:nvSpPr>
        <p:spPr>
          <a:xfrm>
            <a:off x="3863018" y="4434693"/>
            <a:ext cx="1973237" cy="276999"/>
          </a:xfrm>
          <a:prstGeom prst="rect">
            <a:avLst/>
          </a:prstGeom>
          <a:noFill/>
        </p:spPr>
        <p:txBody>
          <a:bodyPr wrap="square">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sz="1200" b="1">
                <a:solidFill>
                  <a:srgbClr val="072645"/>
                </a:solidFill>
                <a:latin typeface="Segoe UI"/>
              </a:rPr>
              <a:t>Temporal gaps</a:t>
            </a:r>
          </a:p>
        </p:txBody>
      </p:sp>
      <p:sp>
        <p:nvSpPr>
          <p:cNvPr id="27" name="TextBox 26">
            <a:extLst>
              <a:ext uri="{FF2B5EF4-FFF2-40B4-BE49-F238E27FC236}">
                <a16:creationId xmlns:a16="http://schemas.microsoft.com/office/drawing/2014/main" id="{F789D64C-6ECB-2CAF-3489-B14E9F6EC6F7}"/>
              </a:ext>
            </a:extLst>
          </p:cNvPr>
          <p:cNvSpPr txBox="1"/>
          <p:nvPr/>
        </p:nvSpPr>
        <p:spPr>
          <a:xfrm>
            <a:off x="3637198" y="4854755"/>
            <a:ext cx="2112264" cy="553998"/>
          </a:xfrm>
          <a:prstGeom prst="rect">
            <a:avLst/>
          </a:prstGeom>
          <a:noFill/>
        </p:spPr>
        <p:txBody>
          <a:bodyPr wrap="square">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sz="1000">
                <a:solidFill>
                  <a:srgbClr val="232A31"/>
                </a:solidFill>
                <a:latin typeface="Segoe UI"/>
              </a:rPr>
              <a:t>Point-in-time snapshots show what changed, but not how related risk is moving over time.</a:t>
            </a:r>
          </a:p>
        </p:txBody>
      </p:sp>
      <p:sp>
        <p:nvSpPr>
          <p:cNvPr id="28" name="Rounded Rectangle 17">
            <a:extLst>
              <a:ext uri="{FF2B5EF4-FFF2-40B4-BE49-F238E27FC236}">
                <a16:creationId xmlns:a16="http://schemas.microsoft.com/office/drawing/2014/main" id="{E577406A-FC0F-332F-1C36-6EF8F3B36627}"/>
              </a:ext>
            </a:extLst>
          </p:cNvPr>
          <p:cNvSpPr/>
          <p:nvPr/>
        </p:nvSpPr>
        <p:spPr>
          <a:xfrm>
            <a:off x="6146527" y="4259698"/>
            <a:ext cx="2505456" cy="1353312"/>
          </a:xfrm>
          <a:prstGeom prst="roundRect">
            <a:avLst/>
          </a:prstGeom>
          <a:solidFill>
            <a:srgbClr val="F1F6FB"/>
          </a:solidFill>
          <a:ln w="15875" cap="flat" cmpd="sng" algn="ctr">
            <a:solidFill>
              <a:srgbClr val="C5D3E2"/>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150" b="0" i="0" u="none" strike="noStrike" kern="0" cap="none" spc="0" normalizeH="0" baseline="0" noProof="0">
              <a:ln>
                <a:noFill/>
              </a:ln>
              <a:solidFill>
                <a:prstClr val="white"/>
              </a:solidFill>
              <a:effectLst/>
              <a:uLnTx/>
              <a:uFillTx/>
              <a:ea typeface="+mn-ea"/>
              <a:cs typeface="+mn-cs"/>
            </a:endParaRPr>
          </a:p>
        </p:txBody>
      </p:sp>
      <p:grpSp>
        <p:nvGrpSpPr>
          <p:cNvPr id="29" name="Group 28">
            <a:extLst>
              <a:ext uri="{FF2B5EF4-FFF2-40B4-BE49-F238E27FC236}">
                <a16:creationId xmlns:a16="http://schemas.microsoft.com/office/drawing/2014/main" id="{893B2E1E-CE8B-906B-A53A-0DA6DB4AE4D3}"/>
              </a:ext>
            </a:extLst>
          </p:cNvPr>
          <p:cNvGrpSpPr/>
          <p:nvPr/>
        </p:nvGrpSpPr>
        <p:grpSpPr>
          <a:xfrm>
            <a:off x="6311118" y="4424290"/>
            <a:ext cx="329184" cy="329184"/>
            <a:chOff x="6583679" y="3017520"/>
            <a:chExt cx="329184" cy="329184"/>
          </a:xfrm>
        </p:grpSpPr>
        <p:sp>
          <p:nvSpPr>
            <p:cNvPr id="30" name="Oval 29">
              <a:extLst>
                <a:ext uri="{FF2B5EF4-FFF2-40B4-BE49-F238E27FC236}">
                  <a16:creationId xmlns:a16="http://schemas.microsoft.com/office/drawing/2014/main" id="{C596CDE6-9E28-2540-F2AA-78B52400B27D}"/>
                </a:ext>
              </a:extLst>
            </p:cNvPr>
            <p:cNvSpPr/>
            <p:nvPr/>
          </p:nvSpPr>
          <p:spPr>
            <a:xfrm>
              <a:off x="6583679" y="3017520"/>
              <a:ext cx="329184" cy="329184"/>
            </a:xfrm>
            <a:prstGeom prst="ellipse">
              <a:avLst/>
            </a:prstGeom>
            <a:solidFill>
              <a:srgbClr val="118484"/>
            </a:solidFill>
            <a:ln w="9525" cap="flat" cmpd="sng" algn="ctr">
              <a:solidFill>
                <a:srgbClr val="118484"/>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150" b="0" i="0" u="none" strike="noStrike" kern="0" cap="none" spc="0" normalizeH="0" baseline="0" noProof="0">
                <a:ln>
                  <a:noFill/>
                </a:ln>
                <a:solidFill>
                  <a:prstClr val="white"/>
                </a:solidFill>
                <a:effectLst/>
                <a:uLnTx/>
                <a:uFillTx/>
                <a:ea typeface="+mn-ea"/>
                <a:cs typeface="+mn-cs"/>
              </a:endParaRPr>
            </a:p>
          </p:txBody>
        </p:sp>
        <p:sp>
          <p:nvSpPr>
            <p:cNvPr id="31" name="TextBox 30">
              <a:extLst>
                <a:ext uri="{FF2B5EF4-FFF2-40B4-BE49-F238E27FC236}">
                  <a16:creationId xmlns:a16="http://schemas.microsoft.com/office/drawing/2014/main" id="{3D8F997F-F0E1-A57E-7257-6FD3AA848F5B}"/>
                </a:ext>
              </a:extLst>
            </p:cNvPr>
            <p:cNvSpPr txBox="1"/>
            <p:nvPr/>
          </p:nvSpPr>
          <p:spPr>
            <a:xfrm>
              <a:off x="6615061" y="3046476"/>
              <a:ext cx="266420" cy="276999"/>
            </a:xfrm>
            <a:prstGeom prst="rect">
              <a:avLst/>
            </a:prstGeom>
            <a:noFill/>
          </p:spPr>
          <p:txBody>
            <a:bodyPr wrap="none">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sz="1150" b="1" i="0" u="none" strike="noStrike" kern="0" cap="none" spc="0" normalizeH="0" baseline="0" noProof="0" dirty="0">
                  <a:ln>
                    <a:noFill/>
                  </a:ln>
                  <a:solidFill>
                    <a:srgbClr val="FFFFFF"/>
                  </a:solidFill>
                  <a:effectLst/>
                  <a:uLnTx/>
                  <a:uFillTx/>
                  <a:latin typeface="Segoe UI"/>
                </a:rPr>
                <a:t>3</a:t>
              </a:r>
            </a:p>
          </p:txBody>
        </p:sp>
      </p:grpSp>
      <p:sp>
        <p:nvSpPr>
          <p:cNvPr id="32" name="TextBox 31">
            <a:extLst>
              <a:ext uri="{FF2B5EF4-FFF2-40B4-BE49-F238E27FC236}">
                <a16:creationId xmlns:a16="http://schemas.microsoft.com/office/drawing/2014/main" id="{2E935EC1-6B99-7B10-6E44-7F5F6F31E6A5}"/>
              </a:ext>
            </a:extLst>
          </p:cNvPr>
          <p:cNvSpPr txBox="1"/>
          <p:nvPr/>
        </p:nvSpPr>
        <p:spPr>
          <a:xfrm>
            <a:off x="6610091" y="4434693"/>
            <a:ext cx="1973237" cy="276999"/>
          </a:xfrm>
          <a:prstGeom prst="rect">
            <a:avLst/>
          </a:prstGeom>
          <a:noFill/>
        </p:spPr>
        <p:txBody>
          <a:bodyPr wrap="square">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sz="1200" b="1">
                <a:solidFill>
                  <a:srgbClr val="072645"/>
                </a:solidFill>
                <a:latin typeface="Segoe UI"/>
              </a:rPr>
              <a:t>No connected context</a:t>
            </a:r>
          </a:p>
        </p:txBody>
      </p:sp>
      <p:sp>
        <p:nvSpPr>
          <p:cNvPr id="33" name="TextBox 32">
            <a:extLst>
              <a:ext uri="{FF2B5EF4-FFF2-40B4-BE49-F238E27FC236}">
                <a16:creationId xmlns:a16="http://schemas.microsoft.com/office/drawing/2014/main" id="{3096DCA3-FABC-FEE0-9182-36108B4E1EBD}"/>
              </a:ext>
            </a:extLst>
          </p:cNvPr>
          <p:cNvSpPr txBox="1"/>
          <p:nvPr/>
        </p:nvSpPr>
        <p:spPr>
          <a:xfrm>
            <a:off x="6384270" y="4782807"/>
            <a:ext cx="2188230" cy="707886"/>
          </a:xfrm>
          <a:prstGeom prst="rect">
            <a:avLst/>
          </a:prstGeom>
          <a:noFill/>
        </p:spPr>
        <p:txBody>
          <a:bodyPr wrap="square">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sz="1000">
                <a:solidFill>
                  <a:srgbClr val="232A31"/>
                </a:solidFill>
                <a:latin typeface="Segoe UI"/>
              </a:rPr>
              <a:t>Demand, supplier, lead-time, route, and stockout signals can remain separated until analysts connect them manually.</a:t>
            </a:r>
          </a:p>
        </p:txBody>
      </p:sp>
      <p:sp>
        <p:nvSpPr>
          <p:cNvPr id="34" name="Rounded Rectangle 22">
            <a:extLst>
              <a:ext uri="{FF2B5EF4-FFF2-40B4-BE49-F238E27FC236}">
                <a16:creationId xmlns:a16="http://schemas.microsoft.com/office/drawing/2014/main" id="{7D0BB69D-A3D3-9FF0-218B-6CE876CF2BB9}"/>
              </a:ext>
            </a:extLst>
          </p:cNvPr>
          <p:cNvSpPr/>
          <p:nvPr/>
        </p:nvSpPr>
        <p:spPr>
          <a:xfrm>
            <a:off x="8908015" y="4259698"/>
            <a:ext cx="2505456" cy="1353312"/>
          </a:xfrm>
          <a:prstGeom prst="roundRect">
            <a:avLst/>
          </a:prstGeom>
          <a:solidFill>
            <a:srgbClr val="F1F6FB"/>
          </a:solidFill>
          <a:ln w="15875" cap="flat" cmpd="sng" algn="ctr">
            <a:solidFill>
              <a:srgbClr val="C5D3E2"/>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150" b="0" i="0" u="none" strike="noStrike" kern="0" cap="none" spc="0" normalizeH="0" baseline="0" noProof="0">
              <a:ln>
                <a:noFill/>
              </a:ln>
              <a:solidFill>
                <a:prstClr val="white"/>
              </a:solidFill>
              <a:effectLst/>
              <a:uLnTx/>
              <a:uFillTx/>
              <a:ea typeface="+mn-ea"/>
              <a:cs typeface="+mn-cs"/>
            </a:endParaRPr>
          </a:p>
        </p:txBody>
      </p:sp>
      <p:grpSp>
        <p:nvGrpSpPr>
          <p:cNvPr id="35" name="Group 34">
            <a:extLst>
              <a:ext uri="{FF2B5EF4-FFF2-40B4-BE49-F238E27FC236}">
                <a16:creationId xmlns:a16="http://schemas.microsoft.com/office/drawing/2014/main" id="{AB73949F-43D0-C57C-5609-B90E61F9B79F}"/>
              </a:ext>
            </a:extLst>
          </p:cNvPr>
          <p:cNvGrpSpPr/>
          <p:nvPr/>
        </p:nvGrpSpPr>
        <p:grpSpPr>
          <a:xfrm>
            <a:off x="9072606" y="4424290"/>
            <a:ext cx="329184" cy="329184"/>
            <a:chOff x="9345167" y="3017520"/>
            <a:chExt cx="329184" cy="329184"/>
          </a:xfrm>
        </p:grpSpPr>
        <p:sp>
          <p:nvSpPr>
            <p:cNvPr id="36" name="Oval 35">
              <a:extLst>
                <a:ext uri="{FF2B5EF4-FFF2-40B4-BE49-F238E27FC236}">
                  <a16:creationId xmlns:a16="http://schemas.microsoft.com/office/drawing/2014/main" id="{5D47E38B-B28C-2626-3432-B3EECE662EEC}"/>
                </a:ext>
              </a:extLst>
            </p:cNvPr>
            <p:cNvSpPr/>
            <p:nvPr/>
          </p:nvSpPr>
          <p:spPr>
            <a:xfrm>
              <a:off x="9345167" y="3017520"/>
              <a:ext cx="329184" cy="329184"/>
            </a:xfrm>
            <a:prstGeom prst="ellipse">
              <a:avLst/>
            </a:prstGeom>
            <a:solidFill>
              <a:srgbClr val="E67E22"/>
            </a:solidFill>
            <a:ln w="9525" cap="flat" cmpd="sng" algn="ctr">
              <a:solidFill>
                <a:srgbClr val="E67E22"/>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150" b="0" i="0" u="none" strike="noStrike" kern="0" cap="none" spc="0" normalizeH="0" baseline="0" noProof="0">
                <a:ln>
                  <a:noFill/>
                </a:ln>
                <a:solidFill>
                  <a:prstClr val="white"/>
                </a:solidFill>
                <a:effectLst/>
                <a:uLnTx/>
                <a:uFillTx/>
                <a:ea typeface="+mn-ea"/>
                <a:cs typeface="+mn-cs"/>
              </a:endParaRPr>
            </a:p>
          </p:txBody>
        </p:sp>
        <p:sp>
          <p:nvSpPr>
            <p:cNvPr id="37" name="TextBox 36">
              <a:extLst>
                <a:ext uri="{FF2B5EF4-FFF2-40B4-BE49-F238E27FC236}">
                  <a16:creationId xmlns:a16="http://schemas.microsoft.com/office/drawing/2014/main" id="{66A0D165-DBC1-3E9A-6244-5DFC3955064F}"/>
                </a:ext>
              </a:extLst>
            </p:cNvPr>
            <p:cNvSpPr txBox="1"/>
            <p:nvPr/>
          </p:nvSpPr>
          <p:spPr>
            <a:xfrm>
              <a:off x="9376549" y="3046476"/>
              <a:ext cx="266420" cy="276999"/>
            </a:xfrm>
            <a:prstGeom prst="rect">
              <a:avLst/>
            </a:prstGeom>
            <a:noFill/>
          </p:spPr>
          <p:txBody>
            <a:bodyPr wrap="none">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sz="1150" b="1" i="0" u="none" strike="noStrike" kern="0" cap="none" spc="0" normalizeH="0" baseline="0" noProof="0" dirty="0">
                  <a:ln>
                    <a:noFill/>
                  </a:ln>
                  <a:solidFill>
                    <a:srgbClr val="FFFFFF"/>
                  </a:solidFill>
                  <a:effectLst/>
                  <a:uLnTx/>
                  <a:uFillTx/>
                  <a:latin typeface="Segoe UI"/>
                </a:rPr>
                <a:t>4</a:t>
              </a:r>
            </a:p>
          </p:txBody>
        </p:sp>
      </p:grpSp>
      <p:sp>
        <p:nvSpPr>
          <p:cNvPr id="38" name="TextBox 37">
            <a:extLst>
              <a:ext uri="{FF2B5EF4-FFF2-40B4-BE49-F238E27FC236}">
                <a16:creationId xmlns:a16="http://schemas.microsoft.com/office/drawing/2014/main" id="{25D184D7-A0FB-24F5-8048-481891AAF570}"/>
              </a:ext>
            </a:extLst>
          </p:cNvPr>
          <p:cNvSpPr txBox="1"/>
          <p:nvPr/>
        </p:nvSpPr>
        <p:spPr>
          <a:xfrm>
            <a:off x="9371578" y="4434693"/>
            <a:ext cx="1973237" cy="461665"/>
          </a:xfrm>
          <a:prstGeom prst="rect">
            <a:avLst/>
          </a:prstGeom>
          <a:noFill/>
        </p:spPr>
        <p:txBody>
          <a:bodyPr wrap="square">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sz="1200" b="1">
                <a:solidFill>
                  <a:srgbClr val="072645"/>
                </a:solidFill>
                <a:latin typeface="Segoe UI"/>
              </a:rPr>
              <a:t>Reactive decision posture</a:t>
            </a:r>
          </a:p>
        </p:txBody>
      </p:sp>
      <p:sp>
        <p:nvSpPr>
          <p:cNvPr id="39" name="TextBox 38">
            <a:extLst>
              <a:ext uri="{FF2B5EF4-FFF2-40B4-BE49-F238E27FC236}">
                <a16:creationId xmlns:a16="http://schemas.microsoft.com/office/drawing/2014/main" id="{37D54A9A-A415-4404-89D6-131AC47BE602}"/>
              </a:ext>
            </a:extLst>
          </p:cNvPr>
          <p:cNvSpPr txBox="1"/>
          <p:nvPr/>
        </p:nvSpPr>
        <p:spPr>
          <a:xfrm>
            <a:off x="9145758" y="4811382"/>
            <a:ext cx="2112264" cy="707886"/>
          </a:xfrm>
          <a:prstGeom prst="rect">
            <a:avLst/>
          </a:prstGeom>
          <a:noFill/>
        </p:spPr>
        <p:txBody>
          <a:bodyPr wrap="square">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sz="1000">
                <a:solidFill>
                  <a:srgbClr val="232A31"/>
                </a:solidFill>
                <a:latin typeface="Segoe UI"/>
              </a:rPr>
              <a:t>Leaders may see supplier, stockout, or maintenance risk only after the best mitigation window has narrowed.</a:t>
            </a:r>
          </a:p>
        </p:txBody>
      </p:sp>
      <p:pic>
        <p:nvPicPr>
          <p:cNvPr id="4" name="Picture 3">
            <a:extLst>
              <a:ext uri="{FF2B5EF4-FFF2-40B4-BE49-F238E27FC236}">
                <a16:creationId xmlns:a16="http://schemas.microsoft.com/office/drawing/2014/main" id="{B45F98C2-4778-C6EB-CA49-559FF380A479}"/>
              </a:ext>
            </a:extLst>
          </p:cNvPr>
          <p:cNvPicPr>
            <a:picLocks noChangeAspect="1"/>
          </p:cNvPicPr>
          <p:nvPr/>
        </p:nvPicPr>
        <p:blipFill>
          <a:blip r:embed="rId3">
            <a:extLst>
              <a:ext uri="{28A0092B-C50C-407E-A947-70E740481C1C}">
                <a14:useLocalDpi xmlns:a14="http://schemas.microsoft.com/office/drawing/2010/main" val="0"/>
              </a:ext>
            </a:extLst>
          </a:blip>
          <a:srcRect l="2109" t="15201" r="2415" b="22179"/>
          <a:stretch>
            <a:fillRect/>
          </a:stretch>
        </p:blipFill>
        <p:spPr>
          <a:xfrm>
            <a:off x="2400871" y="1137578"/>
            <a:ext cx="6994017" cy="3058111"/>
          </a:xfrm>
          <a:prstGeom prst="rect">
            <a:avLst/>
          </a:prstGeom>
        </p:spPr>
      </p:pic>
      <p:sp>
        <p:nvSpPr>
          <p:cNvPr id="10" name="Text 4">
            <a:extLst>
              <a:ext uri="{FF2B5EF4-FFF2-40B4-BE49-F238E27FC236}">
                <a16:creationId xmlns:a16="http://schemas.microsoft.com/office/drawing/2014/main" id="{64D00E75-C293-3606-E8E6-09502BE299A0}"/>
              </a:ext>
            </a:extLst>
          </p:cNvPr>
          <p:cNvSpPr/>
          <p:nvPr/>
        </p:nvSpPr>
        <p:spPr>
          <a:xfrm>
            <a:off x="438912" y="6510528"/>
            <a:ext cx="80467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CONFIDENTIAL  |  22</a:t>
            </a:r>
            <a:r>
              <a:rPr kumimoji="0" lang="en-US" sz="800" b="0" i="0" u="none" strike="noStrike" kern="1200" cap="none" spc="0" normalizeH="0" baseline="30000" noProof="0" dirty="0">
                <a:ln>
                  <a:noFill/>
                </a:ln>
                <a:solidFill>
                  <a:srgbClr val="5B6470"/>
                </a:solidFill>
                <a:effectLst/>
                <a:uLnTx/>
                <a:uFillTx/>
                <a:latin typeface="Segoe UI"/>
                <a:ea typeface="Aptos" pitchFamily="34" charset="-122"/>
                <a:cs typeface="Aptos" pitchFamily="34" charset="-120"/>
              </a:rPr>
              <a:t>nd</a:t>
            </a: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 Century Technologies  |  DLA EDM Vector Intelligence</a:t>
            </a:r>
            <a:endParaRPr kumimoji="0" lang="en-US" sz="800" b="0" i="0" u="none" strike="noStrike" kern="1200" cap="none" spc="0" normalizeH="0" baseline="0" noProof="0" dirty="0">
              <a:ln>
                <a:noFill/>
              </a:ln>
              <a:solidFill>
                <a:prstClr val="black"/>
              </a:solidFill>
              <a:effectLst/>
              <a:uLnTx/>
              <a:uFillTx/>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7556"/>
            <a:ext cx="9692640" cy="411480"/>
          </a:xfrm>
          <a:prstGeom prst="rect">
            <a:avLst/>
          </a:prstGeom>
          <a:noFill/>
          <a:ln/>
        </p:spPr>
        <p:txBody>
          <a:bodyPr wrap="square" lIns="254" tIns="254" rIns="254" bIns="254"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02A4C"/>
                </a:solidFill>
                <a:effectLst/>
                <a:uLnTx/>
                <a:uFillTx/>
                <a:latin typeface="Segoe UI" pitchFamily="34" charset="0"/>
                <a:ea typeface="Aptos Display" pitchFamily="34" charset="-122"/>
                <a:cs typeface="Aptos Display" pitchFamily="34" charset="-120"/>
              </a:rPr>
              <a:t>Why legacy analytics falls short</a:t>
            </a:r>
            <a:endParaRPr kumimoji="0" lang="en-US" sz="240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Text 2"/>
          <p:cNvSpPr/>
          <p:nvPr/>
        </p:nvSpPr>
        <p:spPr>
          <a:xfrm>
            <a:off x="521208" y="719624"/>
            <a:ext cx="10652760" cy="313648"/>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Legacy forecasting is a useful baseline, but DLA decisions depend on uncertainty, drift, and cross-entity behavior that isolated models do not fully represent.</a:t>
            </a:r>
          </a:p>
        </p:txBody>
      </p:sp>
      <p:sp>
        <p:nvSpPr>
          <p:cNvPr id="5" name="Shape 3"/>
          <p:cNvSpPr/>
          <p:nvPr/>
        </p:nvSpPr>
        <p:spPr>
          <a:xfrm>
            <a:off x="502920" y="1097280"/>
            <a:ext cx="11155680" cy="0"/>
          </a:xfrm>
          <a:prstGeom prst="line">
            <a:avLst/>
          </a:prstGeom>
          <a:noFill/>
          <a:ln w="12700">
            <a:solidFill>
              <a:srgbClr val="F36C2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50" b="0" i="0" u="none" strike="noStrike" kern="1200" cap="none" spc="0" normalizeH="0" baseline="0" noProof="0">
              <a:ln>
                <a:noFill/>
              </a:ln>
              <a:solidFill>
                <a:prstClr val="black"/>
              </a:solidFill>
              <a:effectLst/>
              <a:uLnTx/>
              <a:uFillTx/>
              <a:ea typeface="+mn-ea"/>
              <a:cs typeface="+mn-cs"/>
            </a:endParaRPr>
          </a:p>
        </p:txBody>
      </p:sp>
      <p:sp>
        <p:nvSpPr>
          <p:cNvPr id="6" name="Shape 4"/>
          <p:cNvSpPr/>
          <p:nvPr/>
        </p:nvSpPr>
        <p:spPr>
          <a:xfrm>
            <a:off x="411480" y="6446520"/>
            <a:ext cx="11365992" cy="0"/>
          </a:xfrm>
          <a:prstGeom prst="line">
            <a:avLst/>
          </a:prstGeom>
          <a:noFill/>
          <a:ln w="7620">
            <a:solidFill>
              <a:srgbClr val="C9D3D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Aptos"/>
              <a:ea typeface="+mn-ea"/>
              <a:cs typeface="+mn-cs"/>
            </a:endParaRPr>
          </a:p>
        </p:txBody>
      </p:sp>
      <p:sp>
        <p:nvSpPr>
          <p:cNvPr id="8" name="Text 6"/>
          <p:cNvSpPr/>
          <p:nvPr/>
        </p:nvSpPr>
        <p:spPr>
          <a:xfrm>
            <a:off x="11475720" y="6492240"/>
            <a:ext cx="320040" cy="20116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sz="850" b="0" i="0" dirty="0">
                <a:solidFill>
                  <a:srgbClr val="646F7C"/>
                </a:solidFill>
                <a:latin typeface="Segoe UI"/>
              </a:rPr>
              <a:t>6</a:t>
            </a:r>
            <a:endParaRPr kumimoji="0" lang="en-US" sz="800" b="0" i="0" u="none" strike="noStrike" kern="1200" cap="none" spc="0" normalizeH="0" baseline="0" noProof="0" dirty="0">
              <a:ln>
                <a:noFill/>
              </a:ln>
              <a:solidFill>
                <a:prstClr val="black"/>
              </a:solidFill>
              <a:effectLst/>
              <a:uLnTx/>
              <a:uFillTx/>
              <a:latin typeface="Aptos"/>
              <a:ea typeface="+mn-ea"/>
              <a:cs typeface="+mn-cs"/>
            </a:endParaRPr>
          </a:p>
        </p:txBody>
      </p:sp>
      <p:sp>
        <p:nvSpPr>
          <p:cNvPr id="19" name="Shape 31">
            <a:extLst>
              <a:ext uri="{FF2B5EF4-FFF2-40B4-BE49-F238E27FC236}">
                <a16:creationId xmlns:a16="http://schemas.microsoft.com/office/drawing/2014/main" id="{132F9A15-1AE0-813C-05F3-D4D12F527992}"/>
              </a:ext>
            </a:extLst>
          </p:cNvPr>
          <p:cNvSpPr/>
          <p:nvPr/>
        </p:nvSpPr>
        <p:spPr>
          <a:xfrm>
            <a:off x="658368" y="5265801"/>
            <a:ext cx="10835640" cy="658368"/>
          </a:xfrm>
          <a:prstGeom prst="roundRect">
            <a:avLst>
              <a:gd name="adj" fmla="val 8333"/>
            </a:avLst>
          </a:prstGeom>
          <a:solidFill>
            <a:srgbClr val="F7FAFD"/>
          </a:solidFill>
          <a:ln w="12700">
            <a:solidFill>
              <a:srgbClr val="B7C8D9"/>
            </a:solidFill>
            <a:prstDash val="solid"/>
          </a:ln>
        </p:spPr>
        <p:txBody>
          <a:bodyPr/>
          <a:lstStyle/>
          <a:p>
            <a:endParaRPr lang="en-US"/>
          </a:p>
        </p:txBody>
      </p:sp>
      <p:sp>
        <p:nvSpPr>
          <p:cNvPr id="21" name="Shape 32">
            <a:extLst>
              <a:ext uri="{FF2B5EF4-FFF2-40B4-BE49-F238E27FC236}">
                <a16:creationId xmlns:a16="http://schemas.microsoft.com/office/drawing/2014/main" id="{B0336B3D-D91C-A0A1-06F6-C3B728F7E589}"/>
              </a:ext>
            </a:extLst>
          </p:cNvPr>
          <p:cNvSpPr/>
          <p:nvPr/>
        </p:nvSpPr>
        <p:spPr>
          <a:xfrm>
            <a:off x="658368" y="5265801"/>
            <a:ext cx="54864" cy="658368"/>
          </a:xfrm>
          <a:prstGeom prst="rect">
            <a:avLst/>
          </a:prstGeom>
          <a:solidFill>
            <a:srgbClr val="0E4A7B"/>
          </a:solidFill>
          <a:ln w="12700">
            <a:solidFill>
              <a:srgbClr val="0E4A7B"/>
            </a:solidFill>
            <a:prstDash val="solid"/>
          </a:ln>
        </p:spPr>
        <p:txBody>
          <a:bodyPr/>
          <a:lstStyle/>
          <a:p>
            <a:endParaRPr lang="en-US"/>
          </a:p>
        </p:txBody>
      </p:sp>
      <p:sp>
        <p:nvSpPr>
          <p:cNvPr id="23" name="Text 33">
            <a:extLst>
              <a:ext uri="{FF2B5EF4-FFF2-40B4-BE49-F238E27FC236}">
                <a16:creationId xmlns:a16="http://schemas.microsoft.com/office/drawing/2014/main" id="{DDDA538A-3A76-8AE1-4AB9-FD43F28D3DD1}"/>
              </a:ext>
            </a:extLst>
          </p:cNvPr>
          <p:cNvSpPr/>
          <p:nvPr/>
        </p:nvSpPr>
        <p:spPr>
          <a:xfrm>
            <a:off x="822960" y="5340713"/>
            <a:ext cx="10515600" cy="192024"/>
          </a:xfrm>
          <a:prstGeom prst="rect">
            <a:avLst/>
          </a:prstGeom>
          <a:noFill/>
          <a:ln/>
        </p:spPr>
        <p:txBody>
          <a:bodyPr wrap="square" lIns="0" tIns="0" rIns="0" bIns="0" rtlCol="0" anchor="ctr"/>
          <a:lstStyle/>
          <a:p>
            <a:pPr marL="0" indent="0">
              <a:buNone/>
            </a:pPr>
            <a:r>
              <a:rPr lang="en-US" sz="1400" b="1" dirty="0">
                <a:solidFill>
                  <a:srgbClr val="06244A"/>
                </a:solidFill>
                <a:latin typeface="Segoe UI"/>
              </a:rPr>
              <a:t>Executive point</a:t>
            </a:r>
          </a:p>
        </p:txBody>
      </p:sp>
      <p:sp>
        <p:nvSpPr>
          <p:cNvPr id="25" name="Text 34">
            <a:extLst>
              <a:ext uri="{FF2B5EF4-FFF2-40B4-BE49-F238E27FC236}">
                <a16:creationId xmlns:a16="http://schemas.microsoft.com/office/drawing/2014/main" id="{5B129971-9F9C-85A5-DDA8-D8B08C17EFEF}"/>
              </a:ext>
            </a:extLst>
          </p:cNvPr>
          <p:cNvSpPr/>
          <p:nvPr/>
        </p:nvSpPr>
        <p:spPr>
          <a:xfrm>
            <a:off x="822960" y="5570368"/>
            <a:ext cx="10515600" cy="347469"/>
          </a:xfrm>
          <a:prstGeom prst="rect">
            <a:avLst/>
          </a:prstGeom>
          <a:noFill/>
          <a:ln/>
        </p:spPr>
        <p:txBody>
          <a:bodyPr wrap="square" lIns="0" tIns="0" rIns="0" bIns="0" rtlCol="0" anchor="ctr">
            <a:normAutofit/>
          </a:bodyPr>
          <a:lstStyle/>
          <a:p>
            <a:r>
              <a:rPr lang="en-US" sz="1100" dirty="0">
                <a:solidFill>
                  <a:srgbClr val="586879"/>
                </a:solidFill>
                <a:latin typeface="Segoe UI" pitchFamily="34" charset="0"/>
                <a:ea typeface="Aptos" pitchFamily="34" charset="-122"/>
                <a:cs typeface="Aptos" pitchFamily="34" charset="-120"/>
              </a:rPr>
              <a:t>The MVP should test whether EDM improves decision usefulness — uncertainty-aware planning, early warning, explainability, and procurement actionability — not just point forecast accuracy.</a:t>
            </a:r>
            <a:endParaRPr lang="en-US" sz="1100" dirty="0"/>
          </a:p>
        </p:txBody>
      </p:sp>
      <p:sp>
        <p:nvSpPr>
          <p:cNvPr id="16" name="Text 7">
            <a:extLst>
              <a:ext uri="{FF2B5EF4-FFF2-40B4-BE49-F238E27FC236}">
                <a16:creationId xmlns:a16="http://schemas.microsoft.com/office/drawing/2014/main" id="{90E0D19A-62BC-2895-589E-DF9404222796}"/>
              </a:ext>
            </a:extLst>
          </p:cNvPr>
          <p:cNvSpPr/>
          <p:nvPr/>
        </p:nvSpPr>
        <p:spPr>
          <a:xfrm>
            <a:off x="530352" y="1430971"/>
            <a:ext cx="3456432" cy="423814"/>
          </a:xfrm>
          <a:prstGeom prst="rect">
            <a:avLst/>
          </a:prstGeom>
          <a:noFill/>
          <a:ln/>
        </p:spPr>
        <p:txBody>
          <a:bodyPr wrap="square" lIns="0" tIns="0" rIns="0" bIns="0" rtlCol="0" anchor="ctr"/>
          <a:lstStyle/>
          <a:p>
            <a:pPr marL="0" indent="0">
              <a:buNone/>
            </a:pPr>
            <a:r>
              <a:rPr lang="en-US" sz="1400" b="1" dirty="0">
                <a:solidFill>
                  <a:srgbClr val="0E2C5B"/>
                </a:solidFill>
                <a:latin typeface="Segoe UI"/>
                <a:ea typeface="Aptos" pitchFamily="34" charset="-122"/>
                <a:cs typeface="Aptos" pitchFamily="34" charset="-120"/>
              </a:rPr>
              <a:t>Where traditional methods remain useful</a:t>
            </a:r>
            <a:endParaRPr lang="en-US" sz="1400" dirty="0"/>
          </a:p>
        </p:txBody>
      </p:sp>
      <p:sp>
        <p:nvSpPr>
          <p:cNvPr id="17" name="Shape 8">
            <a:extLst>
              <a:ext uri="{FF2B5EF4-FFF2-40B4-BE49-F238E27FC236}">
                <a16:creationId xmlns:a16="http://schemas.microsoft.com/office/drawing/2014/main" id="{DA7C28E4-BA23-AE26-4C35-36047638E232}"/>
              </a:ext>
            </a:extLst>
          </p:cNvPr>
          <p:cNvSpPr/>
          <p:nvPr/>
        </p:nvSpPr>
        <p:spPr>
          <a:xfrm>
            <a:off x="530352" y="2052975"/>
            <a:ext cx="3456432" cy="1271017"/>
          </a:xfrm>
          <a:prstGeom prst="roundRect">
            <a:avLst>
              <a:gd name="adj" fmla="val 6667"/>
            </a:avLst>
          </a:prstGeom>
          <a:solidFill>
            <a:srgbClr val="F8FBFE"/>
          </a:solidFill>
          <a:ln w="13970">
            <a:solidFill>
              <a:srgbClr val="CBD7E3"/>
            </a:solidFill>
            <a:prstDash val="solid"/>
          </a:ln>
        </p:spPr>
        <p:txBody>
          <a:bodyPr/>
          <a:lstStyle/>
          <a:p>
            <a:endParaRPr lang="en-US" sz="1150"/>
          </a:p>
        </p:txBody>
      </p:sp>
      <p:sp>
        <p:nvSpPr>
          <p:cNvPr id="20" name="Shape 9">
            <a:extLst>
              <a:ext uri="{FF2B5EF4-FFF2-40B4-BE49-F238E27FC236}">
                <a16:creationId xmlns:a16="http://schemas.microsoft.com/office/drawing/2014/main" id="{0B7A542D-E46D-591B-977B-02754F1D7961}"/>
              </a:ext>
            </a:extLst>
          </p:cNvPr>
          <p:cNvSpPr/>
          <p:nvPr/>
        </p:nvSpPr>
        <p:spPr>
          <a:xfrm>
            <a:off x="530352" y="2052975"/>
            <a:ext cx="54864" cy="1271016"/>
          </a:xfrm>
          <a:prstGeom prst="rect">
            <a:avLst/>
          </a:prstGeom>
          <a:solidFill>
            <a:srgbClr val="1F60AD"/>
          </a:solidFill>
          <a:ln w="12700">
            <a:solidFill>
              <a:srgbClr val="1F60AD"/>
            </a:solidFill>
            <a:prstDash val="solid"/>
          </a:ln>
        </p:spPr>
        <p:txBody>
          <a:bodyPr/>
          <a:lstStyle/>
          <a:p>
            <a:endParaRPr lang="en-US" sz="1150"/>
          </a:p>
        </p:txBody>
      </p:sp>
      <p:sp>
        <p:nvSpPr>
          <p:cNvPr id="22" name="Text 10">
            <a:extLst>
              <a:ext uri="{FF2B5EF4-FFF2-40B4-BE49-F238E27FC236}">
                <a16:creationId xmlns:a16="http://schemas.microsoft.com/office/drawing/2014/main" id="{2E4E4614-38C7-5DE2-AEC0-D1222F12D958}"/>
              </a:ext>
            </a:extLst>
          </p:cNvPr>
          <p:cNvSpPr/>
          <p:nvPr/>
        </p:nvSpPr>
        <p:spPr>
          <a:xfrm>
            <a:off x="694944" y="2199280"/>
            <a:ext cx="3127248" cy="201168"/>
          </a:xfrm>
          <a:prstGeom prst="rect">
            <a:avLst/>
          </a:prstGeom>
          <a:noFill/>
          <a:ln/>
        </p:spPr>
        <p:txBody>
          <a:bodyPr wrap="square" lIns="0" tIns="0" rIns="0" bIns="0" rtlCol="0" anchor="ctr"/>
          <a:lstStyle/>
          <a:p>
            <a:pPr marL="0" indent="0">
              <a:buNone/>
            </a:pPr>
            <a:r>
              <a:rPr lang="en-US" sz="1400" b="1" dirty="0">
                <a:solidFill>
                  <a:srgbClr val="0E2C5B"/>
                </a:solidFill>
                <a:latin typeface="Segoe UI"/>
                <a:ea typeface="Aptos" pitchFamily="34" charset="-122"/>
                <a:cs typeface="Aptos" pitchFamily="34" charset="-120"/>
              </a:rPr>
              <a:t>Transparent baseline</a:t>
            </a:r>
            <a:endParaRPr lang="en-US" sz="1400" dirty="0"/>
          </a:p>
        </p:txBody>
      </p:sp>
      <p:sp>
        <p:nvSpPr>
          <p:cNvPr id="24" name="Text 11">
            <a:extLst>
              <a:ext uri="{FF2B5EF4-FFF2-40B4-BE49-F238E27FC236}">
                <a16:creationId xmlns:a16="http://schemas.microsoft.com/office/drawing/2014/main" id="{B5732C47-1C46-E2BE-2D46-5A64F34442BE}"/>
              </a:ext>
            </a:extLst>
          </p:cNvPr>
          <p:cNvSpPr/>
          <p:nvPr/>
        </p:nvSpPr>
        <p:spPr>
          <a:xfrm>
            <a:off x="694944" y="2528464"/>
            <a:ext cx="3127248" cy="475488"/>
          </a:xfrm>
          <a:prstGeom prst="rect">
            <a:avLst/>
          </a:prstGeom>
          <a:noFill/>
          <a:ln/>
        </p:spPr>
        <p:txBody>
          <a:bodyPr wrap="square" lIns="254" tIns="254" rIns="254" bIns="254" rtlCol="0" anchor="t">
            <a:noAutofit/>
          </a:bodyPr>
          <a:lstStyle/>
          <a:p>
            <a:pPr marL="0" indent="0">
              <a:buNone/>
            </a:pPr>
            <a:r>
              <a:rPr lang="en-US" sz="1150" dirty="0">
                <a:solidFill>
                  <a:srgbClr val="586879"/>
                </a:solidFill>
                <a:latin typeface="Segoe UI"/>
                <a:ea typeface="Aptos" pitchFamily="34" charset="-122"/>
                <a:cs typeface="Aptos" pitchFamily="34" charset="-120"/>
              </a:rPr>
              <a:t>Moving-average and feature-based forecasting can explain recent demand history and provide a fast comparison point for validation.</a:t>
            </a:r>
            <a:endParaRPr lang="en-US" sz="1150" dirty="0"/>
          </a:p>
        </p:txBody>
      </p:sp>
      <p:sp>
        <p:nvSpPr>
          <p:cNvPr id="26" name="Shape 12">
            <a:extLst>
              <a:ext uri="{FF2B5EF4-FFF2-40B4-BE49-F238E27FC236}">
                <a16:creationId xmlns:a16="http://schemas.microsoft.com/office/drawing/2014/main" id="{6C8CDB92-C317-E419-25D0-93AFF689C3AC}"/>
              </a:ext>
            </a:extLst>
          </p:cNvPr>
          <p:cNvSpPr/>
          <p:nvPr/>
        </p:nvSpPr>
        <p:spPr>
          <a:xfrm>
            <a:off x="530352" y="3388000"/>
            <a:ext cx="3456432" cy="1271016"/>
          </a:xfrm>
          <a:prstGeom prst="roundRect">
            <a:avLst>
              <a:gd name="adj" fmla="val 6667"/>
            </a:avLst>
          </a:prstGeom>
          <a:solidFill>
            <a:srgbClr val="F8FBFE"/>
          </a:solidFill>
          <a:ln w="13970">
            <a:solidFill>
              <a:srgbClr val="CBD7E3"/>
            </a:solidFill>
            <a:prstDash val="solid"/>
          </a:ln>
        </p:spPr>
        <p:txBody>
          <a:bodyPr/>
          <a:lstStyle/>
          <a:p>
            <a:endParaRPr lang="en-US" sz="1150"/>
          </a:p>
        </p:txBody>
      </p:sp>
      <p:sp>
        <p:nvSpPr>
          <p:cNvPr id="27" name="Shape 13">
            <a:extLst>
              <a:ext uri="{FF2B5EF4-FFF2-40B4-BE49-F238E27FC236}">
                <a16:creationId xmlns:a16="http://schemas.microsoft.com/office/drawing/2014/main" id="{3DB8D574-A43C-5A4D-05C4-8541DC59CFFE}"/>
              </a:ext>
            </a:extLst>
          </p:cNvPr>
          <p:cNvSpPr/>
          <p:nvPr/>
        </p:nvSpPr>
        <p:spPr>
          <a:xfrm>
            <a:off x="530352" y="3388000"/>
            <a:ext cx="54864" cy="1271016"/>
          </a:xfrm>
          <a:prstGeom prst="rect">
            <a:avLst/>
          </a:prstGeom>
          <a:solidFill>
            <a:srgbClr val="1F60AD"/>
          </a:solidFill>
          <a:ln w="12700">
            <a:solidFill>
              <a:srgbClr val="1F60AD"/>
            </a:solidFill>
            <a:prstDash val="solid"/>
          </a:ln>
        </p:spPr>
        <p:txBody>
          <a:bodyPr/>
          <a:lstStyle/>
          <a:p>
            <a:endParaRPr lang="en-US" sz="1150"/>
          </a:p>
        </p:txBody>
      </p:sp>
      <p:sp>
        <p:nvSpPr>
          <p:cNvPr id="28" name="Text 14">
            <a:extLst>
              <a:ext uri="{FF2B5EF4-FFF2-40B4-BE49-F238E27FC236}">
                <a16:creationId xmlns:a16="http://schemas.microsoft.com/office/drawing/2014/main" id="{2C25CBC2-1B06-EFC6-12B4-3C23F7084E12}"/>
              </a:ext>
            </a:extLst>
          </p:cNvPr>
          <p:cNvSpPr/>
          <p:nvPr/>
        </p:nvSpPr>
        <p:spPr>
          <a:xfrm>
            <a:off x="694944" y="3534304"/>
            <a:ext cx="3127248" cy="201168"/>
          </a:xfrm>
          <a:prstGeom prst="rect">
            <a:avLst/>
          </a:prstGeom>
          <a:noFill/>
          <a:ln/>
        </p:spPr>
        <p:txBody>
          <a:bodyPr wrap="square" lIns="0" tIns="0" rIns="0" bIns="0" rtlCol="0" anchor="ctr"/>
          <a:lstStyle/>
          <a:p>
            <a:pPr marL="0" indent="0">
              <a:buNone/>
            </a:pPr>
            <a:r>
              <a:rPr lang="en-US" sz="1400" b="1" dirty="0">
                <a:solidFill>
                  <a:srgbClr val="0E2C5B"/>
                </a:solidFill>
                <a:latin typeface="Segoe UI"/>
                <a:ea typeface="Aptos" pitchFamily="34" charset="-122"/>
                <a:cs typeface="Aptos" pitchFamily="34" charset="-120"/>
              </a:rPr>
              <a:t>Operational familiarity</a:t>
            </a:r>
            <a:endParaRPr lang="en-US" sz="1400" dirty="0"/>
          </a:p>
        </p:txBody>
      </p:sp>
      <p:sp>
        <p:nvSpPr>
          <p:cNvPr id="29" name="Text 15">
            <a:extLst>
              <a:ext uri="{FF2B5EF4-FFF2-40B4-BE49-F238E27FC236}">
                <a16:creationId xmlns:a16="http://schemas.microsoft.com/office/drawing/2014/main" id="{26196E53-49F4-00A0-A263-20E02C4B4254}"/>
              </a:ext>
            </a:extLst>
          </p:cNvPr>
          <p:cNvSpPr/>
          <p:nvPr/>
        </p:nvSpPr>
        <p:spPr>
          <a:xfrm>
            <a:off x="694944" y="3863488"/>
            <a:ext cx="3127248" cy="475488"/>
          </a:xfrm>
          <a:prstGeom prst="rect">
            <a:avLst/>
          </a:prstGeom>
          <a:noFill/>
          <a:ln/>
        </p:spPr>
        <p:txBody>
          <a:bodyPr wrap="square" lIns="254" tIns="254" rIns="254" bIns="254" rtlCol="0" anchor="t">
            <a:noAutofit/>
          </a:bodyPr>
          <a:lstStyle/>
          <a:p>
            <a:pPr marL="0" indent="0">
              <a:buNone/>
            </a:pPr>
            <a:r>
              <a:rPr lang="en-US" sz="1150" dirty="0">
                <a:solidFill>
                  <a:srgbClr val="586879"/>
                </a:solidFill>
                <a:latin typeface="Segoe UI"/>
                <a:ea typeface="Aptos" pitchFamily="34" charset="-122"/>
                <a:cs typeface="Aptos" pitchFamily="34" charset="-120"/>
              </a:rPr>
              <a:t>Planning teams can understand the method, but that transparency does not solve sparse demand, regime change, or network effects.</a:t>
            </a:r>
            <a:endParaRPr lang="en-US" sz="1150" dirty="0"/>
          </a:p>
        </p:txBody>
      </p:sp>
      <p:sp>
        <p:nvSpPr>
          <p:cNvPr id="30" name="Text 16">
            <a:extLst>
              <a:ext uri="{FF2B5EF4-FFF2-40B4-BE49-F238E27FC236}">
                <a16:creationId xmlns:a16="http://schemas.microsoft.com/office/drawing/2014/main" id="{3737E0CE-BD3D-E6CE-A0F5-F1CA17748069}"/>
              </a:ext>
            </a:extLst>
          </p:cNvPr>
          <p:cNvSpPr/>
          <p:nvPr/>
        </p:nvSpPr>
        <p:spPr>
          <a:xfrm>
            <a:off x="4315968" y="1430971"/>
            <a:ext cx="2697480" cy="334667"/>
          </a:xfrm>
          <a:prstGeom prst="rect">
            <a:avLst/>
          </a:prstGeom>
          <a:noFill/>
          <a:ln/>
        </p:spPr>
        <p:txBody>
          <a:bodyPr wrap="square" lIns="0" tIns="0" rIns="0" bIns="0" rtlCol="0" anchor="ctr"/>
          <a:lstStyle/>
          <a:p>
            <a:pPr marL="0" indent="0">
              <a:buNone/>
            </a:pPr>
            <a:r>
              <a:rPr lang="en-US" sz="1400" b="1" dirty="0">
                <a:solidFill>
                  <a:srgbClr val="0E2C5B"/>
                </a:solidFill>
                <a:latin typeface="Segoe UI"/>
                <a:ea typeface="Aptos" pitchFamily="34" charset="-122"/>
                <a:cs typeface="Aptos" pitchFamily="34" charset="-120"/>
              </a:rPr>
              <a:t>Structural limits for DLA demand</a:t>
            </a:r>
            <a:endParaRPr lang="en-US" sz="1400" dirty="0"/>
          </a:p>
        </p:txBody>
      </p:sp>
      <p:sp>
        <p:nvSpPr>
          <p:cNvPr id="31" name="Shape 17">
            <a:extLst>
              <a:ext uri="{FF2B5EF4-FFF2-40B4-BE49-F238E27FC236}">
                <a16:creationId xmlns:a16="http://schemas.microsoft.com/office/drawing/2014/main" id="{6005E5D2-4F01-163A-E163-5BC4F0511007}"/>
              </a:ext>
            </a:extLst>
          </p:cNvPr>
          <p:cNvSpPr/>
          <p:nvPr/>
        </p:nvSpPr>
        <p:spPr>
          <a:xfrm>
            <a:off x="4315968" y="2052976"/>
            <a:ext cx="2587752" cy="1271016"/>
          </a:xfrm>
          <a:prstGeom prst="roundRect">
            <a:avLst>
              <a:gd name="adj" fmla="val 6667"/>
            </a:avLst>
          </a:prstGeom>
          <a:solidFill>
            <a:srgbClr val="F7FAFC"/>
          </a:solidFill>
          <a:ln w="13970">
            <a:solidFill>
              <a:srgbClr val="CBD7E3"/>
            </a:solidFill>
            <a:prstDash val="solid"/>
          </a:ln>
        </p:spPr>
        <p:txBody>
          <a:bodyPr/>
          <a:lstStyle/>
          <a:p>
            <a:endParaRPr lang="en-US" sz="1150"/>
          </a:p>
        </p:txBody>
      </p:sp>
      <p:sp>
        <p:nvSpPr>
          <p:cNvPr id="32" name="Shape 18">
            <a:extLst>
              <a:ext uri="{FF2B5EF4-FFF2-40B4-BE49-F238E27FC236}">
                <a16:creationId xmlns:a16="http://schemas.microsoft.com/office/drawing/2014/main" id="{FC62E2F7-29C8-7908-CE99-50E099BA0164}"/>
              </a:ext>
            </a:extLst>
          </p:cNvPr>
          <p:cNvSpPr/>
          <p:nvPr/>
        </p:nvSpPr>
        <p:spPr>
          <a:xfrm>
            <a:off x="4315968" y="2052976"/>
            <a:ext cx="54864" cy="1271016"/>
          </a:xfrm>
          <a:prstGeom prst="rect">
            <a:avLst/>
          </a:prstGeom>
          <a:solidFill>
            <a:srgbClr val="E67E22"/>
          </a:solidFill>
          <a:ln w="12700">
            <a:solidFill>
              <a:srgbClr val="E67E22"/>
            </a:solidFill>
            <a:prstDash val="solid"/>
          </a:ln>
        </p:spPr>
        <p:txBody>
          <a:bodyPr/>
          <a:lstStyle/>
          <a:p>
            <a:endParaRPr lang="en-US" sz="1150"/>
          </a:p>
        </p:txBody>
      </p:sp>
      <p:sp>
        <p:nvSpPr>
          <p:cNvPr id="33" name="Text 19">
            <a:extLst>
              <a:ext uri="{FF2B5EF4-FFF2-40B4-BE49-F238E27FC236}">
                <a16:creationId xmlns:a16="http://schemas.microsoft.com/office/drawing/2014/main" id="{3F5D700A-D2E6-C8B0-15DA-2F6F1896E835}"/>
              </a:ext>
            </a:extLst>
          </p:cNvPr>
          <p:cNvSpPr/>
          <p:nvPr/>
        </p:nvSpPr>
        <p:spPr>
          <a:xfrm>
            <a:off x="4480560" y="2199280"/>
            <a:ext cx="2417444" cy="233616"/>
          </a:xfrm>
          <a:prstGeom prst="rect">
            <a:avLst/>
          </a:prstGeom>
          <a:noFill/>
          <a:ln/>
        </p:spPr>
        <p:txBody>
          <a:bodyPr wrap="square" lIns="0" tIns="0" rIns="0" bIns="0" rtlCol="0" anchor="ctr"/>
          <a:lstStyle/>
          <a:p>
            <a:pPr marL="0" indent="0">
              <a:buNone/>
            </a:pPr>
            <a:r>
              <a:rPr lang="en-US" sz="1400" b="1" dirty="0">
                <a:solidFill>
                  <a:srgbClr val="0E2C5B"/>
                </a:solidFill>
                <a:latin typeface="Segoe UI"/>
                <a:ea typeface="Aptos" pitchFamily="34" charset="-122"/>
                <a:cs typeface="Aptos" pitchFamily="34" charset="-120"/>
              </a:rPr>
              <a:t>Intermittent and lumpy demand</a:t>
            </a:r>
            <a:endParaRPr lang="en-US" sz="1400" dirty="0"/>
          </a:p>
        </p:txBody>
      </p:sp>
      <p:sp>
        <p:nvSpPr>
          <p:cNvPr id="34" name="Text 20">
            <a:extLst>
              <a:ext uri="{FF2B5EF4-FFF2-40B4-BE49-F238E27FC236}">
                <a16:creationId xmlns:a16="http://schemas.microsoft.com/office/drawing/2014/main" id="{E2AF9B88-56C0-69BD-2FB5-DC5DB910C41A}"/>
              </a:ext>
            </a:extLst>
          </p:cNvPr>
          <p:cNvSpPr/>
          <p:nvPr/>
        </p:nvSpPr>
        <p:spPr>
          <a:xfrm>
            <a:off x="4480560" y="2528464"/>
            <a:ext cx="2368296" cy="731520"/>
          </a:xfrm>
          <a:prstGeom prst="rect">
            <a:avLst/>
          </a:prstGeom>
          <a:noFill/>
          <a:ln/>
        </p:spPr>
        <p:txBody>
          <a:bodyPr wrap="square" lIns="254" tIns="254" rIns="254" bIns="254" rtlCol="0" anchor="t">
            <a:noAutofit/>
          </a:bodyPr>
          <a:lstStyle/>
          <a:p>
            <a:pPr marL="0" indent="0">
              <a:buNone/>
            </a:pPr>
            <a:r>
              <a:rPr lang="en-US" sz="1150" dirty="0">
                <a:solidFill>
                  <a:srgbClr val="586879"/>
                </a:solidFill>
                <a:latin typeface="Segoe UI"/>
                <a:ea typeface="Aptos" pitchFamily="34" charset="-122"/>
                <a:cs typeface="Aptos" pitchFamily="34" charset="-120"/>
              </a:rPr>
              <a:t>Most item-weeks may be zero, while active demand can vary sharply when exercises, deployments, or lifecycle changes occur.</a:t>
            </a:r>
            <a:endParaRPr lang="en-US" sz="1150" dirty="0"/>
          </a:p>
        </p:txBody>
      </p:sp>
      <p:sp>
        <p:nvSpPr>
          <p:cNvPr id="35" name="Shape 21">
            <a:extLst>
              <a:ext uri="{FF2B5EF4-FFF2-40B4-BE49-F238E27FC236}">
                <a16:creationId xmlns:a16="http://schemas.microsoft.com/office/drawing/2014/main" id="{51245896-71A4-A9AE-AA5B-16A884B4CA58}"/>
              </a:ext>
            </a:extLst>
          </p:cNvPr>
          <p:cNvSpPr/>
          <p:nvPr/>
        </p:nvSpPr>
        <p:spPr>
          <a:xfrm>
            <a:off x="7013448" y="2052975"/>
            <a:ext cx="2432304" cy="1271015"/>
          </a:xfrm>
          <a:prstGeom prst="roundRect">
            <a:avLst>
              <a:gd name="adj" fmla="val 6667"/>
            </a:avLst>
          </a:prstGeom>
          <a:solidFill>
            <a:srgbClr val="F7FAFC"/>
          </a:solidFill>
          <a:ln w="13970">
            <a:solidFill>
              <a:srgbClr val="CBD7E3"/>
            </a:solidFill>
            <a:prstDash val="solid"/>
          </a:ln>
        </p:spPr>
        <p:txBody>
          <a:bodyPr/>
          <a:lstStyle/>
          <a:p>
            <a:endParaRPr lang="en-US" sz="1150"/>
          </a:p>
        </p:txBody>
      </p:sp>
      <p:sp>
        <p:nvSpPr>
          <p:cNvPr id="36" name="Shape 22">
            <a:extLst>
              <a:ext uri="{FF2B5EF4-FFF2-40B4-BE49-F238E27FC236}">
                <a16:creationId xmlns:a16="http://schemas.microsoft.com/office/drawing/2014/main" id="{576F015C-032F-2A23-5A17-9827F1882595}"/>
              </a:ext>
            </a:extLst>
          </p:cNvPr>
          <p:cNvSpPr/>
          <p:nvPr/>
        </p:nvSpPr>
        <p:spPr>
          <a:xfrm>
            <a:off x="7013448" y="2052976"/>
            <a:ext cx="54864" cy="1271016"/>
          </a:xfrm>
          <a:prstGeom prst="rect">
            <a:avLst/>
          </a:prstGeom>
          <a:solidFill>
            <a:srgbClr val="E67E22"/>
          </a:solidFill>
          <a:ln w="12700">
            <a:solidFill>
              <a:srgbClr val="E67E22"/>
            </a:solidFill>
            <a:prstDash val="solid"/>
          </a:ln>
        </p:spPr>
        <p:txBody>
          <a:bodyPr/>
          <a:lstStyle/>
          <a:p>
            <a:endParaRPr lang="en-US" sz="1150"/>
          </a:p>
        </p:txBody>
      </p:sp>
      <p:sp>
        <p:nvSpPr>
          <p:cNvPr id="37" name="Text 23">
            <a:extLst>
              <a:ext uri="{FF2B5EF4-FFF2-40B4-BE49-F238E27FC236}">
                <a16:creationId xmlns:a16="http://schemas.microsoft.com/office/drawing/2014/main" id="{CFD9F066-C359-FB1E-1394-2E178243650A}"/>
              </a:ext>
            </a:extLst>
          </p:cNvPr>
          <p:cNvSpPr/>
          <p:nvPr/>
        </p:nvSpPr>
        <p:spPr>
          <a:xfrm>
            <a:off x="7178040" y="2199280"/>
            <a:ext cx="2103120" cy="201168"/>
          </a:xfrm>
          <a:prstGeom prst="rect">
            <a:avLst/>
          </a:prstGeom>
          <a:noFill/>
          <a:ln/>
        </p:spPr>
        <p:txBody>
          <a:bodyPr wrap="square" lIns="0" tIns="0" rIns="0" bIns="0" rtlCol="0" anchor="ctr"/>
          <a:lstStyle/>
          <a:p>
            <a:pPr marL="0" indent="0">
              <a:buNone/>
            </a:pPr>
            <a:r>
              <a:rPr lang="en-US" sz="1400" b="1" dirty="0">
                <a:solidFill>
                  <a:srgbClr val="0E2C5B"/>
                </a:solidFill>
                <a:latin typeface="Segoe UI"/>
                <a:ea typeface="Aptos" pitchFamily="34" charset="-122"/>
                <a:cs typeface="Aptos" pitchFamily="34" charset="-120"/>
              </a:rPr>
              <a:t>Frozen uncertainty bands</a:t>
            </a:r>
            <a:endParaRPr lang="en-US" sz="1400" dirty="0"/>
          </a:p>
        </p:txBody>
      </p:sp>
      <p:sp>
        <p:nvSpPr>
          <p:cNvPr id="38" name="Text 24">
            <a:extLst>
              <a:ext uri="{FF2B5EF4-FFF2-40B4-BE49-F238E27FC236}">
                <a16:creationId xmlns:a16="http://schemas.microsoft.com/office/drawing/2014/main" id="{3F6F0BF8-8C59-3E4E-D57F-DA74438A77C3}"/>
              </a:ext>
            </a:extLst>
          </p:cNvPr>
          <p:cNvSpPr/>
          <p:nvPr/>
        </p:nvSpPr>
        <p:spPr>
          <a:xfrm>
            <a:off x="7178040" y="2528464"/>
            <a:ext cx="2203704" cy="717952"/>
          </a:xfrm>
          <a:prstGeom prst="rect">
            <a:avLst/>
          </a:prstGeom>
          <a:noFill/>
          <a:ln/>
        </p:spPr>
        <p:txBody>
          <a:bodyPr wrap="square" lIns="254" tIns="254" rIns="254" bIns="254" rtlCol="0" anchor="t">
            <a:noAutofit/>
          </a:bodyPr>
          <a:lstStyle/>
          <a:p>
            <a:pPr marL="0" indent="0">
              <a:buNone/>
            </a:pPr>
            <a:r>
              <a:rPr lang="en-US" sz="1150" dirty="0">
                <a:solidFill>
                  <a:srgbClr val="586879"/>
                </a:solidFill>
                <a:latin typeface="Segoe UI"/>
                <a:ea typeface="Aptos" pitchFamily="34" charset="-122"/>
                <a:cs typeface="Aptos" pitchFamily="34" charset="-120"/>
              </a:rPr>
              <a:t>Fixed-shape confidence bands do not widen when behavior destabilizes or tighten when demand calms.</a:t>
            </a:r>
            <a:endParaRPr lang="en-US" sz="1150" dirty="0"/>
          </a:p>
        </p:txBody>
      </p:sp>
      <p:sp>
        <p:nvSpPr>
          <p:cNvPr id="39" name="Shape 25">
            <a:extLst>
              <a:ext uri="{FF2B5EF4-FFF2-40B4-BE49-F238E27FC236}">
                <a16:creationId xmlns:a16="http://schemas.microsoft.com/office/drawing/2014/main" id="{60EB1138-0050-5534-E845-75FCE9A4E115}"/>
              </a:ext>
            </a:extLst>
          </p:cNvPr>
          <p:cNvSpPr/>
          <p:nvPr/>
        </p:nvSpPr>
        <p:spPr>
          <a:xfrm>
            <a:off x="4315967" y="3388000"/>
            <a:ext cx="2582037" cy="1271016"/>
          </a:xfrm>
          <a:prstGeom prst="roundRect">
            <a:avLst>
              <a:gd name="adj" fmla="val 6667"/>
            </a:avLst>
          </a:prstGeom>
          <a:solidFill>
            <a:srgbClr val="F7FAFC"/>
          </a:solidFill>
          <a:ln w="13970">
            <a:solidFill>
              <a:srgbClr val="CBD7E3"/>
            </a:solidFill>
            <a:prstDash val="solid"/>
          </a:ln>
        </p:spPr>
        <p:txBody>
          <a:bodyPr/>
          <a:lstStyle/>
          <a:p>
            <a:endParaRPr lang="en-US" sz="1150"/>
          </a:p>
        </p:txBody>
      </p:sp>
      <p:sp>
        <p:nvSpPr>
          <p:cNvPr id="40" name="Shape 26">
            <a:extLst>
              <a:ext uri="{FF2B5EF4-FFF2-40B4-BE49-F238E27FC236}">
                <a16:creationId xmlns:a16="http://schemas.microsoft.com/office/drawing/2014/main" id="{6A34A83C-3D51-C5B0-893C-D4B6F63BF2DB}"/>
              </a:ext>
            </a:extLst>
          </p:cNvPr>
          <p:cNvSpPr/>
          <p:nvPr/>
        </p:nvSpPr>
        <p:spPr>
          <a:xfrm>
            <a:off x="4315968" y="3388000"/>
            <a:ext cx="54864" cy="1271016"/>
          </a:xfrm>
          <a:prstGeom prst="rect">
            <a:avLst/>
          </a:prstGeom>
          <a:solidFill>
            <a:srgbClr val="118484"/>
          </a:solidFill>
          <a:ln w="12700">
            <a:solidFill>
              <a:srgbClr val="118484"/>
            </a:solidFill>
            <a:prstDash val="solid"/>
          </a:ln>
        </p:spPr>
        <p:txBody>
          <a:bodyPr/>
          <a:lstStyle/>
          <a:p>
            <a:endParaRPr lang="en-US" sz="1150"/>
          </a:p>
        </p:txBody>
      </p:sp>
      <p:sp>
        <p:nvSpPr>
          <p:cNvPr id="41" name="Text 27">
            <a:extLst>
              <a:ext uri="{FF2B5EF4-FFF2-40B4-BE49-F238E27FC236}">
                <a16:creationId xmlns:a16="http://schemas.microsoft.com/office/drawing/2014/main" id="{CB11EDEC-49AE-BBDD-A18F-48022A5CEEA6}"/>
              </a:ext>
            </a:extLst>
          </p:cNvPr>
          <p:cNvSpPr/>
          <p:nvPr/>
        </p:nvSpPr>
        <p:spPr>
          <a:xfrm>
            <a:off x="4480560" y="3534304"/>
            <a:ext cx="2103120" cy="201168"/>
          </a:xfrm>
          <a:prstGeom prst="rect">
            <a:avLst/>
          </a:prstGeom>
          <a:noFill/>
          <a:ln/>
        </p:spPr>
        <p:txBody>
          <a:bodyPr wrap="square" lIns="0" tIns="0" rIns="0" bIns="0" rtlCol="0" anchor="ctr"/>
          <a:lstStyle/>
          <a:p>
            <a:pPr marL="0" indent="0">
              <a:buNone/>
            </a:pPr>
            <a:r>
              <a:rPr lang="en-US" sz="1400" b="1" dirty="0">
                <a:solidFill>
                  <a:srgbClr val="0E2C5B"/>
                </a:solidFill>
                <a:latin typeface="Segoe UI"/>
                <a:ea typeface="Aptos" pitchFamily="34" charset="-122"/>
                <a:cs typeface="Aptos" pitchFamily="34" charset="-120"/>
              </a:rPr>
              <a:t>Single-entity tunnel vision</a:t>
            </a:r>
            <a:endParaRPr lang="en-US" sz="1400" dirty="0"/>
          </a:p>
        </p:txBody>
      </p:sp>
      <p:sp>
        <p:nvSpPr>
          <p:cNvPr id="42" name="Text 28">
            <a:extLst>
              <a:ext uri="{FF2B5EF4-FFF2-40B4-BE49-F238E27FC236}">
                <a16:creationId xmlns:a16="http://schemas.microsoft.com/office/drawing/2014/main" id="{5A2A17ED-AD4B-9DC3-949D-7F813212AACE}"/>
              </a:ext>
            </a:extLst>
          </p:cNvPr>
          <p:cNvSpPr/>
          <p:nvPr/>
        </p:nvSpPr>
        <p:spPr>
          <a:xfrm>
            <a:off x="4480560" y="3863488"/>
            <a:ext cx="2313432" cy="717952"/>
          </a:xfrm>
          <a:prstGeom prst="rect">
            <a:avLst/>
          </a:prstGeom>
          <a:noFill/>
          <a:ln/>
        </p:spPr>
        <p:txBody>
          <a:bodyPr wrap="square" lIns="254" tIns="254" rIns="254" bIns="254" rtlCol="0" anchor="t">
            <a:noAutofit/>
          </a:bodyPr>
          <a:lstStyle/>
          <a:p>
            <a:pPr marL="0" indent="0">
              <a:buNone/>
            </a:pPr>
            <a:r>
              <a:rPr lang="en-US" sz="1150" dirty="0">
                <a:solidFill>
                  <a:srgbClr val="586879"/>
                </a:solidFill>
                <a:latin typeface="Segoe UI"/>
                <a:ea typeface="Aptos" pitchFamily="34" charset="-122"/>
                <a:cs typeface="Aptos" pitchFamily="34" charset="-120"/>
              </a:rPr>
              <a:t>Item-location models can miss supplier, substitute, depot, route, or peer-cohort signals outside the local history.</a:t>
            </a:r>
            <a:endParaRPr lang="en-US" sz="1150" dirty="0"/>
          </a:p>
        </p:txBody>
      </p:sp>
      <p:sp>
        <p:nvSpPr>
          <p:cNvPr id="43" name="Shape 29">
            <a:extLst>
              <a:ext uri="{FF2B5EF4-FFF2-40B4-BE49-F238E27FC236}">
                <a16:creationId xmlns:a16="http://schemas.microsoft.com/office/drawing/2014/main" id="{903B3060-AB31-7884-DF46-74DA64C4631A}"/>
              </a:ext>
            </a:extLst>
          </p:cNvPr>
          <p:cNvSpPr/>
          <p:nvPr/>
        </p:nvSpPr>
        <p:spPr>
          <a:xfrm>
            <a:off x="7013448" y="3388000"/>
            <a:ext cx="2432304" cy="1271016"/>
          </a:xfrm>
          <a:prstGeom prst="roundRect">
            <a:avLst>
              <a:gd name="adj" fmla="val 6667"/>
            </a:avLst>
          </a:prstGeom>
          <a:solidFill>
            <a:srgbClr val="F7FAFC"/>
          </a:solidFill>
          <a:ln w="13970">
            <a:solidFill>
              <a:srgbClr val="CBD7E3"/>
            </a:solidFill>
            <a:prstDash val="solid"/>
          </a:ln>
        </p:spPr>
        <p:txBody>
          <a:bodyPr/>
          <a:lstStyle/>
          <a:p>
            <a:endParaRPr lang="en-US" sz="1150"/>
          </a:p>
        </p:txBody>
      </p:sp>
      <p:sp>
        <p:nvSpPr>
          <p:cNvPr id="44" name="Shape 30">
            <a:extLst>
              <a:ext uri="{FF2B5EF4-FFF2-40B4-BE49-F238E27FC236}">
                <a16:creationId xmlns:a16="http://schemas.microsoft.com/office/drawing/2014/main" id="{2084E3BF-4DDC-56F6-5A23-875874AB3B8B}"/>
              </a:ext>
            </a:extLst>
          </p:cNvPr>
          <p:cNvSpPr/>
          <p:nvPr/>
        </p:nvSpPr>
        <p:spPr>
          <a:xfrm>
            <a:off x="7013448" y="3388000"/>
            <a:ext cx="54864" cy="1271016"/>
          </a:xfrm>
          <a:prstGeom prst="rect">
            <a:avLst/>
          </a:prstGeom>
          <a:solidFill>
            <a:srgbClr val="118484"/>
          </a:solidFill>
          <a:ln w="12700">
            <a:solidFill>
              <a:srgbClr val="118484"/>
            </a:solidFill>
            <a:prstDash val="solid"/>
          </a:ln>
        </p:spPr>
        <p:txBody>
          <a:bodyPr/>
          <a:lstStyle/>
          <a:p>
            <a:endParaRPr lang="en-US" sz="1150"/>
          </a:p>
        </p:txBody>
      </p:sp>
      <p:sp>
        <p:nvSpPr>
          <p:cNvPr id="45" name="Text 31">
            <a:extLst>
              <a:ext uri="{FF2B5EF4-FFF2-40B4-BE49-F238E27FC236}">
                <a16:creationId xmlns:a16="http://schemas.microsoft.com/office/drawing/2014/main" id="{0D55DF76-3F39-7828-D82F-CCB20ABBC3BA}"/>
              </a:ext>
            </a:extLst>
          </p:cNvPr>
          <p:cNvSpPr/>
          <p:nvPr/>
        </p:nvSpPr>
        <p:spPr>
          <a:xfrm>
            <a:off x="7178040" y="3534304"/>
            <a:ext cx="2103120" cy="201168"/>
          </a:xfrm>
          <a:prstGeom prst="rect">
            <a:avLst/>
          </a:prstGeom>
          <a:noFill/>
          <a:ln/>
        </p:spPr>
        <p:txBody>
          <a:bodyPr wrap="square" lIns="0" tIns="0" rIns="0" bIns="0" rtlCol="0" anchor="ctr"/>
          <a:lstStyle/>
          <a:p>
            <a:pPr marL="0" indent="0">
              <a:buNone/>
            </a:pPr>
            <a:r>
              <a:rPr lang="en-US" sz="1400" b="1" dirty="0">
                <a:solidFill>
                  <a:srgbClr val="0E2C5B"/>
                </a:solidFill>
                <a:latin typeface="Segoe UI"/>
                <a:ea typeface="Aptos" pitchFamily="34" charset="-122"/>
                <a:cs typeface="Aptos" pitchFamily="34" charset="-120"/>
              </a:rPr>
              <a:t>Late regime detection</a:t>
            </a:r>
            <a:endParaRPr lang="en-US" sz="1400" dirty="0"/>
          </a:p>
        </p:txBody>
      </p:sp>
      <p:sp>
        <p:nvSpPr>
          <p:cNvPr id="46" name="Text 32">
            <a:extLst>
              <a:ext uri="{FF2B5EF4-FFF2-40B4-BE49-F238E27FC236}">
                <a16:creationId xmlns:a16="http://schemas.microsoft.com/office/drawing/2014/main" id="{35D553BC-7D41-97CC-E12D-59A37817CF81}"/>
              </a:ext>
            </a:extLst>
          </p:cNvPr>
          <p:cNvSpPr/>
          <p:nvPr/>
        </p:nvSpPr>
        <p:spPr>
          <a:xfrm>
            <a:off x="7178040" y="3863487"/>
            <a:ext cx="2203704" cy="628425"/>
          </a:xfrm>
          <a:prstGeom prst="rect">
            <a:avLst/>
          </a:prstGeom>
          <a:noFill/>
          <a:ln/>
        </p:spPr>
        <p:txBody>
          <a:bodyPr wrap="square" lIns="254" tIns="254" rIns="254" bIns="254" rtlCol="0" anchor="t">
            <a:noAutofit/>
          </a:bodyPr>
          <a:lstStyle/>
          <a:p>
            <a:pPr marL="0" indent="0">
              <a:buNone/>
            </a:pPr>
            <a:r>
              <a:rPr lang="en-US" sz="1150" dirty="0">
                <a:solidFill>
                  <a:srgbClr val="586879"/>
                </a:solidFill>
                <a:latin typeface="Segoe UI"/>
                <a:ea typeface="Aptos" pitchFamily="34" charset="-122"/>
                <a:cs typeface="Aptos" pitchFamily="34" charset="-120"/>
              </a:rPr>
              <a:t>Backward-looking trends often react after counts move, narrowing the mitigation window.</a:t>
            </a:r>
            <a:endParaRPr lang="en-US" sz="1150" dirty="0"/>
          </a:p>
        </p:txBody>
      </p:sp>
      <p:sp>
        <p:nvSpPr>
          <p:cNvPr id="47" name="Text 33">
            <a:extLst>
              <a:ext uri="{FF2B5EF4-FFF2-40B4-BE49-F238E27FC236}">
                <a16:creationId xmlns:a16="http://schemas.microsoft.com/office/drawing/2014/main" id="{EE0831BC-2928-21E4-A597-1541C915480D}"/>
              </a:ext>
            </a:extLst>
          </p:cNvPr>
          <p:cNvSpPr/>
          <p:nvPr/>
        </p:nvSpPr>
        <p:spPr>
          <a:xfrm>
            <a:off x="9738360" y="1430971"/>
            <a:ext cx="2148840" cy="228600"/>
          </a:xfrm>
          <a:prstGeom prst="rect">
            <a:avLst/>
          </a:prstGeom>
          <a:noFill/>
          <a:ln/>
        </p:spPr>
        <p:txBody>
          <a:bodyPr wrap="square" lIns="0" tIns="0" rIns="0" bIns="0" rtlCol="0" anchor="ctr"/>
          <a:lstStyle/>
          <a:p>
            <a:pPr marL="0" indent="0">
              <a:buNone/>
            </a:pPr>
            <a:r>
              <a:rPr lang="en-US" sz="1400" b="1" dirty="0">
                <a:solidFill>
                  <a:srgbClr val="0E2C5B"/>
                </a:solidFill>
                <a:latin typeface="Segoe UI" pitchFamily="34" charset="0"/>
                <a:ea typeface="Aptos" pitchFamily="34" charset="-122"/>
                <a:cs typeface="Aptos" pitchFamily="34" charset="-120"/>
              </a:rPr>
              <a:t>EDM adds</a:t>
            </a:r>
            <a:endParaRPr lang="en-US" sz="1400" dirty="0"/>
          </a:p>
        </p:txBody>
      </p:sp>
      <p:grpSp>
        <p:nvGrpSpPr>
          <p:cNvPr id="12" name="Group 11">
            <a:extLst>
              <a:ext uri="{FF2B5EF4-FFF2-40B4-BE49-F238E27FC236}">
                <a16:creationId xmlns:a16="http://schemas.microsoft.com/office/drawing/2014/main" id="{74F51CAA-4D99-942B-0EA9-2279385EC6E1}"/>
              </a:ext>
            </a:extLst>
          </p:cNvPr>
          <p:cNvGrpSpPr/>
          <p:nvPr/>
        </p:nvGrpSpPr>
        <p:grpSpPr>
          <a:xfrm>
            <a:off x="9555480" y="2052976"/>
            <a:ext cx="2084832" cy="495921"/>
            <a:chOff x="9555480" y="2052976"/>
            <a:chExt cx="2084832" cy="495921"/>
          </a:xfrm>
        </p:grpSpPr>
        <p:sp>
          <p:nvSpPr>
            <p:cNvPr id="48" name="Shape 34">
              <a:extLst>
                <a:ext uri="{FF2B5EF4-FFF2-40B4-BE49-F238E27FC236}">
                  <a16:creationId xmlns:a16="http://schemas.microsoft.com/office/drawing/2014/main" id="{D909F2B9-8779-BAED-B1AD-184077E0DAF4}"/>
                </a:ext>
              </a:extLst>
            </p:cNvPr>
            <p:cNvSpPr/>
            <p:nvPr/>
          </p:nvSpPr>
          <p:spPr>
            <a:xfrm>
              <a:off x="9555480" y="2052976"/>
              <a:ext cx="2084832" cy="495921"/>
            </a:xfrm>
            <a:prstGeom prst="roundRect">
              <a:avLst>
                <a:gd name="adj" fmla="val 12500"/>
              </a:avLst>
            </a:prstGeom>
            <a:solidFill>
              <a:srgbClr val="EEF4FA"/>
            </a:solidFill>
            <a:ln w="10160">
              <a:solidFill>
                <a:srgbClr val="CBD7E3"/>
              </a:solidFill>
              <a:prstDash val="solid"/>
            </a:ln>
          </p:spPr>
          <p:txBody>
            <a:bodyPr/>
            <a:lstStyle/>
            <a:p>
              <a:endParaRPr lang="en-US" sz="1100"/>
            </a:p>
          </p:txBody>
        </p:sp>
        <p:sp>
          <p:nvSpPr>
            <p:cNvPr id="49" name="Text 35">
              <a:extLst>
                <a:ext uri="{FF2B5EF4-FFF2-40B4-BE49-F238E27FC236}">
                  <a16:creationId xmlns:a16="http://schemas.microsoft.com/office/drawing/2014/main" id="{563307C2-1393-0603-2BB0-0748298CF0C2}"/>
                </a:ext>
              </a:extLst>
            </p:cNvPr>
            <p:cNvSpPr/>
            <p:nvPr/>
          </p:nvSpPr>
          <p:spPr>
            <a:xfrm>
              <a:off x="9710928" y="2126055"/>
              <a:ext cx="1600200" cy="109728"/>
            </a:xfrm>
            <a:prstGeom prst="rect">
              <a:avLst/>
            </a:prstGeom>
            <a:noFill/>
            <a:ln/>
          </p:spPr>
          <p:txBody>
            <a:bodyPr wrap="square" lIns="0" tIns="0" rIns="0" bIns="0" rtlCol="0" anchor="ctr"/>
            <a:lstStyle/>
            <a:p>
              <a:pPr marL="0" indent="0">
                <a:buNone/>
              </a:pPr>
              <a:r>
                <a:rPr lang="en-US" sz="1400" b="1" dirty="0">
                  <a:solidFill>
                    <a:srgbClr val="0E2C5B"/>
                  </a:solidFill>
                  <a:latin typeface="Segoe UI"/>
                  <a:ea typeface="Aptos" pitchFamily="34" charset="-122"/>
                  <a:cs typeface="Aptos" pitchFamily="34" charset="-120"/>
                </a:rPr>
                <a:t>Drift</a:t>
              </a:r>
              <a:endParaRPr lang="en-US" sz="1400" dirty="0"/>
            </a:p>
          </p:txBody>
        </p:sp>
        <p:sp>
          <p:nvSpPr>
            <p:cNvPr id="50" name="Text 36">
              <a:extLst>
                <a:ext uri="{FF2B5EF4-FFF2-40B4-BE49-F238E27FC236}">
                  <a16:creationId xmlns:a16="http://schemas.microsoft.com/office/drawing/2014/main" id="{098E7BC9-74E5-6D4C-FD8A-7FB1938C7474}"/>
                </a:ext>
              </a:extLst>
            </p:cNvPr>
            <p:cNvSpPr/>
            <p:nvPr/>
          </p:nvSpPr>
          <p:spPr>
            <a:xfrm>
              <a:off x="9710928" y="2271448"/>
              <a:ext cx="1764792" cy="260752"/>
            </a:xfrm>
            <a:prstGeom prst="rect">
              <a:avLst/>
            </a:prstGeom>
            <a:noFill/>
            <a:ln/>
          </p:spPr>
          <p:txBody>
            <a:bodyPr wrap="square" lIns="0" tIns="0" rIns="0" bIns="0" rtlCol="0" anchor="ctr"/>
            <a:lstStyle/>
            <a:p>
              <a:pPr marL="0" indent="0">
                <a:buNone/>
              </a:pPr>
              <a:r>
                <a:rPr lang="en-US" sz="1100" dirty="0">
                  <a:solidFill>
                    <a:srgbClr val="586879"/>
                  </a:solidFill>
                  <a:latin typeface="Segoe UI"/>
                  <a:ea typeface="Aptos" pitchFamily="34" charset="-122"/>
                  <a:cs typeface="Aptos" pitchFamily="34" charset="-120"/>
                </a:rPr>
                <a:t>Where the entity is heading</a:t>
              </a:r>
              <a:endParaRPr lang="en-US" sz="1100" dirty="0"/>
            </a:p>
          </p:txBody>
        </p:sp>
      </p:grpSp>
      <p:grpSp>
        <p:nvGrpSpPr>
          <p:cNvPr id="11" name="Group 10">
            <a:extLst>
              <a:ext uri="{FF2B5EF4-FFF2-40B4-BE49-F238E27FC236}">
                <a16:creationId xmlns:a16="http://schemas.microsoft.com/office/drawing/2014/main" id="{03C4CEC6-0974-96BC-C8FE-702505546C49}"/>
              </a:ext>
            </a:extLst>
          </p:cNvPr>
          <p:cNvGrpSpPr/>
          <p:nvPr/>
        </p:nvGrpSpPr>
        <p:grpSpPr>
          <a:xfrm>
            <a:off x="9555480" y="2748760"/>
            <a:ext cx="2084832" cy="495921"/>
            <a:chOff x="9555480" y="2711344"/>
            <a:chExt cx="2084832" cy="495921"/>
          </a:xfrm>
        </p:grpSpPr>
        <p:sp>
          <p:nvSpPr>
            <p:cNvPr id="51" name="Shape 37">
              <a:extLst>
                <a:ext uri="{FF2B5EF4-FFF2-40B4-BE49-F238E27FC236}">
                  <a16:creationId xmlns:a16="http://schemas.microsoft.com/office/drawing/2014/main" id="{8FB12877-195A-54B4-82CC-C62A623B12BC}"/>
                </a:ext>
              </a:extLst>
            </p:cNvPr>
            <p:cNvSpPr/>
            <p:nvPr/>
          </p:nvSpPr>
          <p:spPr>
            <a:xfrm>
              <a:off x="9555480" y="2711344"/>
              <a:ext cx="2084832" cy="495921"/>
            </a:xfrm>
            <a:prstGeom prst="roundRect">
              <a:avLst>
                <a:gd name="adj" fmla="val 12500"/>
              </a:avLst>
            </a:prstGeom>
            <a:solidFill>
              <a:srgbClr val="EEF4FA"/>
            </a:solidFill>
            <a:ln w="10160">
              <a:solidFill>
                <a:srgbClr val="CBD7E3"/>
              </a:solidFill>
              <a:prstDash val="solid"/>
            </a:ln>
          </p:spPr>
          <p:txBody>
            <a:bodyPr/>
            <a:lstStyle/>
            <a:p>
              <a:endParaRPr lang="en-US" sz="1150"/>
            </a:p>
          </p:txBody>
        </p:sp>
        <p:sp>
          <p:nvSpPr>
            <p:cNvPr id="52" name="Text 38">
              <a:extLst>
                <a:ext uri="{FF2B5EF4-FFF2-40B4-BE49-F238E27FC236}">
                  <a16:creationId xmlns:a16="http://schemas.microsoft.com/office/drawing/2014/main" id="{3DFABEB4-795B-5FD4-5A02-1EBAA540F105}"/>
                </a:ext>
              </a:extLst>
            </p:cNvPr>
            <p:cNvSpPr/>
            <p:nvPr/>
          </p:nvSpPr>
          <p:spPr>
            <a:xfrm>
              <a:off x="9738360" y="2775352"/>
              <a:ext cx="1600200" cy="109728"/>
            </a:xfrm>
            <a:prstGeom prst="rect">
              <a:avLst/>
            </a:prstGeom>
            <a:noFill/>
            <a:ln/>
          </p:spPr>
          <p:txBody>
            <a:bodyPr wrap="square" lIns="0" tIns="0" rIns="0" bIns="0" rtlCol="0" anchor="ctr"/>
            <a:lstStyle/>
            <a:p>
              <a:pPr marL="0" indent="0">
                <a:buNone/>
              </a:pPr>
              <a:r>
                <a:rPr lang="en-US" sz="1400" b="1" dirty="0">
                  <a:solidFill>
                    <a:srgbClr val="0E2C5B"/>
                  </a:solidFill>
                  <a:latin typeface="Segoe UI"/>
                  <a:ea typeface="Aptos" pitchFamily="34" charset="-122"/>
                  <a:cs typeface="Aptos" pitchFamily="34" charset="-120"/>
                </a:rPr>
                <a:t>Context</a:t>
              </a:r>
              <a:endParaRPr lang="en-US" sz="1400" dirty="0"/>
            </a:p>
          </p:txBody>
        </p:sp>
        <p:sp>
          <p:nvSpPr>
            <p:cNvPr id="53" name="Text 39">
              <a:extLst>
                <a:ext uri="{FF2B5EF4-FFF2-40B4-BE49-F238E27FC236}">
                  <a16:creationId xmlns:a16="http://schemas.microsoft.com/office/drawing/2014/main" id="{E88BFC1B-E2F9-0184-4518-30A8BC426260}"/>
                </a:ext>
              </a:extLst>
            </p:cNvPr>
            <p:cNvSpPr/>
            <p:nvPr/>
          </p:nvSpPr>
          <p:spPr>
            <a:xfrm>
              <a:off x="9738360" y="3017142"/>
              <a:ext cx="1627632" cy="91440"/>
            </a:xfrm>
            <a:prstGeom prst="rect">
              <a:avLst/>
            </a:prstGeom>
            <a:noFill/>
            <a:ln/>
          </p:spPr>
          <p:txBody>
            <a:bodyPr wrap="square" lIns="0" tIns="0" rIns="0" bIns="0" rtlCol="0" anchor="ctr"/>
            <a:lstStyle/>
            <a:p>
              <a:pPr marL="0" indent="0">
                <a:buNone/>
              </a:pPr>
              <a:r>
                <a:rPr lang="en-US" sz="1150" dirty="0">
                  <a:solidFill>
                    <a:srgbClr val="586879"/>
                  </a:solidFill>
                  <a:latin typeface="Segoe UI"/>
                  <a:ea typeface="Aptos" pitchFamily="34" charset="-122"/>
                  <a:cs typeface="Aptos" pitchFamily="34" charset="-120"/>
                </a:rPr>
                <a:t>How signals relate</a:t>
              </a:r>
              <a:endParaRPr lang="en-US" sz="1150" dirty="0"/>
            </a:p>
          </p:txBody>
        </p:sp>
      </p:grpSp>
      <p:grpSp>
        <p:nvGrpSpPr>
          <p:cNvPr id="10" name="Group 9">
            <a:extLst>
              <a:ext uri="{FF2B5EF4-FFF2-40B4-BE49-F238E27FC236}">
                <a16:creationId xmlns:a16="http://schemas.microsoft.com/office/drawing/2014/main" id="{323B0E98-6497-77BA-3DFB-972053E1ABD7}"/>
              </a:ext>
            </a:extLst>
          </p:cNvPr>
          <p:cNvGrpSpPr/>
          <p:nvPr/>
        </p:nvGrpSpPr>
        <p:grpSpPr>
          <a:xfrm>
            <a:off x="9555480" y="3467225"/>
            <a:ext cx="2084832" cy="495921"/>
            <a:chOff x="9555480" y="3369712"/>
            <a:chExt cx="2084832" cy="495921"/>
          </a:xfrm>
        </p:grpSpPr>
        <p:sp>
          <p:nvSpPr>
            <p:cNvPr id="54" name="Shape 40">
              <a:extLst>
                <a:ext uri="{FF2B5EF4-FFF2-40B4-BE49-F238E27FC236}">
                  <a16:creationId xmlns:a16="http://schemas.microsoft.com/office/drawing/2014/main" id="{5F0BCB4B-413D-C601-5408-2A6CE01DAD86}"/>
                </a:ext>
              </a:extLst>
            </p:cNvPr>
            <p:cNvSpPr/>
            <p:nvPr/>
          </p:nvSpPr>
          <p:spPr>
            <a:xfrm>
              <a:off x="9555480" y="3369712"/>
              <a:ext cx="2084832" cy="495921"/>
            </a:xfrm>
            <a:prstGeom prst="roundRect">
              <a:avLst>
                <a:gd name="adj" fmla="val 12500"/>
              </a:avLst>
            </a:prstGeom>
            <a:solidFill>
              <a:srgbClr val="EEF4FA"/>
            </a:solidFill>
            <a:ln w="10160">
              <a:solidFill>
                <a:srgbClr val="CBD7E3"/>
              </a:solidFill>
              <a:prstDash val="solid"/>
            </a:ln>
          </p:spPr>
          <p:txBody>
            <a:bodyPr/>
            <a:lstStyle/>
            <a:p>
              <a:endParaRPr lang="en-US" sz="1150"/>
            </a:p>
          </p:txBody>
        </p:sp>
        <p:sp>
          <p:nvSpPr>
            <p:cNvPr id="55" name="Text 41">
              <a:extLst>
                <a:ext uri="{FF2B5EF4-FFF2-40B4-BE49-F238E27FC236}">
                  <a16:creationId xmlns:a16="http://schemas.microsoft.com/office/drawing/2014/main" id="{6AC5DD2F-471B-A758-B180-0444A715E768}"/>
                </a:ext>
              </a:extLst>
            </p:cNvPr>
            <p:cNvSpPr/>
            <p:nvPr/>
          </p:nvSpPr>
          <p:spPr>
            <a:xfrm>
              <a:off x="9732645" y="3421948"/>
              <a:ext cx="1600200" cy="109728"/>
            </a:xfrm>
            <a:prstGeom prst="rect">
              <a:avLst/>
            </a:prstGeom>
            <a:noFill/>
            <a:ln/>
          </p:spPr>
          <p:txBody>
            <a:bodyPr wrap="square" lIns="0" tIns="0" rIns="0" bIns="0" rtlCol="0" anchor="ctr"/>
            <a:lstStyle/>
            <a:p>
              <a:pPr marL="0" indent="0">
                <a:buNone/>
              </a:pPr>
              <a:r>
                <a:rPr lang="en-US" sz="1400" b="1" dirty="0">
                  <a:solidFill>
                    <a:srgbClr val="0E2C5B"/>
                  </a:solidFill>
                  <a:latin typeface="Segoe UI"/>
                  <a:ea typeface="Aptos" pitchFamily="34" charset="-122"/>
                  <a:cs typeface="Aptos" pitchFamily="34" charset="-120"/>
                </a:rPr>
                <a:t>Dynamic bands</a:t>
              </a:r>
              <a:endParaRPr lang="en-US" sz="1400" dirty="0"/>
            </a:p>
          </p:txBody>
        </p:sp>
        <p:sp>
          <p:nvSpPr>
            <p:cNvPr id="56" name="Text 42">
              <a:extLst>
                <a:ext uri="{FF2B5EF4-FFF2-40B4-BE49-F238E27FC236}">
                  <a16:creationId xmlns:a16="http://schemas.microsoft.com/office/drawing/2014/main" id="{E6E68C4D-E4EB-20F0-C057-01B3A1D4DFD0}"/>
                </a:ext>
              </a:extLst>
            </p:cNvPr>
            <p:cNvSpPr/>
            <p:nvPr/>
          </p:nvSpPr>
          <p:spPr>
            <a:xfrm>
              <a:off x="9738360" y="3654551"/>
              <a:ext cx="1627632" cy="91440"/>
            </a:xfrm>
            <a:prstGeom prst="rect">
              <a:avLst/>
            </a:prstGeom>
            <a:noFill/>
            <a:ln/>
          </p:spPr>
          <p:txBody>
            <a:bodyPr wrap="square" lIns="0" tIns="0" rIns="0" bIns="0" rtlCol="0" anchor="ctr"/>
            <a:lstStyle/>
            <a:p>
              <a:pPr marL="0" indent="0">
                <a:buNone/>
              </a:pPr>
              <a:r>
                <a:rPr lang="en-US" sz="1150" dirty="0">
                  <a:solidFill>
                    <a:srgbClr val="586879"/>
                  </a:solidFill>
                  <a:latin typeface="Segoe UI"/>
                  <a:ea typeface="Aptos" pitchFamily="34" charset="-122"/>
                  <a:cs typeface="Aptos" pitchFamily="34" charset="-120"/>
                </a:rPr>
                <a:t>How uncertainty changes</a:t>
              </a:r>
              <a:endParaRPr lang="en-US" sz="1150" dirty="0"/>
            </a:p>
          </p:txBody>
        </p:sp>
      </p:grpSp>
      <p:grpSp>
        <p:nvGrpSpPr>
          <p:cNvPr id="9" name="Group 8">
            <a:extLst>
              <a:ext uri="{FF2B5EF4-FFF2-40B4-BE49-F238E27FC236}">
                <a16:creationId xmlns:a16="http://schemas.microsoft.com/office/drawing/2014/main" id="{8D0F337C-C4F0-E0D2-3645-9D2F38DA5638}"/>
              </a:ext>
            </a:extLst>
          </p:cNvPr>
          <p:cNvGrpSpPr/>
          <p:nvPr/>
        </p:nvGrpSpPr>
        <p:grpSpPr>
          <a:xfrm>
            <a:off x="9555480" y="4145250"/>
            <a:ext cx="2084832" cy="495921"/>
            <a:chOff x="9555480" y="4028080"/>
            <a:chExt cx="2084832" cy="495921"/>
          </a:xfrm>
        </p:grpSpPr>
        <p:sp>
          <p:nvSpPr>
            <p:cNvPr id="57" name="Shape 43">
              <a:extLst>
                <a:ext uri="{FF2B5EF4-FFF2-40B4-BE49-F238E27FC236}">
                  <a16:creationId xmlns:a16="http://schemas.microsoft.com/office/drawing/2014/main" id="{EDBA687E-5B83-E579-E117-551B6FC43454}"/>
                </a:ext>
              </a:extLst>
            </p:cNvPr>
            <p:cNvSpPr/>
            <p:nvPr/>
          </p:nvSpPr>
          <p:spPr>
            <a:xfrm>
              <a:off x="9555480" y="4028080"/>
              <a:ext cx="2084832" cy="495921"/>
            </a:xfrm>
            <a:prstGeom prst="roundRect">
              <a:avLst>
                <a:gd name="adj" fmla="val 12500"/>
              </a:avLst>
            </a:prstGeom>
            <a:solidFill>
              <a:srgbClr val="EEF4FA"/>
            </a:solidFill>
            <a:ln w="10160">
              <a:solidFill>
                <a:srgbClr val="CBD7E3"/>
              </a:solidFill>
              <a:prstDash val="solid"/>
            </a:ln>
          </p:spPr>
          <p:txBody>
            <a:bodyPr/>
            <a:lstStyle/>
            <a:p>
              <a:endParaRPr lang="en-US" sz="1150"/>
            </a:p>
          </p:txBody>
        </p:sp>
        <p:sp>
          <p:nvSpPr>
            <p:cNvPr id="58" name="Text 44">
              <a:extLst>
                <a:ext uri="{FF2B5EF4-FFF2-40B4-BE49-F238E27FC236}">
                  <a16:creationId xmlns:a16="http://schemas.microsoft.com/office/drawing/2014/main" id="{B2BEAEC8-474C-78AF-D91D-F39E4BDB1538}"/>
                </a:ext>
              </a:extLst>
            </p:cNvPr>
            <p:cNvSpPr/>
            <p:nvPr/>
          </p:nvSpPr>
          <p:spPr>
            <a:xfrm>
              <a:off x="9732645" y="4092088"/>
              <a:ext cx="1600200" cy="109728"/>
            </a:xfrm>
            <a:prstGeom prst="rect">
              <a:avLst/>
            </a:prstGeom>
            <a:noFill/>
            <a:ln/>
          </p:spPr>
          <p:txBody>
            <a:bodyPr wrap="square" lIns="0" tIns="0" rIns="0" bIns="0" rtlCol="0" anchor="ctr"/>
            <a:lstStyle/>
            <a:p>
              <a:pPr marL="0" indent="0">
                <a:buNone/>
              </a:pPr>
              <a:r>
                <a:rPr lang="en-US" sz="1150" b="1" dirty="0">
                  <a:solidFill>
                    <a:srgbClr val="0E2C5B"/>
                  </a:solidFill>
                  <a:latin typeface="Segoe UI"/>
                  <a:ea typeface="Aptos" pitchFamily="34" charset="-122"/>
                  <a:cs typeface="Aptos" pitchFamily="34" charset="-120"/>
                </a:rPr>
                <a:t>Network </a:t>
              </a:r>
              <a:r>
                <a:rPr lang="en-US" sz="1400" b="1" dirty="0">
                  <a:solidFill>
                    <a:srgbClr val="0E2C5B"/>
                  </a:solidFill>
                  <a:latin typeface="Segoe UI"/>
                  <a:ea typeface="Aptos" pitchFamily="34" charset="-122"/>
                  <a:cs typeface="Aptos" pitchFamily="34" charset="-120"/>
                </a:rPr>
                <a:t>effects</a:t>
              </a:r>
              <a:endParaRPr lang="en-US" sz="1150" dirty="0"/>
            </a:p>
          </p:txBody>
        </p:sp>
        <p:sp>
          <p:nvSpPr>
            <p:cNvPr id="59" name="Text 45">
              <a:extLst>
                <a:ext uri="{FF2B5EF4-FFF2-40B4-BE49-F238E27FC236}">
                  <a16:creationId xmlns:a16="http://schemas.microsoft.com/office/drawing/2014/main" id="{A6A1B7E7-78D1-03F5-F207-9C27F9B59BDB}"/>
                </a:ext>
              </a:extLst>
            </p:cNvPr>
            <p:cNvSpPr/>
            <p:nvPr/>
          </p:nvSpPr>
          <p:spPr>
            <a:xfrm>
              <a:off x="9732645" y="4304689"/>
              <a:ext cx="1627632" cy="91440"/>
            </a:xfrm>
            <a:prstGeom prst="rect">
              <a:avLst/>
            </a:prstGeom>
            <a:noFill/>
            <a:ln/>
          </p:spPr>
          <p:txBody>
            <a:bodyPr wrap="square" lIns="0" tIns="0" rIns="0" bIns="0" rtlCol="0" anchor="ctr"/>
            <a:lstStyle/>
            <a:p>
              <a:pPr marL="0" indent="0">
                <a:buNone/>
              </a:pPr>
              <a:r>
                <a:rPr lang="en-US" sz="1150" dirty="0">
                  <a:solidFill>
                    <a:srgbClr val="586879"/>
                  </a:solidFill>
                  <a:latin typeface="Segoe UI"/>
                  <a:ea typeface="Aptos" pitchFamily="34" charset="-122"/>
                  <a:cs typeface="Aptos" pitchFamily="34" charset="-120"/>
                </a:rPr>
                <a:t>How risk propagates</a:t>
              </a:r>
              <a:endParaRPr lang="en-US" sz="1150" dirty="0"/>
            </a:p>
          </p:txBody>
        </p:sp>
      </p:grpSp>
      <p:sp>
        <p:nvSpPr>
          <p:cNvPr id="14" name="Text 4">
            <a:extLst>
              <a:ext uri="{FF2B5EF4-FFF2-40B4-BE49-F238E27FC236}">
                <a16:creationId xmlns:a16="http://schemas.microsoft.com/office/drawing/2014/main" id="{88E9A282-5ABA-740C-8BC7-CC0615A54517}"/>
              </a:ext>
            </a:extLst>
          </p:cNvPr>
          <p:cNvSpPr/>
          <p:nvPr/>
        </p:nvSpPr>
        <p:spPr>
          <a:xfrm>
            <a:off x="438912" y="6510528"/>
            <a:ext cx="80467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CONFIDENTIAL  |  22</a:t>
            </a:r>
            <a:r>
              <a:rPr kumimoji="0" lang="en-US" sz="800" b="0" i="0" u="none" strike="noStrike" kern="1200" cap="none" spc="0" normalizeH="0" baseline="30000" noProof="0" dirty="0">
                <a:ln>
                  <a:noFill/>
                </a:ln>
                <a:solidFill>
                  <a:srgbClr val="5B6470"/>
                </a:solidFill>
                <a:effectLst/>
                <a:uLnTx/>
                <a:uFillTx/>
                <a:latin typeface="Segoe UI"/>
                <a:ea typeface="Aptos" pitchFamily="34" charset="-122"/>
                <a:cs typeface="Aptos" pitchFamily="34" charset="-120"/>
              </a:rPr>
              <a:t>nd</a:t>
            </a: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 Century Technologies  |  DLA EDM Vector Intelligence</a:t>
            </a:r>
            <a:endParaRPr kumimoji="0" lang="en-US" sz="800" b="0" i="0" u="none" strike="noStrike" kern="1200" cap="none" spc="0" normalizeH="0" baseline="0" noProof="0" dirty="0">
              <a:ln>
                <a:noFill/>
              </a:ln>
              <a:solidFill>
                <a:prstClr val="black"/>
              </a:solidFill>
              <a:effectLst/>
              <a:uLnTx/>
              <a:uFillTx/>
              <a:ea typeface="+mn-ea"/>
              <a:cs typeface="+mn-cs"/>
            </a:endParaRPr>
          </a:p>
        </p:txBody>
      </p:sp>
      <p:sp>
        <p:nvSpPr>
          <p:cNvPr id="13" name="Shape 0">
            <a:extLst>
              <a:ext uri="{FF2B5EF4-FFF2-40B4-BE49-F238E27FC236}">
                <a16:creationId xmlns:a16="http://schemas.microsoft.com/office/drawing/2014/main" id="{56708C0D-2E71-82B7-38A8-2A4F0E860A6A}"/>
              </a:ext>
            </a:extLst>
          </p:cNvPr>
          <p:cNvSpPr/>
          <p:nvPr/>
        </p:nvSpPr>
        <p:spPr>
          <a:xfrm>
            <a:off x="0" y="0"/>
            <a:ext cx="12191695" cy="137160"/>
          </a:xfrm>
          <a:prstGeom prst="rect">
            <a:avLst/>
          </a:prstGeom>
          <a:solidFill>
            <a:srgbClr val="06244A"/>
          </a:solidFill>
          <a:ln w="12700">
            <a:solidFill>
              <a:srgbClr val="06244A"/>
            </a:solidFill>
            <a:prstDash val="solid"/>
          </a:ln>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0B2B4C"/>
          </a:solidFill>
          <a:ln w="12700">
            <a:solidFill>
              <a:srgbClr val="0B2B4C"/>
            </a:solidFill>
            <a:prstDash val="solid"/>
          </a:ln>
        </p:spPr>
        <p:txBody>
          <a:bodyPr/>
          <a:lstStyle/>
          <a:p>
            <a:endParaRPr lang="en-US"/>
          </a:p>
        </p:txBody>
      </p:sp>
      <p:sp>
        <p:nvSpPr>
          <p:cNvPr id="3" name="Text 1"/>
          <p:cNvSpPr/>
          <p:nvPr/>
        </p:nvSpPr>
        <p:spPr>
          <a:xfrm>
            <a:off x="438912" y="329184"/>
            <a:ext cx="7955280" cy="347472"/>
          </a:xfrm>
          <a:prstGeom prst="rect">
            <a:avLst/>
          </a:prstGeom>
          <a:noFill/>
          <a:ln/>
        </p:spPr>
        <p:txBody>
          <a:bodyPr wrap="square" lIns="508" tIns="508" rIns="508" bIns="508" rtlCol="0" anchor="t">
            <a:normAutofit lnSpcReduction="10000"/>
          </a:bodyPr>
          <a:lstStyle/>
          <a:p>
            <a:pPr marL="0" indent="0" algn="l">
              <a:buNone/>
            </a:pPr>
            <a:r>
              <a:rPr lang="en-US" sz="2400" b="1" dirty="0">
                <a:solidFill>
                  <a:srgbClr val="102A4C"/>
                </a:solidFill>
                <a:latin typeface="Segoe UI" pitchFamily="34" charset="0"/>
                <a:ea typeface="Aptos" pitchFamily="34" charset="-122"/>
                <a:cs typeface="Aptos" pitchFamily="34" charset="-120"/>
              </a:rPr>
              <a:t>Same data, stronger decision context</a:t>
            </a:r>
            <a:endParaRPr lang="en-US" sz="2400" dirty="0"/>
          </a:p>
        </p:txBody>
      </p:sp>
      <p:sp>
        <p:nvSpPr>
          <p:cNvPr id="5" name="Text 3"/>
          <p:cNvSpPr/>
          <p:nvPr/>
        </p:nvSpPr>
        <p:spPr>
          <a:xfrm>
            <a:off x="457200" y="830612"/>
            <a:ext cx="10881360" cy="228600"/>
          </a:xfrm>
          <a:prstGeom prst="rect">
            <a:avLst/>
          </a:prstGeom>
          <a:noFill/>
          <a:ln/>
        </p:spPr>
        <p:txBody>
          <a:bodyPr wrap="square" lIns="508" tIns="508" rIns="508" bIns="508" rtlCol="0" anchor="t">
            <a:normAutofit fontScale="92500"/>
          </a:bodyPr>
          <a:lstStyle/>
          <a:p>
            <a:pPr marL="0" indent="0" algn="l">
              <a:buNone/>
            </a:pPr>
            <a:r>
              <a:rPr lang="en-US" sz="1050" dirty="0">
                <a:solidFill>
                  <a:srgbClr val="5A6778"/>
                </a:solidFill>
                <a:latin typeface="Segoe UI" pitchFamily="34" charset="0"/>
                <a:ea typeface="Aptos" pitchFamily="34" charset="-122"/>
                <a:cs typeface="Aptos" pitchFamily="34" charset="-120"/>
              </a:rPr>
              <a:t>One shared data foundation feeds both paths. EDM re-models the same data as behavioral entities; the forecast lift comes from the embedding and base features, with cohort transfer for cold-start and drift and signals for early-warning, not forecast accuracy. Synthetic data.</a:t>
            </a:r>
            <a:endParaRPr lang="en-US" sz="1050" dirty="0"/>
          </a:p>
        </p:txBody>
      </p:sp>
      <p:sp>
        <p:nvSpPr>
          <p:cNvPr id="6" name="Shape 4"/>
          <p:cNvSpPr/>
          <p:nvPr/>
        </p:nvSpPr>
        <p:spPr>
          <a:xfrm>
            <a:off x="457200" y="1097280"/>
            <a:ext cx="10835640" cy="0"/>
          </a:xfrm>
          <a:prstGeom prst="line">
            <a:avLst/>
          </a:prstGeom>
          <a:noFill/>
          <a:ln w="15240">
            <a:solidFill>
              <a:srgbClr val="F97316"/>
            </a:solidFill>
            <a:prstDash val="solid"/>
          </a:ln>
        </p:spPr>
        <p:txBody>
          <a:bodyPr/>
          <a:lstStyle/>
          <a:p>
            <a:endParaRPr lang="en-US"/>
          </a:p>
        </p:txBody>
      </p:sp>
      <p:sp>
        <p:nvSpPr>
          <p:cNvPr id="7" name="Shape 5"/>
          <p:cNvSpPr/>
          <p:nvPr/>
        </p:nvSpPr>
        <p:spPr>
          <a:xfrm>
            <a:off x="530352" y="1335024"/>
            <a:ext cx="2331720" cy="4069080"/>
          </a:xfrm>
          <a:prstGeom prst="roundRect">
            <a:avLst>
              <a:gd name="adj" fmla="val 6275"/>
            </a:avLst>
          </a:prstGeom>
          <a:solidFill>
            <a:srgbClr val="EAF0F6"/>
          </a:solidFill>
          <a:ln w="16510">
            <a:solidFill>
              <a:srgbClr val="C5D3E2"/>
            </a:solidFill>
            <a:prstDash val="solid"/>
          </a:ln>
        </p:spPr>
        <p:txBody>
          <a:bodyPr/>
          <a:lstStyle/>
          <a:p>
            <a:endParaRPr lang="en-US"/>
          </a:p>
        </p:txBody>
      </p:sp>
      <p:sp>
        <p:nvSpPr>
          <p:cNvPr id="8" name="Text 6"/>
          <p:cNvSpPr/>
          <p:nvPr/>
        </p:nvSpPr>
        <p:spPr>
          <a:xfrm>
            <a:off x="749808" y="1572768"/>
            <a:ext cx="1847088" cy="438912"/>
          </a:xfrm>
          <a:prstGeom prst="rect">
            <a:avLst/>
          </a:prstGeom>
          <a:noFill/>
          <a:ln/>
        </p:spPr>
        <p:txBody>
          <a:bodyPr wrap="square" lIns="508" tIns="508" rIns="508" bIns="508" rtlCol="0" anchor="t">
            <a:normAutofit lnSpcReduction="10000"/>
          </a:bodyPr>
          <a:lstStyle/>
          <a:p>
            <a:pPr marL="0" indent="0" algn="l">
              <a:buNone/>
            </a:pPr>
            <a:r>
              <a:rPr lang="en-US" sz="1550" b="1" dirty="0">
                <a:solidFill>
                  <a:srgbClr val="0B2B4C"/>
                </a:solidFill>
                <a:latin typeface="Segoe UI" pitchFamily="34" charset="0"/>
                <a:ea typeface="Aptos" pitchFamily="34" charset="-122"/>
                <a:cs typeface="Aptos" pitchFamily="34" charset="-120"/>
              </a:rPr>
              <a:t>COMMON DATA</a:t>
            </a:r>
            <a:endParaRPr lang="en-US" sz="1550" dirty="0"/>
          </a:p>
          <a:p>
            <a:pPr marL="0" indent="0" algn="l">
              <a:buNone/>
            </a:pPr>
            <a:r>
              <a:rPr lang="en-US" sz="1550" b="1" dirty="0">
                <a:solidFill>
                  <a:srgbClr val="0B2B4C"/>
                </a:solidFill>
                <a:latin typeface="Segoe UI" pitchFamily="34" charset="0"/>
                <a:ea typeface="Aptos" pitchFamily="34" charset="-122"/>
                <a:cs typeface="Aptos" pitchFamily="34" charset="-120"/>
              </a:rPr>
              <a:t>FOUNDATION</a:t>
            </a:r>
            <a:endParaRPr lang="en-US" sz="1550" dirty="0"/>
          </a:p>
        </p:txBody>
      </p:sp>
      <p:sp>
        <p:nvSpPr>
          <p:cNvPr id="9" name="Shape 7"/>
          <p:cNvSpPr/>
          <p:nvPr/>
        </p:nvSpPr>
        <p:spPr>
          <a:xfrm>
            <a:off x="777240" y="2176272"/>
            <a:ext cx="1755648" cy="45720"/>
          </a:xfrm>
          <a:prstGeom prst="rect">
            <a:avLst/>
          </a:prstGeom>
          <a:solidFill>
            <a:srgbClr val="0067B0"/>
          </a:solidFill>
          <a:ln w="12700">
            <a:solidFill>
              <a:srgbClr val="0067B0"/>
            </a:solidFill>
            <a:prstDash val="solid"/>
          </a:ln>
        </p:spPr>
        <p:txBody>
          <a:bodyPr/>
          <a:lstStyle/>
          <a:p>
            <a:endParaRPr lang="en-US"/>
          </a:p>
        </p:txBody>
      </p:sp>
      <p:sp>
        <p:nvSpPr>
          <p:cNvPr id="10" name="Shape 8"/>
          <p:cNvSpPr/>
          <p:nvPr/>
        </p:nvSpPr>
        <p:spPr>
          <a:xfrm>
            <a:off x="777240" y="2304288"/>
            <a:ext cx="1755648" cy="45720"/>
          </a:xfrm>
          <a:prstGeom prst="rect">
            <a:avLst/>
          </a:prstGeom>
          <a:solidFill>
            <a:srgbClr val="007878"/>
          </a:solidFill>
          <a:ln w="12700">
            <a:solidFill>
              <a:srgbClr val="007878"/>
            </a:solidFill>
            <a:prstDash val="solid"/>
          </a:ln>
        </p:spPr>
        <p:txBody>
          <a:bodyPr/>
          <a:lstStyle/>
          <a:p>
            <a:endParaRPr lang="en-US"/>
          </a:p>
        </p:txBody>
      </p:sp>
      <p:sp>
        <p:nvSpPr>
          <p:cNvPr id="11" name="Shape 9"/>
          <p:cNvSpPr/>
          <p:nvPr/>
        </p:nvSpPr>
        <p:spPr>
          <a:xfrm>
            <a:off x="777240" y="2432304"/>
            <a:ext cx="1755648" cy="45720"/>
          </a:xfrm>
          <a:prstGeom prst="rect">
            <a:avLst/>
          </a:prstGeom>
          <a:solidFill>
            <a:srgbClr val="0B2B4C"/>
          </a:solidFill>
          <a:ln w="12700">
            <a:solidFill>
              <a:srgbClr val="0B2B4C"/>
            </a:solidFill>
            <a:prstDash val="solid"/>
          </a:ln>
        </p:spPr>
        <p:txBody>
          <a:bodyPr/>
          <a:lstStyle/>
          <a:p>
            <a:endParaRPr lang="en-US"/>
          </a:p>
        </p:txBody>
      </p:sp>
      <p:sp>
        <p:nvSpPr>
          <p:cNvPr id="12" name="Text 10"/>
          <p:cNvSpPr/>
          <p:nvPr/>
        </p:nvSpPr>
        <p:spPr>
          <a:xfrm>
            <a:off x="713232" y="2724912"/>
            <a:ext cx="1920240" cy="182880"/>
          </a:xfrm>
          <a:prstGeom prst="rect">
            <a:avLst/>
          </a:prstGeom>
          <a:noFill/>
          <a:ln/>
        </p:spPr>
        <p:txBody>
          <a:bodyPr wrap="square" lIns="508" tIns="508" rIns="508" bIns="508" rtlCol="0" anchor="t">
            <a:normAutofit fontScale="77500" lnSpcReduction="20000"/>
          </a:bodyPr>
          <a:lstStyle/>
          <a:p>
            <a:pPr marL="0" indent="0" algn="l">
              <a:buNone/>
            </a:pPr>
            <a:r>
              <a:rPr lang="en-US" sz="900" b="1" dirty="0">
                <a:solidFill>
                  <a:srgbClr val="5A6778"/>
                </a:solidFill>
                <a:latin typeface="Segoe UI" pitchFamily="34" charset="0"/>
                <a:ea typeface="Aptos" pitchFamily="34" charset="-122"/>
                <a:cs typeface="Aptos" pitchFamily="34" charset="-120"/>
              </a:rPr>
              <a:t>Same source inputs and snapshot availability</a:t>
            </a:r>
            <a:endParaRPr lang="en-US" sz="900" dirty="0"/>
          </a:p>
        </p:txBody>
      </p:sp>
      <p:sp>
        <p:nvSpPr>
          <p:cNvPr id="13" name="Text 11"/>
          <p:cNvSpPr/>
          <p:nvPr/>
        </p:nvSpPr>
        <p:spPr>
          <a:xfrm>
            <a:off x="749808" y="2962656"/>
            <a:ext cx="1874520" cy="1170432"/>
          </a:xfrm>
          <a:prstGeom prst="rect">
            <a:avLst/>
          </a:prstGeom>
          <a:noFill/>
          <a:ln/>
        </p:spPr>
        <p:txBody>
          <a:bodyPr wrap="square" lIns="508" tIns="508" rIns="508" bIns="508" rtlCol="0" anchor="t">
            <a:normAutofit/>
          </a:bodyPr>
          <a:lstStyle/>
          <a:p>
            <a:pPr marL="117475" indent="-117475" algn="l">
              <a:buFont typeface="Arial" panose="020B0604020202020204" pitchFamily="34" charset="0"/>
              <a:buChar char="•"/>
            </a:pPr>
            <a:r>
              <a:rPr lang="en-US" sz="960" dirty="0">
                <a:solidFill>
                  <a:srgbClr val="1F2937"/>
                </a:solidFill>
                <a:latin typeface="Segoe UI" pitchFamily="34" charset="0"/>
                <a:ea typeface="Aptos" pitchFamily="34" charset="-122"/>
                <a:cs typeface="Aptos" pitchFamily="34" charset="-120"/>
              </a:rPr>
              <a:t>Requisition history – 180 days</a:t>
            </a:r>
            <a:endParaRPr lang="en-US" sz="960" dirty="0"/>
          </a:p>
          <a:p>
            <a:pPr marL="117475" indent="-117475" algn="l">
              <a:buFont typeface="Arial" panose="020B0604020202020204" pitchFamily="34" charset="0"/>
              <a:buChar char="•"/>
            </a:pPr>
            <a:r>
              <a:rPr lang="en-US" sz="960" dirty="0">
                <a:solidFill>
                  <a:srgbClr val="1F2937"/>
                </a:solidFill>
                <a:latin typeface="Segoe UI" pitchFamily="34" charset="0"/>
                <a:ea typeface="Aptos" pitchFamily="34" charset="-122"/>
                <a:cs typeface="Aptos" pitchFamily="34" charset="-120"/>
              </a:rPr>
              <a:t>Exercise + fiscal calendars</a:t>
            </a:r>
            <a:endParaRPr lang="en-US" sz="960" dirty="0"/>
          </a:p>
          <a:p>
            <a:pPr marL="117475" indent="-117475" algn="l">
              <a:buFont typeface="Arial" panose="020B0604020202020204" pitchFamily="34" charset="0"/>
              <a:buChar char="•"/>
            </a:pPr>
            <a:r>
              <a:rPr lang="en-US" sz="960" dirty="0">
                <a:solidFill>
                  <a:srgbClr val="1F2937"/>
                </a:solidFill>
                <a:latin typeface="Segoe UI" pitchFamily="34" charset="0"/>
                <a:ea typeface="Aptos" pitchFamily="34" charset="-122"/>
                <a:cs typeface="Aptos" pitchFamily="34" charset="-120"/>
              </a:rPr>
              <a:t>5 signal families: demand, supply, inventory, volatility, context</a:t>
            </a:r>
            <a:endParaRPr lang="en-US" sz="960" dirty="0"/>
          </a:p>
          <a:p>
            <a:pPr marL="117475" indent="-117475" algn="l">
              <a:buFont typeface="Arial" panose="020B0604020202020204" pitchFamily="34" charset="0"/>
              <a:buChar char="•"/>
            </a:pPr>
            <a:r>
              <a:rPr lang="en-US" sz="960" dirty="0">
                <a:solidFill>
                  <a:srgbClr val="1F2937"/>
                </a:solidFill>
                <a:latin typeface="Segoe UI" pitchFamily="34" charset="0"/>
                <a:ea typeface="Aptos" pitchFamily="34" charset="-122"/>
                <a:cs typeface="Aptos" pitchFamily="34" charset="-120"/>
              </a:rPr>
              <a:t>Item, depot, criticality attributes</a:t>
            </a:r>
            <a:endParaRPr lang="en-US" sz="960" dirty="0"/>
          </a:p>
          <a:p>
            <a:pPr marL="117475" indent="-117475" algn="l">
              <a:buFont typeface="Arial" panose="020B0604020202020204" pitchFamily="34" charset="0"/>
              <a:buChar char="•"/>
            </a:pPr>
            <a:r>
              <a:rPr lang="en-US" sz="960" dirty="0">
                <a:solidFill>
                  <a:srgbClr val="1F2937"/>
                </a:solidFill>
                <a:latin typeface="Segoe UI" pitchFamily="34" charset="0"/>
                <a:ea typeface="Aptos" pitchFamily="34" charset="-122"/>
                <a:cs typeface="Aptos" pitchFamily="34" charset="-120"/>
              </a:rPr>
              <a:t>16–23 monthly snapshots</a:t>
            </a:r>
            <a:endParaRPr lang="en-US" sz="960" dirty="0"/>
          </a:p>
        </p:txBody>
      </p:sp>
      <p:sp>
        <p:nvSpPr>
          <p:cNvPr id="14" name="Text 12"/>
          <p:cNvSpPr/>
          <p:nvPr/>
        </p:nvSpPr>
        <p:spPr>
          <a:xfrm>
            <a:off x="749808" y="4407408"/>
            <a:ext cx="1828800" cy="274320"/>
          </a:xfrm>
          <a:prstGeom prst="rect">
            <a:avLst/>
          </a:prstGeom>
          <a:noFill/>
          <a:ln/>
        </p:spPr>
        <p:txBody>
          <a:bodyPr wrap="square" lIns="508" tIns="508" rIns="508" bIns="508" rtlCol="0" anchor="t">
            <a:normAutofit/>
          </a:bodyPr>
          <a:lstStyle/>
          <a:p>
            <a:pPr marL="0" indent="0" algn="l">
              <a:buNone/>
            </a:pPr>
            <a:r>
              <a:rPr lang="en-US" sz="880" i="1" dirty="0">
                <a:solidFill>
                  <a:srgbClr val="5A6778"/>
                </a:solidFill>
                <a:latin typeface="Segoe UI" pitchFamily="34" charset="0"/>
                <a:ea typeface="Aptos" pitchFamily="34" charset="-122"/>
                <a:cs typeface="Aptos" pitchFamily="34" charset="-120"/>
              </a:rPr>
              <a:t>EDM does not assume more data – it models the same data differently.</a:t>
            </a:r>
            <a:endParaRPr lang="en-US" sz="880" dirty="0"/>
          </a:p>
        </p:txBody>
      </p:sp>
      <p:sp>
        <p:nvSpPr>
          <p:cNvPr id="15" name="Shape 13"/>
          <p:cNvSpPr/>
          <p:nvPr/>
        </p:nvSpPr>
        <p:spPr>
          <a:xfrm>
            <a:off x="2962656" y="2167128"/>
            <a:ext cx="219456" cy="201168"/>
          </a:xfrm>
          <a:prstGeom prst="chevron">
            <a:avLst/>
          </a:prstGeom>
          <a:solidFill>
            <a:srgbClr val="0067B0"/>
          </a:solidFill>
          <a:ln w="12700">
            <a:solidFill>
              <a:srgbClr val="0067B0"/>
            </a:solidFill>
            <a:prstDash val="solid"/>
          </a:ln>
        </p:spPr>
        <p:txBody>
          <a:bodyPr/>
          <a:lstStyle/>
          <a:p>
            <a:endParaRPr lang="en-US"/>
          </a:p>
        </p:txBody>
      </p:sp>
      <p:sp>
        <p:nvSpPr>
          <p:cNvPr id="16" name="Shape 14"/>
          <p:cNvSpPr/>
          <p:nvPr/>
        </p:nvSpPr>
        <p:spPr>
          <a:xfrm>
            <a:off x="2962656" y="4251960"/>
            <a:ext cx="219456" cy="201168"/>
          </a:xfrm>
          <a:prstGeom prst="chevron">
            <a:avLst/>
          </a:prstGeom>
          <a:solidFill>
            <a:srgbClr val="007878"/>
          </a:solidFill>
          <a:ln w="12700">
            <a:solidFill>
              <a:srgbClr val="007878"/>
            </a:solidFill>
            <a:prstDash val="solid"/>
          </a:ln>
        </p:spPr>
        <p:txBody>
          <a:bodyPr/>
          <a:lstStyle/>
          <a:p>
            <a:endParaRPr lang="en-US"/>
          </a:p>
        </p:txBody>
      </p:sp>
      <p:sp>
        <p:nvSpPr>
          <p:cNvPr id="17" name="Shape 15"/>
          <p:cNvSpPr/>
          <p:nvPr/>
        </p:nvSpPr>
        <p:spPr>
          <a:xfrm>
            <a:off x="3246120" y="1353312"/>
            <a:ext cx="8412480" cy="1700784"/>
          </a:xfrm>
          <a:prstGeom prst="roundRect">
            <a:avLst>
              <a:gd name="adj" fmla="val 8602"/>
            </a:avLst>
          </a:prstGeom>
          <a:solidFill>
            <a:srgbClr val="F3F7FB"/>
          </a:solidFill>
          <a:ln w="16510">
            <a:solidFill>
              <a:srgbClr val="C5D3E2"/>
            </a:solidFill>
            <a:prstDash val="solid"/>
          </a:ln>
        </p:spPr>
        <p:txBody>
          <a:bodyPr/>
          <a:lstStyle/>
          <a:p>
            <a:endParaRPr lang="en-US"/>
          </a:p>
        </p:txBody>
      </p:sp>
      <p:sp>
        <p:nvSpPr>
          <p:cNvPr id="18" name="Text 16"/>
          <p:cNvSpPr/>
          <p:nvPr/>
        </p:nvSpPr>
        <p:spPr>
          <a:xfrm>
            <a:off x="3456432" y="1536192"/>
            <a:ext cx="2011680" cy="219456"/>
          </a:xfrm>
          <a:prstGeom prst="rect">
            <a:avLst/>
          </a:prstGeom>
          <a:noFill/>
          <a:ln/>
        </p:spPr>
        <p:txBody>
          <a:bodyPr wrap="square" lIns="508" tIns="508" rIns="508" bIns="508" rtlCol="0" anchor="t">
            <a:normAutofit/>
          </a:bodyPr>
          <a:lstStyle/>
          <a:p>
            <a:pPr marL="0" indent="0" algn="l">
              <a:buNone/>
            </a:pPr>
            <a:r>
              <a:rPr lang="en-US" sz="1400" b="1" dirty="0">
                <a:solidFill>
                  <a:srgbClr val="0067B0"/>
                </a:solidFill>
                <a:latin typeface="Segoe UI" pitchFamily="34" charset="0"/>
                <a:ea typeface="Aptos" pitchFamily="34" charset="-122"/>
                <a:cs typeface="Aptos" pitchFamily="34" charset="-120"/>
              </a:rPr>
              <a:t>LEGACY APPROACH</a:t>
            </a:r>
            <a:endParaRPr lang="en-US" sz="1400" dirty="0"/>
          </a:p>
        </p:txBody>
      </p:sp>
      <p:sp>
        <p:nvSpPr>
          <p:cNvPr id="19" name="Text 17"/>
          <p:cNvSpPr/>
          <p:nvPr/>
        </p:nvSpPr>
        <p:spPr>
          <a:xfrm>
            <a:off x="10104120" y="1626982"/>
            <a:ext cx="1143000" cy="164592"/>
          </a:xfrm>
          <a:prstGeom prst="rect">
            <a:avLst/>
          </a:prstGeom>
          <a:noFill/>
          <a:ln/>
        </p:spPr>
        <p:txBody>
          <a:bodyPr wrap="square" lIns="508" tIns="508" rIns="508" bIns="508" rtlCol="0" anchor="t">
            <a:normAutofit/>
          </a:bodyPr>
          <a:lstStyle/>
          <a:p>
            <a:pPr marL="0" indent="0" algn="ctr">
              <a:buNone/>
            </a:pPr>
            <a:r>
              <a:rPr lang="en-US" sz="870" i="1" dirty="0">
                <a:solidFill>
                  <a:srgbClr val="5A6778"/>
                </a:solidFill>
                <a:latin typeface="Segoe UI" pitchFamily="34" charset="0"/>
                <a:ea typeface="Aptos" pitchFamily="34" charset="-122"/>
                <a:cs typeface="Aptos" pitchFamily="34" charset="-120"/>
              </a:rPr>
              <a:t>transparent baseline</a:t>
            </a:r>
            <a:endParaRPr lang="en-US" sz="870" dirty="0"/>
          </a:p>
        </p:txBody>
      </p:sp>
      <p:grpSp>
        <p:nvGrpSpPr>
          <p:cNvPr id="72" name="Group 71">
            <a:extLst>
              <a:ext uri="{FF2B5EF4-FFF2-40B4-BE49-F238E27FC236}">
                <a16:creationId xmlns:a16="http://schemas.microsoft.com/office/drawing/2014/main" id="{C1A52BFF-0CEA-D3F6-AE92-3E26751AB990}"/>
              </a:ext>
            </a:extLst>
          </p:cNvPr>
          <p:cNvGrpSpPr/>
          <p:nvPr/>
        </p:nvGrpSpPr>
        <p:grpSpPr>
          <a:xfrm>
            <a:off x="3493008" y="1874520"/>
            <a:ext cx="1463040" cy="658368"/>
            <a:chOff x="3493008" y="1874520"/>
            <a:chExt cx="1463040" cy="658368"/>
          </a:xfrm>
        </p:grpSpPr>
        <p:sp>
          <p:nvSpPr>
            <p:cNvPr id="20" name="Shape 18"/>
            <p:cNvSpPr/>
            <p:nvPr/>
          </p:nvSpPr>
          <p:spPr>
            <a:xfrm>
              <a:off x="3493008" y="1874520"/>
              <a:ext cx="1463040" cy="658368"/>
            </a:xfrm>
            <a:prstGeom prst="roundRect">
              <a:avLst>
                <a:gd name="adj" fmla="val 13889"/>
              </a:avLst>
            </a:prstGeom>
            <a:solidFill>
              <a:srgbClr val="FFFFFF"/>
            </a:solidFill>
            <a:ln w="13970">
              <a:solidFill>
                <a:srgbClr val="C5D3E2"/>
              </a:solidFill>
              <a:prstDash val="solid"/>
            </a:ln>
          </p:spPr>
          <p:txBody>
            <a:bodyPr/>
            <a:lstStyle/>
            <a:p>
              <a:endParaRPr lang="en-US"/>
            </a:p>
          </p:txBody>
        </p:sp>
        <p:sp>
          <p:nvSpPr>
            <p:cNvPr id="21" name="Text 19"/>
            <p:cNvSpPr/>
            <p:nvPr/>
          </p:nvSpPr>
          <p:spPr>
            <a:xfrm>
              <a:off x="3602736" y="1965960"/>
              <a:ext cx="1243584" cy="256032"/>
            </a:xfrm>
            <a:prstGeom prst="rect">
              <a:avLst/>
            </a:prstGeom>
            <a:noFill/>
            <a:ln/>
          </p:spPr>
          <p:txBody>
            <a:bodyPr wrap="square" lIns="508" tIns="508" rIns="508" bIns="508" rtlCol="0" anchor="t">
              <a:normAutofit/>
            </a:bodyPr>
            <a:lstStyle/>
            <a:p>
              <a:pPr marL="0" indent="0" algn="l">
                <a:buNone/>
              </a:pPr>
              <a:r>
                <a:rPr lang="en-US" sz="1280" b="1" dirty="0">
                  <a:solidFill>
                    <a:srgbClr val="0067B0"/>
                  </a:solidFill>
                  <a:latin typeface="Segoe UI" pitchFamily="34" charset="0"/>
                  <a:ea typeface="Aptos" pitchFamily="34" charset="-122"/>
                  <a:cs typeface="Aptos" pitchFamily="34" charset="-120"/>
                </a:rPr>
                <a:t>Data warehouse</a:t>
              </a:r>
              <a:endParaRPr lang="en-US" sz="1280" dirty="0"/>
            </a:p>
          </p:txBody>
        </p:sp>
        <p:sp>
          <p:nvSpPr>
            <p:cNvPr id="22" name="Text 20"/>
            <p:cNvSpPr/>
            <p:nvPr/>
          </p:nvSpPr>
          <p:spPr>
            <a:xfrm>
              <a:off x="3602736" y="2276856"/>
              <a:ext cx="1243584" cy="201168"/>
            </a:xfrm>
            <a:prstGeom prst="rect">
              <a:avLst/>
            </a:prstGeom>
            <a:noFill/>
            <a:ln/>
          </p:spPr>
          <p:txBody>
            <a:bodyPr wrap="square" lIns="508" tIns="508" rIns="508" bIns="508" rtlCol="0" anchor="t">
              <a:normAutofit fontScale="92500" lnSpcReduction="20000"/>
            </a:bodyPr>
            <a:lstStyle/>
            <a:p>
              <a:pPr marL="0" indent="0" algn="l">
                <a:buNone/>
              </a:pPr>
              <a:r>
                <a:rPr lang="en-US" sz="900" dirty="0">
                  <a:solidFill>
                    <a:srgbClr val="1F2937"/>
                  </a:solidFill>
                  <a:latin typeface="Segoe UI" pitchFamily="34" charset="0"/>
                  <a:ea typeface="Aptos" pitchFamily="34" charset="-122"/>
                  <a:cs typeface="Aptos" pitchFamily="34" charset="-120"/>
                </a:rPr>
                <a:t>Curated signals + snapshots</a:t>
              </a:r>
              <a:endParaRPr lang="en-US" sz="900" dirty="0"/>
            </a:p>
            <a:p>
              <a:pPr marL="0" indent="0" algn="l">
                <a:buNone/>
              </a:pPr>
              <a:r>
                <a:rPr lang="en-US" sz="900" dirty="0">
                  <a:solidFill>
                    <a:srgbClr val="1F2937"/>
                  </a:solidFill>
                  <a:latin typeface="Segoe UI" pitchFamily="34" charset="0"/>
                  <a:ea typeface="Aptos" pitchFamily="34" charset="-122"/>
                  <a:cs typeface="Aptos" pitchFamily="34" charset="-120"/>
                </a:rPr>
                <a:t>No behavioral entity layer</a:t>
              </a:r>
              <a:endParaRPr lang="en-US" sz="900" dirty="0"/>
            </a:p>
          </p:txBody>
        </p:sp>
      </p:grpSp>
      <p:sp>
        <p:nvSpPr>
          <p:cNvPr id="23" name="Shape 21"/>
          <p:cNvSpPr/>
          <p:nvPr/>
        </p:nvSpPr>
        <p:spPr>
          <a:xfrm>
            <a:off x="5074920" y="2103120"/>
            <a:ext cx="219456" cy="201168"/>
          </a:xfrm>
          <a:prstGeom prst="chevron">
            <a:avLst/>
          </a:prstGeom>
          <a:solidFill>
            <a:srgbClr val="0067B0"/>
          </a:solidFill>
          <a:ln w="12700">
            <a:solidFill>
              <a:srgbClr val="0067B0"/>
            </a:solidFill>
            <a:prstDash val="solid"/>
          </a:ln>
        </p:spPr>
        <p:txBody>
          <a:bodyPr/>
          <a:lstStyle/>
          <a:p>
            <a:endParaRPr lang="en-US"/>
          </a:p>
        </p:txBody>
      </p:sp>
      <p:grpSp>
        <p:nvGrpSpPr>
          <p:cNvPr id="73" name="Group 72">
            <a:extLst>
              <a:ext uri="{FF2B5EF4-FFF2-40B4-BE49-F238E27FC236}">
                <a16:creationId xmlns:a16="http://schemas.microsoft.com/office/drawing/2014/main" id="{47E75FBC-AAFE-6FDB-F9ED-91481654280C}"/>
              </a:ext>
            </a:extLst>
          </p:cNvPr>
          <p:cNvGrpSpPr/>
          <p:nvPr/>
        </p:nvGrpSpPr>
        <p:grpSpPr>
          <a:xfrm>
            <a:off x="5394960" y="1874520"/>
            <a:ext cx="2377440" cy="658368"/>
            <a:chOff x="5394960" y="1874520"/>
            <a:chExt cx="2377440" cy="658368"/>
          </a:xfrm>
        </p:grpSpPr>
        <p:sp>
          <p:nvSpPr>
            <p:cNvPr id="24" name="Shape 22"/>
            <p:cNvSpPr/>
            <p:nvPr/>
          </p:nvSpPr>
          <p:spPr>
            <a:xfrm>
              <a:off x="5394960" y="1874520"/>
              <a:ext cx="2377440" cy="658368"/>
            </a:xfrm>
            <a:prstGeom prst="roundRect">
              <a:avLst>
                <a:gd name="adj" fmla="val 13889"/>
              </a:avLst>
            </a:prstGeom>
            <a:solidFill>
              <a:srgbClr val="FFFFFF"/>
            </a:solidFill>
            <a:ln w="13970">
              <a:solidFill>
                <a:srgbClr val="C5D3E2"/>
              </a:solidFill>
              <a:prstDash val="solid"/>
            </a:ln>
          </p:spPr>
          <p:txBody>
            <a:bodyPr/>
            <a:lstStyle/>
            <a:p>
              <a:endParaRPr lang="en-US"/>
            </a:p>
          </p:txBody>
        </p:sp>
        <p:sp>
          <p:nvSpPr>
            <p:cNvPr id="25" name="Text 23"/>
            <p:cNvSpPr/>
            <p:nvPr/>
          </p:nvSpPr>
          <p:spPr>
            <a:xfrm>
              <a:off x="5504688" y="1965960"/>
              <a:ext cx="2157984" cy="256032"/>
            </a:xfrm>
            <a:prstGeom prst="rect">
              <a:avLst/>
            </a:prstGeom>
            <a:noFill/>
            <a:ln/>
          </p:spPr>
          <p:txBody>
            <a:bodyPr wrap="square" lIns="508" tIns="508" rIns="508" bIns="508" rtlCol="0" anchor="t">
              <a:normAutofit/>
            </a:bodyPr>
            <a:lstStyle/>
            <a:p>
              <a:pPr marL="0" indent="0" algn="l">
                <a:buNone/>
              </a:pPr>
              <a:r>
                <a:rPr lang="en-US" sz="1280" b="1" dirty="0">
                  <a:solidFill>
                    <a:srgbClr val="0067B0"/>
                  </a:solidFill>
                  <a:latin typeface="Segoe UI" pitchFamily="34" charset="0"/>
                  <a:ea typeface="Aptos" pitchFamily="34" charset="-122"/>
                  <a:cs typeface="Aptos" pitchFamily="34" charset="-120"/>
                </a:rPr>
                <a:t>Key steps</a:t>
              </a:r>
              <a:endParaRPr lang="en-US" sz="1280" dirty="0"/>
            </a:p>
          </p:txBody>
        </p:sp>
        <p:sp>
          <p:nvSpPr>
            <p:cNvPr id="26" name="Text 24"/>
            <p:cNvSpPr/>
            <p:nvPr/>
          </p:nvSpPr>
          <p:spPr>
            <a:xfrm>
              <a:off x="5504688" y="2276856"/>
              <a:ext cx="2157984" cy="201168"/>
            </a:xfrm>
            <a:prstGeom prst="rect">
              <a:avLst/>
            </a:prstGeom>
            <a:noFill/>
            <a:ln/>
          </p:spPr>
          <p:txBody>
            <a:bodyPr wrap="square" lIns="508" tIns="508" rIns="508" bIns="508" rtlCol="0" anchor="t">
              <a:normAutofit fontScale="92500" lnSpcReduction="20000"/>
            </a:bodyPr>
            <a:lstStyle/>
            <a:p>
              <a:pPr marL="0" indent="0" algn="l">
                <a:buNone/>
              </a:pPr>
              <a:r>
                <a:rPr lang="en-US" sz="900" dirty="0">
                  <a:solidFill>
                    <a:srgbClr val="1F2937"/>
                  </a:solidFill>
                  <a:latin typeface="Segoe UI" pitchFamily="34" charset="0"/>
                  <a:ea typeface="Aptos" pitchFamily="34" charset="-122"/>
                  <a:cs typeface="Aptos" pitchFamily="34" charset="-120"/>
                </a:rPr>
                <a:t>Historical percentiles → trend</a:t>
              </a:r>
              <a:endParaRPr lang="en-US" sz="900" dirty="0"/>
            </a:p>
            <a:p>
              <a:pPr marL="0" indent="0" algn="l">
                <a:buNone/>
              </a:pPr>
              <a:r>
                <a:rPr lang="en-US" sz="900" dirty="0">
                  <a:solidFill>
                    <a:srgbClr val="1F2937"/>
                  </a:solidFill>
                  <a:latin typeface="Segoe UI" pitchFamily="34" charset="0"/>
                  <a:ea typeface="Aptos" pitchFamily="34" charset="-122"/>
                  <a:cs typeface="Aptos" pitchFamily="34" charset="-120"/>
                </a:rPr>
                <a:t>Seasonal multipliers → Monte Carlo</a:t>
              </a:r>
              <a:endParaRPr lang="en-US" sz="900" dirty="0"/>
            </a:p>
          </p:txBody>
        </p:sp>
      </p:grpSp>
      <p:sp>
        <p:nvSpPr>
          <p:cNvPr id="27" name="Shape 25"/>
          <p:cNvSpPr/>
          <p:nvPr/>
        </p:nvSpPr>
        <p:spPr>
          <a:xfrm>
            <a:off x="7909560" y="2103120"/>
            <a:ext cx="219456" cy="201168"/>
          </a:xfrm>
          <a:prstGeom prst="chevron">
            <a:avLst/>
          </a:prstGeom>
          <a:solidFill>
            <a:srgbClr val="0067B0"/>
          </a:solidFill>
          <a:ln w="12700">
            <a:solidFill>
              <a:srgbClr val="0067B0"/>
            </a:solidFill>
            <a:prstDash val="solid"/>
          </a:ln>
        </p:spPr>
        <p:txBody>
          <a:bodyPr/>
          <a:lstStyle/>
          <a:p>
            <a:endParaRPr lang="en-US"/>
          </a:p>
        </p:txBody>
      </p:sp>
      <p:grpSp>
        <p:nvGrpSpPr>
          <p:cNvPr id="74" name="Group 73">
            <a:extLst>
              <a:ext uri="{FF2B5EF4-FFF2-40B4-BE49-F238E27FC236}">
                <a16:creationId xmlns:a16="http://schemas.microsoft.com/office/drawing/2014/main" id="{E350200C-7274-2927-68DB-97C7C0B25BFE}"/>
              </a:ext>
            </a:extLst>
          </p:cNvPr>
          <p:cNvGrpSpPr/>
          <p:nvPr/>
        </p:nvGrpSpPr>
        <p:grpSpPr>
          <a:xfrm>
            <a:off x="8229600" y="1874520"/>
            <a:ext cx="1353312" cy="658368"/>
            <a:chOff x="8229600" y="1874520"/>
            <a:chExt cx="1353312" cy="658368"/>
          </a:xfrm>
        </p:grpSpPr>
        <p:sp>
          <p:nvSpPr>
            <p:cNvPr id="28" name="Shape 26"/>
            <p:cNvSpPr/>
            <p:nvPr/>
          </p:nvSpPr>
          <p:spPr>
            <a:xfrm>
              <a:off x="8229600" y="1874520"/>
              <a:ext cx="1353312" cy="658368"/>
            </a:xfrm>
            <a:prstGeom prst="roundRect">
              <a:avLst>
                <a:gd name="adj" fmla="val 13889"/>
              </a:avLst>
            </a:prstGeom>
            <a:solidFill>
              <a:srgbClr val="FFFFFF"/>
            </a:solidFill>
            <a:ln w="13970">
              <a:solidFill>
                <a:srgbClr val="C5D3E2"/>
              </a:solidFill>
              <a:prstDash val="solid"/>
            </a:ln>
          </p:spPr>
          <p:txBody>
            <a:bodyPr/>
            <a:lstStyle/>
            <a:p>
              <a:endParaRPr lang="en-US"/>
            </a:p>
          </p:txBody>
        </p:sp>
        <p:sp>
          <p:nvSpPr>
            <p:cNvPr id="29" name="Text 27"/>
            <p:cNvSpPr/>
            <p:nvPr/>
          </p:nvSpPr>
          <p:spPr>
            <a:xfrm>
              <a:off x="8339328" y="1965960"/>
              <a:ext cx="1133856" cy="256032"/>
            </a:xfrm>
            <a:prstGeom prst="rect">
              <a:avLst/>
            </a:prstGeom>
            <a:noFill/>
            <a:ln/>
          </p:spPr>
          <p:txBody>
            <a:bodyPr wrap="square" lIns="508" tIns="508" rIns="508" bIns="508" rtlCol="0" anchor="t">
              <a:normAutofit/>
            </a:bodyPr>
            <a:lstStyle/>
            <a:p>
              <a:pPr marL="0" indent="0" algn="l">
                <a:buNone/>
              </a:pPr>
              <a:r>
                <a:rPr lang="en-US" sz="1280" b="1" dirty="0">
                  <a:solidFill>
                    <a:srgbClr val="0067B0"/>
                  </a:solidFill>
                  <a:latin typeface="Segoe UI" pitchFamily="34" charset="0"/>
                  <a:ea typeface="Aptos" pitchFamily="34" charset="-122"/>
                  <a:cs typeface="Aptos" pitchFamily="34" charset="-120"/>
                </a:rPr>
                <a:t>Planning range</a:t>
              </a:r>
              <a:endParaRPr lang="en-US" sz="1280" dirty="0"/>
            </a:p>
          </p:txBody>
        </p:sp>
        <p:sp>
          <p:nvSpPr>
            <p:cNvPr id="30" name="Text 28"/>
            <p:cNvSpPr/>
            <p:nvPr/>
          </p:nvSpPr>
          <p:spPr>
            <a:xfrm>
              <a:off x="8339328" y="2276856"/>
              <a:ext cx="1133856" cy="201168"/>
            </a:xfrm>
            <a:prstGeom prst="rect">
              <a:avLst/>
            </a:prstGeom>
            <a:noFill/>
            <a:ln/>
          </p:spPr>
          <p:txBody>
            <a:bodyPr wrap="square" lIns="508" tIns="508" rIns="508" bIns="508" rtlCol="0" anchor="t">
              <a:normAutofit fontScale="92500" lnSpcReduction="20000"/>
            </a:bodyPr>
            <a:lstStyle/>
            <a:p>
              <a:pPr marL="0" indent="0" algn="l">
                <a:buNone/>
              </a:pPr>
              <a:r>
                <a:rPr lang="en-US" sz="900" dirty="0">
                  <a:solidFill>
                    <a:srgbClr val="1F2937"/>
                  </a:solidFill>
                  <a:latin typeface="Segoe UI" pitchFamily="34" charset="0"/>
                  <a:ea typeface="Aptos" pitchFamily="34" charset="-122"/>
                  <a:cs typeface="Aptos" pitchFamily="34" charset="-120"/>
                </a:rPr>
                <a:t>P50 / P90 bands</a:t>
              </a:r>
              <a:endParaRPr lang="en-US" sz="900" dirty="0"/>
            </a:p>
            <a:p>
              <a:pPr marL="0" indent="0" algn="l">
                <a:buNone/>
              </a:pPr>
              <a:r>
                <a:rPr lang="en-US" sz="900" dirty="0">
                  <a:solidFill>
                    <a:srgbClr val="1F2937"/>
                  </a:solidFill>
                  <a:latin typeface="Segoe UI" pitchFamily="34" charset="0"/>
                  <a:ea typeface="Aptos" pitchFamily="34" charset="-122"/>
                  <a:cs typeface="Aptos" pitchFamily="34" charset="-120"/>
                </a:rPr>
                <a:t>Cold-start limited</a:t>
              </a:r>
              <a:endParaRPr lang="en-US" sz="900" dirty="0"/>
            </a:p>
          </p:txBody>
        </p:sp>
      </p:grpSp>
      <p:grpSp>
        <p:nvGrpSpPr>
          <p:cNvPr id="75" name="Group 74">
            <a:extLst>
              <a:ext uri="{FF2B5EF4-FFF2-40B4-BE49-F238E27FC236}">
                <a16:creationId xmlns:a16="http://schemas.microsoft.com/office/drawing/2014/main" id="{AC37D6D9-D13A-1E54-2CAF-F39B288B163F}"/>
              </a:ext>
            </a:extLst>
          </p:cNvPr>
          <p:cNvGrpSpPr/>
          <p:nvPr/>
        </p:nvGrpSpPr>
        <p:grpSpPr>
          <a:xfrm>
            <a:off x="10104120" y="1810512"/>
            <a:ext cx="1170432" cy="841248"/>
            <a:chOff x="10104120" y="1810512"/>
            <a:chExt cx="1170432" cy="841248"/>
          </a:xfrm>
        </p:grpSpPr>
        <p:sp>
          <p:nvSpPr>
            <p:cNvPr id="31" name="Shape 29"/>
            <p:cNvSpPr/>
            <p:nvPr/>
          </p:nvSpPr>
          <p:spPr>
            <a:xfrm>
              <a:off x="10104120" y="1810512"/>
              <a:ext cx="1170432" cy="841248"/>
            </a:xfrm>
            <a:prstGeom prst="roundRect">
              <a:avLst>
                <a:gd name="adj" fmla="val 13043"/>
              </a:avLst>
            </a:prstGeom>
            <a:solidFill>
              <a:srgbClr val="0B2B4C"/>
            </a:solidFill>
            <a:ln w="15240">
              <a:solidFill>
                <a:srgbClr val="0B2B4C"/>
              </a:solidFill>
              <a:prstDash val="solid"/>
            </a:ln>
          </p:spPr>
          <p:txBody>
            <a:bodyPr/>
            <a:lstStyle/>
            <a:p>
              <a:endParaRPr lang="en-US"/>
            </a:p>
          </p:txBody>
        </p:sp>
        <p:sp>
          <p:nvSpPr>
            <p:cNvPr id="32" name="Text 30"/>
            <p:cNvSpPr/>
            <p:nvPr/>
          </p:nvSpPr>
          <p:spPr>
            <a:xfrm>
              <a:off x="10232136" y="1920240"/>
              <a:ext cx="914400" cy="292608"/>
            </a:xfrm>
            <a:prstGeom prst="rect">
              <a:avLst/>
            </a:prstGeom>
            <a:noFill/>
            <a:ln/>
          </p:spPr>
          <p:txBody>
            <a:bodyPr wrap="square" lIns="508" tIns="508" rIns="508" bIns="508" rtlCol="0" anchor="t">
              <a:normAutofit fontScale="92500" lnSpcReduction="20000"/>
            </a:bodyPr>
            <a:lstStyle/>
            <a:p>
              <a:pPr marL="0" indent="0" algn="l">
                <a:buNone/>
              </a:pPr>
              <a:r>
                <a:rPr lang="en-US" sz="2400" b="1" dirty="0">
                  <a:solidFill>
                    <a:srgbClr val="E33435"/>
                  </a:solidFill>
                  <a:latin typeface="Segoe UI" pitchFamily="34" charset="0"/>
                  <a:ea typeface="Aptos" pitchFamily="34" charset="-122"/>
                  <a:cs typeface="Aptos" pitchFamily="34" charset="-120"/>
                </a:rPr>
                <a:t>930</a:t>
              </a:r>
              <a:endParaRPr lang="en-US" sz="2400" dirty="0"/>
            </a:p>
          </p:txBody>
        </p:sp>
        <p:sp>
          <p:nvSpPr>
            <p:cNvPr id="33" name="Text 31"/>
            <p:cNvSpPr/>
            <p:nvPr/>
          </p:nvSpPr>
          <p:spPr>
            <a:xfrm>
              <a:off x="10232136" y="2231136"/>
              <a:ext cx="914400" cy="128016"/>
            </a:xfrm>
            <a:prstGeom prst="rect">
              <a:avLst/>
            </a:prstGeom>
            <a:noFill/>
            <a:ln/>
          </p:spPr>
          <p:txBody>
            <a:bodyPr wrap="square" lIns="508" tIns="508" rIns="508" bIns="508" rtlCol="0" anchor="t">
              <a:normAutofit/>
            </a:bodyPr>
            <a:lstStyle/>
            <a:p>
              <a:pPr marL="0" indent="0" algn="l">
                <a:buNone/>
              </a:pPr>
              <a:r>
                <a:rPr lang="en-US" sz="820" b="1" dirty="0">
                  <a:solidFill>
                    <a:srgbClr val="FFFFFF"/>
                  </a:solidFill>
                  <a:latin typeface="Segoe UI" pitchFamily="34" charset="0"/>
                  <a:ea typeface="Aptos" pitchFamily="34" charset="-122"/>
                  <a:cs typeface="Aptos" pitchFamily="34" charset="-120"/>
                </a:rPr>
                <a:t>forecast · held-out 8 wks</a:t>
              </a:r>
              <a:endParaRPr lang="en-US" sz="820" dirty="0"/>
            </a:p>
          </p:txBody>
        </p:sp>
        <p:sp>
          <p:nvSpPr>
            <p:cNvPr id="34" name="Text 32"/>
            <p:cNvSpPr/>
            <p:nvPr/>
          </p:nvSpPr>
          <p:spPr>
            <a:xfrm>
              <a:off x="10232136" y="2395728"/>
              <a:ext cx="914400" cy="201168"/>
            </a:xfrm>
            <a:prstGeom prst="rect">
              <a:avLst/>
            </a:prstGeom>
            <a:noFill/>
            <a:ln/>
          </p:spPr>
          <p:txBody>
            <a:bodyPr wrap="square" lIns="508" tIns="508" rIns="508" bIns="508" rtlCol="0" anchor="t">
              <a:normAutofit lnSpcReduction="10000"/>
            </a:bodyPr>
            <a:lstStyle/>
            <a:p>
              <a:pPr marL="0" indent="0" algn="l">
                <a:buNone/>
              </a:pPr>
              <a:r>
                <a:rPr lang="en-US" sz="700" dirty="0">
                  <a:solidFill>
                    <a:srgbClr val="C6D6EA"/>
                  </a:solidFill>
                  <a:latin typeface="Segoe UI" pitchFamily="34" charset="0"/>
                  <a:ea typeface="Aptos" pitchFamily="34" charset="-122"/>
                  <a:cs typeface="Aptos" pitchFamily="34" charset="-120"/>
                </a:rPr>
                <a:t>frozen bands</a:t>
              </a:r>
              <a:endParaRPr lang="en-US" sz="700" dirty="0"/>
            </a:p>
            <a:p>
              <a:pPr marL="0" indent="0" algn="l">
                <a:buNone/>
              </a:pPr>
              <a:r>
                <a:rPr lang="en-US" sz="700" dirty="0">
                  <a:solidFill>
                    <a:srgbClr val="C6D6EA"/>
                  </a:solidFill>
                  <a:latin typeface="Segoe UI" pitchFamily="34" charset="0"/>
                  <a:ea typeface="Aptos" pitchFamily="34" charset="-122"/>
                  <a:cs typeface="Aptos" pitchFamily="34" charset="-120"/>
                </a:rPr>
                <a:t>cold-start = 0</a:t>
              </a:r>
              <a:endParaRPr lang="en-US" sz="700" dirty="0"/>
            </a:p>
          </p:txBody>
        </p:sp>
      </p:grpSp>
      <p:sp>
        <p:nvSpPr>
          <p:cNvPr id="35" name="Text 33"/>
          <p:cNvSpPr/>
          <p:nvPr/>
        </p:nvSpPr>
        <p:spPr>
          <a:xfrm>
            <a:off x="3493008" y="2726079"/>
            <a:ext cx="7452360" cy="182880"/>
          </a:xfrm>
          <a:prstGeom prst="rect">
            <a:avLst/>
          </a:prstGeom>
          <a:noFill/>
          <a:ln/>
        </p:spPr>
        <p:txBody>
          <a:bodyPr wrap="square" lIns="508" tIns="508" rIns="508" bIns="508" rtlCol="0" anchor="t">
            <a:normAutofit/>
          </a:bodyPr>
          <a:lstStyle/>
          <a:p>
            <a:pPr marL="0" indent="0" algn="l">
              <a:buNone/>
            </a:pPr>
            <a:r>
              <a:rPr lang="en-US" sz="900" b="1" dirty="0">
                <a:solidFill>
                  <a:srgbClr val="1F2937"/>
                </a:solidFill>
                <a:latin typeface="Segoe UI" pitchFamily="34" charset="0"/>
                <a:ea typeface="Aptos" pitchFamily="34" charset="-122"/>
                <a:cs typeface="Aptos" pitchFamily="34" charset="-120"/>
              </a:rPr>
              <a:t>Value:</a:t>
            </a:r>
            <a:r>
              <a:rPr lang="en-US" sz="900" dirty="0">
                <a:solidFill>
                  <a:srgbClr val="1F2937"/>
                </a:solidFill>
                <a:latin typeface="Segoe UI" pitchFamily="34" charset="0"/>
                <a:ea typeface="Aptos" pitchFamily="34" charset="-122"/>
                <a:cs typeface="Aptos" pitchFamily="34" charset="-120"/>
              </a:rPr>
              <a:t> fair validation baseline. </a:t>
            </a:r>
            <a:r>
              <a:rPr lang="en-US" sz="900" b="1" dirty="0">
                <a:solidFill>
                  <a:srgbClr val="1F2937"/>
                </a:solidFill>
                <a:latin typeface="Segoe UI" pitchFamily="34" charset="0"/>
                <a:ea typeface="Aptos" pitchFamily="34" charset="-122"/>
                <a:cs typeface="Aptos" pitchFamily="34" charset="-120"/>
              </a:rPr>
              <a:t>Constraint: </a:t>
            </a:r>
            <a:r>
              <a:rPr lang="en-US" sz="900" dirty="0">
                <a:solidFill>
                  <a:srgbClr val="1F2937"/>
                </a:solidFill>
                <a:latin typeface="Segoe UI" pitchFamily="34" charset="0"/>
                <a:ea typeface="Aptos" pitchFamily="34" charset="-122"/>
                <a:cs typeface="Aptos" pitchFamily="34" charset="-120"/>
              </a:rPr>
              <a:t>limited cross-entity behavior, drift visibility, uncertainty change, and cold-start support.</a:t>
            </a:r>
            <a:endParaRPr lang="en-US" sz="900" dirty="0"/>
          </a:p>
        </p:txBody>
      </p:sp>
      <p:sp>
        <p:nvSpPr>
          <p:cNvPr id="36" name="Shape 34"/>
          <p:cNvSpPr/>
          <p:nvPr/>
        </p:nvSpPr>
        <p:spPr>
          <a:xfrm>
            <a:off x="3246120" y="3401568"/>
            <a:ext cx="8412480" cy="1901952"/>
          </a:xfrm>
          <a:prstGeom prst="roundRect">
            <a:avLst>
              <a:gd name="adj" fmla="val 7692"/>
            </a:avLst>
          </a:prstGeom>
          <a:solidFill>
            <a:srgbClr val="EAF5F3"/>
          </a:solidFill>
          <a:ln w="16510">
            <a:solidFill>
              <a:srgbClr val="C5D3E2"/>
            </a:solidFill>
            <a:prstDash val="solid"/>
          </a:ln>
        </p:spPr>
        <p:txBody>
          <a:bodyPr/>
          <a:lstStyle/>
          <a:p>
            <a:endParaRPr lang="en-US"/>
          </a:p>
        </p:txBody>
      </p:sp>
      <p:sp>
        <p:nvSpPr>
          <p:cNvPr id="37" name="Text 35"/>
          <p:cNvSpPr/>
          <p:nvPr/>
        </p:nvSpPr>
        <p:spPr>
          <a:xfrm>
            <a:off x="3456432" y="3584448"/>
            <a:ext cx="2880360" cy="219456"/>
          </a:xfrm>
          <a:prstGeom prst="rect">
            <a:avLst/>
          </a:prstGeom>
          <a:noFill/>
          <a:ln/>
        </p:spPr>
        <p:txBody>
          <a:bodyPr wrap="square" lIns="508" tIns="508" rIns="508" bIns="508" rtlCol="0" anchor="t">
            <a:normAutofit/>
          </a:bodyPr>
          <a:lstStyle/>
          <a:p>
            <a:pPr marL="0" indent="0" algn="l">
              <a:buNone/>
            </a:pPr>
            <a:r>
              <a:rPr lang="en-US" sz="1380" b="1" dirty="0">
                <a:solidFill>
                  <a:srgbClr val="007878"/>
                </a:solidFill>
                <a:latin typeface="Segoe UI" pitchFamily="34" charset="0"/>
                <a:ea typeface="Aptos" pitchFamily="34" charset="-122"/>
                <a:cs typeface="Aptos" pitchFamily="34" charset="-120"/>
              </a:rPr>
              <a:t>NEW EDM VECTOR INTELLIGENCE</a:t>
            </a:r>
            <a:endParaRPr lang="en-US" sz="1380" dirty="0"/>
          </a:p>
        </p:txBody>
      </p:sp>
      <p:sp>
        <p:nvSpPr>
          <p:cNvPr id="38" name="Text 36"/>
          <p:cNvSpPr/>
          <p:nvPr/>
        </p:nvSpPr>
        <p:spPr>
          <a:xfrm>
            <a:off x="10094976" y="3584448"/>
            <a:ext cx="1280160" cy="164592"/>
          </a:xfrm>
          <a:prstGeom prst="rect">
            <a:avLst/>
          </a:prstGeom>
          <a:noFill/>
          <a:ln/>
        </p:spPr>
        <p:txBody>
          <a:bodyPr wrap="square" lIns="508" tIns="508" rIns="508" bIns="508" rtlCol="0" anchor="t">
            <a:normAutofit/>
          </a:bodyPr>
          <a:lstStyle/>
          <a:p>
            <a:pPr marL="0" indent="0" algn="ctr">
              <a:buNone/>
            </a:pPr>
            <a:r>
              <a:rPr lang="en-US" sz="870" i="1" dirty="0">
                <a:solidFill>
                  <a:srgbClr val="5A6778"/>
                </a:solidFill>
                <a:latin typeface="Segoe UI" pitchFamily="34" charset="0"/>
                <a:ea typeface="Aptos" pitchFamily="34" charset="-122"/>
                <a:cs typeface="Aptos" pitchFamily="34" charset="-120"/>
              </a:rPr>
              <a:t>behavioral decision layer</a:t>
            </a:r>
            <a:endParaRPr lang="en-US" sz="870" dirty="0"/>
          </a:p>
        </p:txBody>
      </p:sp>
      <p:grpSp>
        <p:nvGrpSpPr>
          <p:cNvPr id="67" name="Group 66">
            <a:extLst>
              <a:ext uri="{FF2B5EF4-FFF2-40B4-BE49-F238E27FC236}">
                <a16:creationId xmlns:a16="http://schemas.microsoft.com/office/drawing/2014/main" id="{F572800C-02CC-DA80-D396-CF7B25D69A19}"/>
              </a:ext>
            </a:extLst>
          </p:cNvPr>
          <p:cNvGrpSpPr/>
          <p:nvPr/>
        </p:nvGrpSpPr>
        <p:grpSpPr>
          <a:xfrm>
            <a:off x="3493008" y="3904488"/>
            <a:ext cx="1627632" cy="804672"/>
            <a:chOff x="3493008" y="3904488"/>
            <a:chExt cx="1627632" cy="804672"/>
          </a:xfrm>
        </p:grpSpPr>
        <p:sp>
          <p:nvSpPr>
            <p:cNvPr id="39" name="Shape 37"/>
            <p:cNvSpPr/>
            <p:nvPr/>
          </p:nvSpPr>
          <p:spPr>
            <a:xfrm>
              <a:off x="3493008" y="3904488"/>
              <a:ext cx="1627632" cy="804672"/>
            </a:xfrm>
            <a:prstGeom prst="roundRect">
              <a:avLst>
                <a:gd name="adj" fmla="val 11364"/>
              </a:avLst>
            </a:prstGeom>
            <a:solidFill>
              <a:srgbClr val="FFFFFF"/>
            </a:solidFill>
            <a:ln w="13970">
              <a:solidFill>
                <a:srgbClr val="C5D3E2"/>
              </a:solidFill>
              <a:prstDash val="solid"/>
            </a:ln>
          </p:spPr>
          <p:txBody>
            <a:bodyPr/>
            <a:lstStyle/>
            <a:p>
              <a:endParaRPr lang="en-US"/>
            </a:p>
          </p:txBody>
        </p:sp>
        <p:sp>
          <p:nvSpPr>
            <p:cNvPr id="40" name="Text 38"/>
            <p:cNvSpPr/>
            <p:nvPr/>
          </p:nvSpPr>
          <p:spPr>
            <a:xfrm>
              <a:off x="3602736" y="3989443"/>
              <a:ext cx="1408176" cy="256032"/>
            </a:xfrm>
            <a:prstGeom prst="rect">
              <a:avLst/>
            </a:prstGeom>
            <a:noFill/>
            <a:ln/>
          </p:spPr>
          <p:txBody>
            <a:bodyPr wrap="square" lIns="508" tIns="508" rIns="508" bIns="508" rtlCol="0" anchor="t">
              <a:normAutofit fontScale="77500" lnSpcReduction="20000"/>
            </a:bodyPr>
            <a:lstStyle/>
            <a:p>
              <a:pPr marL="0" indent="0" algn="l">
                <a:buNone/>
              </a:pPr>
              <a:r>
                <a:rPr lang="en-US" sz="1280" b="1" dirty="0">
                  <a:solidFill>
                    <a:srgbClr val="007878"/>
                  </a:solidFill>
                  <a:latin typeface="Segoe UI" pitchFamily="34" charset="0"/>
                  <a:ea typeface="Aptos" pitchFamily="34" charset="-122"/>
                  <a:cs typeface="Aptos" pitchFamily="34" charset="-120"/>
                </a:rPr>
                <a:t>Digital twin</a:t>
              </a:r>
              <a:endParaRPr lang="en-US" sz="1280" dirty="0"/>
            </a:p>
            <a:p>
              <a:pPr marL="0" indent="0" algn="l">
                <a:buNone/>
              </a:pPr>
              <a:endParaRPr lang="en-US" sz="1280" dirty="0"/>
            </a:p>
          </p:txBody>
        </p:sp>
        <p:sp>
          <p:nvSpPr>
            <p:cNvPr id="41" name="Text 39"/>
            <p:cNvSpPr/>
            <p:nvPr/>
          </p:nvSpPr>
          <p:spPr>
            <a:xfrm>
              <a:off x="3602736" y="4345734"/>
              <a:ext cx="1408176" cy="347472"/>
            </a:xfrm>
            <a:prstGeom prst="rect">
              <a:avLst/>
            </a:prstGeom>
            <a:noFill/>
            <a:ln/>
          </p:spPr>
          <p:txBody>
            <a:bodyPr wrap="square" lIns="508" tIns="508" rIns="508" bIns="508" rtlCol="0" anchor="t">
              <a:normAutofit fontScale="92500" lnSpcReduction="10000"/>
            </a:bodyPr>
            <a:lstStyle/>
            <a:p>
              <a:pPr marL="0" indent="0" algn="l">
                <a:buNone/>
              </a:pPr>
              <a:r>
                <a:rPr lang="en-US" sz="900" dirty="0">
                  <a:solidFill>
                    <a:srgbClr val="1F2937"/>
                  </a:solidFill>
                  <a:latin typeface="Segoe UI" pitchFamily="34" charset="0"/>
                  <a:ea typeface="Aptos" pitchFamily="34" charset="-122"/>
                  <a:cs typeface="Aptos" pitchFamily="34" charset="-120"/>
                </a:rPr>
                <a:t>5 behavioral signals</a:t>
              </a:r>
              <a:endParaRPr lang="en-US" sz="900" dirty="0"/>
            </a:p>
            <a:p>
              <a:pPr marL="0" indent="0" algn="l">
                <a:buNone/>
              </a:pPr>
              <a:r>
                <a:rPr lang="en-US" sz="900" dirty="0">
                  <a:solidFill>
                    <a:srgbClr val="1F2937"/>
                  </a:solidFill>
                  <a:latin typeface="Segoe UI" pitchFamily="34" charset="0"/>
                  <a:ea typeface="Aptos" pitchFamily="34" charset="-122"/>
                  <a:cs typeface="Aptos" pitchFamily="34" charset="-120"/>
                </a:rPr>
                <a:t>1,536-d embeddings</a:t>
              </a:r>
              <a:endParaRPr lang="en-US" sz="900" dirty="0"/>
            </a:p>
            <a:p>
              <a:pPr marL="0" indent="0" algn="l">
                <a:buNone/>
              </a:pPr>
              <a:r>
                <a:rPr lang="en-US" sz="900" dirty="0">
                  <a:solidFill>
                    <a:srgbClr val="1F2937"/>
                  </a:solidFill>
                  <a:latin typeface="Segoe UI" pitchFamily="34" charset="0"/>
                  <a:ea typeface="Aptos" pitchFamily="34" charset="-122"/>
                  <a:cs typeface="Aptos" pitchFamily="34" charset="-120"/>
                </a:rPr>
                <a:t>16–23 snapshots = trajectory</a:t>
              </a:r>
              <a:endParaRPr lang="en-US" sz="900" dirty="0"/>
            </a:p>
          </p:txBody>
        </p:sp>
      </p:grpSp>
      <p:sp>
        <p:nvSpPr>
          <p:cNvPr id="42" name="Shape 40"/>
          <p:cNvSpPr/>
          <p:nvPr/>
        </p:nvSpPr>
        <p:spPr>
          <a:xfrm>
            <a:off x="5257800" y="4206240"/>
            <a:ext cx="219456" cy="201168"/>
          </a:xfrm>
          <a:prstGeom prst="chevron">
            <a:avLst/>
          </a:prstGeom>
          <a:solidFill>
            <a:srgbClr val="007878"/>
          </a:solidFill>
          <a:ln w="12700">
            <a:solidFill>
              <a:srgbClr val="007878"/>
            </a:solidFill>
            <a:prstDash val="solid"/>
          </a:ln>
        </p:spPr>
        <p:txBody>
          <a:bodyPr/>
          <a:lstStyle/>
          <a:p>
            <a:endParaRPr lang="en-US"/>
          </a:p>
        </p:txBody>
      </p:sp>
      <p:grpSp>
        <p:nvGrpSpPr>
          <p:cNvPr id="68" name="Group 67">
            <a:extLst>
              <a:ext uri="{FF2B5EF4-FFF2-40B4-BE49-F238E27FC236}">
                <a16:creationId xmlns:a16="http://schemas.microsoft.com/office/drawing/2014/main" id="{44CCDFA4-3FFB-C9B5-1046-3B83D29BE2EE}"/>
              </a:ext>
            </a:extLst>
          </p:cNvPr>
          <p:cNvGrpSpPr/>
          <p:nvPr/>
        </p:nvGrpSpPr>
        <p:grpSpPr>
          <a:xfrm>
            <a:off x="5559552" y="3904488"/>
            <a:ext cx="1901952" cy="804672"/>
            <a:chOff x="5559552" y="3904488"/>
            <a:chExt cx="1901952" cy="804672"/>
          </a:xfrm>
        </p:grpSpPr>
        <p:sp>
          <p:nvSpPr>
            <p:cNvPr id="43" name="Shape 41"/>
            <p:cNvSpPr/>
            <p:nvPr/>
          </p:nvSpPr>
          <p:spPr>
            <a:xfrm>
              <a:off x="5559552" y="3904488"/>
              <a:ext cx="1901952" cy="804672"/>
            </a:xfrm>
            <a:prstGeom prst="roundRect">
              <a:avLst>
                <a:gd name="adj" fmla="val 11364"/>
              </a:avLst>
            </a:prstGeom>
            <a:solidFill>
              <a:srgbClr val="FFFFFF"/>
            </a:solidFill>
            <a:ln w="13970">
              <a:solidFill>
                <a:srgbClr val="C5D3E2"/>
              </a:solidFill>
              <a:prstDash val="solid"/>
            </a:ln>
          </p:spPr>
          <p:txBody>
            <a:bodyPr/>
            <a:lstStyle/>
            <a:p>
              <a:endParaRPr lang="en-US"/>
            </a:p>
          </p:txBody>
        </p:sp>
        <p:sp>
          <p:nvSpPr>
            <p:cNvPr id="44" name="Text 42"/>
            <p:cNvSpPr/>
            <p:nvPr/>
          </p:nvSpPr>
          <p:spPr>
            <a:xfrm>
              <a:off x="5669280" y="3989443"/>
              <a:ext cx="1682496" cy="256032"/>
            </a:xfrm>
            <a:prstGeom prst="rect">
              <a:avLst/>
            </a:prstGeom>
            <a:noFill/>
            <a:ln/>
          </p:spPr>
          <p:txBody>
            <a:bodyPr wrap="square" lIns="508" tIns="508" rIns="508" bIns="508" rtlCol="0" anchor="t">
              <a:normAutofit fontScale="77500" lnSpcReduction="20000"/>
            </a:bodyPr>
            <a:lstStyle/>
            <a:p>
              <a:pPr marL="0" indent="0" algn="l">
                <a:buNone/>
              </a:pPr>
              <a:r>
                <a:rPr lang="en-US" sz="1280" b="1" dirty="0">
                  <a:solidFill>
                    <a:srgbClr val="007878"/>
                  </a:solidFill>
                  <a:latin typeface="Segoe UI" pitchFamily="34" charset="0"/>
                  <a:ea typeface="Aptos" pitchFamily="34" charset="-122"/>
                  <a:cs typeface="Aptos" pitchFamily="34" charset="-120"/>
                </a:rPr>
                <a:t>67 Engineered features</a:t>
              </a:r>
              <a:endParaRPr lang="en-US" sz="1280" dirty="0"/>
            </a:p>
            <a:p>
              <a:pPr marL="0" indent="0" algn="l">
                <a:buNone/>
              </a:pPr>
              <a:endParaRPr lang="en-US" sz="1280" dirty="0"/>
            </a:p>
          </p:txBody>
        </p:sp>
        <p:sp>
          <p:nvSpPr>
            <p:cNvPr id="45" name="Text 43"/>
            <p:cNvSpPr/>
            <p:nvPr/>
          </p:nvSpPr>
          <p:spPr>
            <a:xfrm>
              <a:off x="5669280" y="4345734"/>
              <a:ext cx="1682496" cy="347472"/>
            </a:xfrm>
            <a:prstGeom prst="rect">
              <a:avLst/>
            </a:prstGeom>
            <a:noFill/>
            <a:ln/>
          </p:spPr>
          <p:txBody>
            <a:bodyPr wrap="square" lIns="508" tIns="508" rIns="508" bIns="508" rtlCol="0" anchor="t">
              <a:normAutofit fontScale="92500" lnSpcReduction="10000"/>
            </a:bodyPr>
            <a:lstStyle/>
            <a:p>
              <a:pPr marL="0" indent="0" algn="l">
                <a:buNone/>
              </a:pPr>
              <a:r>
                <a:rPr lang="en-US" sz="900" dirty="0">
                  <a:solidFill>
                    <a:srgbClr val="1F2937"/>
                  </a:solidFill>
                  <a:latin typeface="Segoe UI" pitchFamily="34" charset="0"/>
                  <a:ea typeface="Aptos" pitchFamily="34" charset="-122"/>
                  <a:cs typeface="Aptos" pitchFamily="34" charset="-120"/>
                </a:rPr>
                <a:t>25 base + 23 zones</a:t>
              </a:r>
              <a:endParaRPr lang="en-US" sz="900" dirty="0"/>
            </a:p>
            <a:p>
              <a:pPr marL="0" indent="0" algn="l">
                <a:buNone/>
              </a:pPr>
              <a:r>
                <a:rPr lang="en-US" sz="900" dirty="0">
                  <a:solidFill>
                    <a:srgbClr val="1F2937"/>
                  </a:solidFill>
                  <a:latin typeface="Segoe UI" pitchFamily="34" charset="0"/>
                  <a:ea typeface="Aptos" pitchFamily="34" charset="-122"/>
                  <a:cs typeface="Aptos" pitchFamily="34" charset="-120"/>
                </a:rPr>
                <a:t>13 signals + 6 cohort</a:t>
              </a:r>
              <a:endParaRPr lang="en-US" sz="900" dirty="0"/>
            </a:p>
            <a:p>
              <a:pPr marL="0" indent="0" algn="l">
                <a:buNone/>
              </a:pPr>
              <a:r>
                <a:rPr lang="en-US" sz="900" dirty="0">
                  <a:solidFill>
                    <a:srgbClr val="1F2937"/>
                  </a:solidFill>
                  <a:latin typeface="Segoe UI" pitchFamily="34" charset="0"/>
                  <a:ea typeface="Aptos" pitchFamily="34" charset="-122"/>
                  <a:cs typeface="Aptos" pitchFamily="34" charset="-120"/>
                </a:rPr>
                <a:t>Feeds two-phase forecast</a:t>
              </a:r>
              <a:endParaRPr lang="en-US" sz="900" dirty="0"/>
            </a:p>
          </p:txBody>
        </p:sp>
      </p:grpSp>
      <p:sp>
        <p:nvSpPr>
          <p:cNvPr id="46" name="Shape 44"/>
          <p:cNvSpPr/>
          <p:nvPr/>
        </p:nvSpPr>
        <p:spPr>
          <a:xfrm>
            <a:off x="7598664" y="4206240"/>
            <a:ext cx="219456" cy="201168"/>
          </a:xfrm>
          <a:prstGeom prst="chevron">
            <a:avLst/>
          </a:prstGeom>
          <a:solidFill>
            <a:srgbClr val="007878"/>
          </a:solidFill>
          <a:ln w="12700">
            <a:solidFill>
              <a:srgbClr val="007878"/>
            </a:solidFill>
            <a:prstDash val="solid"/>
          </a:ln>
        </p:spPr>
        <p:txBody>
          <a:bodyPr/>
          <a:lstStyle/>
          <a:p>
            <a:endParaRPr lang="en-US"/>
          </a:p>
        </p:txBody>
      </p:sp>
      <p:grpSp>
        <p:nvGrpSpPr>
          <p:cNvPr id="69" name="Group 68">
            <a:extLst>
              <a:ext uri="{FF2B5EF4-FFF2-40B4-BE49-F238E27FC236}">
                <a16:creationId xmlns:a16="http://schemas.microsoft.com/office/drawing/2014/main" id="{3D57D6BD-60D9-0DC4-D1B4-721123D3CACC}"/>
              </a:ext>
            </a:extLst>
          </p:cNvPr>
          <p:cNvGrpSpPr/>
          <p:nvPr/>
        </p:nvGrpSpPr>
        <p:grpSpPr>
          <a:xfrm>
            <a:off x="7900416" y="3904488"/>
            <a:ext cx="1755648" cy="804672"/>
            <a:chOff x="7900416" y="3904488"/>
            <a:chExt cx="1755648" cy="804672"/>
          </a:xfrm>
        </p:grpSpPr>
        <p:sp>
          <p:nvSpPr>
            <p:cNvPr id="47" name="Shape 45"/>
            <p:cNvSpPr/>
            <p:nvPr/>
          </p:nvSpPr>
          <p:spPr>
            <a:xfrm>
              <a:off x="7900416" y="3904488"/>
              <a:ext cx="1755648" cy="804672"/>
            </a:xfrm>
            <a:prstGeom prst="roundRect">
              <a:avLst>
                <a:gd name="adj" fmla="val 11364"/>
              </a:avLst>
            </a:prstGeom>
            <a:solidFill>
              <a:srgbClr val="FFFFFF"/>
            </a:solidFill>
            <a:ln w="13970">
              <a:solidFill>
                <a:srgbClr val="C5D3E2"/>
              </a:solidFill>
              <a:prstDash val="solid"/>
            </a:ln>
          </p:spPr>
          <p:txBody>
            <a:bodyPr/>
            <a:lstStyle/>
            <a:p>
              <a:endParaRPr lang="en-US"/>
            </a:p>
          </p:txBody>
        </p:sp>
        <p:sp>
          <p:nvSpPr>
            <p:cNvPr id="48" name="Text 46"/>
            <p:cNvSpPr/>
            <p:nvPr/>
          </p:nvSpPr>
          <p:spPr>
            <a:xfrm>
              <a:off x="8010144" y="3989443"/>
              <a:ext cx="1536192" cy="256032"/>
            </a:xfrm>
            <a:prstGeom prst="rect">
              <a:avLst/>
            </a:prstGeom>
            <a:noFill/>
            <a:ln/>
          </p:spPr>
          <p:txBody>
            <a:bodyPr wrap="square" lIns="508" tIns="508" rIns="508" bIns="508" rtlCol="0" anchor="t">
              <a:normAutofit fontScale="77500" lnSpcReduction="20000"/>
            </a:bodyPr>
            <a:lstStyle/>
            <a:p>
              <a:pPr marL="0" indent="0" algn="l">
                <a:buNone/>
              </a:pPr>
              <a:r>
                <a:rPr lang="en-US" sz="1280" b="1" dirty="0">
                  <a:solidFill>
                    <a:srgbClr val="007878"/>
                  </a:solidFill>
                  <a:latin typeface="Segoe UI" pitchFamily="34" charset="0"/>
                  <a:ea typeface="Aptos" pitchFamily="34" charset="-122"/>
                  <a:cs typeface="Aptos" pitchFamily="34" charset="-120"/>
                </a:rPr>
                <a:t>Drift Simulation</a:t>
              </a:r>
              <a:endParaRPr lang="en-US" sz="1280" dirty="0"/>
            </a:p>
            <a:p>
              <a:pPr marL="0" indent="0" algn="l">
                <a:buNone/>
              </a:pPr>
              <a:endParaRPr lang="en-US" sz="1280" dirty="0"/>
            </a:p>
          </p:txBody>
        </p:sp>
        <p:sp>
          <p:nvSpPr>
            <p:cNvPr id="49" name="Text 47"/>
            <p:cNvSpPr/>
            <p:nvPr/>
          </p:nvSpPr>
          <p:spPr>
            <a:xfrm>
              <a:off x="8010144" y="4345734"/>
              <a:ext cx="1536192" cy="347472"/>
            </a:xfrm>
            <a:prstGeom prst="rect">
              <a:avLst/>
            </a:prstGeom>
            <a:noFill/>
            <a:ln/>
          </p:spPr>
          <p:txBody>
            <a:bodyPr wrap="square" lIns="508" tIns="508" rIns="508" bIns="508" rtlCol="0" anchor="t">
              <a:normAutofit fontScale="92500" lnSpcReduction="10000"/>
            </a:bodyPr>
            <a:lstStyle/>
            <a:p>
              <a:pPr marL="0" indent="0" algn="l">
                <a:buNone/>
              </a:pPr>
              <a:r>
                <a:rPr lang="en-US" sz="900" dirty="0">
                  <a:solidFill>
                    <a:srgbClr val="1F2937"/>
                  </a:solidFill>
                  <a:latin typeface="Segoe UI" pitchFamily="34" charset="0"/>
                  <a:ea typeface="Aptos" pitchFamily="34" charset="-122"/>
                  <a:cs typeface="Aptos" pitchFamily="34" charset="-120"/>
                </a:rPr>
                <a:t>LightGBM two-phase</a:t>
              </a:r>
              <a:endParaRPr lang="en-US" sz="900" dirty="0"/>
            </a:p>
            <a:p>
              <a:pPr marL="0" indent="0" algn="l">
                <a:buNone/>
              </a:pPr>
              <a:r>
                <a:rPr lang="en-US" sz="900" dirty="0">
                  <a:solidFill>
                    <a:srgbClr val="1F2937"/>
                  </a:solidFill>
                  <a:latin typeface="Segoe UI" pitchFamily="34" charset="0"/>
                  <a:ea typeface="Aptos" pitchFamily="34" charset="-122"/>
                  <a:cs typeface="Aptos" pitchFamily="34" charset="-120"/>
                </a:rPr>
                <a:t>k-NN cohort transfer</a:t>
              </a:r>
              <a:endParaRPr lang="en-US" sz="900" dirty="0"/>
            </a:p>
            <a:p>
              <a:pPr marL="0" indent="0" algn="l">
                <a:buNone/>
              </a:pPr>
              <a:r>
                <a:rPr lang="en-US" sz="900" dirty="0">
                  <a:solidFill>
                    <a:srgbClr val="1F2937"/>
                  </a:solidFill>
                  <a:latin typeface="Segoe UI" pitchFamily="34" charset="0"/>
                  <a:ea typeface="Aptos" pitchFamily="34" charset="-122"/>
                  <a:cs typeface="Aptos" pitchFamily="34" charset="-120"/>
                </a:rPr>
                <a:t>Drift alpha ±30%</a:t>
              </a:r>
              <a:endParaRPr lang="en-US" sz="900" dirty="0"/>
            </a:p>
          </p:txBody>
        </p:sp>
      </p:grpSp>
      <p:sp>
        <p:nvSpPr>
          <p:cNvPr id="50" name="Shape 48"/>
          <p:cNvSpPr/>
          <p:nvPr/>
        </p:nvSpPr>
        <p:spPr>
          <a:xfrm>
            <a:off x="9802368" y="4206240"/>
            <a:ext cx="219456" cy="201168"/>
          </a:xfrm>
          <a:prstGeom prst="chevron">
            <a:avLst/>
          </a:prstGeom>
          <a:solidFill>
            <a:srgbClr val="007878"/>
          </a:solidFill>
          <a:ln w="12700">
            <a:solidFill>
              <a:srgbClr val="007878"/>
            </a:solidFill>
            <a:prstDash val="solid"/>
          </a:ln>
        </p:spPr>
        <p:txBody>
          <a:bodyPr/>
          <a:lstStyle/>
          <a:p>
            <a:endParaRPr lang="en-US"/>
          </a:p>
        </p:txBody>
      </p:sp>
      <p:sp>
        <p:nvSpPr>
          <p:cNvPr id="51" name="Shape 49"/>
          <p:cNvSpPr/>
          <p:nvPr/>
        </p:nvSpPr>
        <p:spPr>
          <a:xfrm>
            <a:off x="10104120" y="3749040"/>
            <a:ext cx="1170432" cy="1005840"/>
          </a:xfrm>
          <a:prstGeom prst="roundRect">
            <a:avLst>
              <a:gd name="adj" fmla="val 10909"/>
            </a:avLst>
          </a:prstGeom>
          <a:solidFill>
            <a:srgbClr val="0B2B4C"/>
          </a:solidFill>
          <a:ln w="15240">
            <a:solidFill>
              <a:srgbClr val="0B2B4C"/>
            </a:solidFill>
            <a:prstDash val="solid"/>
          </a:ln>
        </p:spPr>
        <p:txBody>
          <a:bodyPr/>
          <a:lstStyle/>
          <a:p>
            <a:endParaRPr lang="en-US"/>
          </a:p>
        </p:txBody>
      </p:sp>
      <p:grpSp>
        <p:nvGrpSpPr>
          <p:cNvPr id="76" name="Group 75">
            <a:extLst>
              <a:ext uri="{FF2B5EF4-FFF2-40B4-BE49-F238E27FC236}">
                <a16:creationId xmlns:a16="http://schemas.microsoft.com/office/drawing/2014/main" id="{7F48A8D2-DBAB-C65D-6C24-651874A45208}"/>
              </a:ext>
            </a:extLst>
          </p:cNvPr>
          <p:cNvGrpSpPr/>
          <p:nvPr/>
        </p:nvGrpSpPr>
        <p:grpSpPr>
          <a:xfrm>
            <a:off x="10232136" y="3858768"/>
            <a:ext cx="914400" cy="804672"/>
            <a:chOff x="10232136" y="3858768"/>
            <a:chExt cx="914400" cy="804672"/>
          </a:xfrm>
        </p:grpSpPr>
        <p:sp>
          <p:nvSpPr>
            <p:cNvPr id="52" name="Text 50"/>
            <p:cNvSpPr/>
            <p:nvPr/>
          </p:nvSpPr>
          <p:spPr>
            <a:xfrm>
              <a:off x="10232136" y="3858768"/>
              <a:ext cx="914400" cy="292608"/>
            </a:xfrm>
            <a:prstGeom prst="rect">
              <a:avLst/>
            </a:prstGeom>
            <a:noFill/>
            <a:ln/>
          </p:spPr>
          <p:txBody>
            <a:bodyPr wrap="square" lIns="508" tIns="508" rIns="508" bIns="508" rtlCol="0" anchor="t">
              <a:normAutofit fontScale="92500" lnSpcReduction="20000"/>
            </a:bodyPr>
            <a:lstStyle/>
            <a:p>
              <a:pPr marL="0" indent="0" algn="l">
                <a:buNone/>
              </a:pPr>
              <a:r>
                <a:rPr lang="en-US" sz="2400" b="1" dirty="0">
                  <a:solidFill>
                    <a:srgbClr val="5CDAD8"/>
                  </a:solidFill>
                  <a:latin typeface="Segoe UI" pitchFamily="34" charset="0"/>
                  <a:ea typeface="Aptos" pitchFamily="34" charset="-122"/>
                  <a:cs typeface="Aptos" pitchFamily="34" charset="-120"/>
                </a:rPr>
                <a:t>798</a:t>
              </a:r>
              <a:endParaRPr lang="en-US" sz="2400" dirty="0"/>
            </a:p>
          </p:txBody>
        </p:sp>
        <p:sp>
          <p:nvSpPr>
            <p:cNvPr id="53" name="Text 51"/>
            <p:cNvSpPr/>
            <p:nvPr/>
          </p:nvSpPr>
          <p:spPr>
            <a:xfrm>
              <a:off x="10232136" y="4169664"/>
              <a:ext cx="914400" cy="128016"/>
            </a:xfrm>
            <a:prstGeom prst="rect">
              <a:avLst/>
            </a:prstGeom>
            <a:noFill/>
            <a:ln/>
          </p:spPr>
          <p:txBody>
            <a:bodyPr wrap="square" lIns="508" tIns="508" rIns="508" bIns="508" rtlCol="0" anchor="t">
              <a:normAutofit/>
            </a:bodyPr>
            <a:lstStyle/>
            <a:p>
              <a:pPr marL="0" indent="0" algn="l">
                <a:buNone/>
              </a:pPr>
              <a:r>
                <a:rPr lang="en-US" sz="820" b="1" dirty="0">
                  <a:solidFill>
                    <a:srgbClr val="FFFFFF"/>
                  </a:solidFill>
                  <a:latin typeface="Segoe UI" pitchFamily="34" charset="0"/>
                  <a:ea typeface="Aptos" pitchFamily="34" charset="-122"/>
                  <a:cs typeface="Aptos" pitchFamily="34" charset="-120"/>
                </a:rPr>
                <a:t>forecast · held-out 8 wks</a:t>
              </a:r>
              <a:endParaRPr lang="en-US" sz="820" dirty="0"/>
            </a:p>
          </p:txBody>
        </p:sp>
        <p:sp>
          <p:nvSpPr>
            <p:cNvPr id="54" name="Text 52"/>
            <p:cNvSpPr/>
            <p:nvPr/>
          </p:nvSpPr>
          <p:spPr>
            <a:xfrm>
              <a:off x="10232136" y="4334256"/>
              <a:ext cx="914400" cy="201168"/>
            </a:xfrm>
            <a:prstGeom prst="rect">
              <a:avLst/>
            </a:prstGeom>
            <a:noFill/>
            <a:ln/>
          </p:spPr>
          <p:txBody>
            <a:bodyPr wrap="square" lIns="508" tIns="508" rIns="508" bIns="508" rtlCol="0" anchor="t">
              <a:normAutofit lnSpcReduction="10000"/>
            </a:bodyPr>
            <a:lstStyle/>
            <a:p>
              <a:pPr marL="0" indent="0" algn="l">
                <a:buNone/>
              </a:pPr>
              <a:r>
                <a:rPr lang="en-US" sz="700" dirty="0">
                  <a:solidFill>
                    <a:srgbClr val="C6D6EA"/>
                  </a:solidFill>
                  <a:latin typeface="Segoe UI" pitchFamily="34" charset="0"/>
                  <a:ea typeface="Aptos" pitchFamily="34" charset="-122"/>
                  <a:cs typeface="Aptos" pitchFamily="34" charset="-120"/>
                </a:rPr>
                <a:t>uncertainty-aware</a:t>
              </a:r>
              <a:endParaRPr lang="en-US" sz="700" dirty="0"/>
            </a:p>
            <a:p>
              <a:pPr marL="0" indent="0" algn="l">
                <a:buNone/>
              </a:pPr>
              <a:r>
                <a:rPr lang="en-US" sz="700" dirty="0">
                  <a:solidFill>
                    <a:srgbClr val="C6D6EA"/>
                  </a:solidFill>
                  <a:latin typeface="Segoe UI" pitchFamily="34" charset="0"/>
                  <a:ea typeface="Aptos" pitchFamily="34" charset="-122"/>
                  <a:cs typeface="Aptos" pitchFamily="34" charset="-120"/>
                </a:rPr>
                <a:t>works with no history</a:t>
              </a:r>
              <a:endParaRPr lang="en-US" sz="700" dirty="0"/>
            </a:p>
          </p:txBody>
        </p:sp>
        <p:sp>
          <p:nvSpPr>
            <p:cNvPr id="55" name="Text 53"/>
            <p:cNvSpPr/>
            <p:nvPr/>
          </p:nvSpPr>
          <p:spPr>
            <a:xfrm>
              <a:off x="10232136" y="4553712"/>
              <a:ext cx="914400" cy="109728"/>
            </a:xfrm>
            <a:prstGeom prst="rect">
              <a:avLst/>
            </a:prstGeom>
            <a:noFill/>
            <a:ln/>
          </p:spPr>
          <p:txBody>
            <a:bodyPr wrap="square" lIns="127" tIns="127" rIns="127" bIns="127" rtlCol="0" anchor="ctr">
              <a:normAutofit/>
            </a:bodyPr>
            <a:lstStyle/>
            <a:p>
              <a:pPr marL="0" indent="0" algn="ctr">
                <a:buNone/>
              </a:pPr>
              <a:r>
                <a:rPr lang="en-US" sz="660" b="1" dirty="0">
                  <a:solidFill>
                    <a:srgbClr val="5CDAD8"/>
                  </a:solidFill>
                  <a:latin typeface="Segoe UI" pitchFamily="34" charset="0"/>
                  <a:ea typeface="Aptos" pitchFamily="34" charset="-122"/>
                  <a:cs typeface="Aptos" pitchFamily="34" charset="-120"/>
                </a:rPr>
                <a:t>Held-out window: actual 627, legacy 930, EDM 798 — EDM about half the error</a:t>
              </a:r>
              <a:endParaRPr lang="en-US" sz="660" dirty="0"/>
            </a:p>
          </p:txBody>
        </p:sp>
      </p:grpSp>
      <p:sp>
        <p:nvSpPr>
          <p:cNvPr id="56" name="Text 54"/>
          <p:cNvSpPr/>
          <p:nvPr/>
        </p:nvSpPr>
        <p:spPr>
          <a:xfrm>
            <a:off x="3493008" y="4828032"/>
            <a:ext cx="6400800" cy="201168"/>
          </a:xfrm>
          <a:prstGeom prst="rect">
            <a:avLst/>
          </a:prstGeom>
          <a:noFill/>
          <a:ln/>
        </p:spPr>
        <p:txBody>
          <a:bodyPr wrap="square" lIns="508" tIns="508" rIns="508" bIns="508" rtlCol="0" anchor="t">
            <a:normAutofit fontScale="92500"/>
          </a:bodyPr>
          <a:lstStyle/>
          <a:p>
            <a:pPr marL="0" indent="0" algn="l">
              <a:buNone/>
            </a:pPr>
            <a:r>
              <a:rPr lang="en-US" sz="880" b="1" dirty="0">
                <a:solidFill>
                  <a:srgbClr val="007878"/>
                </a:solidFill>
                <a:latin typeface="Segoe UI" pitchFamily="34" charset="0"/>
                <a:ea typeface="Aptos" pitchFamily="34" charset="-122"/>
                <a:cs typeface="Aptos" pitchFamily="34" charset="-120"/>
              </a:rPr>
              <a:t>Simulation:</a:t>
            </a:r>
            <a:r>
              <a:rPr lang="en-US" sz="880" dirty="0">
                <a:solidFill>
                  <a:srgbClr val="007878"/>
                </a:solidFill>
                <a:latin typeface="Segoe UI" pitchFamily="34" charset="0"/>
                <a:ea typeface="Aptos" pitchFamily="34" charset="-122"/>
                <a:cs typeface="Aptos" pitchFamily="34" charset="-120"/>
              </a:rPr>
              <a:t> AR(1) Monte Carlo, 5,000 paths. Snapshot meaning: zones = where it sits • signals = where it is heading • cohort = behavioral twins.</a:t>
            </a:r>
            <a:endParaRPr lang="en-US" sz="880" dirty="0"/>
          </a:p>
        </p:txBody>
      </p:sp>
      <p:sp>
        <p:nvSpPr>
          <p:cNvPr id="57" name="Text 55"/>
          <p:cNvSpPr/>
          <p:nvPr/>
        </p:nvSpPr>
        <p:spPr>
          <a:xfrm>
            <a:off x="3493008" y="5065776"/>
            <a:ext cx="6400800" cy="164592"/>
          </a:xfrm>
          <a:prstGeom prst="rect">
            <a:avLst/>
          </a:prstGeom>
          <a:noFill/>
          <a:ln/>
        </p:spPr>
        <p:txBody>
          <a:bodyPr wrap="square" lIns="508" tIns="508" rIns="508" bIns="508" rtlCol="0" anchor="t">
            <a:normAutofit/>
          </a:bodyPr>
          <a:lstStyle/>
          <a:p>
            <a:pPr marL="0" indent="0" algn="l">
              <a:buNone/>
            </a:pPr>
            <a:r>
              <a:rPr lang="en-US" sz="880" b="1" dirty="0">
                <a:solidFill>
                  <a:srgbClr val="1F2937"/>
                </a:solidFill>
                <a:latin typeface="Segoe UI" pitchFamily="34" charset="0"/>
                <a:ea typeface="Aptos" pitchFamily="34" charset="-122"/>
                <a:cs typeface="Aptos" pitchFamily="34" charset="-120"/>
              </a:rPr>
              <a:t>Value: lower out-of-sample error and day-one cold-start; drift and signals add early-warning, not forecast accuracy.</a:t>
            </a:r>
            <a:endParaRPr lang="en-US" sz="880" dirty="0"/>
          </a:p>
        </p:txBody>
      </p:sp>
      <p:sp>
        <p:nvSpPr>
          <p:cNvPr id="61" name="Shape 59"/>
          <p:cNvSpPr/>
          <p:nvPr/>
        </p:nvSpPr>
        <p:spPr>
          <a:xfrm>
            <a:off x="627627" y="6153911"/>
            <a:ext cx="10899648" cy="242545"/>
          </a:xfrm>
          <a:prstGeom prst="roundRect">
            <a:avLst>
              <a:gd name="adj" fmla="val 13953"/>
            </a:avLst>
          </a:prstGeom>
          <a:solidFill>
            <a:srgbClr val="FFFFFF"/>
          </a:solidFill>
          <a:ln w="13970">
            <a:solidFill>
              <a:srgbClr val="C5D3E2"/>
            </a:solidFill>
            <a:prstDash val="solid"/>
          </a:ln>
        </p:spPr>
        <p:txBody>
          <a:bodyPr/>
          <a:lstStyle/>
          <a:p>
            <a:endParaRPr lang="en-US"/>
          </a:p>
        </p:txBody>
      </p:sp>
      <p:sp>
        <p:nvSpPr>
          <p:cNvPr id="62" name="Text 60"/>
          <p:cNvSpPr/>
          <p:nvPr/>
        </p:nvSpPr>
        <p:spPr>
          <a:xfrm>
            <a:off x="817642" y="6206442"/>
            <a:ext cx="960120" cy="164592"/>
          </a:xfrm>
          <a:prstGeom prst="rect">
            <a:avLst/>
          </a:prstGeom>
          <a:noFill/>
          <a:ln/>
        </p:spPr>
        <p:txBody>
          <a:bodyPr wrap="square" lIns="508" tIns="508" rIns="508" bIns="508" rtlCol="0" anchor="t">
            <a:normAutofit/>
          </a:bodyPr>
          <a:lstStyle/>
          <a:p>
            <a:pPr marL="0" indent="0" algn="l">
              <a:buNone/>
            </a:pPr>
            <a:r>
              <a:rPr lang="en-US" sz="1050" b="1" dirty="0">
                <a:solidFill>
                  <a:srgbClr val="0B2B4C"/>
                </a:solidFill>
                <a:latin typeface="Segoe UI" pitchFamily="34" charset="0"/>
                <a:ea typeface="Aptos" pitchFamily="34" charset="-122"/>
                <a:cs typeface="Aptos" pitchFamily="34" charset="-120"/>
              </a:rPr>
              <a:t>Traceability:</a:t>
            </a:r>
            <a:endParaRPr lang="en-US" sz="1050" dirty="0"/>
          </a:p>
        </p:txBody>
      </p:sp>
      <p:sp>
        <p:nvSpPr>
          <p:cNvPr id="63" name="Text 61"/>
          <p:cNvSpPr/>
          <p:nvPr/>
        </p:nvSpPr>
        <p:spPr>
          <a:xfrm>
            <a:off x="1649487" y="6212927"/>
            <a:ext cx="9144000" cy="164592"/>
          </a:xfrm>
          <a:prstGeom prst="rect">
            <a:avLst/>
          </a:prstGeom>
          <a:noFill/>
          <a:ln/>
        </p:spPr>
        <p:txBody>
          <a:bodyPr wrap="square" lIns="508" tIns="508" rIns="508" bIns="508" rtlCol="0" anchor="ctr">
            <a:normAutofit/>
          </a:bodyPr>
          <a:lstStyle/>
          <a:p>
            <a:pPr marL="0" indent="0" algn="l">
              <a:buNone/>
            </a:pPr>
            <a:r>
              <a:rPr lang="en-US" sz="800" dirty="0">
                <a:solidFill>
                  <a:srgbClr val="5A6778"/>
                </a:solidFill>
                <a:latin typeface="Segoe UI" pitchFamily="34" charset="0"/>
                <a:ea typeface="Aptos" pitchFamily="34" charset="-122"/>
                <a:cs typeface="Aptos" pitchFamily="34" charset="-120"/>
              </a:rPr>
              <a:t>Forecast pipeline – Appx 16  |  Zones / signals / cohort – Appx 17  |  Drift / alpha – Appx 18  |  Full 67 features – Appx 28  |  Behavioral drift pipeline – Appx 29</a:t>
            </a:r>
            <a:endParaRPr lang="en-US" sz="800" dirty="0"/>
          </a:p>
        </p:txBody>
      </p:sp>
      <p:sp>
        <p:nvSpPr>
          <p:cNvPr id="80" name="Shape 4">
            <a:extLst>
              <a:ext uri="{FF2B5EF4-FFF2-40B4-BE49-F238E27FC236}">
                <a16:creationId xmlns:a16="http://schemas.microsoft.com/office/drawing/2014/main" id="{9ECDB7DD-0293-DC04-401F-6BDCED4FCC1C}"/>
              </a:ext>
            </a:extLst>
          </p:cNvPr>
          <p:cNvSpPr/>
          <p:nvPr/>
        </p:nvSpPr>
        <p:spPr>
          <a:xfrm>
            <a:off x="411480" y="6446520"/>
            <a:ext cx="11365992" cy="0"/>
          </a:xfrm>
          <a:prstGeom prst="line">
            <a:avLst/>
          </a:prstGeom>
          <a:noFill/>
          <a:ln w="7620">
            <a:solidFill>
              <a:srgbClr val="C9D3D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Aptos"/>
              <a:ea typeface="+mn-ea"/>
              <a:cs typeface="+mn-cs"/>
            </a:endParaRPr>
          </a:p>
        </p:txBody>
      </p:sp>
      <p:sp>
        <p:nvSpPr>
          <p:cNvPr id="82" name="Text 4">
            <a:extLst>
              <a:ext uri="{FF2B5EF4-FFF2-40B4-BE49-F238E27FC236}">
                <a16:creationId xmlns:a16="http://schemas.microsoft.com/office/drawing/2014/main" id="{130C3EE0-FEFE-3991-707B-4232AFFAF7E8}"/>
              </a:ext>
            </a:extLst>
          </p:cNvPr>
          <p:cNvSpPr/>
          <p:nvPr/>
        </p:nvSpPr>
        <p:spPr>
          <a:xfrm>
            <a:off x="438912" y="6510528"/>
            <a:ext cx="80467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CONFIDENTIAL  |  22</a:t>
            </a:r>
            <a:r>
              <a:rPr kumimoji="0" lang="en-US" sz="800" b="0" i="0" u="none" strike="noStrike" kern="1200" cap="none" spc="0" normalizeH="0" baseline="30000" noProof="0" dirty="0">
                <a:ln>
                  <a:noFill/>
                </a:ln>
                <a:solidFill>
                  <a:srgbClr val="5B6470"/>
                </a:solidFill>
                <a:effectLst/>
                <a:uLnTx/>
                <a:uFillTx/>
                <a:latin typeface="Segoe UI"/>
                <a:ea typeface="Aptos" pitchFamily="34" charset="-122"/>
                <a:cs typeface="Aptos" pitchFamily="34" charset="-120"/>
              </a:rPr>
              <a:t>nd</a:t>
            </a: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 Century Technologies  |  DLA EDM Vector Intelligence</a:t>
            </a:r>
            <a:endParaRPr kumimoji="0" lang="en-US" sz="800" b="0" i="0" u="none" strike="noStrike" kern="1200" cap="none" spc="0" normalizeH="0" baseline="0" noProof="0" dirty="0">
              <a:ln>
                <a:noFill/>
              </a:ln>
              <a:solidFill>
                <a:prstClr val="black"/>
              </a:solidFill>
              <a:effectLst/>
              <a:uLnTx/>
              <a:uFillTx/>
              <a:ea typeface="+mn-ea"/>
              <a:cs typeface="+mn-cs"/>
            </a:endParaRPr>
          </a:p>
        </p:txBody>
      </p:sp>
      <p:sp>
        <p:nvSpPr>
          <p:cNvPr id="86" name="Text 6">
            <a:extLst>
              <a:ext uri="{FF2B5EF4-FFF2-40B4-BE49-F238E27FC236}">
                <a16:creationId xmlns:a16="http://schemas.microsoft.com/office/drawing/2014/main" id="{3B86C31F-C2D9-2B9B-D8BD-01BDF04AF8D7}"/>
              </a:ext>
            </a:extLst>
          </p:cNvPr>
          <p:cNvSpPr/>
          <p:nvPr/>
        </p:nvSpPr>
        <p:spPr>
          <a:xfrm>
            <a:off x="11475720" y="6492240"/>
            <a:ext cx="320040" cy="20116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Segoe UI"/>
                <a:ea typeface="+mn-ea"/>
                <a:cs typeface="+mn-cs"/>
              </a:rPr>
              <a:t>7</a:t>
            </a:r>
          </a:p>
        </p:txBody>
      </p:sp>
      <p:grpSp>
        <p:nvGrpSpPr>
          <p:cNvPr id="79" name="Group 78">
            <a:extLst>
              <a:ext uri="{FF2B5EF4-FFF2-40B4-BE49-F238E27FC236}">
                <a16:creationId xmlns:a16="http://schemas.microsoft.com/office/drawing/2014/main" id="{94CE192A-F48F-FB11-AAA2-E9D4F779E18B}"/>
              </a:ext>
            </a:extLst>
          </p:cNvPr>
          <p:cNvGrpSpPr/>
          <p:nvPr/>
        </p:nvGrpSpPr>
        <p:grpSpPr>
          <a:xfrm>
            <a:off x="658368" y="5529558"/>
            <a:ext cx="10835640" cy="549644"/>
            <a:chOff x="658368" y="5529558"/>
            <a:chExt cx="10835640" cy="549644"/>
          </a:xfrm>
        </p:grpSpPr>
        <p:sp>
          <p:nvSpPr>
            <p:cNvPr id="64" name="Shape 31">
              <a:extLst>
                <a:ext uri="{FF2B5EF4-FFF2-40B4-BE49-F238E27FC236}">
                  <a16:creationId xmlns:a16="http://schemas.microsoft.com/office/drawing/2014/main" id="{747A2040-0AD3-7A38-A7CC-B8F1FB5F766D}"/>
                </a:ext>
              </a:extLst>
            </p:cNvPr>
            <p:cNvSpPr/>
            <p:nvPr/>
          </p:nvSpPr>
          <p:spPr>
            <a:xfrm>
              <a:off x="658368" y="5529558"/>
              <a:ext cx="10835640" cy="549644"/>
            </a:xfrm>
            <a:prstGeom prst="roundRect">
              <a:avLst>
                <a:gd name="adj" fmla="val 8333"/>
              </a:avLst>
            </a:prstGeom>
            <a:solidFill>
              <a:srgbClr val="F7FAFD"/>
            </a:solidFill>
            <a:ln w="12700">
              <a:solidFill>
                <a:srgbClr val="B7C8D9"/>
              </a:solidFill>
              <a:prstDash val="solid"/>
            </a:ln>
          </p:spPr>
          <p:txBody>
            <a:bodyPr/>
            <a:lstStyle/>
            <a:p>
              <a:endParaRPr lang="en-US" sz="1150"/>
            </a:p>
          </p:txBody>
        </p:sp>
        <p:sp>
          <p:nvSpPr>
            <p:cNvPr id="66" name="Shape 32">
              <a:extLst>
                <a:ext uri="{FF2B5EF4-FFF2-40B4-BE49-F238E27FC236}">
                  <a16:creationId xmlns:a16="http://schemas.microsoft.com/office/drawing/2014/main" id="{CD0B3293-F3BF-968F-2B31-4E6CB9026488}"/>
                </a:ext>
              </a:extLst>
            </p:cNvPr>
            <p:cNvSpPr/>
            <p:nvPr/>
          </p:nvSpPr>
          <p:spPr>
            <a:xfrm>
              <a:off x="658368" y="5529558"/>
              <a:ext cx="54864" cy="549644"/>
            </a:xfrm>
            <a:prstGeom prst="rect">
              <a:avLst/>
            </a:prstGeom>
            <a:solidFill>
              <a:srgbClr val="0E4A7B"/>
            </a:solidFill>
            <a:ln w="12700">
              <a:solidFill>
                <a:srgbClr val="0E4A7B"/>
              </a:solidFill>
              <a:prstDash val="solid"/>
            </a:ln>
          </p:spPr>
          <p:txBody>
            <a:bodyPr/>
            <a:lstStyle/>
            <a:p>
              <a:endParaRPr lang="en-US" sz="1150"/>
            </a:p>
          </p:txBody>
        </p:sp>
        <p:sp>
          <p:nvSpPr>
            <p:cNvPr id="71" name="Text 33">
              <a:extLst>
                <a:ext uri="{FF2B5EF4-FFF2-40B4-BE49-F238E27FC236}">
                  <a16:creationId xmlns:a16="http://schemas.microsoft.com/office/drawing/2014/main" id="{E52D0C83-6B29-04C9-3647-F291DF34530C}"/>
                </a:ext>
              </a:extLst>
            </p:cNvPr>
            <p:cNvSpPr/>
            <p:nvPr/>
          </p:nvSpPr>
          <p:spPr>
            <a:xfrm>
              <a:off x="822960" y="5574874"/>
              <a:ext cx="10515600" cy="192024"/>
            </a:xfrm>
            <a:prstGeom prst="rect">
              <a:avLst/>
            </a:prstGeom>
            <a:noFill/>
            <a:ln/>
          </p:spPr>
          <p:txBody>
            <a:bodyPr wrap="square" lIns="0" tIns="0" rIns="0" bIns="0" rtlCol="0" anchor="ctr"/>
            <a:lstStyle/>
            <a:p>
              <a:pPr marL="0" indent="0">
                <a:buNone/>
              </a:pPr>
              <a:r>
                <a:rPr lang="en-US" sz="1400" b="1" dirty="0">
                  <a:solidFill>
                    <a:srgbClr val="06244A"/>
                  </a:solidFill>
                  <a:latin typeface="Segoe UI"/>
                </a:rPr>
                <a:t>Executive point</a:t>
              </a:r>
            </a:p>
          </p:txBody>
        </p:sp>
        <p:sp>
          <p:nvSpPr>
            <p:cNvPr id="78" name="Text 34">
              <a:extLst>
                <a:ext uri="{FF2B5EF4-FFF2-40B4-BE49-F238E27FC236}">
                  <a16:creationId xmlns:a16="http://schemas.microsoft.com/office/drawing/2014/main" id="{00DF7D69-CF3F-C18F-9BB9-7D82264EA7D5}"/>
                </a:ext>
              </a:extLst>
            </p:cNvPr>
            <p:cNvSpPr/>
            <p:nvPr/>
          </p:nvSpPr>
          <p:spPr>
            <a:xfrm>
              <a:off x="822960" y="5769361"/>
              <a:ext cx="10620010" cy="291205"/>
            </a:xfrm>
            <a:prstGeom prst="rect">
              <a:avLst/>
            </a:prstGeom>
            <a:noFill/>
            <a:ln/>
          </p:spPr>
          <p:txBody>
            <a:bodyPr wrap="square" lIns="0" tIns="0" rIns="0" bIns="0" rtlCol="0" anchor="ctr">
              <a:normAutofit lnSpcReduction="10000"/>
            </a:bodyPr>
            <a:lstStyle/>
            <a:p>
              <a:pPr marL="0" indent="0">
                <a:buNone/>
              </a:pPr>
              <a:r>
                <a:rPr lang="en-US" sz="1000" dirty="0">
                  <a:solidFill>
                    <a:srgbClr val="232A31"/>
                  </a:solidFill>
                  <a:latin typeface="Segoe UI"/>
                </a:rPr>
                <a:t>The MVP should test whether EDM produces stronger decision usefulness than the legacy baseline using the same data foundation – better planning range, earlier warning, clearer drivers, and a bounded go / no-go evidence trail.</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9184"/>
            <a:ext cx="10058400" cy="502920"/>
          </a:xfrm>
          <a:prstGeom prst="rect">
            <a:avLst/>
          </a:prstGeom>
          <a:noFill/>
        </p:spPr>
        <p:txBody>
          <a:bodyPr wrap="square" lIns="25400" tIns="12700" rIns="25400" bIns="12700" anchor="t">
            <a:spAutoFit/>
          </a:bodyPr>
          <a:lstStyle/>
          <a:p>
            <a:pPr algn="l">
              <a:spcAft>
                <a:spcPts val="300"/>
              </a:spcAft>
            </a:pPr>
            <a:r>
              <a:rPr sz="2300" b="1" i="0">
                <a:solidFill>
                  <a:srgbClr val="102A4C"/>
                </a:solidFill>
                <a:latin typeface="Segoe UI"/>
              </a:rPr>
              <a:t>Inside the new approach: one digital twin → 67 engineered features</a:t>
            </a:r>
          </a:p>
        </p:txBody>
      </p:sp>
      <p:sp>
        <p:nvSpPr>
          <p:cNvPr id="4" name="TextBox 3"/>
          <p:cNvSpPr txBox="1"/>
          <p:nvPr/>
        </p:nvSpPr>
        <p:spPr>
          <a:xfrm>
            <a:off x="457200" y="914400"/>
            <a:ext cx="11274552" cy="365760"/>
          </a:xfrm>
          <a:prstGeom prst="rect">
            <a:avLst/>
          </a:prstGeom>
          <a:noFill/>
        </p:spPr>
        <p:txBody>
          <a:bodyPr wrap="square" lIns="25400" tIns="12700" rIns="25400" bIns="12700" anchor="t">
            <a:spAutoFit/>
          </a:bodyPr>
          <a:lstStyle/>
          <a:p>
            <a:pPr algn="l">
              <a:spcAft>
                <a:spcPts val="300"/>
              </a:spcAft>
            </a:pPr>
            <a:r>
              <a:rPr sz="1200" b="0" i="1">
                <a:solidFill>
                  <a:srgbClr val="1F5E9C"/>
                </a:solidFill>
                <a:latin typeface="Segoe UI"/>
              </a:rPr>
              <a:t>The same records become a behavioral twin of each item+depot, distilled into the features the two-phase model learns from — then nudged for where it's heading.</a:t>
            </a:r>
          </a:p>
        </p:txBody>
      </p:sp>
      <p:sp>
        <p:nvSpPr>
          <p:cNvPr id="5" name="Rounded Rectangle 4"/>
          <p:cNvSpPr/>
          <p:nvPr/>
        </p:nvSpPr>
        <p:spPr>
          <a:xfrm>
            <a:off x="457200" y="1554480"/>
            <a:ext cx="1783080" cy="3246120"/>
          </a:xfrm>
          <a:prstGeom prst="roundRect">
            <a:avLst/>
          </a:prstGeom>
          <a:solidFill>
            <a:srgbClr val="EAF3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21792" y="1700784"/>
            <a:ext cx="1508760" cy="194925"/>
          </a:xfrm>
          <a:prstGeom prst="rect">
            <a:avLst/>
          </a:prstGeom>
          <a:noFill/>
        </p:spPr>
        <p:txBody>
          <a:bodyPr wrap="square" lIns="25400" tIns="12700" rIns="25400" bIns="12700" anchor="t">
            <a:spAutoFit/>
          </a:bodyPr>
          <a:lstStyle/>
          <a:p>
            <a:pPr algn="l">
              <a:spcAft>
                <a:spcPts val="300"/>
              </a:spcAft>
            </a:pPr>
            <a:r>
              <a:rPr sz="1100" b="1" i="0" dirty="0">
                <a:solidFill>
                  <a:srgbClr val="102A4C"/>
                </a:solidFill>
                <a:latin typeface="Segoe UI"/>
              </a:rPr>
              <a:t>SAME </a:t>
            </a:r>
            <a:r>
              <a:rPr lang="en-US" sz="1100" b="1" i="0" dirty="0">
                <a:solidFill>
                  <a:srgbClr val="102A4C"/>
                </a:solidFill>
                <a:latin typeface="Segoe UI"/>
              </a:rPr>
              <a:t>RAW DATA</a:t>
            </a:r>
            <a:endParaRPr sz="1100" b="1" i="0" dirty="0">
              <a:solidFill>
                <a:srgbClr val="102A4C"/>
              </a:solidFill>
              <a:latin typeface="Segoe UI"/>
            </a:endParaRPr>
          </a:p>
        </p:txBody>
      </p:sp>
      <p:sp>
        <p:nvSpPr>
          <p:cNvPr id="7" name="TextBox 6"/>
          <p:cNvSpPr txBox="1"/>
          <p:nvPr/>
        </p:nvSpPr>
        <p:spPr>
          <a:xfrm>
            <a:off x="621792" y="2103120"/>
            <a:ext cx="1508760" cy="2560320"/>
          </a:xfrm>
          <a:prstGeom prst="rect">
            <a:avLst/>
          </a:prstGeom>
          <a:noFill/>
        </p:spPr>
        <p:txBody>
          <a:bodyPr wrap="square" lIns="25400" tIns="12700" rIns="25400" bIns="12700" anchor="t">
            <a:spAutoFit/>
          </a:bodyPr>
          <a:lstStyle/>
          <a:p>
            <a:pPr algn="l">
              <a:spcAft>
                <a:spcPts val="600"/>
              </a:spcAft>
            </a:pPr>
            <a:r>
              <a:rPr sz="950" b="0" i="0" dirty="0">
                <a:solidFill>
                  <a:srgbClr val="1D2430"/>
                </a:solidFill>
                <a:latin typeface="Segoe UI"/>
              </a:rPr>
              <a:t>•  Demand &amp; requisitions</a:t>
            </a:r>
          </a:p>
          <a:p>
            <a:pPr algn="l">
              <a:spcAft>
                <a:spcPts val="600"/>
              </a:spcAft>
            </a:pPr>
            <a:r>
              <a:rPr sz="950" b="0" i="0" dirty="0">
                <a:solidFill>
                  <a:srgbClr val="1D2430"/>
                </a:solidFill>
                <a:latin typeface="Segoe UI"/>
              </a:rPr>
              <a:t>•  Supplier &amp; lead time</a:t>
            </a:r>
          </a:p>
          <a:p>
            <a:pPr algn="l">
              <a:spcAft>
                <a:spcPts val="600"/>
              </a:spcAft>
            </a:pPr>
            <a:r>
              <a:rPr sz="950" b="0" i="0" dirty="0">
                <a:solidFill>
                  <a:srgbClr val="1D2430"/>
                </a:solidFill>
                <a:latin typeface="Segoe UI"/>
              </a:rPr>
              <a:t>•  Inventory &amp; stock</a:t>
            </a:r>
          </a:p>
          <a:p>
            <a:pPr algn="l">
              <a:spcAft>
                <a:spcPts val="600"/>
              </a:spcAft>
            </a:pPr>
            <a:r>
              <a:rPr sz="950" b="0" i="0" dirty="0">
                <a:solidFill>
                  <a:srgbClr val="1D2430"/>
                </a:solidFill>
                <a:latin typeface="Segoe UI"/>
              </a:rPr>
              <a:t>•  Volatility</a:t>
            </a:r>
          </a:p>
          <a:p>
            <a:pPr algn="l">
              <a:spcAft>
                <a:spcPts val="600"/>
              </a:spcAft>
            </a:pPr>
            <a:r>
              <a:rPr sz="950" b="0" i="0" dirty="0">
                <a:solidFill>
                  <a:srgbClr val="1D2430"/>
                </a:solidFill>
                <a:latin typeface="Segoe UI"/>
              </a:rPr>
              <a:t>•  Criticality / context</a:t>
            </a:r>
          </a:p>
          <a:p>
            <a:pPr algn="l">
              <a:spcAft>
                <a:spcPts val="600"/>
              </a:spcAft>
            </a:pPr>
            <a:r>
              <a:rPr sz="950" b="0" i="0" dirty="0">
                <a:solidFill>
                  <a:srgbClr val="1D2430"/>
                </a:solidFill>
                <a:latin typeface="Segoe UI"/>
              </a:rPr>
              <a:t>•  Item, depot &amp; fiscal</a:t>
            </a:r>
          </a:p>
        </p:txBody>
      </p:sp>
      <p:sp>
        <p:nvSpPr>
          <p:cNvPr id="9" name="Rounded Rectangle 8"/>
          <p:cNvSpPr/>
          <p:nvPr/>
        </p:nvSpPr>
        <p:spPr>
          <a:xfrm>
            <a:off x="2651760" y="1554480"/>
            <a:ext cx="3246120" cy="3246120"/>
          </a:xfrm>
          <a:prstGeom prst="round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852928" y="1700784"/>
            <a:ext cx="2880360" cy="274320"/>
          </a:xfrm>
          <a:prstGeom prst="rect">
            <a:avLst/>
          </a:prstGeom>
          <a:noFill/>
        </p:spPr>
        <p:txBody>
          <a:bodyPr wrap="square" lIns="25400" tIns="12700" rIns="25400" bIns="12700" anchor="t">
            <a:spAutoFit/>
          </a:bodyPr>
          <a:lstStyle/>
          <a:p>
            <a:pPr algn="l">
              <a:spcAft>
                <a:spcPts val="300"/>
              </a:spcAft>
            </a:pPr>
            <a:r>
              <a:rPr sz="1200" b="1" i="0" dirty="0">
                <a:solidFill>
                  <a:srgbClr val="FFFFFF"/>
                </a:solidFill>
                <a:latin typeface="Segoe UI"/>
              </a:rPr>
              <a:t>DIGITAL TWIN</a:t>
            </a:r>
          </a:p>
        </p:txBody>
      </p:sp>
      <p:sp>
        <p:nvSpPr>
          <p:cNvPr id="11" name="TextBox 10"/>
          <p:cNvSpPr txBox="1"/>
          <p:nvPr/>
        </p:nvSpPr>
        <p:spPr>
          <a:xfrm>
            <a:off x="2852928" y="1975104"/>
            <a:ext cx="2880360" cy="256032"/>
          </a:xfrm>
          <a:prstGeom prst="rect">
            <a:avLst/>
          </a:prstGeom>
          <a:noFill/>
        </p:spPr>
        <p:txBody>
          <a:bodyPr wrap="square" lIns="25400" tIns="12700" rIns="25400" bIns="12700" anchor="t">
            <a:spAutoFit/>
          </a:bodyPr>
          <a:lstStyle/>
          <a:p>
            <a:pPr algn="l">
              <a:spcAft>
                <a:spcPts val="300"/>
              </a:spcAft>
            </a:pPr>
            <a:r>
              <a:rPr sz="900" b="0" i="1">
                <a:solidFill>
                  <a:srgbClr val="9FB6D4"/>
                </a:solidFill>
                <a:latin typeface="Segoe UI"/>
              </a:rPr>
              <a:t>re-imagine the data model — GenAI-ready</a:t>
            </a:r>
          </a:p>
        </p:txBody>
      </p:sp>
      <p:sp>
        <p:nvSpPr>
          <p:cNvPr id="12" name="Rounded Rectangle 11"/>
          <p:cNvSpPr/>
          <p:nvPr/>
        </p:nvSpPr>
        <p:spPr>
          <a:xfrm>
            <a:off x="2816352" y="2322576"/>
            <a:ext cx="530352" cy="402336"/>
          </a:xfrm>
          <a:prstGeom prst="roundRect">
            <a:avLst/>
          </a:prstGeom>
          <a:solidFill>
            <a:srgbClr val="153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816352" y="2340864"/>
            <a:ext cx="530352" cy="402336"/>
          </a:xfrm>
          <a:prstGeom prst="rect">
            <a:avLst/>
          </a:prstGeom>
          <a:noFill/>
        </p:spPr>
        <p:txBody>
          <a:bodyPr wrap="square" lIns="25400" tIns="12700" rIns="25400" bIns="12700" anchor="ctr">
            <a:spAutoFit/>
          </a:bodyPr>
          <a:lstStyle/>
          <a:p>
            <a:pPr algn="ctr">
              <a:spcAft>
                <a:spcPts val="0"/>
              </a:spcAft>
            </a:pPr>
            <a:r>
              <a:rPr sz="650" b="1" i="0">
                <a:solidFill>
                  <a:srgbClr val="FFFFFF"/>
                </a:solidFill>
                <a:latin typeface="Segoe UI"/>
              </a:rPr>
              <a:t>demand</a:t>
            </a:r>
          </a:p>
        </p:txBody>
      </p:sp>
      <p:sp>
        <p:nvSpPr>
          <p:cNvPr id="14" name="Rounded Rectangle 13"/>
          <p:cNvSpPr/>
          <p:nvPr/>
        </p:nvSpPr>
        <p:spPr>
          <a:xfrm>
            <a:off x="3401568" y="2322576"/>
            <a:ext cx="530352" cy="402336"/>
          </a:xfrm>
          <a:prstGeom prst="roundRect">
            <a:avLst/>
          </a:prstGeom>
          <a:solidFill>
            <a:srgbClr val="153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401568" y="2340864"/>
            <a:ext cx="530352" cy="402336"/>
          </a:xfrm>
          <a:prstGeom prst="rect">
            <a:avLst/>
          </a:prstGeom>
          <a:noFill/>
        </p:spPr>
        <p:txBody>
          <a:bodyPr wrap="square" lIns="25400" tIns="12700" rIns="25400" bIns="12700" anchor="ctr">
            <a:spAutoFit/>
          </a:bodyPr>
          <a:lstStyle/>
          <a:p>
            <a:pPr algn="ctr">
              <a:spcAft>
                <a:spcPts val="0"/>
              </a:spcAft>
            </a:pPr>
            <a:r>
              <a:rPr sz="650" b="1" i="0">
                <a:solidFill>
                  <a:srgbClr val="FFFFFF"/>
                </a:solidFill>
                <a:latin typeface="Segoe UI"/>
              </a:rPr>
              <a:t>supply</a:t>
            </a:r>
          </a:p>
        </p:txBody>
      </p:sp>
      <p:sp>
        <p:nvSpPr>
          <p:cNvPr id="16" name="Rounded Rectangle 15"/>
          <p:cNvSpPr/>
          <p:nvPr/>
        </p:nvSpPr>
        <p:spPr>
          <a:xfrm>
            <a:off x="3986784" y="2322576"/>
            <a:ext cx="530352" cy="402336"/>
          </a:xfrm>
          <a:prstGeom prst="roundRect">
            <a:avLst/>
          </a:prstGeom>
          <a:solidFill>
            <a:srgbClr val="153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986784" y="2340864"/>
            <a:ext cx="530352" cy="402336"/>
          </a:xfrm>
          <a:prstGeom prst="rect">
            <a:avLst/>
          </a:prstGeom>
          <a:noFill/>
        </p:spPr>
        <p:txBody>
          <a:bodyPr wrap="square" lIns="25400" tIns="12700" rIns="25400" bIns="12700" anchor="ctr">
            <a:spAutoFit/>
          </a:bodyPr>
          <a:lstStyle/>
          <a:p>
            <a:pPr algn="ctr">
              <a:spcAft>
                <a:spcPts val="0"/>
              </a:spcAft>
            </a:pPr>
            <a:r>
              <a:rPr sz="650" b="1" i="0">
                <a:solidFill>
                  <a:srgbClr val="FFFFFF"/>
                </a:solidFill>
                <a:latin typeface="Segoe UI"/>
              </a:rPr>
              <a:t>inventory</a:t>
            </a:r>
          </a:p>
        </p:txBody>
      </p:sp>
      <p:sp>
        <p:nvSpPr>
          <p:cNvPr id="18" name="Rounded Rectangle 17"/>
          <p:cNvSpPr/>
          <p:nvPr/>
        </p:nvSpPr>
        <p:spPr>
          <a:xfrm>
            <a:off x="4572000" y="2322576"/>
            <a:ext cx="530352" cy="402336"/>
          </a:xfrm>
          <a:prstGeom prst="roundRect">
            <a:avLst/>
          </a:prstGeom>
          <a:solidFill>
            <a:srgbClr val="153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0" y="2340864"/>
            <a:ext cx="530352" cy="402336"/>
          </a:xfrm>
          <a:prstGeom prst="rect">
            <a:avLst/>
          </a:prstGeom>
          <a:noFill/>
        </p:spPr>
        <p:txBody>
          <a:bodyPr wrap="square" lIns="25400" tIns="12700" rIns="25400" bIns="12700" anchor="ctr">
            <a:spAutoFit/>
          </a:bodyPr>
          <a:lstStyle/>
          <a:p>
            <a:pPr algn="ctr">
              <a:spcAft>
                <a:spcPts val="0"/>
              </a:spcAft>
            </a:pPr>
            <a:r>
              <a:rPr sz="650" b="1" i="0">
                <a:solidFill>
                  <a:srgbClr val="FFFFFF"/>
                </a:solidFill>
                <a:latin typeface="Segoe UI"/>
              </a:rPr>
              <a:t>volatility</a:t>
            </a:r>
          </a:p>
        </p:txBody>
      </p:sp>
      <p:sp>
        <p:nvSpPr>
          <p:cNvPr id="20" name="Rounded Rectangle 19"/>
          <p:cNvSpPr/>
          <p:nvPr/>
        </p:nvSpPr>
        <p:spPr>
          <a:xfrm>
            <a:off x="5157216" y="2322576"/>
            <a:ext cx="530352" cy="402336"/>
          </a:xfrm>
          <a:prstGeom prst="roundRect">
            <a:avLst/>
          </a:prstGeom>
          <a:solidFill>
            <a:srgbClr val="153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157216" y="2340864"/>
            <a:ext cx="530352" cy="402336"/>
          </a:xfrm>
          <a:prstGeom prst="rect">
            <a:avLst/>
          </a:prstGeom>
          <a:noFill/>
        </p:spPr>
        <p:txBody>
          <a:bodyPr wrap="square" lIns="25400" tIns="12700" rIns="25400" bIns="12700" anchor="ctr">
            <a:spAutoFit/>
          </a:bodyPr>
          <a:lstStyle/>
          <a:p>
            <a:pPr algn="ctr">
              <a:spcAft>
                <a:spcPts val="0"/>
              </a:spcAft>
            </a:pPr>
            <a:r>
              <a:rPr sz="650" b="1" i="0">
                <a:solidFill>
                  <a:srgbClr val="FFFFFF"/>
                </a:solidFill>
                <a:latin typeface="Segoe UI"/>
              </a:rPr>
              <a:t>context</a:t>
            </a:r>
          </a:p>
        </p:txBody>
      </p:sp>
      <p:sp>
        <p:nvSpPr>
          <p:cNvPr id="22" name="TextBox 21"/>
          <p:cNvSpPr txBox="1"/>
          <p:nvPr/>
        </p:nvSpPr>
        <p:spPr>
          <a:xfrm>
            <a:off x="2852928" y="2798064"/>
            <a:ext cx="2880360" cy="237744"/>
          </a:xfrm>
          <a:prstGeom prst="rect">
            <a:avLst/>
          </a:prstGeom>
          <a:noFill/>
        </p:spPr>
        <p:txBody>
          <a:bodyPr wrap="square" lIns="25400" tIns="12700" rIns="25400" bIns="12700" anchor="t">
            <a:spAutoFit/>
          </a:bodyPr>
          <a:lstStyle/>
          <a:p>
            <a:pPr algn="l">
              <a:spcAft>
                <a:spcPts val="300"/>
              </a:spcAft>
            </a:pPr>
            <a:r>
              <a:rPr sz="850" b="0" i="0">
                <a:solidFill>
                  <a:srgbClr val="CFDDEE"/>
                </a:solidFill>
                <a:latin typeface="Segoe UI"/>
              </a:rPr>
              <a:t>5 behavioral embeddings → OpenAI embedding → 1,536-d each</a:t>
            </a:r>
          </a:p>
        </p:txBody>
      </p:sp>
      <p:sp>
        <p:nvSpPr>
          <p:cNvPr id="23" name="Rounded Rectangle 22"/>
          <p:cNvSpPr/>
          <p:nvPr/>
        </p:nvSpPr>
        <p:spPr>
          <a:xfrm>
            <a:off x="2816352" y="3145536"/>
            <a:ext cx="2916936" cy="420624"/>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926079" y="3145536"/>
            <a:ext cx="2743200" cy="420624"/>
          </a:xfrm>
          <a:prstGeom prst="rect">
            <a:avLst/>
          </a:prstGeom>
          <a:noFill/>
        </p:spPr>
        <p:txBody>
          <a:bodyPr wrap="square" lIns="25400" tIns="12700" rIns="25400" bIns="12700" anchor="ctr">
            <a:spAutoFit/>
          </a:bodyPr>
          <a:lstStyle/>
          <a:p>
            <a:pPr algn="l">
              <a:spcAft>
                <a:spcPts val="0"/>
              </a:spcAft>
            </a:pPr>
            <a:r>
              <a:rPr sz="950" b="1" i="0">
                <a:solidFill>
                  <a:srgbClr val="1D2430"/>
                </a:solidFill>
                <a:latin typeface="Segoe UI"/>
              </a:rPr>
              <a:t>Composite 1,536-d vector per month</a:t>
            </a:r>
          </a:p>
        </p:txBody>
      </p:sp>
      <p:sp>
        <p:nvSpPr>
          <p:cNvPr id="25" name="Rounded Rectangle 24"/>
          <p:cNvSpPr/>
          <p:nvPr/>
        </p:nvSpPr>
        <p:spPr>
          <a:xfrm>
            <a:off x="2816352" y="3657600"/>
            <a:ext cx="2916936" cy="420624"/>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926079" y="3657600"/>
            <a:ext cx="2743200" cy="420624"/>
          </a:xfrm>
          <a:prstGeom prst="rect">
            <a:avLst/>
          </a:prstGeom>
          <a:noFill/>
        </p:spPr>
        <p:txBody>
          <a:bodyPr wrap="square" lIns="25400" tIns="12700" rIns="25400" bIns="12700" anchor="ctr">
            <a:spAutoFit/>
          </a:bodyPr>
          <a:lstStyle/>
          <a:p>
            <a:pPr algn="l">
              <a:spcAft>
                <a:spcPts val="0"/>
              </a:spcAft>
            </a:pPr>
            <a:r>
              <a:rPr sz="950" b="1" i="0">
                <a:solidFill>
                  <a:srgbClr val="1D2430"/>
                </a:solidFill>
                <a:latin typeface="Segoe UI"/>
              </a:rPr>
              <a:t>16–23 monthly snapshots = trajectory</a:t>
            </a:r>
          </a:p>
        </p:txBody>
      </p:sp>
      <p:sp>
        <p:nvSpPr>
          <p:cNvPr id="27" name="Rounded Rectangle 26"/>
          <p:cNvSpPr/>
          <p:nvPr/>
        </p:nvSpPr>
        <p:spPr>
          <a:xfrm>
            <a:off x="2816352" y="4169664"/>
            <a:ext cx="2916936" cy="420624"/>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926079" y="4169664"/>
            <a:ext cx="2743200" cy="420624"/>
          </a:xfrm>
          <a:prstGeom prst="rect">
            <a:avLst/>
          </a:prstGeom>
          <a:noFill/>
        </p:spPr>
        <p:txBody>
          <a:bodyPr wrap="square" lIns="25400" tIns="12700" rIns="25400" bIns="12700" anchor="ctr">
            <a:spAutoFit/>
          </a:bodyPr>
          <a:lstStyle/>
          <a:p>
            <a:pPr algn="l">
              <a:spcAft>
                <a:spcPts val="0"/>
              </a:spcAft>
            </a:pPr>
            <a:r>
              <a:rPr sz="950" b="1" i="0">
                <a:solidFill>
                  <a:srgbClr val="1D2430"/>
                </a:solidFill>
                <a:latin typeface="Segoe UI"/>
              </a:rPr>
              <a:t>~140,000 raw dimensions of behavior</a:t>
            </a:r>
          </a:p>
        </p:txBody>
      </p:sp>
      <p:sp>
        <p:nvSpPr>
          <p:cNvPr id="30" name="Rounded Rectangle 29"/>
          <p:cNvSpPr/>
          <p:nvPr/>
        </p:nvSpPr>
        <p:spPr>
          <a:xfrm>
            <a:off x="6309360" y="1554480"/>
            <a:ext cx="2542032" cy="3246120"/>
          </a:xfrm>
          <a:prstGeom prst="round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379464" y="1700784"/>
            <a:ext cx="2545080" cy="348813"/>
          </a:xfrm>
          <a:prstGeom prst="rect">
            <a:avLst/>
          </a:prstGeom>
          <a:noFill/>
        </p:spPr>
        <p:txBody>
          <a:bodyPr wrap="square" lIns="25400" tIns="12700" rIns="25400" bIns="12700" anchor="t">
            <a:spAutoFit/>
          </a:bodyPr>
          <a:lstStyle/>
          <a:p>
            <a:pPr algn="l">
              <a:spcAft>
                <a:spcPts val="300"/>
              </a:spcAft>
            </a:pPr>
            <a:r>
              <a:rPr sz="1150" b="1" i="0" dirty="0">
                <a:solidFill>
                  <a:srgbClr val="102A4C"/>
                </a:solidFill>
                <a:latin typeface="Segoe UI"/>
              </a:rPr>
              <a:t>67 FEATURES  </a:t>
            </a:r>
            <a:r>
              <a:rPr sz="950" b="1" i="0" dirty="0">
                <a:solidFill>
                  <a:srgbClr val="118484"/>
                </a:solidFill>
                <a:latin typeface="Segoe UI"/>
              </a:rPr>
              <a:t>25</a:t>
            </a:r>
            <a:r>
              <a:rPr lang="en-US" sz="950" b="1" i="0" dirty="0">
                <a:solidFill>
                  <a:srgbClr val="118484"/>
                </a:solidFill>
                <a:latin typeface="Segoe UI"/>
              </a:rPr>
              <a:t> (baseline)</a:t>
            </a:r>
            <a:r>
              <a:rPr sz="950" b="1" i="0" dirty="0">
                <a:solidFill>
                  <a:srgbClr val="118484"/>
                </a:solidFill>
                <a:latin typeface="Segoe UI"/>
              </a:rPr>
              <a:t>+</a:t>
            </a:r>
            <a:r>
              <a:rPr lang="en-US" sz="950" b="1" i="0" dirty="0">
                <a:solidFill>
                  <a:srgbClr val="118484"/>
                </a:solidFill>
                <a:latin typeface="Segoe UI"/>
              </a:rPr>
              <a:t> </a:t>
            </a:r>
            <a:r>
              <a:rPr sz="950" b="1" i="0" dirty="0">
                <a:solidFill>
                  <a:srgbClr val="118484"/>
                </a:solidFill>
                <a:latin typeface="Segoe UI"/>
              </a:rPr>
              <a:t>23+13+6</a:t>
            </a:r>
            <a:r>
              <a:rPr lang="en-US" sz="950" b="1" i="0" dirty="0">
                <a:solidFill>
                  <a:srgbClr val="118484"/>
                </a:solidFill>
                <a:latin typeface="Segoe UI"/>
              </a:rPr>
              <a:t> </a:t>
            </a:r>
            <a:endParaRPr sz="950" b="1" i="0" dirty="0">
              <a:solidFill>
                <a:srgbClr val="118484"/>
              </a:solidFill>
              <a:highlight>
                <a:srgbClr val="FFFF00"/>
              </a:highlight>
              <a:latin typeface="Segoe UI"/>
            </a:endParaRPr>
          </a:p>
        </p:txBody>
      </p:sp>
      <p:sp>
        <p:nvSpPr>
          <p:cNvPr id="32" name="Rounded Rectangle 31"/>
          <p:cNvSpPr/>
          <p:nvPr/>
        </p:nvSpPr>
        <p:spPr>
          <a:xfrm>
            <a:off x="6455664" y="2103120"/>
            <a:ext cx="438912" cy="438912"/>
          </a:xfrm>
          <a:prstGeom prst="roundRect">
            <a:avLst/>
          </a:prstGeom>
          <a:solidFill>
            <a:srgbClr val="EA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55664" y="2103120"/>
            <a:ext cx="438912" cy="438912"/>
          </a:xfrm>
          <a:prstGeom prst="rect">
            <a:avLst/>
          </a:prstGeom>
          <a:noFill/>
        </p:spPr>
        <p:txBody>
          <a:bodyPr wrap="square" lIns="25400" tIns="12700" rIns="25400" bIns="12700" anchor="ctr">
            <a:spAutoFit/>
          </a:bodyPr>
          <a:lstStyle/>
          <a:p>
            <a:pPr algn="ctr">
              <a:spcAft>
                <a:spcPts val="0"/>
              </a:spcAft>
            </a:pPr>
            <a:r>
              <a:rPr sz="1200" b="1" i="0">
                <a:solidFill>
                  <a:srgbClr val="102A4C"/>
                </a:solidFill>
                <a:latin typeface="Segoe UI"/>
              </a:rPr>
              <a:t>25</a:t>
            </a:r>
          </a:p>
        </p:txBody>
      </p:sp>
      <p:sp>
        <p:nvSpPr>
          <p:cNvPr id="34" name="TextBox 33"/>
          <p:cNvSpPr txBox="1"/>
          <p:nvPr/>
        </p:nvSpPr>
        <p:spPr>
          <a:xfrm>
            <a:off x="6967728" y="2066543"/>
            <a:ext cx="1755648" cy="548640"/>
          </a:xfrm>
          <a:prstGeom prst="rect">
            <a:avLst/>
          </a:prstGeom>
          <a:noFill/>
        </p:spPr>
        <p:txBody>
          <a:bodyPr wrap="square" lIns="25400" tIns="12700" rIns="25400" bIns="12700" anchor="ctr">
            <a:spAutoFit/>
          </a:bodyPr>
          <a:lstStyle/>
          <a:p>
            <a:pPr algn="l">
              <a:spcAft>
                <a:spcPts val="0"/>
              </a:spcAft>
            </a:pPr>
            <a:r>
              <a:rPr sz="850" b="0" i="0">
                <a:solidFill>
                  <a:srgbClr val="1D2430"/>
                </a:solidFill>
                <a:latin typeface="Segoe UI"/>
              </a:rPr>
              <a:t>Base tabular — demand history, exercise, item/depot, fiscal</a:t>
            </a:r>
          </a:p>
        </p:txBody>
      </p:sp>
      <p:sp>
        <p:nvSpPr>
          <p:cNvPr id="35" name="Rounded Rectangle 34"/>
          <p:cNvSpPr/>
          <p:nvPr/>
        </p:nvSpPr>
        <p:spPr>
          <a:xfrm>
            <a:off x="6455664" y="2670048"/>
            <a:ext cx="438912" cy="438912"/>
          </a:xfrm>
          <a:prstGeom prst="roundRect">
            <a:avLst/>
          </a:prstGeom>
          <a:solidFill>
            <a:srgbClr val="EA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455664" y="2670048"/>
            <a:ext cx="438912" cy="438912"/>
          </a:xfrm>
          <a:prstGeom prst="rect">
            <a:avLst/>
          </a:prstGeom>
          <a:noFill/>
        </p:spPr>
        <p:txBody>
          <a:bodyPr wrap="square" lIns="25400" tIns="12700" rIns="25400" bIns="12700" anchor="ctr">
            <a:spAutoFit/>
          </a:bodyPr>
          <a:lstStyle/>
          <a:p>
            <a:pPr algn="ctr">
              <a:spcAft>
                <a:spcPts val="0"/>
              </a:spcAft>
            </a:pPr>
            <a:r>
              <a:rPr sz="1200" b="1" i="0">
                <a:solidFill>
                  <a:srgbClr val="102A4C"/>
                </a:solidFill>
                <a:latin typeface="Segoe UI"/>
              </a:rPr>
              <a:t>23</a:t>
            </a:r>
          </a:p>
        </p:txBody>
      </p:sp>
      <p:sp>
        <p:nvSpPr>
          <p:cNvPr id="37" name="TextBox 36"/>
          <p:cNvSpPr txBox="1"/>
          <p:nvPr/>
        </p:nvSpPr>
        <p:spPr>
          <a:xfrm>
            <a:off x="6967728" y="2633472"/>
            <a:ext cx="1755648" cy="548640"/>
          </a:xfrm>
          <a:prstGeom prst="rect">
            <a:avLst/>
          </a:prstGeom>
          <a:noFill/>
        </p:spPr>
        <p:txBody>
          <a:bodyPr wrap="square" lIns="25400" tIns="12700" rIns="25400" bIns="12700" anchor="ctr">
            <a:spAutoFit/>
          </a:bodyPr>
          <a:lstStyle/>
          <a:p>
            <a:pPr algn="l">
              <a:spcAft>
                <a:spcPts val="0"/>
              </a:spcAft>
            </a:pPr>
            <a:r>
              <a:rPr sz="850" b="0" i="0">
                <a:solidFill>
                  <a:srgbClr val="1D2430"/>
                </a:solidFill>
                <a:latin typeface="Segoe UI"/>
              </a:rPr>
              <a:t>Zones — 5 facets (identity·demand·supply·inventory·financial) → 4 scalars: distance·isolation·PC1·PC2, +3 cross-zone</a:t>
            </a:r>
          </a:p>
        </p:txBody>
      </p:sp>
      <p:sp>
        <p:nvSpPr>
          <p:cNvPr id="38" name="Rounded Rectangle 37"/>
          <p:cNvSpPr/>
          <p:nvPr/>
        </p:nvSpPr>
        <p:spPr>
          <a:xfrm>
            <a:off x="6455664" y="3236976"/>
            <a:ext cx="438912" cy="438912"/>
          </a:xfrm>
          <a:prstGeom prst="roundRect">
            <a:avLst/>
          </a:prstGeom>
          <a:solidFill>
            <a:srgbClr val="EA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455664" y="3236976"/>
            <a:ext cx="438912" cy="438912"/>
          </a:xfrm>
          <a:prstGeom prst="rect">
            <a:avLst/>
          </a:prstGeom>
          <a:noFill/>
        </p:spPr>
        <p:txBody>
          <a:bodyPr wrap="square" lIns="25400" tIns="12700" rIns="25400" bIns="12700" anchor="ctr">
            <a:spAutoFit/>
          </a:bodyPr>
          <a:lstStyle/>
          <a:p>
            <a:pPr algn="ctr">
              <a:spcAft>
                <a:spcPts val="0"/>
              </a:spcAft>
            </a:pPr>
            <a:r>
              <a:rPr sz="1200" b="1" i="0">
                <a:solidFill>
                  <a:srgbClr val="102A4C"/>
                </a:solidFill>
                <a:latin typeface="Segoe UI"/>
              </a:rPr>
              <a:t>13</a:t>
            </a:r>
          </a:p>
        </p:txBody>
      </p:sp>
      <p:sp>
        <p:nvSpPr>
          <p:cNvPr id="40" name="TextBox 39"/>
          <p:cNvSpPr txBox="1"/>
          <p:nvPr/>
        </p:nvSpPr>
        <p:spPr>
          <a:xfrm>
            <a:off x="6967728" y="3200400"/>
            <a:ext cx="1755648" cy="548640"/>
          </a:xfrm>
          <a:prstGeom prst="rect">
            <a:avLst/>
          </a:prstGeom>
          <a:noFill/>
        </p:spPr>
        <p:txBody>
          <a:bodyPr wrap="square" lIns="25400" tIns="12700" rIns="25400" bIns="12700" anchor="ctr">
            <a:spAutoFit/>
          </a:bodyPr>
          <a:lstStyle/>
          <a:p>
            <a:pPr algn="l">
              <a:spcAft>
                <a:spcPts val="0"/>
              </a:spcAft>
            </a:pPr>
            <a:r>
              <a:rPr sz="850" b="0" i="0">
                <a:solidFill>
                  <a:srgbClr val="1D2430"/>
                </a:solidFill>
                <a:latin typeface="Segoe UI"/>
              </a:rPr>
              <a:t>Signals — velocity, stability, regime shift, energy, graph coupling</a:t>
            </a:r>
          </a:p>
        </p:txBody>
      </p:sp>
      <p:sp>
        <p:nvSpPr>
          <p:cNvPr id="41" name="Rounded Rectangle 40"/>
          <p:cNvSpPr/>
          <p:nvPr/>
        </p:nvSpPr>
        <p:spPr>
          <a:xfrm>
            <a:off x="6455664" y="3803904"/>
            <a:ext cx="438912" cy="438912"/>
          </a:xfrm>
          <a:prstGeom prst="roundRect">
            <a:avLst/>
          </a:prstGeom>
          <a:solidFill>
            <a:srgbClr val="EA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455664" y="3803904"/>
            <a:ext cx="438912" cy="438912"/>
          </a:xfrm>
          <a:prstGeom prst="rect">
            <a:avLst/>
          </a:prstGeom>
          <a:noFill/>
        </p:spPr>
        <p:txBody>
          <a:bodyPr wrap="square" lIns="25400" tIns="12700" rIns="25400" bIns="12700" anchor="ctr">
            <a:spAutoFit/>
          </a:bodyPr>
          <a:lstStyle/>
          <a:p>
            <a:pPr algn="ctr">
              <a:spcAft>
                <a:spcPts val="0"/>
              </a:spcAft>
            </a:pPr>
            <a:r>
              <a:rPr sz="1200" b="1" i="0">
                <a:solidFill>
                  <a:srgbClr val="102A4C"/>
                </a:solidFill>
                <a:latin typeface="Segoe UI"/>
              </a:rPr>
              <a:t>6</a:t>
            </a:r>
          </a:p>
        </p:txBody>
      </p:sp>
      <p:sp>
        <p:nvSpPr>
          <p:cNvPr id="43" name="TextBox 42"/>
          <p:cNvSpPr txBox="1"/>
          <p:nvPr/>
        </p:nvSpPr>
        <p:spPr>
          <a:xfrm>
            <a:off x="6967728" y="3767328"/>
            <a:ext cx="1755648" cy="548640"/>
          </a:xfrm>
          <a:prstGeom prst="rect">
            <a:avLst/>
          </a:prstGeom>
          <a:noFill/>
        </p:spPr>
        <p:txBody>
          <a:bodyPr wrap="square" lIns="25400" tIns="12700" rIns="25400" bIns="12700" anchor="ctr">
            <a:spAutoFit/>
          </a:bodyPr>
          <a:lstStyle/>
          <a:p>
            <a:pPr algn="l">
              <a:spcAft>
                <a:spcPts val="0"/>
              </a:spcAft>
            </a:pPr>
            <a:r>
              <a:rPr sz="850" b="0" i="0">
                <a:solidFill>
                  <a:srgbClr val="1D2430"/>
                </a:solidFill>
                <a:latin typeface="Segoe UI"/>
              </a:rPr>
              <a:t>Cohort — 5 nearest twins: size, similarity, rate, variability, zero%, peak</a:t>
            </a:r>
          </a:p>
        </p:txBody>
      </p:sp>
      <p:sp>
        <p:nvSpPr>
          <p:cNvPr id="44" name="TextBox 43"/>
          <p:cNvSpPr txBox="1"/>
          <p:nvPr/>
        </p:nvSpPr>
        <p:spPr>
          <a:xfrm>
            <a:off x="6455664" y="4434840"/>
            <a:ext cx="2267712" cy="320040"/>
          </a:xfrm>
          <a:prstGeom prst="rect">
            <a:avLst/>
          </a:prstGeom>
          <a:noFill/>
        </p:spPr>
        <p:txBody>
          <a:bodyPr wrap="square" lIns="25400" tIns="12700" rIns="25400" bIns="12700" anchor="t">
            <a:spAutoFit/>
          </a:bodyPr>
          <a:lstStyle/>
          <a:p>
            <a:pPr algn="l">
              <a:spcAft>
                <a:spcPts val="300"/>
              </a:spcAft>
            </a:pPr>
            <a:r>
              <a:rPr sz="850" b="1" i="1">
                <a:solidFill>
                  <a:srgbClr val="118484"/>
                </a:solidFill>
                <a:latin typeface="Segoe UI"/>
              </a:rPr>
              <a:t>→ feed Phase 1 (will demand occur?) &amp; Phase 2 (how much)</a:t>
            </a:r>
          </a:p>
        </p:txBody>
      </p:sp>
      <p:sp>
        <p:nvSpPr>
          <p:cNvPr id="46" name="Rounded Rectangle 45"/>
          <p:cNvSpPr/>
          <p:nvPr/>
        </p:nvSpPr>
        <p:spPr>
          <a:xfrm>
            <a:off x="9258876" y="1554480"/>
            <a:ext cx="2542032" cy="3246120"/>
          </a:xfrm>
          <a:prstGeom prst="roundRect">
            <a:avLst/>
          </a:prstGeom>
          <a:solidFill>
            <a:srgbClr val="EAF3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389178" y="1624584"/>
            <a:ext cx="2468880" cy="341119"/>
          </a:xfrm>
          <a:prstGeom prst="rect">
            <a:avLst/>
          </a:prstGeom>
          <a:noFill/>
        </p:spPr>
        <p:txBody>
          <a:bodyPr wrap="square" lIns="25400" tIns="12700" rIns="25400" bIns="12700" anchor="t">
            <a:spAutoFit/>
          </a:bodyPr>
          <a:lstStyle/>
          <a:p>
            <a:pPr algn="l">
              <a:spcAft>
                <a:spcPts val="300"/>
              </a:spcAft>
            </a:pPr>
            <a:r>
              <a:rPr sz="1150" b="1" i="0" dirty="0">
                <a:solidFill>
                  <a:srgbClr val="102A4C"/>
                </a:solidFill>
                <a:latin typeface="Segoe UI"/>
              </a:rPr>
              <a:t>STEPS 2–5  drift + Monte-Carlo</a:t>
            </a:r>
          </a:p>
        </p:txBody>
      </p:sp>
      <p:sp>
        <p:nvSpPr>
          <p:cNvPr id="48" name="Rounded Rectangle 47"/>
          <p:cNvSpPr/>
          <p:nvPr/>
        </p:nvSpPr>
        <p:spPr>
          <a:xfrm>
            <a:off x="9336024" y="2103120"/>
            <a:ext cx="384048" cy="384048"/>
          </a:xfrm>
          <a:prstGeom prst="roundRect">
            <a:avLst/>
          </a:prstGeom>
          <a:solidFill>
            <a:srgbClr val="1184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405180" y="2103120"/>
            <a:ext cx="384048" cy="384048"/>
          </a:xfrm>
          <a:prstGeom prst="rect">
            <a:avLst/>
          </a:prstGeom>
          <a:noFill/>
        </p:spPr>
        <p:txBody>
          <a:bodyPr wrap="square" lIns="25400" tIns="12700" rIns="25400" bIns="12700" anchor="ctr">
            <a:spAutoFit/>
          </a:bodyPr>
          <a:lstStyle/>
          <a:p>
            <a:pPr algn="ctr">
              <a:spcAft>
                <a:spcPts val="0"/>
              </a:spcAft>
            </a:pPr>
            <a:r>
              <a:rPr sz="1200" b="1" i="0">
                <a:solidFill>
                  <a:srgbClr val="FFFFFF"/>
                </a:solidFill>
                <a:latin typeface="Segoe UI"/>
              </a:rPr>
              <a:t>2</a:t>
            </a:r>
          </a:p>
        </p:txBody>
      </p:sp>
      <p:sp>
        <p:nvSpPr>
          <p:cNvPr id="50" name="TextBox 49"/>
          <p:cNvSpPr txBox="1"/>
          <p:nvPr/>
        </p:nvSpPr>
        <p:spPr>
          <a:xfrm>
            <a:off x="9862380" y="2039112"/>
            <a:ext cx="1810511" cy="566928"/>
          </a:xfrm>
          <a:prstGeom prst="rect">
            <a:avLst/>
          </a:prstGeom>
          <a:noFill/>
        </p:spPr>
        <p:txBody>
          <a:bodyPr wrap="square" lIns="25400" tIns="12700" rIns="25400" bIns="12700" anchor="t">
            <a:spAutoFit/>
          </a:bodyPr>
          <a:lstStyle/>
          <a:p>
            <a:pPr algn="l">
              <a:spcAft>
                <a:spcPts val="0"/>
              </a:spcAft>
            </a:pPr>
            <a:r>
              <a:rPr sz="900" b="1" i="0">
                <a:solidFill>
                  <a:srgbClr val="102A4C"/>
                </a:solidFill>
                <a:latin typeface="Segoe UI"/>
              </a:rPr>
              <a:t>Load snapshots</a:t>
            </a:r>
          </a:p>
          <a:p>
            <a:pPr algn="l">
              <a:spcAft>
                <a:spcPts val="0"/>
              </a:spcAft>
            </a:pPr>
            <a:r>
              <a:rPr sz="750" b="0" i="0">
                <a:solidFill>
                  <a:srgbClr val="5E6A75"/>
                </a:solidFill>
                <a:latin typeface="Segoe UI"/>
              </a:rPr>
              <a:t>16–23 monthly composites → trajectory</a:t>
            </a:r>
          </a:p>
        </p:txBody>
      </p:sp>
      <p:sp>
        <p:nvSpPr>
          <p:cNvPr id="51" name="Rounded Rectangle 50"/>
          <p:cNvSpPr/>
          <p:nvPr/>
        </p:nvSpPr>
        <p:spPr>
          <a:xfrm>
            <a:off x="9336024" y="2670048"/>
            <a:ext cx="384048" cy="384048"/>
          </a:xfrm>
          <a:prstGeom prst="roundRect">
            <a:avLst/>
          </a:prstGeom>
          <a:solidFill>
            <a:srgbClr val="1184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9405180" y="2670048"/>
            <a:ext cx="384048" cy="384048"/>
          </a:xfrm>
          <a:prstGeom prst="rect">
            <a:avLst/>
          </a:prstGeom>
          <a:noFill/>
        </p:spPr>
        <p:txBody>
          <a:bodyPr wrap="square" lIns="25400" tIns="12700" rIns="25400" bIns="12700" anchor="ctr">
            <a:spAutoFit/>
          </a:bodyPr>
          <a:lstStyle/>
          <a:p>
            <a:pPr algn="ctr">
              <a:spcAft>
                <a:spcPts val="0"/>
              </a:spcAft>
            </a:pPr>
            <a:r>
              <a:rPr sz="1200" b="1" i="0">
                <a:solidFill>
                  <a:srgbClr val="FFFFFF"/>
                </a:solidFill>
                <a:latin typeface="Segoe UI"/>
              </a:rPr>
              <a:t>3</a:t>
            </a:r>
          </a:p>
        </p:txBody>
      </p:sp>
      <p:sp>
        <p:nvSpPr>
          <p:cNvPr id="53" name="TextBox 52"/>
          <p:cNvSpPr txBox="1"/>
          <p:nvPr/>
        </p:nvSpPr>
        <p:spPr>
          <a:xfrm>
            <a:off x="9862380" y="2606040"/>
            <a:ext cx="1810511" cy="418063"/>
          </a:xfrm>
          <a:prstGeom prst="rect">
            <a:avLst/>
          </a:prstGeom>
          <a:noFill/>
        </p:spPr>
        <p:txBody>
          <a:bodyPr wrap="square" lIns="25400" tIns="12700" rIns="25400" bIns="12700" anchor="t">
            <a:spAutoFit/>
          </a:bodyPr>
          <a:lstStyle/>
          <a:p>
            <a:pPr algn="l">
              <a:spcAft>
                <a:spcPts val="0"/>
              </a:spcAft>
            </a:pPr>
            <a:r>
              <a:rPr sz="900" b="1" i="0" dirty="0">
                <a:solidFill>
                  <a:srgbClr val="102A4C"/>
                </a:solidFill>
                <a:latin typeface="Segoe UI"/>
              </a:rPr>
              <a:t>Drift trajectory</a:t>
            </a:r>
            <a:r>
              <a:rPr lang="en-US" sz="900" b="1" i="0" dirty="0">
                <a:solidFill>
                  <a:srgbClr val="102A4C"/>
                </a:solidFill>
                <a:latin typeface="Segoe UI"/>
              </a:rPr>
              <a:t> </a:t>
            </a:r>
            <a:endParaRPr sz="900" b="1" i="0" dirty="0">
              <a:solidFill>
                <a:srgbClr val="102A4C"/>
              </a:solidFill>
              <a:highlight>
                <a:srgbClr val="FFFF00"/>
              </a:highlight>
              <a:latin typeface="Segoe UI"/>
            </a:endParaRPr>
          </a:p>
          <a:p>
            <a:pPr algn="l">
              <a:spcAft>
                <a:spcPts val="0"/>
              </a:spcAft>
            </a:pPr>
            <a:r>
              <a:rPr sz="750" b="0" i="0" dirty="0">
                <a:solidFill>
                  <a:srgbClr val="5E6A75"/>
                </a:solidFill>
                <a:latin typeface="Segoe UI"/>
              </a:rPr>
              <a:t>velocity · consistency · drift strength</a:t>
            </a:r>
          </a:p>
        </p:txBody>
      </p:sp>
      <p:sp>
        <p:nvSpPr>
          <p:cNvPr id="54" name="Rounded Rectangle 53"/>
          <p:cNvSpPr/>
          <p:nvPr/>
        </p:nvSpPr>
        <p:spPr>
          <a:xfrm>
            <a:off x="9336024" y="3236976"/>
            <a:ext cx="384048" cy="384048"/>
          </a:xfrm>
          <a:prstGeom prst="roundRect">
            <a:avLst/>
          </a:prstGeom>
          <a:solidFill>
            <a:srgbClr val="1184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9405180" y="3236976"/>
            <a:ext cx="384048" cy="384048"/>
          </a:xfrm>
          <a:prstGeom prst="rect">
            <a:avLst/>
          </a:prstGeom>
          <a:noFill/>
        </p:spPr>
        <p:txBody>
          <a:bodyPr wrap="square" lIns="25400" tIns="12700" rIns="25400" bIns="12700" anchor="ctr">
            <a:spAutoFit/>
          </a:bodyPr>
          <a:lstStyle/>
          <a:p>
            <a:pPr algn="ctr">
              <a:spcAft>
                <a:spcPts val="0"/>
              </a:spcAft>
            </a:pPr>
            <a:r>
              <a:rPr sz="1200" b="1" i="0">
                <a:solidFill>
                  <a:srgbClr val="FFFFFF"/>
                </a:solidFill>
                <a:latin typeface="Segoe UI"/>
              </a:rPr>
              <a:t>4</a:t>
            </a:r>
          </a:p>
        </p:txBody>
      </p:sp>
      <p:sp>
        <p:nvSpPr>
          <p:cNvPr id="56" name="TextBox 55"/>
          <p:cNvSpPr txBox="1"/>
          <p:nvPr/>
        </p:nvSpPr>
        <p:spPr>
          <a:xfrm>
            <a:off x="9862380" y="3172968"/>
            <a:ext cx="1810511" cy="566928"/>
          </a:xfrm>
          <a:prstGeom prst="rect">
            <a:avLst/>
          </a:prstGeom>
          <a:noFill/>
        </p:spPr>
        <p:txBody>
          <a:bodyPr wrap="square" lIns="25400" tIns="12700" rIns="25400" bIns="12700" anchor="t">
            <a:spAutoFit/>
          </a:bodyPr>
          <a:lstStyle/>
          <a:p>
            <a:pPr algn="l">
              <a:spcAft>
                <a:spcPts val="0"/>
              </a:spcAft>
            </a:pPr>
            <a:r>
              <a:rPr sz="900" b="1" i="0">
                <a:solidFill>
                  <a:srgbClr val="102A4C"/>
                </a:solidFill>
                <a:latin typeface="Segoe UI"/>
              </a:rPr>
              <a:t>Concept alignment</a:t>
            </a:r>
          </a:p>
          <a:p>
            <a:pPr algn="l">
              <a:spcAft>
                <a:spcPts val="0"/>
              </a:spcAft>
            </a:pPr>
            <a:r>
              <a:rPr sz="750" b="0" i="0">
                <a:solidFill>
                  <a:srgbClr val="5E6A75"/>
                </a:solidFill>
                <a:latin typeface="Segoe UI"/>
              </a:rPr>
              <a:t>similarity vs 8 SCM concepts → top concept</a:t>
            </a:r>
          </a:p>
        </p:txBody>
      </p:sp>
      <p:sp>
        <p:nvSpPr>
          <p:cNvPr id="57" name="Rounded Rectangle 56"/>
          <p:cNvSpPr/>
          <p:nvPr/>
        </p:nvSpPr>
        <p:spPr>
          <a:xfrm>
            <a:off x="9336024" y="3803904"/>
            <a:ext cx="384048" cy="384048"/>
          </a:xfrm>
          <a:prstGeom prst="roundRect">
            <a:avLst/>
          </a:prstGeom>
          <a:solidFill>
            <a:srgbClr val="1184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9405180" y="3803904"/>
            <a:ext cx="384048" cy="384048"/>
          </a:xfrm>
          <a:prstGeom prst="rect">
            <a:avLst/>
          </a:prstGeom>
          <a:noFill/>
        </p:spPr>
        <p:txBody>
          <a:bodyPr wrap="square" lIns="25400" tIns="12700" rIns="25400" bIns="12700" anchor="ctr">
            <a:spAutoFit/>
          </a:bodyPr>
          <a:lstStyle/>
          <a:p>
            <a:pPr algn="ctr">
              <a:spcAft>
                <a:spcPts val="0"/>
              </a:spcAft>
            </a:pPr>
            <a:r>
              <a:rPr sz="1200" b="1" i="0">
                <a:solidFill>
                  <a:srgbClr val="FFFFFF"/>
                </a:solidFill>
                <a:latin typeface="Segoe UI"/>
              </a:rPr>
              <a:t>5</a:t>
            </a:r>
          </a:p>
        </p:txBody>
      </p:sp>
      <p:sp>
        <p:nvSpPr>
          <p:cNvPr id="59" name="TextBox 58"/>
          <p:cNvSpPr txBox="1"/>
          <p:nvPr/>
        </p:nvSpPr>
        <p:spPr>
          <a:xfrm>
            <a:off x="9862380" y="3739896"/>
            <a:ext cx="1810511" cy="566928"/>
          </a:xfrm>
          <a:prstGeom prst="rect">
            <a:avLst/>
          </a:prstGeom>
          <a:noFill/>
        </p:spPr>
        <p:txBody>
          <a:bodyPr wrap="square" lIns="25400" tIns="12700" rIns="25400" bIns="12700" anchor="t">
            <a:spAutoFit/>
          </a:bodyPr>
          <a:lstStyle/>
          <a:p>
            <a:pPr algn="l">
              <a:spcAft>
                <a:spcPts val="0"/>
              </a:spcAft>
            </a:pPr>
            <a:r>
              <a:rPr sz="900" b="1" i="0">
                <a:solidFill>
                  <a:srgbClr val="102A4C"/>
                </a:solidFill>
                <a:latin typeface="Segoe UI"/>
              </a:rPr>
              <a:t>Alpha + MC</a:t>
            </a:r>
          </a:p>
          <a:p>
            <a:pPr algn="l">
              <a:spcAft>
                <a:spcPts val="0"/>
              </a:spcAft>
            </a:pPr>
            <a:r>
              <a:rPr sz="750" b="0" i="0">
                <a:solidFill>
                  <a:srgbClr val="5E6A75"/>
                </a:solidFill>
                <a:latin typeface="Segoe UI"/>
              </a:rPr>
              <a:t>α = dir×align×drift strength (±30%) → 5,000 sims</a:t>
            </a:r>
          </a:p>
        </p:txBody>
      </p:sp>
      <p:sp>
        <p:nvSpPr>
          <p:cNvPr id="60" name="TextBox 59"/>
          <p:cNvSpPr txBox="1"/>
          <p:nvPr/>
        </p:nvSpPr>
        <p:spPr>
          <a:xfrm>
            <a:off x="9405180" y="4434840"/>
            <a:ext cx="2267712" cy="320040"/>
          </a:xfrm>
          <a:prstGeom prst="rect">
            <a:avLst/>
          </a:prstGeom>
          <a:noFill/>
        </p:spPr>
        <p:txBody>
          <a:bodyPr wrap="square" lIns="25400" tIns="12700" rIns="25400" bIns="12700" anchor="t">
            <a:spAutoFit/>
          </a:bodyPr>
          <a:lstStyle/>
          <a:p>
            <a:pPr algn="l">
              <a:spcAft>
                <a:spcPts val="300"/>
              </a:spcAft>
            </a:pPr>
            <a:r>
              <a:rPr sz="850" b="1" i="1">
                <a:solidFill>
                  <a:srgbClr val="118484"/>
                </a:solidFill>
                <a:latin typeface="Segoe UI"/>
              </a:rPr>
              <a:t>→ drift-adjusted P10–P90 + cumulative P90</a:t>
            </a:r>
          </a:p>
        </p:txBody>
      </p:sp>
      <p:sp>
        <p:nvSpPr>
          <p:cNvPr id="61" name="Rounded Rectangle 60"/>
          <p:cNvSpPr/>
          <p:nvPr/>
        </p:nvSpPr>
        <p:spPr>
          <a:xfrm>
            <a:off x="457200" y="5029200"/>
            <a:ext cx="11343708" cy="960120"/>
          </a:xfrm>
          <a:prstGeom prst="roundRect">
            <a:avLst/>
          </a:prstGeom>
          <a:solidFill>
            <a:srgbClr val="EA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85800" y="5120640"/>
            <a:ext cx="10817352" cy="274320"/>
          </a:xfrm>
          <a:prstGeom prst="rect">
            <a:avLst/>
          </a:prstGeom>
          <a:noFill/>
        </p:spPr>
        <p:txBody>
          <a:bodyPr wrap="square" lIns="25400" tIns="12700" rIns="25400" bIns="12700" anchor="t">
            <a:spAutoFit/>
          </a:bodyPr>
          <a:lstStyle/>
          <a:p>
            <a:pPr algn="l">
              <a:spcAft>
                <a:spcPts val="300"/>
              </a:spcAft>
            </a:pPr>
            <a:r>
              <a:rPr sz="1100" b="1" i="0">
                <a:solidFill>
                  <a:srgbClr val="118484"/>
                </a:solidFill>
                <a:latin typeface="Segoe UI"/>
              </a:rPr>
              <a:t>How a 1,536-d embedding becomes 4 numbers</a:t>
            </a:r>
            <a:r>
              <a:rPr sz="1000" b="0" i="0">
                <a:solidFill>
                  <a:srgbClr val="5E6A75"/>
                </a:solidFill>
                <a:latin typeface="Segoe UI"/>
              </a:rPr>
              <a:t>   —   done for 5 zones (+3 cross-zone) = 23 of the 67 features</a:t>
            </a:r>
          </a:p>
        </p:txBody>
      </p:sp>
      <p:sp>
        <p:nvSpPr>
          <p:cNvPr id="63" name="TextBox 62"/>
          <p:cNvSpPr txBox="1"/>
          <p:nvPr/>
        </p:nvSpPr>
        <p:spPr>
          <a:xfrm>
            <a:off x="731520" y="5532120"/>
            <a:ext cx="2697480" cy="365760"/>
          </a:xfrm>
          <a:prstGeom prst="rect">
            <a:avLst/>
          </a:prstGeom>
          <a:noFill/>
        </p:spPr>
        <p:txBody>
          <a:bodyPr wrap="square" lIns="25400" tIns="12700" rIns="25400" bIns="12700" anchor="t">
            <a:spAutoFit/>
          </a:bodyPr>
          <a:lstStyle/>
          <a:p>
            <a:pPr algn="l">
              <a:spcAft>
                <a:spcPts val="300"/>
              </a:spcAft>
            </a:pPr>
            <a:r>
              <a:rPr sz="1050" b="1" i="0">
                <a:solidFill>
                  <a:srgbClr val="102A4C"/>
                </a:solidFill>
                <a:latin typeface="Segoe UI"/>
              </a:rPr>
              <a:t>distance  </a:t>
            </a:r>
            <a:r>
              <a:rPr sz="950" b="0" i="0">
                <a:solidFill>
                  <a:srgbClr val="5E6A75"/>
                </a:solidFill>
                <a:latin typeface="Segoe UI"/>
              </a:rPr>
              <a:t>how unusual vs a typical item</a:t>
            </a:r>
          </a:p>
        </p:txBody>
      </p:sp>
      <p:sp>
        <p:nvSpPr>
          <p:cNvPr id="64" name="TextBox 63"/>
          <p:cNvSpPr txBox="1"/>
          <p:nvPr/>
        </p:nvSpPr>
        <p:spPr>
          <a:xfrm>
            <a:off x="3456432" y="5532120"/>
            <a:ext cx="2697480" cy="365760"/>
          </a:xfrm>
          <a:prstGeom prst="rect">
            <a:avLst/>
          </a:prstGeom>
          <a:noFill/>
        </p:spPr>
        <p:txBody>
          <a:bodyPr wrap="square" lIns="25400" tIns="12700" rIns="25400" bIns="12700" anchor="t">
            <a:spAutoFit/>
          </a:bodyPr>
          <a:lstStyle/>
          <a:p>
            <a:pPr algn="l">
              <a:spcAft>
                <a:spcPts val="300"/>
              </a:spcAft>
            </a:pPr>
            <a:r>
              <a:rPr sz="1050" b="1" i="0">
                <a:solidFill>
                  <a:srgbClr val="102A4C"/>
                </a:solidFill>
                <a:latin typeface="Segoe UI"/>
              </a:rPr>
              <a:t>isolation  </a:t>
            </a:r>
            <a:r>
              <a:rPr sz="950" b="0" i="0">
                <a:solidFill>
                  <a:srgbClr val="5E6A75"/>
                </a:solidFill>
                <a:latin typeface="Segoe UI"/>
              </a:rPr>
              <a:t>how alone — vs its nearest peers</a:t>
            </a:r>
          </a:p>
        </p:txBody>
      </p:sp>
      <p:sp>
        <p:nvSpPr>
          <p:cNvPr id="65" name="TextBox 64"/>
          <p:cNvSpPr txBox="1"/>
          <p:nvPr/>
        </p:nvSpPr>
        <p:spPr>
          <a:xfrm>
            <a:off x="6190488" y="5532120"/>
            <a:ext cx="2697480" cy="365760"/>
          </a:xfrm>
          <a:prstGeom prst="rect">
            <a:avLst/>
          </a:prstGeom>
          <a:noFill/>
        </p:spPr>
        <p:txBody>
          <a:bodyPr wrap="square" lIns="25400" tIns="12700" rIns="25400" bIns="12700" anchor="t">
            <a:spAutoFit/>
          </a:bodyPr>
          <a:lstStyle/>
          <a:p>
            <a:pPr algn="l">
              <a:spcAft>
                <a:spcPts val="300"/>
              </a:spcAft>
            </a:pPr>
            <a:r>
              <a:rPr sz="1050" b="1" i="0">
                <a:solidFill>
                  <a:srgbClr val="102A4C"/>
                </a:solidFill>
                <a:latin typeface="Segoe UI"/>
              </a:rPr>
              <a:t>PC1  </a:t>
            </a:r>
            <a:r>
              <a:rPr sz="950" b="0" i="0">
                <a:solidFill>
                  <a:srgbClr val="5E6A75"/>
                </a:solidFill>
                <a:latin typeface="Segoe UI"/>
              </a:rPr>
              <a:t>place on the main axis of variation</a:t>
            </a:r>
          </a:p>
        </p:txBody>
      </p:sp>
      <p:sp>
        <p:nvSpPr>
          <p:cNvPr id="66" name="TextBox 65"/>
          <p:cNvSpPr txBox="1"/>
          <p:nvPr/>
        </p:nvSpPr>
        <p:spPr>
          <a:xfrm>
            <a:off x="8915400" y="5532120"/>
            <a:ext cx="2697480" cy="365760"/>
          </a:xfrm>
          <a:prstGeom prst="rect">
            <a:avLst/>
          </a:prstGeom>
          <a:noFill/>
        </p:spPr>
        <p:txBody>
          <a:bodyPr wrap="square" lIns="25400" tIns="12700" rIns="25400" bIns="12700" anchor="t">
            <a:spAutoFit/>
          </a:bodyPr>
          <a:lstStyle/>
          <a:p>
            <a:pPr algn="l">
              <a:spcAft>
                <a:spcPts val="300"/>
              </a:spcAft>
            </a:pPr>
            <a:r>
              <a:rPr sz="1050" b="1" i="0">
                <a:solidFill>
                  <a:srgbClr val="102A4C"/>
                </a:solidFill>
                <a:latin typeface="Segoe UI"/>
              </a:rPr>
              <a:t>PC2  </a:t>
            </a:r>
            <a:r>
              <a:rPr sz="950" b="0" i="0">
                <a:solidFill>
                  <a:srgbClr val="5E6A75"/>
                </a:solidFill>
                <a:latin typeface="Segoe UI"/>
              </a:rPr>
              <a:t>place on the 2nd axis (at right angles to PC1)</a:t>
            </a:r>
          </a:p>
        </p:txBody>
      </p:sp>
      <p:sp>
        <p:nvSpPr>
          <p:cNvPr id="67" name="TextBox 66"/>
          <p:cNvSpPr txBox="1"/>
          <p:nvPr/>
        </p:nvSpPr>
        <p:spPr>
          <a:xfrm>
            <a:off x="457200" y="6455664"/>
            <a:ext cx="9601200" cy="274320"/>
          </a:xfrm>
          <a:prstGeom prst="rect">
            <a:avLst/>
          </a:prstGeom>
          <a:noFill/>
        </p:spPr>
        <p:txBody>
          <a:bodyPr wrap="square" lIns="25400" tIns="12700" rIns="25400" bIns="12700" anchor="t">
            <a:spAutoFit/>
          </a:bodyPr>
          <a:lstStyle/>
          <a:p>
            <a:pPr algn="l">
              <a:spcAft>
                <a:spcPts val="300"/>
              </a:spcAft>
            </a:pPr>
            <a:r>
              <a:rPr sz="900" b="0" i="0">
                <a:solidFill>
                  <a:srgbClr val="5E6A75"/>
                </a:solidFill>
                <a:latin typeface="Segoe UI"/>
              </a:rPr>
              <a:t>CONFIDENTIAL  |  22nd Century Technologies  |  DLA EDM Vector Intelligence</a:t>
            </a:r>
          </a:p>
        </p:txBody>
      </p:sp>
      <p:sp>
        <p:nvSpPr>
          <p:cNvPr id="68" name="TextBox 67"/>
          <p:cNvSpPr txBox="1"/>
          <p:nvPr/>
        </p:nvSpPr>
        <p:spPr>
          <a:xfrm>
            <a:off x="11274552" y="6455664"/>
            <a:ext cx="457200" cy="274320"/>
          </a:xfrm>
          <a:prstGeom prst="rect">
            <a:avLst/>
          </a:prstGeom>
          <a:noFill/>
        </p:spPr>
        <p:txBody>
          <a:bodyPr wrap="square" lIns="25400" tIns="12700" rIns="25400" bIns="12700" anchor="t">
            <a:spAutoFit/>
          </a:bodyPr>
          <a:lstStyle/>
          <a:p>
            <a:pPr algn="r">
              <a:spcAft>
                <a:spcPts val="300"/>
              </a:spcAft>
            </a:pPr>
            <a:r>
              <a:rPr sz="850" b="0" i="0">
                <a:solidFill>
                  <a:srgbClr val="646F7C"/>
                </a:solidFill>
                <a:latin typeface="Segoe UI"/>
              </a:rPr>
              <a:t>15</a:t>
            </a:r>
          </a:p>
        </p:txBody>
      </p:sp>
      <p:sp>
        <p:nvSpPr>
          <p:cNvPr id="71" name="Rectangle 70">
            <a:extLst>
              <a:ext uri="{FF2B5EF4-FFF2-40B4-BE49-F238E27FC236}">
                <a16:creationId xmlns:a16="http://schemas.microsoft.com/office/drawing/2014/main" id="{B6E4B54B-99E1-F257-B5C6-351C9B9264C9}"/>
              </a:ext>
            </a:extLst>
          </p:cNvPr>
          <p:cNvSpPr/>
          <p:nvPr/>
        </p:nvSpPr>
        <p:spPr>
          <a:xfrm>
            <a:off x="0" y="0"/>
            <a:ext cx="12191695" cy="146304"/>
          </a:xfrm>
          <a:prstGeom prst="rect">
            <a:avLst/>
          </a:prstGeom>
          <a:solidFill>
            <a:srgbClr val="0021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Shape 16">
            <a:extLst>
              <a:ext uri="{FF2B5EF4-FFF2-40B4-BE49-F238E27FC236}">
                <a16:creationId xmlns:a16="http://schemas.microsoft.com/office/drawing/2014/main" id="{BA918BE5-F6BD-1714-FB90-8F027AEB2AB1}"/>
              </a:ext>
            </a:extLst>
          </p:cNvPr>
          <p:cNvSpPr/>
          <p:nvPr/>
        </p:nvSpPr>
        <p:spPr>
          <a:xfrm>
            <a:off x="2259567" y="2862072"/>
            <a:ext cx="365760" cy="509301"/>
          </a:xfrm>
          <a:prstGeom prst="chevron">
            <a:avLst/>
          </a:prstGeom>
          <a:solidFill>
            <a:srgbClr val="C7D1DA"/>
          </a:solidFill>
          <a:ln w="12700">
            <a:solidFill>
              <a:srgbClr val="C7D1DA"/>
            </a:solidFill>
            <a:prstDash val="solid"/>
          </a:ln>
        </p:spPr>
        <p:txBody>
          <a:bodyPr/>
          <a:lstStyle/>
          <a:p>
            <a:endParaRPr lang="en-US" sz="1150"/>
          </a:p>
        </p:txBody>
      </p:sp>
      <p:sp>
        <p:nvSpPr>
          <p:cNvPr id="75" name="Shape 16">
            <a:extLst>
              <a:ext uri="{FF2B5EF4-FFF2-40B4-BE49-F238E27FC236}">
                <a16:creationId xmlns:a16="http://schemas.microsoft.com/office/drawing/2014/main" id="{03BE344B-20DA-2E78-A163-C1C30A900118}"/>
              </a:ext>
            </a:extLst>
          </p:cNvPr>
          <p:cNvSpPr/>
          <p:nvPr/>
        </p:nvSpPr>
        <p:spPr>
          <a:xfrm>
            <a:off x="5926580" y="2866295"/>
            <a:ext cx="365760" cy="509301"/>
          </a:xfrm>
          <a:prstGeom prst="chevron">
            <a:avLst/>
          </a:prstGeom>
          <a:solidFill>
            <a:srgbClr val="C7D1DA"/>
          </a:solidFill>
          <a:ln w="12700">
            <a:solidFill>
              <a:srgbClr val="C7D1DA"/>
            </a:solidFill>
            <a:prstDash val="solid"/>
          </a:ln>
        </p:spPr>
        <p:txBody>
          <a:bodyPr/>
          <a:lstStyle/>
          <a:p>
            <a:endParaRPr lang="en-US" sz="1150"/>
          </a:p>
        </p:txBody>
      </p:sp>
      <p:sp>
        <p:nvSpPr>
          <p:cNvPr id="77" name="Shape 16">
            <a:extLst>
              <a:ext uri="{FF2B5EF4-FFF2-40B4-BE49-F238E27FC236}">
                <a16:creationId xmlns:a16="http://schemas.microsoft.com/office/drawing/2014/main" id="{69A34EB2-84FA-AEA6-8EB5-7BAFAFCFF9B6}"/>
              </a:ext>
            </a:extLst>
          </p:cNvPr>
          <p:cNvSpPr/>
          <p:nvPr/>
        </p:nvSpPr>
        <p:spPr>
          <a:xfrm>
            <a:off x="8881283" y="2859844"/>
            <a:ext cx="365760" cy="509301"/>
          </a:xfrm>
          <a:prstGeom prst="chevron">
            <a:avLst/>
          </a:prstGeom>
          <a:solidFill>
            <a:srgbClr val="C7D1DA"/>
          </a:solidFill>
          <a:ln w="12700">
            <a:solidFill>
              <a:srgbClr val="C7D1DA"/>
            </a:solidFill>
            <a:prstDash val="solid"/>
          </a:ln>
        </p:spPr>
        <p:txBody>
          <a:bodyPr/>
          <a:lstStyle/>
          <a:p>
            <a:endParaRPr lang="en-US" sz="1150"/>
          </a:p>
        </p:txBody>
      </p:sp>
      <p:sp>
        <p:nvSpPr>
          <p:cNvPr id="29" name="Rectangle 28">
            <a:extLst>
              <a:ext uri="{FF2B5EF4-FFF2-40B4-BE49-F238E27FC236}">
                <a16:creationId xmlns:a16="http://schemas.microsoft.com/office/drawing/2014/main" id="{3F09AAE2-7235-A92B-7F09-380A4479186D}"/>
              </a:ext>
            </a:extLst>
          </p:cNvPr>
          <p:cNvSpPr/>
          <p:nvPr/>
        </p:nvSpPr>
        <p:spPr>
          <a:xfrm>
            <a:off x="502920" y="1120140"/>
            <a:ext cx="1106424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21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384048"/>
            <a:ext cx="8729954" cy="369332"/>
          </a:xfrm>
          <a:prstGeom prst="rect">
            <a:avLst/>
          </a:prstGeom>
          <a:noFill/>
        </p:spPr>
        <p:txBody>
          <a:bodyPr wrap="none" lIns="0" tIns="0" rIns="0" bIns="0">
            <a:spAutoFit/>
          </a:bodyPr>
          <a:lstStyle/>
          <a:p>
            <a:r>
              <a:rPr sz="2400" b="1" dirty="0">
                <a:solidFill>
                  <a:srgbClr val="102A4C"/>
                </a:solidFill>
                <a:latin typeface="Segoe UI"/>
              </a:rPr>
              <a:t>Six decision outputs turn EDM context inference into action</a:t>
            </a:r>
          </a:p>
        </p:txBody>
      </p:sp>
      <p:sp>
        <p:nvSpPr>
          <p:cNvPr id="5" name="TextBox 4"/>
          <p:cNvSpPr txBox="1"/>
          <p:nvPr/>
        </p:nvSpPr>
        <p:spPr>
          <a:xfrm>
            <a:off x="502920" y="879348"/>
            <a:ext cx="9728625" cy="176972"/>
          </a:xfrm>
          <a:prstGeom prst="rect">
            <a:avLst/>
          </a:prstGeom>
          <a:noFill/>
          <a:ln/>
        </p:spPr>
        <p:txBody>
          <a:bodyPr wrap="square" lIns="0" tIns="0" rIns="0" bIns="0" rtlCol="0" anchor="ctr">
            <a:normAutofit/>
          </a:bodyPr>
          <a:lstStyle>
            <a:defPPr>
              <a:defRPr lang="en-US"/>
            </a:defPPr>
            <a:lvl1pPr marR="0" lvl="0" indent="0" fontAlgn="auto">
              <a:lnSpc>
                <a:spcPct val="100000"/>
              </a:lnSpc>
              <a:spcBef>
                <a:spcPts val="0"/>
              </a:spcBef>
              <a:spcAft>
                <a:spcPts val="0"/>
              </a:spcAft>
              <a:buClrTx/>
              <a:buSzTx/>
              <a:buFontTx/>
              <a:buNone/>
              <a:tabLst/>
              <a:defRPr kumimoji="0" sz="1150" b="0" i="0" u="none" strike="noStrike" cap="none" spc="0" normalizeH="0" baseline="0">
                <a:ln>
                  <a:noFill/>
                </a:ln>
                <a:solidFill>
                  <a:srgbClr val="5B6470"/>
                </a:solidFill>
                <a:effectLst/>
                <a:uLnTx/>
                <a:uFillTx/>
                <a:ea typeface="Aptos" pitchFamily="34" charset="-122"/>
                <a:cs typeface="Aptos" pitchFamily="34" charset="-120"/>
              </a:defRPr>
            </a:lvl1pPr>
          </a:lstStyle>
          <a:p>
            <a:r>
              <a:rPr dirty="0">
                <a:latin typeface="Segoe UI"/>
              </a:rPr>
              <a:t>These outputs align to the original DLA briefing: demand forecast, lead time, supplier risk, stockout simulation, scenario simulation, and explainability.</a:t>
            </a:r>
          </a:p>
        </p:txBody>
      </p:sp>
      <p:sp>
        <p:nvSpPr>
          <p:cNvPr id="6" name="Rectangle 5"/>
          <p:cNvSpPr/>
          <p:nvPr/>
        </p:nvSpPr>
        <p:spPr>
          <a:xfrm>
            <a:off x="502920" y="1120140"/>
            <a:ext cx="1106424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59" name="Group 58">
            <a:extLst>
              <a:ext uri="{FF2B5EF4-FFF2-40B4-BE49-F238E27FC236}">
                <a16:creationId xmlns:a16="http://schemas.microsoft.com/office/drawing/2014/main" id="{BE72B59B-66B3-6D8B-E74E-7A17A5470FA1}"/>
              </a:ext>
            </a:extLst>
          </p:cNvPr>
          <p:cNvGrpSpPr/>
          <p:nvPr/>
        </p:nvGrpSpPr>
        <p:grpSpPr>
          <a:xfrm>
            <a:off x="530352" y="1486424"/>
            <a:ext cx="3502152" cy="834628"/>
            <a:chOff x="530352" y="1486424"/>
            <a:chExt cx="3502152" cy="834628"/>
          </a:xfrm>
        </p:grpSpPr>
        <p:sp>
          <p:nvSpPr>
            <p:cNvPr id="7" name="Rounded Rectangle 6"/>
            <p:cNvSpPr/>
            <p:nvPr/>
          </p:nvSpPr>
          <p:spPr>
            <a:xfrm>
              <a:off x="530352" y="1486424"/>
              <a:ext cx="3502152" cy="834628"/>
            </a:xfrm>
            <a:prstGeom prst="roundRect">
              <a:avLst/>
            </a:prstGeom>
            <a:solidFill>
              <a:srgbClr val="FFFFFF"/>
            </a:solidFill>
            <a:ln w="12700">
              <a:solidFill>
                <a:srgbClr val="D2DA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8" name="Oval 7"/>
            <p:cNvSpPr/>
            <p:nvPr/>
          </p:nvSpPr>
          <p:spPr>
            <a:xfrm>
              <a:off x="694944" y="1585873"/>
              <a:ext cx="329184" cy="329184"/>
            </a:xfrm>
            <a:prstGeom prst="ellipse">
              <a:avLst/>
            </a:prstGeom>
            <a:solidFill>
              <a:srgbClr val="005F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9" name="TextBox 8"/>
            <p:cNvSpPr txBox="1"/>
            <p:nvPr/>
          </p:nvSpPr>
          <p:spPr>
            <a:xfrm>
              <a:off x="819856" y="1674265"/>
              <a:ext cx="64120" cy="138499"/>
            </a:xfrm>
            <a:prstGeom prst="rect">
              <a:avLst/>
            </a:prstGeom>
            <a:noFill/>
          </p:spPr>
          <p:txBody>
            <a:bodyPr wrap="none" lIns="0" tIns="0" rIns="0" bIns="0">
              <a:spAutoFit/>
            </a:bodyPr>
            <a:lstStyle/>
            <a:p>
              <a:pPr algn="ctr"/>
              <a:r>
                <a:rPr sz="900" b="1" dirty="0">
                  <a:solidFill>
                    <a:srgbClr val="FFFFFF"/>
                  </a:solidFill>
                  <a:latin typeface="Segoe UI"/>
                </a:rPr>
                <a:t>1</a:t>
              </a:r>
            </a:p>
          </p:txBody>
        </p:sp>
        <p:sp>
          <p:nvSpPr>
            <p:cNvPr id="10" name="TextBox 9"/>
            <p:cNvSpPr txBox="1"/>
            <p:nvPr/>
          </p:nvSpPr>
          <p:spPr>
            <a:xfrm>
              <a:off x="1097280" y="1604161"/>
              <a:ext cx="2788920" cy="221599"/>
            </a:xfrm>
            <a:prstGeom prst="rect">
              <a:avLst/>
            </a:prstGeom>
            <a:noFill/>
          </p:spPr>
          <p:txBody>
            <a:bodyPr wrap="square" lIns="36576" tIns="18288" rIns="36576" bIns="18288" anchor="t">
              <a:spAutoFit/>
            </a:bodyPr>
            <a:lstStyle/>
            <a:p>
              <a:pPr algn="l"/>
              <a:r>
                <a:rPr sz="1200" b="1" dirty="0">
                  <a:solidFill>
                    <a:srgbClr val="002140"/>
                  </a:solidFill>
                  <a:latin typeface="Segoe UI"/>
                </a:rPr>
                <a:t>Demand forecast</a:t>
              </a:r>
            </a:p>
          </p:txBody>
        </p:sp>
        <p:sp>
          <p:nvSpPr>
            <p:cNvPr id="11" name="TextBox 10"/>
            <p:cNvSpPr txBox="1"/>
            <p:nvPr/>
          </p:nvSpPr>
          <p:spPr>
            <a:xfrm>
              <a:off x="694944" y="1900428"/>
              <a:ext cx="3182112" cy="344710"/>
            </a:xfrm>
            <a:prstGeom prst="rect">
              <a:avLst/>
            </a:prstGeom>
            <a:noFill/>
          </p:spPr>
          <p:txBody>
            <a:bodyPr wrap="square" lIns="36576" tIns="18288" rIns="36576" bIns="18288" anchor="t">
              <a:spAutoFit/>
            </a:bodyPr>
            <a:lstStyle/>
            <a:p>
              <a:pPr algn="l"/>
              <a:r>
                <a:rPr sz="1000" b="0" dirty="0">
                  <a:solidFill>
                    <a:srgbClr val="1F2A37"/>
                  </a:solidFill>
                  <a:latin typeface="Segoe UI"/>
                </a:rPr>
                <a:t>Surge detection, intermittent spare-parts demand, and distribution-aware planning by NSN / platform.</a:t>
              </a:r>
            </a:p>
          </p:txBody>
        </p:sp>
      </p:grpSp>
      <p:grpSp>
        <p:nvGrpSpPr>
          <p:cNvPr id="60" name="Group 59">
            <a:extLst>
              <a:ext uri="{FF2B5EF4-FFF2-40B4-BE49-F238E27FC236}">
                <a16:creationId xmlns:a16="http://schemas.microsoft.com/office/drawing/2014/main" id="{4D0024DD-C6C4-D4E2-59F2-BD3F2CD785BC}"/>
              </a:ext>
            </a:extLst>
          </p:cNvPr>
          <p:cNvGrpSpPr/>
          <p:nvPr/>
        </p:nvGrpSpPr>
        <p:grpSpPr>
          <a:xfrm>
            <a:off x="4279392" y="1486424"/>
            <a:ext cx="3502152" cy="834628"/>
            <a:chOff x="4279392" y="1486424"/>
            <a:chExt cx="3502152" cy="834628"/>
          </a:xfrm>
        </p:grpSpPr>
        <p:sp>
          <p:nvSpPr>
            <p:cNvPr id="12" name="Rounded Rectangle 11"/>
            <p:cNvSpPr/>
            <p:nvPr/>
          </p:nvSpPr>
          <p:spPr>
            <a:xfrm>
              <a:off x="4279392" y="1486424"/>
              <a:ext cx="3502152" cy="834628"/>
            </a:xfrm>
            <a:prstGeom prst="roundRect">
              <a:avLst/>
            </a:prstGeom>
            <a:solidFill>
              <a:srgbClr val="FFFFFF"/>
            </a:solidFill>
            <a:ln w="12700">
              <a:solidFill>
                <a:srgbClr val="D2DA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3" name="Oval 12"/>
            <p:cNvSpPr/>
            <p:nvPr/>
          </p:nvSpPr>
          <p:spPr>
            <a:xfrm>
              <a:off x="4443983" y="1585873"/>
              <a:ext cx="329184" cy="329184"/>
            </a:xfrm>
            <a:prstGeom prst="ellipse">
              <a:avLst/>
            </a:prstGeom>
            <a:solidFill>
              <a:srgbClr val="005F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4" name="TextBox 13"/>
            <p:cNvSpPr txBox="1"/>
            <p:nvPr/>
          </p:nvSpPr>
          <p:spPr>
            <a:xfrm>
              <a:off x="4568895" y="1674265"/>
              <a:ext cx="64120" cy="138499"/>
            </a:xfrm>
            <a:prstGeom prst="rect">
              <a:avLst/>
            </a:prstGeom>
            <a:noFill/>
          </p:spPr>
          <p:txBody>
            <a:bodyPr wrap="none" lIns="0" tIns="0" rIns="0" bIns="0">
              <a:spAutoFit/>
            </a:bodyPr>
            <a:lstStyle/>
            <a:p>
              <a:pPr algn="ctr"/>
              <a:r>
                <a:rPr sz="900" b="1" dirty="0">
                  <a:solidFill>
                    <a:srgbClr val="FFFFFF"/>
                  </a:solidFill>
                  <a:latin typeface="Segoe UI"/>
                </a:rPr>
                <a:t>2</a:t>
              </a:r>
            </a:p>
          </p:txBody>
        </p:sp>
        <p:sp>
          <p:nvSpPr>
            <p:cNvPr id="15" name="TextBox 14"/>
            <p:cNvSpPr txBox="1"/>
            <p:nvPr/>
          </p:nvSpPr>
          <p:spPr>
            <a:xfrm>
              <a:off x="4846320" y="1604161"/>
              <a:ext cx="2788920" cy="221599"/>
            </a:xfrm>
            <a:prstGeom prst="rect">
              <a:avLst/>
            </a:prstGeom>
            <a:noFill/>
          </p:spPr>
          <p:txBody>
            <a:bodyPr wrap="square" lIns="36576" tIns="18288" rIns="36576" bIns="18288" anchor="t">
              <a:spAutoFit/>
            </a:bodyPr>
            <a:lstStyle/>
            <a:p>
              <a:pPr algn="l"/>
              <a:r>
                <a:rPr sz="1200" b="1" dirty="0">
                  <a:solidFill>
                    <a:srgbClr val="002140"/>
                  </a:solidFill>
                  <a:latin typeface="Segoe UI"/>
                </a:rPr>
                <a:t>Lead-time estimation</a:t>
              </a:r>
            </a:p>
          </p:txBody>
        </p:sp>
        <p:sp>
          <p:nvSpPr>
            <p:cNvPr id="16" name="TextBox 15"/>
            <p:cNvSpPr txBox="1"/>
            <p:nvPr/>
          </p:nvSpPr>
          <p:spPr>
            <a:xfrm>
              <a:off x="4443983" y="1900428"/>
              <a:ext cx="3182112" cy="344710"/>
            </a:xfrm>
            <a:prstGeom prst="rect">
              <a:avLst/>
            </a:prstGeom>
            <a:noFill/>
          </p:spPr>
          <p:txBody>
            <a:bodyPr wrap="square" lIns="36576" tIns="18288" rIns="36576" bIns="18288" anchor="t">
              <a:spAutoFit/>
            </a:bodyPr>
            <a:lstStyle/>
            <a:p>
              <a:pPr algn="l"/>
              <a:r>
                <a:rPr sz="1000" b="0">
                  <a:solidFill>
                    <a:srgbClr val="1F2A37"/>
                  </a:solidFill>
                  <a:latin typeface="Segoe UI"/>
                </a:rPr>
                <a:t>Probabilistic delivery timelines by supplier, mode, route, and reliability pattern.</a:t>
              </a:r>
            </a:p>
          </p:txBody>
        </p:sp>
      </p:grpSp>
      <p:grpSp>
        <p:nvGrpSpPr>
          <p:cNvPr id="61" name="Group 60">
            <a:extLst>
              <a:ext uri="{FF2B5EF4-FFF2-40B4-BE49-F238E27FC236}">
                <a16:creationId xmlns:a16="http://schemas.microsoft.com/office/drawing/2014/main" id="{8C909703-0DE6-21A2-2003-EF7501D608F3}"/>
              </a:ext>
            </a:extLst>
          </p:cNvPr>
          <p:cNvGrpSpPr/>
          <p:nvPr/>
        </p:nvGrpSpPr>
        <p:grpSpPr>
          <a:xfrm>
            <a:off x="8028431" y="1486424"/>
            <a:ext cx="3502152" cy="834628"/>
            <a:chOff x="8028431" y="1486424"/>
            <a:chExt cx="3502152" cy="834628"/>
          </a:xfrm>
        </p:grpSpPr>
        <p:sp>
          <p:nvSpPr>
            <p:cNvPr id="17" name="Rounded Rectangle 16"/>
            <p:cNvSpPr/>
            <p:nvPr/>
          </p:nvSpPr>
          <p:spPr>
            <a:xfrm>
              <a:off x="8028431" y="1486424"/>
              <a:ext cx="3502152" cy="834628"/>
            </a:xfrm>
            <a:prstGeom prst="roundRect">
              <a:avLst/>
            </a:prstGeom>
            <a:solidFill>
              <a:srgbClr val="FFFFFF"/>
            </a:solidFill>
            <a:ln w="12700">
              <a:solidFill>
                <a:srgbClr val="D2DA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8" name="Oval 17"/>
            <p:cNvSpPr/>
            <p:nvPr/>
          </p:nvSpPr>
          <p:spPr>
            <a:xfrm>
              <a:off x="8193023" y="1585873"/>
              <a:ext cx="329184" cy="329184"/>
            </a:xfrm>
            <a:prstGeom prst="ellipse">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9" name="TextBox 18"/>
            <p:cNvSpPr txBox="1"/>
            <p:nvPr/>
          </p:nvSpPr>
          <p:spPr>
            <a:xfrm>
              <a:off x="8317935" y="1674265"/>
              <a:ext cx="64120" cy="138499"/>
            </a:xfrm>
            <a:prstGeom prst="rect">
              <a:avLst/>
            </a:prstGeom>
            <a:noFill/>
          </p:spPr>
          <p:txBody>
            <a:bodyPr wrap="none" lIns="0" tIns="0" rIns="0" bIns="0">
              <a:spAutoFit/>
            </a:bodyPr>
            <a:lstStyle/>
            <a:p>
              <a:pPr algn="ctr"/>
              <a:r>
                <a:rPr sz="900" b="1" dirty="0">
                  <a:solidFill>
                    <a:srgbClr val="FFFFFF"/>
                  </a:solidFill>
                  <a:latin typeface="Segoe UI"/>
                </a:rPr>
                <a:t>3</a:t>
              </a:r>
            </a:p>
          </p:txBody>
        </p:sp>
        <p:sp>
          <p:nvSpPr>
            <p:cNvPr id="20" name="TextBox 19"/>
            <p:cNvSpPr txBox="1"/>
            <p:nvPr/>
          </p:nvSpPr>
          <p:spPr>
            <a:xfrm>
              <a:off x="8595359" y="1604161"/>
              <a:ext cx="2788920" cy="221599"/>
            </a:xfrm>
            <a:prstGeom prst="rect">
              <a:avLst/>
            </a:prstGeom>
            <a:noFill/>
          </p:spPr>
          <p:txBody>
            <a:bodyPr wrap="square" lIns="36576" tIns="18288" rIns="36576" bIns="18288" anchor="t">
              <a:spAutoFit/>
            </a:bodyPr>
            <a:lstStyle/>
            <a:p>
              <a:pPr algn="l"/>
              <a:r>
                <a:rPr sz="1200" b="1" dirty="0">
                  <a:solidFill>
                    <a:srgbClr val="002140"/>
                  </a:solidFill>
                  <a:latin typeface="Segoe UI"/>
                </a:rPr>
                <a:t>Supplier risk</a:t>
              </a:r>
            </a:p>
          </p:txBody>
        </p:sp>
        <p:sp>
          <p:nvSpPr>
            <p:cNvPr id="21" name="TextBox 20"/>
            <p:cNvSpPr txBox="1"/>
            <p:nvPr/>
          </p:nvSpPr>
          <p:spPr>
            <a:xfrm>
              <a:off x="8193023" y="1922373"/>
              <a:ext cx="3182112" cy="344710"/>
            </a:xfrm>
            <a:prstGeom prst="rect">
              <a:avLst/>
            </a:prstGeom>
            <a:noFill/>
          </p:spPr>
          <p:txBody>
            <a:bodyPr wrap="square" lIns="36576" tIns="18288" rIns="36576" bIns="18288" anchor="t">
              <a:spAutoFit/>
            </a:bodyPr>
            <a:lstStyle/>
            <a:p>
              <a:pPr algn="l"/>
              <a:r>
                <a:rPr sz="1000" b="0" dirty="0">
                  <a:solidFill>
                    <a:srgbClr val="1F2A37"/>
                  </a:solidFill>
                  <a:latin typeface="Segoe UI"/>
                </a:rPr>
                <a:t>30 / 60 / 90-day disruption risk with drivers such as on-time trend, geography, and supplier behavior.</a:t>
              </a:r>
            </a:p>
          </p:txBody>
        </p:sp>
      </p:grpSp>
      <p:grpSp>
        <p:nvGrpSpPr>
          <p:cNvPr id="62" name="Group 61">
            <a:extLst>
              <a:ext uri="{FF2B5EF4-FFF2-40B4-BE49-F238E27FC236}">
                <a16:creationId xmlns:a16="http://schemas.microsoft.com/office/drawing/2014/main" id="{B5D8D011-2AF8-FCFE-7148-2F86DD519389}"/>
              </a:ext>
            </a:extLst>
          </p:cNvPr>
          <p:cNvGrpSpPr/>
          <p:nvPr/>
        </p:nvGrpSpPr>
        <p:grpSpPr>
          <a:xfrm>
            <a:off x="530352" y="2501413"/>
            <a:ext cx="3502152" cy="834628"/>
            <a:chOff x="530352" y="2720864"/>
            <a:chExt cx="3502152" cy="834628"/>
          </a:xfrm>
        </p:grpSpPr>
        <p:sp>
          <p:nvSpPr>
            <p:cNvPr id="22" name="Rounded Rectangle 21"/>
            <p:cNvSpPr/>
            <p:nvPr/>
          </p:nvSpPr>
          <p:spPr>
            <a:xfrm>
              <a:off x="530352" y="2720864"/>
              <a:ext cx="3502152" cy="834628"/>
            </a:xfrm>
            <a:prstGeom prst="roundRect">
              <a:avLst/>
            </a:prstGeom>
            <a:solidFill>
              <a:srgbClr val="FFFFFF"/>
            </a:solidFill>
            <a:ln w="12700">
              <a:solidFill>
                <a:srgbClr val="D2DA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3" name="Oval 22"/>
            <p:cNvSpPr/>
            <p:nvPr/>
          </p:nvSpPr>
          <p:spPr>
            <a:xfrm>
              <a:off x="694944" y="2798367"/>
              <a:ext cx="329184" cy="329184"/>
            </a:xfrm>
            <a:prstGeom prst="ellipse">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4" name="TextBox 23"/>
            <p:cNvSpPr txBox="1"/>
            <p:nvPr/>
          </p:nvSpPr>
          <p:spPr>
            <a:xfrm>
              <a:off x="819856" y="2886759"/>
              <a:ext cx="64120" cy="138499"/>
            </a:xfrm>
            <a:prstGeom prst="rect">
              <a:avLst/>
            </a:prstGeom>
            <a:noFill/>
          </p:spPr>
          <p:txBody>
            <a:bodyPr wrap="none" lIns="0" tIns="0" rIns="0" bIns="0">
              <a:spAutoFit/>
            </a:bodyPr>
            <a:lstStyle/>
            <a:p>
              <a:pPr algn="ctr"/>
              <a:r>
                <a:rPr sz="900" b="1" dirty="0">
                  <a:solidFill>
                    <a:srgbClr val="FFFFFF"/>
                  </a:solidFill>
                  <a:latin typeface="Segoe UI"/>
                </a:rPr>
                <a:t>4</a:t>
              </a:r>
            </a:p>
          </p:txBody>
        </p:sp>
        <p:sp>
          <p:nvSpPr>
            <p:cNvPr id="25" name="TextBox 24"/>
            <p:cNvSpPr txBox="1"/>
            <p:nvPr/>
          </p:nvSpPr>
          <p:spPr>
            <a:xfrm>
              <a:off x="1097280" y="2816655"/>
              <a:ext cx="2788920" cy="221599"/>
            </a:xfrm>
            <a:prstGeom prst="rect">
              <a:avLst/>
            </a:prstGeom>
            <a:noFill/>
          </p:spPr>
          <p:txBody>
            <a:bodyPr wrap="square" lIns="36576" tIns="18288" rIns="36576" bIns="18288" anchor="t">
              <a:spAutoFit/>
            </a:bodyPr>
            <a:lstStyle/>
            <a:p>
              <a:pPr algn="l"/>
              <a:r>
                <a:rPr sz="1200" b="1" dirty="0">
                  <a:solidFill>
                    <a:srgbClr val="002140"/>
                  </a:solidFill>
                  <a:latin typeface="Segoe UI"/>
                </a:rPr>
                <a:t>Stockout simulation</a:t>
              </a:r>
            </a:p>
          </p:txBody>
        </p:sp>
        <p:sp>
          <p:nvSpPr>
            <p:cNvPr id="26" name="TextBox 25"/>
            <p:cNvSpPr txBox="1"/>
            <p:nvPr/>
          </p:nvSpPr>
          <p:spPr>
            <a:xfrm>
              <a:off x="694944" y="3134868"/>
              <a:ext cx="3182112" cy="344710"/>
            </a:xfrm>
            <a:prstGeom prst="rect">
              <a:avLst/>
            </a:prstGeom>
            <a:noFill/>
          </p:spPr>
          <p:txBody>
            <a:bodyPr wrap="square" lIns="36576" tIns="18288" rIns="36576" bIns="18288" anchor="t">
              <a:spAutoFit/>
            </a:bodyPr>
            <a:lstStyle/>
            <a:p>
              <a:pPr algn="l"/>
              <a:r>
                <a:rPr sz="1000" b="0" dirty="0">
                  <a:solidFill>
                    <a:srgbClr val="1F2A37"/>
                  </a:solidFill>
                  <a:latin typeface="Segoe UI"/>
                </a:rPr>
                <a:t>NSN and depot exposure, cascading supplier impact, and early stockout visibility.</a:t>
              </a:r>
            </a:p>
          </p:txBody>
        </p:sp>
      </p:grpSp>
      <p:grpSp>
        <p:nvGrpSpPr>
          <p:cNvPr id="52" name="Group 51">
            <a:extLst>
              <a:ext uri="{FF2B5EF4-FFF2-40B4-BE49-F238E27FC236}">
                <a16:creationId xmlns:a16="http://schemas.microsoft.com/office/drawing/2014/main" id="{1206E322-59D4-0940-8B6B-748BE090E180}"/>
              </a:ext>
            </a:extLst>
          </p:cNvPr>
          <p:cNvGrpSpPr/>
          <p:nvPr/>
        </p:nvGrpSpPr>
        <p:grpSpPr>
          <a:xfrm>
            <a:off x="530353" y="3847800"/>
            <a:ext cx="3502152" cy="911652"/>
            <a:chOff x="4279392" y="2643840"/>
            <a:chExt cx="3502152" cy="911652"/>
          </a:xfrm>
        </p:grpSpPr>
        <p:sp>
          <p:nvSpPr>
            <p:cNvPr id="27" name="Rounded Rectangle 26"/>
            <p:cNvSpPr/>
            <p:nvPr/>
          </p:nvSpPr>
          <p:spPr>
            <a:xfrm>
              <a:off x="4279392" y="2643840"/>
              <a:ext cx="3502152" cy="911652"/>
            </a:xfrm>
            <a:prstGeom prst="roundRect">
              <a:avLst/>
            </a:prstGeom>
            <a:solidFill>
              <a:srgbClr val="FFFFFF"/>
            </a:solidFill>
            <a:ln w="12700">
              <a:solidFill>
                <a:srgbClr val="D2DA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4443983" y="2695956"/>
              <a:ext cx="329184" cy="329184"/>
            </a:xfrm>
            <a:prstGeom prst="ellipse">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436363" y="2784348"/>
              <a:ext cx="329184" cy="201168"/>
            </a:xfrm>
            <a:prstGeom prst="rect">
              <a:avLst/>
            </a:prstGeom>
            <a:noFill/>
          </p:spPr>
          <p:txBody>
            <a:bodyPr wrap="none" lIns="0" tIns="0" rIns="0" bIns="0">
              <a:spAutoFit/>
            </a:bodyPr>
            <a:lstStyle/>
            <a:p>
              <a:pPr algn="ctr"/>
              <a:r>
                <a:rPr sz="1000" b="1" dirty="0">
                  <a:solidFill>
                    <a:srgbClr val="FFFFFF"/>
                  </a:solidFill>
                  <a:latin typeface="Segoe UI"/>
                </a:rPr>
                <a:t>5</a:t>
              </a:r>
            </a:p>
          </p:txBody>
        </p:sp>
        <p:sp>
          <p:nvSpPr>
            <p:cNvPr id="30" name="TextBox 29"/>
            <p:cNvSpPr txBox="1"/>
            <p:nvPr/>
          </p:nvSpPr>
          <p:spPr>
            <a:xfrm>
              <a:off x="4846320" y="2714244"/>
              <a:ext cx="2788920" cy="320040"/>
            </a:xfrm>
            <a:prstGeom prst="rect">
              <a:avLst/>
            </a:prstGeom>
            <a:noFill/>
          </p:spPr>
          <p:txBody>
            <a:bodyPr wrap="square" lIns="36576" tIns="18288" rIns="36576" bIns="18288" anchor="t">
              <a:spAutoFit/>
            </a:bodyPr>
            <a:lstStyle/>
            <a:p>
              <a:pPr algn="l"/>
              <a:r>
                <a:rPr sz="1400" b="1" dirty="0">
                  <a:solidFill>
                    <a:srgbClr val="002140"/>
                  </a:solidFill>
                  <a:latin typeface="Segoe UI"/>
                </a:rPr>
                <a:t>Scenario simulator</a:t>
              </a:r>
            </a:p>
          </p:txBody>
        </p:sp>
        <p:sp>
          <p:nvSpPr>
            <p:cNvPr id="31" name="TextBox 30"/>
            <p:cNvSpPr txBox="1"/>
            <p:nvPr/>
          </p:nvSpPr>
          <p:spPr>
            <a:xfrm>
              <a:off x="4443983" y="3134868"/>
              <a:ext cx="3182112" cy="256032"/>
            </a:xfrm>
            <a:prstGeom prst="rect">
              <a:avLst/>
            </a:prstGeom>
            <a:noFill/>
          </p:spPr>
          <p:txBody>
            <a:bodyPr wrap="square" lIns="36576" tIns="18288" rIns="36576" bIns="18288" anchor="t">
              <a:spAutoFit/>
            </a:bodyPr>
            <a:lstStyle/>
            <a:p>
              <a:pPr algn="l"/>
              <a:r>
                <a:rPr sz="1050" b="0" dirty="0">
                  <a:solidFill>
                    <a:srgbClr val="1F2A37"/>
                  </a:solidFill>
                  <a:latin typeface="Segoe UI"/>
                </a:rPr>
                <a:t>Supplier + route + demand scenarios, lateral transfer evaluation, and depot / platform impact.</a:t>
              </a:r>
            </a:p>
          </p:txBody>
        </p:sp>
      </p:grpSp>
      <p:grpSp>
        <p:nvGrpSpPr>
          <p:cNvPr id="54" name="Group 53">
            <a:extLst>
              <a:ext uri="{FF2B5EF4-FFF2-40B4-BE49-F238E27FC236}">
                <a16:creationId xmlns:a16="http://schemas.microsoft.com/office/drawing/2014/main" id="{B1266685-F6F5-5DFD-E3B0-58A79250B93D}"/>
              </a:ext>
            </a:extLst>
          </p:cNvPr>
          <p:cNvGrpSpPr/>
          <p:nvPr/>
        </p:nvGrpSpPr>
        <p:grpSpPr>
          <a:xfrm>
            <a:off x="4279392" y="3847798"/>
            <a:ext cx="3502152" cy="911653"/>
            <a:chOff x="8028431" y="2643838"/>
            <a:chExt cx="3502152" cy="911653"/>
          </a:xfrm>
        </p:grpSpPr>
        <p:sp>
          <p:nvSpPr>
            <p:cNvPr id="32" name="Rounded Rectangle 31"/>
            <p:cNvSpPr/>
            <p:nvPr/>
          </p:nvSpPr>
          <p:spPr>
            <a:xfrm>
              <a:off x="8028431" y="2643838"/>
              <a:ext cx="3502152" cy="911653"/>
            </a:xfrm>
            <a:prstGeom prst="roundRect">
              <a:avLst/>
            </a:prstGeom>
            <a:solidFill>
              <a:srgbClr val="FFFFFF"/>
            </a:solidFill>
            <a:ln w="12700">
              <a:solidFill>
                <a:srgbClr val="D2DA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8193023" y="2695956"/>
              <a:ext cx="329184" cy="329184"/>
            </a:xfrm>
            <a:prstGeom prst="ellipse">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185403" y="2784348"/>
              <a:ext cx="329184" cy="201168"/>
            </a:xfrm>
            <a:prstGeom prst="rect">
              <a:avLst/>
            </a:prstGeom>
            <a:noFill/>
          </p:spPr>
          <p:txBody>
            <a:bodyPr wrap="none" lIns="0" tIns="0" rIns="0" bIns="0">
              <a:spAutoFit/>
            </a:bodyPr>
            <a:lstStyle/>
            <a:p>
              <a:pPr algn="ctr"/>
              <a:r>
                <a:rPr sz="1000" b="1">
                  <a:solidFill>
                    <a:srgbClr val="FFFFFF"/>
                  </a:solidFill>
                  <a:latin typeface="Segoe UI"/>
                </a:rPr>
                <a:t>6</a:t>
              </a:r>
            </a:p>
          </p:txBody>
        </p:sp>
        <p:sp>
          <p:nvSpPr>
            <p:cNvPr id="35" name="TextBox 34"/>
            <p:cNvSpPr txBox="1"/>
            <p:nvPr/>
          </p:nvSpPr>
          <p:spPr>
            <a:xfrm>
              <a:off x="8595359" y="2714244"/>
              <a:ext cx="2788920" cy="320040"/>
            </a:xfrm>
            <a:prstGeom prst="rect">
              <a:avLst/>
            </a:prstGeom>
            <a:noFill/>
          </p:spPr>
          <p:txBody>
            <a:bodyPr wrap="square" lIns="36576" tIns="18288" rIns="36576" bIns="18288" anchor="t">
              <a:spAutoFit/>
            </a:bodyPr>
            <a:lstStyle/>
            <a:p>
              <a:pPr algn="l"/>
              <a:r>
                <a:rPr sz="1400" b="1" dirty="0">
                  <a:solidFill>
                    <a:srgbClr val="002140"/>
                  </a:solidFill>
                  <a:latin typeface="Segoe UI"/>
                </a:rPr>
                <a:t>Explainability mode</a:t>
              </a:r>
            </a:p>
          </p:txBody>
        </p:sp>
        <p:sp>
          <p:nvSpPr>
            <p:cNvPr id="36" name="TextBox 35"/>
            <p:cNvSpPr txBox="1"/>
            <p:nvPr/>
          </p:nvSpPr>
          <p:spPr>
            <a:xfrm>
              <a:off x="8193023" y="3134868"/>
              <a:ext cx="3182112" cy="256032"/>
            </a:xfrm>
            <a:prstGeom prst="rect">
              <a:avLst/>
            </a:prstGeom>
            <a:noFill/>
          </p:spPr>
          <p:txBody>
            <a:bodyPr wrap="square" lIns="36576" tIns="18288" rIns="36576" bIns="18288" anchor="t">
              <a:spAutoFit/>
            </a:bodyPr>
            <a:lstStyle/>
            <a:p>
              <a:pPr algn="l"/>
              <a:r>
                <a:rPr sz="1050" b="0">
                  <a:solidFill>
                    <a:srgbClr val="1F2A37"/>
                  </a:solidFill>
                  <a:latin typeface="Segoe UI"/>
                </a:rPr>
                <a:t>Drivers, confidence, related exposure, and SME-reviewable rationale for decision trust.</a:t>
              </a:r>
            </a:p>
          </p:txBody>
        </p:sp>
      </p:grpSp>
      <p:grpSp>
        <p:nvGrpSpPr>
          <p:cNvPr id="56" name="Group 55">
            <a:extLst>
              <a:ext uri="{FF2B5EF4-FFF2-40B4-BE49-F238E27FC236}">
                <a16:creationId xmlns:a16="http://schemas.microsoft.com/office/drawing/2014/main" id="{EB92177E-E263-B6E9-8B28-1F48737E9965}"/>
              </a:ext>
            </a:extLst>
          </p:cNvPr>
          <p:cNvGrpSpPr/>
          <p:nvPr/>
        </p:nvGrpSpPr>
        <p:grpSpPr>
          <a:xfrm>
            <a:off x="4279392" y="5227194"/>
            <a:ext cx="3502152" cy="1078992"/>
            <a:chOff x="4279392" y="4442460"/>
            <a:chExt cx="3502152" cy="1078992"/>
          </a:xfrm>
        </p:grpSpPr>
        <p:sp>
          <p:nvSpPr>
            <p:cNvPr id="41" name="Rounded Rectangle 40"/>
            <p:cNvSpPr/>
            <p:nvPr/>
          </p:nvSpPr>
          <p:spPr>
            <a:xfrm>
              <a:off x="4279392" y="4442460"/>
              <a:ext cx="3502152" cy="1078992"/>
            </a:xfrm>
            <a:prstGeom prst="roundRect">
              <a:avLst/>
            </a:prstGeom>
            <a:solidFill>
              <a:srgbClr val="F7F9FC"/>
            </a:solidFill>
            <a:ln w="12700">
              <a:solidFill>
                <a:srgbClr val="D2DA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4279392" y="4442460"/>
              <a:ext cx="64008" cy="1078992"/>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480559" y="4607052"/>
              <a:ext cx="3108960" cy="252377"/>
            </a:xfrm>
            <a:prstGeom prst="rect">
              <a:avLst/>
            </a:prstGeom>
            <a:noFill/>
          </p:spPr>
          <p:txBody>
            <a:bodyPr wrap="square" lIns="36576" tIns="18288" rIns="36576" bIns="18288" anchor="t">
              <a:spAutoFit/>
            </a:bodyPr>
            <a:lstStyle/>
            <a:p>
              <a:pPr algn="l"/>
              <a:r>
                <a:rPr sz="1400" b="1" dirty="0">
                  <a:solidFill>
                    <a:srgbClr val="002140"/>
                  </a:solidFill>
                  <a:latin typeface="Segoe UI"/>
                </a:rPr>
                <a:t>Why this is stronger</a:t>
              </a:r>
            </a:p>
          </p:txBody>
        </p:sp>
        <p:sp>
          <p:nvSpPr>
            <p:cNvPr id="44" name="TextBox 43"/>
            <p:cNvSpPr txBox="1"/>
            <p:nvPr/>
          </p:nvSpPr>
          <p:spPr>
            <a:xfrm>
              <a:off x="4480559" y="4945380"/>
              <a:ext cx="3108960" cy="521681"/>
            </a:xfrm>
            <a:prstGeom prst="rect">
              <a:avLst/>
            </a:prstGeom>
            <a:noFill/>
          </p:spPr>
          <p:txBody>
            <a:bodyPr wrap="square" lIns="36576" tIns="18288" rIns="36576" bIns="18288" anchor="t">
              <a:spAutoFit/>
            </a:bodyPr>
            <a:lstStyle/>
            <a:p>
              <a:pPr algn="l"/>
              <a:r>
                <a:rPr sz="1050" b="0">
                  <a:solidFill>
                    <a:srgbClr val="1F2A37"/>
                  </a:solidFill>
                  <a:latin typeface="Segoe UI"/>
                </a:rPr>
                <a:t>Tests forecasting, drift, risk propagation, uncertainty, explainability, and operational action in one bounded validation path.</a:t>
              </a:r>
            </a:p>
          </p:txBody>
        </p:sp>
      </p:grpSp>
      <p:grpSp>
        <p:nvGrpSpPr>
          <p:cNvPr id="57" name="Group 56">
            <a:extLst>
              <a:ext uri="{FF2B5EF4-FFF2-40B4-BE49-F238E27FC236}">
                <a16:creationId xmlns:a16="http://schemas.microsoft.com/office/drawing/2014/main" id="{CB0171DA-280D-AAD6-3EB9-4FAE860AF08B}"/>
              </a:ext>
            </a:extLst>
          </p:cNvPr>
          <p:cNvGrpSpPr/>
          <p:nvPr/>
        </p:nvGrpSpPr>
        <p:grpSpPr>
          <a:xfrm>
            <a:off x="8028431" y="5227194"/>
            <a:ext cx="3502152" cy="1078992"/>
            <a:chOff x="8028431" y="4442460"/>
            <a:chExt cx="3502152" cy="1078992"/>
          </a:xfrm>
        </p:grpSpPr>
        <p:sp>
          <p:nvSpPr>
            <p:cNvPr id="45" name="Rounded Rectangle 44"/>
            <p:cNvSpPr/>
            <p:nvPr/>
          </p:nvSpPr>
          <p:spPr>
            <a:xfrm>
              <a:off x="8028431" y="4442460"/>
              <a:ext cx="3502152" cy="1078992"/>
            </a:xfrm>
            <a:prstGeom prst="roundRect">
              <a:avLst/>
            </a:prstGeom>
            <a:solidFill>
              <a:srgbClr val="F7F9FC"/>
            </a:solidFill>
            <a:ln w="12700">
              <a:solidFill>
                <a:srgbClr val="D2DA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8028431" y="4442460"/>
              <a:ext cx="64008" cy="1078992"/>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229600" y="4607052"/>
              <a:ext cx="3108960" cy="252377"/>
            </a:xfrm>
            <a:prstGeom prst="rect">
              <a:avLst/>
            </a:prstGeom>
            <a:noFill/>
          </p:spPr>
          <p:txBody>
            <a:bodyPr wrap="square" lIns="36576" tIns="18288" rIns="36576" bIns="18288" anchor="t">
              <a:spAutoFit/>
            </a:bodyPr>
            <a:lstStyle/>
            <a:p>
              <a:pPr algn="l"/>
              <a:r>
                <a:rPr sz="1400" b="1">
                  <a:solidFill>
                    <a:srgbClr val="002140"/>
                  </a:solidFill>
                  <a:latin typeface="Segoe UI"/>
                </a:rPr>
                <a:t>Supporting detail on request</a:t>
              </a:r>
            </a:p>
          </p:txBody>
        </p:sp>
        <p:sp>
          <p:nvSpPr>
            <p:cNvPr id="48" name="TextBox 47"/>
            <p:cNvSpPr txBox="1"/>
            <p:nvPr/>
          </p:nvSpPr>
          <p:spPr>
            <a:xfrm>
              <a:off x="8229600" y="4945380"/>
              <a:ext cx="3108960" cy="521681"/>
            </a:xfrm>
            <a:prstGeom prst="rect">
              <a:avLst/>
            </a:prstGeom>
            <a:noFill/>
          </p:spPr>
          <p:txBody>
            <a:bodyPr wrap="square" lIns="36576" tIns="18288" rIns="36576" bIns="18288" anchor="t">
              <a:spAutoFit/>
            </a:bodyPr>
            <a:lstStyle/>
            <a:p>
              <a:pPr algn="l"/>
              <a:r>
                <a:rPr sz="1050" b="0">
                  <a:solidFill>
                    <a:srgbClr val="1F2A37"/>
                  </a:solidFill>
                  <a:latin typeface="Segoe UI"/>
                </a:rPr>
                <a:t>Use-case inventory, technical architecture, algorithm detail, and validation assumptions for follow-up discussion.</a:t>
              </a:r>
            </a:p>
          </p:txBody>
        </p:sp>
      </p:grpSp>
      <p:sp>
        <p:nvSpPr>
          <p:cNvPr id="49" name="Rectangle 48"/>
          <p:cNvSpPr/>
          <p:nvPr/>
        </p:nvSpPr>
        <p:spPr>
          <a:xfrm>
            <a:off x="411480" y="6446520"/>
            <a:ext cx="11338560" cy="9144"/>
          </a:xfrm>
          <a:prstGeom prst="rect">
            <a:avLst/>
          </a:prstGeom>
          <a:solidFill>
            <a:srgbClr val="D2DA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 4">
            <a:extLst>
              <a:ext uri="{FF2B5EF4-FFF2-40B4-BE49-F238E27FC236}">
                <a16:creationId xmlns:a16="http://schemas.microsoft.com/office/drawing/2014/main" id="{7F898924-1EB2-C14C-28A6-37FB833AFFB9}"/>
              </a:ext>
            </a:extLst>
          </p:cNvPr>
          <p:cNvSpPr/>
          <p:nvPr/>
        </p:nvSpPr>
        <p:spPr>
          <a:xfrm>
            <a:off x="438912" y="6510528"/>
            <a:ext cx="80467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CONFIDENTIAL  |  22</a:t>
            </a:r>
            <a:r>
              <a:rPr kumimoji="0" lang="en-US" sz="800" b="0" i="0" u="none" strike="noStrike" kern="1200" cap="none" spc="0" normalizeH="0" baseline="30000" noProof="0" dirty="0">
                <a:ln>
                  <a:noFill/>
                </a:ln>
                <a:solidFill>
                  <a:srgbClr val="5B6470"/>
                </a:solidFill>
                <a:effectLst/>
                <a:uLnTx/>
                <a:uFillTx/>
                <a:latin typeface="Segoe UI"/>
                <a:ea typeface="Aptos" pitchFamily="34" charset="-122"/>
                <a:cs typeface="Aptos" pitchFamily="34" charset="-120"/>
              </a:rPr>
              <a:t>nd</a:t>
            </a: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 Century Technologies  |  DLA EDM Vector Intelligence</a:t>
            </a:r>
            <a:endParaRPr kumimoji="0" lang="en-US" sz="800" b="0" i="0" u="none" strike="noStrike" kern="1200" cap="none" spc="0" normalizeH="0" baseline="0" noProof="0" dirty="0">
              <a:ln>
                <a:noFill/>
              </a:ln>
              <a:solidFill>
                <a:prstClr val="black"/>
              </a:solidFill>
              <a:effectLst/>
              <a:uLnTx/>
              <a:uFillTx/>
              <a:ea typeface="+mn-ea"/>
              <a:cs typeface="+mn-cs"/>
            </a:endParaRPr>
          </a:p>
        </p:txBody>
      </p:sp>
      <p:grpSp>
        <p:nvGrpSpPr>
          <p:cNvPr id="72" name="Group 71">
            <a:extLst>
              <a:ext uri="{FF2B5EF4-FFF2-40B4-BE49-F238E27FC236}">
                <a16:creationId xmlns:a16="http://schemas.microsoft.com/office/drawing/2014/main" id="{0DAF9A41-9427-3393-977E-DFB9571D0ECB}"/>
              </a:ext>
            </a:extLst>
          </p:cNvPr>
          <p:cNvGrpSpPr/>
          <p:nvPr/>
        </p:nvGrpSpPr>
        <p:grpSpPr>
          <a:xfrm>
            <a:off x="530352" y="5227194"/>
            <a:ext cx="3502152" cy="1078992"/>
            <a:chOff x="530352" y="4880610"/>
            <a:chExt cx="3502152" cy="1078992"/>
          </a:xfrm>
        </p:grpSpPr>
        <p:grpSp>
          <p:nvGrpSpPr>
            <p:cNvPr id="55" name="Group 54">
              <a:extLst>
                <a:ext uri="{FF2B5EF4-FFF2-40B4-BE49-F238E27FC236}">
                  <a16:creationId xmlns:a16="http://schemas.microsoft.com/office/drawing/2014/main" id="{4604E01A-4FDC-1959-FCC9-BC356B730386}"/>
                </a:ext>
              </a:extLst>
            </p:cNvPr>
            <p:cNvGrpSpPr/>
            <p:nvPr/>
          </p:nvGrpSpPr>
          <p:grpSpPr>
            <a:xfrm>
              <a:off x="530352" y="4880610"/>
              <a:ext cx="3502152" cy="1078992"/>
              <a:chOff x="530352" y="4442460"/>
              <a:chExt cx="3502152" cy="1078992"/>
            </a:xfrm>
          </p:grpSpPr>
          <p:sp>
            <p:nvSpPr>
              <p:cNvPr id="37" name="Rounded Rectangle 36"/>
              <p:cNvSpPr/>
              <p:nvPr/>
            </p:nvSpPr>
            <p:spPr>
              <a:xfrm>
                <a:off x="530352" y="4442460"/>
                <a:ext cx="3502152" cy="1078992"/>
              </a:xfrm>
              <a:prstGeom prst="roundRect">
                <a:avLst/>
              </a:prstGeom>
              <a:solidFill>
                <a:srgbClr val="F7F9FC"/>
              </a:solidFill>
              <a:ln w="12700">
                <a:solidFill>
                  <a:srgbClr val="D2DA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31519" y="4607052"/>
                <a:ext cx="3108960" cy="252377"/>
              </a:xfrm>
              <a:prstGeom prst="rect">
                <a:avLst/>
              </a:prstGeom>
              <a:noFill/>
            </p:spPr>
            <p:txBody>
              <a:bodyPr wrap="square" lIns="36576" tIns="18288" rIns="36576" bIns="18288" anchor="t">
                <a:spAutoFit/>
              </a:bodyPr>
              <a:lstStyle/>
              <a:p>
                <a:pPr algn="l"/>
                <a:r>
                  <a:rPr sz="1400" b="1" dirty="0">
                    <a:solidFill>
                      <a:srgbClr val="002140"/>
                    </a:solidFill>
                    <a:latin typeface="Segoe UI"/>
                  </a:rPr>
                  <a:t>Primary validation path</a:t>
                </a:r>
              </a:p>
            </p:txBody>
          </p:sp>
          <p:sp>
            <p:nvSpPr>
              <p:cNvPr id="40" name="TextBox 39"/>
              <p:cNvSpPr txBox="1"/>
              <p:nvPr/>
            </p:nvSpPr>
            <p:spPr>
              <a:xfrm>
                <a:off x="731519" y="4945380"/>
                <a:ext cx="3108960" cy="521681"/>
              </a:xfrm>
              <a:prstGeom prst="rect">
                <a:avLst/>
              </a:prstGeom>
              <a:noFill/>
            </p:spPr>
            <p:txBody>
              <a:bodyPr wrap="square" lIns="36576" tIns="18288" rIns="36576" bIns="18288" anchor="t">
                <a:spAutoFit/>
              </a:bodyPr>
              <a:lstStyle/>
              <a:p>
                <a:pPr algn="l"/>
                <a:r>
                  <a:rPr sz="1050" b="0" dirty="0">
                    <a:solidFill>
                      <a:srgbClr val="1F2A37"/>
                    </a:solidFill>
                    <a:latin typeface="Segoe UI"/>
                  </a:rPr>
                  <a:t>Demand forecast + lead time + supplier risk + stockout exposure, with scenario and explainability as decision-support layers.</a:t>
                </a:r>
              </a:p>
            </p:txBody>
          </p:sp>
        </p:grpSp>
        <p:sp>
          <p:nvSpPr>
            <p:cNvPr id="38" name="Rectangle 37"/>
            <p:cNvSpPr/>
            <p:nvPr/>
          </p:nvSpPr>
          <p:spPr>
            <a:xfrm>
              <a:off x="530352" y="4880610"/>
              <a:ext cx="64008" cy="1078992"/>
            </a:xfrm>
            <a:prstGeom prst="rect">
              <a:avLst/>
            </a:prstGeom>
            <a:solidFill>
              <a:srgbClr val="005F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74" name="TextBox 73">
            <a:extLst>
              <a:ext uri="{FF2B5EF4-FFF2-40B4-BE49-F238E27FC236}">
                <a16:creationId xmlns:a16="http://schemas.microsoft.com/office/drawing/2014/main" id="{EE00F073-56D4-637F-F0B0-234970560B2A}"/>
              </a:ext>
            </a:extLst>
          </p:cNvPr>
          <p:cNvSpPr txBox="1"/>
          <p:nvPr/>
        </p:nvSpPr>
        <p:spPr>
          <a:xfrm>
            <a:off x="530352" y="4943054"/>
            <a:ext cx="1301190" cy="252377"/>
          </a:xfrm>
          <a:prstGeom prst="rect">
            <a:avLst/>
          </a:prstGeom>
          <a:noFill/>
        </p:spPr>
        <p:txBody>
          <a:bodyPr wrap="none" lIns="27432" tIns="18288" rIns="27432" bIns="18288">
            <a:spAutoFit/>
          </a:bodyPr>
          <a:lstStyle>
            <a:defPPr>
              <a:defRPr lang="en-US"/>
            </a:defPPr>
            <a:lvl1pPr>
              <a:defRPr sz="1400" b="1" i="0">
                <a:solidFill>
                  <a:srgbClr val="07203A"/>
                </a:solidFill>
                <a:latin typeface="Aptos"/>
              </a:defRPr>
            </a:lvl1pPr>
          </a:lstStyle>
          <a:p>
            <a:r>
              <a:rPr lang="en-US" dirty="0">
                <a:latin typeface="Segoe UI"/>
              </a:rPr>
              <a:t>Executive Point</a:t>
            </a:r>
          </a:p>
        </p:txBody>
      </p:sp>
      <p:sp>
        <p:nvSpPr>
          <p:cNvPr id="58" name="TextBox 57">
            <a:extLst>
              <a:ext uri="{FF2B5EF4-FFF2-40B4-BE49-F238E27FC236}">
                <a16:creationId xmlns:a16="http://schemas.microsoft.com/office/drawing/2014/main" id="{0098C739-2B09-7942-6CB7-281A95BC2993}"/>
              </a:ext>
            </a:extLst>
          </p:cNvPr>
          <p:cNvSpPr txBox="1"/>
          <p:nvPr/>
        </p:nvSpPr>
        <p:spPr>
          <a:xfrm>
            <a:off x="594360" y="1199697"/>
            <a:ext cx="3306803" cy="252377"/>
          </a:xfrm>
          <a:prstGeom prst="rect">
            <a:avLst/>
          </a:prstGeom>
          <a:noFill/>
        </p:spPr>
        <p:txBody>
          <a:bodyPr wrap="none" lIns="27432" tIns="18288" rIns="27432" bIns="18288">
            <a:spAutoFit/>
          </a:bodyPr>
          <a:lstStyle/>
          <a:p>
            <a:r>
              <a:rPr sz="1400" b="1" i="0" dirty="0">
                <a:solidFill>
                  <a:srgbClr val="07203A"/>
                </a:solidFill>
                <a:latin typeface="Segoe UI"/>
              </a:rPr>
              <a:t>PRIORITIZED OPERATIONAL OUTCOMES</a:t>
            </a:r>
          </a:p>
        </p:txBody>
      </p:sp>
      <p:sp>
        <p:nvSpPr>
          <p:cNvPr id="66" name="TextBox 65">
            <a:extLst>
              <a:ext uri="{FF2B5EF4-FFF2-40B4-BE49-F238E27FC236}">
                <a16:creationId xmlns:a16="http://schemas.microsoft.com/office/drawing/2014/main" id="{CAFFA12A-F5AE-5323-392F-17ADEC9BA6EF}"/>
              </a:ext>
            </a:extLst>
          </p:cNvPr>
          <p:cNvSpPr txBox="1"/>
          <p:nvPr/>
        </p:nvSpPr>
        <p:spPr>
          <a:xfrm>
            <a:off x="530352" y="3502764"/>
            <a:ext cx="2714589" cy="252377"/>
          </a:xfrm>
          <a:prstGeom prst="rect">
            <a:avLst/>
          </a:prstGeom>
          <a:noFill/>
        </p:spPr>
        <p:txBody>
          <a:bodyPr wrap="none" lIns="27432" tIns="18288" rIns="27432" bIns="18288">
            <a:spAutoFit/>
          </a:bodyPr>
          <a:lstStyle/>
          <a:p>
            <a:r>
              <a:rPr lang="en-US" sz="1400" b="1" i="0" dirty="0">
                <a:solidFill>
                  <a:srgbClr val="07203A"/>
                </a:solidFill>
                <a:latin typeface="Segoe UI"/>
              </a:rPr>
              <a:t>PLATFORM DECISION ENABLERS</a:t>
            </a:r>
          </a:p>
        </p:txBody>
      </p:sp>
      <p:sp>
        <p:nvSpPr>
          <p:cNvPr id="65" name="Text 6">
            <a:extLst>
              <a:ext uri="{FF2B5EF4-FFF2-40B4-BE49-F238E27FC236}">
                <a16:creationId xmlns:a16="http://schemas.microsoft.com/office/drawing/2014/main" id="{F1026409-F0B1-5800-BA0F-F426013F5002}"/>
              </a:ext>
            </a:extLst>
          </p:cNvPr>
          <p:cNvSpPr/>
          <p:nvPr/>
        </p:nvSpPr>
        <p:spPr>
          <a:xfrm>
            <a:off x="11475720" y="6492240"/>
            <a:ext cx="320040" cy="20116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Segoe UI"/>
                <a:ea typeface="+mn-ea"/>
                <a:cs typeface="+mn-cs"/>
              </a:rPr>
              <a:t>8</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376212" cy="394980"/>
          </a:xfrm>
          <a:prstGeom prst="rect">
            <a:avLst/>
          </a:prstGeom>
          <a:noFill/>
        </p:spPr>
        <p:txBody>
          <a:bodyPr wrap="square" lIns="25400" tIns="12700" rIns="25400" bIns="12700">
            <a:spAutoFit/>
          </a:bodyPr>
          <a:lstStyle/>
          <a:p>
            <a:r>
              <a:rPr lang="en-US" sz="2400" b="1" dirty="0">
                <a:solidFill>
                  <a:srgbClr val="102A4C"/>
                </a:solidFill>
                <a:latin typeface="Segoe UI"/>
              </a:rPr>
              <a:t>Use Case 1: Lower over-procurement exposure on a declining demand pattern</a:t>
            </a:r>
          </a:p>
        </p:txBody>
      </p:sp>
      <p:sp>
        <p:nvSpPr>
          <p:cNvPr id="4" name="TextBox 3"/>
          <p:cNvSpPr txBox="1"/>
          <p:nvPr/>
        </p:nvSpPr>
        <p:spPr>
          <a:xfrm>
            <a:off x="457200" y="777240"/>
            <a:ext cx="7850221" cy="202620"/>
          </a:xfrm>
          <a:prstGeom prst="rect">
            <a:avLst/>
          </a:prstGeom>
          <a:noFill/>
        </p:spPr>
        <p:txBody>
          <a:bodyPr wrap="square" lIns="25400" tIns="12700" rIns="25400" bIns="12700">
            <a:spAutoFit/>
          </a:bodyPr>
          <a:lstStyle/>
          <a:p>
            <a:pPr algn="l"/>
            <a:r>
              <a:rPr sz="1150" b="0" i="0">
                <a:solidFill>
                  <a:srgbClr val="5E6A75"/>
                </a:solidFill>
                <a:latin typeface="Segoe UI"/>
              </a:rPr>
              <a:t>Forecasting  NSN 5120-01-397-8469  ·  ADAPTER PLATE  ·  Red River Army Depot (W25H1R)  ·  Crit C  ·  8-week horizon</a:t>
            </a:r>
          </a:p>
        </p:txBody>
      </p:sp>
      <p:sp>
        <p:nvSpPr>
          <p:cNvPr id="5" name="TextBox 4"/>
          <p:cNvSpPr txBox="1"/>
          <p:nvPr/>
        </p:nvSpPr>
        <p:spPr>
          <a:xfrm>
            <a:off x="457200" y="1163297"/>
            <a:ext cx="11274552" cy="310896"/>
          </a:xfrm>
          <a:prstGeom prst="rect">
            <a:avLst/>
          </a:prstGeom>
          <a:noFill/>
        </p:spPr>
        <p:txBody>
          <a:bodyPr wrap="square" lIns="25400" tIns="12700" rIns="25400" bIns="12700">
            <a:spAutoFit/>
          </a:bodyPr>
          <a:lstStyle/>
          <a:p>
            <a:pPr algn="l"/>
            <a:r>
              <a:rPr sz="1200" b="0" i="1">
                <a:solidFill>
                  <a:srgbClr val="1F5E9C"/>
                </a:solidFill>
                <a:latin typeface="Segoe UI"/>
              </a:rPr>
              <a:t>Raw orders swing 1–63 and drift down — legacy’s band rides the spikes; EDM tracks the ~20/wk level and the decline.</a:t>
            </a:r>
          </a:p>
        </p:txBody>
      </p:sp>
      <p:sp>
        <p:nvSpPr>
          <p:cNvPr id="6" name="Rectangle 5"/>
          <p:cNvSpPr/>
          <p:nvPr/>
        </p:nvSpPr>
        <p:spPr>
          <a:xfrm>
            <a:off x="457200" y="1517904"/>
            <a:ext cx="5349240" cy="246888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609344"/>
            <a:ext cx="4983480" cy="274320"/>
          </a:xfrm>
          <a:prstGeom prst="rect">
            <a:avLst/>
          </a:prstGeom>
          <a:noFill/>
        </p:spPr>
        <p:txBody>
          <a:bodyPr wrap="square" lIns="25400" tIns="12700" rIns="25400" bIns="12700">
            <a:spAutoFit/>
          </a:bodyPr>
          <a:lstStyle/>
          <a:p>
            <a:pPr algn="l"/>
            <a:r>
              <a:rPr sz="1200" b="1" i="0">
                <a:solidFill>
                  <a:srgbClr val="B4262C"/>
                </a:solidFill>
                <a:latin typeface="Segoe UI"/>
              </a:rPr>
              <a:t>Legacy Monte-Carlo (simulated demand)</a:t>
            </a:r>
          </a:p>
        </p:txBody>
      </p:sp>
      <p:graphicFrame>
        <p:nvGraphicFramePr>
          <p:cNvPr id="8" name="Chart 7"/>
          <p:cNvGraphicFramePr>
            <a:graphicFrameLocks noGrp="1"/>
          </p:cNvGraphicFramePr>
          <p:nvPr/>
        </p:nvGraphicFramePr>
        <p:xfrm>
          <a:off x="548640" y="1929384"/>
          <a:ext cx="5120640" cy="1920240"/>
        </p:xfrm>
        <a:graphic>
          <a:graphicData uri="http://schemas.openxmlformats.org/drawingml/2006/chart">
            <c:chart xmlns:c="http://schemas.openxmlformats.org/drawingml/2006/chart" xmlns:r="http://schemas.openxmlformats.org/officeDocument/2006/relationships" r:id="rId3"/>
          </a:graphicData>
        </a:graphic>
      </p:graphicFrame>
      <p:sp>
        <p:nvSpPr>
          <p:cNvPr id="9" name="Rectangle 8"/>
          <p:cNvSpPr/>
          <p:nvPr/>
        </p:nvSpPr>
        <p:spPr>
          <a:xfrm>
            <a:off x="6080760" y="1517904"/>
            <a:ext cx="5349240" cy="246888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63640" y="1609344"/>
            <a:ext cx="4983480" cy="274320"/>
          </a:xfrm>
          <a:prstGeom prst="rect">
            <a:avLst/>
          </a:prstGeom>
          <a:noFill/>
        </p:spPr>
        <p:txBody>
          <a:bodyPr wrap="square" lIns="25400" tIns="12700" rIns="25400" bIns="12700">
            <a:spAutoFit/>
          </a:bodyPr>
          <a:lstStyle/>
          <a:p>
            <a:pPr algn="l"/>
            <a:r>
              <a:rPr sz="1200" b="1" i="0">
                <a:solidFill>
                  <a:srgbClr val="118484"/>
                </a:solidFill>
                <a:latin typeface="Segoe UI"/>
              </a:rPr>
              <a:t>EDM Vector Intelligence Monte-Carlo (simulated demand)</a:t>
            </a:r>
          </a:p>
        </p:txBody>
      </p:sp>
      <p:graphicFrame>
        <p:nvGraphicFramePr>
          <p:cNvPr id="11" name="Chart 10"/>
          <p:cNvGraphicFramePr>
            <a:graphicFrameLocks noGrp="1"/>
          </p:cNvGraphicFramePr>
          <p:nvPr/>
        </p:nvGraphicFramePr>
        <p:xfrm>
          <a:off x="6172200" y="1929384"/>
          <a:ext cx="5120640" cy="192024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2" name="Table 11"/>
          <p:cNvGraphicFramePr>
            <a:graphicFrameLocks noGrp="1"/>
          </p:cNvGraphicFramePr>
          <p:nvPr/>
        </p:nvGraphicFramePr>
        <p:xfrm>
          <a:off x="457200" y="4224528"/>
          <a:ext cx="6400800" cy="1463040"/>
        </p:xfrm>
        <a:graphic>
          <a:graphicData uri="http://schemas.openxmlformats.org/drawingml/2006/table">
            <a:tbl>
              <a:tblPr>
                <a:tableStyleId>{5C22544A-7EE6-4342-B048-85BDC9FD1C3A}</a:tableStyleId>
              </a:tblPr>
              <a:tblGrid>
                <a:gridCol w="237744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365760">
                <a:tc>
                  <a:txBody>
                    <a:bodyPr/>
                    <a:lstStyle/>
                    <a:p>
                      <a:pPr algn="l"/>
                      <a:r>
                        <a:rPr sz="1100" b="1">
                          <a:solidFill>
                            <a:srgbClr val="FFFFFF"/>
                          </a:solidFill>
                          <a:latin typeface="Segoe UI"/>
                        </a:rPr>
                        <a:t>Metric</a:t>
                      </a:r>
                    </a:p>
                  </a:txBody>
                  <a:tcPr marT="25400" marB="25400" anchor="ctr">
                    <a:solidFill>
                      <a:srgbClr val="102A4C"/>
                    </a:solidFill>
                  </a:tcPr>
                </a:tc>
                <a:tc>
                  <a:txBody>
                    <a:bodyPr/>
                    <a:lstStyle/>
                    <a:p>
                      <a:pPr algn="ctr"/>
                      <a:r>
                        <a:rPr sz="1100" b="1">
                          <a:solidFill>
                            <a:srgbClr val="FFFFFF"/>
                          </a:solidFill>
                          <a:latin typeface="Segoe UI"/>
                        </a:rPr>
                        <a:t>Legacy</a:t>
                      </a:r>
                    </a:p>
                  </a:txBody>
                  <a:tcPr marT="25400" marB="25400" anchor="ctr">
                    <a:solidFill>
                      <a:srgbClr val="102A4C"/>
                    </a:solidFill>
                  </a:tcPr>
                </a:tc>
                <a:tc>
                  <a:txBody>
                    <a:bodyPr/>
                    <a:lstStyle/>
                    <a:p>
                      <a:pPr algn="ctr"/>
                      <a:r>
                        <a:rPr sz="1100" b="1">
                          <a:solidFill>
                            <a:srgbClr val="FFFFFF"/>
                          </a:solidFill>
                          <a:latin typeface="Segoe UI"/>
                        </a:rPr>
                        <a:t>EDM VI</a:t>
                      </a:r>
                    </a:p>
                  </a:txBody>
                  <a:tcPr marT="25400" marB="25400" anchor="ctr">
                    <a:solidFill>
                      <a:srgbClr val="102A4C"/>
                    </a:solidFill>
                  </a:tcPr>
                </a:tc>
                <a:tc>
                  <a:txBody>
                    <a:bodyPr/>
                    <a:lstStyle/>
                    <a:p>
                      <a:pPr algn="ctr"/>
                      <a:r>
                        <a:rPr sz="1100" b="1">
                          <a:solidFill>
                            <a:srgbClr val="FFFFFF"/>
                          </a:solidFill>
                          <a:latin typeface="Segoe UI"/>
                        </a:rPr>
                        <a:t>Difference</a:t>
                      </a:r>
                    </a:p>
                  </a:txBody>
                  <a:tcPr marT="25400" marB="25400" anchor="ctr">
                    <a:solidFill>
                      <a:srgbClr val="102A4C"/>
                    </a:solidFill>
                  </a:tcPr>
                </a:tc>
                <a:extLst>
                  <a:ext uri="{0D108BD9-81ED-4DB2-BD59-A6C34878D82A}">
                    <a16:rowId xmlns:a16="http://schemas.microsoft.com/office/drawing/2014/main" val="10000"/>
                  </a:ext>
                </a:extLst>
              </a:tr>
              <a:tr h="365760">
                <a:tc>
                  <a:txBody>
                    <a:bodyPr/>
                    <a:lstStyle/>
                    <a:p>
                      <a:pPr algn="l"/>
                      <a:r>
                        <a:rPr sz="1100">
                          <a:solidFill>
                            <a:srgbClr val="1D2430"/>
                          </a:solidFill>
                          <a:latin typeface="Segoe UI"/>
                        </a:rPr>
                        <a:t>Routine (P50)</a:t>
                      </a:r>
                    </a:p>
                  </a:txBody>
                  <a:tcPr marT="25400" marB="25400" anchor="ctr">
                    <a:solidFill>
                      <a:srgbClr val="FFFFFF"/>
                    </a:solidFill>
                  </a:tcPr>
                </a:tc>
                <a:tc>
                  <a:txBody>
                    <a:bodyPr/>
                    <a:lstStyle/>
                    <a:p>
                      <a:r>
                        <a:rPr>
                          <a:latin typeface="Segoe UI"/>
                        </a:rPr>
                        <a:t>258</a:t>
                      </a:r>
                    </a:p>
                  </a:txBody>
                  <a:tcPr marT="25400" marB="25400" anchor="ctr">
                    <a:solidFill>
                      <a:srgbClr val="FFFFFF"/>
                    </a:solidFill>
                  </a:tcPr>
                </a:tc>
                <a:tc>
                  <a:txBody>
                    <a:bodyPr/>
                    <a:lstStyle/>
                    <a:p>
                      <a:r>
                        <a:rPr>
                          <a:latin typeface="Segoe UI"/>
                        </a:rPr>
                        <a:t>148</a:t>
                      </a:r>
                    </a:p>
                  </a:txBody>
                  <a:tcPr marT="25400" marB="25400" anchor="ctr">
                    <a:solidFill>
                      <a:srgbClr val="FFFFFF"/>
                    </a:solidFill>
                  </a:tcPr>
                </a:tc>
                <a:tc>
                  <a:txBody>
                    <a:bodyPr/>
                    <a:lstStyle/>
                    <a:p>
                      <a:r>
                        <a:rPr>
                          <a:latin typeface="Segoe UI"/>
                        </a:rPr>
                        <a:t>+110</a:t>
                      </a:r>
                    </a:p>
                  </a:txBody>
                  <a:tcPr marT="25400" marB="25400" anchor="ctr">
                    <a:solidFill>
                      <a:srgbClr val="FFFFFF"/>
                    </a:solidFill>
                  </a:tcPr>
                </a:tc>
                <a:extLst>
                  <a:ext uri="{0D108BD9-81ED-4DB2-BD59-A6C34878D82A}">
                    <a16:rowId xmlns:a16="http://schemas.microsoft.com/office/drawing/2014/main" val="10001"/>
                  </a:ext>
                </a:extLst>
              </a:tr>
              <a:tr h="365760">
                <a:tc>
                  <a:txBody>
                    <a:bodyPr/>
                    <a:lstStyle/>
                    <a:p>
                      <a:pPr algn="l"/>
                      <a:r>
                        <a:rPr sz="1100">
                          <a:solidFill>
                            <a:srgbClr val="1D2430"/>
                          </a:solidFill>
                          <a:latin typeface="Segoe UI"/>
                        </a:rPr>
                        <a:t>Critical (P90)</a:t>
                      </a:r>
                    </a:p>
                  </a:txBody>
                  <a:tcPr marT="25400" marB="25400" anchor="ctr">
                    <a:solidFill>
                      <a:srgbClr val="EBF0F8"/>
                    </a:solidFill>
                  </a:tcPr>
                </a:tc>
                <a:tc>
                  <a:txBody>
                    <a:bodyPr/>
                    <a:lstStyle/>
                    <a:p>
                      <a:r>
                        <a:rPr>
                          <a:latin typeface="Segoe UI"/>
                        </a:rPr>
                        <a:t>379</a:t>
                      </a:r>
                    </a:p>
                  </a:txBody>
                  <a:tcPr marT="25400" marB="25400" anchor="ctr">
                    <a:solidFill>
                      <a:srgbClr val="EBF0F8"/>
                    </a:solidFill>
                  </a:tcPr>
                </a:tc>
                <a:tc>
                  <a:txBody>
                    <a:bodyPr/>
                    <a:lstStyle/>
                    <a:p>
                      <a:r>
                        <a:rPr>
                          <a:latin typeface="Segoe UI"/>
                        </a:rPr>
                        <a:t>225</a:t>
                      </a:r>
                    </a:p>
                  </a:txBody>
                  <a:tcPr marT="25400" marB="25400" anchor="ctr">
                    <a:solidFill>
                      <a:srgbClr val="EBF0F8"/>
                    </a:solidFill>
                  </a:tcPr>
                </a:tc>
                <a:tc>
                  <a:txBody>
                    <a:bodyPr/>
                    <a:lstStyle/>
                    <a:p>
                      <a:r>
                        <a:rPr>
                          <a:latin typeface="Segoe UI"/>
                        </a:rPr>
                        <a:t>+154</a:t>
                      </a:r>
                    </a:p>
                  </a:txBody>
                  <a:tcPr marT="25400" marB="25400" anchor="ctr">
                    <a:solidFill>
                      <a:srgbClr val="EBF0F8"/>
                    </a:solidFill>
                  </a:tcPr>
                </a:tc>
                <a:extLst>
                  <a:ext uri="{0D108BD9-81ED-4DB2-BD59-A6C34878D82A}">
                    <a16:rowId xmlns:a16="http://schemas.microsoft.com/office/drawing/2014/main" val="10002"/>
                  </a:ext>
                </a:extLst>
              </a:tr>
              <a:tr h="365760">
                <a:tc>
                  <a:txBody>
                    <a:bodyPr/>
                    <a:lstStyle/>
                    <a:p>
                      <a:pPr algn="l"/>
                      <a:r>
                        <a:rPr sz="1100">
                          <a:solidFill>
                            <a:srgbClr val="1D2430"/>
                          </a:solidFill>
                          <a:latin typeface="Segoe UI"/>
                        </a:rPr>
                        <a:t>Mean</a:t>
                      </a:r>
                    </a:p>
                  </a:txBody>
                  <a:tcPr marT="25400" marB="25400" anchor="ctr">
                    <a:solidFill>
                      <a:srgbClr val="FFFFFF"/>
                    </a:solidFill>
                  </a:tcPr>
                </a:tc>
                <a:tc>
                  <a:txBody>
                    <a:bodyPr/>
                    <a:lstStyle/>
                    <a:p>
                      <a:r>
                        <a:rPr>
                          <a:latin typeface="Segoe UI"/>
                        </a:rPr>
                        <a:t>263</a:t>
                      </a:r>
                    </a:p>
                  </a:txBody>
                  <a:tcPr marT="25400" marB="25400" anchor="ctr">
                    <a:solidFill>
                      <a:srgbClr val="FFFFFF"/>
                    </a:solidFill>
                  </a:tcPr>
                </a:tc>
                <a:tc>
                  <a:txBody>
                    <a:bodyPr/>
                    <a:lstStyle/>
                    <a:p>
                      <a:r>
                        <a:rPr>
                          <a:latin typeface="Segoe UI"/>
                        </a:rPr>
                        <a:t>150</a:t>
                      </a:r>
                    </a:p>
                  </a:txBody>
                  <a:tcPr marT="25400" marB="25400" anchor="ctr">
                    <a:solidFill>
                      <a:srgbClr val="FFFFFF"/>
                    </a:solidFill>
                  </a:tcPr>
                </a:tc>
                <a:tc>
                  <a:txBody>
                    <a:bodyPr/>
                    <a:lstStyle/>
                    <a:p>
                      <a:r>
                        <a:rPr>
                          <a:latin typeface="Segoe UI"/>
                        </a:rPr>
                        <a:t>+113</a:t>
                      </a:r>
                    </a:p>
                  </a:txBody>
                  <a:tcPr marT="25400" marB="25400" anchor="ctr">
                    <a:solidFill>
                      <a:srgbClr val="FFFFFF"/>
                    </a:solidFill>
                  </a:tcPr>
                </a:tc>
                <a:extLst>
                  <a:ext uri="{0D108BD9-81ED-4DB2-BD59-A6C34878D82A}">
                    <a16:rowId xmlns:a16="http://schemas.microsoft.com/office/drawing/2014/main" val="10003"/>
                  </a:ext>
                </a:extLst>
              </a:tr>
            </a:tbl>
          </a:graphicData>
        </a:graphic>
      </p:graphicFrame>
      <p:sp>
        <p:nvSpPr>
          <p:cNvPr id="13" name="Rectangle 12"/>
          <p:cNvSpPr/>
          <p:nvPr/>
        </p:nvSpPr>
        <p:spPr>
          <a:xfrm>
            <a:off x="7178040" y="4224528"/>
            <a:ext cx="4553712" cy="1554480"/>
          </a:xfrm>
          <a:prstGeom prst="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52360" y="4370832"/>
            <a:ext cx="4005072" cy="640080"/>
          </a:xfrm>
          <a:prstGeom prst="rect">
            <a:avLst/>
          </a:prstGeom>
          <a:noFill/>
        </p:spPr>
        <p:txBody>
          <a:bodyPr wrap="square" lIns="25400" tIns="12700" rIns="25400" bIns="12700">
            <a:spAutoFit/>
          </a:bodyPr>
          <a:lstStyle/>
          <a:p>
            <a:pPr algn="l"/>
            <a:r>
              <a:rPr sz="3800" b="1" i="0" dirty="0">
                <a:solidFill>
                  <a:srgbClr val="F36C21"/>
                </a:solidFill>
                <a:latin typeface="Segoe UI"/>
              </a:rPr>
              <a:t>~$460K</a:t>
            </a:r>
          </a:p>
        </p:txBody>
      </p:sp>
      <p:sp>
        <p:nvSpPr>
          <p:cNvPr id="15" name="TextBox 14"/>
          <p:cNvSpPr txBox="1"/>
          <p:nvPr/>
        </p:nvSpPr>
        <p:spPr>
          <a:xfrm>
            <a:off x="7452360" y="5029200"/>
            <a:ext cx="4005072" cy="868680"/>
          </a:xfrm>
          <a:prstGeom prst="rect">
            <a:avLst/>
          </a:prstGeom>
          <a:noFill/>
        </p:spPr>
        <p:txBody>
          <a:bodyPr wrap="square" lIns="25400" tIns="12700" rIns="25400" bIns="12700">
            <a:spAutoFit/>
          </a:bodyPr>
          <a:lstStyle/>
          <a:p>
            <a:pPr algn="l"/>
            <a:r>
              <a:rPr sz="1150" b="0" i="0">
                <a:solidFill>
                  <a:srgbClr val="DCE6F4"/>
                </a:solidFill>
                <a:latin typeface="Segoe UI"/>
              </a:rPr>
              <a:t>avoided over-procurement on this item — 379 → 225 units at P90 (68% less over-order).</a:t>
            </a:r>
          </a:p>
        </p:txBody>
      </p:sp>
      <p:sp>
        <p:nvSpPr>
          <p:cNvPr id="16" name="TextBox 15"/>
          <p:cNvSpPr txBox="1"/>
          <p:nvPr/>
        </p:nvSpPr>
        <p:spPr>
          <a:xfrm>
            <a:off x="457200" y="5943600"/>
            <a:ext cx="11274552" cy="274320"/>
          </a:xfrm>
          <a:prstGeom prst="rect">
            <a:avLst/>
          </a:prstGeom>
          <a:noFill/>
        </p:spPr>
        <p:txBody>
          <a:bodyPr wrap="square" lIns="25400" tIns="12700" rIns="25400" bIns="12700">
            <a:spAutoFit/>
          </a:bodyPr>
          <a:lstStyle/>
          <a:p>
            <a:pPr algn="l"/>
            <a:r>
              <a:rPr sz="950" b="0" i="1">
                <a:solidFill>
                  <a:srgbClr val="5E6A75"/>
                </a:solidFill>
                <a:latin typeface="Segoe UI"/>
              </a:rPr>
              <a:t>Synthetic data.</a:t>
            </a:r>
          </a:p>
        </p:txBody>
      </p:sp>
      <p:sp>
        <p:nvSpPr>
          <p:cNvPr id="20" name="Rectangle 19">
            <a:extLst>
              <a:ext uri="{FF2B5EF4-FFF2-40B4-BE49-F238E27FC236}">
                <a16:creationId xmlns:a16="http://schemas.microsoft.com/office/drawing/2014/main" id="{194CD80F-38A9-9FBE-A03B-C8EEB6BB143D}"/>
              </a:ext>
            </a:extLst>
          </p:cNvPr>
          <p:cNvSpPr/>
          <p:nvPr/>
        </p:nvSpPr>
        <p:spPr>
          <a:xfrm>
            <a:off x="0" y="0"/>
            <a:ext cx="12191695" cy="146304"/>
          </a:xfrm>
          <a:prstGeom prst="rect">
            <a:avLst/>
          </a:prstGeom>
          <a:solidFill>
            <a:srgbClr val="0021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a:extLst>
              <a:ext uri="{FF2B5EF4-FFF2-40B4-BE49-F238E27FC236}">
                <a16:creationId xmlns:a16="http://schemas.microsoft.com/office/drawing/2014/main" id="{93C529D4-24C7-5ACD-942D-51411CDB62A9}"/>
              </a:ext>
            </a:extLst>
          </p:cNvPr>
          <p:cNvSpPr/>
          <p:nvPr/>
        </p:nvSpPr>
        <p:spPr>
          <a:xfrm>
            <a:off x="411480" y="6446520"/>
            <a:ext cx="11338560" cy="9144"/>
          </a:xfrm>
          <a:prstGeom prst="rect">
            <a:avLst/>
          </a:prstGeom>
          <a:solidFill>
            <a:srgbClr val="D2DA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 4">
            <a:extLst>
              <a:ext uri="{FF2B5EF4-FFF2-40B4-BE49-F238E27FC236}">
                <a16:creationId xmlns:a16="http://schemas.microsoft.com/office/drawing/2014/main" id="{909669AF-1904-F469-122E-506A6CCC1F05}"/>
              </a:ext>
            </a:extLst>
          </p:cNvPr>
          <p:cNvSpPr/>
          <p:nvPr/>
        </p:nvSpPr>
        <p:spPr>
          <a:xfrm>
            <a:off x="438912" y="6510528"/>
            <a:ext cx="80467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CONFIDENTIAL  |  22</a:t>
            </a:r>
            <a:r>
              <a:rPr kumimoji="0" lang="en-US" sz="800" b="0" i="0" u="none" strike="noStrike" kern="1200" cap="none" spc="0" normalizeH="0" baseline="30000" noProof="0" dirty="0">
                <a:ln>
                  <a:noFill/>
                </a:ln>
                <a:solidFill>
                  <a:srgbClr val="5B6470"/>
                </a:solidFill>
                <a:effectLst/>
                <a:uLnTx/>
                <a:uFillTx/>
                <a:latin typeface="Segoe UI"/>
                <a:ea typeface="Aptos" pitchFamily="34" charset="-122"/>
                <a:cs typeface="Aptos" pitchFamily="34" charset="-120"/>
              </a:rPr>
              <a:t>nd</a:t>
            </a: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 Century Technologies  |  DLA EDM Vector Intelligence</a:t>
            </a:r>
            <a:endParaRPr kumimoji="0" lang="en-US" sz="800" b="0" i="0" u="none" strike="noStrike" kern="1200" cap="none" spc="0" normalizeH="0" baseline="0" noProof="0" dirty="0">
              <a:ln>
                <a:noFill/>
              </a:ln>
              <a:solidFill>
                <a:prstClr val="black"/>
              </a:solidFill>
              <a:effectLst/>
              <a:uLnTx/>
              <a:uFillTx/>
              <a:ea typeface="+mn-ea"/>
              <a:cs typeface="+mn-cs"/>
            </a:endParaRPr>
          </a:p>
        </p:txBody>
      </p:sp>
      <p:sp>
        <p:nvSpPr>
          <p:cNvPr id="27" name="Text 6">
            <a:extLst>
              <a:ext uri="{FF2B5EF4-FFF2-40B4-BE49-F238E27FC236}">
                <a16:creationId xmlns:a16="http://schemas.microsoft.com/office/drawing/2014/main" id="{5EBA623F-9FEB-0752-26BF-DF4F832BB1D9}"/>
              </a:ext>
            </a:extLst>
          </p:cNvPr>
          <p:cNvSpPr/>
          <p:nvPr/>
        </p:nvSpPr>
        <p:spPr>
          <a:xfrm>
            <a:off x="11475720" y="6492240"/>
            <a:ext cx="320040" cy="20116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Segoe UI"/>
                <a:ea typeface="+mn-ea"/>
                <a:cs typeface="+mn-cs"/>
              </a:rPr>
              <a:t>9</a:t>
            </a:r>
          </a:p>
        </p:txBody>
      </p:sp>
      <p:sp>
        <p:nvSpPr>
          <p:cNvPr id="29" name="Rectangle 28">
            <a:extLst>
              <a:ext uri="{FF2B5EF4-FFF2-40B4-BE49-F238E27FC236}">
                <a16:creationId xmlns:a16="http://schemas.microsoft.com/office/drawing/2014/main" id="{CC4646AC-513F-C414-12D4-8DD74B3F7365}"/>
              </a:ext>
            </a:extLst>
          </p:cNvPr>
          <p:cNvSpPr/>
          <p:nvPr/>
        </p:nvSpPr>
        <p:spPr>
          <a:xfrm>
            <a:off x="502920" y="1120140"/>
            <a:ext cx="1106424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74552" cy="457200"/>
          </a:xfrm>
          <a:prstGeom prst="rect">
            <a:avLst/>
          </a:prstGeom>
          <a:noFill/>
        </p:spPr>
        <p:txBody>
          <a:bodyPr wrap="square" lIns="25400" tIns="12700" rIns="25400" bIns="12700">
            <a:spAutoFit/>
          </a:bodyPr>
          <a:lstStyle/>
          <a:p>
            <a:r>
              <a:rPr sz="2100" b="1" i="0">
                <a:solidFill>
                  <a:srgbClr val="102A4C"/>
                </a:solidFill>
                <a:latin typeface="Segoe UI"/>
              </a:rPr>
              <a:t>Use Case 2: Non-linear demand — EDM tracks the level legacy over-projects</a:t>
            </a:r>
          </a:p>
        </p:txBody>
      </p:sp>
      <p:sp>
        <p:nvSpPr>
          <p:cNvPr id="3" name="TextBox 2"/>
          <p:cNvSpPr txBox="1"/>
          <p:nvPr/>
        </p:nvSpPr>
        <p:spPr>
          <a:xfrm>
            <a:off x="457200" y="768096"/>
            <a:ext cx="11274552" cy="274320"/>
          </a:xfrm>
          <a:prstGeom prst="rect">
            <a:avLst/>
          </a:prstGeom>
          <a:noFill/>
        </p:spPr>
        <p:txBody>
          <a:bodyPr wrap="square" lIns="25400" tIns="12700" rIns="25400" bIns="12700">
            <a:spAutoFit/>
          </a:bodyPr>
          <a:lstStyle/>
          <a:p>
            <a:r>
              <a:rPr sz="1200" b="0" i="0">
                <a:solidFill>
                  <a:srgbClr val="5E6A75"/>
                </a:solidFill>
                <a:latin typeface="Segoe UI"/>
              </a:rPr>
              <a:t>NSN 5310-01-184-1505 · BALLISTIC PANEL · Yokosuka Supply Depot (W62G2T) · Crit A · 8-week held-out window · origin 2026-01-19</a:t>
            </a:r>
          </a:p>
        </p:txBody>
      </p:sp>
      <p:sp>
        <p:nvSpPr>
          <p:cNvPr id="4" name="Rectangle 3"/>
          <p:cNvSpPr/>
          <p:nvPr/>
        </p:nvSpPr>
        <p:spPr>
          <a:xfrm>
            <a:off x="457200" y="1097280"/>
            <a:ext cx="11274552" cy="292608"/>
          </a:xfrm>
          <a:prstGeom prst="rect">
            <a:avLst/>
          </a:prstGeom>
          <a:solidFill>
            <a:srgbClr val="EBF0F8"/>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124712"/>
            <a:ext cx="10972800" cy="246888"/>
          </a:xfrm>
          <a:prstGeom prst="rect">
            <a:avLst/>
          </a:prstGeom>
          <a:noFill/>
        </p:spPr>
        <p:txBody>
          <a:bodyPr wrap="square" lIns="25400" tIns="12700" rIns="25400" bIns="12700">
            <a:spAutoFit/>
          </a:bodyPr>
          <a:lstStyle/>
          <a:p>
            <a:r>
              <a:rPr sz="900" b="0" i="0">
                <a:solidFill>
                  <a:srgbClr val="1D2430"/>
                </a:solidFill>
                <a:latin typeface="Segoe UI"/>
              </a:rPr>
              <a:t>Recent weekly demand:    424    446    273    385    560    553    448    192    2    455    341    127</a:t>
            </a:r>
          </a:p>
        </p:txBody>
      </p:sp>
      <p:sp>
        <p:nvSpPr>
          <p:cNvPr id="6" name="TextBox 5"/>
          <p:cNvSpPr txBox="1"/>
          <p:nvPr/>
        </p:nvSpPr>
        <p:spPr>
          <a:xfrm>
            <a:off x="457200" y="1444752"/>
            <a:ext cx="11274552" cy="548640"/>
          </a:xfrm>
          <a:prstGeom prst="rect">
            <a:avLst/>
          </a:prstGeom>
          <a:noFill/>
        </p:spPr>
        <p:txBody>
          <a:bodyPr wrap="square" lIns="25400" tIns="12700" rIns="25400" bIns="12700">
            <a:spAutoFit/>
          </a:bodyPr>
          <a:lstStyle/>
          <a:p>
            <a:r>
              <a:rPr sz="1100" b="0" i="1">
                <a:solidFill>
                  <a:srgbClr val="1F5E9C"/>
                </a:solidFill>
                <a:latin typeface="Segoe UI"/>
              </a:rPr>
              <a:t>Demand swings non-linearly (2 to 560/wk). Legacy's linear band over-projects the spikes to 2,798 over 8 weeks; EDM tracks the level at 1,664, closest to the actual 2,160 — the lowest held-out error (WAPE 0.33 vs 0.69).</a:t>
            </a:r>
          </a:p>
        </p:txBody>
      </p:sp>
      <p:sp>
        <p:nvSpPr>
          <p:cNvPr id="7" name="Rectangle 6"/>
          <p:cNvSpPr/>
          <p:nvPr/>
        </p:nvSpPr>
        <p:spPr>
          <a:xfrm>
            <a:off x="457200" y="2057400"/>
            <a:ext cx="7589520" cy="246888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2103120"/>
            <a:ext cx="7223760" cy="256032"/>
          </a:xfrm>
          <a:prstGeom prst="rect">
            <a:avLst/>
          </a:prstGeom>
          <a:noFill/>
        </p:spPr>
        <p:txBody>
          <a:bodyPr wrap="square" lIns="25400" tIns="12700" rIns="25400" bIns="12700">
            <a:spAutoFit/>
          </a:bodyPr>
          <a:lstStyle/>
          <a:p>
            <a:r>
              <a:rPr sz="1150" b="1" i="0">
                <a:solidFill>
                  <a:srgbClr val="102A4C"/>
                </a:solidFill>
                <a:latin typeface="Segoe UI"/>
              </a:rPr>
              <a:t>Cumulative demand over the held-out 8 weeks — forecasts vs actual</a:t>
            </a:r>
          </a:p>
        </p:txBody>
      </p:sp>
      <p:graphicFrame>
        <p:nvGraphicFramePr>
          <p:cNvPr id="9" name="Chart 8"/>
          <p:cNvGraphicFramePr>
            <a:graphicFrameLocks noGrp="1"/>
          </p:cNvGraphicFramePr>
          <p:nvPr/>
        </p:nvGraphicFramePr>
        <p:xfrm>
          <a:off x="594360" y="2395728"/>
          <a:ext cx="7315200" cy="20574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Table 9"/>
          <p:cNvGraphicFramePr>
            <a:graphicFrameLocks noGrp="1"/>
          </p:cNvGraphicFramePr>
          <p:nvPr/>
        </p:nvGraphicFramePr>
        <p:xfrm>
          <a:off x="8229600" y="2194560"/>
          <a:ext cx="3502152" cy="173736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941832">
                  <a:extLst>
                    <a:ext uri="{9D8B030D-6E8A-4147-A177-3AD203B41FA5}">
                      <a16:colId xmlns:a16="http://schemas.microsoft.com/office/drawing/2014/main" val="20002"/>
                    </a:ext>
                  </a:extLst>
                </a:gridCol>
              </a:tblGrid>
              <a:tr h="434340">
                <a:tc>
                  <a:txBody>
                    <a:bodyPr/>
                    <a:lstStyle/>
                    <a:p>
                      <a:r>
                        <a:rPr sz="1050" b="1">
                          <a:solidFill>
                            <a:srgbClr val="FFFFFF"/>
                          </a:solidFill>
                          <a:latin typeface="Segoe UI"/>
                        </a:rPr>
                        <a:t>Metric</a:t>
                      </a:r>
                    </a:p>
                  </a:txBody>
                  <a:tcPr>
                    <a:solidFill>
                      <a:srgbClr val="102A4C"/>
                    </a:solidFill>
                  </a:tcPr>
                </a:tc>
                <a:tc>
                  <a:txBody>
                    <a:bodyPr/>
                    <a:lstStyle/>
                    <a:p>
                      <a:r>
                        <a:rPr sz="1050" b="1">
                          <a:solidFill>
                            <a:srgbClr val="FFFFFF"/>
                          </a:solidFill>
                          <a:latin typeface="Segoe UI"/>
                        </a:rPr>
                        <a:t>Legacy</a:t>
                      </a:r>
                    </a:p>
                  </a:txBody>
                  <a:tcPr>
                    <a:solidFill>
                      <a:srgbClr val="102A4C"/>
                    </a:solidFill>
                  </a:tcPr>
                </a:tc>
                <a:tc>
                  <a:txBody>
                    <a:bodyPr/>
                    <a:lstStyle/>
                    <a:p>
                      <a:r>
                        <a:rPr sz="1050" b="1">
                          <a:solidFill>
                            <a:srgbClr val="FFFFFF"/>
                          </a:solidFill>
                          <a:latin typeface="Segoe UI"/>
                        </a:rPr>
                        <a:t>EDM</a:t>
                      </a:r>
                    </a:p>
                  </a:txBody>
                  <a:tcPr>
                    <a:solidFill>
                      <a:srgbClr val="102A4C"/>
                    </a:solidFill>
                  </a:tcPr>
                </a:tc>
                <a:extLst>
                  <a:ext uri="{0D108BD9-81ED-4DB2-BD59-A6C34878D82A}">
                    <a16:rowId xmlns:a16="http://schemas.microsoft.com/office/drawing/2014/main" val="10000"/>
                  </a:ext>
                </a:extLst>
              </a:tr>
              <a:tr h="434340">
                <a:tc>
                  <a:txBody>
                    <a:bodyPr/>
                    <a:lstStyle/>
                    <a:p>
                      <a:r>
                        <a:rPr sz="1050" b="0">
                          <a:solidFill>
                            <a:srgbClr val="1D2430"/>
                          </a:solidFill>
                          <a:latin typeface="Segoe UI"/>
                        </a:rPr>
                        <a:t>8-wk forecast</a:t>
                      </a:r>
                    </a:p>
                  </a:txBody>
                  <a:tcPr>
                    <a:solidFill>
                      <a:srgbClr val="FFFFFF"/>
                    </a:solidFill>
                  </a:tcPr>
                </a:tc>
                <a:tc>
                  <a:txBody>
                    <a:bodyPr/>
                    <a:lstStyle/>
                    <a:p>
                      <a:r>
                        <a:rPr sz="1050" b="0">
                          <a:solidFill>
                            <a:srgbClr val="1D2430"/>
                          </a:solidFill>
                          <a:latin typeface="Segoe UI"/>
                        </a:rPr>
                        <a:t>2,798</a:t>
                      </a:r>
                    </a:p>
                  </a:txBody>
                  <a:tcPr>
                    <a:solidFill>
                      <a:srgbClr val="FFFFFF"/>
                    </a:solidFill>
                  </a:tcPr>
                </a:tc>
                <a:tc>
                  <a:txBody>
                    <a:bodyPr/>
                    <a:lstStyle/>
                    <a:p>
                      <a:r>
                        <a:rPr sz="1050" b="1">
                          <a:solidFill>
                            <a:srgbClr val="1A724E"/>
                          </a:solidFill>
                          <a:latin typeface="Segoe UI"/>
                        </a:rPr>
                        <a:t>1,664</a:t>
                      </a:r>
                    </a:p>
                  </a:txBody>
                  <a:tcPr>
                    <a:solidFill>
                      <a:srgbClr val="E6F4EA"/>
                    </a:solidFill>
                  </a:tcPr>
                </a:tc>
                <a:extLst>
                  <a:ext uri="{0D108BD9-81ED-4DB2-BD59-A6C34878D82A}">
                    <a16:rowId xmlns:a16="http://schemas.microsoft.com/office/drawing/2014/main" val="10001"/>
                  </a:ext>
                </a:extLst>
              </a:tr>
              <a:tr h="434340">
                <a:tc>
                  <a:txBody>
                    <a:bodyPr/>
                    <a:lstStyle/>
                    <a:p>
                      <a:r>
                        <a:rPr sz="1050" b="0">
                          <a:solidFill>
                            <a:srgbClr val="1D2430"/>
                          </a:solidFill>
                          <a:latin typeface="Segoe UI"/>
                        </a:rPr>
                        <a:t>Actual</a:t>
                      </a:r>
                    </a:p>
                  </a:txBody>
                  <a:tcPr>
                    <a:solidFill>
                      <a:srgbClr val="EBF0F8"/>
                    </a:solidFill>
                  </a:tcPr>
                </a:tc>
                <a:tc>
                  <a:txBody>
                    <a:bodyPr/>
                    <a:lstStyle/>
                    <a:p>
                      <a:r>
                        <a:rPr sz="1050" b="0">
                          <a:solidFill>
                            <a:srgbClr val="1D2430"/>
                          </a:solidFill>
                          <a:latin typeface="Segoe UI"/>
                        </a:rPr>
                        <a:t>2,160</a:t>
                      </a:r>
                    </a:p>
                  </a:txBody>
                  <a:tcPr>
                    <a:solidFill>
                      <a:srgbClr val="EBF0F8"/>
                    </a:solidFill>
                  </a:tcPr>
                </a:tc>
                <a:tc>
                  <a:txBody>
                    <a:bodyPr/>
                    <a:lstStyle/>
                    <a:p>
                      <a:r>
                        <a:rPr sz="1050" b="1">
                          <a:solidFill>
                            <a:srgbClr val="1A724E"/>
                          </a:solidFill>
                          <a:latin typeface="Segoe UI"/>
                        </a:rPr>
                        <a:t>2,160</a:t>
                      </a:r>
                    </a:p>
                  </a:txBody>
                  <a:tcPr>
                    <a:solidFill>
                      <a:srgbClr val="E6F4EA"/>
                    </a:solidFill>
                  </a:tcPr>
                </a:tc>
                <a:extLst>
                  <a:ext uri="{0D108BD9-81ED-4DB2-BD59-A6C34878D82A}">
                    <a16:rowId xmlns:a16="http://schemas.microsoft.com/office/drawing/2014/main" val="10002"/>
                  </a:ext>
                </a:extLst>
              </a:tr>
              <a:tr h="434340">
                <a:tc>
                  <a:txBody>
                    <a:bodyPr/>
                    <a:lstStyle/>
                    <a:p>
                      <a:r>
                        <a:rPr sz="1050" b="0">
                          <a:solidFill>
                            <a:srgbClr val="1D2430"/>
                          </a:solidFill>
                          <a:latin typeface="Segoe UI"/>
                        </a:rPr>
                        <a:t>Held-out WAPE</a:t>
                      </a:r>
                    </a:p>
                  </a:txBody>
                  <a:tcPr>
                    <a:solidFill>
                      <a:srgbClr val="FFFFFF"/>
                    </a:solidFill>
                  </a:tcPr>
                </a:tc>
                <a:tc>
                  <a:txBody>
                    <a:bodyPr/>
                    <a:lstStyle/>
                    <a:p>
                      <a:r>
                        <a:rPr sz="1050" b="0">
                          <a:solidFill>
                            <a:srgbClr val="1D2430"/>
                          </a:solidFill>
                          <a:latin typeface="Segoe UI"/>
                        </a:rPr>
                        <a:t>0.69</a:t>
                      </a:r>
                    </a:p>
                  </a:txBody>
                  <a:tcPr>
                    <a:solidFill>
                      <a:srgbClr val="FFFFFF"/>
                    </a:solidFill>
                  </a:tcPr>
                </a:tc>
                <a:tc>
                  <a:txBody>
                    <a:bodyPr/>
                    <a:lstStyle/>
                    <a:p>
                      <a:r>
                        <a:rPr sz="1050" b="1">
                          <a:solidFill>
                            <a:srgbClr val="1A724E"/>
                          </a:solidFill>
                          <a:latin typeface="Segoe UI"/>
                        </a:rPr>
                        <a:t>0.33</a:t>
                      </a:r>
                    </a:p>
                  </a:txBody>
                  <a:tcPr>
                    <a:solidFill>
                      <a:srgbClr val="E6F4EA"/>
                    </a:solidFill>
                  </a:tcPr>
                </a:tc>
                <a:extLst>
                  <a:ext uri="{0D108BD9-81ED-4DB2-BD59-A6C34878D82A}">
                    <a16:rowId xmlns:a16="http://schemas.microsoft.com/office/drawing/2014/main" val="10003"/>
                  </a:ext>
                </a:extLst>
              </a:tr>
            </a:tbl>
          </a:graphicData>
        </a:graphic>
      </p:graphicFrame>
      <p:sp>
        <p:nvSpPr>
          <p:cNvPr id="11" name="Rectangle 10"/>
          <p:cNvSpPr/>
          <p:nvPr/>
        </p:nvSpPr>
        <p:spPr>
          <a:xfrm>
            <a:off x="8229600" y="4069080"/>
            <a:ext cx="3502152" cy="457200"/>
          </a:xfrm>
          <a:prstGeom prst="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12480" y="4133087"/>
            <a:ext cx="3200400" cy="365760"/>
          </a:xfrm>
          <a:prstGeom prst="rect">
            <a:avLst/>
          </a:prstGeom>
          <a:noFill/>
        </p:spPr>
        <p:txBody>
          <a:bodyPr wrap="square" lIns="25400" tIns="12700" rIns="25400" bIns="12700">
            <a:spAutoFit/>
          </a:bodyPr>
          <a:lstStyle/>
          <a:p>
            <a:r>
              <a:rPr sz="1200" b="1" i="0">
                <a:solidFill>
                  <a:srgbClr val="F36C21"/>
                </a:solidFill>
                <a:latin typeface="Segoe UI"/>
              </a:rPr>
              <a:t>EDM lowest error (WAPE 0.33)</a:t>
            </a:r>
          </a:p>
        </p:txBody>
      </p:sp>
      <p:sp>
        <p:nvSpPr>
          <p:cNvPr id="13" name="TextBox 12"/>
          <p:cNvSpPr txBox="1"/>
          <p:nvPr/>
        </p:nvSpPr>
        <p:spPr>
          <a:xfrm>
            <a:off x="457200" y="4617720"/>
            <a:ext cx="11274552" cy="365760"/>
          </a:xfrm>
          <a:prstGeom prst="rect">
            <a:avLst/>
          </a:prstGeom>
          <a:noFill/>
        </p:spPr>
        <p:txBody>
          <a:bodyPr wrap="square" lIns="25400" tIns="12700" rIns="25400" bIns="12700">
            <a:spAutoFit/>
          </a:bodyPr>
          <a:lstStyle/>
          <a:p>
            <a:r>
              <a:rPr sz="900" b="0" i="0">
                <a:solidFill>
                  <a:srgbClr val="5E6A75"/>
                </a:solidFill>
                <a:latin typeface="Segoe UI"/>
              </a:rPr>
              <a:t>Cumulative demand over the held-out 8 weeks; navy = actual. EDM under-shoots this window (1,664 vs 2,160) but has the lowest error. Synthetic data.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74552" cy="457200"/>
          </a:xfrm>
          <a:prstGeom prst="rect">
            <a:avLst/>
          </a:prstGeom>
          <a:noFill/>
        </p:spPr>
        <p:txBody>
          <a:bodyPr wrap="square" lIns="25400" tIns="12700" rIns="25400" bIns="12700">
            <a:spAutoFit/>
          </a:bodyPr>
          <a:lstStyle/>
          <a:p>
            <a:r>
              <a:rPr sz="2400" b="1" i="0">
                <a:solidFill>
                  <a:srgbClr val="102A4C"/>
                </a:solidFill>
                <a:latin typeface="Segoe UI"/>
              </a:rPr>
              <a:t>Demand forecast — benchmarked across algorithms</a:t>
            </a:r>
          </a:p>
        </p:txBody>
      </p:sp>
      <p:sp>
        <p:nvSpPr>
          <p:cNvPr id="3" name="TextBox 2"/>
          <p:cNvSpPr txBox="1"/>
          <p:nvPr/>
        </p:nvSpPr>
        <p:spPr>
          <a:xfrm>
            <a:off x="457200" y="822960"/>
            <a:ext cx="11274552" cy="365760"/>
          </a:xfrm>
          <a:prstGeom prst="rect">
            <a:avLst/>
          </a:prstGeom>
          <a:noFill/>
        </p:spPr>
        <p:txBody>
          <a:bodyPr wrap="square" lIns="25400" tIns="12700" rIns="25400" bIns="12700">
            <a:spAutoFit/>
          </a:bodyPr>
          <a:lstStyle/>
          <a:p>
            <a:r>
              <a:rPr sz="1200" b="0" i="0">
                <a:solidFill>
                  <a:srgbClr val="5E6A75"/>
                </a:solidFill>
                <a:latin typeface="Segoe UI"/>
              </a:rPr>
              <a:t>Same data, three algorithms. The last 8 weeks were hidden; each forecast them blind; results compared to actual demand. TRACK SHOE at Yokosuka, origin 2026-01-19.</a:t>
            </a:r>
          </a:p>
        </p:txBody>
      </p:sp>
      <p:sp>
        <p:nvSpPr>
          <p:cNvPr id="4" name="Rectangle 3"/>
          <p:cNvSpPr/>
          <p:nvPr/>
        </p:nvSpPr>
        <p:spPr>
          <a:xfrm>
            <a:off x="457200" y="1325880"/>
            <a:ext cx="11274552" cy="269748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371600"/>
            <a:ext cx="10881360" cy="256032"/>
          </a:xfrm>
          <a:prstGeom prst="rect">
            <a:avLst/>
          </a:prstGeom>
          <a:noFill/>
        </p:spPr>
        <p:txBody>
          <a:bodyPr wrap="square" lIns="25400" tIns="12700" rIns="25400" bIns="12700">
            <a:spAutoFit/>
          </a:bodyPr>
          <a:lstStyle/>
          <a:p>
            <a:r>
              <a:rPr sz="1200" b="1" i="0">
                <a:solidFill>
                  <a:srgbClr val="102A4C"/>
                </a:solidFill>
                <a:latin typeface="Segoe UI"/>
              </a:rPr>
              <a:t>Cumulative demand over the held-out 8 weeks — forecasts vs actual</a:t>
            </a:r>
          </a:p>
        </p:txBody>
      </p:sp>
      <p:graphicFrame>
        <p:nvGraphicFramePr>
          <p:cNvPr id="6" name="Chart 5"/>
          <p:cNvGraphicFramePr>
            <a:graphicFrameLocks noGrp="1"/>
          </p:cNvGraphicFramePr>
          <p:nvPr/>
        </p:nvGraphicFramePr>
        <p:xfrm>
          <a:off x="594360" y="1645920"/>
          <a:ext cx="10972800" cy="2286000"/>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p:cNvSpPr txBox="1"/>
          <p:nvPr/>
        </p:nvSpPr>
        <p:spPr>
          <a:xfrm>
            <a:off x="457200" y="4114800"/>
            <a:ext cx="7772400" cy="237744"/>
          </a:xfrm>
          <a:prstGeom prst="rect">
            <a:avLst/>
          </a:prstGeom>
          <a:noFill/>
        </p:spPr>
        <p:txBody>
          <a:bodyPr wrap="square" lIns="25400" tIns="12700" rIns="25400" bIns="12700">
            <a:spAutoFit/>
          </a:bodyPr>
          <a:lstStyle/>
          <a:p>
            <a:r>
              <a:rPr sz="1150" b="1" i="0">
                <a:solidFill>
                  <a:srgbClr val="102A4C"/>
                </a:solidFill>
                <a:latin typeface="Segoe UI"/>
              </a:rPr>
              <a:t>Actual demand over the held-out 8 weeks: 627 units</a:t>
            </a:r>
          </a:p>
        </p:txBody>
      </p:sp>
      <p:graphicFrame>
        <p:nvGraphicFramePr>
          <p:cNvPr id="8" name="Table 7"/>
          <p:cNvGraphicFramePr>
            <a:graphicFrameLocks noGrp="1"/>
          </p:cNvGraphicFramePr>
          <p:nvPr/>
        </p:nvGraphicFramePr>
        <p:xfrm>
          <a:off x="457200" y="4389120"/>
          <a:ext cx="7772400" cy="1371600"/>
        </p:xfrm>
        <a:graphic>
          <a:graphicData uri="http://schemas.openxmlformats.org/drawingml/2006/table">
            <a:tbl>
              <a:tblPr firstRow="1" bandRow="1">
                <a:tableStyleId>{5C22544A-7EE6-4342-B048-85BDC9FD1C3A}</a:tableStyleId>
              </a:tblPr>
              <a:tblGrid>
                <a:gridCol w="155448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342900">
                <a:tc>
                  <a:txBody>
                    <a:bodyPr/>
                    <a:lstStyle/>
                    <a:p>
                      <a:r>
                        <a:rPr sz="1050" b="1">
                          <a:solidFill>
                            <a:srgbClr val="FFFFFF"/>
                          </a:solidFill>
                          <a:latin typeface="Segoe UI"/>
                        </a:rPr>
                        <a:t>Algorithm</a:t>
                      </a:r>
                    </a:p>
                  </a:txBody>
                  <a:tcPr>
                    <a:solidFill>
                      <a:srgbClr val="102A4C"/>
                    </a:solidFill>
                  </a:tcPr>
                </a:tc>
                <a:tc>
                  <a:txBody>
                    <a:bodyPr/>
                    <a:lstStyle/>
                    <a:p>
                      <a:r>
                        <a:rPr sz="1050" b="1">
                          <a:solidFill>
                            <a:srgbClr val="FFFFFF"/>
                          </a:solidFill>
                          <a:latin typeface="Segoe UI"/>
                        </a:rPr>
                        <a:t>What it is</a:t>
                      </a:r>
                    </a:p>
                  </a:txBody>
                  <a:tcPr>
                    <a:solidFill>
                      <a:srgbClr val="102A4C"/>
                    </a:solidFill>
                  </a:tcPr>
                </a:tc>
                <a:tc>
                  <a:txBody>
                    <a:bodyPr/>
                    <a:lstStyle/>
                    <a:p>
                      <a:r>
                        <a:rPr sz="1050" b="1">
                          <a:solidFill>
                            <a:srgbClr val="FFFFFF"/>
                          </a:solidFill>
                          <a:latin typeface="Segoe UI"/>
                        </a:rPr>
                        <a:t>8-wk forecast</a:t>
                      </a:r>
                    </a:p>
                  </a:txBody>
                  <a:tcPr>
                    <a:solidFill>
                      <a:srgbClr val="102A4C"/>
                    </a:solidFill>
                  </a:tcPr>
                </a:tc>
                <a:tc>
                  <a:txBody>
                    <a:bodyPr/>
                    <a:lstStyle/>
                    <a:p>
                      <a:r>
                        <a:rPr sz="1050" b="1">
                          <a:solidFill>
                            <a:srgbClr val="FFFFFF"/>
                          </a:solidFill>
                          <a:latin typeface="Segoe UI"/>
                        </a:rPr>
                        <a:t>Held-out WAPE</a:t>
                      </a:r>
                    </a:p>
                  </a:txBody>
                  <a:tcPr>
                    <a:solidFill>
                      <a:srgbClr val="102A4C"/>
                    </a:solidFill>
                  </a:tcPr>
                </a:tc>
                <a:extLst>
                  <a:ext uri="{0D108BD9-81ED-4DB2-BD59-A6C34878D82A}">
                    <a16:rowId xmlns:a16="http://schemas.microsoft.com/office/drawing/2014/main" val="10000"/>
                  </a:ext>
                </a:extLst>
              </a:tr>
              <a:tr h="342900">
                <a:tc>
                  <a:txBody>
                    <a:bodyPr/>
                    <a:lstStyle/>
                    <a:p>
                      <a:r>
                        <a:rPr sz="1050" b="0">
                          <a:solidFill>
                            <a:srgbClr val="1D2430"/>
                          </a:solidFill>
                          <a:latin typeface="Segoe UI"/>
                        </a:rPr>
                        <a:t>Legacy</a:t>
                      </a:r>
                    </a:p>
                  </a:txBody>
                  <a:tcPr>
                    <a:solidFill>
                      <a:srgbClr val="FFFFFF"/>
                    </a:solidFill>
                  </a:tcPr>
                </a:tc>
                <a:tc>
                  <a:txBody>
                    <a:bodyPr/>
                    <a:lstStyle/>
                    <a:p>
                      <a:r>
                        <a:rPr sz="1050" b="0">
                          <a:solidFill>
                            <a:srgbClr val="1D2430"/>
                          </a:solidFill>
                          <a:latin typeface="Segoe UI"/>
                        </a:rPr>
                        <a:t>Moving average + trend</a:t>
                      </a:r>
                    </a:p>
                  </a:txBody>
                  <a:tcPr>
                    <a:solidFill>
                      <a:srgbClr val="FFFFFF"/>
                    </a:solidFill>
                  </a:tcPr>
                </a:tc>
                <a:tc>
                  <a:txBody>
                    <a:bodyPr/>
                    <a:lstStyle/>
                    <a:p>
                      <a:r>
                        <a:rPr sz="1050" b="0">
                          <a:solidFill>
                            <a:srgbClr val="1D2430"/>
                          </a:solidFill>
                          <a:latin typeface="Segoe UI"/>
                        </a:rPr>
                        <a:t>930 units</a:t>
                      </a:r>
                    </a:p>
                  </a:txBody>
                  <a:tcPr>
                    <a:solidFill>
                      <a:srgbClr val="FFFFFF"/>
                    </a:solidFill>
                  </a:tcPr>
                </a:tc>
                <a:tc>
                  <a:txBody>
                    <a:bodyPr/>
                    <a:lstStyle/>
                    <a:p>
                      <a:r>
                        <a:rPr sz="1050" b="0">
                          <a:solidFill>
                            <a:srgbClr val="1D2430"/>
                          </a:solidFill>
                          <a:latin typeface="Segoe UI"/>
                        </a:rPr>
                        <a:t>0.95</a:t>
                      </a:r>
                    </a:p>
                  </a:txBody>
                  <a:tcPr>
                    <a:solidFill>
                      <a:srgbClr val="FFFFFF"/>
                    </a:solidFill>
                  </a:tcPr>
                </a:tc>
                <a:extLst>
                  <a:ext uri="{0D108BD9-81ED-4DB2-BD59-A6C34878D82A}">
                    <a16:rowId xmlns:a16="http://schemas.microsoft.com/office/drawing/2014/main" val="10001"/>
                  </a:ext>
                </a:extLst>
              </a:tr>
              <a:tr h="342900">
                <a:tc>
                  <a:txBody>
                    <a:bodyPr/>
                    <a:lstStyle/>
                    <a:p>
                      <a:r>
                        <a:rPr sz="1050" b="0">
                          <a:solidFill>
                            <a:srgbClr val="1D2430"/>
                          </a:solidFill>
                          <a:latin typeface="Segoe UI"/>
                        </a:rPr>
                        <a:t>Time-Series</a:t>
                      </a:r>
                    </a:p>
                  </a:txBody>
                  <a:tcPr>
                    <a:solidFill>
                      <a:srgbClr val="EBF0F8"/>
                    </a:solidFill>
                  </a:tcPr>
                </a:tc>
                <a:tc>
                  <a:txBody>
                    <a:bodyPr/>
                    <a:lstStyle/>
                    <a:p>
                      <a:r>
                        <a:rPr sz="1050" b="0">
                          <a:solidFill>
                            <a:srgbClr val="1D2430"/>
                          </a:solidFill>
                          <a:latin typeface="Segoe UI"/>
                        </a:rPr>
                        <a:t>Chronos-Bolt foundation model</a:t>
                      </a:r>
                    </a:p>
                  </a:txBody>
                  <a:tcPr>
                    <a:solidFill>
                      <a:srgbClr val="EBF0F8"/>
                    </a:solidFill>
                  </a:tcPr>
                </a:tc>
                <a:tc>
                  <a:txBody>
                    <a:bodyPr/>
                    <a:lstStyle/>
                    <a:p>
                      <a:r>
                        <a:rPr sz="1050" b="0">
                          <a:solidFill>
                            <a:srgbClr val="1D2430"/>
                          </a:solidFill>
                          <a:latin typeface="Segoe UI"/>
                        </a:rPr>
                        <a:t>903 units</a:t>
                      </a:r>
                    </a:p>
                  </a:txBody>
                  <a:tcPr>
                    <a:solidFill>
                      <a:srgbClr val="EBF0F8"/>
                    </a:solidFill>
                  </a:tcPr>
                </a:tc>
                <a:tc>
                  <a:txBody>
                    <a:bodyPr/>
                    <a:lstStyle/>
                    <a:p>
                      <a:r>
                        <a:rPr sz="1050" b="0">
                          <a:solidFill>
                            <a:srgbClr val="1D2430"/>
                          </a:solidFill>
                          <a:latin typeface="Segoe UI"/>
                        </a:rPr>
                        <a:t>0.91</a:t>
                      </a:r>
                    </a:p>
                  </a:txBody>
                  <a:tcPr>
                    <a:solidFill>
                      <a:srgbClr val="EBF0F8"/>
                    </a:solidFill>
                  </a:tcPr>
                </a:tc>
                <a:extLst>
                  <a:ext uri="{0D108BD9-81ED-4DB2-BD59-A6C34878D82A}">
                    <a16:rowId xmlns:a16="http://schemas.microsoft.com/office/drawing/2014/main" val="10002"/>
                  </a:ext>
                </a:extLst>
              </a:tr>
              <a:tr h="342900">
                <a:tc>
                  <a:txBody>
                    <a:bodyPr/>
                    <a:lstStyle/>
                    <a:p>
                      <a:r>
                        <a:rPr sz="1050" b="1">
                          <a:solidFill>
                            <a:srgbClr val="1A724E"/>
                          </a:solidFill>
                          <a:latin typeface="Segoe UI"/>
                        </a:rPr>
                        <a:t>EDM</a:t>
                      </a:r>
                    </a:p>
                  </a:txBody>
                  <a:tcPr>
                    <a:solidFill>
                      <a:srgbClr val="E6F4EA"/>
                    </a:solidFill>
                  </a:tcPr>
                </a:tc>
                <a:tc>
                  <a:txBody>
                    <a:bodyPr/>
                    <a:lstStyle/>
                    <a:p>
                      <a:r>
                        <a:rPr sz="1050" b="1">
                          <a:solidFill>
                            <a:srgbClr val="1A724E"/>
                          </a:solidFill>
                          <a:latin typeface="Segoe UI"/>
                        </a:rPr>
                        <a:t>Behavioral hurdle model (LightGBM, 67 feat.)</a:t>
                      </a:r>
                    </a:p>
                  </a:txBody>
                  <a:tcPr>
                    <a:solidFill>
                      <a:srgbClr val="E6F4EA"/>
                    </a:solidFill>
                  </a:tcPr>
                </a:tc>
                <a:tc>
                  <a:txBody>
                    <a:bodyPr/>
                    <a:lstStyle/>
                    <a:p>
                      <a:r>
                        <a:rPr sz="1050" b="1">
                          <a:solidFill>
                            <a:srgbClr val="1A724E"/>
                          </a:solidFill>
                          <a:latin typeface="Segoe UI"/>
                        </a:rPr>
                        <a:t>798 units</a:t>
                      </a:r>
                    </a:p>
                  </a:txBody>
                  <a:tcPr>
                    <a:solidFill>
                      <a:srgbClr val="E6F4EA"/>
                    </a:solidFill>
                  </a:tcPr>
                </a:tc>
                <a:tc>
                  <a:txBody>
                    <a:bodyPr/>
                    <a:lstStyle/>
                    <a:p>
                      <a:r>
                        <a:rPr sz="1050" b="1">
                          <a:solidFill>
                            <a:srgbClr val="1A724E"/>
                          </a:solidFill>
                          <a:latin typeface="Segoe UI"/>
                        </a:rPr>
                        <a:t>0.78</a:t>
                      </a:r>
                    </a:p>
                  </a:txBody>
                  <a:tcPr>
                    <a:solidFill>
                      <a:srgbClr val="E6F4EA"/>
                    </a:solidFill>
                  </a:tcPr>
                </a:tc>
                <a:extLst>
                  <a:ext uri="{0D108BD9-81ED-4DB2-BD59-A6C34878D82A}">
                    <a16:rowId xmlns:a16="http://schemas.microsoft.com/office/drawing/2014/main" val="10003"/>
                  </a:ext>
                </a:extLst>
              </a:tr>
            </a:tbl>
          </a:graphicData>
        </a:graphic>
      </p:graphicFrame>
      <p:sp>
        <p:nvSpPr>
          <p:cNvPr id="9" name="Rectangle 8"/>
          <p:cNvSpPr/>
          <p:nvPr/>
        </p:nvSpPr>
        <p:spPr>
          <a:xfrm>
            <a:off x="8412480" y="4389120"/>
            <a:ext cx="3319272" cy="1371600"/>
          </a:xfrm>
          <a:prstGeom prst="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13648" y="4498848"/>
            <a:ext cx="2926080" cy="457200"/>
          </a:xfrm>
          <a:prstGeom prst="rect">
            <a:avLst/>
          </a:prstGeom>
          <a:noFill/>
        </p:spPr>
        <p:txBody>
          <a:bodyPr wrap="square" lIns="25400" tIns="12700" rIns="25400" bIns="12700">
            <a:spAutoFit/>
          </a:bodyPr>
          <a:lstStyle/>
          <a:p>
            <a:r>
              <a:rPr sz="1700" b="1" i="0">
                <a:solidFill>
                  <a:srgbClr val="F36C21"/>
                </a:solidFill>
                <a:latin typeface="Segoe UI"/>
              </a:rPr>
              <a:t>EDM lowest error</a:t>
            </a:r>
          </a:p>
        </p:txBody>
      </p:sp>
      <p:sp>
        <p:nvSpPr>
          <p:cNvPr id="11" name="TextBox 10"/>
          <p:cNvSpPr txBox="1"/>
          <p:nvPr/>
        </p:nvSpPr>
        <p:spPr>
          <a:xfrm>
            <a:off x="8613648" y="4974336"/>
            <a:ext cx="2926080" cy="749808"/>
          </a:xfrm>
          <a:prstGeom prst="rect">
            <a:avLst/>
          </a:prstGeom>
          <a:noFill/>
        </p:spPr>
        <p:txBody>
          <a:bodyPr wrap="square" lIns="25400" tIns="12700" rIns="25400" bIns="12700">
            <a:spAutoFit/>
          </a:bodyPr>
          <a:lstStyle/>
          <a:p>
            <a:r>
              <a:rPr sz="1050" b="0" i="0">
                <a:solidFill>
                  <a:srgbClr val="DCE6F4"/>
                </a:solidFill>
                <a:latin typeface="Segoe UI"/>
              </a:rPr>
              <a:t>EDM forecast 798 vs actual 627 — closest of the three (legacy 930, time-series 903). Combining EDM with the time-series model adds no lift. Synthetic data.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56032"/>
            <a:ext cx="11247120" cy="457200"/>
          </a:xfrm>
          <a:prstGeom prst="rect">
            <a:avLst/>
          </a:prstGeom>
          <a:noFill/>
        </p:spPr>
        <p:txBody>
          <a:bodyPr wrap="square" lIns="38100" tIns="12700" rIns="38100" bIns="12700">
            <a:spAutoFit/>
          </a:bodyPr>
          <a:lstStyle/>
          <a:p>
            <a:pPr algn="l"/>
            <a:r>
              <a:rPr sz="2200" b="1" i="0">
                <a:solidFill>
                  <a:srgbClr val="102A4C"/>
                </a:solidFill>
                <a:latin typeface="Segoe UI"/>
              </a:rPr>
              <a:t>Finishing the demand forecast — solution, data &amp; value</a:t>
            </a:r>
          </a:p>
        </p:txBody>
      </p:sp>
      <p:sp>
        <p:nvSpPr>
          <p:cNvPr id="3" name="TextBox 2"/>
          <p:cNvSpPr txBox="1"/>
          <p:nvPr/>
        </p:nvSpPr>
        <p:spPr>
          <a:xfrm>
            <a:off x="457200" y="749808"/>
            <a:ext cx="11247120" cy="274320"/>
          </a:xfrm>
          <a:prstGeom prst="rect">
            <a:avLst/>
          </a:prstGeom>
          <a:noFill/>
        </p:spPr>
        <p:txBody>
          <a:bodyPr wrap="square" lIns="38100" tIns="12700" rIns="38100" bIns="12700">
            <a:spAutoFit/>
          </a:bodyPr>
          <a:lstStyle/>
          <a:p>
            <a:pPr algn="l"/>
            <a:r>
              <a:rPr sz="1100" b="0" i="0">
                <a:solidFill>
                  <a:srgbClr val="5E6A75"/>
                </a:solidFill>
                <a:latin typeface="Segoe UI"/>
              </a:rPr>
              <a:t>Pilot scoped to 3-4 depots and a fixed set of NSNs, routes, and supply-network links — run end to end on real data.</a:t>
            </a:r>
          </a:p>
        </p:txBody>
      </p:sp>
      <p:sp>
        <p:nvSpPr>
          <p:cNvPr id="4" name="Rounded Rectangle 3"/>
          <p:cNvSpPr/>
          <p:nvPr/>
        </p:nvSpPr>
        <p:spPr>
          <a:xfrm>
            <a:off x="457200" y="1133856"/>
            <a:ext cx="2779776" cy="1975104"/>
          </a:xfrm>
          <a:prstGeom prst="roundRect">
            <a:avLst/>
          </a:prstGeom>
          <a:solidFill>
            <a:srgbClr val="FFFFFF"/>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57200" y="1133856"/>
            <a:ext cx="2779776" cy="384048"/>
          </a:xfrm>
          <a:prstGeom prst="roundRect">
            <a:avLst/>
          </a:prstGeom>
          <a:solidFill>
            <a:srgbClr val="1F5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66928" y="1197864"/>
            <a:ext cx="2596896" cy="292608"/>
          </a:xfrm>
          <a:prstGeom prst="rect">
            <a:avLst/>
          </a:prstGeom>
          <a:noFill/>
        </p:spPr>
        <p:txBody>
          <a:bodyPr wrap="square" lIns="38100" tIns="12700" rIns="38100" bIns="12700">
            <a:spAutoFit/>
          </a:bodyPr>
          <a:lstStyle/>
          <a:p>
            <a:pPr algn="l"/>
            <a:r>
              <a:rPr sz="1150" b="1" i="0">
                <a:solidFill>
                  <a:srgbClr val="FFFFFF"/>
                </a:solidFill>
                <a:latin typeface="Segoe UI"/>
              </a:rPr>
              <a:t>Data in scope</a:t>
            </a:r>
          </a:p>
        </p:txBody>
      </p:sp>
      <p:sp>
        <p:nvSpPr>
          <p:cNvPr id="7" name="TextBox 6"/>
          <p:cNvSpPr txBox="1"/>
          <p:nvPr/>
        </p:nvSpPr>
        <p:spPr>
          <a:xfrm>
            <a:off x="603504" y="1591056"/>
            <a:ext cx="2523744" cy="1463040"/>
          </a:xfrm>
          <a:prstGeom prst="rect">
            <a:avLst/>
          </a:prstGeom>
          <a:noFill/>
        </p:spPr>
        <p:txBody>
          <a:bodyPr wrap="square" lIns="25400" rIns="25400">
            <a:spAutoFit/>
          </a:bodyPr>
          <a:lstStyle/>
          <a:p>
            <a:pPr>
              <a:lnSpc>
                <a:spcPct val="100000"/>
              </a:lnSpc>
              <a:spcAft>
                <a:spcPts val="200"/>
              </a:spcAft>
            </a:pPr>
            <a:r>
              <a:rPr sz="950">
                <a:solidFill>
                  <a:srgbClr val="1D2430"/>
                </a:solidFill>
                <a:latin typeface="Segoe UI"/>
              </a:rPr>
              <a:t>•  Requisitions (demand)</a:t>
            </a:r>
          </a:p>
          <a:p>
            <a:pPr>
              <a:lnSpc>
                <a:spcPct val="100000"/>
              </a:lnSpc>
              <a:spcAft>
                <a:spcPts val="200"/>
              </a:spcAft>
            </a:pPr>
            <a:r>
              <a:rPr sz="950">
                <a:solidFill>
                  <a:srgbClr val="1D2430"/>
                </a:solidFill>
                <a:latin typeface="Segoe UI"/>
              </a:rPr>
              <a:t>•  Inventory &amp; due-in</a:t>
            </a:r>
          </a:p>
          <a:p>
            <a:pPr>
              <a:lnSpc>
                <a:spcPct val="100000"/>
              </a:lnSpc>
              <a:spcAft>
                <a:spcPts val="200"/>
              </a:spcAft>
            </a:pPr>
            <a:r>
              <a:rPr sz="950">
                <a:solidFill>
                  <a:srgbClr val="1D2430"/>
                </a:solidFill>
                <a:latin typeface="Segoe UI"/>
              </a:rPr>
              <a:t>•  Supplier + lead-time</a:t>
            </a:r>
          </a:p>
          <a:p>
            <a:pPr>
              <a:lnSpc>
                <a:spcPct val="100000"/>
              </a:lnSpc>
              <a:spcAft>
                <a:spcPts val="200"/>
              </a:spcAft>
            </a:pPr>
            <a:r>
              <a:rPr sz="950">
                <a:solidFill>
                  <a:srgbClr val="1D2430"/>
                </a:solidFill>
                <a:latin typeface="Segoe UI"/>
              </a:rPr>
              <a:t>•  Item / depot / route master</a:t>
            </a:r>
          </a:p>
          <a:p>
            <a:pPr>
              <a:lnSpc>
                <a:spcPct val="100000"/>
              </a:lnSpc>
              <a:spcAft>
                <a:spcPts val="200"/>
              </a:spcAft>
            </a:pPr>
            <a:r>
              <a:rPr sz="950">
                <a:solidFill>
                  <a:srgbClr val="1D2430"/>
                </a:solidFill>
                <a:latin typeface="Segoe UI"/>
              </a:rPr>
              <a:t>•  Operational calendar</a:t>
            </a:r>
          </a:p>
          <a:p>
            <a:pPr>
              <a:lnSpc>
                <a:spcPct val="100000"/>
              </a:lnSpc>
              <a:spcAft>
                <a:spcPts val="200"/>
              </a:spcAft>
            </a:pPr>
            <a:r>
              <a:rPr sz="950">
                <a:solidFill>
                  <a:srgbClr val="1D2430"/>
                </a:solidFill>
                <a:latin typeface="Segoe UI"/>
              </a:rPr>
              <a:t>•  ~24 mo (2024-2026)</a:t>
            </a:r>
          </a:p>
        </p:txBody>
      </p:sp>
      <p:sp>
        <p:nvSpPr>
          <p:cNvPr id="8" name="Rounded Rectangle 7"/>
          <p:cNvSpPr/>
          <p:nvPr/>
        </p:nvSpPr>
        <p:spPr>
          <a:xfrm>
            <a:off x="3374136" y="1133856"/>
            <a:ext cx="2779776" cy="1975104"/>
          </a:xfrm>
          <a:prstGeom prst="roundRect">
            <a:avLst/>
          </a:prstGeom>
          <a:solidFill>
            <a:srgbClr val="FFFFFF"/>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3374136" y="1133856"/>
            <a:ext cx="2779776" cy="384048"/>
          </a:xfrm>
          <a:prstGeom prst="roundRect">
            <a:avLst/>
          </a:prstGeom>
          <a:solidFill>
            <a:srgbClr val="1184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83864" y="1197864"/>
            <a:ext cx="2596896" cy="292608"/>
          </a:xfrm>
          <a:prstGeom prst="rect">
            <a:avLst/>
          </a:prstGeom>
          <a:noFill/>
        </p:spPr>
        <p:txBody>
          <a:bodyPr wrap="square" lIns="38100" tIns="12700" rIns="38100" bIns="12700">
            <a:spAutoFit/>
          </a:bodyPr>
          <a:lstStyle/>
          <a:p>
            <a:pPr algn="l"/>
            <a:r>
              <a:rPr sz="1150" b="1" i="0">
                <a:solidFill>
                  <a:srgbClr val="FFFFFF"/>
                </a:solidFill>
                <a:latin typeface="Segoe UI"/>
              </a:rPr>
              <a:t>Dependencies</a:t>
            </a:r>
          </a:p>
        </p:txBody>
      </p:sp>
      <p:sp>
        <p:nvSpPr>
          <p:cNvPr id="11" name="TextBox 10"/>
          <p:cNvSpPr txBox="1"/>
          <p:nvPr/>
        </p:nvSpPr>
        <p:spPr>
          <a:xfrm>
            <a:off x="3520440" y="1591056"/>
            <a:ext cx="2523744" cy="1463040"/>
          </a:xfrm>
          <a:prstGeom prst="rect">
            <a:avLst/>
          </a:prstGeom>
          <a:noFill/>
        </p:spPr>
        <p:txBody>
          <a:bodyPr wrap="square" lIns="25400" rIns="25400">
            <a:spAutoFit/>
          </a:bodyPr>
          <a:lstStyle/>
          <a:p>
            <a:pPr>
              <a:lnSpc>
                <a:spcPct val="100000"/>
              </a:lnSpc>
              <a:spcAft>
                <a:spcPts val="200"/>
              </a:spcAft>
            </a:pPr>
            <a:r>
              <a:rPr sz="950">
                <a:solidFill>
                  <a:srgbClr val="1D2430"/>
                </a:solidFill>
                <a:latin typeface="Segoe UI"/>
              </a:rPr>
              <a:t>•  Data access + ATO</a:t>
            </a:r>
          </a:p>
          <a:p>
            <a:pPr>
              <a:lnSpc>
                <a:spcPct val="100000"/>
              </a:lnSpc>
              <a:spcAft>
                <a:spcPts val="200"/>
              </a:spcAft>
            </a:pPr>
            <a:r>
              <a:rPr sz="950">
                <a:solidFill>
                  <a:srgbClr val="1D2430"/>
                </a:solidFill>
                <a:latin typeface="Segoe UI"/>
              </a:rPr>
              <a:t>•  Warehouse + compute</a:t>
            </a:r>
          </a:p>
          <a:p>
            <a:pPr>
              <a:lnSpc>
                <a:spcPct val="100000"/>
              </a:lnSpc>
              <a:spcAft>
                <a:spcPts val="200"/>
              </a:spcAft>
            </a:pPr>
            <a:r>
              <a:rPr sz="950">
                <a:solidFill>
                  <a:srgbClr val="1D2430"/>
                </a:solidFill>
                <a:latin typeface="Segoe UI"/>
              </a:rPr>
              <a:t>•  Source refresh cadence</a:t>
            </a:r>
          </a:p>
          <a:p>
            <a:pPr>
              <a:lnSpc>
                <a:spcPct val="100000"/>
              </a:lnSpc>
              <a:spcAft>
                <a:spcPts val="200"/>
              </a:spcAft>
            </a:pPr>
            <a:r>
              <a:rPr sz="950">
                <a:solidFill>
                  <a:srgbClr val="1D2430"/>
                </a:solidFill>
                <a:latin typeface="Segoe UI"/>
              </a:rPr>
              <a:t>•  Embedding service</a:t>
            </a:r>
          </a:p>
          <a:p>
            <a:pPr>
              <a:lnSpc>
                <a:spcPct val="100000"/>
              </a:lnSpc>
              <a:spcAft>
                <a:spcPts val="200"/>
              </a:spcAft>
            </a:pPr>
            <a:r>
              <a:rPr sz="950">
                <a:solidFill>
                  <a:srgbClr val="1D2430"/>
                </a:solidFill>
                <a:latin typeface="Segoe UI"/>
              </a:rPr>
              <a:t>•  SME for validation</a:t>
            </a:r>
          </a:p>
          <a:p>
            <a:pPr>
              <a:lnSpc>
                <a:spcPct val="100000"/>
              </a:lnSpc>
              <a:spcAft>
                <a:spcPts val="200"/>
              </a:spcAft>
            </a:pPr>
            <a:r>
              <a:rPr sz="950">
                <a:solidFill>
                  <a:srgbClr val="1D2430"/>
                </a:solidFill>
                <a:latin typeface="Segoe UI"/>
              </a:rPr>
              <a:t>•  Agreed accuracy metric</a:t>
            </a:r>
          </a:p>
        </p:txBody>
      </p:sp>
      <p:sp>
        <p:nvSpPr>
          <p:cNvPr id="12" name="Rounded Rectangle 11"/>
          <p:cNvSpPr/>
          <p:nvPr/>
        </p:nvSpPr>
        <p:spPr>
          <a:xfrm>
            <a:off x="6291072" y="1133856"/>
            <a:ext cx="2779776" cy="1975104"/>
          </a:xfrm>
          <a:prstGeom prst="roundRect">
            <a:avLst/>
          </a:prstGeom>
          <a:solidFill>
            <a:srgbClr val="FFFFFF"/>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291072" y="1133856"/>
            <a:ext cx="2779776" cy="384048"/>
          </a:xfrm>
          <a:prstGeom prst="roundRect">
            <a:avLst/>
          </a:prstGeom>
          <a:solidFill>
            <a:srgbClr val="1A72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0" y="1197864"/>
            <a:ext cx="2596896" cy="292608"/>
          </a:xfrm>
          <a:prstGeom prst="rect">
            <a:avLst/>
          </a:prstGeom>
          <a:noFill/>
        </p:spPr>
        <p:txBody>
          <a:bodyPr wrap="square" lIns="38100" tIns="12700" rIns="38100" bIns="12700">
            <a:spAutoFit/>
          </a:bodyPr>
          <a:lstStyle/>
          <a:p>
            <a:pPr algn="l"/>
            <a:r>
              <a:rPr sz="1150" b="1" i="0">
                <a:solidFill>
                  <a:srgbClr val="FFFFFF"/>
                </a:solidFill>
                <a:latin typeface="Segoe UI"/>
              </a:rPr>
              <a:t>Deliverables</a:t>
            </a:r>
          </a:p>
        </p:txBody>
      </p:sp>
      <p:sp>
        <p:nvSpPr>
          <p:cNvPr id="15" name="TextBox 14"/>
          <p:cNvSpPr txBox="1"/>
          <p:nvPr/>
        </p:nvSpPr>
        <p:spPr>
          <a:xfrm>
            <a:off x="6437376" y="1591056"/>
            <a:ext cx="2523744" cy="1463040"/>
          </a:xfrm>
          <a:prstGeom prst="rect">
            <a:avLst/>
          </a:prstGeom>
          <a:noFill/>
        </p:spPr>
        <p:txBody>
          <a:bodyPr wrap="square" lIns="25400" rIns="25400">
            <a:spAutoFit/>
          </a:bodyPr>
          <a:lstStyle/>
          <a:p>
            <a:pPr>
              <a:lnSpc>
                <a:spcPct val="100000"/>
              </a:lnSpc>
              <a:spcAft>
                <a:spcPts val="200"/>
              </a:spcAft>
            </a:pPr>
            <a:r>
              <a:rPr sz="950">
                <a:solidFill>
                  <a:srgbClr val="1D2430"/>
                </a:solidFill>
                <a:latin typeface="Segoe UI"/>
              </a:rPr>
              <a:t>•  Bronze/silver/gold pipeline</a:t>
            </a:r>
          </a:p>
          <a:p>
            <a:pPr>
              <a:lnSpc>
                <a:spcPct val="100000"/>
              </a:lnSpc>
              <a:spcAft>
                <a:spcPts val="200"/>
              </a:spcAft>
            </a:pPr>
            <a:r>
              <a:rPr sz="950">
                <a:solidFill>
                  <a:srgbClr val="1D2430"/>
                </a:solidFill>
                <a:latin typeface="Segoe UI"/>
              </a:rPr>
              <a:t>•  Digital-twin feature store</a:t>
            </a:r>
          </a:p>
          <a:p>
            <a:pPr>
              <a:lnSpc>
                <a:spcPct val="100000"/>
              </a:lnSpc>
              <a:spcAft>
                <a:spcPts val="200"/>
              </a:spcAft>
            </a:pPr>
            <a:r>
              <a:rPr sz="950">
                <a:solidFill>
                  <a:srgbClr val="1D2430"/>
                </a:solidFill>
                <a:latin typeface="Segoe UI"/>
              </a:rPr>
              <a:t>•  Trained two-phase model</a:t>
            </a:r>
          </a:p>
          <a:p>
            <a:pPr>
              <a:lnSpc>
                <a:spcPct val="100000"/>
              </a:lnSpc>
              <a:spcAft>
                <a:spcPts val="200"/>
              </a:spcAft>
            </a:pPr>
            <a:r>
              <a:rPr sz="950">
                <a:solidFill>
                  <a:srgbClr val="1D2430"/>
                </a:solidFill>
                <a:latin typeface="Segoe UI"/>
              </a:rPr>
              <a:t>•  Walk-forward accuracy report</a:t>
            </a:r>
          </a:p>
          <a:p>
            <a:pPr>
              <a:lnSpc>
                <a:spcPct val="100000"/>
              </a:lnSpc>
              <a:spcAft>
                <a:spcPts val="200"/>
              </a:spcAft>
            </a:pPr>
            <a:r>
              <a:rPr sz="950">
                <a:solidFill>
                  <a:srgbClr val="1D2430"/>
                </a:solidFill>
                <a:latin typeface="Segoe UI"/>
              </a:rPr>
              <a:t>•  Live demo on real data</a:t>
            </a:r>
          </a:p>
          <a:p>
            <a:pPr>
              <a:lnSpc>
                <a:spcPct val="100000"/>
              </a:lnSpc>
              <a:spcAft>
                <a:spcPts val="200"/>
              </a:spcAft>
            </a:pPr>
            <a:r>
              <a:rPr sz="950">
                <a:solidFill>
                  <a:srgbClr val="1D2430"/>
                </a:solidFill>
                <a:latin typeface="Segoe UI"/>
              </a:rPr>
              <a:t>•  Scale recommendation</a:t>
            </a:r>
          </a:p>
        </p:txBody>
      </p:sp>
      <p:sp>
        <p:nvSpPr>
          <p:cNvPr id="16" name="Rounded Rectangle 15"/>
          <p:cNvSpPr/>
          <p:nvPr/>
        </p:nvSpPr>
        <p:spPr>
          <a:xfrm>
            <a:off x="9208008" y="1133856"/>
            <a:ext cx="2779776" cy="1975104"/>
          </a:xfrm>
          <a:prstGeom prst="roundRect">
            <a:avLst/>
          </a:prstGeom>
          <a:solidFill>
            <a:srgbClr val="FFFFFF"/>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9208008" y="1133856"/>
            <a:ext cx="2779776" cy="384048"/>
          </a:xfrm>
          <a:prstGeom prst="roundRect">
            <a:avLst/>
          </a:prstGeom>
          <a:solidFill>
            <a:srgbClr val="C96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317736" y="1197864"/>
            <a:ext cx="2596896" cy="292608"/>
          </a:xfrm>
          <a:prstGeom prst="rect">
            <a:avLst/>
          </a:prstGeom>
          <a:noFill/>
        </p:spPr>
        <p:txBody>
          <a:bodyPr wrap="square" lIns="38100" tIns="12700" rIns="38100" bIns="12700">
            <a:spAutoFit/>
          </a:bodyPr>
          <a:lstStyle/>
          <a:p>
            <a:pPr algn="l"/>
            <a:r>
              <a:rPr sz="1150" b="1" i="0">
                <a:solidFill>
                  <a:srgbClr val="FFFFFF"/>
                </a:solidFill>
                <a:latin typeface="Segoe UI"/>
              </a:rPr>
              <a:t>Skills</a:t>
            </a:r>
          </a:p>
        </p:txBody>
      </p:sp>
      <p:sp>
        <p:nvSpPr>
          <p:cNvPr id="19" name="TextBox 18"/>
          <p:cNvSpPr txBox="1"/>
          <p:nvPr/>
        </p:nvSpPr>
        <p:spPr>
          <a:xfrm>
            <a:off x="9354312" y="1591056"/>
            <a:ext cx="2523744" cy="1463040"/>
          </a:xfrm>
          <a:prstGeom prst="rect">
            <a:avLst/>
          </a:prstGeom>
          <a:noFill/>
        </p:spPr>
        <p:txBody>
          <a:bodyPr wrap="square" lIns="25400" rIns="25400">
            <a:spAutoFit/>
          </a:bodyPr>
          <a:lstStyle/>
          <a:p>
            <a:pPr>
              <a:lnSpc>
                <a:spcPct val="100000"/>
              </a:lnSpc>
              <a:spcAft>
                <a:spcPts val="200"/>
              </a:spcAft>
            </a:pPr>
            <a:r>
              <a:rPr sz="950">
                <a:solidFill>
                  <a:srgbClr val="1D2430"/>
                </a:solidFill>
                <a:latin typeface="Segoe UI"/>
              </a:rPr>
              <a:t>•  Data engineer (medallion)</a:t>
            </a:r>
          </a:p>
          <a:p>
            <a:pPr>
              <a:lnSpc>
                <a:spcPct val="100000"/>
              </a:lnSpc>
              <a:spcAft>
                <a:spcPts val="200"/>
              </a:spcAft>
            </a:pPr>
            <a:r>
              <a:rPr sz="950">
                <a:solidFill>
                  <a:srgbClr val="1D2430"/>
                </a:solidFill>
                <a:latin typeface="Segoe UI"/>
              </a:rPr>
              <a:t>•  ML engineer</a:t>
            </a:r>
          </a:p>
          <a:p>
            <a:pPr>
              <a:lnSpc>
                <a:spcPct val="100000"/>
              </a:lnSpc>
              <a:spcAft>
                <a:spcPts val="200"/>
              </a:spcAft>
            </a:pPr>
            <a:r>
              <a:rPr sz="950">
                <a:solidFill>
                  <a:srgbClr val="1D2430"/>
                </a:solidFill>
                <a:latin typeface="Segoe UI"/>
              </a:rPr>
              <a:t>•  Data scientist</a:t>
            </a:r>
          </a:p>
          <a:p>
            <a:pPr>
              <a:lnSpc>
                <a:spcPct val="100000"/>
              </a:lnSpc>
              <a:spcAft>
                <a:spcPts val="200"/>
              </a:spcAft>
            </a:pPr>
            <a:r>
              <a:rPr sz="950">
                <a:solidFill>
                  <a:srgbClr val="1D2430"/>
                </a:solidFill>
                <a:latin typeface="Segoe UI"/>
              </a:rPr>
              <a:t>•  Supply-chain SME</a:t>
            </a:r>
          </a:p>
          <a:p>
            <a:pPr>
              <a:lnSpc>
                <a:spcPct val="100000"/>
              </a:lnSpc>
              <a:spcAft>
                <a:spcPts val="200"/>
              </a:spcAft>
            </a:pPr>
            <a:r>
              <a:rPr sz="950">
                <a:solidFill>
                  <a:srgbClr val="1D2430"/>
                </a:solidFill>
                <a:latin typeface="Segoe UI"/>
              </a:rPr>
              <a:t>•  Solution architect</a:t>
            </a:r>
          </a:p>
          <a:p>
            <a:pPr>
              <a:lnSpc>
                <a:spcPct val="100000"/>
              </a:lnSpc>
              <a:spcAft>
                <a:spcPts val="200"/>
              </a:spcAft>
            </a:pPr>
            <a:r>
              <a:rPr sz="950">
                <a:solidFill>
                  <a:srgbClr val="1D2430"/>
                </a:solidFill>
                <a:latin typeface="Segoe UI"/>
              </a:rPr>
              <a:t>•  Project manager</a:t>
            </a:r>
          </a:p>
        </p:txBody>
      </p:sp>
      <p:sp>
        <p:nvSpPr>
          <p:cNvPr id="20" name="TextBox 19"/>
          <p:cNvSpPr txBox="1"/>
          <p:nvPr/>
        </p:nvSpPr>
        <p:spPr>
          <a:xfrm>
            <a:off x="457200" y="3255264"/>
            <a:ext cx="11247120" cy="237744"/>
          </a:xfrm>
          <a:prstGeom prst="rect">
            <a:avLst/>
          </a:prstGeom>
          <a:noFill/>
        </p:spPr>
        <p:txBody>
          <a:bodyPr wrap="square" lIns="38100" tIns="12700" rIns="38100" bIns="12700">
            <a:spAutoFit/>
          </a:bodyPr>
          <a:lstStyle/>
          <a:p>
            <a:pPr algn="l"/>
            <a:r>
              <a:rPr sz="1150" b="1" i="0">
                <a:solidFill>
                  <a:srgbClr val="102A4C"/>
                </a:solidFill>
                <a:latin typeface="Segoe UI"/>
              </a:rPr>
              <a:t>Where the data comes from — each element maps to a DLA source system (confirmed in Phase 0)</a:t>
            </a:r>
          </a:p>
        </p:txBody>
      </p:sp>
      <p:graphicFrame>
        <p:nvGraphicFramePr>
          <p:cNvPr id="21" name="Table 20"/>
          <p:cNvGraphicFramePr>
            <a:graphicFrameLocks noGrp="1"/>
          </p:cNvGraphicFramePr>
          <p:nvPr/>
        </p:nvGraphicFramePr>
        <p:xfrm>
          <a:off x="457200" y="3566160"/>
          <a:ext cx="5486400" cy="1097280"/>
        </p:xfrm>
        <a:graphic>
          <a:graphicData uri="http://schemas.openxmlformats.org/drawingml/2006/table">
            <a:tbl>
              <a:tblPr firstRow="1" bandRow="1">
                <a:tableStyleId>{5C22544A-7EE6-4342-B048-85BDC9FD1C3A}</a:tableStyleId>
              </a:tblPr>
              <a:tblGrid>
                <a:gridCol w="2523744">
                  <a:extLst>
                    <a:ext uri="{9D8B030D-6E8A-4147-A177-3AD203B41FA5}">
                      <a16:colId xmlns:a16="http://schemas.microsoft.com/office/drawing/2014/main" val="20000"/>
                    </a:ext>
                  </a:extLst>
                </a:gridCol>
                <a:gridCol w="2962656">
                  <a:extLst>
                    <a:ext uri="{9D8B030D-6E8A-4147-A177-3AD203B41FA5}">
                      <a16:colId xmlns:a16="http://schemas.microsoft.com/office/drawing/2014/main" val="20001"/>
                    </a:ext>
                  </a:extLst>
                </a:gridCol>
              </a:tblGrid>
              <a:tr h="274320">
                <a:tc>
                  <a:txBody>
                    <a:bodyPr/>
                    <a:lstStyle/>
                    <a:p>
                      <a:r>
                        <a:rPr sz="900" b="1">
                          <a:solidFill>
                            <a:srgbClr val="102A4C"/>
                          </a:solidFill>
                          <a:latin typeface="Segoe UI"/>
                        </a:rPr>
                        <a:t>Demand / requisitions</a:t>
                      </a:r>
                    </a:p>
                  </a:txBody>
                  <a:tcPr marL="50800" marR="50800" marT="12700" marB="12700">
                    <a:solidFill>
                      <a:srgbClr val="EBF0F8"/>
                    </a:solidFill>
                  </a:tcPr>
                </a:tc>
                <a:tc>
                  <a:txBody>
                    <a:bodyPr/>
                    <a:lstStyle/>
                    <a:p>
                      <a:r>
                        <a:rPr sz="900" b="0">
                          <a:solidFill>
                            <a:srgbClr val="1D2430"/>
                          </a:solidFill>
                          <a:latin typeface="Segoe UI"/>
                        </a:rPr>
                        <a:t>EBS · DAAS (MILSTRIP)</a:t>
                      </a:r>
                    </a:p>
                  </a:txBody>
                  <a:tcPr marL="50800" marR="50800" marT="12700" marB="12700">
                    <a:solidFill>
                      <a:srgbClr val="EBF0F8"/>
                    </a:solidFill>
                  </a:tcPr>
                </a:tc>
                <a:extLst>
                  <a:ext uri="{0D108BD9-81ED-4DB2-BD59-A6C34878D82A}">
                    <a16:rowId xmlns:a16="http://schemas.microsoft.com/office/drawing/2014/main" val="10000"/>
                  </a:ext>
                </a:extLst>
              </a:tr>
              <a:tr h="274320">
                <a:tc>
                  <a:txBody>
                    <a:bodyPr/>
                    <a:lstStyle/>
                    <a:p>
                      <a:r>
                        <a:rPr sz="900" b="1">
                          <a:solidFill>
                            <a:srgbClr val="102A4C"/>
                          </a:solidFill>
                          <a:latin typeface="Segoe UI"/>
                        </a:rPr>
                        <a:t>Issues &amp; receipts</a:t>
                      </a:r>
                    </a:p>
                  </a:txBody>
                  <a:tcPr marL="50800" marR="50800" marT="12700" marB="12700">
                    <a:solidFill>
                      <a:srgbClr val="FFFFFF"/>
                    </a:solidFill>
                  </a:tcPr>
                </a:tc>
                <a:tc>
                  <a:txBody>
                    <a:bodyPr/>
                    <a:lstStyle/>
                    <a:p>
                      <a:r>
                        <a:rPr sz="900" b="0">
                          <a:solidFill>
                            <a:srgbClr val="1D2430"/>
                          </a:solidFill>
                          <a:latin typeface="Segoe UI"/>
                        </a:rPr>
                        <a:t>DSS</a:t>
                      </a:r>
                    </a:p>
                  </a:txBody>
                  <a:tcPr marL="50800" marR="50800" marT="12700" marB="12700">
                    <a:solidFill>
                      <a:srgbClr val="FFFFFF"/>
                    </a:solidFill>
                  </a:tcPr>
                </a:tc>
                <a:extLst>
                  <a:ext uri="{0D108BD9-81ED-4DB2-BD59-A6C34878D82A}">
                    <a16:rowId xmlns:a16="http://schemas.microsoft.com/office/drawing/2014/main" val="10001"/>
                  </a:ext>
                </a:extLst>
              </a:tr>
              <a:tr h="274320">
                <a:tc>
                  <a:txBody>
                    <a:bodyPr/>
                    <a:lstStyle/>
                    <a:p>
                      <a:r>
                        <a:rPr sz="900" b="1">
                          <a:solidFill>
                            <a:srgbClr val="102A4C"/>
                          </a:solidFill>
                          <a:latin typeface="Segoe UI"/>
                        </a:rPr>
                        <a:t>Inventory position</a:t>
                      </a:r>
                    </a:p>
                  </a:txBody>
                  <a:tcPr marL="50800" marR="50800" marT="12700" marB="12700">
                    <a:solidFill>
                      <a:srgbClr val="EBF0F8"/>
                    </a:solidFill>
                  </a:tcPr>
                </a:tc>
                <a:tc>
                  <a:txBody>
                    <a:bodyPr/>
                    <a:lstStyle/>
                    <a:p>
                      <a:r>
                        <a:rPr sz="900" b="0">
                          <a:solidFill>
                            <a:srgbClr val="1D2430"/>
                          </a:solidFill>
                          <a:latin typeface="Segoe UI"/>
                        </a:rPr>
                        <a:t>EBS · DSS</a:t>
                      </a:r>
                    </a:p>
                  </a:txBody>
                  <a:tcPr marL="50800" marR="50800" marT="12700" marB="12700">
                    <a:solidFill>
                      <a:srgbClr val="EBF0F8"/>
                    </a:solidFill>
                  </a:tcPr>
                </a:tc>
                <a:extLst>
                  <a:ext uri="{0D108BD9-81ED-4DB2-BD59-A6C34878D82A}">
                    <a16:rowId xmlns:a16="http://schemas.microsoft.com/office/drawing/2014/main" val="10002"/>
                  </a:ext>
                </a:extLst>
              </a:tr>
              <a:tr h="274320">
                <a:tc>
                  <a:txBody>
                    <a:bodyPr/>
                    <a:lstStyle/>
                    <a:p>
                      <a:r>
                        <a:rPr sz="900" b="1">
                          <a:solidFill>
                            <a:srgbClr val="102A4C"/>
                          </a:solidFill>
                          <a:latin typeface="Segoe UI"/>
                        </a:rPr>
                        <a:t>Suppliers &amp; contracts</a:t>
                      </a:r>
                    </a:p>
                  </a:txBody>
                  <a:tcPr marL="50800" marR="50800" marT="12700" marB="12700">
                    <a:solidFill>
                      <a:srgbClr val="FFFFFF"/>
                    </a:solidFill>
                  </a:tcPr>
                </a:tc>
                <a:tc>
                  <a:txBody>
                    <a:bodyPr/>
                    <a:lstStyle/>
                    <a:p>
                      <a:r>
                        <a:rPr sz="900" b="0">
                          <a:solidFill>
                            <a:srgbClr val="1D2430"/>
                          </a:solidFill>
                          <a:latin typeface="Segoe UI"/>
                        </a:rPr>
                        <a:t>EBS · DIBBS · EPS</a:t>
                      </a:r>
                    </a:p>
                  </a:txBody>
                  <a:tcPr marL="50800" marR="50800" marT="12700" marB="12700">
                    <a:solidFill>
                      <a:srgbClr val="FFFFFF"/>
                    </a:solidFill>
                  </a:tcPr>
                </a:tc>
                <a:extLst>
                  <a:ext uri="{0D108BD9-81ED-4DB2-BD59-A6C34878D82A}">
                    <a16:rowId xmlns:a16="http://schemas.microsoft.com/office/drawing/2014/main" val="10003"/>
                  </a:ext>
                </a:extLst>
              </a:tr>
            </a:tbl>
          </a:graphicData>
        </a:graphic>
      </p:graphicFrame>
      <p:graphicFrame>
        <p:nvGraphicFramePr>
          <p:cNvPr id="22" name="Table 21"/>
          <p:cNvGraphicFramePr>
            <a:graphicFrameLocks noGrp="1"/>
          </p:cNvGraphicFramePr>
          <p:nvPr/>
        </p:nvGraphicFramePr>
        <p:xfrm>
          <a:off x="6245352" y="3566160"/>
          <a:ext cx="5486400" cy="1097280"/>
        </p:xfrm>
        <a:graphic>
          <a:graphicData uri="http://schemas.openxmlformats.org/drawingml/2006/table">
            <a:tbl>
              <a:tblPr firstRow="1" bandRow="1">
                <a:tableStyleId>{5C22544A-7EE6-4342-B048-85BDC9FD1C3A}</a:tableStyleId>
              </a:tblPr>
              <a:tblGrid>
                <a:gridCol w="2523744">
                  <a:extLst>
                    <a:ext uri="{9D8B030D-6E8A-4147-A177-3AD203B41FA5}">
                      <a16:colId xmlns:a16="http://schemas.microsoft.com/office/drawing/2014/main" val="20000"/>
                    </a:ext>
                  </a:extLst>
                </a:gridCol>
                <a:gridCol w="2962656">
                  <a:extLst>
                    <a:ext uri="{9D8B030D-6E8A-4147-A177-3AD203B41FA5}">
                      <a16:colId xmlns:a16="http://schemas.microsoft.com/office/drawing/2014/main" val="20001"/>
                    </a:ext>
                  </a:extLst>
                </a:gridCol>
              </a:tblGrid>
              <a:tr h="274320">
                <a:tc>
                  <a:txBody>
                    <a:bodyPr/>
                    <a:lstStyle/>
                    <a:p>
                      <a:r>
                        <a:rPr sz="900" b="1">
                          <a:solidFill>
                            <a:srgbClr val="102A4C"/>
                          </a:solidFill>
                          <a:latin typeface="Segoe UI"/>
                        </a:rPr>
                        <a:t>Lead time (actuals)</a:t>
                      </a:r>
                    </a:p>
                  </a:txBody>
                  <a:tcPr marL="50800" marR="50800" marT="12700" marB="12700">
                    <a:solidFill>
                      <a:srgbClr val="EBF0F8"/>
                    </a:solidFill>
                  </a:tcPr>
                </a:tc>
                <a:tc>
                  <a:txBody>
                    <a:bodyPr/>
                    <a:lstStyle/>
                    <a:p>
                      <a:r>
                        <a:rPr sz="900" b="0">
                          <a:solidFill>
                            <a:srgbClr val="1D2430"/>
                          </a:solidFill>
                          <a:latin typeface="Segoe UI"/>
                        </a:rPr>
                        <a:t>EBS POs · WAWF/iRAPT</a:t>
                      </a:r>
                    </a:p>
                  </a:txBody>
                  <a:tcPr marL="50800" marR="50800" marT="12700" marB="12700">
                    <a:solidFill>
                      <a:srgbClr val="EBF0F8"/>
                    </a:solidFill>
                  </a:tcPr>
                </a:tc>
                <a:extLst>
                  <a:ext uri="{0D108BD9-81ED-4DB2-BD59-A6C34878D82A}">
                    <a16:rowId xmlns:a16="http://schemas.microsoft.com/office/drawing/2014/main" val="10000"/>
                  </a:ext>
                </a:extLst>
              </a:tr>
              <a:tr h="274320">
                <a:tc>
                  <a:txBody>
                    <a:bodyPr/>
                    <a:lstStyle/>
                    <a:p>
                      <a:r>
                        <a:rPr sz="900" b="1">
                          <a:solidFill>
                            <a:srgbClr val="102A4C"/>
                          </a:solidFill>
                          <a:latin typeface="Segoe UI"/>
                        </a:rPr>
                        <a:t>Item master / NSN</a:t>
                      </a:r>
                    </a:p>
                  </a:txBody>
                  <a:tcPr marL="50800" marR="50800" marT="12700" marB="12700">
                    <a:solidFill>
                      <a:srgbClr val="FFFFFF"/>
                    </a:solidFill>
                  </a:tcPr>
                </a:tc>
                <a:tc>
                  <a:txBody>
                    <a:bodyPr/>
                    <a:lstStyle/>
                    <a:p>
                      <a:r>
                        <a:rPr sz="900" b="0">
                          <a:solidFill>
                            <a:srgbClr val="1D2430"/>
                          </a:solidFill>
                          <a:latin typeface="Segoe UI"/>
                        </a:rPr>
                        <a:t>FLIS / Federal Catalog</a:t>
                      </a:r>
                    </a:p>
                  </a:txBody>
                  <a:tcPr marL="50800" marR="50800" marT="12700" marB="12700">
                    <a:solidFill>
                      <a:srgbClr val="FFFFFF"/>
                    </a:solidFill>
                  </a:tcPr>
                </a:tc>
                <a:extLst>
                  <a:ext uri="{0D108BD9-81ED-4DB2-BD59-A6C34878D82A}">
                    <a16:rowId xmlns:a16="http://schemas.microsoft.com/office/drawing/2014/main" val="10001"/>
                  </a:ext>
                </a:extLst>
              </a:tr>
              <a:tr h="274320">
                <a:tc>
                  <a:txBody>
                    <a:bodyPr/>
                    <a:lstStyle/>
                    <a:p>
                      <a:r>
                        <a:rPr sz="900" b="1">
                          <a:solidFill>
                            <a:srgbClr val="102A4C"/>
                          </a:solidFill>
                          <a:latin typeface="Segoe UI"/>
                        </a:rPr>
                        <a:t>Calendars</a:t>
                      </a:r>
                    </a:p>
                  </a:txBody>
                  <a:tcPr marL="50800" marR="50800" marT="12700" marB="12700">
                    <a:solidFill>
                      <a:srgbClr val="EBF0F8"/>
                    </a:solidFill>
                  </a:tcPr>
                </a:tc>
                <a:tc>
                  <a:txBody>
                    <a:bodyPr/>
                    <a:lstStyle/>
                    <a:p>
                      <a:r>
                        <a:rPr sz="900" b="0">
                          <a:solidFill>
                            <a:srgbClr val="1D2430"/>
                          </a:solidFill>
                          <a:latin typeface="Segoe UI"/>
                        </a:rPr>
                        <a:t>Operational planning</a:t>
                      </a:r>
                    </a:p>
                  </a:txBody>
                  <a:tcPr marL="50800" marR="50800" marT="12700" marB="12700">
                    <a:solidFill>
                      <a:srgbClr val="EBF0F8"/>
                    </a:solidFill>
                  </a:tcPr>
                </a:tc>
                <a:extLst>
                  <a:ext uri="{0D108BD9-81ED-4DB2-BD59-A6C34878D82A}">
                    <a16:rowId xmlns:a16="http://schemas.microsoft.com/office/drawing/2014/main" val="10002"/>
                  </a:ext>
                </a:extLst>
              </a:tr>
              <a:tr h="274320">
                <a:tc>
                  <a:txBody>
                    <a:bodyPr/>
                    <a:lstStyle/>
                    <a:p>
                      <a:r>
                        <a:rPr sz="900" b="1">
                          <a:solidFill>
                            <a:srgbClr val="102A4C"/>
                          </a:solidFill>
                          <a:latin typeface="Segoe UI"/>
                        </a:rPr>
                        <a:t>Routes</a:t>
                      </a:r>
                    </a:p>
                  </a:txBody>
                  <a:tcPr marL="50800" marR="50800" marT="12700" marB="12700">
                    <a:solidFill>
                      <a:srgbClr val="FFFFFF"/>
                    </a:solidFill>
                  </a:tcPr>
                </a:tc>
                <a:tc>
                  <a:txBody>
                    <a:bodyPr/>
                    <a:lstStyle/>
                    <a:p>
                      <a:r>
                        <a:rPr sz="900" b="0">
                          <a:solidFill>
                            <a:srgbClr val="1D2430"/>
                          </a:solidFill>
                          <a:latin typeface="Segoe UI"/>
                        </a:rPr>
                        <a:t>DSS · transport systems</a:t>
                      </a:r>
                    </a:p>
                  </a:txBody>
                  <a:tcPr marL="50800" marR="50800" marT="12700" marB="12700">
                    <a:solidFill>
                      <a:srgbClr val="FFFFFF"/>
                    </a:solidFill>
                  </a:tcPr>
                </a:tc>
                <a:extLst>
                  <a:ext uri="{0D108BD9-81ED-4DB2-BD59-A6C34878D82A}">
                    <a16:rowId xmlns:a16="http://schemas.microsoft.com/office/drawing/2014/main" val="10003"/>
                  </a:ext>
                </a:extLst>
              </a:tr>
            </a:tbl>
          </a:graphicData>
        </a:graphic>
      </p:graphicFrame>
      <p:sp>
        <p:nvSpPr>
          <p:cNvPr id="23" name="Rounded Rectangle 22"/>
          <p:cNvSpPr/>
          <p:nvPr/>
        </p:nvSpPr>
        <p:spPr>
          <a:xfrm>
            <a:off x="457200" y="4956048"/>
            <a:ext cx="11274552" cy="1280160"/>
          </a:xfrm>
          <a:prstGeom prst="roundRect">
            <a:avLst/>
          </a:prstGeom>
          <a:solidFill>
            <a:srgbClr val="E6F4EA"/>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58368" y="5047488"/>
            <a:ext cx="10972800" cy="365760"/>
          </a:xfrm>
          <a:prstGeom prst="rect">
            <a:avLst/>
          </a:prstGeom>
          <a:noFill/>
        </p:spPr>
        <p:txBody>
          <a:bodyPr wrap="square" lIns="38100" tIns="12700" rIns="38100" bIns="12700">
            <a:spAutoFit/>
          </a:bodyPr>
          <a:lstStyle/>
          <a:p>
            <a:pPr algn="l"/>
            <a:r>
              <a:rPr sz="1500" b="1" i="0">
                <a:solidFill>
                  <a:srgbClr val="1A724E"/>
                </a:solidFill>
                <a:latin typeface="Segoe UI"/>
              </a:rPr>
              <a:t>Value: raise demand-forecast accuracy  60% → 85% → 90%</a:t>
            </a:r>
          </a:p>
        </p:txBody>
      </p:sp>
      <p:sp>
        <p:nvSpPr>
          <p:cNvPr id="25" name="TextBox 24"/>
          <p:cNvSpPr txBox="1"/>
          <p:nvPr/>
        </p:nvSpPr>
        <p:spPr>
          <a:xfrm>
            <a:off x="658368" y="5449824"/>
            <a:ext cx="10972800" cy="731520"/>
          </a:xfrm>
          <a:prstGeom prst="rect">
            <a:avLst/>
          </a:prstGeom>
          <a:noFill/>
        </p:spPr>
        <p:txBody>
          <a:bodyPr wrap="square" lIns="38100" tIns="12700" rIns="38100" bIns="12700">
            <a:spAutoFit/>
          </a:bodyPr>
          <a:lstStyle/>
          <a:p>
            <a:pPr algn="l"/>
            <a:r>
              <a:rPr sz="1100" b="0" i="0">
                <a:solidFill>
                  <a:srgbClr val="1D2430"/>
                </a:solidFill>
                <a:latin typeface="Segoe UI"/>
              </a:rPr>
              <a:t>Driven by the behavioral digital twin (1,536-d embeddings), 67 engineered features, the two-phase hurdle model, cold-start for new items, and drift early-warning. Flow: DLA source systems → bronze · silver · gold → digital twin → 67 features → model — validated out-of-sample at each step.</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47120" cy="457200"/>
          </a:xfrm>
          <a:prstGeom prst="rect">
            <a:avLst/>
          </a:prstGeom>
          <a:noFill/>
        </p:spPr>
        <p:txBody>
          <a:bodyPr wrap="square" lIns="25400" rIns="25400">
            <a:spAutoFit/>
          </a:bodyPr>
          <a:lstStyle/>
          <a:p>
            <a:r>
              <a:rPr sz="2300" b="1" i="0">
                <a:solidFill>
                  <a:srgbClr val="102A4C"/>
                </a:solidFill>
                <a:latin typeface="Segoe UI"/>
              </a:rPr>
              <a:t>Plan, timeline and cost (ROM)</a:t>
            </a:r>
          </a:p>
        </p:txBody>
      </p:sp>
      <p:sp>
        <p:nvSpPr>
          <p:cNvPr id="3" name="TextBox 2"/>
          <p:cNvSpPr txBox="1"/>
          <p:nvPr/>
        </p:nvSpPr>
        <p:spPr>
          <a:xfrm>
            <a:off x="457200" y="786384"/>
            <a:ext cx="11247120" cy="457200"/>
          </a:xfrm>
          <a:prstGeom prst="rect">
            <a:avLst/>
          </a:prstGeom>
          <a:noFill/>
        </p:spPr>
        <p:txBody>
          <a:bodyPr wrap="square" lIns="25400" rIns="25400">
            <a:spAutoFit/>
          </a:bodyPr>
          <a:lstStyle/>
          <a:p>
            <a:r>
              <a:rPr sz="1150" b="0" i="0">
                <a:solidFill>
                  <a:srgbClr val="5E6A75"/>
                </a:solidFill>
                <a:latin typeface="Segoe UI"/>
              </a:rPr>
              <a:t>Full real-data MVP — source-system integration, data governance, ATO/security, and MLOps. ~10-11 months; 8-10 roles (peak ~5-6 concurrent). Bottom-up from the activity-level program plan (Excel).</a:t>
            </a:r>
          </a:p>
        </p:txBody>
      </p:sp>
      <p:sp>
        <p:nvSpPr>
          <p:cNvPr id="4" name="TextBox 3"/>
          <p:cNvSpPr txBox="1"/>
          <p:nvPr/>
        </p:nvSpPr>
        <p:spPr>
          <a:xfrm>
            <a:off x="457200" y="1371600"/>
            <a:ext cx="5486400" cy="274320"/>
          </a:xfrm>
          <a:prstGeom prst="rect">
            <a:avLst/>
          </a:prstGeom>
          <a:noFill/>
        </p:spPr>
        <p:txBody>
          <a:bodyPr wrap="square" lIns="25400" rIns="25400">
            <a:spAutoFit/>
          </a:bodyPr>
          <a:lstStyle/>
          <a:p>
            <a:r>
              <a:rPr sz="1300" b="1" i="0">
                <a:solidFill>
                  <a:srgbClr val="102A4C"/>
                </a:solidFill>
                <a:latin typeface="Segoe UI"/>
              </a:rPr>
              <a:t>Phases (~44 weeks)</a:t>
            </a:r>
          </a:p>
        </p:txBody>
      </p:sp>
      <p:graphicFrame>
        <p:nvGraphicFramePr>
          <p:cNvPr id="5" name="Table 4"/>
          <p:cNvGraphicFramePr>
            <a:graphicFrameLocks noGrp="1"/>
          </p:cNvGraphicFramePr>
          <p:nvPr/>
        </p:nvGraphicFramePr>
        <p:xfrm>
          <a:off x="457200" y="1691640"/>
          <a:ext cx="5486400" cy="292608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tblGrid>
              <a:tr h="418011">
                <a:tc>
                  <a:txBody>
                    <a:bodyPr/>
                    <a:lstStyle/>
                    <a:p>
                      <a:r>
                        <a:rPr sz="1050" b="1">
                          <a:solidFill>
                            <a:srgbClr val="FFFFFF"/>
                          </a:solidFill>
                          <a:latin typeface="Segoe UI"/>
                        </a:rPr>
                        <a:t>Phase</a:t>
                      </a:r>
                    </a:p>
                  </a:txBody>
                  <a:tcPr>
                    <a:solidFill>
                      <a:srgbClr val="102A4C"/>
                    </a:solidFill>
                  </a:tcPr>
                </a:tc>
                <a:tc>
                  <a:txBody>
                    <a:bodyPr/>
                    <a:lstStyle/>
                    <a:p>
                      <a:r>
                        <a:rPr sz="1050" b="1">
                          <a:solidFill>
                            <a:srgbClr val="FFFFFF"/>
                          </a:solidFill>
                          <a:latin typeface="Segoe UI"/>
                        </a:rPr>
                        <a:t>Weeks</a:t>
                      </a:r>
                    </a:p>
                  </a:txBody>
                  <a:tcPr>
                    <a:solidFill>
                      <a:srgbClr val="102A4C"/>
                    </a:solidFill>
                  </a:tcPr>
                </a:tc>
                <a:extLst>
                  <a:ext uri="{0D108BD9-81ED-4DB2-BD59-A6C34878D82A}">
                    <a16:rowId xmlns:a16="http://schemas.microsoft.com/office/drawing/2014/main" val="10000"/>
                  </a:ext>
                </a:extLst>
              </a:tr>
              <a:tr h="418011">
                <a:tc>
                  <a:txBody>
                    <a:bodyPr/>
                    <a:lstStyle/>
                    <a:p>
                      <a:r>
                        <a:rPr sz="1050" b="0">
                          <a:solidFill>
                            <a:srgbClr val="1D2430"/>
                          </a:solidFill>
                          <a:latin typeface="Segoe UI"/>
                        </a:rPr>
                        <a:t>0  Mobilize, scope &amp; data access</a:t>
                      </a:r>
                    </a:p>
                  </a:txBody>
                  <a:tcPr>
                    <a:solidFill>
                      <a:srgbClr val="FFFFFF"/>
                    </a:solidFill>
                  </a:tcPr>
                </a:tc>
                <a:tc>
                  <a:txBody>
                    <a:bodyPr/>
                    <a:lstStyle/>
                    <a:p>
                      <a:r>
                        <a:rPr sz="1050" b="0">
                          <a:solidFill>
                            <a:srgbClr val="1D2430"/>
                          </a:solidFill>
                          <a:latin typeface="Segoe UI"/>
                        </a:rPr>
                        <a:t>6</a:t>
                      </a:r>
                    </a:p>
                  </a:txBody>
                  <a:tcPr>
                    <a:solidFill>
                      <a:srgbClr val="FFFFFF"/>
                    </a:solidFill>
                  </a:tcPr>
                </a:tc>
                <a:extLst>
                  <a:ext uri="{0D108BD9-81ED-4DB2-BD59-A6C34878D82A}">
                    <a16:rowId xmlns:a16="http://schemas.microsoft.com/office/drawing/2014/main" val="10001"/>
                  </a:ext>
                </a:extLst>
              </a:tr>
              <a:tr h="418011">
                <a:tc>
                  <a:txBody>
                    <a:bodyPr/>
                    <a:lstStyle/>
                    <a:p>
                      <a:r>
                        <a:rPr sz="1050" b="0">
                          <a:solidFill>
                            <a:srgbClr val="1D2430"/>
                          </a:solidFill>
                          <a:latin typeface="Segoe UI"/>
                        </a:rPr>
                        <a:t>1  Data integration &amp; medallion</a:t>
                      </a:r>
                    </a:p>
                  </a:txBody>
                  <a:tcPr>
                    <a:solidFill>
                      <a:srgbClr val="EBF0F8"/>
                    </a:solidFill>
                  </a:tcPr>
                </a:tc>
                <a:tc>
                  <a:txBody>
                    <a:bodyPr/>
                    <a:lstStyle/>
                    <a:p>
                      <a:r>
                        <a:rPr sz="1050" b="0">
                          <a:solidFill>
                            <a:srgbClr val="1D2430"/>
                          </a:solidFill>
                          <a:latin typeface="Segoe UI"/>
                        </a:rPr>
                        <a:t>14</a:t>
                      </a:r>
                    </a:p>
                  </a:txBody>
                  <a:tcPr>
                    <a:solidFill>
                      <a:srgbClr val="EBF0F8"/>
                    </a:solidFill>
                  </a:tcPr>
                </a:tc>
                <a:extLst>
                  <a:ext uri="{0D108BD9-81ED-4DB2-BD59-A6C34878D82A}">
                    <a16:rowId xmlns:a16="http://schemas.microsoft.com/office/drawing/2014/main" val="10002"/>
                  </a:ext>
                </a:extLst>
              </a:tr>
              <a:tr h="418011">
                <a:tc>
                  <a:txBody>
                    <a:bodyPr/>
                    <a:lstStyle/>
                    <a:p>
                      <a:r>
                        <a:rPr sz="1050" b="0">
                          <a:solidFill>
                            <a:srgbClr val="1D2430"/>
                          </a:solidFill>
                          <a:latin typeface="Segoe UI"/>
                        </a:rPr>
                        <a:t>2  Digital twin + 67 features</a:t>
                      </a:r>
                    </a:p>
                  </a:txBody>
                  <a:tcPr>
                    <a:solidFill>
                      <a:srgbClr val="FFFFFF"/>
                    </a:solidFill>
                  </a:tcPr>
                </a:tc>
                <a:tc>
                  <a:txBody>
                    <a:bodyPr/>
                    <a:lstStyle/>
                    <a:p>
                      <a:r>
                        <a:rPr sz="1050" b="0">
                          <a:solidFill>
                            <a:srgbClr val="1D2430"/>
                          </a:solidFill>
                          <a:latin typeface="Segoe UI"/>
                        </a:rPr>
                        <a:t>8</a:t>
                      </a:r>
                    </a:p>
                  </a:txBody>
                  <a:tcPr>
                    <a:solidFill>
                      <a:srgbClr val="FFFFFF"/>
                    </a:solidFill>
                  </a:tcPr>
                </a:tc>
                <a:extLst>
                  <a:ext uri="{0D108BD9-81ED-4DB2-BD59-A6C34878D82A}">
                    <a16:rowId xmlns:a16="http://schemas.microsoft.com/office/drawing/2014/main" val="10003"/>
                  </a:ext>
                </a:extLst>
              </a:tr>
              <a:tr h="418011">
                <a:tc>
                  <a:txBody>
                    <a:bodyPr/>
                    <a:lstStyle/>
                    <a:p>
                      <a:r>
                        <a:rPr sz="1050" b="0">
                          <a:solidFill>
                            <a:srgbClr val="1D2430"/>
                          </a:solidFill>
                          <a:latin typeface="Segoe UI"/>
                        </a:rPr>
                        <a:t>3  Train, validate, calibrate</a:t>
                      </a:r>
                    </a:p>
                  </a:txBody>
                  <a:tcPr>
                    <a:solidFill>
                      <a:srgbClr val="EBF0F8"/>
                    </a:solidFill>
                  </a:tcPr>
                </a:tc>
                <a:tc>
                  <a:txBody>
                    <a:bodyPr/>
                    <a:lstStyle/>
                    <a:p>
                      <a:r>
                        <a:rPr sz="1050" b="0">
                          <a:solidFill>
                            <a:srgbClr val="1D2430"/>
                          </a:solidFill>
                          <a:latin typeface="Segoe UI"/>
                        </a:rPr>
                        <a:t>8</a:t>
                      </a:r>
                    </a:p>
                  </a:txBody>
                  <a:tcPr>
                    <a:solidFill>
                      <a:srgbClr val="EBF0F8"/>
                    </a:solidFill>
                  </a:tcPr>
                </a:tc>
                <a:extLst>
                  <a:ext uri="{0D108BD9-81ED-4DB2-BD59-A6C34878D82A}">
                    <a16:rowId xmlns:a16="http://schemas.microsoft.com/office/drawing/2014/main" val="10004"/>
                  </a:ext>
                </a:extLst>
              </a:tr>
              <a:tr h="418011">
                <a:tc>
                  <a:txBody>
                    <a:bodyPr/>
                    <a:lstStyle/>
                    <a:p>
                      <a:r>
                        <a:rPr sz="1050" b="0">
                          <a:solidFill>
                            <a:srgbClr val="1D2430"/>
                          </a:solidFill>
                          <a:latin typeface="Segoe UI"/>
                        </a:rPr>
                        <a:t>4  Harden, MLOps, ATO, readout</a:t>
                      </a:r>
                    </a:p>
                  </a:txBody>
                  <a:tcPr>
                    <a:solidFill>
                      <a:srgbClr val="FFFFFF"/>
                    </a:solidFill>
                  </a:tcPr>
                </a:tc>
                <a:tc>
                  <a:txBody>
                    <a:bodyPr/>
                    <a:lstStyle/>
                    <a:p>
                      <a:r>
                        <a:rPr sz="1050" b="0">
                          <a:solidFill>
                            <a:srgbClr val="1D2430"/>
                          </a:solidFill>
                          <a:latin typeface="Segoe UI"/>
                        </a:rPr>
                        <a:t>8</a:t>
                      </a:r>
                    </a:p>
                  </a:txBody>
                  <a:tcPr>
                    <a:solidFill>
                      <a:srgbClr val="FFFFFF"/>
                    </a:solidFill>
                  </a:tcPr>
                </a:tc>
                <a:extLst>
                  <a:ext uri="{0D108BD9-81ED-4DB2-BD59-A6C34878D82A}">
                    <a16:rowId xmlns:a16="http://schemas.microsoft.com/office/drawing/2014/main" val="10005"/>
                  </a:ext>
                </a:extLst>
              </a:tr>
              <a:tr h="418014">
                <a:tc>
                  <a:txBody>
                    <a:bodyPr/>
                    <a:lstStyle/>
                    <a:p>
                      <a:r>
                        <a:rPr sz="1050" b="1">
                          <a:solidFill>
                            <a:srgbClr val="1D2430"/>
                          </a:solidFill>
                          <a:latin typeface="Segoe UI"/>
                        </a:rPr>
                        <a:t>Total (calendar)</a:t>
                      </a:r>
                    </a:p>
                  </a:txBody>
                  <a:tcPr>
                    <a:solidFill>
                      <a:srgbClr val="E6F4EA"/>
                    </a:solidFill>
                  </a:tcPr>
                </a:tc>
                <a:tc>
                  <a:txBody>
                    <a:bodyPr/>
                    <a:lstStyle/>
                    <a:p>
                      <a:r>
                        <a:rPr sz="1050" b="1">
                          <a:solidFill>
                            <a:srgbClr val="1D2430"/>
                          </a:solidFill>
                          <a:latin typeface="Segoe UI"/>
                        </a:rPr>
                        <a:t>~44  (~10-11 mo)</a:t>
                      </a:r>
                    </a:p>
                  </a:txBody>
                  <a:tcPr>
                    <a:solidFill>
                      <a:srgbClr val="E6F4EA"/>
                    </a:solidFill>
                  </a:tcPr>
                </a:tc>
                <a:extLst>
                  <a:ext uri="{0D108BD9-81ED-4DB2-BD59-A6C34878D82A}">
                    <a16:rowId xmlns:a16="http://schemas.microsoft.com/office/drawing/2014/main" val="10006"/>
                  </a:ext>
                </a:extLst>
              </a:tr>
            </a:tbl>
          </a:graphicData>
        </a:graphic>
      </p:graphicFrame>
      <p:sp>
        <p:nvSpPr>
          <p:cNvPr id="6" name="TextBox 5"/>
          <p:cNvSpPr txBox="1"/>
          <p:nvPr/>
        </p:nvSpPr>
        <p:spPr>
          <a:xfrm>
            <a:off x="6309360" y="1371600"/>
            <a:ext cx="5486400" cy="274320"/>
          </a:xfrm>
          <a:prstGeom prst="rect">
            <a:avLst/>
          </a:prstGeom>
          <a:noFill/>
        </p:spPr>
        <p:txBody>
          <a:bodyPr wrap="square" lIns="25400" rIns="25400">
            <a:spAutoFit/>
          </a:bodyPr>
          <a:lstStyle/>
          <a:p>
            <a:r>
              <a:rPr sz="1300" b="1" i="0">
                <a:solidFill>
                  <a:srgbClr val="102A4C"/>
                </a:solidFill>
                <a:latin typeface="Segoe UI"/>
              </a:rPr>
              <a:t>Budget roll-up (ROM)</a:t>
            </a:r>
          </a:p>
        </p:txBody>
      </p:sp>
      <p:graphicFrame>
        <p:nvGraphicFramePr>
          <p:cNvPr id="7" name="Table 6"/>
          <p:cNvGraphicFramePr>
            <a:graphicFrameLocks noGrp="1"/>
          </p:cNvGraphicFramePr>
          <p:nvPr/>
        </p:nvGraphicFramePr>
        <p:xfrm>
          <a:off x="6309360" y="1691640"/>
          <a:ext cx="5212080" cy="3291840"/>
        </p:xfrm>
        <a:graphic>
          <a:graphicData uri="http://schemas.openxmlformats.org/drawingml/2006/table">
            <a:tbl>
              <a:tblPr firstRow="1" bandRow="1">
                <a:tableStyleId>{5C22544A-7EE6-4342-B048-85BDC9FD1C3A}</a:tableStyleId>
              </a:tblPr>
              <a:tblGrid>
                <a:gridCol w="384048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tblGrid>
              <a:tr h="470262">
                <a:tc>
                  <a:txBody>
                    <a:bodyPr/>
                    <a:lstStyle/>
                    <a:p>
                      <a:r>
                        <a:rPr sz="1050" b="1">
                          <a:solidFill>
                            <a:srgbClr val="FFFFFF"/>
                          </a:solidFill>
                          <a:latin typeface="Segoe UI"/>
                        </a:rPr>
                        <a:t>Cost category</a:t>
                      </a:r>
                    </a:p>
                  </a:txBody>
                  <a:tcPr>
                    <a:solidFill>
                      <a:srgbClr val="102A4C"/>
                    </a:solidFill>
                  </a:tcPr>
                </a:tc>
                <a:tc>
                  <a:txBody>
                    <a:bodyPr/>
                    <a:lstStyle/>
                    <a:p>
                      <a:r>
                        <a:rPr sz="1050" b="1">
                          <a:solidFill>
                            <a:srgbClr val="FFFFFF"/>
                          </a:solidFill>
                          <a:latin typeface="Segoe UI"/>
                        </a:rPr>
                        <a:t>ROM $</a:t>
                      </a:r>
                    </a:p>
                  </a:txBody>
                  <a:tcPr>
                    <a:solidFill>
                      <a:srgbClr val="102A4C"/>
                    </a:solidFill>
                  </a:tcPr>
                </a:tc>
                <a:extLst>
                  <a:ext uri="{0D108BD9-81ED-4DB2-BD59-A6C34878D82A}">
                    <a16:rowId xmlns:a16="http://schemas.microsoft.com/office/drawing/2014/main" val="10000"/>
                  </a:ext>
                </a:extLst>
              </a:tr>
              <a:tr h="470262">
                <a:tc>
                  <a:txBody>
                    <a:bodyPr/>
                    <a:lstStyle/>
                    <a:p>
                      <a:r>
                        <a:rPr sz="1050" b="0">
                          <a:solidFill>
                            <a:srgbClr val="1D2430"/>
                          </a:solidFill>
                          <a:latin typeface="Segoe UI"/>
                        </a:rPr>
                        <a:t>Labor (142 FTE-weeks @ $250/hr loaded)</a:t>
                      </a:r>
                    </a:p>
                  </a:txBody>
                  <a:tcPr>
                    <a:solidFill>
                      <a:srgbClr val="FFFFFF"/>
                    </a:solidFill>
                  </a:tcPr>
                </a:tc>
                <a:tc>
                  <a:txBody>
                    <a:bodyPr/>
                    <a:lstStyle/>
                    <a:p>
                      <a:r>
                        <a:rPr sz="1050" b="0">
                          <a:solidFill>
                            <a:srgbClr val="1D2430"/>
                          </a:solidFill>
                          <a:latin typeface="Segoe UI"/>
                        </a:rPr>
                        <a:t>$1.42M</a:t>
                      </a:r>
                    </a:p>
                  </a:txBody>
                  <a:tcPr>
                    <a:solidFill>
                      <a:srgbClr val="FFFFFF"/>
                    </a:solidFill>
                  </a:tcPr>
                </a:tc>
                <a:extLst>
                  <a:ext uri="{0D108BD9-81ED-4DB2-BD59-A6C34878D82A}">
                    <a16:rowId xmlns:a16="http://schemas.microsoft.com/office/drawing/2014/main" val="10001"/>
                  </a:ext>
                </a:extLst>
              </a:tr>
              <a:tr h="470262">
                <a:tc>
                  <a:txBody>
                    <a:bodyPr/>
                    <a:lstStyle/>
                    <a:p>
                      <a:r>
                        <a:rPr sz="1050" b="0">
                          <a:solidFill>
                            <a:srgbClr val="1D2430"/>
                          </a:solidFill>
                          <a:latin typeface="Segoe UI"/>
                        </a:rPr>
                        <a:t>Infrastructure &amp; compute</a:t>
                      </a:r>
                    </a:p>
                  </a:txBody>
                  <a:tcPr>
                    <a:solidFill>
                      <a:srgbClr val="EBF0F8"/>
                    </a:solidFill>
                  </a:tcPr>
                </a:tc>
                <a:tc>
                  <a:txBody>
                    <a:bodyPr/>
                    <a:lstStyle/>
                    <a:p>
                      <a:r>
                        <a:rPr sz="1050" b="0">
                          <a:solidFill>
                            <a:srgbClr val="1D2430"/>
                          </a:solidFill>
                          <a:latin typeface="Segoe UI"/>
                        </a:rPr>
                        <a:t>$0.25M</a:t>
                      </a:r>
                    </a:p>
                  </a:txBody>
                  <a:tcPr>
                    <a:solidFill>
                      <a:srgbClr val="EBF0F8"/>
                    </a:solidFill>
                  </a:tcPr>
                </a:tc>
                <a:extLst>
                  <a:ext uri="{0D108BD9-81ED-4DB2-BD59-A6C34878D82A}">
                    <a16:rowId xmlns:a16="http://schemas.microsoft.com/office/drawing/2014/main" val="10002"/>
                  </a:ext>
                </a:extLst>
              </a:tr>
              <a:tr h="470262">
                <a:tc>
                  <a:txBody>
                    <a:bodyPr/>
                    <a:lstStyle/>
                    <a:p>
                      <a:r>
                        <a:rPr sz="1050" b="0">
                          <a:solidFill>
                            <a:srgbClr val="1D2430"/>
                          </a:solidFill>
                          <a:latin typeface="Segoe UI"/>
                        </a:rPr>
                        <a:t>Security &amp; ATO</a:t>
                      </a:r>
                    </a:p>
                  </a:txBody>
                  <a:tcPr>
                    <a:solidFill>
                      <a:srgbClr val="FFFFFF"/>
                    </a:solidFill>
                  </a:tcPr>
                </a:tc>
                <a:tc>
                  <a:txBody>
                    <a:bodyPr/>
                    <a:lstStyle/>
                    <a:p>
                      <a:r>
                        <a:rPr sz="1050" b="0">
                          <a:solidFill>
                            <a:srgbClr val="1D2430"/>
                          </a:solidFill>
                          <a:latin typeface="Segoe UI"/>
                        </a:rPr>
                        <a:t>$0.20M</a:t>
                      </a:r>
                    </a:p>
                  </a:txBody>
                  <a:tcPr>
                    <a:solidFill>
                      <a:srgbClr val="FFFFFF"/>
                    </a:solidFill>
                  </a:tcPr>
                </a:tc>
                <a:extLst>
                  <a:ext uri="{0D108BD9-81ED-4DB2-BD59-A6C34878D82A}">
                    <a16:rowId xmlns:a16="http://schemas.microsoft.com/office/drawing/2014/main" val="10003"/>
                  </a:ext>
                </a:extLst>
              </a:tr>
              <a:tr h="470262">
                <a:tc>
                  <a:txBody>
                    <a:bodyPr/>
                    <a:lstStyle/>
                    <a:p>
                      <a:r>
                        <a:rPr sz="1050" b="0">
                          <a:solidFill>
                            <a:srgbClr val="1D2430"/>
                          </a:solidFill>
                          <a:latin typeface="Segoe UI"/>
                        </a:rPr>
                        <a:t>Data-integration tooling / licenses</a:t>
                      </a:r>
                    </a:p>
                  </a:txBody>
                  <a:tcPr>
                    <a:solidFill>
                      <a:srgbClr val="EBF0F8"/>
                    </a:solidFill>
                  </a:tcPr>
                </a:tc>
                <a:tc>
                  <a:txBody>
                    <a:bodyPr/>
                    <a:lstStyle/>
                    <a:p>
                      <a:r>
                        <a:rPr sz="1050" b="0">
                          <a:solidFill>
                            <a:srgbClr val="1D2430"/>
                          </a:solidFill>
                          <a:latin typeface="Segoe UI"/>
                        </a:rPr>
                        <a:t>$0.10M</a:t>
                      </a:r>
                    </a:p>
                  </a:txBody>
                  <a:tcPr>
                    <a:solidFill>
                      <a:srgbClr val="EBF0F8"/>
                    </a:solidFill>
                  </a:tcPr>
                </a:tc>
                <a:extLst>
                  <a:ext uri="{0D108BD9-81ED-4DB2-BD59-A6C34878D82A}">
                    <a16:rowId xmlns:a16="http://schemas.microsoft.com/office/drawing/2014/main" val="10004"/>
                  </a:ext>
                </a:extLst>
              </a:tr>
              <a:tr h="470262">
                <a:tc>
                  <a:txBody>
                    <a:bodyPr/>
                    <a:lstStyle/>
                    <a:p>
                      <a:r>
                        <a:rPr sz="1050" b="0">
                          <a:solidFill>
                            <a:srgbClr val="1D2430"/>
                          </a:solidFill>
                          <a:latin typeface="Segoe UI"/>
                        </a:rPr>
                        <a:t>Contingency (12%)</a:t>
                      </a:r>
                    </a:p>
                  </a:txBody>
                  <a:tcPr>
                    <a:solidFill>
                      <a:srgbClr val="FFFFFF"/>
                    </a:solidFill>
                  </a:tcPr>
                </a:tc>
                <a:tc>
                  <a:txBody>
                    <a:bodyPr/>
                    <a:lstStyle/>
                    <a:p>
                      <a:r>
                        <a:rPr sz="1050" b="0">
                          <a:solidFill>
                            <a:srgbClr val="1D2430"/>
                          </a:solidFill>
                          <a:latin typeface="Segoe UI"/>
                        </a:rPr>
                        <a:t>$0.24M</a:t>
                      </a:r>
                    </a:p>
                  </a:txBody>
                  <a:tcPr>
                    <a:solidFill>
                      <a:srgbClr val="FFFFFF"/>
                    </a:solidFill>
                  </a:tcPr>
                </a:tc>
                <a:extLst>
                  <a:ext uri="{0D108BD9-81ED-4DB2-BD59-A6C34878D82A}">
                    <a16:rowId xmlns:a16="http://schemas.microsoft.com/office/drawing/2014/main" val="10005"/>
                  </a:ext>
                </a:extLst>
              </a:tr>
              <a:tr h="470268">
                <a:tc>
                  <a:txBody>
                    <a:bodyPr/>
                    <a:lstStyle/>
                    <a:p>
                      <a:r>
                        <a:rPr sz="1050" b="1">
                          <a:solidFill>
                            <a:srgbClr val="1D2430"/>
                          </a:solidFill>
                          <a:latin typeface="Segoe UI"/>
                        </a:rPr>
                        <a:t>TOTAL PROGRAM (ROM)</a:t>
                      </a:r>
                    </a:p>
                  </a:txBody>
                  <a:tcPr>
                    <a:solidFill>
                      <a:srgbClr val="E6F4EA"/>
                    </a:solidFill>
                  </a:tcPr>
                </a:tc>
                <a:tc>
                  <a:txBody>
                    <a:bodyPr/>
                    <a:lstStyle/>
                    <a:p>
                      <a:r>
                        <a:rPr sz="1050" b="1">
                          <a:solidFill>
                            <a:srgbClr val="1D2430"/>
                          </a:solidFill>
                          <a:latin typeface="Segoe UI"/>
                        </a:rPr>
                        <a:t>~$2.2M</a:t>
                      </a:r>
                    </a:p>
                  </a:txBody>
                  <a:tcPr>
                    <a:solidFill>
                      <a:srgbClr val="E6F4EA"/>
                    </a:solidFill>
                  </a:tcPr>
                </a:tc>
                <a:extLst>
                  <a:ext uri="{0D108BD9-81ED-4DB2-BD59-A6C34878D82A}">
                    <a16:rowId xmlns:a16="http://schemas.microsoft.com/office/drawing/2014/main" val="10006"/>
                  </a:ext>
                </a:extLst>
              </a:tr>
            </a:tbl>
          </a:graphicData>
        </a:graphic>
      </p:graphicFrame>
      <p:sp>
        <p:nvSpPr>
          <p:cNvPr id="8" name="TextBox 7"/>
          <p:cNvSpPr txBox="1"/>
          <p:nvPr/>
        </p:nvSpPr>
        <p:spPr>
          <a:xfrm>
            <a:off x="457200" y="5120640"/>
            <a:ext cx="11247120" cy="640080"/>
          </a:xfrm>
          <a:prstGeom prst="rect">
            <a:avLst/>
          </a:prstGeom>
          <a:noFill/>
        </p:spPr>
        <p:txBody>
          <a:bodyPr wrap="square" lIns="25400" rIns="25400">
            <a:spAutoFit/>
          </a:bodyPr>
          <a:lstStyle/>
          <a:p>
            <a:r>
              <a:rPr sz="1050" b="0" i="1">
                <a:solidFill>
                  <a:srgbClr val="1F5E9C"/>
                </a:solidFill>
                <a:latin typeface="Segoe UI"/>
              </a:rPr>
              <a:t>Sized to a $2-3M envelope. Labor is the bottom-up sum of the activity x role plan; rate and contingency are editable in the workbook. Calendar assumes phase-internal parallelism; effort (FTE-weeks) is rate-independent. Dollars are ROM — refine with final scope and loaded rates.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47120" cy="457200"/>
          </a:xfrm>
          <a:prstGeom prst="rect">
            <a:avLst/>
          </a:prstGeom>
          <a:noFill/>
        </p:spPr>
        <p:txBody>
          <a:bodyPr wrap="square" lIns="25400" tIns="12700" rIns="25400" bIns="12700">
            <a:spAutoFit/>
          </a:bodyPr>
          <a:lstStyle/>
          <a:p>
            <a:pPr algn="l"/>
            <a:r>
              <a:rPr sz="2200" b="1" i="0">
                <a:solidFill>
                  <a:srgbClr val="102A4C"/>
                </a:solidFill>
                <a:latin typeface="Segoe UI"/>
              </a:rPr>
              <a:t>Readiness, outcomes and next steps</a:t>
            </a:r>
          </a:p>
        </p:txBody>
      </p:sp>
      <p:sp>
        <p:nvSpPr>
          <p:cNvPr id="3" name="Rectangle 2"/>
          <p:cNvSpPr/>
          <p:nvPr/>
        </p:nvSpPr>
        <p:spPr>
          <a:xfrm>
            <a:off x="457200" y="960120"/>
            <a:ext cx="5669280" cy="4754880"/>
          </a:xfrm>
          <a:prstGeom prst="rect">
            <a:avLst/>
          </a:prstGeom>
          <a:solidFill>
            <a:srgbClr val="FFFFFF"/>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024128"/>
            <a:ext cx="5394960" cy="274320"/>
          </a:xfrm>
          <a:prstGeom prst="rect">
            <a:avLst/>
          </a:prstGeom>
          <a:noFill/>
        </p:spPr>
        <p:txBody>
          <a:bodyPr wrap="square" lIns="25400" tIns="12700" rIns="25400" bIns="12700">
            <a:spAutoFit/>
          </a:bodyPr>
          <a:lstStyle/>
          <a:p>
            <a:pPr algn="l"/>
            <a:r>
              <a:rPr sz="1300" b="1" i="0">
                <a:solidFill>
                  <a:srgbClr val="102A4C"/>
                </a:solidFill>
                <a:latin typeface="Segoe UI"/>
              </a:rPr>
              <a:t>Prerequisites + data-quality gates</a:t>
            </a:r>
          </a:p>
        </p:txBody>
      </p:sp>
      <p:sp>
        <p:nvSpPr>
          <p:cNvPr id="5" name="TextBox 4"/>
          <p:cNvSpPr txBox="1"/>
          <p:nvPr/>
        </p:nvSpPr>
        <p:spPr>
          <a:xfrm>
            <a:off x="640080" y="1371600"/>
            <a:ext cx="5394960" cy="1371600"/>
          </a:xfrm>
          <a:prstGeom prst="rect">
            <a:avLst/>
          </a:prstGeom>
          <a:noFill/>
        </p:spPr>
        <p:txBody>
          <a:bodyPr wrap="square">
            <a:spAutoFit/>
          </a:bodyPr>
          <a:lstStyle/>
          <a:p>
            <a:pPr>
              <a:spcAft>
                <a:spcPts val="200"/>
              </a:spcAft>
            </a:pPr>
            <a:r>
              <a:rPr sz="1000">
                <a:solidFill>
                  <a:srgbClr val="1D2430"/>
                </a:solidFill>
                <a:latin typeface="Segoe UI"/>
              </a:rPr>
              <a:t>• Data access / ATO; warehouse + compute; embedding service</a:t>
            </a:r>
          </a:p>
          <a:p>
            <a:pPr>
              <a:spcAft>
                <a:spcPts val="200"/>
              </a:spcAft>
            </a:pPr>
            <a:r>
              <a:rPr sz="1000">
                <a:solidFill>
                  <a:srgbClr val="1D2430"/>
                </a:solidFill>
                <a:latin typeface="Segoe UI"/>
              </a:rPr>
              <a:t>• 18-24 months history per item; SME for sign-off</a:t>
            </a:r>
          </a:p>
        </p:txBody>
      </p:sp>
      <p:graphicFrame>
        <p:nvGraphicFramePr>
          <p:cNvPr id="6" name="Table 5"/>
          <p:cNvGraphicFramePr>
            <a:graphicFrameLocks noGrp="1"/>
          </p:cNvGraphicFramePr>
          <p:nvPr/>
        </p:nvGraphicFramePr>
        <p:xfrm>
          <a:off x="594360" y="2468880"/>
          <a:ext cx="5212080" cy="3017520"/>
        </p:xfrm>
        <a:graphic>
          <a:graphicData uri="http://schemas.openxmlformats.org/drawingml/2006/table">
            <a:tbl>
              <a:tblPr firstRow="1" bandRow="1">
                <a:tableStyleId>{5C22544A-7EE6-4342-B048-85BDC9FD1C3A}</a:tableStyleId>
              </a:tblPr>
              <a:tblGrid>
                <a:gridCol w="384048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tblGrid>
              <a:tr h="431074">
                <a:tc>
                  <a:txBody>
                    <a:bodyPr/>
                    <a:lstStyle/>
                    <a:p>
                      <a:r>
                        <a:rPr sz="1000" b="1">
                          <a:solidFill>
                            <a:srgbClr val="FFFFFF"/>
                          </a:solidFill>
                          <a:latin typeface="Segoe UI"/>
                        </a:rPr>
                        <a:t>DQ dimension</a:t>
                      </a:r>
                    </a:p>
                  </a:txBody>
                  <a:tcPr>
                    <a:solidFill>
                      <a:srgbClr val="102A4C"/>
                    </a:solidFill>
                  </a:tcPr>
                </a:tc>
                <a:tc>
                  <a:txBody>
                    <a:bodyPr/>
                    <a:lstStyle/>
                    <a:p>
                      <a:r>
                        <a:rPr sz="1000" b="1">
                          <a:solidFill>
                            <a:srgbClr val="FFFFFF"/>
                          </a:solidFill>
                          <a:latin typeface="Segoe UI"/>
                        </a:rPr>
                        <a:t>Gate</a:t>
                      </a:r>
                    </a:p>
                  </a:txBody>
                  <a:tcPr>
                    <a:solidFill>
                      <a:srgbClr val="102A4C"/>
                    </a:solidFill>
                  </a:tcPr>
                </a:tc>
                <a:extLst>
                  <a:ext uri="{0D108BD9-81ED-4DB2-BD59-A6C34878D82A}">
                    <a16:rowId xmlns:a16="http://schemas.microsoft.com/office/drawing/2014/main" val="10000"/>
                  </a:ext>
                </a:extLst>
              </a:tr>
              <a:tr h="431074">
                <a:tc>
                  <a:txBody>
                    <a:bodyPr/>
                    <a:lstStyle/>
                    <a:p>
                      <a:r>
                        <a:rPr sz="950" b="0">
                          <a:solidFill>
                            <a:srgbClr val="1D2430"/>
                          </a:solidFill>
                          <a:latin typeface="Segoe UI"/>
                        </a:rPr>
                        <a:t>Completeness</a:t>
                      </a:r>
                    </a:p>
                  </a:txBody>
                  <a:tcPr>
                    <a:solidFill>
                      <a:srgbClr val="FFFFFF"/>
                    </a:solidFill>
                  </a:tcPr>
                </a:tc>
                <a:tc>
                  <a:txBody>
                    <a:bodyPr/>
                    <a:lstStyle/>
                    <a:p>
                      <a:r>
                        <a:rPr sz="950" b="0">
                          <a:solidFill>
                            <a:srgbClr val="1D2430"/>
                          </a:solidFill>
                          <a:latin typeface="Segoe UI"/>
                        </a:rPr>
                        <a:t>≥ 95%</a:t>
                      </a:r>
                    </a:p>
                  </a:txBody>
                  <a:tcPr>
                    <a:solidFill>
                      <a:srgbClr val="FFFFFF"/>
                    </a:solidFill>
                  </a:tcPr>
                </a:tc>
                <a:extLst>
                  <a:ext uri="{0D108BD9-81ED-4DB2-BD59-A6C34878D82A}">
                    <a16:rowId xmlns:a16="http://schemas.microsoft.com/office/drawing/2014/main" val="10001"/>
                  </a:ext>
                </a:extLst>
              </a:tr>
              <a:tr h="431074">
                <a:tc>
                  <a:txBody>
                    <a:bodyPr/>
                    <a:lstStyle/>
                    <a:p>
                      <a:r>
                        <a:rPr sz="950" b="0">
                          <a:solidFill>
                            <a:srgbClr val="1D2430"/>
                          </a:solidFill>
                          <a:latin typeface="Segoe UI"/>
                        </a:rPr>
                        <a:t>Accuracy (reconciles to source)</a:t>
                      </a:r>
                    </a:p>
                  </a:txBody>
                  <a:tcPr>
                    <a:solidFill>
                      <a:srgbClr val="EBF0F8"/>
                    </a:solidFill>
                  </a:tcPr>
                </a:tc>
                <a:tc>
                  <a:txBody>
                    <a:bodyPr/>
                    <a:lstStyle/>
                    <a:p>
                      <a:r>
                        <a:rPr sz="950" b="0">
                          <a:solidFill>
                            <a:srgbClr val="1D2430"/>
                          </a:solidFill>
                          <a:latin typeface="Segoe UI"/>
                        </a:rPr>
                        <a:t>≥ 98%</a:t>
                      </a:r>
                    </a:p>
                  </a:txBody>
                  <a:tcPr>
                    <a:solidFill>
                      <a:srgbClr val="EBF0F8"/>
                    </a:solidFill>
                  </a:tcPr>
                </a:tc>
                <a:extLst>
                  <a:ext uri="{0D108BD9-81ED-4DB2-BD59-A6C34878D82A}">
                    <a16:rowId xmlns:a16="http://schemas.microsoft.com/office/drawing/2014/main" val="10002"/>
                  </a:ext>
                </a:extLst>
              </a:tr>
              <a:tr h="431074">
                <a:tc>
                  <a:txBody>
                    <a:bodyPr/>
                    <a:lstStyle/>
                    <a:p>
                      <a:r>
                        <a:rPr sz="950" b="0">
                          <a:solidFill>
                            <a:srgbClr val="1D2430"/>
                          </a:solidFill>
                          <a:latin typeface="Segoe UI"/>
                        </a:rPr>
                        <a:t>Timeliness (lag to warehouse)</a:t>
                      </a:r>
                    </a:p>
                  </a:txBody>
                  <a:tcPr>
                    <a:solidFill>
                      <a:srgbClr val="FFFFFF"/>
                    </a:solidFill>
                  </a:tcPr>
                </a:tc>
                <a:tc>
                  <a:txBody>
                    <a:bodyPr/>
                    <a:lstStyle/>
                    <a:p>
                      <a:r>
                        <a:rPr sz="950" b="0">
                          <a:solidFill>
                            <a:srgbClr val="1D2430"/>
                          </a:solidFill>
                          <a:latin typeface="Segoe UI"/>
                        </a:rPr>
                        <a:t>≤ 24-48h</a:t>
                      </a:r>
                    </a:p>
                  </a:txBody>
                  <a:tcPr>
                    <a:solidFill>
                      <a:srgbClr val="FFFFFF"/>
                    </a:solidFill>
                  </a:tcPr>
                </a:tc>
                <a:extLst>
                  <a:ext uri="{0D108BD9-81ED-4DB2-BD59-A6C34878D82A}">
                    <a16:rowId xmlns:a16="http://schemas.microsoft.com/office/drawing/2014/main" val="10003"/>
                  </a:ext>
                </a:extLst>
              </a:tr>
              <a:tr h="431074">
                <a:tc>
                  <a:txBody>
                    <a:bodyPr/>
                    <a:lstStyle/>
                    <a:p>
                      <a:r>
                        <a:rPr sz="950" b="0">
                          <a:solidFill>
                            <a:srgbClr val="1D2430"/>
                          </a:solidFill>
                          <a:latin typeface="Segoe UI"/>
                        </a:rPr>
                        <a:t>Consistency (cross-system)</a:t>
                      </a:r>
                    </a:p>
                  </a:txBody>
                  <a:tcPr>
                    <a:solidFill>
                      <a:srgbClr val="EBF0F8"/>
                    </a:solidFill>
                  </a:tcPr>
                </a:tc>
                <a:tc>
                  <a:txBody>
                    <a:bodyPr/>
                    <a:lstStyle/>
                    <a:p>
                      <a:r>
                        <a:rPr sz="950" b="0">
                          <a:solidFill>
                            <a:srgbClr val="1D2430"/>
                          </a:solidFill>
                          <a:latin typeface="Segoe UI"/>
                        </a:rPr>
                        <a:t>reconciles</a:t>
                      </a:r>
                    </a:p>
                  </a:txBody>
                  <a:tcPr>
                    <a:solidFill>
                      <a:srgbClr val="EBF0F8"/>
                    </a:solidFill>
                  </a:tcPr>
                </a:tc>
                <a:extLst>
                  <a:ext uri="{0D108BD9-81ED-4DB2-BD59-A6C34878D82A}">
                    <a16:rowId xmlns:a16="http://schemas.microsoft.com/office/drawing/2014/main" val="10004"/>
                  </a:ext>
                </a:extLst>
              </a:tr>
              <a:tr h="431074">
                <a:tc>
                  <a:txBody>
                    <a:bodyPr/>
                    <a:lstStyle/>
                    <a:p>
                      <a:r>
                        <a:rPr sz="950" b="0">
                          <a:solidFill>
                            <a:srgbClr val="1D2430"/>
                          </a:solidFill>
                          <a:latin typeface="Segoe UI"/>
                        </a:rPr>
                        <a:t>Conformance (schema/codes)</a:t>
                      </a:r>
                    </a:p>
                  </a:txBody>
                  <a:tcPr>
                    <a:solidFill>
                      <a:srgbClr val="FFFFFF"/>
                    </a:solidFill>
                  </a:tcPr>
                </a:tc>
                <a:tc>
                  <a:txBody>
                    <a:bodyPr/>
                    <a:lstStyle/>
                    <a:p>
                      <a:r>
                        <a:rPr sz="950" b="0">
                          <a:solidFill>
                            <a:srgbClr val="1D2430"/>
                          </a:solidFill>
                          <a:latin typeface="Segoe UI"/>
                        </a:rPr>
                        <a:t>100%</a:t>
                      </a:r>
                    </a:p>
                  </a:txBody>
                  <a:tcPr>
                    <a:solidFill>
                      <a:srgbClr val="FFFFFF"/>
                    </a:solidFill>
                  </a:tcPr>
                </a:tc>
                <a:extLst>
                  <a:ext uri="{0D108BD9-81ED-4DB2-BD59-A6C34878D82A}">
                    <a16:rowId xmlns:a16="http://schemas.microsoft.com/office/drawing/2014/main" val="10005"/>
                  </a:ext>
                </a:extLst>
              </a:tr>
              <a:tr h="431076">
                <a:tc>
                  <a:txBody>
                    <a:bodyPr/>
                    <a:lstStyle/>
                    <a:p>
                      <a:r>
                        <a:rPr sz="950" b="0">
                          <a:solidFill>
                            <a:srgbClr val="1D2430"/>
                          </a:solidFill>
                          <a:latin typeface="Segoe UI"/>
                        </a:rPr>
                        <a:t>Uniqueness (no dup keys)</a:t>
                      </a:r>
                    </a:p>
                  </a:txBody>
                  <a:tcPr>
                    <a:solidFill>
                      <a:srgbClr val="EBF0F8"/>
                    </a:solidFill>
                  </a:tcPr>
                </a:tc>
                <a:tc>
                  <a:txBody>
                    <a:bodyPr/>
                    <a:lstStyle/>
                    <a:p>
                      <a:r>
                        <a:rPr sz="950" b="0">
                          <a:solidFill>
                            <a:srgbClr val="1D2430"/>
                          </a:solidFill>
                          <a:latin typeface="Segoe UI"/>
                        </a:rPr>
                        <a:t>≥ 99.9%</a:t>
                      </a:r>
                    </a:p>
                  </a:txBody>
                  <a:tcPr>
                    <a:solidFill>
                      <a:srgbClr val="EBF0F8"/>
                    </a:solidFill>
                  </a:tcPr>
                </a:tc>
                <a:extLst>
                  <a:ext uri="{0D108BD9-81ED-4DB2-BD59-A6C34878D82A}">
                    <a16:rowId xmlns:a16="http://schemas.microsoft.com/office/drawing/2014/main" val="10006"/>
                  </a:ext>
                </a:extLst>
              </a:tr>
            </a:tbl>
          </a:graphicData>
        </a:graphic>
      </p:graphicFrame>
      <p:sp>
        <p:nvSpPr>
          <p:cNvPr id="7" name="Rectangle 6"/>
          <p:cNvSpPr/>
          <p:nvPr/>
        </p:nvSpPr>
        <p:spPr>
          <a:xfrm>
            <a:off x="6309360" y="960120"/>
            <a:ext cx="5394960" cy="4754880"/>
          </a:xfrm>
          <a:prstGeom prst="rect">
            <a:avLst/>
          </a:prstGeom>
          <a:solidFill>
            <a:srgbClr val="FFFFFF"/>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46520" y="1024128"/>
            <a:ext cx="5120640" cy="274320"/>
          </a:xfrm>
          <a:prstGeom prst="rect">
            <a:avLst/>
          </a:prstGeom>
          <a:noFill/>
        </p:spPr>
        <p:txBody>
          <a:bodyPr wrap="square" lIns="25400" tIns="12700" rIns="25400" bIns="12700">
            <a:spAutoFit/>
          </a:bodyPr>
          <a:lstStyle/>
          <a:p>
            <a:pPr algn="l"/>
            <a:r>
              <a:rPr sz="1300" b="1" i="0">
                <a:solidFill>
                  <a:srgbClr val="102A4C"/>
                </a:solidFill>
                <a:latin typeface="Segoe UI"/>
              </a:rPr>
              <a:t>Success measures</a:t>
            </a:r>
          </a:p>
        </p:txBody>
      </p:sp>
      <p:sp>
        <p:nvSpPr>
          <p:cNvPr id="9" name="TextBox 8"/>
          <p:cNvSpPr txBox="1"/>
          <p:nvPr/>
        </p:nvSpPr>
        <p:spPr>
          <a:xfrm>
            <a:off x="6492240" y="1371600"/>
            <a:ext cx="5120640" cy="2011680"/>
          </a:xfrm>
          <a:prstGeom prst="rect">
            <a:avLst/>
          </a:prstGeom>
          <a:noFill/>
        </p:spPr>
        <p:txBody>
          <a:bodyPr wrap="square">
            <a:spAutoFit/>
          </a:bodyPr>
          <a:lstStyle/>
          <a:p>
            <a:pPr>
              <a:spcAft>
                <a:spcPts val="200"/>
              </a:spcAft>
            </a:pPr>
            <a:r>
              <a:rPr sz="1050">
                <a:solidFill>
                  <a:srgbClr val="1D2430"/>
                </a:solidFill>
                <a:latin typeface="Segoe UI"/>
              </a:rPr>
              <a:t>• Forecast accuracy lift vs legacy (WAPE/MASE) on held-out weeks — 60% → 85%</a:t>
            </a:r>
          </a:p>
          <a:p>
            <a:pPr>
              <a:spcAft>
                <a:spcPts val="200"/>
              </a:spcAft>
            </a:pPr>
            <a:r>
              <a:rPr sz="1050">
                <a:solidFill>
                  <a:srgbClr val="1D2430"/>
                </a:solidFill>
                <a:latin typeface="Segoe UI"/>
              </a:rPr>
              <a:t>• Over/under-procurement units avoided</a:t>
            </a:r>
          </a:p>
          <a:p>
            <a:pPr>
              <a:spcAft>
                <a:spcPts val="200"/>
              </a:spcAft>
            </a:pPr>
            <a:r>
              <a:rPr sz="1050">
                <a:solidFill>
                  <a:srgbClr val="1D2430"/>
                </a:solidFill>
                <a:latin typeface="Segoe UI"/>
              </a:rPr>
              <a:t>• Stockout exposure reduced at pilot depots</a:t>
            </a:r>
          </a:p>
          <a:p>
            <a:pPr>
              <a:spcAft>
                <a:spcPts val="200"/>
              </a:spcAft>
            </a:pPr>
            <a:r>
              <a:rPr sz="1050">
                <a:solidFill>
                  <a:srgbClr val="1D2430"/>
                </a:solidFill>
                <a:latin typeface="Segoe UI"/>
              </a:rPr>
              <a:t>• Cold-start coverage for new items</a:t>
            </a:r>
          </a:p>
          <a:p>
            <a:pPr>
              <a:spcAft>
                <a:spcPts val="200"/>
              </a:spcAft>
            </a:pPr>
            <a:r>
              <a:rPr sz="1050">
                <a:solidFill>
                  <a:srgbClr val="1D2430"/>
                </a:solidFill>
                <a:latin typeface="Segoe UI"/>
              </a:rPr>
              <a:t>• Data-quality gates met</a:t>
            </a:r>
          </a:p>
          <a:p>
            <a:pPr>
              <a:spcAft>
                <a:spcPts val="200"/>
              </a:spcAft>
            </a:pPr>
            <a:r>
              <a:rPr sz="1050">
                <a:solidFill>
                  <a:srgbClr val="1D2430"/>
                </a:solidFill>
                <a:latin typeface="Segoe UI"/>
              </a:rPr>
              <a:t>• Calibrated P10-P90 ranges + earlier risk warning</a:t>
            </a:r>
          </a:p>
        </p:txBody>
      </p:sp>
      <p:sp>
        <p:nvSpPr>
          <p:cNvPr id="10" name="TextBox 9"/>
          <p:cNvSpPr txBox="1"/>
          <p:nvPr/>
        </p:nvSpPr>
        <p:spPr>
          <a:xfrm>
            <a:off x="6446520" y="3520440"/>
            <a:ext cx="5120640" cy="274320"/>
          </a:xfrm>
          <a:prstGeom prst="rect">
            <a:avLst/>
          </a:prstGeom>
          <a:noFill/>
        </p:spPr>
        <p:txBody>
          <a:bodyPr wrap="square" lIns="25400" tIns="12700" rIns="25400" bIns="12700">
            <a:spAutoFit/>
          </a:bodyPr>
          <a:lstStyle/>
          <a:p>
            <a:pPr algn="l"/>
            <a:r>
              <a:rPr sz="1300" b="1" i="0">
                <a:solidFill>
                  <a:srgbClr val="102A4C"/>
                </a:solidFill>
                <a:latin typeface="Segoe UI"/>
              </a:rPr>
              <a:t>Next steps</a:t>
            </a:r>
          </a:p>
        </p:txBody>
      </p:sp>
      <p:sp>
        <p:nvSpPr>
          <p:cNvPr id="11" name="TextBox 10"/>
          <p:cNvSpPr txBox="1"/>
          <p:nvPr/>
        </p:nvSpPr>
        <p:spPr>
          <a:xfrm>
            <a:off x="6492240" y="3840480"/>
            <a:ext cx="5120640" cy="1828800"/>
          </a:xfrm>
          <a:prstGeom prst="rect">
            <a:avLst/>
          </a:prstGeom>
          <a:noFill/>
        </p:spPr>
        <p:txBody>
          <a:bodyPr wrap="square">
            <a:spAutoFit/>
          </a:bodyPr>
          <a:lstStyle/>
          <a:p>
            <a:pPr>
              <a:spcAft>
                <a:spcPts val="200"/>
              </a:spcAft>
            </a:pPr>
            <a:r>
              <a:rPr sz="1050">
                <a:solidFill>
                  <a:srgbClr val="1D2430"/>
                </a:solidFill>
                <a:latin typeface="Segoe UI"/>
              </a:rPr>
              <a:t>• Agree pilot scope (depots, NSNs, routes)</a:t>
            </a:r>
          </a:p>
          <a:p>
            <a:pPr>
              <a:spcAft>
                <a:spcPts val="200"/>
              </a:spcAft>
            </a:pPr>
            <a:r>
              <a:rPr sz="1050">
                <a:solidFill>
                  <a:srgbClr val="1D2430"/>
                </a:solidFill>
                <a:latin typeface="Segoe UI"/>
              </a:rPr>
              <a:t>• Secure data access + environment</a:t>
            </a:r>
          </a:p>
          <a:p>
            <a:pPr>
              <a:spcAft>
                <a:spcPts val="200"/>
              </a:spcAft>
            </a:pPr>
            <a:r>
              <a:rPr sz="1050">
                <a:solidFill>
                  <a:srgbClr val="1D2430"/>
                </a:solidFill>
                <a:latin typeface="Segoe UI"/>
              </a:rPr>
              <a:t>• Stand up the medallion pipeline</a:t>
            </a:r>
          </a:p>
          <a:p>
            <a:pPr>
              <a:spcAft>
                <a:spcPts val="200"/>
              </a:spcAft>
            </a:pPr>
            <a:r>
              <a:rPr sz="1050">
                <a:solidFill>
                  <a:srgbClr val="1D2430"/>
                </a:solidFill>
                <a:latin typeface="Segoe UI"/>
              </a:rPr>
              <a:t>• Build digital twin + train</a:t>
            </a:r>
          </a:p>
          <a:p>
            <a:pPr>
              <a:spcAft>
                <a:spcPts val="200"/>
              </a:spcAft>
            </a:pPr>
            <a:r>
              <a:rPr sz="1050">
                <a:solidFill>
                  <a:srgbClr val="1D2430"/>
                </a:solidFill>
                <a:latin typeface="Segoe UI"/>
              </a:rPr>
              <a:t>• Walk-forward validation readout</a:t>
            </a:r>
          </a:p>
          <a:p>
            <a:pPr>
              <a:spcAft>
                <a:spcPts val="200"/>
              </a:spcAft>
            </a:pPr>
            <a:r>
              <a:rPr sz="1050">
                <a:solidFill>
                  <a:srgbClr val="1D2430"/>
                </a:solidFill>
                <a:latin typeface="Segoe UI"/>
              </a:rPr>
              <a:t>• Decide scale-out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47120" cy="457200"/>
          </a:xfrm>
          <a:prstGeom prst="rect">
            <a:avLst/>
          </a:prstGeom>
          <a:noFill/>
        </p:spPr>
        <p:txBody>
          <a:bodyPr wrap="square" lIns="38100" tIns="12700" rIns="38100" bIns="12700">
            <a:spAutoFit/>
          </a:bodyPr>
          <a:lstStyle/>
          <a:p>
            <a:pPr algn="l"/>
            <a:r>
              <a:rPr sz="2300" b="1" i="0">
                <a:solidFill>
                  <a:srgbClr val="102A4C"/>
                </a:solidFill>
                <a:latin typeface="Segoe UI"/>
              </a:rPr>
              <a:t>Beyond the MVP — one data foundation, 17 use cases</a:t>
            </a:r>
          </a:p>
        </p:txBody>
      </p:sp>
      <p:sp>
        <p:nvSpPr>
          <p:cNvPr id="3" name="TextBox 2"/>
          <p:cNvSpPr txBox="1"/>
          <p:nvPr/>
        </p:nvSpPr>
        <p:spPr>
          <a:xfrm>
            <a:off x="457200" y="804672"/>
            <a:ext cx="11247120" cy="457200"/>
          </a:xfrm>
          <a:prstGeom prst="rect">
            <a:avLst/>
          </a:prstGeom>
          <a:noFill/>
        </p:spPr>
        <p:txBody>
          <a:bodyPr wrap="square" lIns="38100" tIns="12700" rIns="38100" bIns="12700">
            <a:spAutoFit/>
          </a:bodyPr>
          <a:lstStyle/>
          <a:p>
            <a:pPr algn="l"/>
            <a:r>
              <a:rPr sz="1150" b="0" i="0">
                <a:solidFill>
                  <a:srgbClr val="5E6A75"/>
                </a:solidFill>
                <a:latin typeface="Segoe UI"/>
              </a:rPr>
              <a:t>Once the demand-forecast MVP runs on real data, the same medallion data and behavioral digital twin unlock the rest in waves — each reusing the data, embeddings, and features already built, so marginal cost is low.</a:t>
            </a:r>
          </a:p>
        </p:txBody>
      </p:sp>
      <p:sp>
        <p:nvSpPr>
          <p:cNvPr id="4" name="Rounded Rectangle 3"/>
          <p:cNvSpPr/>
          <p:nvPr/>
        </p:nvSpPr>
        <p:spPr>
          <a:xfrm>
            <a:off x="457200" y="1481328"/>
            <a:ext cx="2779776" cy="3520440"/>
          </a:xfrm>
          <a:prstGeom prst="roundRect">
            <a:avLst/>
          </a:prstGeom>
          <a:solidFill>
            <a:srgbClr val="FFFFFF"/>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57200" y="1481328"/>
            <a:ext cx="2779776" cy="676656"/>
          </a:xfrm>
          <a:prstGeom prst="roundRect">
            <a:avLst/>
          </a:prstGeom>
          <a:solidFill>
            <a:srgbClr val="1F5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85216" y="1554480"/>
            <a:ext cx="2560320" cy="274320"/>
          </a:xfrm>
          <a:prstGeom prst="rect">
            <a:avLst/>
          </a:prstGeom>
          <a:noFill/>
        </p:spPr>
        <p:txBody>
          <a:bodyPr wrap="square" lIns="38100" tIns="12700" rIns="38100" bIns="12700">
            <a:spAutoFit/>
          </a:bodyPr>
          <a:lstStyle/>
          <a:p>
            <a:pPr algn="l"/>
            <a:r>
              <a:rPr sz="1250" b="1" i="0">
                <a:solidFill>
                  <a:srgbClr val="FFFFFF"/>
                </a:solidFill>
                <a:latin typeface="Segoe UI"/>
              </a:rPr>
              <a:t>Horizon 0</a:t>
            </a:r>
          </a:p>
        </p:txBody>
      </p:sp>
      <p:sp>
        <p:nvSpPr>
          <p:cNvPr id="7" name="TextBox 6"/>
          <p:cNvSpPr txBox="1"/>
          <p:nvPr/>
        </p:nvSpPr>
        <p:spPr>
          <a:xfrm>
            <a:off x="585216" y="1856232"/>
            <a:ext cx="2560320" cy="274320"/>
          </a:xfrm>
          <a:prstGeom prst="rect">
            <a:avLst/>
          </a:prstGeom>
          <a:noFill/>
        </p:spPr>
        <p:txBody>
          <a:bodyPr wrap="square" lIns="38100" tIns="12700" rIns="38100" bIns="12700">
            <a:spAutoFit/>
          </a:bodyPr>
          <a:lstStyle/>
          <a:p>
            <a:pPr algn="l"/>
            <a:r>
              <a:rPr sz="1000" b="0" i="0">
                <a:solidFill>
                  <a:srgbClr val="E6EEF6"/>
                </a:solidFill>
                <a:latin typeface="Segoe UI"/>
              </a:rPr>
              <a:t>Demand MVP — funded now</a:t>
            </a:r>
          </a:p>
        </p:txBody>
      </p:sp>
      <p:sp>
        <p:nvSpPr>
          <p:cNvPr id="8" name="TextBox 7"/>
          <p:cNvSpPr txBox="1"/>
          <p:nvPr/>
        </p:nvSpPr>
        <p:spPr>
          <a:xfrm>
            <a:off x="621792" y="2267712"/>
            <a:ext cx="2487168" cy="2642616"/>
          </a:xfrm>
          <a:prstGeom prst="rect">
            <a:avLst/>
          </a:prstGeom>
          <a:noFill/>
        </p:spPr>
        <p:txBody>
          <a:bodyPr wrap="square" lIns="25400" rIns="25400">
            <a:spAutoFit/>
          </a:bodyPr>
          <a:lstStyle/>
          <a:p>
            <a:pPr>
              <a:lnSpc>
                <a:spcPct val="100000"/>
              </a:lnSpc>
              <a:spcAft>
                <a:spcPts val="500"/>
              </a:spcAft>
            </a:pPr>
            <a:r>
              <a:rPr sz="1050">
                <a:solidFill>
                  <a:srgbClr val="1D2430"/>
                </a:solidFill>
                <a:latin typeface="Segoe UI"/>
              </a:rPr>
              <a:t>•  1  Demand Forecast</a:t>
            </a:r>
          </a:p>
          <a:p>
            <a:pPr>
              <a:lnSpc>
                <a:spcPct val="100000"/>
              </a:lnSpc>
              <a:spcAft>
                <a:spcPts val="500"/>
              </a:spcAft>
            </a:pPr>
            <a:r>
              <a:rPr sz="1050">
                <a:solidFill>
                  <a:srgbClr val="1D2430"/>
                </a:solidFill>
                <a:latin typeface="Segoe UI"/>
              </a:rPr>
              <a:t>•  5  Forecast Benchmark</a:t>
            </a:r>
          </a:p>
          <a:p>
            <a:pPr>
              <a:lnSpc>
                <a:spcPct val="100000"/>
              </a:lnSpc>
              <a:spcAft>
                <a:spcPts val="500"/>
              </a:spcAft>
            </a:pPr>
            <a:r>
              <a:rPr sz="1050">
                <a:solidFill>
                  <a:srgbClr val="1D2430"/>
                </a:solidFill>
                <a:latin typeface="Segoe UI"/>
              </a:rPr>
              <a:t>•  3  Cold-Start Forecasting</a:t>
            </a:r>
          </a:p>
          <a:p>
            <a:pPr>
              <a:lnSpc>
                <a:spcPct val="100000"/>
              </a:lnSpc>
              <a:spcAft>
                <a:spcPts val="500"/>
              </a:spcAft>
            </a:pPr>
            <a:r>
              <a:rPr sz="1050">
                <a:solidFill>
                  <a:srgbClr val="1D2430"/>
                </a:solidFill>
                <a:latin typeface="Segoe UI"/>
              </a:rPr>
              <a:t>•  2  Drift-Augmented Procurement</a:t>
            </a:r>
          </a:p>
          <a:p>
            <a:pPr>
              <a:lnSpc>
                <a:spcPct val="100000"/>
              </a:lnSpc>
              <a:spcAft>
                <a:spcPts val="500"/>
              </a:spcAft>
            </a:pPr>
            <a:r>
              <a:rPr sz="1050">
                <a:solidFill>
                  <a:srgbClr val="1D2430"/>
                </a:solidFill>
                <a:latin typeface="Segoe UI"/>
              </a:rPr>
              <a:t>•  4  Exercise Surge Modeling</a:t>
            </a:r>
          </a:p>
        </p:txBody>
      </p:sp>
      <p:sp>
        <p:nvSpPr>
          <p:cNvPr id="9" name="Chevron 8"/>
          <p:cNvSpPr/>
          <p:nvPr/>
        </p:nvSpPr>
        <p:spPr>
          <a:xfrm>
            <a:off x="3209544" y="1645920"/>
            <a:ext cx="201168" cy="347472"/>
          </a:xfrm>
          <a:prstGeom prst="chevro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374136" y="1481328"/>
            <a:ext cx="2779776" cy="3520440"/>
          </a:xfrm>
          <a:prstGeom prst="roundRect">
            <a:avLst/>
          </a:prstGeom>
          <a:solidFill>
            <a:srgbClr val="FFFFFF"/>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374136" y="1481328"/>
            <a:ext cx="2779776" cy="676656"/>
          </a:xfrm>
          <a:prstGeom prst="roundRect">
            <a:avLst/>
          </a:prstGeom>
          <a:solidFill>
            <a:srgbClr val="1184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502152" y="1554480"/>
            <a:ext cx="2560320" cy="274320"/>
          </a:xfrm>
          <a:prstGeom prst="rect">
            <a:avLst/>
          </a:prstGeom>
          <a:noFill/>
        </p:spPr>
        <p:txBody>
          <a:bodyPr wrap="square" lIns="38100" tIns="12700" rIns="38100" bIns="12700">
            <a:spAutoFit/>
          </a:bodyPr>
          <a:lstStyle/>
          <a:p>
            <a:pPr algn="l"/>
            <a:r>
              <a:rPr sz="1250" b="1" i="0">
                <a:solidFill>
                  <a:srgbClr val="FFFFFF"/>
                </a:solidFill>
                <a:latin typeface="Segoe UI"/>
              </a:rPr>
              <a:t>Horizon 1</a:t>
            </a:r>
          </a:p>
        </p:txBody>
      </p:sp>
      <p:sp>
        <p:nvSpPr>
          <p:cNvPr id="13" name="TextBox 12"/>
          <p:cNvSpPr txBox="1"/>
          <p:nvPr/>
        </p:nvSpPr>
        <p:spPr>
          <a:xfrm>
            <a:off x="3502152" y="1856232"/>
            <a:ext cx="2560320" cy="274320"/>
          </a:xfrm>
          <a:prstGeom prst="rect">
            <a:avLst/>
          </a:prstGeom>
          <a:noFill/>
        </p:spPr>
        <p:txBody>
          <a:bodyPr wrap="square" lIns="38100" tIns="12700" rIns="38100" bIns="12700">
            <a:spAutoFit/>
          </a:bodyPr>
          <a:lstStyle/>
          <a:p>
            <a:pPr algn="l"/>
            <a:r>
              <a:rPr sz="1000" b="0" i="0">
                <a:solidFill>
                  <a:srgbClr val="E6EEF6"/>
                </a:solidFill>
                <a:latin typeface="Segoe UI"/>
              </a:rPr>
              <a:t>Supply &amp; lead-time risk</a:t>
            </a:r>
          </a:p>
        </p:txBody>
      </p:sp>
      <p:sp>
        <p:nvSpPr>
          <p:cNvPr id="14" name="TextBox 13"/>
          <p:cNvSpPr txBox="1"/>
          <p:nvPr/>
        </p:nvSpPr>
        <p:spPr>
          <a:xfrm>
            <a:off x="3538728" y="2267712"/>
            <a:ext cx="2487168" cy="2642616"/>
          </a:xfrm>
          <a:prstGeom prst="rect">
            <a:avLst/>
          </a:prstGeom>
          <a:noFill/>
        </p:spPr>
        <p:txBody>
          <a:bodyPr wrap="square" lIns="25400" rIns="25400">
            <a:spAutoFit/>
          </a:bodyPr>
          <a:lstStyle/>
          <a:p>
            <a:pPr>
              <a:lnSpc>
                <a:spcPct val="100000"/>
              </a:lnSpc>
              <a:spcAft>
                <a:spcPts val="500"/>
              </a:spcAft>
            </a:pPr>
            <a:r>
              <a:rPr sz="1050">
                <a:solidFill>
                  <a:srgbClr val="1D2430"/>
                </a:solidFill>
                <a:latin typeface="Segoe UI"/>
              </a:rPr>
              <a:t>•  6  Supplier Risk Scoring</a:t>
            </a:r>
          </a:p>
          <a:p>
            <a:pPr>
              <a:lnSpc>
                <a:spcPct val="100000"/>
              </a:lnSpc>
              <a:spcAft>
                <a:spcPts val="500"/>
              </a:spcAft>
            </a:pPr>
            <a:r>
              <a:rPr sz="1050">
                <a:solidFill>
                  <a:srgbClr val="1D2430"/>
                </a:solidFill>
                <a:latin typeface="Segoe UI"/>
              </a:rPr>
              <a:t>•  7  Lead-Time Estimation</a:t>
            </a:r>
          </a:p>
          <a:p>
            <a:pPr>
              <a:lnSpc>
                <a:spcPct val="100000"/>
              </a:lnSpc>
              <a:spcAft>
                <a:spcPts val="500"/>
              </a:spcAft>
            </a:pPr>
            <a:r>
              <a:rPr sz="1050">
                <a:solidFill>
                  <a:srgbClr val="1D2430"/>
                </a:solidFill>
                <a:latin typeface="Segoe UI"/>
              </a:rPr>
              <a:t>•  10  Stockout Prediction</a:t>
            </a:r>
          </a:p>
        </p:txBody>
      </p:sp>
      <p:sp>
        <p:nvSpPr>
          <p:cNvPr id="15" name="Chevron 14"/>
          <p:cNvSpPr/>
          <p:nvPr/>
        </p:nvSpPr>
        <p:spPr>
          <a:xfrm>
            <a:off x="6126480" y="1645920"/>
            <a:ext cx="201168" cy="347472"/>
          </a:xfrm>
          <a:prstGeom prst="chevro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291072" y="1481328"/>
            <a:ext cx="2779776" cy="3520440"/>
          </a:xfrm>
          <a:prstGeom prst="roundRect">
            <a:avLst/>
          </a:prstGeom>
          <a:solidFill>
            <a:srgbClr val="FFFFFF"/>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291072" y="1481328"/>
            <a:ext cx="2779776" cy="676656"/>
          </a:xfrm>
          <a:prstGeom prst="roundRect">
            <a:avLst/>
          </a:prstGeom>
          <a:solidFill>
            <a:srgbClr val="C96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19088" y="1554480"/>
            <a:ext cx="2560320" cy="274320"/>
          </a:xfrm>
          <a:prstGeom prst="rect">
            <a:avLst/>
          </a:prstGeom>
          <a:noFill/>
        </p:spPr>
        <p:txBody>
          <a:bodyPr wrap="square" lIns="38100" tIns="12700" rIns="38100" bIns="12700">
            <a:spAutoFit/>
          </a:bodyPr>
          <a:lstStyle/>
          <a:p>
            <a:pPr algn="l"/>
            <a:r>
              <a:rPr sz="1250" b="1" i="0">
                <a:solidFill>
                  <a:srgbClr val="FFFFFF"/>
                </a:solidFill>
                <a:latin typeface="Segoe UI"/>
              </a:rPr>
              <a:t>Horizon 2</a:t>
            </a:r>
          </a:p>
        </p:txBody>
      </p:sp>
      <p:sp>
        <p:nvSpPr>
          <p:cNvPr id="19" name="TextBox 18"/>
          <p:cNvSpPr txBox="1"/>
          <p:nvPr/>
        </p:nvSpPr>
        <p:spPr>
          <a:xfrm>
            <a:off x="6419088" y="1856232"/>
            <a:ext cx="2560320" cy="274320"/>
          </a:xfrm>
          <a:prstGeom prst="rect">
            <a:avLst/>
          </a:prstGeom>
          <a:noFill/>
        </p:spPr>
        <p:txBody>
          <a:bodyPr wrap="square" lIns="38100" tIns="12700" rIns="38100" bIns="12700">
            <a:spAutoFit/>
          </a:bodyPr>
          <a:lstStyle/>
          <a:p>
            <a:pPr algn="l"/>
            <a:r>
              <a:rPr sz="1000" b="0" i="0">
                <a:solidFill>
                  <a:srgbClr val="E6EEF6"/>
                </a:solidFill>
                <a:latin typeface="Segoe UI"/>
              </a:rPr>
              <a:t>Network &amp; resilience</a:t>
            </a:r>
          </a:p>
        </p:txBody>
      </p:sp>
      <p:sp>
        <p:nvSpPr>
          <p:cNvPr id="20" name="TextBox 19"/>
          <p:cNvSpPr txBox="1"/>
          <p:nvPr/>
        </p:nvSpPr>
        <p:spPr>
          <a:xfrm>
            <a:off x="6455664" y="2267712"/>
            <a:ext cx="2487168" cy="2642616"/>
          </a:xfrm>
          <a:prstGeom prst="rect">
            <a:avLst/>
          </a:prstGeom>
          <a:noFill/>
        </p:spPr>
        <p:txBody>
          <a:bodyPr wrap="square" lIns="25400" rIns="25400">
            <a:spAutoFit/>
          </a:bodyPr>
          <a:lstStyle/>
          <a:p>
            <a:pPr>
              <a:lnSpc>
                <a:spcPct val="100000"/>
              </a:lnSpc>
              <a:spcAft>
                <a:spcPts val="500"/>
              </a:spcAft>
            </a:pPr>
            <a:r>
              <a:rPr sz="1050">
                <a:solidFill>
                  <a:srgbClr val="1D2430"/>
                </a:solidFill>
                <a:latin typeface="Segoe UI"/>
              </a:rPr>
              <a:t>•  8  Supplier Capability Discovery</a:t>
            </a:r>
          </a:p>
          <a:p>
            <a:pPr>
              <a:lnSpc>
                <a:spcPct val="100000"/>
              </a:lnSpc>
              <a:spcAft>
                <a:spcPts val="500"/>
              </a:spcAft>
            </a:pPr>
            <a:r>
              <a:rPr sz="1050">
                <a:solidFill>
                  <a:srgbClr val="1D2430"/>
                </a:solidFill>
                <a:latin typeface="Segoe UI"/>
              </a:rPr>
              <a:t>•  9  Route Bottleneck ID</a:t>
            </a:r>
          </a:p>
          <a:p>
            <a:pPr>
              <a:lnSpc>
                <a:spcPct val="100000"/>
              </a:lnSpc>
              <a:spcAft>
                <a:spcPts val="500"/>
              </a:spcAft>
            </a:pPr>
            <a:r>
              <a:rPr sz="1050">
                <a:solidFill>
                  <a:srgbClr val="1D2430"/>
                </a:solidFill>
                <a:latin typeface="Segoe UI"/>
              </a:rPr>
              <a:t>•  11  Cascading Failure Analysis</a:t>
            </a:r>
          </a:p>
          <a:p>
            <a:pPr>
              <a:lnSpc>
                <a:spcPct val="100000"/>
              </a:lnSpc>
              <a:spcAft>
                <a:spcPts val="500"/>
              </a:spcAft>
            </a:pPr>
            <a:r>
              <a:rPr sz="1050">
                <a:solidFill>
                  <a:srgbClr val="1D2430"/>
                </a:solidFill>
                <a:latin typeface="Segoe UI"/>
              </a:rPr>
              <a:t>•  12  Combined-Shock Simulation</a:t>
            </a:r>
          </a:p>
        </p:txBody>
      </p:sp>
      <p:sp>
        <p:nvSpPr>
          <p:cNvPr id="21" name="Chevron 20"/>
          <p:cNvSpPr/>
          <p:nvPr/>
        </p:nvSpPr>
        <p:spPr>
          <a:xfrm>
            <a:off x="9043416" y="1645920"/>
            <a:ext cx="201168" cy="347472"/>
          </a:xfrm>
          <a:prstGeom prst="chevro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9208008" y="1481328"/>
            <a:ext cx="2779776" cy="3520440"/>
          </a:xfrm>
          <a:prstGeom prst="roundRect">
            <a:avLst/>
          </a:prstGeom>
          <a:solidFill>
            <a:srgbClr val="FFFFFF"/>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9208008" y="1481328"/>
            <a:ext cx="2779776" cy="676656"/>
          </a:xfrm>
          <a:prstGeom prst="roundRect">
            <a:avLst/>
          </a:prstGeom>
          <a:solidFill>
            <a:srgbClr val="1A72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336024" y="1554480"/>
            <a:ext cx="2560320" cy="274320"/>
          </a:xfrm>
          <a:prstGeom prst="rect">
            <a:avLst/>
          </a:prstGeom>
          <a:noFill/>
        </p:spPr>
        <p:txBody>
          <a:bodyPr wrap="square" lIns="38100" tIns="12700" rIns="38100" bIns="12700">
            <a:spAutoFit/>
          </a:bodyPr>
          <a:lstStyle/>
          <a:p>
            <a:pPr algn="l"/>
            <a:r>
              <a:rPr sz="1250" b="1" i="0">
                <a:solidFill>
                  <a:srgbClr val="FFFFFF"/>
                </a:solidFill>
                <a:latin typeface="Segoe UI"/>
              </a:rPr>
              <a:t>Horizon 3</a:t>
            </a:r>
          </a:p>
        </p:txBody>
      </p:sp>
      <p:sp>
        <p:nvSpPr>
          <p:cNvPr id="25" name="TextBox 24"/>
          <p:cNvSpPr txBox="1"/>
          <p:nvPr/>
        </p:nvSpPr>
        <p:spPr>
          <a:xfrm>
            <a:off x="9336024" y="1856232"/>
            <a:ext cx="2560320" cy="274320"/>
          </a:xfrm>
          <a:prstGeom prst="rect">
            <a:avLst/>
          </a:prstGeom>
          <a:noFill/>
        </p:spPr>
        <p:txBody>
          <a:bodyPr wrap="square" lIns="38100" tIns="12700" rIns="38100" bIns="12700">
            <a:spAutoFit/>
          </a:bodyPr>
          <a:lstStyle/>
          <a:p>
            <a:pPr algn="l"/>
            <a:r>
              <a:rPr sz="1000" b="0" i="0">
                <a:solidFill>
                  <a:srgbClr val="E6EEF6"/>
                </a:solidFill>
                <a:latin typeface="Segoe UI"/>
              </a:rPr>
              <a:t>Portfolio intelligence</a:t>
            </a:r>
          </a:p>
        </p:txBody>
      </p:sp>
      <p:sp>
        <p:nvSpPr>
          <p:cNvPr id="26" name="TextBox 25"/>
          <p:cNvSpPr txBox="1"/>
          <p:nvPr/>
        </p:nvSpPr>
        <p:spPr>
          <a:xfrm>
            <a:off x="9372600" y="2267712"/>
            <a:ext cx="2487168" cy="2642616"/>
          </a:xfrm>
          <a:prstGeom prst="rect">
            <a:avLst/>
          </a:prstGeom>
          <a:noFill/>
        </p:spPr>
        <p:txBody>
          <a:bodyPr wrap="square" lIns="25400" rIns="25400">
            <a:spAutoFit/>
          </a:bodyPr>
          <a:lstStyle/>
          <a:p>
            <a:pPr>
              <a:lnSpc>
                <a:spcPct val="100000"/>
              </a:lnSpc>
              <a:spcAft>
                <a:spcPts val="500"/>
              </a:spcAft>
            </a:pPr>
            <a:r>
              <a:rPr sz="1050">
                <a:solidFill>
                  <a:srgbClr val="1D2430"/>
                </a:solidFill>
                <a:latin typeface="Segoe UI"/>
              </a:rPr>
              <a:t>•  13  Budget Optimization</a:t>
            </a:r>
          </a:p>
          <a:p>
            <a:pPr>
              <a:lnSpc>
                <a:spcPct val="100000"/>
              </a:lnSpc>
              <a:spcAft>
                <a:spcPts val="500"/>
              </a:spcAft>
            </a:pPr>
            <a:r>
              <a:rPr sz="1050">
                <a:solidFill>
                  <a:srgbClr val="1D2430"/>
                </a:solidFill>
                <a:latin typeface="Segoe UI"/>
              </a:rPr>
              <a:t>•  14  Early-Warning Drift Alerts</a:t>
            </a:r>
          </a:p>
          <a:p>
            <a:pPr>
              <a:lnSpc>
                <a:spcPct val="100000"/>
              </a:lnSpc>
              <a:spcAft>
                <a:spcPts val="500"/>
              </a:spcAft>
            </a:pPr>
            <a:r>
              <a:rPr sz="1050">
                <a:solidFill>
                  <a:srgbClr val="1D2430"/>
                </a:solidFill>
                <a:latin typeface="Segoe UI"/>
              </a:rPr>
              <a:t>•  15  Item Health Watchlist</a:t>
            </a:r>
          </a:p>
          <a:p>
            <a:pPr>
              <a:lnSpc>
                <a:spcPct val="100000"/>
              </a:lnSpc>
              <a:spcAft>
                <a:spcPts val="500"/>
              </a:spcAft>
            </a:pPr>
            <a:r>
              <a:rPr sz="1050">
                <a:solidFill>
                  <a:srgbClr val="1D2430"/>
                </a:solidFill>
                <a:latin typeface="Segoe UI"/>
              </a:rPr>
              <a:t>•  16  Cohort Discovery</a:t>
            </a:r>
          </a:p>
          <a:p>
            <a:pPr>
              <a:lnSpc>
                <a:spcPct val="100000"/>
              </a:lnSpc>
              <a:spcAft>
                <a:spcPts val="500"/>
              </a:spcAft>
            </a:pPr>
            <a:r>
              <a:rPr sz="1050">
                <a:solidFill>
                  <a:srgbClr val="1D2430"/>
                </a:solidFill>
                <a:latin typeface="Segoe UI"/>
              </a:rPr>
              <a:t>•  17  Semantic Substitute Search</a:t>
            </a:r>
          </a:p>
        </p:txBody>
      </p:sp>
      <p:sp>
        <p:nvSpPr>
          <p:cNvPr id="27" name="Rounded Rectangle 26"/>
          <p:cNvSpPr/>
          <p:nvPr/>
        </p:nvSpPr>
        <p:spPr>
          <a:xfrm>
            <a:off x="457200" y="5175504"/>
            <a:ext cx="11274552" cy="1005840"/>
          </a:xfrm>
          <a:prstGeom prst="roundRect">
            <a:avLst/>
          </a:prstGeom>
          <a:solidFill>
            <a:srgbClr val="EBF0F8"/>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58368" y="5285232"/>
            <a:ext cx="10972800" cy="365760"/>
          </a:xfrm>
          <a:prstGeom prst="rect">
            <a:avLst/>
          </a:prstGeom>
          <a:noFill/>
        </p:spPr>
        <p:txBody>
          <a:bodyPr wrap="square" lIns="38100" tIns="12700" rIns="38100" bIns="12700">
            <a:spAutoFit/>
          </a:bodyPr>
          <a:lstStyle/>
          <a:p>
            <a:pPr algn="l"/>
            <a:r>
              <a:rPr sz="1300" b="1" i="0">
                <a:solidFill>
                  <a:srgbClr val="102A4C"/>
                </a:solidFill>
                <a:latin typeface="Segoe UI"/>
              </a:rPr>
              <a:t>Land and expand: the data integration and digital twin are built once in the MVP.</a:t>
            </a:r>
          </a:p>
        </p:txBody>
      </p:sp>
      <p:sp>
        <p:nvSpPr>
          <p:cNvPr id="29" name="TextBox 28"/>
          <p:cNvSpPr txBox="1"/>
          <p:nvPr/>
        </p:nvSpPr>
        <p:spPr>
          <a:xfrm>
            <a:off x="658368" y="5650992"/>
            <a:ext cx="10972800" cy="457200"/>
          </a:xfrm>
          <a:prstGeom prst="rect">
            <a:avLst/>
          </a:prstGeom>
          <a:noFill/>
        </p:spPr>
        <p:txBody>
          <a:bodyPr wrap="square" lIns="38100" tIns="12700" rIns="38100" bIns="12700">
            <a:spAutoFit/>
          </a:bodyPr>
          <a:lstStyle/>
          <a:p>
            <a:pPr algn="l"/>
            <a:r>
              <a:rPr sz="1100" b="0" i="0">
                <a:solidFill>
                  <a:srgbClr val="1D2430"/>
                </a:solidFill>
                <a:latin typeface="Segoe UI"/>
              </a:rPr>
              <a:t>Each later horizon adds use cases on the same foundation — new features and models, not new data plumbing — so each wave is faster and cheaper than the one before.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9692640" cy="411480"/>
          </a:xfrm>
          <a:prstGeom prst="rect">
            <a:avLst/>
          </a:prstGeom>
          <a:noFill/>
          <a:ln/>
        </p:spPr>
        <p:txBody>
          <a:bodyPr wrap="square" lIns="254" tIns="254" rIns="254" bIns="254"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02A4C"/>
                </a:solidFill>
                <a:effectLst/>
                <a:uLnTx/>
                <a:uFillTx/>
                <a:latin typeface="Segoe UI" pitchFamily="34" charset="0"/>
                <a:ea typeface="Aptos Display" pitchFamily="34" charset="-122"/>
                <a:cs typeface="Aptos Display" pitchFamily="34" charset="-120"/>
              </a:rPr>
              <a:t>Executive discussion</a:t>
            </a:r>
            <a:endParaRPr kumimoji="0" lang="en-US" sz="240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Text 2"/>
          <p:cNvSpPr/>
          <p:nvPr/>
        </p:nvSpPr>
        <p:spPr>
          <a:xfrm>
            <a:off x="521208" y="804672"/>
            <a:ext cx="10652760" cy="228600"/>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Use the remaining time to understand where DLA would want to validate this first.</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5" name="Shape 3"/>
          <p:cNvSpPr/>
          <p:nvPr/>
        </p:nvSpPr>
        <p:spPr>
          <a:xfrm>
            <a:off x="502920" y="1097280"/>
            <a:ext cx="11155680" cy="0"/>
          </a:xfrm>
          <a:prstGeom prst="line">
            <a:avLst/>
          </a:prstGeom>
          <a:noFill/>
          <a:ln w="12700">
            <a:solidFill>
              <a:srgbClr val="F36C2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50" b="0" i="0" u="none" strike="noStrike" kern="1200" cap="none" spc="0" normalizeH="0" baseline="0" noProof="0">
              <a:ln>
                <a:noFill/>
              </a:ln>
              <a:solidFill>
                <a:prstClr val="black"/>
              </a:solidFill>
              <a:effectLst/>
              <a:uLnTx/>
              <a:uFillTx/>
              <a:ea typeface="+mn-ea"/>
              <a:cs typeface="+mn-cs"/>
            </a:endParaRPr>
          </a:p>
        </p:txBody>
      </p:sp>
      <p:sp>
        <p:nvSpPr>
          <p:cNvPr id="6" name="Shape 4"/>
          <p:cNvSpPr/>
          <p:nvPr/>
        </p:nvSpPr>
        <p:spPr>
          <a:xfrm>
            <a:off x="411480" y="6446520"/>
            <a:ext cx="11365992" cy="0"/>
          </a:xfrm>
          <a:prstGeom prst="line">
            <a:avLst/>
          </a:prstGeom>
          <a:noFill/>
          <a:ln w="7620">
            <a:solidFill>
              <a:srgbClr val="C9D3D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Aptos"/>
              <a:ea typeface="+mn-ea"/>
              <a:cs typeface="+mn-cs"/>
            </a:endParaRPr>
          </a:p>
        </p:txBody>
      </p:sp>
      <p:sp>
        <p:nvSpPr>
          <p:cNvPr id="8" name="Text 6"/>
          <p:cNvSpPr/>
          <p:nvPr/>
        </p:nvSpPr>
        <p:spPr>
          <a:xfrm>
            <a:off x="11475720" y="6492240"/>
            <a:ext cx="320040" cy="20116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850" dirty="0">
                <a:solidFill>
                  <a:srgbClr val="646F7C"/>
                </a:solidFill>
                <a:latin typeface="Segoe UI"/>
              </a:rPr>
              <a:t>12</a:t>
            </a:r>
            <a:endParaRPr kumimoji="0" lang="en-US" sz="800" b="0" i="0" u="none" strike="noStrike" kern="1200" cap="none" spc="0" normalizeH="0" baseline="0" noProof="0" dirty="0">
              <a:ln>
                <a:noFill/>
              </a:ln>
              <a:solidFill>
                <a:prstClr val="black"/>
              </a:solidFill>
              <a:effectLst/>
              <a:uLnTx/>
              <a:uFillTx/>
              <a:latin typeface="Aptos"/>
              <a:ea typeface="+mn-ea"/>
              <a:cs typeface="+mn-cs"/>
            </a:endParaRPr>
          </a:p>
        </p:txBody>
      </p:sp>
      <p:sp>
        <p:nvSpPr>
          <p:cNvPr id="9" name="Text 7"/>
          <p:cNvSpPr/>
          <p:nvPr/>
        </p:nvSpPr>
        <p:spPr>
          <a:xfrm>
            <a:off x="777240" y="1417319"/>
            <a:ext cx="5166360" cy="966445"/>
          </a:xfrm>
          <a:prstGeom prst="rect">
            <a:avLst/>
          </a:prstGeom>
          <a:solidFill>
            <a:srgbClr val="F2F7FC"/>
          </a:solidFill>
          <a:ln w="8890">
            <a:solidFill>
              <a:srgbClr val="1F5E9C"/>
            </a:solidFill>
          </a:ln>
        </p:spPr>
        <p:txBody>
          <a:bodyPr wrap="square" lIns="1270" tIns="1270" rIns="1270" bIns="1270" rtlCol="0" anchor="t">
            <a:noAutofit/>
          </a:bodyPr>
          <a:lstStyle/>
          <a:p>
            <a:pPr marL="58738"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02A4C"/>
                </a:solidFill>
                <a:effectLst/>
                <a:uLnTx/>
                <a:uFillTx/>
                <a:latin typeface="Segoe UI"/>
                <a:ea typeface="Aptos" pitchFamily="34" charset="-122"/>
                <a:cs typeface="Aptos" pitchFamily="34" charset="-120"/>
              </a:rPr>
              <a:t>Priority friction</a:t>
            </a:r>
          </a:p>
          <a:p>
            <a:pPr marL="58738"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02A4C"/>
                </a:solidFill>
                <a:effectLst/>
                <a:uLnTx/>
                <a:uFillTx/>
                <a:latin typeface="Segoe UI"/>
                <a:ea typeface="Aptos" pitchFamily="34" charset="-122"/>
                <a:cs typeface="Aptos" pitchFamily="34" charset="-120"/>
              </a:rPr>
              <a:t>
</a:t>
            </a:r>
            <a:r>
              <a:rPr kumimoji="0" lang="en-US" sz="1150" b="0" i="0" u="none" strike="noStrike" kern="1200" cap="none" spc="0" normalizeH="0" baseline="0" noProof="0" dirty="0">
                <a:ln>
                  <a:noFill/>
                </a:ln>
                <a:solidFill>
                  <a:srgbClr val="1D2430"/>
                </a:solidFill>
                <a:effectLst/>
                <a:uLnTx/>
                <a:uFillTx/>
                <a:latin typeface="Segoe UI"/>
                <a:ea typeface="Aptos" pitchFamily="34" charset="-122"/>
                <a:cs typeface="Aptos" pitchFamily="34" charset="-120"/>
              </a:rPr>
              <a:t>Where is the greatest friction today: demand forecasting, supplier visibility, inventory positioning, or surge response?</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10" name="Text 8"/>
          <p:cNvSpPr/>
          <p:nvPr/>
        </p:nvSpPr>
        <p:spPr>
          <a:xfrm>
            <a:off x="6309360" y="1417319"/>
            <a:ext cx="5166360" cy="966445"/>
          </a:xfrm>
          <a:prstGeom prst="rect">
            <a:avLst/>
          </a:prstGeom>
          <a:solidFill>
            <a:srgbClr val="FFF8EC"/>
          </a:solidFill>
          <a:ln w="8890">
            <a:solidFill>
              <a:srgbClr val="D7A22A"/>
            </a:solidFill>
          </a:ln>
        </p:spPr>
        <p:txBody>
          <a:bodyPr wrap="square" lIns="1270" tIns="1270" rIns="1270" bIns="1270" rtlCol="0" anchor="t">
            <a:noAutofit/>
          </a:bodyPr>
          <a:lstStyle/>
          <a:p>
            <a:pPr marL="58738"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02A4C"/>
                </a:solidFill>
                <a:effectLst/>
                <a:uLnTx/>
                <a:uFillTx/>
                <a:latin typeface="Segoe UI"/>
                <a:ea typeface="Aptos" pitchFamily="34" charset="-122"/>
                <a:cs typeface="Aptos" pitchFamily="34" charset="-120"/>
              </a:rPr>
              <a:t>MVP focus</a:t>
            </a:r>
          </a:p>
          <a:p>
            <a:pPr marL="58738"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02A4C"/>
                </a:solidFill>
                <a:effectLst/>
                <a:uLnTx/>
                <a:uFillTx/>
                <a:latin typeface="Segoe UI"/>
                <a:ea typeface="Aptos" pitchFamily="34" charset="-122"/>
                <a:cs typeface="Aptos" pitchFamily="34" charset="-120"/>
              </a:rPr>
              <a:t>
</a:t>
            </a:r>
            <a:r>
              <a:rPr kumimoji="0" lang="en-US" sz="1150" b="0" i="0" u="none" strike="noStrike" kern="1200" cap="none" spc="0" normalizeH="0" baseline="0" noProof="0" dirty="0">
                <a:ln>
                  <a:noFill/>
                </a:ln>
                <a:solidFill>
                  <a:srgbClr val="1D2430"/>
                </a:solidFill>
                <a:effectLst/>
                <a:uLnTx/>
                <a:uFillTx/>
                <a:latin typeface="Segoe UI"/>
                <a:ea typeface="Aptos" pitchFamily="34" charset="-122"/>
                <a:cs typeface="Aptos" pitchFamily="34" charset="-120"/>
              </a:rPr>
              <a:t>Which mission area, supply class, depot set, or item family would create the most useful first test?</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11" name="Text 9"/>
          <p:cNvSpPr/>
          <p:nvPr/>
        </p:nvSpPr>
        <p:spPr>
          <a:xfrm>
            <a:off x="777240" y="2532887"/>
            <a:ext cx="5166360" cy="966445"/>
          </a:xfrm>
          <a:prstGeom prst="rect">
            <a:avLst/>
          </a:prstGeom>
          <a:solidFill>
            <a:srgbClr val="F2F7FC"/>
          </a:solidFill>
          <a:ln w="8890">
            <a:solidFill>
              <a:srgbClr val="1F5E9C"/>
            </a:solidFill>
          </a:ln>
        </p:spPr>
        <p:txBody>
          <a:bodyPr wrap="square" lIns="1270" tIns="1270" rIns="1270" bIns="1270" rtlCol="0" anchor="t">
            <a:noAutofit/>
          </a:bodyPr>
          <a:lstStyle/>
          <a:p>
            <a:pPr marL="58738"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02A4C"/>
                </a:solidFill>
                <a:effectLst/>
                <a:uLnTx/>
                <a:uFillTx/>
                <a:latin typeface="Segoe UI"/>
                <a:ea typeface="Aptos" pitchFamily="34" charset="-122"/>
                <a:cs typeface="Aptos" pitchFamily="34" charset="-120"/>
              </a:rPr>
              <a:t>Value measure</a:t>
            </a:r>
          </a:p>
          <a:p>
            <a:pPr marL="58738"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02A4C"/>
                </a:solidFill>
                <a:effectLst/>
                <a:uLnTx/>
                <a:uFillTx/>
                <a:latin typeface="Segoe UI"/>
                <a:ea typeface="Aptos" pitchFamily="34" charset="-122"/>
                <a:cs typeface="Aptos" pitchFamily="34" charset="-120"/>
              </a:rPr>
              <a:t>
</a:t>
            </a:r>
            <a:r>
              <a:rPr kumimoji="0" lang="en-US" sz="1150" b="0" i="0" u="none" strike="noStrike" kern="1200" cap="none" spc="0" normalizeH="0" baseline="0" noProof="0" dirty="0">
                <a:ln>
                  <a:noFill/>
                </a:ln>
                <a:solidFill>
                  <a:srgbClr val="1D2430"/>
                </a:solidFill>
                <a:effectLst/>
                <a:uLnTx/>
                <a:uFillTx/>
                <a:latin typeface="Segoe UI"/>
                <a:ea typeface="Aptos" pitchFamily="34" charset="-122"/>
                <a:cs typeface="Aptos" pitchFamily="34" charset="-120"/>
              </a:rPr>
              <a:t>What would make this useful to DLA: better forecast accuracy, earlier warning, explainability, or workflow integration?</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12" name="Text 10"/>
          <p:cNvSpPr/>
          <p:nvPr/>
        </p:nvSpPr>
        <p:spPr>
          <a:xfrm>
            <a:off x="6309360" y="2532887"/>
            <a:ext cx="5166360" cy="966445"/>
          </a:xfrm>
          <a:prstGeom prst="rect">
            <a:avLst/>
          </a:prstGeom>
          <a:solidFill>
            <a:srgbClr val="FFF8EC"/>
          </a:solidFill>
          <a:ln w="8890">
            <a:solidFill>
              <a:srgbClr val="D7A22A"/>
            </a:solidFill>
          </a:ln>
        </p:spPr>
        <p:txBody>
          <a:bodyPr wrap="square" lIns="1270" tIns="1270" rIns="1270" bIns="1270" rtlCol="0" anchor="t">
            <a:noAutofit/>
          </a:bodyPr>
          <a:lstStyle/>
          <a:p>
            <a:pPr marL="58738"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02A4C"/>
                </a:solidFill>
                <a:effectLst/>
                <a:uLnTx/>
                <a:uFillTx/>
                <a:latin typeface="Segoe UI"/>
                <a:ea typeface="Aptos" pitchFamily="34" charset="-122"/>
                <a:cs typeface="Aptos" pitchFamily="34" charset="-120"/>
              </a:rPr>
              <a:t>Constraints</a:t>
            </a:r>
            <a:endParaRPr kumimoji="0" lang="en-US" sz="1150" b="1" i="0" u="none" strike="noStrike" kern="1200" cap="none" spc="0" normalizeH="0" baseline="0" noProof="0" dirty="0">
              <a:ln>
                <a:noFill/>
              </a:ln>
              <a:solidFill>
                <a:srgbClr val="102A4C"/>
              </a:solidFill>
              <a:effectLst/>
              <a:uLnTx/>
              <a:uFillTx/>
              <a:ea typeface="Aptos" pitchFamily="34" charset="-122"/>
              <a:cs typeface="Aptos" pitchFamily="34" charset="-120"/>
            </a:endParaRPr>
          </a:p>
          <a:p>
            <a:pPr marL="58738"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02A4C"/>
                </a:solidFill>
                <a:effectLst/>
                <a:uLnTx/>
                <a:uFillTx/>
                <a:latin typeface="Segoe UI"/>
                <a:ea typeface="Aptos" pitchFamily="34" charset="-122"/>
                <a:cs typeface="Aptos" pitchFamily="34" charset="-120"/>
              </a:rPr>
              <a:t>
</a:t>
            </a:r>
            <a:r>
              <a:rPr kumimoji="0" lang="en-US" sz="1150" b="0" i="0" u="none" strike="noStrike" kern="1200" cap="none" spc="0" normalizeH="0" baseline="0" noProof="0" dirty="0">
                <a:ln>
                  <a:noFill/>
                </a:ln>
                <a:solidFill>
                  <a:srgbClr val="1D2430"/>
                </a:solidFill>
                <a:effectLst/>
                <a:uLnTx/>
                <a:uFillTx/>
                <a:latin typeface="Segoe UI"/>
                <a:ea typeface="Aptos" pitchFamily="34" charset="-122"/>
                <a:cs typeface="Aptos" pitchFamily="34" charset="-120"/>
              </a:rPr>
              <a:t>What data-access, cyber, operational, or governance constraints must be designed around from the start?</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13" name="Text 11"/>
          <p:cNvSpPr/>
          <p:nvPr/>
        </p:nvSpPr>
        <p:spPr>
          <a:xfrm>
            <a:off x="777240" y="3648455"/>
            <a:ext cx="5166360" cy="966445"/>
          </a:xfrm>
          <a:prstGeom prst="rect">
            <a:avLst/>
          </a:prstGeom>
          <a:solidFill>
            <a:srgbClr val="F2F7FC"/>
          </a:solidFill>
          <a:ln w="8890">
            <a:solidFill>
              <a:srgbClr val="1F5E9C"/>
            </a:solidFill>
          </a:ln>
        </p:spPr>
        <p:txBody>
          <a:bodyPr wrap="square" lIns="1270" tIns="1270" rIns="1270" bIns="1270" rtlCol="0" anchor="t">
            <a:normAutofit/>
          </a:bodyPr>
          <a:lstStyle/>
          <a:p>
            <a:pPr marL="58738"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02A4C"/>
                </a:solidFill>
                <a:effectLst/>
                <a:uLnTx/>
                <a:uFillTx/>
                <a:latin typeface="Segoe UI"/>
                <a:ea typeface="Aptos" pitchFamily="34" charset="-122"/>
                <a:cs typeface="Aptos" pitchFamily="34" charset="-120"/>
              </a:rPr>
              <a:t>Stakeholders</a:t>
            </a:r>
            <a:endParaRPr kumimoji="0" lang="en-US" sz="1150" b="1" i="0" u="none" strike="noStrike" kern="1200" cap="none" spc="0" normalizeH="0" baseline="0" noProof="0" dirty="0">
              <a:ln>
                <a:noFill/>
              </a:ln>
              <a:solidFill>
                <a:srgbClr val="102A4C"/>
              </a:solidFill>
              <a:effectLst/>
              <a:uLnTx/>
              <a:uFillTx/>
              <a:ea typeface="Aptos" pitchFamily="34" charset="-122"/>
              <a:cs typeface="Aptos" pitchFamily="34" charset="-120"/>
            </a:endParaRPr>
          </a:p>
          <a:p>
            <a:pPr marL="58738"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02A4C"/>
                </a:solidFill>
                <a:effectLst/>
                <a:uLnTx/>
                <a:uFillTx/>
                <a:latin typeface="Segoe UI"/>
                <a:ea typeface="Aptos" pitchFamily="34" charset="-122"/>
                <a:cs typeface="Aptos" pitchFamily="34" charset="-120"/>
              </a:rPr>
              <a:t>
</a:t>
            </a:r>
            <a:r>
              <a:rPr kumimoji="0" lang="en-US" sz="1150" b="0" i="0" u="none" strike="noStrike" kern="1200" cap="none" spc="0" normalizeH="0" baseline="0" noProof="0" dirty="0">
                <a:ln>
                  <a:noFill/>
                </a:ln>
                <a:solidFill>
                  <a:srgbClr val="1D2430"/>
                </a:solidFill>
                <a:effectLst/>
                <a:uLnTx/>
                <a:uFillTx/>
                <a:latin typeface="Segoe UI"/>
                <a:ea typeface="Aptos" pitchFamily="34" charset="-122"/>
                <a:cs typeface="Aptos" pitchFamily="34" charset="-120"/>
              </a:rPr>
              <a:t>Who should participate in the MVP design session to make the test practical and credible?</a:t>
            </a:r>
            <a:endParaRPr kumimoji="0" lang="en-US" sz="1150" b="0" i="0" u="none" strike="noStrike" kern="1200" cap="none" spc="0" normalizeH="0" baseline="0" noProof="0" dirty="0">
              <a:ln>
                <a:noFill/>
              </a:ln>
              <a:solidFill>
                <a:prstClr val="black"/>
              </a:solidFill>
              <a:effectLst/>
              <a:uLnTx/>
              <a:uFillTx/>
              <a:ea typeface="+mn-ea"/>
              <a:cs typeface="+mn-cs"/>
            </a:endParaRPr>
          </a:p>
        </p:txBody>
      </p:sp>
      <p:sp>
        <p:nvSpPr>
          <p:cNvPr id="14" name="Text 12"/>
          <p:cNvSpPr/>
          <p:nvPr/>
        </p:nvSpPr>
        <p:spPr>
          <a:xfrm>
            <a:off x="868679" y="5596127"/>
            <a:ext cx="777241" cy="283463"/>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2060"/>
                </a:solidFill>
                <a:effectLst/>
                <a:uLnTx/>
                <a:uFillTx/>
                <a:latin typeface="Segoe UI"/>
                <a:ea typeface="Aptos" pitchFamily="34" charset="-122"/>
                <a:cs typeface="Aptos" pitchFamily="34" charset="-120"/>
              </a:rPr>
              <a:t>Close</a:t>
            </a:r>
            <a:endParaRPr kumimoji="0" lang="en-US" sz="1400" b="0" i="0" u="none" strike="noStrike" kern="1200" cap="none" spc="0" normalizeH="0" baseline="0" noProof="0" dirty="0">
              <a:ln>
                <a:noFill/>
              </a:ln>
              <a:solidFill>
                <a:srgbClr val="002060"/>
              </a:solidFill>
              <a:effectLst/>
              <a:uLnTx/>
              <a:uFillTx/>
              <a:ea typeface="+mn-ea"/>
              <a:cs typeface="+mn-cs"/>
            </a:endParaRPr>
          </a:p>
        </p:txBody>
      </p:sp>
      <p:sp>
        <p:nvSpPr>
          <p:cNvPr id="15" name="Text 13"/>
          <p:cNvSpPr/>
          <p:nvPr/>
        </p:nvSpPr>
        <p:spPr>
          <a:xfrm>
            <a:off x="1645920" y="5550415"/>
            <a:ext cx="9509760" cy="393178"/>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chemeClr val="tx1">
                    <a:lumMod val="50000"/>
                    <a:lumOff val="50000"/>
                  </a:schemeClr>
                </a:solidFill>
                <a:effectLst/>
                <a:uLnTx/>
                <a:uFillTx/>
                <a:latin typeface="Segoe UI"/>
                <a:ea typeface="Aptos Display" pitchFamily="34" charset="-122"/>
                <a:cs typeface="Aptos Display" pitchFamily="34" charset="-120"/>
              </a:rPr>
              <a:t>Confirm prioritized use cases, MVP design session, stakeholder names, and data path before leaving the meeting.</a:t>
            </a:r>
            <a:endParaRPr kumimoji="0" lang="en-US" sz="1150" b="0" i="0" u="none" strike="noStrike" kern="1200" cap="none" spc="0" normalizeH="0" baseline="0" noProof="0" dirty="0">
              <a:ln>
                <a:noFill/>
              </a:ln>
              <a:solidFill>
                <a:schemeClr val="tx1">
                  <a:lumMod val="50000"/>
                  <a:lumOff val="50000"/>
                </a:schemeClr>
              </a:solidFill>
              <a:effectLst/>
              <a:uLnTx/>
              <a:uFillTx/>
              <a:ea typeface="+mn-ea"/>
              <a:cs typeface="+mn-cs"/>
            </a:endParaRPr>
          </a:p>
        </p:txBody>
      </p:sp>
      <p:sp>
        <p:nvSpPr>
          <p:cNvPr id="17" name="Text 4">
            <a:extLst>
              <a:ext uri="{FF2B5EF4-FFF2-40B4-BE49-F238E27FC236}">
                <a16:creationId xmlns:a16="http://schemas.microsoft.com/office/drawing/2014/main" id="{E937569A-FA5D-2D45-DF4E-CA684A2BD81C}"/>
              </a:ext>
            </a:extLst>
          </p:cNvPr>
          <p:cNvSpPr/>
          <p:nvPr/>
        </p:nvSpPr>
        <p:spPr>
          <a:xfrm>
            <a:off x="438912" y="6510528"/>
            <a:ext cx="80467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CONFIDENTIAL  |  22</a:t>
            </a:r>
            <a:r>
              <a:rPr kumimoji="0" lang="en-US" sz="800" b="0" i="0" u="none" strike="noStrike" kern="1200" cap="none" spc="0" normalizeH="0" baseline="30000" noProof="0" dirty="0">
                <a:ln>
                  <a:noFill/>
                </a:ln>
                <a:solidFill>
                  <a:srgbClr val="5B6470"/>
                </a:solidFill>
                <a:effectLst/>
                <a:uLnTx/>
                <a:uFillTx/>
                <a:latin typeface="Segoe UI"/>
                <a:ea typeface="Aptos" pitchFamily="34" charset="-122"/>
                <a:cs typeface="Aptos" pitchFamily="34" charset="-120"/>
              </a:rPr>
              <a:t>nd</a:t>
            </a: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 Century Technologies  |  DLA EDM Vector Intelligence</a:t>
            </a:r>
            <a:endParaRPr kumimoji="0" lang="en-US" sz="800" b="0" i="0" u="none" strike="noStrike" kern="1200" cap="none" spc="0" normalizeH="0" baseline="0" noProof="0" dirty="0">
              <a:ln>
                <a:noFill/>
              </a:ln>
              <a:solidFill>
                <a:prstClr val="black"/>
              </a:solidFill>
              <a:effectLst/>
              <a:uLnTx/>
              <a:uFillTx/>
              <a:ea typeface="+mn-ea"/>
              <a:cs typeface="+mn-cs"/>
            </a:endParaRPr>
          </a:p>
        </p:txBody>
      </p:sp>
      <p:sp>
        <p:nvSpPr>
          <p:cNvPr id="16" name="Shape 0">
            <a:extLst>
              <a:ext uri="{FF2B5EF4-FFF2-40B4-BE49-F238E27FC236}">
                <a16:creationId xmlns:a16="http://schemas.microsoft.com/office/drawing/2014/main" id="{ACBB5E3B-9142-E349-B933-9E0A69456051}"/>
              </a:ext>
            </a:extLst>
          </p:cNvPr>
          <p:cNvSpPr/>
          <p:nvPr/>
        </p:nvSpPr>
        <p:spPr>
          <a:xfrm>
            <a:off x="0" y="0"/>
            <a:ext cx="12191695" cy="137160"/>
          </a:xfrm>
          <a:prstGeom prst="rect">
            <a:avLst/>
          </a:prstGeom>
          <a:solidFill>
            <a:srgbClr val="06244A"/>
          </a:solidFill>
          <a:ln w="12700">
            <a:solidFill>
              <a:srgbClr val="06244A"/>
            </a:solidFill>
            <a:prstDash val="solid"/>
          </a:ln>
        </p:spPr>
        <p:txBody>
          <a:bodyPr/>
          <a:lstStyle/>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02A4C"/>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F36C21"/>
          </a:solidFill>
          <a:ln w="12700">
            <a:solidFill>
              <a:srgbClr val="F36C2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 name="Text 1"/>
          <p:cNvSpPr/>
          <p:nvPr/>
        </p:nvSpPr>
        <p:spPr>
          <a:xfrm>
            <a:off x="685800" y="2331720"/>
            <a:ext cx="9875520" cy="502920"/>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FFFFFF"/>
                </a:solidFill>
                <a:effectLst/>
                <a:uLnTx/>
                <a:uFillTx/>
                <a:latin typeface="Segoe UI" pitchFamily="34" charset="0"/>
                <a:ea typeface="Aptos Display" pitchFamily="34" charset="-122"/>
                <a:cs typeface="Aptos Display" pitchFamily="34" charset="-120"/>
              </a:rPr>
              <a:t>Appendix</a:t>
            </a:r>
            <a:endParaRPr kumimoji="0" lang="en-US" sz="300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Text 2"/>
          <p:cNvSpPr/>
          <p:nvPr/>
        </p:nvSpPr>
        <p:spPr>
          <a:xfrm>
            <a:off x="713232" y="2999232"/>
            <a:ext cx="9875520" cy="329184"/>
          </a:xfrm>
          <a:prstGeom prst="rect">
            <a:avLst/>
          </a:prstGeom>
          <a:noFill/>
          <a:ln/>
        </p:spPr>
        <p:txBody>
          <a:bodyPr wrap="square" lIns="508" tIns="508" rIns="508" bIns="508"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D8E8F9"/>
                </a:solidFill>
                <a:effectLst/>
                <a:uLnTx/>
                <a:uFillTx/>
                <a:latin typeface="Segoe UI" pitchFamily="34" charset="0"/>
                <a:ea typeface="Aptos" pitchFamily="34" charset="-122"/>
                <a:cs typeface="Aptos" pitchFamily="34" charset="-120"/>
              </a:rPr>
              <a:t>Technical backup and cleaned source-content details</a:t>
            </a:r>
            <a:endParaRPr kumimoji="0" lang="en-US" sz="1200" b="0" i="0" u="none" strike="noStrike" kern="1200" cap="none" spc="0" normalizeH="0" baseline="0" noProof="0" dirty="0">
              <a:ln>
                <a:noFill/>
              </a:ln>
              <a:solidFill>
                <a:prstClr val="black"/>
              </a:solidFill>
              <a:effectLst/>
              <a:uLnTx/>
              <a:uFillTx/>
              <a:latin typeface="Aptos"/>
              <a:ea typeface="+mn-ea"/>
              <a:cs typeface="+mn-cs"/>
            </a:endParaRPr>
          </a:p>
        </p:txBody>
      </p:sp>
      <p:sp>
        <p:nvSpPr>
          <p:cNvPr id="5" name="Shape 3"/>
          <p:cNvSpPr/>
          <p:nvPr/>
        </p:nvSpPr>
        <p:spPr>
          <a:xfrm>
            <a:off x="411480" y="6446520"/>
            <a:ext cx="11365992" cy="0"/>
          </a:xfrm>
          <a:prstGeom prst="line">
            <a:avLst/>
          </a:prstGeom>
          <a:noFill/>
          <a:ln w="7620">
            <a:solidFill>
              <a:srgbClr val="C9D3D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7" name="Text 5"/>
          <p:cNvSpPr/>
          <p:nvPr/>
        </p:nvSpPr>
        <p:spPr>
          <a:xfrm>
            <a:off x="11475720" y="6492240"/>
            <a:ext cx="320040" cy="20116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sz="850" b="0" i="0">
                <a:solidFill>
                  <a:srgbClr val="646F7C"/>
                </a:solidFill>
                <a:latin typeface="Segoe UI"/>
              </a:rPr>
              <a:t>13</a:t>
            </a:r>
            <a:endParaRPr kumimoji="0" lang="en-US" sz="700" b="0" i="0" u="none" strike="noStrike" kern="1200" cap="none" spc="0" normalizeH="0" baseline="0" noProof="0" dirty="0">
              <a:ln>
                <a:noFill/>
              </a:ln>
              <a:solidFill>
                <a:prstClr val="black"/>
              </a:solidFill>
              <a:effectLst/>
              <a:uLnTx/>
              <a:uFillTx/>
              <a:latin typeface="Aptos"/>
              <a:ea typeface="+mn-ea"/>
              <a:cs typeface="+mn-cs"/>
            </a:endParaRPr>
          </a:p>
        </p:txBody>
      </p:sp>
      <p:sp>
        <p:nvSpPr>
          <p:cNvPr id="9" name="Text 4">
            <a:extLst>
              <a:ext uri="{FF2B5EF4-FFF2-40B4-BE49-F238E27FC236}">
                <a16:creationId xmlns:a16="http://schemas.microsoft.com/office/drawing/2014/main" id="{45353834-EEAC-A8E6-7085-66947C9404EE}"/>
              </a:ext>
            </a:extLst>
          </p:cNvPr>
          <p:cNvSpPr/>
          <p:nvPr/>
        </p:nvSpPr>
        <p:spPr>
          <a:xfrm>
            <a:off x="438912" y="6510528"/>
            <a:ext cx="80467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CONFIDENTIAL  |  22</a:t>
            </a:r>
            <a:r>
              <a:rPr kumimoji="0" lang="en-US" sz="800" b="0" i="0" u="none" strike="noStrike" kern="1200" cap="none" spc="0" normalizeH="0" baseline="30000" noProof="0" dirty="0">
                <a:ln>
                  <a:noFill/>
                </a:ln>
                <a:solidFill>
                  <a:srgbClr val="5B6470"/>
                </a:solidFill>
                <a:effectLst/>
                <a:uLnTx/>
                <a:uFillTx/>
                <a:latin typeface="Segoe UI"/>
                <a:ea typeface="Aptos" pitchFamily="34" charset="-122"/>
                <a:cs typeface="Aptos" pitchFamily="34" charset="-120"/>
              </a:rPr>
              <a:t>nd</a:t>
            </a: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 Century Technologies  |  DLA EDM Vector Intelligence</a:t>
            </a:r>
            <a:endParaRPr kumimoji="0" lang="en-US" sz="800" b="0" i="0" u="none" strike="noStrike" kern="1200" cap="none" spc="0" normalizeH="0" baseline="0" noProof="0" dirty="0">
              <a:ln>
                <a:noFill/>
              </a:ln>
              <a:solidFill>
                <a:prstClr val="black"/>
              </a:solidFill>
              <a:effectLst/>
              <a:uLnTx/>
              <a:uFillTx/>
              <a:ea typeface="+mn-ea"/>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74320"/>
            <a:ext cx="10088575" cy="457200"/>
          </a:xfrm>
          <a:prstGeom prst="rect">
            <a:avLst/>
          </a:prstGeom>
          <a:noFill/>
          <a:ln/>
        </p:spPr>
        <p:txBody>
          <a:bodyPr wrap="square" lIns="0" tIns="0" rIns="0" bIns="0" rtlCol="0" anchor="ctr"/>
          <a:lstStyle/>
          <a:p>
            <a:pPr marL="0" indent="0">
              <a:buNone/>
            </a:pPr>
            <a:r>
              <a:rPr lang="en-US" sz="2400" b="1" dirty="0">
                <a:solidFill>
                  <a:srgbClr val="102A4C"/>
                </a:solidFill>
                <a:latin typeface="Segoe UI" pitchFamily="34" charset="0"/>
                <a:ea typeface="Aptos" pitchFamily="34" charset="-122"/>
                <a:cs typeface="Aptos" pitchFamily="34" charset="-120"/>
              </a:rPr>
              <a:t>Two ways to forecast the same demand</a:t>
            </a:r>
            <a:endParaRPr lang="en-US" sz="2400" dirty="0"/>
          </a:p>
        </p:txBody>
      </p:sp>
      <p:sp>
        <p:nvSpPr>
          <p:cNvPr id="4" name="Text 2"/>
          <p:cNvSpPr/>
          <p:nvPr/>
        </p:nvSpPr>
        <p:spPr>
          <a:xfrm>
            <a:off x="457200" y="777240"/>
            <a:ext cx="11277295" cy="274320"/>
          </a:xfrm>
          <a:prstGeom prst="rect">
            <a:avLst/>
          </a:prstGeom>
          <a:noFill/>
          <a:ln/>
        </p:spPr>
        <p:txBody>
          <a:bodyPr wrap="square" lIns="0" tIns="0" rIns="0" bIns="0" rtlCol="0" anchor="ctr"/>
          <a:lstStyle/>
          <a:p>
            <a:pPr marL="0" indent="0">
              <a:buNone/>
            </a:pPr>
            <a:r>
              <a:rPr lang="en-US" sz="1150" dirty="0">
                <a:solidFill>
                  <a:srgbClr val="5E6A75"/>
                </a:solidFill>
                <a:latin typeface="Segoe UI" pitchFamily="34" charset="0"/>
                <a:ea typeface="Aptos" pitchFamily="34" charset="-122"/>
                <a:cs typeface="Aptos" pitchFamily="34" charset="-120"/>
              </a:rPr>
              <a:t>Forecasting  NSN 2530-01-132-1488  ·  TRACK SHOE  ·  Yokosuka Supply Depot (W62G2T)  ·  Crit B  ·  8-week horizon</a:t>
            </a:r>
            <a:endParaRPr lang="en-US" sz="1150" dirty="0"/>
          </a:p>
        </p:txBody>
      </p:sp>
      <p:sp>
        <p:nvSpPr>
          <p:cNvPr id="5" name="Text 3"/>
          <p:cNvSpPr/>
          <p:nvPr/>
        </p:nvSpPr>
        <p:spPr>
          <a:xfrm>
            <a:off x="457200" y="1078992"/>
            <a:ext cx="11277295" cy="329184"/>
          </a:xfrm>
          <a:prstGeom prst="rect">
            <a:avLst/>
          </a:prstGeom>
          <a:noFill/>
          <a:ln/>
        </p:spPr>
        <p:txBody>
          <a:bodyPr wrap="square" lIns="0" tIns="0" rIns="0" bIns="0" rtlCol="0" anchor="ctr"/>
          <a:lstStyle/>
          <a:p>
            <a:pPr marL="0" indent="0">
              <a:buNone/>
            </a:pPr>
            <a:r>
              <a:rPr lang="en-US" sz="1200" i="1" dirty="0">
                <a:solidFill>
                  <a:srgbClr val="1F5E9C"/>
                </a:solidFill>
                <a:latin typeface="Segoe UI" pitchFamily="34" charset="0"/>
                <a:ea typeface="Aptos" pitchFamily="34" charset="-122"/>
                <a:cs typeface="Aptos" pitchFamily="34" charset="-120"/>
              </a:rPr>
              <a:t>Legacy reads one item’s own history; the new approach re-imagines the same data as a behavioral twin.</a:t>
            </a:r>
            <a:endParaRPr lang="en-US" sz="1200" dirty="0"/>
          </a:p>
        </p:txBody>
      </p:sp>
      <p:sp>
        <p:nvSpPr>
          <p:cNvPr id="6" name="Shape 4"/>
          <p:cNvSpPr/>
          <p:nvPr/>
        </p:nvSpPr>
        <p:spPr>
          <a:xfrm>
            <a:off x="432968" y="1611848"/>
            <a:ext cx="11277295" cy="1689135"/>
          </a:xfrm>
          <a:prstGeom prst="roundRect">
            <a:avLst>
              <a:gd name="adj" fmla="val 4000"/>
            </a:avLst>
          </a:prstGeom>
          <a:solidFill>
            <a:srgbClr val="F4F7FA"/>
          </a:solidFill>
          <a:ln w="12700">
            <a:solidFill>
              <a:srgbClr val="CBD7E3"/>
            </a:solidFill>
            <a:prstDash val="solid"/>
          </a:ln>
        </p:spPr>
        <p:txBody>
          <a:bodyPr/>
          <a:lstStyle/>
          <a:p>
            <a:endParaRPr lang="en-US"/>
          </a:p>
        </p:txBody>
      </p:sp>
      <p:sp>
        <p:nvSpPr>
          <p:cNvPr id="7" name="Text 5"/>
          <p:cNvSpPr/>
          <p:nvPr/>
        </p:nvSpPr>
        <p:spPr>
          <a:xfrm>
            <a:off x="634136" y="1703289"/>
            <a:ext cx="7315200" cy="274320"/>
          </a:xfrm>
          <a:prstGeom prst="rect">
            <a:avLst/>
          </a:prstGeom>
          <a:noFill/>
          <a:ln/>
        </p:spPr>
        <p:txBody>
          <a:bodyPr wrap="square" lIns="0" tIns="0" rIns="0" bIns="0" rtlCol="0" anchor="ctr"/>
          <a:lstStyle/>
          <a:p>
            <a:pPr marL="0" indent="0">
              <a:buNone/>
            </a:pPr>
            <a:r>
              <a:rPr lang="en-US" sz="1200" b="1" dirty="0">
                <a:solidFill>
                  <a:srgbClr val="102A4C"/>
                </a:solidFill>
                <a:latin typeface="Segoe UI" pitchFamily="34" charset="0"/>
                <a:ea typeface="Aptos" pitchFamily="34" charset="-122"/>
                <a:cs typeface="Aptos" pitchFamily="34" charset="-120"/>
              </a:rPr>
              <a:t>LEGACY</a:t>
            </a:r>
            <a:r>
              <a:rPr lang="en-US" sz="1000" i="1" dirty="0">
                <a:solidFill>
                  <a:srgbClr val="5E6A75"/>
                </a:solidFill>
                <a:latin typeface="Segoe UI" pitchFamily="34" charset="0"/>
                <a:ea typeface="Aptos" pitchFamily="34" charset="-122"/>
                <a:cs typeface="Aptos" pitchFamily="34" charset="-120"/>
              </a:rPr>
              <a:t>   moving-average baseline</a:t>
            </a:r>
            <a:endParaRPr lang="en-US" sz="1200" dirty="0"/>
          </a:p>
        </p:txBody>
      </p:sp>
      <p:sp>
        <p:nvSpPr>
          <p:cNvPr id="8" name="Shape 6"/>
          <p:cNvSpPr/>
          <p:nvPr/>
        </p:nvSpPr>
        <p:spPr>
          <a:xfrm>
            <a:off x="634136" y="2069048"/>
            <a:ext cx="3246120" cy="930181"/>
          </a:xfrm>
          <a:prstGeom prst="roundRect">
            <a:avLst>
              <a:gd name="adj" fmla="val 6522"/>
            </a:avLst>
          </a:prstGeom>
          <a:solidFill>
            <a:srgbClr val="FFFFFF"/>
          </a:solidFill>
          <a:ln w="12700">
            <a:solidFill>
              <a:srgbClr val="CBD7E3"/>
            </a:solidFill>
            <a:prstDash val="solid"/>
          </a:ln>
          <a:effectLst>
            <a:outerShdw blurRad="88900" dist="25400" dir="5400000" algn="bl" rotWithShape="0">
              <a:srgbClr val="000000">
                <a:alpha val="12000"/>
              </a:srgbClr>
            </a:outerShdw>
          </a:effectLst>
        </p:spPr>
        <p:txBody>
          <a:bodyPr/>
          <a:lstStyle/>
          <a:p>
            <a:endParaRPr lang="en-US"/>
          </a:p>
        </p:txBody>
      </p:sp>
      <p:sp>
        <p:nvSpPr>
          <p:cNvPr id="9" name="Text 7"/>
          <p:cNvSpPr/>
          <p:nvPr/>
        </p:nvSpPr>
        <p:spPr>
          <a:xfrm>
            <a:off x="798728" y="2160489"/>
            <a:ext cx="2926080" cy="256032"/>
          </a:xfrm>
          <a:prstGeom prst="rect">
            <a:avLst/>
          </a:prstGeom>
          <a:noFill/>
          <a:ln/>
        </p:spPr>
        <p:txBody>
          <a:bodyPr wrap="square" lIns="0" tIns="0" rIns="0" bIns="0" rtlCol="0" anchor="ctr"/>
          <a:lstStyle/>
          <a:p>
            <a:pPr marL="0" indent="0">
              <a:buNone/>
            </a:pPr>
            <a:r>
              <a:rPr lang="en-US" sz="1050" b="1" kern="0" spc="50" dirty="0">
                <a:solidFill>
                  <a:srgbClr val="1F5E9C"/>
                </a:solidFill>
                <a:latin typeface="Segoe UI" pitchFamily="34" charset="0"/>
                <a:ea typeface="Aptos" pitchFamily="34" charset="-122"/>
                <a:cs typeface="Aptos" pitchFamily="34" charset="-120"/>
              </a:rPr>
              <a:t>INPUT DATA</a:t>
            </a:r>
            <a:endParaRPr lang="en-US" sz="1050" dirty="0"/>
          </a:p>
        </p:txBody>
      </p:sp>
      <p:sp>
        <p:nvSpPr>
          <p:cNvPr id="10" name="Text 8"/>
          <p:cNvSpPr/>
          <p:nvPr/>
        </p:nvSpPr>
        <p:spPr>
          <a:xfrm>
            <a:off x="798728" y="2398233"/>
            <a:ext cx="2971800" cy="457200"/>
          </a:xfrm>
          <a:prstGeom prst="rect">
            <a:avLst/>
          </a:prstGeom>
          <a:noFill/>
          <a:ln/>
        </p:spPr>
        <p:txBody>
          <a:bodyPr wrap="square" lIns="0" tIns="0" rIns="0" bIns="0" rtlCol="0" anchor="ctr"/>
          <a:lstStyle/>
          <a:p>
            <a:pPr marL="0" indent="0">
              <a:buNone/>
            </a:pPr>
            <a:r>
              <a:rPr lang="en-US" sz="1050" dirty="0">
                <a:solidFill>
                  <a:srgbClr val="1D2430"/>
                </a:solidFill>
                <a:latin typeface="Segoe UI" pitchFamily="34" charset="0"/>
                <a:ea typeface="Aptos" pitchFamily="34" charset="-122"/>
                <a:cs typeface="Aptos" pitchFamily="34" charset="-120"/>
              </a:rPr>
              <a:t>This item’s requisition history (180 days) + exercise &amp; fiscal calendars.</a:t>
            </a:r>
          </a:p>
          <a:p>
            <a:r>
              <a:rPr lang="en-US" sz="1050" dirty="0">
                <a:solidFill>
                  <a:srgbClr val="1D2430"/>
                </a:solidFill>
                <a:latin typeface="Segoe UI" pitchFamily="34" charset="0"/>
                <a:ea typeface="Aptos" pitchFamily="34" charset="-122"/>
                <a:cs typeface="Aptos" pitchFamily="34" charset="-120"/>
              </a:rPr>
              <a:t>5 signals: demand, supply, inventory, volatility, context (available but in silos)</a:t>
            </a:r>
            <a:endParaRPr lang="en-US" sz="1050" dirty="0"/>
          </a:p>
        </p:txBody>
      </p:sp>
      <p:sp>
        <p:nvSpPr>
          <p:cNvPr id="11" name="Text 9"/>
          <p:cNvSpPr/>
          <p:nvPr/>
        </p:nvSpPr>
        <p:spPr>
          <a:xfrm>
            <a:off x="3907688" y="2261073"/>
            <a:ext cx="365760" cy="457200"/>
          </a:xfrm>
          <a:prstGeom prst="rect">
            <a:avLst/>
          </a:prstGeom>
          <a:noFill/>
          <a:ln/>
        </p:spPr>
        <p:txBody>
          <a:bodyPr wrap="square" lIns="0" tIns="0" rIns="0" bIns="0" rtlCol="0" anchor="ctr"/>
          <a:lstStyle/>
          <a:p>
            <a:pPr marL="0" indent="0" algn="ctr">
              <a:buNone/>
            </a:pPr>
            <a:r>
              <a:rPr lang="en-US" sz="2400" b="1" dirty="0">
                <a:solidFill>
                  <a:srgbClr val="1F5E9C"/>
                </a:solidFill>
                <a:latin typeface="Segoe UI" pitchFamily="34" charset="0"/>
                <a:ea typeface="Aptos" pitchFamily="34" charset="-122"/>
                <a:cs typeface="Aptos" pitchFamily="34" charset="-120"/>
              </a:rPr>
              <a:t>&gt;</a:t>
            </a:r>
            <a:endParaRPr lang="en-US" sz="2400" dirty="0"/>
          </a:p>
        </p:txBody>
      </p:sp>
      <p:sp>
        <p:nvSpPr>
          <p:cNvPr id="12" name="Shape 10"/>
          <p:cNvSpPr/>
          <p:nvPr/>
        </p:nvSpPr>
        <p:spPr>
          <a:xfrm>
            <a:off x="4359048" y="1913599"/>
            <a:ext cx="4160520" cy="1085631"/>
          </a:xfrm>
          <a:prstGeom prst="roundRect">
            <a:avLst>
              <a:gd name="adj" fmla="val 6522"/>
            </a:avLst>
          </a:prstGeom>
          <a:solidFill>
            <a:srgbClr val="FFFFFF"/>
          </a:solidFill>
          <a:ln w="12700">
            <a:solidFill>
              <a:srgbClr val="CBD7E3"/>
            </a:solidFill>
            <a:prstDash val="solid"/>
          </a:ln>
          <a:effectLst>
            <a:outerShdw blurRad="88900" dist="25400" dir="5400000" algn="bl" rotWithShape="0">
              <a:srgbClr val="000000">
                <a:alpha val="12000"/>
              </a:srgbClr>
            </a:outerShdw>
          </a:effectLst>
        </p:spPr>
        <p:txBody>
          <a:bodyPr/>
          <a:lstStyle/>
          <a:p>
            <a:endParaRPr lang="en-US"/>
          </a:p>
        </p:txBody>
      </p:sp>
      <p:sp>
        <p:nvSpPr>
          <p:cNvPr id="13" name="Text 11"/>
          <p:cNvSpPr/>
          <p:nvPr/>
        </p:nvSpPr>
        <p:spPr>
          <a:xfrm>
            <a:off x="4594256" y="2012682"/>
            <a:ext cx="3840480" cy="256032"/>
          </a:xfrm>
          <a:prstGeom prst="rect">
            <a:avLst/>
          </a:prstGeom>
          <a:noFill/>
          <a:ln/>
        </p:spPr>
        <p:txBody>
          <a:bodyPr wrap="square" lIns="0" tIns="0" rIns="0" bIns="0" rtlCol="0" anchor="ctr"/>
          <a:lstStyle/>
          <a:p>
            <a:pPr marL="0" indent="0">
              <a:buNone/>
            </a:pPr>
            <a:r>
              <a:rPr lang="en-US" sz="1050" b="1" kern="0" spc="50" dirty="0">
                <a:solidFill>
                  <a:srgbClr val="1F5E9C"/>
                </a:solidFill>
                <a:latin typeface="Segoe UI" pitchFamily="34" charset="0"/>
                <a:ea typeface="Aptos" pitchFamily="34" charset="-122"/>
                <a:cs typeface="Aptos" pitchFamily="34" charset="-120"/>
              </a:rPr>
              <a:t>KEY STEPS</a:t>
            </a:r>
            <a:endParaRPr lang="en-US" sz="1050" dirty="0"/>
          </a:p>
        </p:txBody>
      </p:sp>
      <p:sp>
        <p:nvSpPr>
          <p:cNvPr id="14" name="Text 12"/>
          <p:cNvSpPr/>
          <p:nvPr/>
        </p:nvSpPr>
        <p:spPr>
          <a:xfrm>
            <a:off x="4594256" y="2250426"/>
            <a:ext cx="3886200" cy="457200"/>
          </a:xfrm>
          <a:prstGeom prst="rect">
            <a:avLst/>
          </a:prstGeom>
          <a:noFill/>
          <a:ln/>
        </p:spPr>
        <p:txBody>
          <a:bodyPr wrap="square" lIns="0" tIns="0" rIns="0" bIns="0" rtlCol="0" anchor="ctr"/>
          <a:lstStyle/>
          <a:p>
            <a:pPr marL="0" indent="0">
              <a:buNone/>
            </a:pPr>
            <a:r>
              <a:rPr lang="en-US" sz="1050" dirty="0">
                <a:solidFill>
                  <a:srgbClr val="1D2430"/>
                </a:solidFill>
                <a:latin typeface="Segoe UI" pitchFamily="34" charset="0"/>
                <a:ea typeface="Aptos" pitchFamily="34" charset="-122"/>
                <a:cs typeface="Aptos" pitchFamily="34" charset="-120"/>
              </a:rPr>
              <a:t>Historical percentiles → straight-line trend → seasonal multipliers → Monte-Carlo (simulated)</a:t>
            </a:r>
            <a:endParaRPr lang="en-US" sz="1050" dirty="0"/>
          </a:p>
        </p:txBody>
      </p:sp>
      <p:sp>
        <p:nvSpPr>
          <p:cNvPr id="15" name="Text 13"/>
          <p:cNvSpPr/>
          <p:nvPr/>
        </p:nvSpPr>
        <p:spPr>
          <a:xfrm>
            <a:off x="8516264" y="2261073"/>
            <a:ext cx="365760" cy="457200"/>
          </a:xfrm>
          <a:prstGeom prst="rect">
            <a:avLst/>
          </a:prstGeom>
          <a:noFill/>
          <a:ln/>
        </p:spPr>
        <p:txBody>
          <a:bodyPr wrap="square" lIns="0" tIns="0" rIns="0" bIns="0" rtlCol="0" anchor="ctr"/>
          <a:lstStyle/>
          <a:p>
            <a:pPr marL="0" indent="0" algn="ctr">
              <a:buNone/>
            </a:pPr>
            <a:r>
              <a:rPr lang="en-US" sz="2400" b="1" dirty="0">
                <a:solidFill>
                  <a:srgbClr val="1F5E9C"/>
                </a:solidFill>
                <a:latin typeface="Segoe UI" pitchFamily="34" charset="0"/>
                <a:ea typeface="Aptos" pitchFamily="34" charset="-122"/>
                <a:cs typeface="Aptos" pitchFamily="34" charset="-120"/>
              </a:rPr>
              <a:t>&gt;</a:t>
            </a:r>
            <a:endParaRPr lang="en-US" sz="2400" dirty="0"/>
          </a:p>
        </p:txBody>
      </p:sp>
      <p:sp>
        <p:nvSpPr>
          <p:cNvPr id="16" name="Shape 14"/>
          <p:cNvSpPr/>
          <p:nvPr/>
        </p:nvSpPr>
        <p:spPr>
          <a:xfrm>
            <a:off x="8936888" y="2069049"/>
            <a:ext cx="2578608" cy="841248"/>
          </a:xfrm>
          <a:prstGeom prst="roundRect">
            <a:avLst>
              <a:gd name="adj" fmla="val 6522"/>
            </a:avLst>
          </a:prstGeom>
          <a:solidFill>
            <a:srgbClr val="102A4C"/>
          </a:solidFill>
          <a:ln/>
          <a:effectLst>
            <a:outerShdw blurRad="88900" dist="25400" dir="5400000" algn="bl" rotWithShape="0">
              <a:srgbClr val="000000">
                <a:alpha val="12000"/>
              </a:srgbClr>
            </a:outerShdw>
          </a:effectLst>
        </p:spPr>
        <p:txBody>
          <a:bodyPr/>
          <a:lstStyle/>
          <a:p>
            <a:endParaRPr lang="en-US"/>
          </a:p>
        </p:txBody>
      </p:sp>
      <p:sp>
        <p:nvSpPr>
          <p:cNvPr id="17" name="Text 15"/>
          <p:cNvSpPr/>
          <p:nvPr/>
        </p:nvSpPr>
        <p:spPr>
          <a:xfrm>
            <a:off x="9074048" y="2123913"/>
            <a:ext cx="1051560" cy="731520"/>
          </a:xfrm>
          <a:prstGeom prst="rect">
            <a:avLst/>
          </a:prstGeom>
          <a:noFill/>
          <a:ln/>
        </p:spPr>
        <p:txBody>
          <a:bodyPr wrap="square" lIns="0" tIns="0" rIns="0" bIns="0" rtlCol="0" anchor="ctr"/>
          <a:lstStyle/>
          <a:p>
            <a:pPr marL="0" indent="0">
              <a:buNone/>
            </a:pPr>
            <a:r>
              <a:rPr lang="en-US" sz="3000" b="1" dirty="0">
                <a:solidFill>
                  <a:srgbClr val="B4262C"/>
                </a:solidFill>
                <a:latin typeface="Segoe UI" pitchFamily="34" charset="0"/>
                <a:ea typeface="Aptos" pitchFamily="34" charset="-122"/>
                <a:cs typeface="Aptos" pitchFamily="34" charset="-120"/>
              </a:rPr>
              <a:t>930</a:t>
            </a:r>
            <a:endParaRPr lang="en-US" sz="3000" dirty="0"/>
          </a:p>
        </p:txBody>
      </p:sp>
      <p:sp>
        <p:nvSpPr>
          <p:cNvPr id="18" name="Text 16"/>
          <p:cNvSpPr/>
          <p:nvPr/>
        </p:nvSpPr>
        <p:spPr>
          <a:xfrm>
            <a:off x="9908088" y="2069049"/>
            <a:ext cx="1543400" cy="841248"/>
          </a:xfrm>
          <a:prstGeom prst="rect">
            <a:avLst/>
          </a:prstGeom>
          <a:noFill/>
          <a:ln/>
        </p:spPr>
        <p:txBody>
          <a:bodyPr wrap="square" lIns="0" tIns="0" rIns="0" bIns="0" rtlCol="0" anchor="ctr"/>
          <a:lstStyle/>
          <a:p>
            <a:pPr marL="0" indent="0">
              <a:lnSpc>
                <a:spcPct val="105000"/>
              </a:lnSpc>
              <a:buNone/>
            </a:pPr>
            <a:r>
              <a:rPr lang="en-US" sz="950" b="1" dirty="0">
                <a:solidFill>
                  <a:srgbClr val="FFFFFF"/>
                </a:solidFill>
                <a:latin typeface="Segoe UI" pitchFamily="34" charset="0"/>
                <a:ea typeface="Aptos" pitchFamily="34" charset="-122"/>
                <a:cs typeface="Aptos" pitchFamily="34" charset="-120"/>
              </a:rPr>
              <a:t>forecast · held-out 8 wks
</a:t>
            </a:r>
            <a:endParaRPr lang="en-US" sz="950" dirty="0"/>
          </a:p>
          <a:p>
            <a:pPr marL="0" indent="0">
              <a:lnSpc>
                <a:spcPct val="105000"/>
              </a:lnSpc>
              <a:buNone/>
            </a:pPr>
            <a:r>
              <a:rPr lang="en-US" sz="950" dirty="0">
                <a:solidFill>
                  <a:srgbClr val="9DB8D6"/>
                </a:solidFill>
                <a:latin typeface="Segoe UI" pitchFamily="34" charset="0"/>
                <a:ea typeface="Aptos" pitchFamily="34" charset="-122"/>
                <a:cs typeface="Aptos" pitchFamily="34" charset="-120"/>
              </a:rPr>
              <a:t>frozen bands · cold-start = 0</a:t>
            </a:r>
            <a:endParaRPr lang="en-US" sz="950" dirty="0"/>
          </a:p>
        </p:txBody>
      </p:sp>
      <p:sp>
        <p:nvSpPr>
          <p:cNvPr id="19" name="Shape 17"/>
          <p:cNvSpPr/>
          <p:nvPr/>
        </p:nvSpPr>
        <p:spPr>
          <a:xfrm>
            <a:off x="432968" y="3429000"/>
            <a:ext cx="11277295" cy="2623952"/>
          </a:xfrm>
          <a:prstGeom prst="roundRect">
            <a:avLst>
              <a:gd name="adj" fmla="val 1754"/>
            </a:avLst>
          </a:prstGeom>
          <a:solidFill>
            <a:srgbClr val="F5FAFC"/>
          </a:solidFill>
          <a:ln w="12700">
            <a:solidFill>
              <a:srgbClr val="CBD7E3"/>
            </a:solidFill>
            <a:prstDash val="solid"/>
          </a:ln>
        </p:spPr>
        <p:txBody>
          <a:bodyPr/>
          <a:lstStyle/>
          <a:p>
            <a:endParaRPr lang="en-US"/>
          </a:p>
        </p:txBody>
      </p:sp>
      <p:sp>
        <p:nvSpPr>
          <p:cNvPr id="20" name="Text 18"/>
          <p:cNvSpPr/>
          <p:nvPr/>
        </p:nvSpPr>
        <p:spPr>
          <a:xfrm>
            <a:off x="634136" y="3538728"/>
            <a:ext cx="10058400" cy="274320"/>
          </a:xfrm>
          <a:prstGeom prst="rect">
            <a:avLst/>
          </a:prstGeom>
          <a:noFill/>
          <a:ln/>
        </p:spPr>
        <p:txBody>
          <a:bodyPr wrap="square" lIns="0" tIns="0" rIns="0" bIns="0" rtlCol="0" anchor="ctr"/>
          <a:lstStyle/>
          <a:p>
            <a:pPr marL="0" indent="0">
              <a:buNone/>
            </a:pPr>
            <a:r>
              <a:rPr lang="en-US" sz="1250" b="1" dirty="0">
                <a:solidFill>
                  <a:srgbClr val="102A4C"/>
                </a:solidFill>
                <a:latin typeface="Segoe UI" pitchFamily="34" charset="0"/>
                <a:ea typeface="Aptos" pitchFamily="34" charset="-122"/>
                <a:cs typeface="Aptos" pitchFamily="34" charset="-120"/>
              </a:rPr>
              <a:t>NEW — EDM VECTOR INTELLIGENCE</a:t>
            </a:r>
            <a:r>
              <a:rPr lang="en-US" sz="1000" i="1" dirty="0">
                <a:solidFill>
                  <a:srgbClr val="5E6A75"/>
                </a:solidFill>
                <a:latin typeface="Segoe UI" pitchFamily="34" charset="0"/>
                <a:ea typeface="Aptos" pitchFamily="34" charset="-122"/>
                <a:cs typeface="Aptos" pitchFamily="34" charset="-120"/>
              </a:rPr>
              <a:t>   same data, re-imagined as a behavioral twin</a:t>
            </a:r>
            <a:endParaRPr lang="en-US" sz="1250" dirty="0"/>
          </a:p>
        </p:txBody>
      </p:sp>
      <p:sp>
        <p:nvSpPr>
          <p:cNvPr id="21" name="Shape 19"/>
          <p:cNvSpPr/>
          <p:nvPr/>
        </p:nvSpPr>
        <p:spPr>
          <a:xfrm>
            <a:off x="634136" y="3941064"/>
            <a:ext cx="2743200" cy="1901952"/>
          </a:xfrm>
          <a:prstGeom prst="roundRect">
            <a:avLst>
              <a:gd name="adj" fmla="val 2128"/>
            </a:avLst>
          </a:prstGeom>
          <a:solidFill>
            <a:srgbClr val="FFFFFF"/>
          </a:solidFill>
          <a:ln w="12700">
            <a:solidFill>
              <a:srgbClr val="CBD7E3"/>
            </a:solidFill>
            <a:prstDash val="solid"/>
          </a:ln>
          <a:effectLst>
            <a:outerShdw blurRad="88900" dist="25400" dir="5400000" algn="bl" rotWithShape="0">
              <a:srgbClr val="000000">
                <a:alpha val="12000"/>
              </a:srgbClr>
            </a:outerShdw>
          </a:effectLst>
        </p:spPr>
        <p:txBody>
          <a:bodyPr/>
          <a:lstStyle/>
          <a:p>
            <a:endParaRPr lang="en-US"/>
          </a:p>
        </p:txBody>
      </p:sp>
      <p:sp>
        <p:nvSpPr>
          <p:cNvPr id="22" name="Text 20"/>
          <p:cNvSpPr/>
          <p:nvPr/>
        </p:nvSpPr>
        <p:spPr>
          <a:xfrm>
            <a:off x="817016" y="4087368"/>
            <a:ext cx="2468880" cy="256032"/>
          </a:xfrm>
          <a:prstGeom prst="rect">
            <a:avLst/>
          </a:prstGeom>
          <a:noFill/>
          <a:ln/>
        </p:spPr>
        <p:txBody>
          <a:bodyPr wrap="square" lIns="0" tIns="0" rIns="0" bIns="0" rtlCol="0" anchor="ctr"/>
          <a:lstStyle/>
          <a:p>
            <a:pPr marL="0" indent="0">
              <a:buNone/>
            </a:pPr>
            <a:r>
              <a:rPr sz="950" b="1" i="0">
                <a:solidFill>
                  <a:srgbClr val="0068AA"/>
                </a:solidFill>
                <a:latin typeface="Segoe UI"/>
              </a:rPr>
              <a:t>INPUT DATA  →  DIGITAL TWIN</a:t>
            </a:r>
            <a:endParaRPr lang="en-US" sz="1050" dirty="0"/>
          </a:p>
        </p:txBody>
      </p:sp>
      <p:sp>
        <p:nvSpPr>
          <p:cNvPr id="23" name="Text 21"/>
          <p:cNvSpPr/>
          <p:nvPr/>
        </p:nvSpPr>
        <p:spPr>
          <a:xfrm>
            <a:off x="817016" y="4398264"/>
            <a:ext cx="2432304" cy="1984248"/>
          </a:xfrm>
          <a:prstGeom prst="rect">
            <a:avLst/>
          </a:prstGeom>
          <a:noFill/>
          <a:ln/>
        </p:spPr>
        <p:txBody>
          <a:bodyPr wrap="square" lIns="0" tIns="0" rIns="0" bIns="0" rtlCol="0" anchor="t"/>
          <a:lstStyle/>
          <a:p>
            <a:pPr marL="0" indent="0">
              <a:spcAft>
                <a:spcPts val="800"/>
              </a:spcAft>
              <a:buNone/>
            </a:pPr>
            <a:r>
              <a:rPr sz="960" b="0" i="0">
                <a:solidFill>
                  <a:srgbClr val="2A3038"/>
                </a:solidFill>
                <a:latin typeface="Segoe UI"/>
              </a:rPr>
              <a:t>Input data: the same records, available signals, and monthly snapshots
Digital twin: 5 demand, supply, inventory, volatility, and context signals become a behavioral entity
16–23 monthly snapshots = trajectory</a:t>
            </a:r>
            <a:endParaRPr lang="en-US" sz="1050" dirty="0"/>
          </a:p>
        </p:txBody>
      </p:sp>
      <p:sp>
        <p:nvSpPr>
          <p:cNvPr id="24" name="Text 22"/>
          <p:cNvSpPr/>
          <p:nvPr/>
        </p:nvSpPr>
        <p:spPr>
          <a:xfrm>
            <a:off x="3395624" y="5001768"/>
            <a:ext cx="365760" cy="457200"/>
          </a:xfrm>
          <a:prstGeom prst="rect">
            <a:avLst/>
          </a:prstGeom>
          <a:noFill/>
          <a:ln/>
        </p:spPr>
        <p:txBody>
          <a:bodyPr wrap="square" lIns="0" tIns="0" rIns="0" bIns="0" rtlCol="0" anchor="ctr"/>
          <a:lstStyle/>
          <a:p>
            <a:pPr marL="0" indent="0" algn="ctr">
              <a:buNone/>
            </a:pPr>
            <a:r>
              <a:rPr lang="en-US" sz="2400" b="1" dirty="0">
                <a:solidFill>
                  <a:srgbClr val="1F5E9C"/>
                </a:solidFill>
                <a:latin typeface="Segoe UI" pitchFamily="34" charset="0"/>
                <a:ea typeface="Aptos" pitchFamily="34" charset="-122"/>
                <a:cs typeface="Aptos" pitchFamily="34" charset="-120"/>
              </a:rPr>
              <a:t>&gt;</a:t>
            </a:r>
            <a:endParaRPr lang="en-US" sz="2400" dirty="0"/>
          </a:p>
        </p:txBody>
      </p:sp>
      <p:sp>
        <p:nvSpPr>
          <p:cNvPr id="25" name="Shape 23"/>
          <p:cNvSpPr/>
          <p:nvPr/>
        </p:nvSpPr>
        <p:spPr>
          <a:xfrm>
            <a:off x="3743096" y="3941064"/>
            <a:ext cx="2286000" cy="1901952"/>
          </a:xfrm>
          <a:prstGeom prst="roundRect">
            <a:avLst>
              <a:gd name="adj" fmla="val 2400"/>
            </a:avLst>
          </a:prstGeom>
          <a:solidFill>
            <a:srgbClr val="FFFFFF"/>
          </a:solidFill>
          <a:ln w="12700">
            <a:solidFill>
              <a:srgbClr val="CBD7E3"/>
            </a:solidFill>
            <a:prstDash val="solid"/>
          </a:ln>
          <a:effectLst>
            <a:outerShdw blurRad="88900" dist="25400" dir="5400000" algn="bl" rotWithShape="0">
              <a:srgbClr val="000000">
                <a:alpha val="12000"/>
              </a:srgbClr>
            </a:outerShdw>
          </a:effectLst>
        </p:spPr>
        <p:txBody>
          <a:bodyPr/>
          <a:lstStyle/>
          <a:p>
            <a:endParaRPr lang="en-US"/>
          </a:p>
        </p:txBody>
      </p:sp>
      <p:sp>
        <p:nvSpPr>
          <p:cNvPr id="26" name="Text 24"/>
          <p:cNvSpPr/>
          <p:nvPr/>
        </p:nvSpPr>
        <p:spPr>
          <a:xfrm>
            <a:off x="3925976" y="4087368"/>
            <a:ext cx="2011680" cy="256032"/>
          </a:xfrm>
          <a:prstGeom prst="rect">
            <a:avLst/>
          </a:prstGeom>
          <a:noFill/>
          <a:ln/>
        </p:spPr>
        <p:txBody>
          <a:bodyPr wrap="square" lIns="0" tIns="0" rIns="0" bIns="0" rtlCol="0" anchor="ctr"/>
          <a:lstStyle/>
          <a:p>
            <a:pPr marL="0" indent="0">
              <a:buNone/>
            </a:pPr>
            <a:r>
              <a:rPr lang="en-US" sz="1050" b="1" kern="0" spc="50" dirty="0">
                <a:solidFill>
                  <a:srgbClr val="118484"/>
                </a:solidFill>
                <a:latin typeface="Segoe UI" pitchFamily="34" charset="0"/>
                <a:ea typeface="Aptos" pitchFamily="34" charset="-122"/>
                <a:cs typeface="Aptos" pitchFamily="34" charset="-120"/>
              </a:rPr>
              <a:t>KEY STEPS </a:t>
            </a:r>
            <a:endParaRPr lang="en-US" sz="1050" dirty="0">
              <a:highlight>
                <a:srgbClr val="FFFF00"/>
              </a:highlight>
            </a:endParaRPr>
          </a:p>
        </p:txBody>
      </p:sp>
      <p:sp>
        <p:nvSpPr>
          <p:cNvPr id="27" name="Text 25"/>
          <p:cNvSpPr/>
          <p:nvPr/>
        </p:nvSpPr>
        <p:spPr>
          <a:xfrm>
            <a:off x="3925976" y="4398264"/>
            <a:ext cx="1975104" cy="1984248"/>
          </a:xfrm>
          <a:prstGeom prst="rect">
            <a:avLst/>
          </a:prstGeom>
          <a:noFill/>
          <a:ln/>
        </p:spPr>
        <p:txBody>
          <a:bodyPr wrap="square" lIns="0" tIns="0" rIns="0" bIns="0" rtlCol="0" anchor="t"/>
          <a:lstStyle/>
          <a:p>
            <a:pPr marL="0" indent="0">
              <a:spcAft>
                <a:spcPts val="700"/>
              </a:spcAft>
              <a:buNone/>
            </a:pPr>
            <a:r>
              <a:rPr sz="880" b="0" i="0">
                <a:solidFill>
                  <a:srgbClr val="2A3038"/>
                </a:solidFill>
                <a:latin typeface="Segoe UI"/>
              </a:rPr>
              <a:t>①  Embed 5 signals → 1,536-d twin
②  Track monthly snapshots → trajectory
③  Engineer 67 features
④  Detect drift — where it’s heading
⑤  Forecast + Monte Carlo simulate</a:t>
            </a:r>
            <a:endParaRPr lang="en-US" sz="1000" dirty="0"/>
          </a:p>
        </p:txBody>
      </p:sp>
      <p:sp>
        <p:nvSpPr>
          <p:cNvPr id="28" name="Text 26"/>
          <p:cNvSpPr/>
          <p:nvPr/>
        </p:nvSpPr>
        <p:spPr>
          <a:xfrm>
            <a:off x="6047384" y="5001768"/>
            <a:ext cx="365760" cy="457200"/>
          </a:xfrm>
          <a:prstGeom prst="rect">
            <a:avLst/>
          </a:prstGeom>
          <a:noFill/>
          <a:ln/>
        </p:spPr>
        <p:txBody>
          <a:bodyPr wrap="square" lIns="0" tIns="0" rIns="0" bIns="0" rtlCol="0" anchor="ctr"/>
          <a:lstStyle/>
          <a:p>
            <a:pPr marL="0" indent="0" algn="ctr">
              <a:buNone/>
            </a:pPr>
            <a:r>
              <a:rPr lang="en-US" sz="2400" b="1" dirty="0">
                <a:solidFill>
                  <a:srgbClr val="1F5E9C"/>
                </a:solidFill>
                <a:latin typeface="Segoe UI" pitchFamily="34" charset="0"/>
                <a:ea typeface="Aptos" pitchFamily="34" charset="-122"/>
                <a:cs typeface="Aptos" pitchFamily="34" charset="-120"/>
              </a:rPr>
              <a:t>&gt;</a:t>
            </a:r>
            <a:endParaRPr lang="en-US" sz="2400" dirty="0"/>
          </a:p>
        </p:txBody>
      </p:sp>
      <p:sp>
        <p:nvSpPr>
          <p:cNvPr id="29" name="Shape 27"/>
          <p:cNvSpPr/>
          <p:nvPr/>
        </p:nvSpPr>
        <p:spPr>
          <a:xfrm>
            <a:off x="6394856" y="3941064"/>
            <a:ext cx="2560320" cy="1901952"/>
          </a:xfrm>
          <a:prstGeom prst="roundRect">
            <a:avLst>
              <a:gd name="adj" fmla="val 2143"/>
            </a:avLst>
          </a:prstGeom>
          <a:solidFill>
            <a:srgbClr val="FFFFFF"/>
          </a:solidFill>
          <a:ln w="12700">
            <a:solidFill>
              <a:srgbClr val="CBD7E3"/>
            </a:solidFill>
            <a:prstDash val="solid"/>
          </a:ln>
          <a:effectLst>
            <a:outerShdw blurRad="88900" dist="25400" dir="5400000" algn="bl" rotWithShape="0">
              <a:srgbClr val="000000">
                <a:alpha val="12000"/>
              </a:srgbClr>
            </a:outerShdw>
          </a:effectLst>
        </p:spPr>
        <p:txBody>
          <a:bodyPr/>
          <a:lstStyle/>
          <a:p>
            <a:endParaRPr lang="en-US"/>
          </a:p>
        </p:txBody>
      </p:sp>
      <p:sp>
        <p:nvSpPr>
          <p:cNvPr id="30" name="Text 28"/>
          <p:cNvSpPr/>
          <p:nvPr/>
        </p:nvSpPr>
        <p:spPr>
          <a:xfrm>
            <a:off x="6577736" y="4087368"/>
            <a:ext cx="2286000" cy="256032"/>
          </a:xfrm>
          <a:prstGeom prst="rect">
            <a:avLst/>
          </a:prstGeom>
          <a:noFill/>
          <a:ln/>
        </p:spPr>
        <p:txBody>
          <a:bodyPr wrap="square" lIns="0" tIns="0" rIns="0" bIns="0" rtlCol="0" anchor="ctr"/>
          <a:lstStyle/>
          <a:p>
            <a:pPr marL="0" indent="0">
              <a:buNone/>
            </a:pPr>
            <a:r>
              <a:rPr lang="en-US" sz="1050" b="1" kern="0" spc="50" dirty="0">
                <a:solidFill>
                  <a:srgbClr val="1F5E9C"/>
                </a:solidFill>
                <a:latin typeface="Segoe UI" pitchFamily="34" charset="0"/>
                <a:ea typeface="Aptos" pitchFamily="34" charset="-122"/>
                <a:cs typeface="Aptos" pitchFamily="34" charset="-120"/>
              </a:rPr>
              <a:t>ALGORITHMS</a:t>
            </a:r>
            <a:endParaRPr lang="en-US" sz="1050" dirty="0"/>
          </a:p>
        </p:txBody>
      </p:sp>
      <p:sp>
        <p:nvSpPr>
          <p:cNvPr id="31" name="Text 29"/>
          <p:cNvSpPr/>
          <p:nvPr/>
        </p:nvSpPr>
        <p:spPr>
          <a:xfrm>
            <a:off x="6577736" y="4443984"/>
            <a:ext cx="2249424" cy="1938528"/>
          </a:xfrm>
          <a:prstGeom prst="rect">
            <a:avLst/>
          </a:prstGeom>
          <a:noFill/>
          <a:ln/>
        </p:spPr>
        <p:txBody>
          <a:bodyPr wrap="square" lIns="0" tIns="0" rIns="0" bIns="0" rtlCol="0" anchor="t"/>
          <a:lstStyle/>
          <a:p>
            <a:pPr marL="0" indent="0">
              <a:lnSpc>
                <a:spcPct val="105000"/>
              </a:lnSpc>
              <a:buNone/>
            </a:pPr>
            <a:r>
              <a:rPr lang="en-US" sz="1050" b="1" dirty="0">
                <a:solidFill>
                  <a:srgbClr val="1D2430"/>
                </a:solidFill>
                <a:latin typeface="Segoe UI" pitchFamily="34" charset="0"/>
                <a:ea typeface="Aptos" pitchFamily="34" charset="-122"/>
                <a:cs typeface="Aptos" pitchFamily="34" charset="-120"/>
              </a:rPr>
              <a:t>LightGBM two-phase </a:t>
            </a:r>
            <a:r>
              <a:rPr lang="en-US" sz="1050" dirty="0">
                <a:solidFill>
                  <a:srgbClr val="5E6A75"/>
                </a:solidFill>
                <a:latin typeface="Segoe UI" pitchFamily="34" charset="0"/>
                <a:ea typeface="Aptos" pitchFamily="34" charset="-122"/>
                <a:cs typeface="Aptos" pitchFamily="34" charset="-120"/>
              </a:rPr>
              <a:t>— Stage 1: will demand occur? + Stage 2: how much (P10–P90)</a:t>
            </a:r>
            <a:endParaRPr lang="en-US" sz="1050" dirty="0"/>
          </a:p>
          <a:p>
            <a:pPr marL="0" indent="0">
              <a:lnSpc>
                <a:spcPct val="105000"/>
              </a:lnSpc>
              <a:buNone/>
            </a:pPr>
            <a:r>
              <a:rPr lang="en-US" sz="1050" b="1" dirty="0">
                <a:solidFill>
                  <a:srgbClr val="1D2430"/>
                </a:solidFill>
                <a:latin typeface="Segoe UI" pitchFamily="34" charset="0"/>
                <a:ea typeface="Aptos" pitchFamily="34" charset="-122"/>
                <a:cs typeface="Aptos" pitchFamily="34" charset="-120"/>
              </a:rPr>
              <a:t>Cohort transfer (k-NN) </a:t>
            </a:r>
            <a:r>
              <a:rPr lang="en-US" sz="1050" dirty="0">
                <a:solidFill>
                  <a:srgbClr val="5E6A75"/>
                </a:solidFill>
                <a:latin typeface="Segoe UI" pitchFamily="34" charset="0"/>
                <a:ea typeface="Aptos" pitchFamily="34" charset="-122"/>
                <a:cs typeface="Aptos" pitchFamily="34" charset="-120"/>
              </a:rPr>
              <a:t>— cold-start via behavioral twins</a:t>
            </a:r>
            <a:endParaRPr lang="en-US" sz="1050" dirty="0"/>
          </a:p>
          <a:p>
            <a:pPr marL="0" indent="0">
              <a:lnSpc>
                <a:spcPct val="105000"/>
              </a:lnSpc>
              <a:buNone/>
            </a:pPr>
            <a:r>
              <a:rPr lang="en-US" sz="1050" b="1" dirty="0">
                <a:solidFill>
                  <a:srgbClr val="1D2430"/>
                </a:solidFill>
                <a:latin typeface="Segoe UI" pitchFamily="34" charset="0"/>
                <a:ea typeface="Aptos" pitchFamily="34" charset="-122"/>
                <a:cs typeface="Aptos" pitchFamily="34" charset="-120"/>
              </a:rPr>
              <a:t>AR(1) Monte Carlo </a:t>
            </a:r>
            <a:r>
              <a:rPr lang="en-US" sz="1050" dirty="0">
                <a:solidFill>
                  <a:srgbClr val="5E6A75"/>
                </a:solidFill>
                <a:latin typeface="Segoe UI" pitchFamily="34" charset="0"/>
                <a:ea typeface="Aptos" pitchFamily="34" charset="-122"/>
                <a:cs typeface="Aptos" pitchFamily="34" charset="-120"/>
              </a:rPr>
              <a:t>— 5,000 demand paths</a:t>
            </a:r>
            <a:endParaRPr lang="en-US" sz="1050" dirty="0"/>
          </a:p>
        </p:txBody>
      </p:sp>
      <p:sp>
        <p:nvSpPr>
          <p:cNvPr id="32" name="Text 30"/>
          <p:cNvSpPr/>
          <p:nvPr/>
        </p:nvSpPr>
        <p:spPr>
          <a:xfrm>
            <a:off x="8973464" y="5001768"/>
            <a:ext cx="365760" cy="457200"/>
          </a:xfrm>
          <a:prstGeom prst="rect">
            <a:avLst/>
          </a:prstGeom>
          <a:noFill/>
          <a:ln/>
        </p:spPr>
        <p:txBody>
          <a:bodyPr wrap="square" lIns="0" tIns="0" rIns="0" bIns="0" rtlCol="0" anchor="ctr"/>
          <a:lstStyle/>
          <a:p>
            <a:pPr marL="0" indent="0" algn="ctr">
              <a:buNone/>
            </a:pPr>
            <a:r>
              <a:rPr lang="en-US" sz="2400" b="1" dirty="0">
                <a:solidFill>
                  <a:srgbClr val="1F5E9C"/>
                </a:solidFill>
                <a:latin typeface="Segoe UI" pitchFamily="34" charset="0"/>
                <a:ea typeface="Aptos" pitchFamily="34" charset="-122"/>
                <a:cs typeface="Aptos" pitchFamily="34" charset="-120"/>
              </a:rPr>
              <a:t>&gt;</a:t>
            </a:r>
            <a:endParaRPr lang="en-US" sz="2400" dirty="0"/>
          </a:p>
        </p:txBody>
      </p:sp>
      <p:sp>
        <p:nvSpPr>
          <p:cNvPr id="33" name="Shape 31"/>
          <p:cNvSpPr/>
          <p:nvPr/>
        </p:nvSpPr>
        <p:spPr>
          <a:xfrm>
            <a:off x="9287472" y="3922776"/>
            <a:ext cx="2194560" cy="1920240"/>
          </a:xfrm>
          <a:prstGeom prst="roundRect">
            <a:avLst>
              <a:gd name="adj" fmla="val 2500"/>
            </a:avLst>
          </a:prstGeom>
          <a:solidFill>
            <a:srgbClr val="102A4C"/>
          </a:solidFill>
          <a:ln/>
          <a:effectLst>
            <a:outerShdw blurRad="88900" dist="25400" dir="5400000" algn="bl" rotWithShape="0">
              <a:srgbClr val="000000">
                <a:alpha val="12000"/>
              </a:srgbClr>
            </a:outerShdw>
          </a:effectLst>
        </p:spPr>
        <p:txBody>
          <a:bodyPr/>
          <a:lstStyle/>
          <a:p>
            <a:endParaRPr lang="en-US"/>
          </a:p>
        </p:txBody>
      </p:sp>
      <p:sp>
        <p:nvSpPr>
          <p:cNvPr id="34" name="Text 32"/>
          <p:cNvSpPr/>
          <p:nvPr/>
        </p:nvSpPr>
        <p:spPr>
          <a:xfrm>
            <a:off x="9405474" y="3968308"/>
            <a:ext cx="1828800" cy="256032"/>
          </a:xfrm>
          <a:prstGeom prst="rect">
            <a:avLst/>
          </a:prstGeom>
          <a:noFill/>
          <a:ln/>
        </p:spPr>
        <p:txBody>
          <a:bodyPr wrap="square" lIns="0" tIns="0" rIns="0" bIns="0" rtlCol="0" anchor="ctr"/>
          <a:lstStyle/>
          <a:p>
            <a:pPr marL="0" indent="0">
              <a:buNone/>
            </a:pPr>
            <a:r>
              <a:rPr lang="en-US" sz="1050" b="1" kern="0" spc="50" dirty="0">
                <a:solidFill>
                  <a:srgbClr val="9DB8D6"/>
                </a:solidFill>
                <a:latin typeface="Segoe UI" pitchFamily="34" charset="0"/>
                <a:ea typeface="Aptos" pitchFamily="34" charset="-122"/>
                <a:cs typeface="Aptos" pitchFamily="34" charset="-120"/>
              </a:rPr>
              <a:t>RESULTS</a:t>
            </a:r>
            <a:endParaRPr lang="en-US" sz="1050" dirty="0"/>
          </a:p>
        </p:txBody>
      </p:sp>
      <p:sp>
        <p:nvSpPr>
          <p:cNvPr id="35" name="Text 33"/>
          <p:cNvSpPr/>
          <p:nvPr/>
        </p:nvSpPr>
        <p:spPr>
          <a:xfrm>
            <a:off x="9354311" y="4144111"/>
            <a:ext cx="1828800" cy="533609"/>
          </a:xfrm>
          <a:prstGeom prst="rect">
            <a:avLst/>
          </a:prstGeom>
          <a:noFill/>
          <a:ln/>
        </p:spPr>
        <p:txBody>
          <a:bodyPr wrap="square" lIns="0" tIns="0" rIns="0" bIns="0" rtlCol="0" anchor="ctr"/>
          <a:lstStyle/>
          <a:p>
            <a:pPr marL="0" indent="0">
              <a:buNone/>
            </a:pPr>
            <a:r>
              <a:rPr lang="en-US" sz="4000" b="1" dirty="0">
                <a:solidFill>
                  <a:srgbClr val="5BC8C8"/>
                </a:solidFill>
                <a:latin typeface="Segoe UI" pitchFamily="34" charset="0"/>
                <a:ea typeface="Aptos" pitchFamily="34" charset="-122"/>
                <a:cs typeface="Aptos" pitchFamily="34" charset="-120"/>
              </a:rPr>
              <a:t>798</a:t>
            </a:r>
            <a:endParaRPr lang="en-US" sz="4000" dirty="0"/>
          </a:p>
        </p:txBody>
      </p:sp>
      <p:sp>
        <p:nvSpPr>
          <p:cNvPr id="36" name="Text 34"/>
          <p:cNvSpPr/>
          <p:nvPr/>
        </p:nvSpPr>
        <p:spPr>
          <a:xfrm>
            <a:off x="9424263" y="4654296"/>
            <a:ext cx="1828800" cy="237744"/>
          </a:xfrm>
          <a:prstGeom prst="rect">
            <a:avLst/>
          </a:prstGeom>
          <a:noFill/>
          <a:ln/>
        </p:spPr>
        <p:txBody>
          <a:bodyPr wrap="square" lIns="0" tIns="0" rIns="0" bIns="0" rtlCol="0" anchor="t"/>
          <a:lstStyle/>
          <a:p>
            <a:pPr marL="0" indent="0">
              <a:lnSpc>
                <a:spcPct val="105000"/>
              </a:lnSpc>
              <a:spcAft>
                <a:spcPts val="600"/>
              </a:spcAft>
              <a:buNone/>
            </a:pPr>
            <a:r>
              <a:rPr lang="en-US" sz="1000" b="1" dirty="0">
                <a:solidFill>
                  <a:srgbClr val="FFFFFF"/>
                </a:solidFill>
                <a:latin typeface="Segoe UI" pitchFamily="34" charset="0"/>
                <a:ea typeface="Aptos" pitchFamily="34" charset="-122"/>
                <a:cs typeface="Aptos" pitchFamily="34" charset="-120"/>
              </a:rPr>
              <a:t>forecast · held-out 8 wks</a:t>
            </a:r>
            <a:endParaRPr lang="en-US" sz="1000" dirty="0"/>
          </a:p>
          <a:p>
            <a:pPr marL="0" indent="0">
              <a:lnSpc>
                <a:spcPct val="105000"/>
              </a:lnSpc>
              <a:spcAft>
                <a:spcPts val="800"/>
              </a:spcAft>
              <a:buNone/>
            </a:pPr>
            <a:r>
              <a:rPr lang="en-US" sz="1000" dirty="0">
                <a:solidFill>
                  <a:srgbClr val="9DB8D6"/>
                </a:solidFill>
                <a:latin typeface="Segoe UI" pitchFamily="34" charset="0"/>
                <a:ea typeface="Aptos" pitchFamily="34" charset="-122"/>
                <a:cs typeface="Aptos" pitchFamily="34" charset="-120"/>
              </a:rPr>
              <a:t>uncertainty-aware · works with no history</a:t>
            </a:r>
            <a:endParaRPr lang="en-US" sz="1000" dirty="0"/>
          </a:p>
        </p:txBody>
      </p:sp>
      <p:sp>
        <p:nvSpPr>
          <p:cNvPr id="37" name="Shape 35"/>
          <p:cNvSpPr/>
          <p:nvPr/>
        </p:nvSpPr>
        <p:spPr>
          <a:xfrm>
            <a:off x="9339224" y="5238009"/>
            <a:ext cx="1810512" cy="420624"/>
          </a:xfrm>
          <a:prstGeom prst="roundRect">
            <a:avLst>
              <a:gd name="adj" fmla="val 13043"/>
            </a:avLst>
          </a:prstGeom>
          <a:solidFill>
            <a:srgbClr val="15355C"/>
          </a:solidFill>
          <a:ln w="12700">
            <a:solidFill>
              <a:srgbClr val="2C5687"/>
            </a:solidFill>
            <a:prstDash val="solid"/>
          </a:ln>
        </p:spPr>
        <p:txBody>
          <a:bodyPr/>
          <a:lstStyle/>
          <a:p>
            <a:endParaRPr lang="en-US"/>
          </a:p>
        </p:txBody>
      </p:sp>
      <p:sp>
        <p:nvSpPr>
          <p:cNvPr id="38" name="Text 36"/>
          <p:cNvSpPr/>
          <p:nvPr/>
        </p:nvSpPr>
        <p:spPr>
          <a:xfrm>
            <a:off x="9481507" y="5302017"/>
            <a:ext cx="1691640" cy="292608"/>
          </a:xfrm>
          <a:prstGeom prst="rect">
            <a:avLst/>
          </a:prstGeom>
          <a:noFill/>
          <a:ln/>
        </p:spPr>
        <p:txBody>
          <a:bodyPr wrap="square" lIns="0" tIns="0" rIns="0" bIns="0" rtlCol="0" anchor="ctr"/>
          <a:lstStyle/>
          <a:p>
            <a:pPr marL="0" indent="0" algn="ctr">
              <a:buNone/>
            </a:pPr>
            <a:r>
              <a:rPr sz="900" b="1" i="0">
                <a:solidFill>
                  <a:srgbClr val="50C8C8"/>
                </a:solidFill>
                <a:latin typeface="Segoe UI"/>
              </a:rPr>
              <a:t>Held-out window: actual 627, legacy 930, EDM 798 — EDM about half the error</a:t>
            </a:r>
            <a:endParaRPr lang="en-US" sz="1000" dirty="0"/>
          </a:p>
        </p:txBody>
      </p:sp>
      <p:sp>
        <p:nvSpPr>
          <p:cNvPr id="39" name="Text 37"/>
          <p:cNvSpPr/>
          <p:nvPr/>
        </p:nvSpPr>
        <p:spPr>
          <a:xfrm>
            <a:off x="457200" y="6455664"/>
            <a:ext cx="9601200" cy="274320"/>
          </a:xfrm>
          <a:prstGeom prst="rect">
            <a:avLst/>
          </a:prstGeom>
          <a:noFill/>
          <a:ln/>
        </p:spPr>
        <p:txBody>
          <a:bodyPr wrap="square" lIns="0" tIns="0" rIns="0" bIns="0" rtlCol="0" anchor="ctr"/>
          <a:lstStyle/>
          <a:p>
            <a:pPr marL="0" indent="0">
              <a:buNone/>
            </a:pPr>
            <a:r>
              <a:rPr lang="en-US" sz="900" dirty="0">
                <a:solidFill>
                  <a:srgbClr val="5E6A75"/>
                </a:solidFill>
                <a:latin typeface="Segoe UI" pitchFamily="34" charset="0"/>
                <a:ea typeface="Aptos" pitchFamily="34" charset="-122"/>
                <a:cs typeface="Aptos" pitchFamily="34" charset="-120"/>
              </a:rPr>
              <a:t>CONFIDENTIAL  |  22nd Century Technologies  |  DLA EDM Vector Intelligence</a:t>
            </a:r>
            <a:endParaRPr lang="en-US" sz="900" dirty="0"/>
          </a:p>
        </p:txBody>
      </p:sp>
      <p:sp>
        <p:nvSpPr>
          <p:cNvPr id="40" name="Text 38"/>
          <p:cNvSpPr/>
          <p:nvPr/>
        </p:nvSpPr>
        <p:spPr>
          <a:xfrm>
            <a:off x="11277295" y="6455664"/>
            <a:ext cx="457200" cy="274320"/>
          </a:xfrm>
          <a:prstGeom prst="rect">
            <a:avLst/>
          </a:prstGeom>
          <a:noFill/>
          <a:ln/>
        </p:spPr>
        <p:txBody>
          <a:bodyPr wrap="square" lIns="0" tIns="0" rIns="0" bIns="0" rtlCol="0" anchor="ctr"/>
          <a:lstStyle/>
          <a:p>
            <a:pPr marL="0" indent="0" algn="r">
              <a:buNone/>
            </a:pPr>
            <a:r>
              <a:rPr sz="850" b="0" i="0">
                <a:solidFill>
                  <a:srgbClr val="646F7C"/>
                </a:solidFill>
                <a:latin typeface="Segoe UI"/>
              </a:rPr>
              <a:t>14</a:t>
            </a:r>
            <a:endParaRPr lang="en-US" sz="1000" dirty="0"/>
          </a:p>
        </p:txBody>
      </p:sp>
      <p:sp>
        <p:nvSpPr>
          <p:cNvPr id="41" name="Rounded Rectangle 40"/>
          <p:cNvSpPr/>
          <p:nvPr/>
        </p:nvSpPr>
        <p:spPr>
          <a:xfrm>
            <a:off x="3476952" y="1637701"/>
            <a:ext cx="1078992" cy="713232"/>
          </a:xfrm>
          <a:prstGeom prst="roundRect">
            <a:avLst/>
          </a:prstGeom>
          <a:solidFill>
            <a:srgbClr val="EDF4FA"/>
          </a:solidFill>
          <a:ln w="12700">
            <a:solidFill>
              <a:srgbClr val="0068AA"/>
            </a:solidFill>
          </a:ln>
        </p:spPr>
        <p:style>
          <a:lnRef idx="1">
            <a:schemeClr val="accent1"/>
          </a:lnRef>
          <a:fillRef idx="3">
            <a:schemeClr val="accent1"/>
          </a:fillRef>
          <a:effectRef idx="2">
            <a:schemeClr val="accent1"/>
          </a:effectRef>
          <a:fontRef idx="minor">
            <a:schemeClr val="lt1"/>
          </a:fontRef>
        </p:style>
        <p:txBody>
          <a:bodyPr lIns="73152" tIns="36576" rIns="73152" bIns="36576" rtlCol="0" anchor="ctr"/>
          <a:lstStyle/>
          <a:p>
            <a:pPr algn="ctr"/>
            <a:r>
              <a:rPr sz="720" b="1" i="0">
                <a:solidFill>
                  <a:srgbClr val="07203A"/>
                </a:solidFill>
                <a:latin typeface="Segoe UI"/>
              </a:rPr>
              <a:t>DLA Data
Warehouse
curated signals + snapshots</a:t>
            </a:r>
          </a:p>
        </p:txBody>
      </p:sp>
      <p:sp>
        <p:nvSpPr>
          <p:cNvPr id="43" name="Rectangle 42">
            <a:extLst>
              <a:ext uri="{FF2B5EF4-FFF2-40B4-BE49-F238E27FC236}">
                <a16:creationId xmlns:a16="http://schemas.microsoft.com/office/drawing/2014/main" id="{D6DBD13A-89C7-6FB4-09F0-43D849021689}"/>
              </a:ext>
            </a:extLst>
          </p:cNvPr>
          <p:cNvSpPr/>
          <p:nvPr/>
        </p:nvSpPr>
        <p:spPr>
          <a:xfrm>
            <a:off x="0" y="0"/>
            <a:ext cx="12191695" cy="146304"/>
          </a:xfrm>
          <a:prstGeom prst="rect">
            <a:avLst/>
          </a:prstGeom>
          <a:solidFill>
            <a:srgbClr val="0021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a:extLst>
              <a:ext uri="{FF2B5EF4-FFF2-40B4-BE49-F238E27FC236}">
                <a16:creationId xmlns:a16="http://schemas.microsoft.com/office/drawing/2014/main" id="{C86A4A2A-815D-E589-7AE2-5F6B3C903253}"/>
              </a:ext>
            </a:extLst>
          </p:cNvPr>
          <p:cNvSpPr/>
          <p:nvPr/>
        </p:nvSpPr>
        <p:spPr>
          <a:xfrm>
            <a:off x="502920" y="1120140"/>
            <a:ext cx="1106424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extLst>
    <p:ext uri="{6950BFC3-D8DA-4A85-94F7-54DA5524770B}">
      <p188:commentRel xmlns:p188="http://schemas.microsoft.com/office/powerpoint/2018/8/main" r:id="rId3"/>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92608"/>
            <a:ext cx="10058400" cy="502920"/>
          </a:xfrm>
          <a:prstGeom prst="rect">
            <a:avLst/>
          </a:prstGeom>
          <a:noFill/>
        </p:spPr>
        <p:txBody>
          <a:bodyPr wrap="square" lIns="25400" tIns="12700" rIns="25400" bIns="12700" anchor="t">
            <a:spAutoFit/>
          </a:bodyPr>
          <a:lstStyle/>
          <a:p>
            <a:pPr algn="l">
              <a:spcAft>
                <a:spcPts val="300"/>
              </a:spcAft>
            </a:pPr>
            <a:r>
              <a:rPr sz="2100" b="1" i="0">
                <a:solidFill>
                  <a:srgbClr val="102A4C"/>
                </a:solidFill>
                <a:latin typeface="Segoe UI"/>
              </a:rPr>
              <a:t>How EDM Vector Intelligence forecasts demand — the 5-step pipeline</a:t>
            </a:r>
          </a:p>
        </p:txBody>
      </p:sp>
      <p:sp>
        <p:nvSpPr>
          <p:cNvPr id="4" name="TextBox 3"/>
          <p:cNvSpPr txBox="1"/>
          <p:nvPr/>
        </p:nvSpPr>
        <p:spPr>
          <a:xfrm>
            <a:off x="457200" y="841248"/>
            <a:ext cx="11274552" cy="365760"/>
          </a:xfrm>
          <a:prstGeom prst="rect">
            <a:avLst/>
          </a:prstGeom>
          <a:noFill/>
        </p:spPr>
        <p:txBody>
          <a:bodyPr wrap="square" lIns="25400" tIns="12700" rIns="25400" bIns="12700" anchor="t">
            <a:spAutoFit/>
          </a:bodyPr>
          <a:lstStyle/>
          <a:p>
            <a:pPr algn="l">
              <a:spcAft>
                <a:spcPts val="300"/>
              </a:spcAft>
            </a:pPr>
            <a:r>
              <a:rPr sz="1250" b="0" i="1">
                <a:solidFill>
                  <a:srgbClr val="1F5E9C"/>
                </a:solidFill>
                <a:latin typeface="Segoe UI"/>
              </a:rPr>
              <a:t>EDM answers "what has this item been doing?"   ·   Drift answers "where is it heading?"</a:t>
            </a:r>
          </a:p>
        </p:txBody>
      </p:sp>
      <p:sp>
        <p:nvSpPr>
          <p:cNvPr id="6" name="Rounded Rectangle 5"/>
          <p:cNvSpPr/>
          <p:nvPr/>
        </p:nvSpPr>
        <p:spPr>
          <a:xfrm>
            <a:off x="457200" y="1280160"/>
            <a:ext cx="11274552" cy="841248"/>
          </a:xfrm>
          <a:prstGeom prst="round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13232" y="1481328"/>
            <a:ext cx="457200" cy="457200"/>
          </a:xfrm>
          <a:prstGeom prst="ellipse">
            <a:avLst/>
          </a:prstGeom>
          <a:solidFill>
            <a:srgbClr val="F36C2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Segoe UI"/>
              </a:rPr>
              <a:t>1</a:t>
            </a:r>
          </a:p>
        </p:txBody>
      </p:sp>
      <p:sp>
        <p:nvSpPr>
          <p:cNvPr id="8" name="TextBox 7"/>
          <p:cNvSpPr txBox="1"/>
          <p:nvPr/>
        </p:nvSpPr>
        <p:spPr>
          <a:xfrm>
            <a:off x="1280160" y="1371600"/>
            <a:ext cx="914400" cy="640080"/>
          </a:xfrm>
          <a:prstGeom prst="rect">
            <a:avLst/>
          </a:prstGeom>
          <a:noFill/>
        </p:spPr>
        <p:txBody>
          <a:bodyPr wrap="square" lIns="25400" tIns="12700" rIns="25400" bIns="12700" anchor="t">
            <a:spAutoFit/>
          </a:bodyPr>
          <a:lstStyle/>
          <a:p>
            <a:pPr algn="l">
              <a:spcAft>
                <a:spcPts val="0"/>
              </a:spcAft>
            </a:pPr>
            <a:r>
              <a:rPr sz="1100" b="1" i="0">
                <a:solidFill>
                  <a:srgbClr val="FFFFFF"/>
                </a:solidFill>
                <a:latin typeface="Segoe UI"/>
              </a:rPr>
              <a:t>EDM</a:t>
            </a:r>
          </a:p>
          <a:p>
            <a:pPr algn="l">
              <a:spcAft>
                <a:spcPts val="0"/>
              </a:spcAft>
            </a:pPr>
            <a:r>
              <a:rPr sz="1100" b="1" i="0">
                <a:solidFill>
                  <a:srgbClr val="FFFFFF"/>
                </a:solidFill>
                <a:latin typeface="Segoe UI"/>
              </a:rPr>
              <a:t>Baseline</a:t>
            </a:r>
          </a:p>
        </p:txBody>
      </p:sp>
      <p:sp>
        <p:nvSpPr>
          <p:cNvPr id="9" name="TextBox 8"/>
          <p:cNvSpPr txBox="1"/>
          <p:nvPr/>
        </p:nvSpPr>
        <p:spPr>
          <a:xfrm>
            <a:off x="2286000" y="1371600"/>
            <a:ext cx="6949440" cy="731520"/>
          </a:xfrm>
          <a:prstGeom prst="rect">
            <a:avLst/>
          </a:prstGeom>
          <a:noFill/>
        </p:spPr>
        <p:txBody>
          <a:bodyPr wrap="square" lIns="25400" tIns="12700" rIns="25400" bIns="12700" anchor="t">
            <a:spAutoFit/>
          </a:bodyPr>
          <a:lstStyle/>
          <a:p>
            <a:pPr algn="l">
              <a:spcAft>
                <a:spcPts val="100"/>
              </a:spcAft>
            </a:pPr>
            <a:r>
              <a:rPr sz="1000" b="0" i="0">
                <a:solidFill>
                  <a:srgbClr val="E4ECF6"/>
                </a:solidFill>
                <a:latin typeface="Segoe UI"/>
              </a:rPr>
              <a:t>67 features = 25 base + 23 zone + 13 signal + 6 cohort</a:t>
            </a:r>
          </a:p>
          <a:p>
            <a:pPr algn="l">
              <a:spcAft>
                <a:spcPts val="100"/>
              </a:spcAft>
            </a:pPr>
            <a:r>
              <a:rPr sz="1000" b="0" i="0">
                <a:solidFill>
                  <a:srgbClr val="E4ECF6"/>
                </a:solidFill>
                <a:latin typeface="Segoe UI"/>
              </a:rPr>
              <a:t>2 stages: will demand occur? × how much (P10–P90 = low-to-high)</a:t>
            </a:r>
          </a:p>
          <a:p>
            <a:pPr algn="l">
              <a:spcAft>
                <a:spcPts val="100"/>
              </a:spcAft>
            </a:pPr>
            <a:r>
              <a:rPr sz="1000" b="0" i="0">
                <a:solidFill>
                  <a:srgbClr val="E4ECF6"/>
                </a:solidFill>
                <a:latin typeface="Segoe UI"/>
              </a:rPr>
              <a:t>cold-start items borrow a profile from behavioral twins</a:t>
            </a:r>
          </a:p>
        </p:txBody>
      </p:sp>
      <p:sp>
        <p:nvSpPr>
          <p:cNvPr id="10" name="TextBox 9"/>
          <p:cNvSpPr txBox="1"/>
          <p:nvPr/>
        </p:nvSpPr>
        <p:spPr>
          <a:xfrm>
            <a:off x="9418320" y="1371600"/>
            <a:ext cx="2103120" cy="731520"/>
          </a:xfrm>
          <a:prstGeom prst="rect">
            <a:avLst/>
          </a:prstGeom>
          <a:noFill/>
        </p:spPr>
        <p:txBody>
          <a:bodyPr wrap="square" lIns="25400" tIns="12700" rIns="25400" bIns="12700" anchor="ctr">
            <a:spAutoFit/>
          </a:bodyPr>
          <a:lstStyle/>
          <a:p>
            <a:pPr algn="r">
              <a:spcAft>
                <a:spcPts val="0"/>
              </a:spcAft>
            </a:pPr>
            <a:r>
              <a:rPr sz="1050" b="1" i="0">
                <a:solidFill>
                  <a:srgbClr val="F36C21"/>
                </a:solidFill>
                <a:latin typeface="Segoe UI"/>
              </a:rPr>
              <a:t>→ baseline</a:t>
            </a:r>
          </a:p>
          <a:p>
            <a:pPr algn="r">
              <a:spcAft>
                <a:spcPts val="0"/>
              </a:spcAft>
            </a:pPr>
            <a:r>
              <a:rPr sz="1050" b="1" i="0">
                <a:solidFill>
                  <a:srgbClr val="F36C21"/>
                </a:solidFill>
                <a:latin typeface="Segoe UI"/>
              </a:rPr>
              <a:t>weekly forecast</a:t>
            </a:r>
          </a:p>
        </p:txBody>
      </p:sp>
      <p:sp>
        <p:nvSpPr>
          <p:cNvPr id="11" name="TextBox 10"/>
          <p:cNvSpPr txBox="1"/>
          <p:nvPr/>
        </p:nvSpPr>
        <p:spPr>
          <a:xfrm>
            <a:off x="457200" y="2157984"/>
            <a:ext cx="11274552" cy="237744"/>
          </a:xfrm>
          <a:prstGeom prst="rect">
            <a:avLst/>
          </a:prstGeom>
          <a:noFill/>
        </p:spPr>
        <p:txBody>
          <a:bodyPr wrap="square" lIns="25400" tIns="12700" rIns="25400" bIns="12700" anchor="t">
            <a:spAutoFit/>
          </a:bodyPr>
          <a:lstStyle/>
          <a:p>
            <a:pPr algn="ctr">
              <a:spcAft>
                <a:spcPts val="300"/>
              </a:spcAft>
            </a:pPr>
            <a:r>
              <a:rPr sz="1000" b="1" i="0">
                <a:solidFill>
                  <a:srgbClr val="118484"/>
                </a:solidFill>
                <a:latin typeface="Segoe UI"/>
              </a:rPr>
              <a:t>DRIFT AUGMENTATION — forward-looking (the only time-series part)</a:t>
            </a:r>
          </a:p>
        </p:txBody>
      </p:sp>
      <p:sp>
        <p:nvSpPr>
          <p:cNvPr id="12" name="Rounded Rectangle 11"/>
          <p:cNvSpPr/>
          <p:nvPr/>
        </p:nvSpPr>
        <p:spPr>
          <a:xfrm>
            <a:off x="457200" y="2487168"/>
            <a:ext cx="2688336" cy="2395728"/>
          </a:xfrm>
          <a:prstGeom prst="roundRect">
            <a:avLst/>
          </a:prstGeom>
          <a:solidFill>
            <a:srgbClr val="ECF6F1"/>
          </a:solidFill>
          <a:ln w="19050">
            <a:solidFill>
              <a:srgbClr val="1184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603504" y="2615184"/>
            <a:ext cx="384048" cy="384048"/>
          </a:xfrm>
          <a:prstGeom prst="ellipse">
            <a:avLst/>
          </a:prstGeom>
          <a:solidFill>
            <a:srgbClr val="11848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Segoe UI"/>
              </a:rPr>
              <a:t>2</a:t>
            </a:r>
          </a:p>
        </p:txBody>
      </p:sp>
      <p:sp>
        <p:nvSpPr>
          <p:cNvPr id="14" name="TextBox 13"/>
          <p:cNvSpPr txBox="1"/>
          <p:nvPr/>
        </p:nvSpPr>
        <p:spPr>
          <a:xfrm>
            <a:off x="1060704" y="2615184"/>
            <a:ext cx="1975104" cy="384048"/>
          </a:xfrm>
          <a:prstGeom prst="rect">
            <a:avLst/>
          </a:prstGeom>
          <a:noFill/>
        </p:spPr>
        <p:txBody>
          <a:bodyPr wrap="square" lIns="25400" tIns="12700" rIns="25400" bIns="12700" anchor="ctr">
            <a:spAutoFit/>
          </a:bodyPr>
          <a:lstStyle/>
          <a:p>
            <a:pPr algn="l">
              <a:spcAft>
                <a:spcPts val="300"/>
              </a:spcAft>
            </a:pPr>
            <a:r>
              <a:rPr sz="1050" b="1" i="0">
                <a:solidFill>
                  <a:srgbClr val="118484"/>
                </a:solidFill>
                <a:latin typeface="Segoe UI"/>
              </a:rPr>
              <a:t>Load Snapshots</a:t>
            </a:r>
          </a:p>
        </p:txBody>
      </p:sp>
      <p:sp>
        <p:nvSpPr>
          <p:cNvPr id="15" name="TextBox 14"/>
          <p:cNvSpPr txBox="1"/>
          <p:nvPr/>
        </p:nvSpPr>
        <p:spPr>
          <a:xfrm>
            <a:off x="640080" y="3108960"/>
            <a:ext cx="2368296" cy="1554480"/>
          </a:xfrm>
          <a:prstGeom prst="rect">
            <a:avLst/>
          </a:prstGeom>
          <a:noFill/>
        </p:spPr>
        <p:txBody>
          <a:bodyPr wrap="square" lIns="25400" tIns="12700" rIns="25400" bIns="12700" anchor="t">
            <a:spAutoFit/>
          </a:bodyPr>
          <a:lstStyle/>
          <a:p>
            <a:pPr algn="l">
              <a:spcAft>
                <a:spcPts val="300"/>
              </a:spcAft>
            </a:pPr>
            <a:r>
              <a:rPr sz="869" b="0" i="0">
                <a:solidFill>
                  <a:srgbClr val="1D2430"/>
                </a:solidFill>
                <a:latin typeface="Segoe UI"/>
              </a:rPr>
              <a:t>16–23 monthly snapshots</a:t>
            </a:r>
          </a:p>
          <a:p>
            <a:pPr algn="l">
              <a:spcAft>
                <a:spcPts val="300"/>
              </a:spcAft>
            </a:pPr>
            <a:r>
              <a:rPr sz="869" b="0" i="0">
                <a:solidFill>
                  <a:srgbClr val="1D2430"/>
                </a:solidFill>
                <a:latin typeface="Segoe UI"/>
              </a:rPr>
              <a:t>5 behavioral embeds →</a:t>
            </a:r>
          </a:p>
          <a:p>
            <a:pPr algn="l">
              <a:spcAft>
                <a:spcPts val="300"/>
              </a:spcAft>
            </a:pPr>
            <a:r>
              <a:rPr sz="869" b="0" i="0">
                <a:solidFill>
                  <a:srgbClr val="1D2430"/>
                </a:solidFill>
                <a:latin typeface="Segoe UI"/>
              </a:rPr>
              <a:t>1 composite / month</a:t>
            </a:r>
          </a:p>
          <a:p>
            <a:pPr algn="l">
              <a:spcAft>
                <a:spcPts val="300"/>
              </a:spcAft>
            </a:pPr>
            <a:r>
              <a:rPr sz="869" b="0" i="0">
                <a:solidFill>
                  <a:srgbClr val="1D2430"/>
                </a:solidFill>
                <a:latin typeface="Segoe UI"/>
              </a:rPr>
              <a:t>&lt;2 snaps → unchanged</a:t>
            </a:r>
          </a:p>
        </p:txBody>
      </p:sp>
      <p:sp>
        <p:nvSpPr>
          <p:cNvPr id="16" name="TextBox 15"/>
          <p:cNvSpPr txBox="1"/>
          <p:nvPr/>
        </p:nvSpPr>
        <p:spPr>
          <a:xfrm>
            <a:off x="3127248" y="2487168"/>
            <a:ext cx="210312" cy="2395728"/>
          </a:xfrm>
          <a:prstGeom prst="rect">
            <a:avLst/>
          </a:prstGeom>
          <a:noFill/>
        </p:spPr>
        <p:txBody>
          <a:bodyPr wrap="square" lIns="25400" tIns="12700" rIns="25400" bIns="12700" anchor="ctr">
            <a:spAutoFit/>
          </a:bodyPr>
          <a:lstStyle/>
          <a:p>
            <a:pPr algn="ctr">
              <a:spcAft>
                <a:spcPts val="300"/>
              </a:spcAft>
            </a:pPr>
            <a:r>
              <a:rPr sz="1800" b="1" i="0">
                <a:solidFill>
                  <a:srgbClr val="5E6A75"/>
                </a:solidFill>
                <a:latin typeface="Segoe UI"/>
              </a:rPr>
              <a:t>&gt;</a:t>
            </a:r>
          </a:p>
        </p:txBody>
      </p:sp>
      <p:sp>
        <p:nvSpPr>
          <p:cNvPr id="17" name="Rounded Rectangle 16"/>
          <p:cNvSpPr/>
          <p:nvPr/>
        </p:nvSpPr>
        <p:spPr>
          <a:xfrm>
            <a:off x="3264408" y="2487168"/>
            <a:ext cx="2688336" cy="2395728"/>
          </a:xfrm>
          <a:prstGeom prst="roundRect">
            <a:avLst/>
          </a:prstGeom>
          <a:solidFill>
            <a:srgbClr val="ECF6F1"/>
          </a:solidFill>
          <a:ln w="19050">
            <a:solidFill>
              <a:srgbClr val="1184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3410712" y="2615184"/>
            <a:ext cx="384048" cy="384048"/>
          </a:xfrm>
          <a:prstGeom prst="ellipse">
            <a:avLst/>
          </a:prstGeom>
          <a:solidFill>
            <a:srgbClr val="11848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Segoe UI"/>
              </a:rPr>
              <a:t>3</a:t>
            </a:r>
          </a:p>
        </p:txBody>
      </p:sp>
      <p:sp>
        <p:nvSpPr>
          <p:cNvPr id="19" name="TextBox 18"/>
          <p:cNvSpPr txBox="1"/>
          <p:nvPr/>
        </p:nvSpPr>
        <p:spPr>
          <a:xfrm>
            <a:off x="3867911" y="2615184"/>
            <a:ext cx="1975104" cy="384048"/>
          </a:xfrm>
          <a:prstGeom prst="rect">
            <a:avLst/>
          </a:prstGeom>
          <a:noFill/>
        </p:spPr>
        <p:txBody>
          <a:bodyPr wrap="square" lIns="25400" tIns="12700" rIns="25400" bIns="12700" anchor="ctr">
            <a:spAutoFit/>
          </a:bodyPr>
          <a:lstStyle/>
          <a:p>
            <a:pPr algn="l">
              <a:spcAft>
                <a:spcPts val="300"/>
              </a:spcAft>
            </a:pPr>
            <a:r>
              <a:rPr sz="1050" b="1" i="0">
                <a:solidFill>
                  <a:srgbClr val="118484"/>
                </a:solidFill>
                <a:latin typeface="Segoe UI"/>
              </a:rPr>
              <a:t>Drift Trajectory</a:t>
            </a:r>
          </a:p>
        </p:txBody>
      </p:sp>
      <p:sp>
        <p:nvSpPr>
          <p:cNvPr id="20" name="TextBox 19"/>
          <p:cNvSpPr txBox="1"/>
          <p:nvPr/>
        </p:nvSpPr>
        <p:spPr>
          <a:xfrm>
            <a:off x="3447288" y="3108960"/>
            <a:ext cx="2368296" cy="1554480"/>
          </a:xfrm>
          <a:prstGeom prst="rect">
            <a:avLst/>
          </a:prstGeom>
          <a:noFill/>
        </p:spPr>
        <p:txBody>
          <a:bodyPr wrap="square" lIns="25400" tIns="12700" rIns="25400" bIns="12700" anchor="t">
            <a:spAutoFit/>
          </a:bodyPr>
          <a:lstStyle/>
          <a:p>
            <a:pPr algn="l">
              <a:spcAft>
                <a:spcPts val="300"/>
              </a:spcAft>
            </a:pPr>
            <a:r>
              <a:rPr sz="869" b="0" i="0">
                <a:solidFill>
                  <a:srgbClr val="1D2430"/>
                </a:solidFill>
                <a:latin typeface="Segoe UI"/>
              </a:rPr>
              <a:t>Euclidean distance between consecutive</a:t>
            </a:r>
          </a:p>
          <a:p>
            <a:pPr algn="l">
              <a:spcAft>
                <a:spcPts val="300"/>
              </a:spcAft>
            </a:pPr>
            <a:r>
              <a:rPr sz="869" b="0" i="0">
                <a:solidFill>
                  <a:srgbClr val="1D2430"/>
                </a:solidFill>
                <a:latin typeface="Segoe UI"/>
              </a:rPr>
              <a:t>composites (own past)</a:t>
            </a:r>
          </a:p>
          <a:p>
            <a:pPr algn="l">
              <a:spcAft>
                <a:spcPts val="300"/>
              </a:spcAft>
            </a:pPr>
            <a:r>
              <a:rPr sz="869" b="0" i="0">
                <a:solidFill>
                  <a:srgbClr val="1D2430"/>
                </a:solidFill>
                <a:latin typeface="Segoe UI"/>
              </a:rPr>
              <a:t>velocity · typical step</a:t>
            </a:r>
          </a:p>
          <a:p>
            <a:pPr algn="l">
              <a:spcAft>
                <a:spcPts val="300"/>
              </a:spcAft>
            </a:pPr>
            <a:r>
              <a:rPr sz="869" b="0" i="0">
                <a:solidFill>
                  <a:srgbClr val="1D2430"/>
                </a:solidFill>
                <a:latin typeface="Segoe UI"/>
              </a:rPr>
              <a:t>drift strength (0–1) · consistency</a:t>
            </a:r>
          </a:p>
        </p:txBody>
      </p:sp>
      <p:sp>
        <p:nvSpPr>
          <p:cNvPr id="21" name="TextBox 20"/>
          <p:cNvSpPr txBox="1"/>
          <p:nvPr/>
        </p:nvSpPr>
        <p:spPr>
          <a:xfrm>
            <a:off x="5934456" y="2487168"/>
            <a:ext cx="210312" cy="2395728"/>
          </a:xfrm>
          <a:prstGeom prst="rect">
            <a:avLst/>
          </a:prstGeom>
          <a:noFill/>
        </p:spPr>
        <p:txBody>
          <a:bodyPr wrap="square" lIns="25400" tIns="12700" rIns="25400" bIns="12700" anchor="ctr">
            <a:spAutoFit/>
          </a:bodyPr>
          <a:lstStyle/>
          <a:p>
            <a:pPr algn="ctr">
              <a:spcAft>
                <a:spcPts val="300"/>
              </a:spcAft>
            </a:pPr>
            <a:r>
              <a:rPr sz="1800" b="1" i="0">
                <a:solidFill>
                  <a:srgbClr val="5E6A75"/>
                </a:solidFill>
                <a:latin typeface="Segoe UI"/>
              </a:rPr>
              <a:t>&gt;</a:t>
            </a:r>
          </a:p>
        </p:txBody>
      </p:sp>
      <p:sp>
        <p:nvSpPr>
          <p:cNvPr id="22" name="Rounded Rectangle 21"/>
          <p:cNvSpPr/>
          <p:nvPr/>
        </p:nvSpPr>
        <p:spPr>
          <a:xfrm>
            <a:off x="6071616" y="2487168"/>
            <a:ext cx="2688336" cy="2395728"/>
          </a:xfrm>
          <a:prstGeom prst="roundRect">
            <a:avLst/>
          </a:prstGeom>
          <a:solidFill>
            <a:srgbClr val="ECF6F1"/>
          </a:solidFill>
          <a:ln w="19050">
            <a:solidFill>
              <a:srgbClr val="1184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6217920" y="2615184"/>
            <a:ext cx="384048" cy="384048"/>
          </a:xfrm>
          <a:prstGeom prst="ellipse">
            <a:avLst/>
          </a:prstGeom>
          <a:solidFill>
            <a:srgbClr val="11848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Segoe UI"/>
              </a:rPr>
              <a:t>4</a:t>
            </a:r>
          </a:p>
        </p:txBody>
      </p:sp>
      <p:sp>
        <p:nvSpPr>
          <p:cNvPr id="24" name="TextBox 23"/>
          <p:cNvSpPr txBox="1"/>
          <p:nvPr/>
        </p:nvSpPr>
        <p:spPr>
          <a:xfrm>
            <a:off x="6675120" y="2615184"/>
            <a:ext cx="1975104" cy="384048"/>
          </a:xfrm>
          <a:prstGeom prst="rect">
            <a:avLst/>
          </a:prstGeom>
          <a:noFill/>
        </p:spPr>
        <p:txBody>
          <a:bodyPr wrap="square" lIns="25400" tIns="12700" rIns="25400" bIns="12700" anchor="ctr">
            <a:spAutoFit/>
          </a:bodyPr>
          <a:lstStyle/>
          <a:p>
            <a:pPr algn="l">
              <a:spcAft>
                <a:spcPts val="300"/>
              </a:spcAft>
            </a:pPr>
            <a:r>
              <a:rPr sz="1050" b="1" i="0">
                <a:solidFill>
                  <a:srgbClr val="118484"/>
                </a:solidFill>
                <a:latin typeface="Segoe UI"/>
              </a:rPr>
              <a:t>Concept Alignment</a:t>
            </a:r>
          </a:p>
        </p:txBody>
      </p:sp>
      <p:sp>
        <p:nvSpPr>
          <p:cNvPr id="25" name="TextBox 24"/>
          <p:cNvSpPr txBox="1"/>
          <p:nvPr/>
        </p:nvSpPr>
        <p:spPr>
          <a:xfrm>
            <a:off x="6254496" y="3108960"/>
            <a:ext cx="2368296" cy="1554480"/>
          </a:xfrm>
          <a:prstGeom prst="rect">
            <a:avLst/>
          </a:prstGeom>
          <a:noFill/>
        </p:spPr>
        <p:txBody>
          <a:bodyPr wrap="square" lIns="25400" tIns="12700" rIns="25400" bIns="12700" anchor="t">
            <a:spAutoFit/>
          </a:bodyPr>
          <a:lstStyle/>
          <a:p>
            <a:pPr algn="l">
              <a:spcAft>
                <a:spcPts val="300"/>
              </a:spcAft>
            </a:pPr>
            <a:r>
              <a:rPr sz="869" b="0" i="0">
                <a:solidFill>
                  <a:srgbClr val="1D2430"/>
                </a:solidFill>
                <a:latin typeface="Segoe UI"/>
              </a:rPr>
              <a:t>similarity vs 8 SCM concepts</a:t>
            </a:r>
          </a:p>
          <a:p>
            <a:pPr algn="l">
              <a:spcAft>
                <a:spcPts val="300"/>
              </a:spcAft>
            </a:pPr>
            <a:r>
              <a:rPr sz="869" b="0" i="0">
                <a:solidFill>
                  <a:srgbClr val="1D2430"/>
                </a:solidFill>
                <a:latin typeface="Segoe UI"/>
              </a:rPr>
              <a:t>→ top concept · alignment</a:t>
            </a:r>
          </a:p>
          <a:p>
            <a:pPr algn="l">
              <a:spcAft>
                <a:spcPts val="300"/>
              </a:spcAft>
            </a:pPr>
            <a:r>
              <a:rPr sz="869" b="0" i="0">
                <a:solidFill>
                  <a:srgbClr val="1D2430"/>
                </a:solidFill>
                <a:latin typeface="Segoe UI"/>
              </a:rPr>
              <a:t>→ direction (+ / − / 0)</a:t>
            </a:r>
          </a:p>
          <a:p>
            <a:pPr algn="l">
              <a:spcAft>
                <a:spcPts val="300"/>
              </a:spcAft>
            </a:pPr>
            <a:r>
              <a:rPr sz="869" b="0" i="0">
                <a:solidFill>
                  <a:srgbClr val="1D2430"/>
                </a:solidFill>
                <a:latin typeface="Segoe UI"/>
              </a:rPr>
              <a:t>→ band width (uncertainty)</a:t>
            </a:r>
          </a:p>
        </p:txBody>
      </p:sp>
      <p:sp>
        <p:nvSpPr>
          <p:cNvPr id="26" name="TextBox 25"/>
          <p:cNvSpPr txBox="1"/>
          <p:nvPr/>
        </p:nvSpPr>
        <p:spPr>
          <a:xfrm>
            <a:off x="8741664" y="2487168"/>
            <a:ext cx="210312" cy="2395728"/>
          </a:xfrm>
          <a:prstGeom prst="rect">
            <a:avLst/>
          </a:prstGeom>
          <a:noFill/>
        </p:spPr>
        <p:txBody>
          <a:bodyPr wrap="square" lIns="25400" tIns="12700" rIns="25400" bIns="12700" anchor="ctr">
            <a:spAutoFit/>
          </a:bodyPr>
          <a:lstStyle/>
          <a:p>
            <a:pPr algn="ctr">
              <a:spcAft>
                <a:spcPts val="300"/>
              </a:spcAft>
            </a:pPr>
            <a:r>
              <a:rPr sz="1800" b="1" i="0">
                <a:solidFill>
                  <a:srgbClr val="5E6A75"/>
                </a:solidFill>
                <a:latin typeface="Segoe UI"/>
              </a:rPr>
              <a:t>&gt;</a:t>
            </a:r>
          </a:p>
        </p:txBody>
      </p:sp>
      <p:sp>
        <p:nvSpPr>
          <p:cNvPr id="27" name="Rounded Rectangle 26"/>
          <p:cNvSpPr/>
          <p:nvPr/>
        </p:nvSpPr>
        <p:spPr>
          <a:xfrm>
            <a:off x="8878824" y="2487168"/>
            <a:ext cx="2688336" cy="2395728"/>
          </a:xfrm>
          <a:prstGeom prst="roundRect">
            <a:avLst/>
          </a:prstGeom>
          <a:solidFill>
            <a:srgbClr val="FBF1E3"/>
          </a:solidFill>
          <a:ln w="19050">
            <a:solidFill>
              <a:srgbClr val="F36C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9025128" y="2615184"/>
            <a:ext cx="384048" cy="384048"/>
          </a:xfrm>
          <a:prstGeom prst="ellipse">
            <a:avLst/>
          </a:prstGeom>
          <a:solidFill>
            <a:srgbClr val="F36C2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Segoe UI"/>
              </a:rPr>
              <a:t>5</a:t>
            </a:r>
          </a:p>
        </p:txBody>
      </p:sp>
      <p:sp>
        <p:nvSpPr>
          <p:cNvPr id="29" name="TextBox 28"/>
          <p:cNvSpPr txBox="1"/>
          <p:nvPr/>
        </p:nvSpPr>
        <p:spPr>
          <a:xfrm>
            <a:off x="9482328" y="2615184"/>
            <a:ext cx="1975104" cy="384048"/>
          </a:xfrm>
          <a:prstGeom prst="rect">
            <a:avLst/>
          </a:prstGeom>
          <a:noFill/>
        </p:spPr>
        <p:txBody>
          <a:bodyPr wrap="square" lIns="25400" tIns="12700" rIns="25400" bIns="12700" anchor="ctr">
            <a:spAutoFit/>
          </a:bodyPr>
          <a:lstStyle/>
          <a:p>
            <a:pPr algn="l">
              <a:spcAft>
                <a:spcPts val="300"/>
              </a:spcAft>
            </a:pPr>
            <a:r>
              <a:rPr sz="1050" b="1" i="0">
                <a:solidFill>
                  <a:srgbClr val="F36C21"/>
                </a:solidFill>
                <a:latin typeface="Segoe UI"/>
              </a:rPr>
              <a:t>Alpha + MC</a:t>
            </a:r>
          </a:p>
        </p:txBody>
      </p:sp>
      <p:sp>
        <p:nvSpPr>
          <p:cNvPr id="30" name="TextBox 29"/>
          <p:cNvSpPr txBox="1"/>
          <p:nvPr/>
        </p:nvSpPr>
        <p:spPr>
          <a:xfrm>
            <a:off x="9061703" y="3108960"/>
            <a:ext cx="2368296" cy="1554480"/>
          </a:xfrm>
          <a:prstGeom prst="rect">
            <a:avLst/>
          </a:prstGeom>
          <a:noFill/>
        </p:spPr>
        <p:txBody>
          <a:bodyPr wrap="square" lIns="25400" tIns="12700" rIns="25400" bIns="12700" anchor="t">
            <a:spAutoFit/>
          </a:bodyPr>
          <a:lstStyle/>
          <a:p>
            <a:pPr algn="l">
              <a:spcAft>
                <a:spcPts val="300"/>
              </a:spcAft>
            </a:pPr>
            <a:r>
              <a:rPr sz="869" b="0" i="0">
                <a:solidFill>
                  <a:srgbClr val="1D2430"/>
                </a:solidFill>
                <a:latin typeface="Segoe UI"/>
              </a:rPr>
              <a:t>α = dir×align×drift strength</a:t>
            </a:r>
          </a:p>
          <a:p>
            <a:pPr algn="l">
              <a:spcAft>
                <a:spcPts val="300"/>
              </a:spcAft>
            </a:pPr>
            <a:r>
              <a:rPr sz="869" b="0" i="0">
                <a:solidFill>
                  <a:srgbClr val="1D2430"/>
                </a:solidFill>
                <a:latin typeface="Segoe UI"/>
              </a:rPr>
              <a:t>capped ±30%</a:t>
            </a:r>
          </a:p>
          <a:p>
            <a:pPr algn="l">
              <a:spcAft>
                <a:spcPts val="300"/>
              </a:spcAft>
            </a:pPr>
            <a:r>
              <a:rPr sz="869" b="0" i="0">
                <a:solidFill>
                  <a:srgbClr val="1D2430"/>
                </a:solidFill>
                <a:latin typeface="Segoe UI"/>
              </a:rPr>
              <a:t>adj P50 = base×(1+α)</a:t>
            </a:r>
          </a:p>
          <a:p>
            <a:pPr algn="l">
              <a:spcAft>
                <a:spcPts val="300"/>
              </a:spcAft>
            </a:pPr>
            <a:r>
              <a:rPr sz="869" b="0" i="0">
                <a:solidFill>
                  <a:srgbClr val="1D2430"/>
                </a:solidFill>
                <a:latin typeface="Segoe UI"/>
              </a:rPr>
              <a:t>5,000 simulated runs → high-end plan (P90)</a:t>
            </a:r>
          </a:p>
        </p:txBody>
      </p:sp>
      <p:sp>
        <p:nvSpPr>
          <p:cNvPr id="31" name="TextBox 30"/>
          <p:cNvSpPr txBox="1"/>
          <p:nvPr/>
        </p:nvSpPr>
        <p:spPr>
          <a:xfrm>
            <a:off x="457200" y="5029200"/>
            <a:ext cx="11274552" cy="274320"/>
          </a:xfrm>
          <a:prstGeom prst="rect">
            <a:avLst/>
          </a:prstGeom>
          <a:noFill/>
        </p:spPr>
        <p:txBody>
          <a:bodyPr wrap="square" lIns="25400" tIns="12700" rIns="25400" bIns="12700" anchor="t">
            <a:spAutoFit/>
          </a:bodyPr>
          <a:lstStyle/>
          <a:p>
            <a:pPr algn="ctr">
              <a:spcAft>
                <a:spcPts val="300"/>
              </a:spcAft>
            </a:pPr>
            <a:r>
              <a:rPr sz="900" b="1" i="0">
                <a:solidFill>
                  <a:srgbClr val="102A4C"/>
                </a:solidFill>
                <a:latin typeface="Segoe UI"/>
              </a:rPr>
              <a:t>8 concepts:  </a:t>
            </a:r>
            <a:r>
              <a:rPr sz="900" b="0" i="0">
                <a:solidFill>
                  <a:srgbClr val="B4262C"/>
                </a:solidFill>
                <a:latin typeface="Segoe UI"/>
              </a:rPr>
              <a:t>surge 1.2× · disruption 1.4× · shortage 1.5× (UP)</a:t>
            </a:r>
            <a:r>
              <a:rPr sz="900" b="0" i="0">
                <a:solidFill>
                  <a:srgbClr val="5E6A75"/>
                </a:solidFill>
                <a:latin typeface="Segoe UI"/>
              </a:rPr>
              <a:t>   |   </a:t>
            </a:r>
            <a:r>
              <a:rPr sz="900" b="0" i="0">
                <a:solidFill>
                  <a:srgbClr val="1A7A4A"/>
                </a:solidFill>
                <a:latin typeface="Segoe UI"/>
              </a:rPr>
              <a:t>decline 0.9× · excess 0.85× (DOWN)</a:t>
            </a:r>
            <a:r>
              <a:rPr sz="900" b="0" i="0">
                <a:solidFill>
                  <a:srgbClr val="5E6A75"/>
                </a:solidFill>
                <a:latin typeface="Segoe UI"/>
              </a:rPr>
              <a:t>   |   stable · intermittent · volatility (FLAT)</a:t>
            </a:r>
          </a:p>
        </p:txBody>
      </p:sp>
      <p:sp>
        <p:nvSpPr>
          <p:cNvPr id="32" name="Rounded Rectangle 31"/>
          <p:cNvSpPr/>
          <p:nvPr/>
        </p:nvSpPr>
        <p:spPr>
          <a:xfrm>
            <a:off x="457200" y="5394960"/>
            <a:ext cx="11274552" cy="548640"/>
          </a:xfrm>
          <a:prstGeom prst="round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57200" y="5394960"/>
            <a:ext cx="11274552" cy="548640"/>
          </a:xfrm>
          <a:prstGeom prst="rect">
            <a:avLst/>
          </a:prstGeom>
          <a:noFill/>
        </p:spPr>
        <p:txBody>
          <a:bodyPr wrap="square" lIns="25400" tIns="12700" rIns="25400" bIns="12700" anchor="ctr">
            <a:spAutoFit/>
          </a:bodyPr>
          <a:lstStyle/>
          <a:p>
            <a:pPr algn="ctr">
              <a:spcAft>
                <a:spcPts val="300"/>
              </a:spcAft>
            </a:pPr>
            <a:r>
              <a:rPr sz="1050" b="1" i="0">
                <a:solidFill>
                  <a:srgbClr val="FFFFFF"/>
                </a:solidFill>
                <a:latin typeface="Segoe UI"/>
              </a:rPr>
              <a:t>alpha = direction × alignment × drift strength,  capped ±0.30      ·      |alignment| &lt; 0.03 → α=0      ·      consistency &lt; 0.2 → α ×0.7</a:t>
            </a:r>
          </a:p>
        </p:txBody>
      </p:sp>
      <p:sp>
        <p:nvSpPr>
          <p:cNvPr id="34" name="TextBox 33"/>
          <p:cNvSpPr txBox="1"/>
          <p:nvPr/>
        </p:nvSpPr>
        <p:spPr>
          <a:xfrm>
            <a:off x="11274552" y="6455664"/>
            <a:ext cx="457200" cy="274320"/>
          </a:xfrm>
          <a:prstGeom prst="rect">
            <a:avLst/>
          </a:prstGeom>
          <a:noFill/>
        </p:spPr>
        <p:txBody>
          <a:bodyPr wrap="square" lIns="25400" tIns="12700" rIns="25400" bIns="12700" anchor="t">
            <a:spAutoFit/>
          </a:bodyPr>
          <a:lstStyle/>
          <a:p>
            <a:pPr algn="r">
              <a:spcAft>
                <a:spcPts val="300"/>
              </a:spcAft>
            </a:pPr>
            <a:r>
              <a:rPr sz="850" b="0" i="0">
                <a:solidFill>
                  <a:srgbClr val="646F7C"/>
                </a:solidFill>
                <a:latin typeface="Segoe UI"/>
              </a:rPr>
              <a:t>16</a:t>
            </a:r>
          </a:p>
        </p:txBody>
      </p:sp>
      <p:sp>
        <p:nvSpPr>
          <p:cNvPr id="35" name="TextBox 34">
            <a:extLst>
              <a:ext uri="{FF2B5EF4-FFF2-40B4-BE49-F238E27FC236}">
                <a16:creationId xmlns:a16="http://schemas.microsoft.com/office/drawing/2014/main" id="{55A58BF3-27AD-21CE-3042-C2C694B55DEE}"/>
              </a:ext>
            </a:extLst>
          </p:cNvPr>
          <p:cNvSpPr txBox="1"/>
          <p:nvPr/>
        </p:nvSpPr>
        <p:spPr>
          <a:xfrm>
            <a:off x="7231380" y="659368"/>
            <a:ext cx="4518660" cy="369332"/>
          </a:xfrm>
          <a:prstGeom prst="rect">
            <a:avLst/>
          </a:prstGeom>
          <a:noFill/>
        </p:spPr>
        <p:txBody>
          <a:bodyPr wrap="square" rtlCol="0">
            <a:spAutoFit/>
          </a:bodyPr>
          <a:lstStyle/>
          <a:p>
            <a:r>
              <a:rPr lang="en-US" b="1" dirty="0">
                <a:solidFill>
                  <a:srgbClr val="FF0000"/>
                </a:solidFill>
                <a:latin typeface="Segoe UI"/>
              </a:rPr>
              <a:t>67 features from EDM</a:t>
            </a:r>
          </a:p>
        </p:txBody>
      </p:sp>
      <p:sp>
        <p:nvSpPr>
          <p:cNvPr id="37" name="Rectangle 36">
            <a:extLst>
              <a:ext uri="{FF2B5EF4-FFF2-40B4-BE49-F238E27FC236}">
                <a16:creationId xmlns:a16="http://schemas.microsoft.com/office/drawing/2014/main" id="{AD6D9733-846F-8FBE-3771-39231C608E98}"/>
              </a:ext>
            </a:extLst>
          </p:cNvPr>
          <p:cNvSpPr/>
          <p:nvPr/>
        </p:nvSpPr>
        <p:spPr>
          <a:xfrm>
            <a:off x="0" y="0"/>
            <a:ext cx="12191695" cy="146304"/>
          </a:xfrm>
          <a:prstGeom prst="rect">
            <a:avLst/>
          </a:prstGeom>
          <a:solidFill>
            <a:srgbClr val="0021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a:extLst>
              <a:ext uri="{FF2B5EF4-FFF2-40B4-BE49-F238E27FC236}">
                <a16:creationId xmlns:a16="http://schemas.microsoft.com/office/drawing/2014/main" id="{E96B8B5B-0CC4-2E50-EF4D-5AB95672CBF7}"/>
              </a:ext>
            </a:extLst>
          </p:cNvPr>
          <p:cNvSpPr/>
          <p:nvPr/>
        </p:nvSpPr>
        <p:spPr>
          <a:xfrm>
            <a:off x="411480" y="6446520"/>
            <a:ext cx="11338560" cy="9144"/>
          </a:xfrm>
          <a:prstGeom prst="rect">
            <a:avLst/>
          </a:prstGeom>
          <a:solidFill>
            <a:srgbClr val="D2DA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 4">
            <a:extLst>
              <a:ext uri="{FF2B5EF4-FFF2-40B4-BE49-F238E27FC236}">
                <a16:creationId xmlns:a16="http://schemas.microsoft.com/office/drawing/2014/main" id="{12B67BEB-AE7B-D0C1-FF25-0AF7DCEDF3EF}"/>
              </a:ext>
            </a:extLst>
          </p:cNvPr>
          <p:cNvSpPr/>
          <p:nvPr/>
        </p:nvSpPr>
        <p:spPr>
          <a:xfrm>
            <a:off x="438912" y="6510528"/>
            <a:ext cx="80467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CONFIDENTIAL  |  22</a:t>
            </a:r>
            <a:r>
              <a:rPr kumimoji="0" lang="en-US" sz="800" b="0" i="0" u="none" strike="noStrike" kern="1200" cap="none" spc="0" normalizeH="0" baseline="30000" noProof="0" dirty="0">
                <a:ln>
                  <a:noFill/>
                </a:ln>
                <a:solidFill>
                  <a:srgbClr val="5B6470"/>
                </a:solidFill>
                <a:effectLst/>
                <a:uLnTx/>
                <a:uFillTx/>
                <a:latin typeface="Segoe UI"/>
                <a:ea typeface="Aptos" pitchFamily="34" charset="-122"/>
                <a:cs typeface="Aptos" pitchFamily="34" charset="-120"/>
              </a:rPr>
              <a:t>nd</a:t>
            </a: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 Century Technologies  |  DLA EDM Vector Intelligence</a:t>
            </a:r>
            <a:endParaRPr kumimoji="0" lang="en-US" sz="800" b="0" i="0" u="none" strike="noStrike" kern="1200" cap="none" spc="0" normalizeH="0" baseline="0" noProof="0" dirty="0">
              <a:ln>
                <a:noFill/>
              </a:ln>
              <a:solidFill>
                <a:prstClr val="black"/>
              </a:solidFill>
              <a:effectLst/>
              <a:uLnTx/>
              <a:uFillTx/>
              <a:ea typeface="+mn-ea"/>
              <a:cs typeface="+mn-cs"/>
            </a:endParaRPr>
          </a:p>
        </p:txBody>
      </p:sp>
      <p:sp>
        <p:nvSpPr>
          <p:cNvPr id="42" name="Rectangle 41">
            <a:extLst>
              <a:ext uri="{FF2B5EF4-FFF2-40B4-BE49-F238E27FC236}">
                <a16:creationId xmlns:a16="http://schemas.microsoft.com/office/drawing/2014/main" id="{2F9778B8-E4A5-BD56-FFC6-17F1B83D780B}"/>
              </a:ext>
            </a:extLst>
          </p:cNvPr>
          <p:cNvSpPr/>
          <p:nvPr/>
        </p:nvSpPr>
        <p:spPr>
          <a:xfrm>
            <a:off x="502920" y="1120140"/>
            <a:ext cx="1106424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extLst>
    <p:ext uri="{6950BFC3-D8DA-4A85-94F7-54DA5524770B}">
      <p188:commentRel xmlns:p188="http://schemas.microsoft.com/office/powerpoint/2018/8/main" r:id="rId3"/>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92608"/>
            <a:ext cx="10058400" cy="502920"/>
          </a:xfrm>
          <a:prstGeom prst="rect">
            <a:avLst/>
          </a:prstGeom>
          <a:noFill/>
        </p:spPr>
        <p:txBody>
          <a:bodyPr wrap="square" lIns="38100" tIns="25400" rIns="38100" bIns="25400" anchor="t">
            <a:spAutoFit/>
          </a:bodyPr>
          <a:lstStyle/>
          <a:p>
            <a:pPr algn="l">
              <a:spcAft>
                <a:spcPts val="400"/>
              </a:spcAft>
            </a:pPr>
            <a:r>
              <a:rPr sz="2200" b="1" i="0">
                <a:solidFill>
                  <a:srgbClr val="102A4C"/>
                </a:solidFill>
                <a:latin typeface="Segoe UI"/>
              </a:rPr>
              <a:t>What “zones”, “signals” and “cohort” mean — in plain terms</a:t>
            </a:r>
          </a:p>
        </p:txBody>
      </p:sp>
      <p:sp>
        <p:nvSpPr>
          <p:cNvPr id="4" name="TextBox 3"/>
          <p:cNvSpPr txBox="1"/>
          <p:nvPr/>
        </p:nvSpPr>
        <p:spPr>
          <a:xfrm>
            <a:off x="457200" y="868680"/>
            <a:ext cx="11274552" cy="365760"/>
          </a:xfrm>
          <a:prstGeom prst="rect">
            <a:avLst/>
          </a:prstGeom>
          <a:noFill/>
        </p:spPr>
        <p:txBody>
          <a:bodyPr wrap="square" lIns="38100" tIns="25400" rIns="38100" bIns="25400" anchor="t">
            <a:spAutoFit/>
          </a:bodyPr>
          <a:lstStyle/>
          <a:p>
            <a:pPr algn="l">
              <a:spcAft>
                <a:spcPts val="400"/>
              </a:spcAft>
            </a:pPr>
            <a:r>
              <a:rPr sz="1250" b="0" i="1">
                <a:solidFill>
                  <a:srgbClr val="1F5E9C"/>
                </a:solidFill>
                <a:latin typeface="Segoe UI"/>
              </a:rPr>
              <a:t>Three ideas behind the 42 learned features — all about an item’s behavior, none visible to legacy.</a:t>
            </a:r>
          </a:p>
        </p:txBody>
      </p:sp>
      <p:sp>
        <p:nvSpPr>
          <p:cNvPr id="5" name="Rounded Rectangle 4"/>
          <p:cNvSpPr/>
          <p:nvPr/>
        </p:nvSpPr>
        <p:spPr>
          <a:xfrm>
            <a:off x="457200" y="1417320"/>
            <a:ext cx="3611880" cy="4160520"/>
          </a:xfrm>
          <a:prstGeom prst="roundRect">
            <a:avLst/>
          </a:prstGeom>
          <a:solidFill>
            <a:srgbClr val="EFEAFB"/>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563624"/>
            <a:ext cx="3246120" cy="274320"/>
          </a:xfrm>
          <a:prstGeom prst="rect">
            <a:avLst/>
          </a:prstGeom>
          <a:noFill/>
        </p:spPr>
        <p:txBody>
          <a:bodyPr wrap="square" lIns="38100" tIns="25400" rIns="38100" bIns="25400" anchor="t">
            <a:spAutoFit/>
          </a:bodyPr>
          <a:lstStyle/>
          <a:p>
            <a:pPr algn="l">
              <a:spcAft>
                <a:spcPts val="400"/>
              </a:spcAft>
            </a:pPr>
            <a:r>
              <a:rPr sz="1500" b="1" i="0">
                <a:solidFill>
                  <a:srgbClr val="102A4C"/>
                </a:solidFill>
                <a:latin typeface="Segoe UI"/>
              </a:rPr>
              <a:t>ZONES</a:t>
            </a:r>
            <a:r>
              <a:rPr sz="1000" b="0" i="0">
                <a:solidFill>
                  <a:srgbClr val="5E6A75"/>
                </a:solidFill>
                <a:latin typeface="Segoe UI"/>
              </a:rPr>
              <a:t>   · 23 feats</a:t>
            </a:r>
          </a:p>
        </p:txBody>
      </p:sp>
      <p:sp>
        <p:nvSpPr>
          <p:cNvPr id="7" name="TextBox 6"/>
          <p:cNvSpPr txBox="1"/>
          <p:nvPr/>
        </p:nvSpPr>
        <p:spPr>
          <a:xfrm>
            <a:off x="658368" y="1892808"/>
            <a:ext cx="3246120" cy="228600"/>
          </a:xfrm>
          <a:prstGeom prst="rect">
            <a:avLst/>
          </a:prstGeom>
          <a:noFill/>
        </p:spPr>
        <p:txBody>
          <a:bodyPr wrap="square" lIns="38100" tIns="25400" rIns="38100" bIns="25400" anchor="t">
            <a:spAutoFit/>
          </a:bodyPr>
          <a:lstStyle/>
          <a:p>
            <a:pPr algn="l">
              <a:spcAft>
                <a:spcPts val="400"/>
              </a:spcAft>
            </a:pPr>
            <a:r>
              <a:rPr sz="1050" b="1" i="0">
                <a:solidFill>
                  <a:srgbClr val="118484"/>
                </a:solidFill>
                <a:latin typeface="Segoe UI"/>
              </a:rPr>
              <a:t>see each item from 5 angles</a:t>
            </a:r>
          </a:p>
        </p:txBody>
      </p:sp>
      <p:sp>
        <p:nvSpPr>
          <p:cNvPr id="8" name="TextBox 7"/>
          <p:cNvSpPr txBox="1"/>
          <p:nvPr/>
        </p:nvSpPr>
        <p:spPr>
          <a:xfrm>
            <a:off x="658368" y="2194560"/>
            <a:ext cx="3246120" cy="548640"/>
          </a:xfrm>
          <a:prstGeom prst="rect">
            <a:avLst/>
          </a:prstGeom>
          <a:noFill/>
        </p:spPr>
        <p:txBody>
          <a:bodyPr wrap="square" lIns="38100" tIns="25400" rIns="38100" bIns="25400" anchor="t">
            <a:spAutoFit/>
          </a:bodyPr>
          <a:lstStyle/>
          <a:p>
            <a:pPr algn="l">
              <a:spcAft>
                <a:spcPts val="400"/>
              </a:spcAft>
            </a:pPr>
            <a:r>
              <a:rPr sz="1000" b="0" i="0">
                <a:solidFill>
                  <a:srgbClr val="1D2430"/>
                </a:solidFill>
                <a:latin typeface="Segoe UI"/>
              </a:rPr>
              <a:t>Five behavioral facets, each a rich “fingerprint”:</a:t>
            </a:r>
          </a:p>
        </p:txBody>
      </p:sp>
      <p:sp>
        <p:nvSpPr>
          <p:cNvPr id="9" name="TextBox 8"/>
          <p:cNvSpPr txBox="1"/>
          <p:nvPr/>
        </p:nvSpPr>
        <p:spPr>
          <a:xfrm>
            <a:off x="777240" y="2834640"/>
            <a:ext cx="3154680" cy="1554480"/>
          </a:xfrm>
          <a:prstGeom prst="rect">
            <a:avLst/>
          </a:prstGeom>
          <a:noFill/>
        </p:spPr>
        <p:txBody>
          <a:bodyPr wrap="square" lIns="38100" tIns="25400" rIns="38100" bIns="25400" anchor="t">
            <a:spAutoFit/>
          </a:bodyPr>
          <a:lstStyle/>
          <a:p>
            <a:pPr algn="l">
              <a:spcAft>
                <a:spcPts val="500"/>
              </a:spcAft>
            </a:pPr>
            <a:r>
              <a:rPr sz="1050" b="1" i="0">
                <a:solidFill>
                  <a:srgbClr val="118484"/>
                </a:solidFill>
                <a:latin typeface="Segoe UI"/>
              </a:rPr>
              <a:t>Identity</a:t>
            </a:r>
            <a:r>
              <a:rPr sz="1000" b="0" i="0">
                <a:solidFill>
                  <a:srgbClr val="1D2430"/>
                </a:solidFill>
                <a:latin typeface="Segoe UI"/>
              </a:rPr>
              <a:t> — what it is</a:t>
            </a:r>
          </a:p>
          <a:p>
            <a:pPr algn="l">
              <a:spcAft>
                <a:spcPts val="500"/>
              </a:spcAft>
            </a:pPr>
            <a:r>
              <a:rPr sz="1050" b="1" i="0">
                <a:solidFill>
                  <a:srgbClr val="118484"/>
                </a:solidFill>
                <a:latin typeface="Segoe UI"/>
              </a:rPr>
              <a:t>Demand</a:t>
            </a:r>
            <a:r>
              <a:rPr sz="1000" b="0" i="0">
                <a:solidFill>
                  <a:srgbClr val="1D2430"/>
                </a:solidFill>
                <a:latin typeface="Segoe UI"/>
              </a:rPr>
              <a:t> — how it’s ordered</a:t>
            </a:r>
          </a:p>
          <a:p>
            <a:pPr algn="l">
              <a:spcAft>
                <a:spcPts val="500"/>
              </a:spcAft>
            </a:pPr>
            <a:r>
              <a:rPr sz="1050" b="1" i="0">
                <a:solidFill>
                  <a:srgbClr val="118484"/>
                </a:solidFill>
                <a:latin typeface="Segoe UI"/>
              </a:rPr>
              <a:t>Supply</a:t>
            </a:r>
            <a:r>
              <a:rPr sz="1000" b="0" i="0">
                <a:solidFill>
                  <a:srgbClr val="1D2430"/>
                </a:solidFill>
                <a:latin typeface="Segoe UI"/>
              </a:rPr>
              <a:t> — how it’s sourced</a:t>
            </a:r>
          </a:p>
          <a:p>
            <a:pPr algn="l">
              <a:spcAft>
                <a:spcPts val="500"/>
              </a:spcAft>
            </a:pPr>
            <a:r>
              <a:rPr sz="1050" b="1" i="0">
                <a:solidFill>
                  <a:srgbClr val="118484"/>
                </a:solidFill>
                <a:latin typeface="Segoe UI"/>
              </a:rPr>
              <a:t>Inventory</a:t>
            </a:r>
            <a:r>
              <a:rPr sz="1000" b="0" i="0">
                <a:solidFill>
                  <a:srgbClr val="1D2430"/>
                </a:solidFill>
                <a:latin typeface="Segoe UI"/>
              </a:rPr>
              <a:t> — how it’s stocked</a:t>
            </a:r>
          </a:p>
          <a:p>
            <a:pPr algn="l">
              <a:spcAft>
                <a:spcPts val="500"/>
              </a:spcAft>
            </a:pPr>
            <a:r>
              <a:rPr sz="1050" b="1" i="0">
                <a:solidFill>
                  <a:srgbClr val="118484"/>
                </a:solidFill>
                <a:latin typeface="Segoe UI"/>
              </a:rPr>
              <a:t>Financial</a:t>
            </a:r>
            <a:r>
              <a:rPr sz="1000" b="0" i="0">
                <a:solidFill>
                  <a:srgbClr val="1D2430"/>
                </a:solidFill>
                <a:latin typeface="Segoe UI"/>
              </a:rPr>
              <a:t> — what it costs</a:t>
            </a:r>
          </a:p>
        </p:txBody>
      </p:sp>
      <p:sp>
        <p:nvSpPr>
          <p:cNvPr id="10" name="TextBox 9"/>
          <p:cNvSpPr txBox="1"/>
          <p:nvPr/>
        </p:nvSpPr>
        <p:spPr>
          <a:xfrm>
            <a:off x="658368" y="4480560"/>
            <a:ext cx="3246120" cy="960120"/>
          </a:xfrm>
          <a:prstGeom prst="rect">
            <a:avLst/>
          </a:prstGeom>
          <a:noFill/>
        </p:spPr>
        <p:txBody>
          <a:bodyPr wrap="square" lIns="38100" tIns="25400" rIns="38100" bIns="25400" anchor="t">
            <a:spAutoFit/>
          </a:bodyPr>
          <a:lstStyle/>
          <a:p>
            <a:pPr algn="l">
              <a:spcAft>
                <a:spcPts val="400"/>
              </a:spcAft>
            </a:pPr>
            <a:r>
              <a:rPr sz="1000" b="1" i="0">
                <a:solidFill>
                  <a:srgbClr val="102A4C"/>
                </a:solidFill>
                <a:latin typeface="Segoe UI"/>
              </a:rPr>
              <a:t>WHERE it sits</a:t>
            </a:r>
            <a:r>
              <a:rPr sz="950" b="0" i="0">
                <a:solidFill>
                  <a:srgbClr val="1D2430"/>
                </a:solidFill>
                <a:latin typeface="Segoe UI"/>
              </a:rPr>
              <a:t>  — compare items by behavior, not catalog code → find a new item’s behavioral twins.</a:t>
            </a:r>
          </a:p>
        </p:txBody>
      </p:sp>
      <p:sp>
        <p:nvSpPr>
          <p:cNvPr id="11" name="Rounded Rectangle 10"/>
          <p:cNvSpPr/>
          <p:nvPr/>
        </p:nvSpPr>
        <p:spPr>
          <a:xfrm>
            <a:off x="4270248" y="1417320"/>
            <a:ext cx="3611880" cy="4160520"/>
          </a:xfrm>
          <a:prstGeom prst="roundRect">
            <a:avLst/>
          </a:prstGeom>
          <a:solidFill>
            <a:srgbClr val="ECF6F1"/>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71416" y="1563624"/>
            <a:ext cx="3246120" cy="274320"/>
          </a:xfrm>
          <a:prstGeom prst="rect">
            <a:avLst/>
          </a:prstGeom>
          <a:noFill/>
        </p:spPr>
        <p:txBody>
          <a:bodyPr wrap="square" lIns="38100" tIns="25400" rIns="38100" bIns="25400" anchor="t">
            <a:spAutoFit/>
          </a:bodyPr>
          <a:lstStyle/>
          <a:p>
            <a:pPr algn="l">
              <a:spcAft>
                <a:spcPts val="400"/>
              </a:spcAft>
            </a:pPr>
            <a:r>
              <a:rPr sz="1500" b="1" i="0">
                <a:solidFill>
                  <a:srgbClr val="102A4C"/>
                </a:solidFill>
                <a:latin typeface="Segoe UI"/>
              </a:rPr>
              <a:t>SIGNALS</a:t>
            </a:r>
            <a:r>
              <a:rPr sz="1000" b="0" i="0">
                <a:solidFill>
                  <a:srgbClr val="5E6A75"/>
                </a:solidFill>
                <a:latin typeface="Segoe UI"/>
              </a:rPr>
              <a:t>   · 13 feats</a:t>
            </a:r>
          </a:p>
        </p:txBody>
      </p:sp>
      <p:sp>
        <p:nvSpPr>
          <p:cNvPr id="13" name="TextBox 12"/>
          <p:cNvSpPr txBox="1"/>
          <p:nvPr/>
        </p:nvSpPr>
        <p:spPr>
          <a:xfrm>
            <a:off x="4471416" y="1892808"/>
            <a:ext cx="3246120" cy="228600"/>
          </a:xfrm>
          <a:prstGeom prst="rect">
            <a:avLst/>
          </a:prstGeom>
          <a:noFill/>
        </p:spPr>
        <p:txBody>
          <a:bodyPr wrap="square" lIns="38100" tIns="25400" rIns="38100" bIns="25400" anchor="t">
            <a:spAutoFit/>
          </a:bodyPr>
          <a:lstStyle/>
          <a:p>
            <a:pPr algn="l">
              <a:spcAft>
                <a:spcPts val="400"/>
              </a:spcAft>
            </a:pPr>
            <a:r>
              <a:rPr sz="1050" b="1" i="0">
                <a:solidFill>
                  <a:srgbClr val="118484"/>
                </a:solidFill>
                <a:latin typeface="Segoe UI"/>
              </a:rPr>
              <a:t>the item’s vital signs over time</a:t>
            </a:r>
          </a:p>
        </p:txBody>
      </p:sp>
      <p:sp>
        <p:nvSpPr>
          <p:cNvPr id="14" name="TextBox 13"/>
          <p:cNvSpPr txBox="1"/>
          <p:nvPr/>
        </p:nvSpPr>
        <p:spPr>
          <a:xfrm>
            <a:off x="4471416" y="2194560"/>
            <a:ext cx="3246120" cy="548640"/>
          </a:xfrm>
          <a:prstGeom prst="rect">
            <a:avLst/>
          </a:prstGeom>
          <a:noFill/>
        </p:spPr>
        <p:txBody>
          <a:bodyPr wrap="square" lIns="38100" tIns="25400" rIns="38100" bIns="25400" anchor="t">
            <a:spAutoFit/>
          </a:bodyPr>
          <a:lstStyle/>
          <a:p>
            <a:pPr algn="l">
              <a:spcAft>
                <a:spcPts val="400"/>
              </a:spcAft>
            </a:pPr>
            <a:r>
              <a:rPr sz="1000" b="0" i="0">
                <a:solidFill>
                  <a:srgbClr val="1D2430"/>
                </a:solidFill>
                <a:latin typeface="Segoe UI"/>
              </a:rPr>
              <a:t>How the item is MOVING, month over month:</a:t>
            </a:r>
          </a:p>
        </p:txBody>
      </p:sp>
      <p:sp>
        <p:nvSpPr>
          <p:cNvPr id="15" name="TextBox 14"/>
          <p:cNvSpPr txBox="1"/>
          <p:nvPr/>
        </p:nvSpPr>
        <p:spPr>
          <a:xfrm>
            <a:off x="4590288" y="2834640"/>
            <a:ext cx="3154680" cy="1554480"/>
          </a:xfrm>
          <a:prstGeom prst="rect">
            <a:avLst/>
          </a:prstGeom>
          <a:noFill/>
        </p:spPr>
        <p:txBody>
          <a:bodyPr wrap="square" lIns="38100" tIns="25400" rIns="38100" bIns="25400" anchor="t">
            <a:spAutoFit/>
          </a:bodyPr>
          <a:lstStyle/>
          <a:p>
            <a:pPr algn="l">
              <a:spcAft>
                <a:spcPts val="500"/>
              </a:spcAft>
            </a:pPr>
            <a:r>
              <a:rPr sz="1050" b="1" i="0">
                <a:solidFill>
                  <a:srgbClr val="118484"/>
                </a:solidFill>
                <a:latin typeface="Segoe UI"/>
              </a:rPr>
              <a:t>How fast</a:t>
            </a:r>
            <a:r>
              <a:rPr sz="1000" b="0" i="0">
                <a:solidFill>
                  <a:srgbClr val="1D2430"/>
                </a:solidFill>
                <a:latin typeface="Segoe UI"/>
              </a:rPr>
              <a:t> is it changing now?</a:t>
            </a:r>
          </a:p>
          <a:p>
            <a:pPr algn="l">
              <a:spcAft>
                <a:spcPts val="500"/>
              </a:spcAft>
            </a:pPr>
            <a:r>
              <a:rPr sz="1050" b="1" i="0">
                <a:solidFill>
                  <a:srgbClr val="118484"/>
                </a:solidFill>
                <a:latin typeface="Segoe UI"/>
              </a:rPr>
              <a:t>How steadily</a:t>
            </a:r>
            <a:r>
              <a:rPr sz="1000" b="0" i="0">
                <a:solidFill>
                  <a:srgbClr val="1D2430"/>
                </a:solidFill>
                <a:latin typeface="Segoe UI"/>
              </a:rPr>
              <a:t> — trend or noise?</a:t>
            </a:r>
          </a:p>
          <a:p>
            <a:pPr algn="l">
              <a:spcAft>
                <a:spcPts val="500"/>
              </a:spcAft>
            </a:pPr>
            <a:r>
              <a:rPr sz="1050" b="1" i="0">
                <a:solidFill>
                  <a:srgbClr val="118484"/>
                </a:solidFill>
                <a:latin typeface="Segoe UI"/>
              </a:rPr>
              <a:t>Regime shift</a:t>
            </a:r>
            <a:r>
              <a:rPr sz="1000" b="0" i="0">
                <a:solidFill>
                  <a:srgbClr val="1D2430"/>
                </a:solidFill>
                <a:latin typeface="Segoe UI"/>
              </a:rPr>
              <a:t> — fundamentally changed?</a:t>
            </a:r>
          </a:p>
          <a:p>
            <a:pPr algn="l">
              <a:spcAft>
                <a:spcPts val="500"/>
              </a:spcAft>
            </a:pPr>
            <a:r>
              <a:rPr sz="1050" b="1" i="0">
                <a:solidFill>
                  <a:srgbClr val="118484"/>
                </a:solidFill>
                <a:latin typeface="Segoe UI"/>
              </a:rPr>
              <a:t>Do sources agree</a:t>
            </a:r>
            <a:r>
              <a:rPr sz="1000" b="0" i="0">
                <a:solidFill>
                  <a:srgbClr val="1D2430"/>
                </a:solidFill>
                <a:latin typeface="Segoe UI"/>
              </a:rPr>
              <a:t> — or conflict?</a:t>
            </a:r>
          </a:p>
        </p:txBody>
      </p:sp>
      <p:sp>
        <p:nvSpPr>
          <p:cNvPr id="16" name="TextBox 15"/>
          <p:cNvSpPr txBox="1"/>
          <p:nvPr/>
        </p:nvSpPr>
        <p:spPr>
          <a:xfrm>
            <a:off x="4471416" y="4480560"/>
            <a:ext cx="3246120" cy="960120"/>
          </a:xfrm>
          <a:prstGeom prst="rect">
            <a:avLst/>
          </a:prstGeom>
          <a:noFill/>
        </p:spPr>
        <p:txBody>
          <a:bodyPr wrap="square" lIns="38100" tIns="25400" rIns="38100" bIns="25400" anchor="t">
            <a:spAutoFit/>
          </a:bodyPr>
          <a:lstStyle/>
          <a:p>
            <a:pPr algn="l">
              <a:spcAft>
                <a:spcPts val="400"/>
              </a:spcAft>
            </a:pPr>
            <a:r>
              <a:rPr sz="1000" b="1" i="0">
                <a:solidFill>
                  <a:srgbClr val="102A4C"/>
                </a:solidFill>
                <a:latin typeface="Segoe UI"/>
              </a:rPr>
              <a:t>WHERE it’s heading</a:t>
            </a:r>
            <a:r>
              <a:rPr sz="950" b="0" i="0">
                <a:solidFill>
                  <a:srgbClr val="1D2430"/>
                </a:solidFill>
                <a:latin typeface="Segoe UI"/>
              </a:rPr>
              <a:t>  — early warning of a surge or disruption 1–3 months before raw counts move.</a:t>
            </a:r>
          </a:p>
        </p:txBody>
      </p:sp>
      <p:sp>
        <p:nvSpPr>
          <p:cNvPr id="17" name="Rounded Rectangle 16"/>
          <p:cNvSpPr/>
          <p:nvPr/>
        </p:nvSpPr>
        <p:spPr>
          <a:xfrm>
            <a:off x="8083296" y="1417320"/>
            <a:ext cx="3611880" cy="4160520"/>
          </a:xfrm>
          <a:prstGeom prst="roundRect">
            <a:avLst/>
          </a:prstGeom>
          <a:solidFill>
            <a:srgbClr val="EAF3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84464" y="1563624"/>
            <a:ext cx="3246120" cy="274320"/>
          </a:xfrm>
          <a:prstGeom prst="rect">
            <a:avLst/>
          </a:prstGeom>
          <a:noFill/>
        </p:spPr>
        <p:txBody>
          <a:bodyPr wrap="square" lIns="38100" tIns="25400" rIns="38100" bIns="25400" anchor="t">
            <a:spAutoFit/>
          </a:bodyPr>
          <a:lstStyle/>
          <a:p>
            <a:pPr algn="l">
              <a:spcAft>
                <a:spcPts val="400"/>
              </a:spcAft>
            </a:pPr>
            <a:r>
              <a:rPr sz="1500" b="1" i="0">
                <a:solidFill>
                  <a:srgbClr val="102A4C"/>
                </a:solidFill>
                <a:latin typeface="Segoe UI"/>
              </a:rPr>
              <a:t>COHORT</a:t>
            </a:r>
            <a:r>
              <a:rPr sz="1000" b="0" i="0">
                <a:solidFill>
                  <a:srgbClr val="5E6A75"/>
                </a:solidFill>
                <a:latin typeface="Segoe UI"/>
              </a:rPr>
              <a:t>   · 6 feats</a:t>
            </a:r>
          </a:p>
        </p:txBody>
      </p:sp>
      <p:sp>
        <p:nvSpPr>
          <p:cNvPr id="19" name="TextBox 18"/>
          <p:cNvSpPr txBox="1"/>
          <p:nvPr/>
        </p:nvSpPr>
        <p:spPr>
          <a:xfrm>
            <a:off x="8284464" y="1892808"/>
            <a:ext cx="3246120" cy="228600"/>
          </a:xfrm>
          <a:prstGeom prst="rect">
            <a:avLst/>
          </a:prstGeom>
          <a:noFill/>
        </p:spPr>
        <p:txBody>
          <a:bodyPr wrap="square" lIns="38100" tIns="25400" rIns="38100" bIns="25400" anchor="t">
            <a:spAutoFit/>
          </a:bodyPr>
          <a:lstStyle/>
          <a:p>
            <a:pPr algn="l">
              <a:spcAft>
                <a:spcPts val="400"/>
              </a:spcAft>
            </a:pPr>
            <a:r>
              <a:rPr sz="1050" b="1" i="0">
                <a:solidFill>
                  <a:srgbClr val="118484"/>
                </a:solidFill>
                <a:latin typeface="Segoe UI"/>
              </a:rPr>
              <a:t>the item’s behavioral twins</a:t>
            </a:r>
          </a:p>
        </p:txBody>
      </p:sp>
      <p:sp>
        <p:nvSpPr>
          <p:cNvPr id="20" name="TextBox 19"/>
          <p:cNvSpPr txBox="1"/>
          <p:nvPr/>
        </p:nvSpPr>
        <p:spPr>
          <a:xfrm>
            <a:off x="8284464" y="2194560"/>
            <a:ext cx="3246120" cy="548640"/>
          </a:xfrm>
          <a:prstGeom prst="rect">
            <a:avLst/>
          </a:prstGeom>
          <a:noFill/>
        </p:spPr>
        <p:txBody>
          <a:bodyPr wrap="square" lIns="38100" tIns="25400" rIns="38100" bIns="25400" anchor="t">
            <a:spAutoFit/>
          </a:bodyPr>
          <a:lstStyle/>
          <a:p>
            <a:pPr algn="l">
              <a:spcAft>
                <a:spcPts val="400"/>
              </a:spcAft>
            </a:pPr>
            <a:r>
              <a:rPr sz="1000" b="0" i="0">
                <a:solidFill>
                  <a:srgbClr val="1D2430"/>
                </a:solidFill>
                <a:latin typeface="Segoe UI"/>
              </a:rPr>
              <a:t>Each item’s 5 nearest behavioral peers — items that order most like it:</a:t>
            </a:r>
          </a:p>
        </p:txBody>
      </p:sp>
      <p:sp>
        <p:nvSpPr>
          <p:cNvPr id="21" name="TextBox 20"/>
          <p:cNvSpPr txBox="1"/>
          <p:nvPr/>
        </p:nvSpPr>
        <p:spPr>
          <a:xfrm>
            <a:off x="8403336" y="2834640"/>
            <a:ext cx="3154680" cy="1554480"/>
          </a:xfrm>
          <a:prstGeom prst="rect">
            <a:avLst/>
          </a:prstGeom>
          <a:noFill/>
        </p:spPr>
        <p:txBody>
          <a:bodyPr wrap="square" lIns="38100" tIns="25400" rIns="38100" bIns="25400" anchor="t">
            <a:spAutoFit/>
          </a:bodyPr>
          <a:lstStyle/>
          <a:p>
            <a:pPr algn="l">
              <a:spcAft>
                <a:spcPts val="500"/>
              </a:spcAft>
            </a:pPr>
            <a:r>
              <a:rPr sz="1050" b="1" i="0">
                <a:solidFill>
                  <a:srgbClr val="118484"/>
                </a:solidFill>
                <a:latin typeface="Segoe UI"/>
              </a:rPr>
              <a:t>Who are its closest twins?</a:t>
            </a:r>
          </a:p>
          <a:p>
            <a:pPr algn="l">
              <a:spcAft>
                <a:spcPts val="500"/>
              </a:spcAft>
            </a:pPr>
            <a:r>
              <a:rPr sz="1050" b="1" i="0">
                <a:solidFill>
                  <a:srgbClr val="118484"/>
                </a:solidFill>
                <a:latin typeface="Segoe UI"/>
              </a:rPr>
              <a:t>Their typical rate, variability &amp; peak?</a:t>
            </a:r>
          </a:p>
        </p:txBody>
      </p:sp>
      <p:sp>
        <p:nvSpPr>
          <p:cNvPr id="22" name="TextBox 21"/>
          <p:cNvSpPr txBox="1"/>
          <p:nvPr/>
        </p:nvSpPr>
        <p:spPr>
          <a:xfrm>
            <a:off x="8284464" y="4480560"/>
            <a:ext cx="3246120" cy="960120"/>
          </a:xfrm>
          <a:prstGeom prst="rect">
            <a:avLst/>
          </a:prstGeom>
          <a:noFill/>
        </p:spPr>
        <p:txBody>
          <a:bodyPr wrap="square" lIns="38100" tIns="25400" rIns="38100" bIns="25400" anchor="t">
            <a:spAutoFit/>
          </a:bodyPr>
          <a:lstStyle/>
          <a:p>
            <a:pPr algn="l">
              <a:spcAft>
                <a:spcPts val="400"/>
              </a:spcAft>
            </a:pPr>
            <a:r>
              <a:rPr sz="1000" b="1" i="0">
                <a:solidFill>
                  <a:srgbClr val="102A4C"/>
                </a:solidFill>
                <a:latin typeface="Segoe UI"/>
              </a:rPr>
              <a:t>COLD-START</a:t>
            </a:r>
            <a:r>
              <a:rPr sz="950" b="0" i="0">
                <a:solidFill>
                  <a:srgbClr val="1D2430"/>
                </a:solidFill>
                <a:latin typeface="Segoe UI"/>
              </a:rPr>
              <a:t>  — a brand-new item with ZERO history gets a real forecast on day one by borrowing its twins’ demand profile (legacy returns 0).</a:t>
            </a:r>
          </a:p>
        </p:txBody>
      </p:sp>
      <p:sp>
        <p:nvSpPr>
          <p:cNvPr id="23" name="Rounded Rectangle 22"/>
          <p:cNvSpPr/>
          <p:nvPr/>
        </p:nvSpPr>
        <p:spPr>
          <a:xfrm>
            <a:off x="457200" y="5760720"/>
            <a:ext cx="11274552" cy="566928"/>
          </a:xfrm>
          <a:prstGeom prst="round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5815584"/>
            <a:ext cx="10927080" cy="457200"/>
          </a:xfrm>
          <a:prstGeom prst="rect">
            <a:avLst/>
          </a:prstGeom>
          <a:noFill/>
        </p:spPr>
        <p:txBody>
          <a:bodyPr wrap="square" lIns="38100" tIns="25400" rIns="38100" bIns="25400" anchor="ctr">
            <a:spAutoFit/>
          </a:bodyPr>
          <a:lstStyle/>
          <a:p>
            <a:pPr algn="l">
              <a:spcAft>
                <a:spcPts val="400"/>
              </a:spcAft>
            </a:pPr>
            <a:r>
              <a:rPr sz="1150" b="1" i="0">
                <a:solidFill>
                  <a:srgbClr val="F36C21"/>
                </a:solidFill>
                <a:latin typeface="Segoe UI"/>
              </a:rPr>
              <a:t>In one line:  </a:t>
            </a:r>
            <a:r>
              <a:rPr sz="1150" b="1" i="0">
                <a:solidFill>
                  <a:srgbClr val="FFFFFF"/>
                </a:solidFill>
                <a:latin typeface="Segoe UI"/>
              </a:rPr>
              <a:t>Zones = where it sits.   Signals = where it’s heading.   Cohort = its behavioral twins.   </a:t>
            </a:r>
            <a:r>
              <a:rPr sz="1150" b="0" i="0">
                <a:solidFill>
                  <a:srgbClr val="DCE6F4"/>
                </a:solidFill>
                <a:latin typeface="Segoe UI"/>
              </a:rPr>
              <a:t>Legacy sees none of these.</a:t>
            </a:r>
          </a:p>
        </p:txBody>
      </p:sp>
      <p:sp>
        <p:nvSpPr>
          <p:cNvPr id="26" name="TextBox 25"/>
          <p:cNvSpPr txBox="1"/>
          <p:nvPr/>
        </p:nvSpPr>
        <p:spPr>
          <a:xfrm>
            <a:off x="11274552" y="6455664"/>
            <a:ext cx="457200" cy="274320"/>
          </a:xfrm>
          <a:prstGeom prst="rect">
            <a:avLst/>
          </a:prstGeom>
          <a:noFill/>
        </p:spPr>
        <p:txBody>
          <a:bodyPr wrap="square" lIns="38100" tIns="25400" rIns="38100" bIns="25400" anchor="t">
            <a:spAutoFit/>
          </a:bodyPr>
          <a:lstStyle/>
          <a:p>
            <a:pPr algn="r">
              <a:spcAft>
                <a:spcPts val="400"/>
              </a:spcAft>
            </a:pPr>
            <a:r>
              <a:rPr sz="850" b="0" i="0">
                <a:solidFill>
                  <a:srgbClr val="646F7C"/>
                </a:solidFill>
                <a:latin typeface="Segoe UI"/>
              </a:rPr>
              <a:t>17</a:t>
            </a:r>
          </a:p>
        </p:txBody>
      </p:sp>
      <p:sp>
        <p:nvSpPr>
          <p:cNvPr id="28" name="TextBox 27">
            <a:extLst>
              <a:ext uri="{FF2B5EF4-FFF2-40B4-BE49-F238E27FC236}">
                <a16:creationId xmlns:a16="http://schemas.microsoft.com/office/drawing/2014/main" id="{E0761A7E-6DBB-B2C7-FDDC-7E31C08BF13B}"/>
              </a:ext>
            </a:extLst>
          </p:cNvPr>
          <p:cNvSpPr txBox="1"/>
          <p:nvPr/>
        </p:nvSpPr>
        <p:spPr>
          <a:xfrm>
            <a:off x="7264400" y="782391"/>
            <a:ext cx="4518660" cy="369332"/>
          </a:xfrm>
          <a:prstGeom prst="rect">
            <a:avLst/>
          </a:prstGeom>
          <a:noFill/>
        </p:spPr>
        <p:txBody>
          <a:bodyPr wrap="square" rtlCol="0">
            <a:spAutoFit/>
          </a:bodyPr>
          <a:lstStyle/>
          <a:p>
            <a:r>
              <a:rPr lang="en-US" b="1" dirty="0">
                <a:solidFill>
                  <a:srgbClr val="FF0000"/>
                </a:solidFill>
                <a:latin typeface="Segoe UI"/>
              </a:rPr>
              <a:t>67 features from EDM</a:t>
            </a:r>
          </a:p>
        </p:txBody>
      </p:sp>
      <p:sp>
        <p:nvSpPr>
          <p:cNvPr id="29" name="Rectangle 28">
            <a:extLst>
              <a:ext uri="{FF2B5EF4-FFF2-40B4-BE49-F238E27FC236}">
                <a16:creationId xmlns:a16="http://schemas.microsoft.com/office/drawing/2014/main" id="{BBBE8A99-9F06-A1FE-869C-633D4F1642A9}"/>
              </a:ext>
            </a:extLst>
          </p:cNvPr>
          <p:cNvSpPr/>
          <p:nvPr/>
        </p:nvSpPr>
        <p:spPr>
          <a:xfrm>
            <a:off x="0" y="0"/>
            <a:ext cx="12191695" cy="146304"/>
          </a:xfrm>
          <a:prstGeom prst="rect">
            <a:avLst/>
          </a:prstGeom>
          <a:solidFill>
            <a:srgbClr val="0021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a:extLst>
              <a:ext uri="{FF2B5EF4-FFF2-40B4-BE49-F238E27FC236}">
                <a16:creationId xmlns:a16="http://schemas.microsoft.com/office/drawing/2014/main" id="{107D8AB5-E9B4-61ED-52D9-ADE87194186B}"/>
              </a:ext>
            </a:extLst>
          </p:cNvPr>
          <p:cNvSpPr/>
          <p:nvPr/>
        </p:nvSpPr>
        <p:spPr>
          <a:xfrm>
            <a:off x="411480" y="6446520"/>
            <a:ext cx="11338560" cy="9144"/>
          </a:xfrm>
          <a:prstGeom prst="rect">
            <a:avLst/>
          </a:prstGeom>
          <a:solidFill>
            <a:srgbClr val="D2DA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 4">
            <a:extLst>
              <a:ext uri="{FF2B5EF4-FFF2-40B4-BE49-F238E27FC236}">
                <a16:creationId xmlns:a16="http://schemas.microsoft.com/office/drawing/2014/main" id="{B27D0C18-6C76-3233-9F09-912A7657D7E2}"/>
              </a:ext>
            </a:extLst>
          </p:cNvPr>
          <p:cNvSpPr/>
          <p:nvPr/>
        </p:nvSpPr>
        <p:spPr>
          <a:xfrm>
            <a:off x="438912" y="6510528"/>
            <a:ext cx="80467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CONFIDENTIAL  |  22</a:t>
            </a:r>
            <a:r>
              <a:rPr kumimoji="0" lang="en-US" sz="800" b="0" i="0" u="none" strike="noStrike" kern="1200" cap="none" spc="0" normalizeH="0" baseline="30000" noProof="0" dirty="0">
                <a:ln>
                  <a:noFill/>
                </a:ln>
                <a:solidFill>
                  <a:srgbClr val="5B6470"/>
                </a:solidFill>
                <a:effectLst/>
                <a:uLnTx/>
                <a:uFillTx/>
                <a:latin typeface="Segoe UI"/>
                <a:ea typeface="Aptos" pitchFamily="34" charset="-122"/>
                <a:cs typeface="Aptos" pitchFamily="34" charset="-120"/>
              </a:rPr>
              <a:t>nd</a:t>
            </a: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 Century Technologies  |  DLA EDM Vector Intelligence</a:t>
            </a:r>
            <a:endParaRPr kumimoji="0" lang="en-US" sz="800" b="0" i="0" u="none" strike="noStrike" kern="1200" cap="none" spc="0" normalizeH="0" baseline="0" noProof="0" dirty="0">
              <a:ln>
                <a:noFill/>
              </a:ln>
              <a:solidFill>
                <a:prstClr val="black"/>
              </a:solidFill>
              <a:effectLst/>
              <a:uLnTx/>
              <a:uFillTx/>
              <a:ea typeface="+mn-ea"/>
              <a:cs typeface="+mn-cs"/>
            </a:endParaRPr>
          </a:p>
        </p:txBody>
      </p:sp>
      <p:sp>
        <p:nvSpPr>
          <p:cNvPr id="34" name="Rectangle 33">
            <a:extLst>
              <a:ext uri="{FF2B5EF4-FFF2-40B4-BE49-F238E27FC236}">
                <a16:creationId xmlns:a16="http://schemas.microsoft.com/office/drawing/2014/main" id="{D5490063-B1E1-8396-E9CD-B3E89ED10FE4}"/>
              </a:ext>
            </a:extLst>
          </p:cNvPr>
          <p:cNvSpPr/>
          <p:nvPr/>
        </p:nvSpPr>
        <p:spPr>
          <a:xfrm>
            <a:off x="502920" y="1120140"/>
            <a:ext cx="1106424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extLst>
    <p:ext uri="{6950BFC3-D8DA-4A85-94F7-54DA5524770B}">
      <p188:commentRel xmlns:p188="http://schemas.microsoft.com/office/powerpoint/2018/8/main" r:id="rId3"/>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92608"/>
            <a:ext cx="10058400" cy="502920"/>
          </a:xfrm>
          <a:prstGeom prst="rect">
            <a:avLst/>
          </a:prstGeom>
          <a:noFill/>
        </p:spPr>
        <p:txBody>
          <a:bodyPr wrap="square" lIns="38100" tIns="25400" rIns="38100" bIns="25400" anchor="t">
            <a:spAutoFit/>
          </a:bodyPr>
          <a:lstStyle/>
          <a:p>
            <a:pPr algn="l">
              <a:spcAft>
                <a:spcPts val="500"/>
              </a:spcAft>
            </a:pPr>
            <a:r>
              <a:rPr sz="2200" b="1" i="0">
                <a:solidFill>
                  <a:srgbClr val="102A4C"/>
                </a:solidFill>
                <a:latin typeface="Segoe UI"/>
              </a:rPr>
              <a:t>How drift tunes the forecast — the “alpha” dial</a:t>
            </a:r>
          </a:p>
        </p:txBody>
      </p:sp>
      <p:sp>
        <p:nvSpPr>
          <p:cNvPr id="4" name="TextBox 3"/>
          <p:cNvSpPr txBox="1"/>
          <p:nvPr/>
        </p:nvSpPr>
        <p:spPr>
          <a:xfrm>
            <a:off x="457200" y="868680"/>
            <a:ext cx="11274552" cy="457200"/>
          </a:xfrm>
          <a:prstGeom prst="rect">
            <a:avLst/>
          </a:prstGeom>
          <a:noFill/>
        </p:spPr>
        <p:txBody>
          <a:bodyPr wrap="square" lIns="38100" tIns="25400" rIns="38100" bIns="25400" anchor="t">
            <a:spAutoFit/>
          </a:bodyPr>
          <a:lstStyle/>
          <a:p>
            <a:pPr algn="l">
              <a:spcAft>
                <a:spcPts val="500"/>
              </a:spcAft>
            </a:pPr>
            <a:r>
              <a:rPr sz="1250" b="0" i="1">
                <a:solidFill>
                  <a:srgbClr val="1F5E9C"/>
                </a:solidFill>
                <a:latin typeface="Segoe UI"/>
              </a:rPr>
              <a:t>Signals show the item is moving; drift turns that motion into one number — alpha — that nudges the EDM forecast toward where the item is heading.</a:t>
            </a:r>
          </a:p>
        </p:txBody>
      </p:sp>
      <p:sp>
        <p:nvSpPr>
          <p:cNvPr id="5" name="Rounded Rectangle 4"/>
          <p:cNvSpPr/>
          <p:nvPr/>
        </p:nvSpPr>
        <p:spPr>
          <a:xfrm>
            <a:off x="457200" y="1463040"/>
            <a:ext cx="5532120" cy="3657600"/>
          </a:xfrm>
          <a:prstGeom prst="roundRect">
            <a:avLst/>
          </a:prstGeom>
          <a:solidFill>
            <a:srgbClr val="EFEAFB"/>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591056"/>
            <a:ext cx="5120640" cy="274320"/>
          </a:xfrm>
          <a:prstGeom prst="rect">
            <a:avLst/>
          </a:prstGeom>
          <a:noFill/>
        </p:spPr>
        <p:txBody>
          <a:bodyPr wrap="square" lIns="38100" tIns="25400" rIns="38100" bIns="25400" anchor="t">
            <a:spAutoFit/>
          </a:bodyPr>
          <a:lstStyle/>
          <a:p>
            <a:pPr algn="l">
              <a:spcAft>
                <a:spcPts val="500"/>
              </a:spcAft>
            </a:pPr>
            <a:r>
              <a:rPr sz="1400" b="1" i="0">
                <a:solidFill>
                  <a:srgbClr val="102A4C"/>
                </a:solidFill>
                <a:latin typeface="Segoe UI"/>
              </a:rPr>
              <a:t>THE INTUITION</a:t>
            </a:r>
          </a:p>
        </p:txBody>
      </p:sp>
      <p:sp>
        <p:nvSpPr>
          <p:cNvPr id="7" name="TextBox 6"/>
          <p:cNvSpPr txBox="1"/>
          <p:nvPr/>
        </p:nvSpPr>
        <p:spPr>
          <a:xfrm>
            <a:off x="658368" y="1993392"/>
            <a:ext cx="5120640" cy="1828800"/>
          </a:xfrm>
          <a:prstGeom prst="rect">
            <a:avLst/>
          </a:prstGeom>
          <a:noFill/>
        </p:spPr>
        <p:txBody>
          <a:bodyPr wrap="square" lIns="38100" tIns="25400" rIns="38100" bIns="25400" anchor="t">
            <a:spAutoFit/>
          </a:bodyPr>
          <a:lstStyle/>
          <a:p>
            <a:pPr algn="l">
              <a:spcAft>
                <a:spcPts val="800"/>
              </a:spcAft>
            </a:pPr>
            <a:r>
              <a:rPr sz="1100" b="0" i="0">
                <a:solidFill>
                  <a:srgbClr val="1D2430"/>
                </a:solidFill>
                <a:latin typeface="Segoe UI"/>
              </a:rPr>
              <a:t>The 67-feature model reads the item’s behavioral fingerprint </a:t>
            </a:r>
            <a:r>
              <a:rPr sz="1100" b="1" i="0">
                <a:solidFill>
                  <a:srgbClr val="118484"/>
                </a:solidFill>
                <a:latin typeface="Segoe UI"/>
              </a:rPr>
              <a:t>today</a:t>
            </a:r>
            <a:r>
              <a:rPr sz="1100" b="0" i="0">
                <a:solidFill>
                  <a:srgbClr val="1D2430"/>
                </a:solidFill>
                <a:latin typeface="Segoe UI"/>
              </a:rPr>
              <a:t> and sets the demand </a:t>
            </a:r>
            <a:r>
              <a:rPr sz="1100" b="1" i="0">
                <a:solidFill>
                  <a:srgbClr val="118484"/>
                </a:solidFill>
                <a:latin typeface="Segoe UI"/>
              </a:rPr>
              <a:t>level</a:t>
            </a:r>
            <a:r>
              <a:rPr sz="1100" b="0" i="0">
                <a:solidFill>
                  <a:srgbClr val="1D2430"/>
                </a:solidFill>
                <a:latin typeface="Segoe UI"/>
              </a:rPr>
              <a:t>.</a:t>
            </a:r>
          </a:p>
          <a:p>
            <a:pPr algn="l">
              <a:spcAft>
                <a:spcPts val="800"/>
              </a:spcAft>
            </a:pPr>
            <a:r>
              <a:rPr sz="1100" b="0" i="0">
                <a:solidFill>
                  <a:srgbClr val="1D2430"/>
                </a:solidFill>
                <a:latin typeface="Segoe UI"/>
              </a:rPr>
              <a:t>A snapshot can’t say which </a:t>
            </a:r>
            <a:r>
              <a:rPr sz="1100" b="1" i="0">
                <a:solidFill>
                  <a:srgbClr val="118484"/>
                </a:solidFill>
                <a:latin typeface="Segoe UI"/>
              </a:rPr>
              <a:t>way</a:t>
            </a:r>
            <a:r>
              <a:rPr sz="1100" b="0" i="0">
                <a:solidFill>
                  <a:srgbClr val="1D2430"/>
                </a:solidFill>
                <a:latin typeface="Segoe UI"/>
              </a:rPr>
              <a:t> the item is moving. Drift watches its monthly behavior shift over time and condenses it into </a:t>
            </a:r>
            <a:r>
              <a:rPr sz="1100" b="1" i="0">
                <a:solidFill>
                  <a:srgbClr val="F36C21"/>
                </a:solidFill>
                <a:latin typeface="Segoe UI"/>
              </a:rPr>
              <a:t>alpha</a:t>
            </a:r>
            <a:r>
              <a:rPr sz="1100" b="0" i="0">
                <a:solidFill>
                  <a:srgbClr val="1D2430"/>
                </a:solidFill>
                <a:latin typeface="Segoe UI"/>
              </a:rPr>
              <a:t>.</a:t>
            </a:r>
          </a:p>
        </p:txBody>
      </p:sp>
      <p:sp>
        <p:nvSpPr>
          <p:cNvPr id="8" name="Rounded Rectangle 7"/>
          <p:cNvSpPr/>
          <p:nvPr/>
        </p:nvSpPr>
        <p:spPr>
          <a:xfrm>
            <a:off x="658368" y="3639312"/>
            <a:ext cx="5120640" cy="914400"/>
          </a:xfrm>
          <a:prstGeom prst="round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3712463"/>
            <a:ext cx="4800600" cy="536044"/>
          </a:xfrm>
          <a:prstGeom prst="rect">
            <a:avLst/>
          </a:prstGeom>
          <a:noFill/>
        </p:spPr>
        <p:txBody>
          <a:bodyPr wrap="square" lIns="38100" tIns="25400" rIns="38100" bIns="25400" anchor="t">
            <a:spAutoFit/>
          </a:bodyPr>
          <a:lstStyle/>
          <a:p>
            <a:pPr algn="l">
              <a:spcAft>
                <a:spcPts val="500"/>
              </a:spcAft>
            </a:pPr>
            <a:r>
              <a:rPr sz="1050" b="1" i="0" dirty="0">
                <a:solidFill>
                  <a:srgbClr val="102A4C"/>
                </a:solidFill>
                <a:latin typeface="Segoe UI"/>
              </a:rPr>
              <a:t>Like a scale:</a:t>
            </a:r>
            <a:r>
              <a:rPr sz="1050" b="0" i="0" dirty="0">
                <a:solidFill>
                  <a:srgbClr val="1D2430"/>
                </a:solidFill>
                <a:latin typeface="Segoe UI"/>
              </a:rPr>
              <a:t> the model weighs the item today; drift reads the trend over recent months. </a:t>
            </a:r>
            <a:r>
              <a:rPr sz="1050" b="0" i="0">
                <a:solidFill>
                  <a:srgbClr val="1D2430"/>
                </a:solidFill>
                <a:latin typeface="Segoe UI"/>
              </a:rPr>
              <a:t>Trending up → nudge up — but only so far and trust it less if the readings bounce.</a:t>
            </a:r>
          </a:p>
        </p:txBody>
      </p:sp>
      <p:sp>
        <p:nvSpPr>
          <p:cNvPr id="10" name="TextBox 9"/>
          <p:cNvSpPr txBox="1"/>
          <p:nvPr/>
        </p:nvSpPr>
        <p:spPr>
          <a:xfrm>
            <a:off x="658368" y="4626864"/>
            <a:ext cx="5120640" cy="411480"/>
          </a:xfrm>
          <a:prstGeom prst="rect">
            <a:avLst/>
          </a:prstGeom>
          <a:noFill/>
        </p:spPr>
        <p:txBody>
          <a:bodyPr wrap="square" lIns="38100" tIns="25400" rIns="38100" bIns="25400" anchor="t">
            <a:spAutoFit/>
          </a:bodyPr>
          <a:lstStyle/>
          <a:p>
            <a:pPr algn="l">
              <a:spcAft>
                <a:spcPts val="500"/>
              </a:spcAft>
            </a:pPr>
            <a:r>
              <a:rPr sz="1000" b="1" i="0">
                <a:solidFill>
                  <a:srgbClr val="102A4C"/>
                </a:solidFill>
                <a:latin typeface="Segoe UI"/>
              </a:rPr>
              <a:t>alpha scales HOW MUCH only</a:t>
            </a:r>
            <a:r>
              <a:rPr sz="1000" b="0" i="0">
                <a:solidFill>
                  <a:srgbClr val="5E6A75"/>
                </a:solidFill>
                <a:latin typeface="Segoe UI"/>
              </a:rPr>
              <a:t> — never whether demand happens (the probability stage is untouched).</a:t>
            </a:r>
          </a:p>
        </p:txBody>
      </p:sp>
      <p:sp>
        <p:nvSpPr>
          <p:cNvPr id="11" name="Rounded Rectangle 10"/>
          <p:cNvSpPr/>
          <p:nvPr/>
        </p:nvSpPr>
        <p:spPr>
          <a:xfrm>
            <a:off x="6199632" y="1463040"/>
            <a:ext cx="5532120" cy="3657600"/>
          </a:xfrm>
          <a:prstGeom prst="roundRect">
            <a:avLst/>
          </a:prstGeom>
          <a:solidFill>
            <a:srgbClr val="ECF6F1"/>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1591056"/>
            <a:ext cx="5120640" cy="320040"/>
          </a:xfrm>
          <a:prstGeom prst="rect">
            <a:avLst/>
          </a:prstGeom>
          <a:noFill/>
        </p:spPr>
        <p:txBody>
          <a:bodyPr wrap="square" lIns="38100" tIns="25400" rIns="38100" bIns="25400" anchor="t">
            <a:spAutoFit/>
          </a:bodyPr>
          <a:lstStyle/>
          <a:p>
            <a:pPr algn="l">
              <a:spcAft>
                <a:spcPts val="500"/>
              </a:spcAft>
            </a:pPr>
            <a:r>
              <a:rPr sz="1400" b="1" i="0">
                <a:solidFill>
                  <a:srgbClr val="102A4C"/>
                </a:solidFill>
                <a:latin typeface="Segoe UI"/>
              </a:rPr>
              <a:t>THE DIAL</a:t>
            </a:r>
            <a:r>
              <a:rPr sz="1200" b="1" i="0">
                <a:solidFill>
                  <a:srgbClr val="118484"/>
                </a:solidFill>
                <a:latin typeface="Segoe UI"/>
              </a:rPr>
              <a:t>    alpha = direction × clarity × strength</a:t>
            </a:r>
          </a:p>
        </p:txBody>
      </p:sp>
      <p:sp>
        <p:nvSpPr>
          <p:cNvPr id="13" name="TextBox 12"/>
          <p:cNvSpPr txBox="1"/>
          <p:nvPr/>
        </p:nvSpPr>
        <p:spPr>
          <a:xfrm>
            <a:off x="6400800" y="2011680"/>
            <a:ext cx="5120640" cy="2011680"/>
          </a:xfrm>
          <a:prstGeom prst="rect">
            <a:avLst/>
          </a:prstGeom>
          <a:noFill/>
        </p:spPr>
        <p:txBody>
          <a:bodyPr wrap="square" lIns="38100" tIns="25400" rIns="38100" bIns="25400" anchor="t">
            <a:spAutoFit/>
          </a:bodyPr>
          <a:lstStyle/>
          <a:p>
            <a:pPr algn="l">
              <a:spcAft>
                <a:spcPts val="800"/>
              </a:spcAft>
            </a:pPr>
            <a:r>
              <a:rPr sz="1100" b="1" i="0">
                <a:solidFill>
                  <a:srgbClr val="118484"/>
                </a:solidFill>
                <a:latin typeface="Segoe UI"/>
              </a:rPr>
              <a:t>Direction</a:t>
            </a:r>
            <a:r>
              <a:rPr sz="1050" b="0" i="0">
                <a:solidFill>
                  <a:srgbClr val="1D2430"/>
                </a:solidFill>
                <a:latin typeface="Segoe UI"/>
              </a:rPr>
              <a:t> — up or down? (a surge pushes +, a decline pushes −)</a:t>
            </a:r>
          </a:p>
          <a:p>
            <a:pPr algn="l">
              <a:spcAft>
                <a:spcPts val="800"/>
              </a:spcAft>
            </a:pPr>
            <a:r>
              <a:rPr sz="1100" b="1" i="0">
                <a:solidFill>
                  <a:srgbClr val="118484"/>
                </a:solidFill>
                <a:latin typeface="Segoe UI"/>
              </a:rPr>
              <a:t>Clarity</a:t>
            </a:r>
            <a:r>
              <a:rPr sz="1050" b="0" i="0">
                <a:solidFill>
                  <a:srgbClr val="1D2430"/>
                </a:solidFill>
                <a:latin typeface="Segoe UI"/>
              </a:rPr>
              <a:t> — how cleanly the motion matches a known pattern (0–1)</a:t>
            </a:r>
          </a:p>
          <a:p>
            <a:pPr algn="l">
              <a:spcAft>
                <a:spcPts val="800"/>
              </a:spcAft>
            </a:pPr>
            <a:r>
              <a:rPr sz="1100" b="1" i="0">
                <a:solidFill>
                  <a:srgbClr val="118484"/>
                </a:solidFill>
                <a:latin typeface="Segoe UI"/>
              </a:rPr>
              <a:t>Strength</a:t>
            </a:r>
            <a:r>
              <a:rPr sz="1050" b="0" i="0">
                <a:solidFill>
                  <a:srgbClr val="1D2430"/>
                </a:solidFill>
                <a:latin typeface="Segoe UI"/>
              </a:rPr>
              <a:t> — how fast &amp; far it’s moving (0–1)</a:t>
            </a:r>
          </a:p>
          <a:p>
            <a:pPr algn="l">
              <a:spcAft>
                <a:spcPts val="800"/>
              </a:spcAft>
            </a:pPr>
            <a:r>
              <a:rPr sz="1050" b="0" i="0">
                <a:solidFill>
                  <a:srgbClr val="1D2430"/>
                </a:solidFill>
                <a:latin typeface="Segoe UI"/>
              </a:rPr>
              <a:t>All three must be high for a big nudge; ambiguous drift → ≈ 0.</a:t>
            </a:r>
          </a:p>
        </p:txBody>
      </p:sp>
      <p:sp>
        <p:nvSpPr>
          <p:cNvPr id="14" name="Rounded Rectangle 13"/>
          <p:cNvSpPr/>
          <p:nvPr/>
        </p:nvSpPr>
        <p:spPr>
          <a:xfrm>
            <a:off x="6400800" y="3886200"/>
            <a:ext cx="5120640" cy="566928"/>
          </a:xfrm>
          <a:prstGeom prst="round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83680" y="3941063"/>
            <a:ext cx="4800600" cy="457200"/>
          </a:xfrm>
          <a:prstGeom prst="rect">
            <a:avLst/>
          </a:prstGeom>
          <a:noFill/>
        </p:spPr>
        <p:txBody>
          <a:bodyPr wrap="square" lIns="38100" tIns="25400" rIns="38100" bIns="25400" anchor="ctr">
            <a:spAutoFit/>
          </a:bodyPr>
          <a:lstStyle/>
          <a:p>
            <a:pPr algn="l">
              <a:spcAft>
                <a:spcPts val="500"/>
              </a:spcAft>
            </a:pPr>
            <a:r>
              <a:rPr sz="1100" b="1" i="0">
                <a:solidFill>
                  <a:srgbClr val="F36C21"/>
                </a:solidFill>
                <a:latin typeface="Segoe UI"/>
              </a:rPr>
              <a:t>Capped ±30%</a:t>
            </a:r>
            <a:r>
              <a:rPr sz="1100" b="0" i="0">
                <a:solidFill>
                  <a:srgbClr val="FFFFFF"/>
                </a:solidFill>
                <a:latin typeface="Segoe UI"/>
              </a:rPr>
              <a:t> — drift advises, it never overrides the model’s level.</a:t>
            </a:r>
          </a:p>
        </p:txBody>
      </p:sp>
      <p:sp>
        <p:nvSpPr>
          <p:cNvPr id="16" name="TextBox 15"/>
          <p:cNvSpPr txBox="1"/>
          <p:nvPr/>
        </p:nvSpPr>
        <p:spPr>
          <a:xfrm>
            <a:off x="6400800" y="4553712"/>
            <a:ext cx="5120640" cy="457200"/>
          </a:xfrm>
          <a:prstGeom prst="rect">
            <a:avLst/>
          </a:prstGeom>
          <a:noFill/>
        </p:spPr>
        <p:txBody>
          <a:bodyPr wrap="square" lIns="38100" tIns="25400" rIns="38100" bIns="25400" anchor="t">
            <a:spAutoFit/>
          </a:bodyPr>
          <a:lstStyle/>
          <a:p>
            <a:pPr algn="l">
              <a:spcAft>
                <a:spcPts val="500"/>
              </a:spcAft>
            </a:pPr>
            <a:r>
              <a:rPr sz="1000" b="1" i="0">
                <a:solidFill>
                  <a:srgbClr val="102A4C"/>
                </a:solidFill>
                <a:latin typeface="Segoe UI"/>
              </a:rPr>
              <a:t>× 0.7 if the motion is jittery</a:t>
            </a:r>
            <a:r>
              <a:rPr sz="1000" b="0" i="0">
                <a:solidFill>
                  <a:srgbClr val="5E6A75"/>
                </a:solidFill>
                <a:latin typeface="Segoe UI"/>
              </a:rPr>
              <a:t> — discount a noisy, inconsistent trend.</a:t>
            </a:r>
          </a:p>
        </p:txBody>
      </p:sp>
      <p:sp>
        <p:nvSpPr>
          <p:cNvPr id="17" name="Rounded Rectangle 16"/>
          <p:cNvSpPr/>
          <p:nvPr/>
        </p:nvSpPr>
        <p:spPr>
          <a:xfrm>
            <a:off x="457200" y="5285232"/>
            <a:ext cx="11274552" cy="713232"/>
          </a:xfrm>
          <a:prstGeom prst="roundRect">
            <a:avLst/>
          </a:prstGeom>
          <a:solidFill>
            <a:srgbClr val="FBF1E3"/>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8368" y="5358384"/>
            <a:ext cx="10927080" cy="594360"/>
          </a:xfrm>
          <a:prstGeom prst="rect">
            <a:avLst/>
          </a:prstGeom>
          <a:noFill/>
        </p:spPr>
        <p:txBody>
          <a:bodyPr wrap="square" lIns="38100" tIns="25400" rIns="38100" bIns="25400" anchor="ctr">
            <a:spAutoFit/>
          </a:bodyPr>
          <a:lstStyle/>
          <a:p>
            <a:pPr algn="l">
              <a:spcAft>
                <a:spcPts val="500"/>
              </a:spcAft>
            </a:pPr>
            <a:r>
              <a:rPr sz="1150" b="1" i="0">
                <a:solidFill>
                  <a:srgbClr val="F36C21"/>
                </a:solidFill>
                <a:latin typeface="Segoe UI"/>
              </a:rPr>
              <a:t>Example  </a:t>
            </a:r>
            <a:r>
              <a:rPr sz="1150" b="0" i="0">
                <a:solidFill>
                  <a:srgbClr val="1D2430"/>
                </a:solidFill>
                <a:latin typeface="Segoe UI"/>
              </a:rPr>
              <a:t>ADAPTER PLATE drifts into behavioral </a:t>
            </a:r>
            <a:r>
              <a:rPr sz="1150" b="1" i="0">
                <a:solidFill>
                  <a:srgbClr val="118484"/>
                </a:solidFill>
                <a:latin typeface="Segoe UI"/>
              </a:rPr>
              <a:t>decline</a:t>
            </a:r>
            <a:r>
              <a:rPr sz="1150" b="0" i="0">
                <a:solidFill>
                  <a:srgbClr val="1D2430"/>
                </a:solidFill>
                <a:latin typeface="Segoe UI"/>
              </a:rPr>
              <a:t> → alpha −3% trims the plan; a clean </a:t>
            </a:r>
            <a:r>
              <a:rPr sz="1150" b="1" i="0">
                <a:solidFill>
                  <a:srgbClr val="118484"/>
                </a:solidFill>
                <a:latin typeface="Segoe UI"/>
              </a:rPr>
              <a:t>surge</a:t>
            </a:r>
            <a:r>
              <a:rPr sz="1150" b="0" i="0">
                <a:solidFill>
                  <a:srgbClr val="1D2430"/>
                </a:solidFill>
                <a:latin typeface="Segoe UI"/>
              </a:rPr>
              <a:t> on a critical part could add up to +30%, weeks before raw orders climb.</a:t>
            </a:r>
          </a:p>
        </p:txBody>
      </p:sp>
      <p:sp>
        <p:nvSpPr>
          <p:cNvPr id="20" name="TextBox 19"/>
          <p:cNvSpPr txBox="1"/>
          <p:nvPr/>
        </p:nvSpPr>
        <p:spPr>
          <a:xfrm>
            <a:off x="11274552" y="6455664"/>
            <a:ext cx="457200" cy="274320"/>
          </a:xfrm>
          <a:prstGeom prst="rect">
            <a:avLst/>
          </a:prstGeom>
          <a:noFill/>
        </p:spPr>
        <p:txBody>
          <a:bodyPr wrap="square" lIns="38100" tIns="25400" rIns="38100" bIns="25400" anchor="t">
            <a:spAutoFit/>
          </a:bodyPr>
          <a:lstStyle/>
          <a:p>
            <a:pPr algn="r">
              <a:spcAft>
                <a:spcPts val="500"/>
              </a:spcAft>
            </a:pPr>
            <a:r>
              <a:rPr sz="850" b="0" i="0">
                <a:solidFill>
                  <a:srgbClr val="646F7C"/>
                </a:solidFill>
                <a:latin typeface="Segoe UI"/>
              </a:rPr>
              <a:t>18</a:t>
            </a:r>
          </a:p>
        </p:txBody>
      </p:sp>
      <p:sp>
        <p:nvSpPr>
          <p:cNvPr id="21" name="TextBox 20">
            <a:extLst>
              <a:ext uri="{FF2B5EF4-FFF2-40B4-BE49-F238E27FC236}">
                <a16:creationId xmlns:a16="http://schemas.microsoft.com/office/drawing/2014/main" id="{CF75E706-D66F-064F-E482-529AD4B59AF6}"/>
              </a:ext>
            </a:extLst>
          </p:cNvPr>
          <p:cNvSpPr txBox="1"/>
          <p:nvPr/>
        </p:nvSpPr>
        <p:spPr>
          <a:xfrm>
            <a:off x="6477000" y="1098550"/>
            <a:ext cx="5626100" cy="369332"/>
          </a:xfrm>
          <a:prstGeom prst="rect">
            <a:avLst/>
          </a:prstGeom>
          <a:noFill/>
        </p:spPr>
        <p:txBody>
          <a:bodyPr wrap="square" rtlCol="0">
            <a:spAutoFit/>
          </a:bodyPr>
          <a:lstStyle/>
          <a:p>
            <a:r>
              <a:rPr lang="en-US" b="1" dirty="0">
                <a:solidFill>
                  <a:srgbClr val="FF0000"/>
                </a:solidFill>
                <a:latin typeface="Segoe UI"/>
              </a:rPr>
              <a:t>Understanding the entity behavior to its own path. </a:t>
            </a:r>
          </a:p>
        </p:txBody>
      </p:sp>
      <p:sp>
        <p:nvSpPr>
          <p:cNvPr id="23" name="Rectangle 22">
            <a:extLst>
              <a:ext uri="{FF2B5EF4-FFF2-40B4-BE49-F238E27FC236}">
                <a16:creationId xmlns:a16="http://schemas.microsoft.com/office/drawing/2014/main" id="{5B39674D-4A1D-65BB-B611-3EEC889F1B35}"/>
              </a:ext>
            </a:extLst>
          </p:cNvPr>
          <p:cNvSpPr/>
          <p:nvPr/>
        </p:nvSpPr>
        <p:spPr>
          <a:xfrm>
            <a:off x="0" y="0"/>
            <a:ext cx="12191695" cy="146304"/>
          </a:xfrm>
          <a:prstGeom prst="rect">
            <a:avLst/>
          </a:prstGeom>
          <a:solidFill>
            <a:srgbClr val="0021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a:extLst>
              <a:ext uri="{FF2B5EF4-FFF2-40B4-BE49-F238E27FC236}">
                <a16:creationId xmlns:a16="http://schemas.microsoft.com/office/drawing/2014/main" id="{A57E851C-62A5-CA51-C2D3-30DDFDE36151}"/>
              </a:ext>
            </a:extLst>
          </p:cNvPr>
          <p:cNvSpPr/>
          <p:nvPr/>
        </p:nvSpPr>
        <p:spPr>
          <a:xfrm>
            <a:off x="411480" y="6446520"/>
            <a:ext cx="11338560" cy="9144"/>
          </a:xfrm>
          <a:prstGeom prst="rect">
            <a:avLst/>
          </a:prstGeom>
          <a:solidFill>
            <a:srgbClr val="D2DA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4">
            <a:extLst>
              <a:ext uri="{FF2B5EF4-FFF2-40B4-BE49-F238E27FC236}">
                <a16:creationId xmlns:a16="http://schemas.microsoft.com/office/drawing/2014/main" id="{3A3BF7CD-28E5-A3B5-86AE-30022424ED6B}"/>
              </a:ext>
            </a:extLst>
          </p:cNvPr>
          <p:cNvSpPr/>
          <p:nvPr/>
        </p:nvSpPr>
        <p:spPr>
          <a:xfrm>
            <a:off x="438912" y="6510528"/>
            <a:ext cx="80467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CONFIDENTIAL  |  22</a:t>
            </a:r>
            <a:r>
              <a:rPr kumimoji="0" lang="en-US" sz="800" b="0" i="0" u="none" strike="noStrike" kern="1200" cap="none" spc="0" normalizeH="0" baseline="30000" noProof="0" dirty="0">
                <a:ln>
                  <a:noFill/>
                </a:ln>
                <a:solidFill>
                  <a:srgbClr val="5B6470"/>
                </a:solidFill>
                <a:effectLst/>
                <a:uLnTx/>
                <a:uFillTx/>
                <a:latin typeface="Segoe UI"/>
                <a:ea typeface="Aptos" pitchFamily="34" charset="-122"/>
                <a:cs typeface="Aptos" pitchFamily="34" charset="-120"/>
              </a:rPr>
              <a:t>nd</a:t>
            </a: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 Century Technologies  |  DLA EDM Vector Intelligence</a:t>
            </a:r>
            <a:endParaRPr kumimoji="0" lang="en-US" sz="800" b="0" i="0" u="none" strike="noStrike" kern="1200" cap="none" spc="0" normalizeH="0" baseline="0" noProof="0" dirty="0">
              <a:ln>
                <a:noFill/>
              </a:ln>
              <a:solidFill>
                <a:prstClr val="black"/>
              </a:solidFill>
              <a:effectLst/>
              <a:uLnTx/>
              <a:uFillTx/>
              <a:ea typeface="+mn-ea"/>
              <a:cs typeface="+mn-cs"/>
            </a:endParaRPr>
          </a:p>
        </p:txBody>
      </p:sp>
      <p:sp>
        <p:nvSpPr>
          <p:cNvPr id="28" name="Rectangle 27">
            <a:extLst>
              <a:ext uri="{FF2B5EF4-FFF2-40B4-BE49-F238E27FC236}">
                <a16:creationId xmlns:a16="http://schemas.microsoft.com/office/drawing/2014/main" id="{985273F4-812A-C8D3-313A-AB33C24703A5}"/>
              </a:ext>
            </a:extLst>
          </p:cNvPr>
          <p:cNvSpPr/>
          <p:nvPr/>
        </p:nvSpPr>
        <p:spPr>
          <a:xfrm>
            <a:off x="502920" y="1120140"/>
            <a:ext cx="1106424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extLst>
    <p:ext uri="{6950BFC3-D8DA-4A85-94F7-54DA5524770B}">
      <p188:commentRel xmlns:p188="http://schemas.microsoft.com/office/powerpoint/2018/8/main" r:id="rId3"/>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92608"/>
            <a:ext cx="10058400" cy="502920"/>
          </a:xfrm>
          <a:prstGeom prst="rect">
            <a:avLst/>
          </a:prstGeom>
          <a:noFill/>
        </p:spPr>
        <p:txBody>
          <a:bodyPr wrap="square" lIns="25400" tIns="12700" rIns="25400" bIns="12700" anchor="t">
            <a:spAutoFit/>
          </a:bodyPr>
          <a:lstStyle/>
          <a:p>
            <a:pPr algn="l">
              <a:spcAft>
                <a:spcPts val="400"/>
              </a:spcAft>
            </a:pPr>
            <a:r>
              <a:rPr sz="2100" b="1" i="0">
                <a:solidFill>
                  <a:srgbClr val="102A4C"/>
                </a:solidFill>
                <a:latin typeface="Segoe UI"/>
              </a:rPr>
              <a:t>Deployment options — what it takes to run on DLA data</a:t>
            </a:r>
          </a:p>
        </p:txBody>
      </p:sp>
      <p:sp>
        <p:nvSpPr>
          <p:cNvPr id="4" name="TextBox 3"/>
          <p:cNvSpPr txBox="1"/>
          <p:nvPr/>
        </p:nvSpPr>
        <p:spPr>
          <a:xfrm>
            <a:off x="457200" y="841248"/>
            <a:ext cx="11274552" cy="365760"/>
          </a:xfrm>
          <a:prstGeom prst="rect">
            <a:avLst/>
          </a:prstGeom>
          <a:noFill/>
        </p:spPr>
        <p:txBody>
          <a:bodyPr wrap="square" lIns="25400" tIns="12700" rIns="25400" bIns="12700" anchor="t">
            <a:spAutoFit/>
          </a:bodyPr>
          <a:lstStyle/>
          <a:p>
            <a:pPr algn="l">
              <a:spcAft>
                <a:spcPts val="400"/>
              </a:spcAft>
            </a:pPr>
            <a:r>
              <a:rPr sz="1200" b="0" i="1">
                <a:solidFill>
                  <a:srgbClr val="1F5E9C"/>
                </a:solidFill>
                <a:latin typeface="Segoe UI"/>
              </a:rPr>
              <a:t>The MVP runs today in Docker; production needs DLA data, consistent identity, and an embedding model — cloud or on-prem / air-gapped.</a:t>
            </a:r>
          </a:p>
        </p:txBody>
      </p:sp>
      <p:sp>
        <p:nvSpPr>
          <p:cNvPr id="5" name="Rounded Rectangle 4"/>
          <p:cNvSpPr/>
          <p:nvPr/>
        </p:nvSpPr>
        <p:spPr>
          <a:xfrm>
            <a:off x="457200" y="1417320"/>
            <a:ext cx="2688336" cy="3079524"/>
          </a:xfrm>
          <a:prstGeom prst="roundRect">
            <a:avLst/>
          </a:prstGeom>
          <a:solidFill>
            <a:srgbClr val="EAF3FC"/>
          </a:solidFill>
          <a:ln w="19050">
            <a:solidFill>
              <a:srgbClr val="102A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57200" y="1417320"/>
            <a:ext cx="2688336" cy="384048"/>
          </a:xfrm>
          <a:prstGeom prst="round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417320"/>
            <a:ext cx="2688336" cy="384048"/>
          </a:xfrm>
          <a:prstGeom prst="rect">
            <a:avLst/>
          </a:prstGeom>
          <a:noFill/>
        </p:spPr>
        <p:txBody>
          <a:bodyPr wrap="square" lIns="25400" tIns="12700" rIns="25400" bIns="12700" anchor="ctr">
            <a:spAutoFit/>
          </a:bodyPr>
          <a:lstStyle/>
          <a:p>
            <a:pPr algn="ctr">
              <a:spcAft>
                <a:spcPts val="400"/>
              </a:spcAft>
            </a:pPr>
            <a:r>
              <a:rPr sz="1150" b="1" i="0">
                <a:solidFill>
                  <a:srgbClr val="FFFFFF"/>
                </a:solidFill>
                <a:latin typeface="Segoe UI"/>
              </a:rPr>
              <a:t>DATA NEEDED</a:t>
            </a:r>
          </a:p>
        </p:txBody>
      </p:sp>
      <p:sp>
        <p:nvSpPr>
          <p:cNvPr id="8" name="TextBox 7"/>
          <p:cNvSpPr txBox="1"/>
          <p:nvPr/>
        </p:nvSpPr>
        <p:spPr>
          <a:xfrm>
            <a:off x="621792" y="1938528"/>
            <a:ext cx="2395728" cy="3657600"/>
          </a:xfrm>
          <a:prstGeom prst="rect">
            <a:avLst/>
          </a:prstGeom>
          <a:noFill/>
        </p:spPr>
        <p:txBody>
          <a:bodyPr wrap="square" lIns="25400" tIns="12700" rIns="25400" bIns="12700" anchor="t">
            <a:spAutoFit/>
          </a:bodyPr>
          <a:lstStyle/>
          <a:p>
            <a:pPr algn="l">
              <a:spcAft>
                <a:spcPts val="700"/>
              </a:spcAft>
            </a:pPr>
            <a:r>
              <a:rPr sz="900" b="1" i="0" dirty="0">
                <a:solidFill>
                  <a:srgbClr val="102A4C"/>
                </a:solidFill>
                <a:latin typeface="Segoe UI"/>
              </a:rPr>
              <a:t>•  </a:t>
            </a:r>
            <a:r>
              <a:rPr sz="900" b="0" i="0" dirty="0">
                <a:solidFill>
                  <a:srgbClr val="1D2430"/>
                </a:solidFill>
                <a:latin typeface="Segoe UI"/>
              </a:rPr>
              <a:t>Requisition / demand history (NSN × depot, weekly; 2–3+ yrs)</a:t>
            </a:r>
          </a:p>
          <a:p>
            <a:pPr algn="l">
              <a:spcAft>
                <a:spcPts val="700"/>
              </a:spcAft>
            </a:pPr>
            <a:r>
              <a:rPr sz="900" b="1" i="0" dirty="0">
                <a:solidFill>
                  <a:srgbClr val="102A4C"/>
                </a:solidFill>
                <a:latin typeface="Segoe UI"/>
              </a:rPr>
              <a:t>•  </a:t>
            </a:r>
            <a:r>
              <a:rPr sz="900" b="0" i="0" dirty="0">
                <a:solidFill>
                  <a:srgbClr val="1D2430"/>
                </a:solidFill>
                <a:latin typeface="Segoe UI"/>
              </a:rPr>
              <a:t>Supplier &amp; lead-time records</a:t>
            </a:r>
          </a:p>
          <a:p>
            <a:pPr algn="l">
              <a:spcAft>
                <a:spcPts val="700"/>
              </a:spcAft>
            </a:pPr>
            <a:r>
              <a:rPr sz="900" b="1" i="0" dirty="0">
                <a:solidFill>
                  <a:srgbClr val="102A4C"/>
                </a:solidFill>
                <a:latin typeface="Segoe UI"/>
              </a:rPr>
              <a:t>•  </a:t>
            </a:r>
            <a:r>
              <a:rPr sz="900" b="0" i="0" dirty="0">
                <a:solidFill>
                  <a:srgbClr val="1D2430"/>
                </a:solidFill>
                <a:latin typeface="Segoe UI"/>
              </a:rPr>
              <a:t>Inventory positions over time (on-hand, safety stock)</a:t>
            </a:r>
          </a:p>
          <a:p>
            <a:pPr algn="l">
              <a:spcAft>
                <a:spcPts val="700"/>
              </a:spcAft>
            </a:pPr>
            <a:r>
              <a:rPr sz="900" b="1" i="0" dirty="0">
                <a:solidFill>
                  <a:srgbClr val="102A4C"/>
                </a:solidFill>
                <a:latin typeface="Segoe UI"/>
              </a:rPr>
              <a:t>•  </a:t>
            </a:r>
            <a:r>
              <a:rPr sz="900" b="0" i="0" dirty="0">
                <a:solidFill>
                  <a:srgbClr val="1D2430"/>
                </a:solidFill>
                <a:latin typeface="Segoe UI"/>
              </a:rPr>
              <a:t>Item master (criticality, unit price, category)</a:t>
            </a:r>
          </a:p>
          <a:p>
            <a:pPr algn="l">
              <a:spcAft>
                <a:spcPts val="700"/>
              </a:spcAft>
            </a:pPr>
            <a:r>
              <a:rPr sz="900" b="1" i="0" dirty="0">
                <a:solidFill>
                  <a:srgbClr val="102A4C"/>
                </a:solidFill>
                <a:latin typeface="Segoe UI"/>
              </a:rPr>
              <a:t>•  </a:t>
            </a:r>
            <a:r>
              <a:rPr sz="900" b="0" i="0" dirty="0">
                <a:solidFill>
                  <a:srgbClr val="1D2430"/>
                </a:solidFill>
                <a:latin typeface="Segoe UI"/>
              </a:rPr>
              <a:t>Exercise / OPTEMPO calendar (high-value)</a:t>
            </a:r>
          </a:p>
          <a:p>
            <a:pPr algn="l">
              <a:spcAft>
                <a:spcPts val="700"/>
              </a:spcAft>
            </a:pPr>
            <a:r>
              <a:rPr sz="900" b="1" i="0" dirty="0">
                <a:solidFill>
                  <a:srgbClr val="102A4C"/>
                </a:solidFill>
                <a:latin typeface="Segoe UI"/>
              </a:rPr>
              <a:t>•  </a:t>
            </a:r>
            <a:r>
              <a:rPr sz="900" b="0" i="0" dirty="0">
                <a:solidFill>
                  <a:srgbClr val="1D2430"/>
                </a:solidFill>
                <a:latin typeface="Segoe UI"/>
              </a:rPr>
              <a:t>Point-in-time snapshots — avoids look-ahead leakage</a:t>
            </a:r>
          </a:p>
        </p:txBody>
      </p:sp>
      <p:sp>
        <p:nvSpPr>
          <p:cNvPr id="9" name="Rounded Rectangle 8"/>
          <p:cNvSpPr/>
          <p:nvPr/>
        </p:nvSpPr>
        <p:spPr>
          <a:xfrm>
            <a:off x="3264408" y="1417320"/>
            <a:ext cx="2688336" cy="3079524"/>
          </a:xfrm>
          <a:prstGeom prst="roundRect">
            <a:avLst/>
          </a:prstGeom>
          <a:solidFill>
            <a:srgbClr val="EFEAFB"/>
          </a:solidFill>
          <a:ln w="19050">
            <a:solidFill>
              <a:srgbClr val="5B21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264408" y="1417320"/>
            <a:ext cx="2688336" cy="384048"/>
          </a:xfrm>
          <a:prstGeom prst="round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64408" y="1417320"/>
            <a:ext cx="2688336" cy="384048"/>
          </a:xfrm>
          <a:prstGeom prst="rect">
            <a:avLst/>
          </a:prstGeom>
          <a:noFill/>
        </p:spPr>
        <p:txBody>
          <a:bodyPr wrap="square" lIns="25400" tIns="12700" rIns="25400" bIns="12700" anchor="ctr">
            <a:spAutoFit/>
          </a:bodyPr>
          <a:lstStyle/>
          <a:p>
            <a:pPr algn="ctr">
              <a:spcAft>
                <a:spcPts val="400"/>
              </a:spcAft>
            </a:pPr>
            <a:r>
              <a:rPr sz="1150" b="1" i="0">
                <a:solidFill>
                  <a:srgbClr val="FFFFFF"/>
                </a:solidFill>
                <a:latin typeface="Segoe UI"/>
              </a:rPr>
              <a:t>DATA QUALITY</a:t>
            </a:r>
          </a:p>
        </p:txBody>
      </p:sp>
      <p:sp>
        <p:nvSpPr>
          <p:cNvPr id="12" name="TextBox 11"/>
          <p:cNvSpPr txBox="1"/>
          <p:nvPr/>
        </p:nvSpPr>
        <p:spPr>
          <a:xfrm>
            <a:off x="3429000" y="1938528"/>
            <a:ext cx="2395728" cy="3657600"/>
          </a:xfrm>
          <a:prstGeom prst="rect">
            <a:avLst/>
          </a:prstGeom>
          <a:noFill/>
        </p:spPr>
        <p:txBody>
          <a:bodyPr wrap="square" lIns="25400" tIns="12700" rIns="25400" bIns="12700" anchor="t">
            <a:spAutoFit/>
          </a:bodyPr>
          <a:lstStyle/>
          <a:p>
            <a:pPr algn="l">
              <a:spcAft>
                <a:spcPts val="700"/>
              </a:spcAft>
            </a:pPr>
            <a:r>
              <a:rPr sz="900" b="1" i="0" dirty="0">
                <a:solidFill>
                  <a:srgbClr val="5B21B6"/>
                </a:solidFill>
                <a:latin typeface="Segoe UI"/>
              </a:rPr>
              <a:t>•  </a:t>
            </a:r>
            <a:r>
              <a:rPr sz="900" b="0" i="0" dirty="0">
                <a:solidFill>
                  <a:srgbClr val="1D2430"/>
                </a:solidFill>
                <a:latin typeface="Segoe UI"/>
              </a:rPr>
              <a:t>Consistent NSN &amp; DODAAC identity — the #1 prerequisite</a:t>
            </a:r>
          </a:p>
          <a:p>
            <a:pPr algn="l">
              <a:spcAft>
                <a:spcPts val="700"/>
              </a:spcAft>
            </a:pPr>
            <a:r>
              <a:rPr sz="900" b="1" i="0" dirty="0">
                <a:solidFill>
                  <a:srgbClr val="5B21B6"/>
                </a:solidFill>
                <a:latin typeface="Segoe UI"/>
              </a:rPr>
              <a:t>•  </a:t>
            </a:r>
            <a:r>
              <a:rPr sz="900" b="0" i="0" dirty="0">
                <a:solidFill>
                  <a:srgbClr val="1D2430"/>
                </a:solidFill>
                <a:latin typeface="Segoe UI"/>
              </a:rPr>
              <a:t>Time-stamped, append-only history (snapshots, not overwrites)</a:t>
            </a:r>
          </a:p>
          <a:p>
            <a:pPr algn="l">
              <a:spcAft>
                <a:spcPts val="700"/>
              </a:spcAft>
            </a:pPr>
            <a:r>
              <a:rPr sz="900" b="1" i="0" dirty="0">
                <a:solidFill>
                  <a:srgbClr val="5B21B6"/>
                </a:solidFill>
                <a:latin typeface="Segoe UI"/>
              </a:rPr>
              <a:t>•  </a:t>
            </a:r>
            <a:r>
              <a:rPr sz="900" b="0" i="0" dirty="0">
                <a:solidFill>
                  <a:srgbClr val="1D2430"/>
                </a:solidFill>
                <a:latin typeface="Segoe UI"/>
              </a:rPr>
              <a:t>12+ months for cohorts; 16–23 monthly snapshots for drift</a:t>
            </a:r>
          </a:p>
          <a:p>
            <a:pPr algn="l">
              <a:spcAft>
                <a:spcPts val="700"/>
              </a:spcAft>
            </a:pPr>
            <a:r>
              <a:rPr sz="900" b="1" i="0" dirty="0">
                <a:solidFill>
                  <a:srgbClr val="5B21B6"/>
                </a:solidFill>
                <a:latin typeface="Segoe UI"/>
              </a:rPr>
              <a:t>•  </a:t>
            </a:r>
            <a:r>
              <a:rPr sz="900" b="0" i="0" dirty="0">
                <a:solidFill>
                  <a:srgbClr val="1D2430"/>
                </a:solidFill>
                <a:latin typeface="Segoe UI"/>
              </a:rPr>
              <a:t>Cancellations / backorders flagged; gaps minimal</a:t>
            </a:r>
          </a:p>
          <a:p>
            <a:pPr algn="l">
              <a:spcAft>
                <a:spcPts val="700"/>
              </a:spcAft>
            </a:pPr>
            <a:r>
              <a:rPr sz="900" b="1" i="0" dirty="0">
                <a:solidFill>
                  <a:srgbClr val="5B21B6"/>
                </a:solidFill>
                <a:latin typeface="Segoe UI"/>
              </a:rPr>
              <a:t>•  </a:t>
            </a:r>
            <a:r>
              <a:rPr sz="900" b="0" i="0" dirty="0">
                <a:solidFill>
                  <a:srgbClr val="1D2430"/>
                </a:solidFill>
                <a:latin typeface="Segoe UI"/>
              </a:rPr>
              <a:t>Known units &amp; a data dictionary</a:t>
            </a:r>
          </a:p>
          <a:p>
            <a:pPr algn="l">
              <a:spcAft>
                <a:spcPts val="700"/>
              </a:spcAft>
            </a:pPr>
            <a:r>
              <a:rPr sz="900" b="1" i="0" dirty="0">
                <a:solidFill>
                  <a:srgbClr val="5B21B6"/>
                </a:solidFill>
                <a:latin typeface="Segoe UI"/>
              </a:rPr>
              <a:t>•  </a:t>
            </a:r>
            <a:r>
              <a:rPr sz="900" b="0" i="0" dirty="0">
                <a:solidFill>
                  <a:srgbClr val="1D2430"/>
                </a:solidFill>
                <a:latin typeface="Segoe UI"/>
              </a:rPr>
              <a:t>Model is only as good as identity + history quality</a:t>
            </a:r>
          </a:p>
        </p:txBody>
      </p:sp>
      <p:sp>
        <p:nvSpPr>
          <p:cNvPr id="13" name="Rounded Rectangle 12"/>
          <p:cNvSpPr/>
          <p:nvPr/>
        </p:nvSpPr>
        <p:spPr>
          <a:xfrm>
            <a:off x="6071616" y="1417320"/>
            <a:ext cx="2688336" cy="3079524"/>
          </a:xfrm>
          <a:prstGeom prst="roundRect">
            <a:avLst/>
          </a:prstGeom>
          <a:solidFill>
            <a:srgbClr val="ECF6F1"/>
          </a:solidFill>
          <a:ln w="19050">
            <a:solidFill>
              <a:srgbClr val="1184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071616" y="1417320"/>
            <a:ext cx="2688336" cy="384048"/>
          </a:xfrm>
          <a:prstGeom prst="roundRect">
            <a:avLst/>
          </a:prstGeom>
          <a:solidFill>
            <a:srgbClr val="1184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071616" y="1417320"/>
            <a:ext cx="2688336" cy="384048"/>
          </a:xfrm>
          <a:prstGeom prst="rect">
            <a:avLst/>
          </a:prstGeom>
          <a:noFill/>
        </p:spPr>
        <p:txBody>
          <a:bodyPr wrap="square" lIns="25400" tIns="12700" rIns="25400" bIns="12700" anchor="ctr">
            <a:spAutoFit/>
          </a:bodyPr>
          <a:lstStyle/>
          <a:p>
            <a:pPr algn="ctr">
              <a:spcAft>
                <a:spcPts val="400"/>
              </a:spcAft>
            </a:pPr>
            <a:r>
              <a:rPr sz="1150" b="1" i="0">
                <a:solidFill>
                  <a:srgbClr val="FFFFFF"/>
                </a:solidFill>
                <a:latin typeface="Segoe UI"/>
              </a:rPr>
              <a:t>HOSTING</a:t>
            </a:r>
          </a:p>
        </p:txBody>
      </p:sp>
      <p:sp>
        <p:nvSpPr>
          <p:cNvPr id="16" name="TextBox 15"/>
          <p:cNvSpPr txBox="1"/>
          <p:nvPr/>
        </p:nvSpPr>
        <p:spPr>
          <a:xfrm>
            <a:off x="6236207" y="1938528"/>
            <a:ext cx="2395728" cy="3657600"/>
          </a:xfrm>
          <a:prstGeom prst="rect">
            <a:avLst/>
          </a:prstGeom>
          <a:noFill/>
        </p:spPr>
        <p:txBody>
          <a:bodyPr wrap="square" lIns="25400" tIns="12700" rIns="25400" bIns="12700" anchor="t">
            <a:spAutoFit/>
          </a:bodyPr>
          <a:lstStyle/>
          <a:p>
            <a:pPr algn="l">
              <a:spcAft>
                <a:spcPts val="700"/>
              </a:spcAft>
            </a:pPr>
            <a:r>
              <a:rPr sz="900" b="1" i="0">
                <a:solidFill>
                  <a:srgbClr val="118484"/>
                </a:solidFill>
                <a:latin typeface="Segoe UI"/>
              </a:rPr>
              <a:t>•  </a:t>
            </a:r>
            <a:r>
              <a:rPr sz="900" b="0" i="0">
                <a:solidFill>
                  <a:srgbClr val="1D2430"/>
                </a:solidFill>
                <a:latin typeface="Segoe UI"/>
              </a:rPr>
              <a:t>Runs in Docker — portable (database + API + app)</a:t>
            </a:r>
          </a:p>
          <a:p>
            <a:pPr algn="l">
              <a:spcAft>
                <a:spcPts val="700"/>
              </a:spcAft>
            </a:pPr>
            <a:r>
              <a:rPr sz="900" b="1" i="0">
                <a:solidFill>
                  <a:srgbClr val="118484"/>
                </a:solidFill>
                <a:latin typeface="Segoe UI"/>
              </a:rPr>
              <a:t>•  </a:t>
            </a:r>
            <a:r>
              <a:rPr sz="900" b="0" i="0">
                <a:solidFill>
                  <a:srgbClr val="1D2430"/>
                </a:solidFill>
                <a:latin typeface="Segoe UI"/>
              </a:rPr>
              <a:t>On-prem, IL4/IL5 cloud (AWS / Azure Gov), or DLA enclave</a:t>
            </a:r>
          </a:p>
          <a:p>
            <a:pPr algn="l">
              <a:spcAft>
                <a:spcPts val="700"/>
              </a:spcAft>
            </a:pPr>
            <a:r>
              <a:rPr sz="900" b="1" i="0">
                <a:solidFill>
                  <a:srgbClr val="118484"/>
                </a:solidFill>
                <a:latin typeface="Segoe UI"/>
              </a:rPr>
              <a:t>•  </a:t>
            </a:r>
            <a:r>
              <a:rPr sz="900" b="0" i="0">
                <a:solidFill>
                  <a:srgbClr val="1D2430"/>
                </a:solidFill>
                <a:latin typeface="Segoe UI"/>
              </a:rPr>
              <a:t>PostgreSQL + pgvector stores the embeddings</a:t>
            </a:r>
          </a:p>
          <a:p>
            <a:pPr algn="l">
              <a:spcAft>
                <a:spcPts val="700"/>
              </a:spcAft>
            </a:pPr>
            <a:r>
              <a:rPr sz="900" b="1" i="0">
                <a:solidFill>
                  <a:srgbClr val="118484"/>
                </a:solidFill>
                <a:latin typeface="Segoe UI"/>
              </a:rPr>
              <a:t>•  </a:t>
            </a:r>
            <a:r>
              <a:rPr sz="900" b="0" i="0">
                <a:solidFill>
                  <a:srgbClr val="1D2430"/>
                </a:solidFill>
                <a:latin typeface="Segoe UI"/>
              </a:rPr>
              <a:t>CPU is enough for the model (GPU optional)</a:t>
            </a:r>
          </a:p>
          <a:p>
            <a:pPr algn="l">
              <a:spcAft>
                <a:spcPts val="700"/>
              </a:spcAft>
            </a:pPr>
            <a:r>
              <a:rPr sz="900" b="1" i="0">
                <a:solidFill>
                  <a:srgbClr val="118484"/>
                </a:solidFill>
                <a:latin typeface="Segoe UI"/>
              </a:rPr>
              <a:t>•  </a:t>
            </a:r>
            <a:r>
              <a:rPr sz="900" b="0" i="0">
                <a:solidFill>
                  <a:srgbClr val="1D2430"/>
                </a:solidFill>
                <a:latin typeface="Segoe UI"/>
              </a:rPr>
              <a:t>Batch refresh — nightly or weekly</a:t>
            </a:r>
          </a:p>
          <a:p>
            <a:pPr algn="l">
              <a:spcAft>
                <a:spcPts val="700"/>
              </a:spcAft>
            </a:pPr>
            <a:r>
              <a:rPr sz="900" b="1" i="0">
                <a:solidFill>
                  <a:srgbClr val="118484"/>
                </a:solidFill>
                <a:latin typeface="Segoe UI"/>
              </a:rPr>
              <a:t>•  </a:t>
            </a:r>
            <a:r>
              <a:rPr sz="900" b="0" i="0">
                <a:solidFill>
                  <a:srgbClr val="1D2430"/>
                </a:solidFill>
                <a:latin typeface="Segoe UI"/>
              </a:rPr>
              <a:t>Air-gapped deployment supported (see AI / LLM)</a:t>
            </a:r>
          </a:p>
        </p:txBody>
      </p:sp>
      <p:sp>
        <p:nvSpPr>
          <p:cNvPr id="17" name="Rounded Rectangle 16"/>
          <p:cNvSpPr/>
          <p:nvPr/>
        </p:nvSpPr>
        <p:spPr>
          <a:xfrm>
            <a:off x="8878824" y="1417320"/>
            <a:ext cx="2688336" cy="3079524"/>
          </a:xfrm>
          <a:prstGeom prst="roundRect">
            <a:avLst/>
          </a:prstGeom>
          <a:solidFill>
            <a:srgbClr val="FBF1E3"/>
          </a:solidFill>
          <a:ln w="19050">
            <a:solidFill>
              <a:srgbClr val="F36C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8878824" y="1417320"/>
            <a:ext cx="2688336" cy="384048"/>
          </a:xfrm>
          <a:prstGeom prst="roundRect">
            <a:avLst/>
          </a:prstGeom>
          <a:solidFill>
            <a:srgbClr val="F36C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878824" y="1417320"/>
            <a:ext cx="2688336" cy="384048"/>
          </a:xfrm>
          <a:prstGeom prst="rect">
            <a:avLst/>
          </a:prstGeom>
          <a:noFill/>
        </p:spPr>
        <p:txBody>
          <a:bodyPr wrap="square" lIns="25400" tIns="12700" rIns="25400" bIns="12700" anchor="ctr">
            <a:spAutoFit/>
          </a:bodyPr>
          <a:lstStyle/>
          <a:p>
            <a:pPr algn="ctr">
              <a:spcAft>
                <a:spcPts val="400"/>
              </a:spcAft>
            </a:pPr>
            <a:r>
              <a:rPr sz="1150" b="1" i="0">
                <a:solidFill>
                  <a:srgbClr val="FFFFFF"/>
                </a:solidFill>
                <a:latin typeface="Segoe UI"/>
              </a:rPr>
              <a:t>AI / LLM</a:t>
            </a:r>
          </a:p>
        </p:txBody>
      </p:sp>
      <p:sp>
        <p:nvSpPr>
          <p:cNvPr id="20" name="TextBox 19"/>
          <p:cNvSpPr txBox="1"/>
          <p:nvPr/>
        </p:nvSpPr>
        <p:spPr>
          <a:xfrm>
            <a:off x="9043415" y="1938528"/>
            <a:ext cx="2395728" cy="3657600"/>
          </a:xfrm>
          <a:prstGeom prst="rect">
            <a:avLst/>
          </a:prstGeom>
          <a:noFill/>
        </p:spPr>
        <p:txBody>
          <a:bodyPr wrap="square" lIns="25400" tIns="12700" rIns="25400" bIns="12700" anchor="t">
            <a:spAutoFit/>
          </a:bodyPr>
          <a:lstStyle/>
          <a:p>
            <a:pPr algn="l">
              <a:spcAft>
                <a:spcPts val="700"/>
              </a:spcAft>
            </a:pPr>
            <a:r>
              <a:rPr sz="900" b="1" i="0">
                <a:solidFill>
                  <a:srgbClr val="F36C21"/>
                </a:solidFill>
                <a:latin typeface="Segoe UI"/>
              </a:rPr>
              <a:t>•  </a:t>
            </a:r>
            <a:r>
              <a:rPr sz="900" b="0" i="0">
                <a:solidFill>
                  <a:srgbClr val="1D2430"/>
                </a:solidFill>
                <a:latin typeface="Segoe UI"/>
              </a:rPr>
              <a:t>Embeddings: text-embedding-3 (1,536-d) — cloud OR self-hosted</a:t>
            </a:r>
          </a:p>
          <a:p>
            <a:pPr algn="l">
              <a:spcAft>
                <a:spcPts val="700"/>
              </a:spcAft>
            </a:pPr>
            <a:r>
              <a:rPr sz="900" b="1" i="0">
                <a:solidFill>
                  <a:srgbClr val="F36C21"/>
                </a:solidFill>
                <a:latin typeface="Segoe UI"/>
              </a:rPr>
              <a:t>•  </a:t>
            </a:r>
            <a:r>
              <a:rPr sz="900" b="0" i="0">
                <a:solidFill>
                  <a:srgbClr val="1D2430"/>
                </a:solidFill>
                <a:latin typeface="Segoe UI"/>
              </a:rPr>
              <a:t>No LLM in the forecast itself (it is a LightGBM model)</a:t>
            </a:r>
          </a:p>
          <a:p>
            <a:pPr algn="l">
              <a:spcAft>
                <a:spcPts val="700"/>
              </a:spcAft>
            </a:pPr>
            <a:r>
              <a:rPr sz="900" b="1" i="0">
                <a:solidFill>
                  <a:srgbClr val="F36C21"/>
                </a:solidFill>
                <a:latin typeface="Segoe UI"/>
              </a:rPr>
              <a:t>•  </a:t>
            </a:r>
            <a:r>
              <a:rPr sz="900" b="0" i="0">
                <a:solidFill>
                  <a:srgbClr val="1D2430"/>
                </a:solidFill>
                <a:latin typeface="Segoe UI"/>
              </a:rPr>
              <a:t>LLM optional — only for plain-English “why” explanations</a:t>
            </a:r>
          </a:p>
          <a:p>
            <a:pPr algn="l">
              <a:spcAft>
                <a:spcPts val="700"/>
              </a:spcAft>
            </a:pPr>
            <a:r>
              <a:rPr sz="900" b="1" i="0">
                <a:solidFill>
                  <a:srgbClr val="F36C21"/>
                </a:solidFill>
                <a:latin typeface="Segoe UI"/>
              </a:rPr>
              <a:t>•  </a:t>
            </a:r>
            <a:r>
              <a:rPr sz="900" b="0" i="0">
                <a:solidFill>
                  <a:srgbClr val="1D2430"/>
                </a:solidFill>
                <a:latin typeface="Segoe UI"/>
              </a:rPr>
              <a:t>Embedding calls are batched, cheap, incremental</a:t>
            </a:r>
          </a:p>
          <a:p>
            <a:pPr algn="l">
              <a:spcAft>
                <a:spcPts val="700"/>
              </a:spcAft>
            </a:pPr>
            <a:r>
              <a:rPr sz="900" b="1" i="0">
                <a:solidFill>
                  <a:srgbClr val="F36C21"/>
                </a:solidFill>
                <a:latin typeface="Segoe UI"/>
              </a:rPr>
              <a:t>•  </a:t>
            </a:r>
            <a:r>
              <a:rPr sz="900" b="0" i="0">
                <a:solidFill>
                  <a:srgbClr val="1D2430"/>
                </a:solidFill>
                <a:latin typeface="Segoe UI"/>
              </a:rPr>
              <a:t>Self-hosted embedding model for IL5 / air-gapped</a:t>
            </a:r>
          </a:p>
          <a:p>
            <a:pPr algn="l">
              <a:spcAft>
                <a:spcPts val="700"/>
              </a:spcAft>
            </a:pPr>
            <a:r>
              <a:rPr sz="900" b="1" i="0">
                <a:solidFill>
                  <a:srgbClr val="F36C21"/>
                </a:solidFill>
                <a:latin typeface="Segoe UI"/>
              </a:rPr>
              <a:t>•  </a:t>
            </a:r>
            <a:r>
              <a:rPr sz="900" b="0" i="0">
                <a:solidFill>
                  <a:srgbClr val="1D2430"/>
                </a:solidFill>
                <a:latin typeface="Segoe UI"/>
              </a:rPr>
              <a:t>No external AI dependency required in production</a:t>
            </a:r>
          </a:p>
        </p:txBody>
      </p:sp>
      <p:sp>
        <p:nvSpPr>
          <p:cNvPr id="21" name="Rounded Rectangle 20"/>
          <p:cNvSpPr/>
          <p:nvPr/>
        </p:nvSpPr>
        <p:spPr>
          <a:xfrm>
            <a:off x="457200" y="5897880"/>
            <a:ext cx="11274552" cy="457200"/>
          </a:xfrm>
          <a:prstGeom prst="round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200" y="5897880"/>
            <a:ext cx="11274552" cy="457200"/>
          </a:xfrm>
          <a:prstGeom prst="rect">
            <a:avLst/>
          </a:prstGeom>
          <a:noFill/>
        </p:spPr>
        <p:txBody>
          <a:bodyPr wrap="square" lIns="25400" tIns="12700" rIns="25400" bIns="12700" anchor="ctr">
            <a:spAutoFit/>
          </a:bodyPr>
          <a:lstStyle/>
          <a:p>
            <a:pPr algn="ctr">
              <a:spcAft>
                <a:spcPts val="400"/>
              </a:spcAft>
            </a:pPr>
            <a:r>
              <a:rPr sz="1000" b="1" i="0">
                <a:solidFill>
                  <a:srgbClr val="FFFFFF"/>
                </a:solidFill>
                <a:latin typeface="Segoe UI"/>
              </a:rPr>
              <a:t>Forecasting uses LightGBM — no LLM required.  An LLM is optional, only for plain-English explanations.  Embeddings run in the cloud or self-hosted for IL5 / air-gapped — no external AI dependency in production.</a:t>
            </a:r>
          </a:p>
        </p:txBody>
      </p:sp>
      <p:sp>
        <p:nvSpPr>
          <p:cNvPr id="24" name="TextBox 23"/>
          <p:cNvSpPr txBox="1"/>
          <p:nvPr/>
        </p:nvSpPr>
        <p:spPr>
          <a:xfrm>
            <a:off x="11274552" y="6455664"/>
            <a:ext cx="457200" cy="156453"/>
          </a:xfrm>
          <a:prstGeom prst="rect">
            <a:avLst/>
          </a:prstGeom>
          <a:noFill/>
        </p:spPr>
        <p:txBody>
          <a:bodyPr wrap="square" lIns="25400" tIns="12700" rIns="25400" bIns="12700" anchor="t">
            <a:spAutoFit/>
          </a:bodyPr>
          <a:lstStyle/>
          <a:p>
            <a:pPr algn="r">
              <a:spcAft>
                <a:spcPts val="400"/>
              </a:spcAft>
            </a:pPr>
            <a:r>
              <a:rPr lang="en-US" sz="850" b="0" i="0" dirty="0">
                <a:solidFill>
                  <a:srgbClr val="646F7C"/>
                </a:solidFill>
                <a:latin typeface="Segoe UI"/>
              </a:rPr>
              <a:t>19</a:t>
            </a:r>
            <a:endParaRPr sz="1000" b="0" i="0" dirty="0">
              <a:solidFill>
                <a:srgbClr val="5E6A75"/>
              </a:solidFill>
              <a:latin typeface="Segoe UI"/>
            </a:endParaRPr>
          </a:p>
        </p:txBody>
      </p:sp>
      <p:sp>
        <p:nvSpPr>
          <p:cNvPr id="26" name="Rectangle 25">
            <a:extLst>
              <a:ext uri="{FF2B5EF4-FFF2-40B4-BE49-F238E27FC236}">
                <a16:creationId xmlns:a16="http://schemas.microsoft.com/office/drawing/2014/main" id="{CB1578FE-2EE4-6B3C-36D1-42436685F231}"/>
              </a:ext>
            </a:extLst>
          </p:cNvPr>
          <p:cNvSpPr/>
          <p:nvPr/>
        </p:nvSpPr>
        <p:spPr>
          <a:xfrm>
            <a:off x="0" y="0"/>
            <a:ext cx="12191695" cy="146304"/>
          </a:xfrm>
          <a:prstGeom prst="rect">
            <a:avLst/>
          </a:prstGeom>
          <a:solidFill>
            <a:srgbClr val="0021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a:extLst>
              <a:ext uri="{FF2B5EF4-FFF2-40B4-BE49-F238E27FC236}">
                <a16:creationId xmlns:a16="http://schemas.microsoft.com/office/drawing/2014/main" id="{8A0C8EEB-B830-DFD8-0658-AC6E37C81186}"/>
              </a:ext>
            </a:extLst>
          </p:cNvPr>
          <p:cNvSpPr/>
          <p:nvPr/>
        </p:nvSpPr>
        <p:spPr>
          <a:xfrm>
            <a:off x="411480" y="6446520"/>
            <a:ext cx="11338560" cy="9144"/>
          </a:xfrm>
          <a:prstGeom prst="rect">
            <a:avLst/>
          </a:prstGeom>
          <a:solidFill>
            <a:srgbClr val="D2DA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 4">
            <a:extLst>
              <a:ext uri="{FF2B5EF4-FFF2-40B4-BE49-F238E27FC236}">
                <a16:creationId xmlns:a16="http://schemas.microsoft.com/office/drawing/2014/main" id="{9455C1D7-27F0-C840-E64E-0765D9886FE0}"/>
              </a:ext>
            </a:extLst>
          </p:cNvPr>
          <p:cNvSpPr/>
          <p:nvPr/>
        </p:nvSpPr>
        <p:spPr>
          <a:xfrm>
            <a:off x="438912" y="6510528"/>
            <a:ext cx="80467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CONFIDENTIAL  |  22</a:t>
            </a:r>
            <a:r>
              <a:rPr kumimoji="0" lang="en-US" sz="800" b="0" i="0" u="none" strike="noStrike" kern="1200" cap="none" spc="0" normalizeH="0" baseline="30000" noProof="0" dirty="0">
                <a:ln>
                  <a:noFill/>
                </a:ln>
                <a:solidFill>
                  <a:srgbClr val="5B6470"/>
                </a:solidFill>
                <a:effectLst/>
                <a:uLnTx/>
                <a:uFillTx/>
                <a:latin typeface="Segoe UI"/>
                <a:ea typeface="Aptos" pitchFamily="34" charset="-122"/>
                <a:cs typeface="Aptos" pitchFamily="34" charset="-120"/>
              </a:rPr>
              <a:t>nd</a:t>
            </a: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 Century Technologies  |  DLA EDM Vector Intelligence</a:t>
            </a:r>
            <a:endParaRPr kumimoji="0" lang="en-US" sz="800" b="0" i="0" u="none" strike="noStrike" kern="1200" cap="none" spc="0" normalizeH="0" baseline="0" noProof="0" dirty="0">
              <a:ln>
                <a:noFill/>
              </a:ln>
              <a:solidFill>
                <a:prstClr val="black"/>
              </a:solidFill>
              <a:effectLst/>
              <a:uLnTx/>
              <a:uFillTx/>
              <a:ea typeface="+mn-ea"/>
              <a:cs typeface="+mn-cs"/>
            </a:endParaRPr>
          </a:p>
        </p:txBody>
      </p:sp>
      <p:sp>
        <p:nvSpPr>
          <p:cNvPr id="31" name="Rectangle 30">
            <a:extLst>
              <a:ext uri="{FF2B5EF4-FFF2-40B4-BE49-F238E27FC236}">
                <a16:creationId xmlns:a16="http://schemas.microsoft.com/office/drawing/2014/main" id="{36143B63-CCC8-CA21-59B0-272A0A7FE0AC}"/>
              </a:ext>
            </a:extLst>
          </p:cNvPr>
          <p:cNvSpPr/>
          <p:nvPr/>
        </p:nvSpPr>
        <p:spPr>
          <a:xfrm>
            <a:off x="502920" y="1120140"/>
            <a:ext cx="1106424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0058400" cy="457200"/>
          </a:xfrm>
          <a:prstGeom prst="rect">
            <a:avLst/>
          </a:prstGeom>
          <a:noFill/>
        </p:spPr>
        <p:txBody>
          <a:bodyPr wrap="square" lIns="38100" tIns="12700" rIns="38100" bIns="12700" anchor="t">
            <a:spAutoFit/>
          </a:bodyPr>
          <a:lstStyle/>
          <a:p>
            <a:pPr algn="l"/>
            <a:r>
              <a:rPr sz="2100" b="1" i="0">
                <a:solidFill>
                  <a:srgbClr val="102A4C"/>
                </a:solidFill>
                <a:latin typeface="Segoe UI"/>
              </a:rPr>
              <a:t>What goes INTO EDM Vector Intelligence — every data point explained</a:t>
            </a:r>
          </a:p>
        </p:txBody>
      </p:sp>
      <p:sp>
        <p:nvSpPr>
          <p:cNvPr id="4" name="TextBox 3"/>
          <p:cNvSpPr txBox="1"/>
          <p:nvPr/>
        </p:nvSpPr>
        <p:spPr>
          <a:xfrm>
            <a:off x="457200" y="786384"/>
            <a:ext cx="11274552" cy="320040"/>
          </a:xfrm>
          <a:prstGeom prst="rect">
            <a:avLst/>
          </a:prstGeom>
          <a:noFill/>
        </p:spPr>
        <p:txBody>
          <a:bodyPr wrap="square" lIns="38100" tIns="12700" rIns="38100" bIns="12700" anchor="t">
            <a:spAutoFit/>
          </a:bodyPr>
          <a:lstStyle/>
          <a:p>
            <a:pPr algn="l"/>
            <a:r>
              <a:rPr sz="1200" b="0" i="1">
                <a:solidFill>
                  <a:srgbClr val="1F5E9C"/>
                </a:solidFill>
                <a:latin typeface="Segoe UI"/>
              </a:rPr>
              <a:t>Legacy uses 1 data source (requisition history). EDM Vector Intelligence ingests 6 dimensions of data per item-depot pair.</a:t>
            </a:r>
          </a:p>
        </p:txBody>
      </p:sp>
      <p:sp>
        <p:nvSpPr>
          <p:cNvPr id="5" name="Rectangle 4"/>
          <p:cNvSpPr/>
          <p:nvPr/>
        </p:nvSpPr>
        <p:spPr>
          <a:xfrm>
            <a:off x="457200" y="1193388"/>
            <a:ext cx="3657600" cy="310896"/>
          </a:xfrm>
          <a:prstGeom prst="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lIns="101600" tIns="25400" bIns="25400" rtlCol="0" anchor="ctr"/>
          <a:lstStyle/>
          <a:p>
            <a:pPr algn="ctr"/>
            <a:r>
              <a:rPr sz="1100" b="1">
                <a:solidFill>
                  <a:srgbClr val="FFFFFF"/>
                </a:solidFill>
                <a:latin typeface="Segoe UI"/>
              </a:rPr>
              <a:t>A.  LightGBM MODEL INPUT — 25 features</a:t>
            </a:r>
          </a:p>
        </p:txBody>
      </p:sp>
      <p:graphicFrame>
        <p:nvGraphicFramePr>
          <p:cNvPr id="6" name="Table 5"/>
          <p:cNvGraphicFramePr>
            <a:graphicFrameLocks noGrp="1"/>
          </p:cNvGraphicFramePr>
          <p:nvPr/>
        </p:nvGraphicFramePr>
        <p:xfrm>
          <a:off x="457200" y="1517904"/>
          <a:ext cx="3657600" cy="3383280"/>
        </p:xfrm>
        <a:graphic>
          <a:graphicData uri="http://schemas.openxmlformats.org/drawingml/2006/table">
            <a:tbl>
              <a:tblPr>
                <a:tableStyleId>{5C22544A-7EE6-4342-B048-85BDC9FD1C3A}</a:tableStyleId>
              </a:tblPr>
              <a:tblGrid>
                <a:gridCol w="114300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tblGrid>
              <a:tr h="676656">
                <a:tc>
                  <a:txBody>
                    <a:bodyPr/>
                    <a:lstStyle/>
                    <a:p>
                      <a:pPr algn="l"/>
                      <a:r>
                        <a:rPr sz="900" b="1">
                          <a:solidFill>
                            <a:srgbClr val="102A4C"/>
                          </a:solidFill>
                          <a:latin typeface="Segoe UI"/>
                        </a:rPr>
                        <a:t>Category</a:t>
                      </a:r>
                    </a:p>
                  </a:txBody>
                  <a:tcPr marL="50800" marR="38100" marT="25400" marB="25400" anchor="ctr">
                    <a:solidFill>
                      <a:srgbClr val="ECF1F7"/>
                    </a:solidFill>
                  </a:tcPr>
                </a:tc>
                <a:tc>
                  <a:txBody>
                    <a:bodyPr/>
                    <a:lstStyle/>
                    <a:p>
                      <a:pPr algn="l"/>
                      <a:r>
                        <a:rPr sz="900" b="1">
                          <a:solidFill>
                            <a:srgbClr val="102A4C"/>
                          </a:solidFill>
                          <a:latin typeface="Segoe UI"/>
                        </a:rPr>
                        <a:t>Feature names</a:t>
                      </a:r>
                    </a:p>
                  </a:txBody>
                  <a:tcPr marL="50800" marR="38100" marT="25400" marB="25400" anchor="ctr">
                    <a:solidFill>
                      <a:srgbClr val="ECF1F7"/>
                    </a:solidFill>
                  </a:tcPr>
                </a:tc>
                <a:extLst>
                  <a:ext uri="{0D108BD9-81ED-4DB2-BD59-A6C34878D82A}">
                    <a16:rowId xmlns:a16="http://schemas.microsoft.com/office/drawing/2014/main" val="10000"/>
                  </a:ext>
                </a:extLst>
              </a:tr>
              <a:tr h="676656">
                <a:tc>
                  <a:txBody>
                    <a:bodyPr/>
                    <a:lstStyle/>
                    <a:p>
                      <a:pPr algn="l"/>
                      <a:r>
                        <a:rPr sz="850" b="1">
                          <a:solidFill>
                            <a:srgbClr val="102A4C"/>
                          </a:solidFill>
                          <a:latin typeface="Segoe UI"/>
                        </a:rPr>
                        <a:t>Demand History (10)</a:t>
                      </a:r>
                    </a:p>
                  </a:txBody>
                  <a:tcPr marL="50800" marR="38100" marT="25400" marB="25400" anchor="ctr">
                    <a:solidFill>
                      <a:srgbClr val="F6F9FC"/>
                    </a:solidFill>
                  </a:tcPr>
                </a:tc>
                <a:tc>
                  <a:txBody>
                    <a:bodyPr/>
                    <a:lstStyle/>
                    <a:p>
                      <a:pPr algn="l"/>
                      <a:r>
                        <a:rPr sz="800">
                          <a:solidFill>
                            <a:srgbClr val="118484"/>
                          </a:solidFill>
                          <a:latin typeface="Segoe UI"/>
                        </a:rPr>
                        <a:t>avg_qty_4w, avg_qty_13w, max_qty_13w, demand_freq_4w, demand_freq_13w, cv, adi, lumpy_flag, weeks_since_last, lifetime_demand_rate</a:t>
                      </a:r>
                    </a:p>
                  </a:txBody>
                  <a:tcPr marL="50800" marR="38100" marT="25400" marB="25400" anchor="ctr">
                    <a:solidFill>
                      <a:srgbClr val="F6F9FC"/>
                    </a:solidFill>
                  </a:tcPr>
                </a:tc>
                <a:extLst>
                  <a:ext uri="{0D108BD9-81ED-4DB2-BD59-A6C34878D82A}">
                    <a16:rowId xmlns:a16="http://schemas.microsoft.com/office/drawing/2014/main" val="10001"/>
                  </a:ext>
                </a:extLst>
              </a:tr>
              <a:tr h="676656">
                <a:tc>
                  <a:txBody>
                    <a:bodyPr/>
                    <a:lstStyle/>
                    <a:p>
                      <a:pPr algn="l"/>
                      <a:r>
                        <a:rPr sz="850" b="1">
                          <a:solidFill>
                            <a:srgbClr val="102A4C"/>
                          </a:solidFill>
                          <a:latin typeface="Segoe UI"/>
                        </a:rPr>
                        <a:t>Exercise Calendar (7)</a:t>
                      </a:r>
                    </a:p>
                  </a:txBody>
                  <a:tcPr marL="50800" marR="38100" marT="25400" marB="25400" anchor="ctr">
                    <a:solidFill>
                      <a:srgbClr val="FFFFFF"/>
                    </a:solidFill>
                  </a:tcPr>
                </a:tc>
                <a:tc>
                  <a:txBody>
                    <a:bodyPr/>
                    <a:lstStyle/>
                    <a:p>
                      <a:pPr algn="l"/>
                      <a:r>
                        <a:rPr sz="800">
                          <a:solidFill>
                            <a:srgbClr val="118484"/>
                          </a:solidFill>
                          <a:latin typeface="Segoe UI"/>
                        </a:rPr>
                        <a:t>exercise_active, days_until_exercise, exercise_intensity, x_avg_qty, x_freq, x_crit, days_since_end</a:t>
                      </a:r>
                    </a:p>
                  </a:txBody>
                  <a:tcPr marL="50800" marR="38100" marT="25400" marB="25400" anchor="ctr">
                    <a:solidFill>
                      <a:srgbClr val="FFFFFF"/>
                    </a:solidFill>
                  </a:tcPr>
                </a:tc>
                <a:extLst>
                  <a:ext uri="{0D108BD9-81ED-4DB2-BD59-A6C34878D82A}">
                    <a16:rowId xmlns:a16="http://schemas.microsoft.com/office/drawing/2014/main" val="10002"/>
                  </a:ext>
                </a:extLst>
              </a:tr>
              <a:tr h="676656">
                <a:tc>
                  <a:txBody>
                    <a:bodyPr/>
                    <a:lstStyle/>
                    <a:p>
                      <a:pPr algn="l"/>
                      <a:r>
                        <a:rPr sz="850" b="1">
                          <a:solidFill>
                            <a:srgbClr val="102A4C"/>
                          </a:solidFill>
                          <a:latin typeface="Segoe UI"/>
                        </a:rPr>
                        <a:t>Item &amp; Depot (4)</a:t>
                      </a:r>
                    </a:p>
                  </a:txBody>
                  <a:tcPr marL="50800" marR="38100" marT="25400" marB="25400" anchor="ctr">
                    <a:solidFill>
                      <a:srgbClr val="F6F9FC"/>
                    </a:solidFill>
                  </a:tcPr>
                </a:tc>
                <a:tc>
                  <a:txBody>
                    <a:bodyPr/>
                    <a:lstStyle/>
                    <a:p>
                      <a:pPr algn="l"/>
                      <a:r>
                        <a:rPr sz="800">
                          <a:solidFill>
                            <a:srgbClr val="118484"/>
                          </a:solidFill>
                          <a:latin typeface="Segoe UI"/>
                        </a:rPr>
                        <a:t>category_encoded, dodaac_encoded, criticality_encoded, unit_price_log</a:t>
                      </a:r>
                    </a:p>
                  </a:txBody>
                  <a:tcPr marL="50800" marR="38100" marT="25400" marB="25400" anchor="ctr">
                    <a:solidFill>
                      <a:srgbClr val="F6F9FC"/>
                    </a:solidFill>
                  </a:tcPr>
                </a:tc>
                <a:extLst>
                  <a:ext uri="{0D108BD9-81ED-4DB2-BD59-A6C34878D82A}">
                    <a16:rowId xmlns:a16="http://schemas.microsoft.com/office/drawing/2014/main" val="10003"/>
                  </a:ext>
                </a:extLst>
              </a:tr>
              <a:tr h="676656">
                <a:tc>
                  <a:txBody>
                    <a:bodyPr/>
                    <a:lstStyle/>
                    <a:p>
                      <a:pPr algn="l"/>
                      <a:r>
                        <a:rPr sz="850" b="1">
                          <a:solidFill>
                            <a:srgbClr val="102A4C"/>
                          </a:solidFill>
                          <a:latin typeface="Segoe UI"/>
                        </a:rPr>
                        <a:t>Fiscal &amp; Temporal (4)</a:t>
                      </a:r>
                    </a:p>
                  </a:txBody>
                  <a:tcPr marL="50800" marR="38100" marT="25400" marB="25400" anchor="ctr">
                    <a:solidFill>
                      <a:srgbClr val="FFFFFF"/>
                    </a:solidFill>
                  </a:tcPr>
                </a:tc>
                <a:tc>
                  <a:txBody>
                    <a:bodyPr/>
                    <a:lstStyle/>
                    <a:p>
                      <a:pPr algn="l"/>
                      <a:r>
                        <a:rPr sz="800">
                          <a:solidFill>
                            <a:srgbClr val="118484"/>
                          </a:solidFill>
                          <a:latin typeface="Segoe UI"/>
                        </a:rPr>
                        <a:t>month, week_of_year, fy_quarter, days_to_fy_end</a:t>
                      </a:r>
                    </a:p>
                  </a:txBody>
                  <a:tcPr marL="50800" marR="38100" marT="25400" marB="25400" anchor="ctr">
                    <a:solidFill>
                      <a:srgbClr val="FFFFFF"/>
                    </a:solidFill>
                  </a:tcPr>
                </a:tc>
                <a:extLst>
                  <a:ext uri="{0D108BD9-81ED-4DB2-BD59-A6C34878D82A}">
                    <a16:rowId xmlns:a16="http://schemas.microsoft.com/office/drawing/2014/main" val="10004"/>
                  </a:ext>
                </a:extLst>
              </a:tr>
            </a:tbl>
          </a:graphicData>
        </a:graphic>
      </p:graphicFrame>
      <p:sp>
        <p:nvSpPr>
          <p:cNvPr id="7" name="Rectangle 6"/>
          <p:cNvSpPr/>
          <p:nvPr/>
        </p:nvSpPr>
        <p:spPr>
          <a:xfrm>
            <a:off x="457200" y="5029200"/>
            <a:ext cx="3657600" cy="457200"/>
          </a:xfrm>
          <a:prstGeom prst="rect">
            <a:avLst/>
          </a:prstGeom>
          <a:solidFill>
            <a:srgbClr val="118484"/>
          </a:solidFill>
          <a:ln>
            <a:noFill/>
          </a:ln>
          <a:effectLst/>
        </p:spPr>
        <p:style>
          <a:lnRef idx="1">
            <a:schemeClr val="accent1"/>
          </a:lnRef>
          <a:fillRef idx="3">
            <a:schemeClr val="accent1"/>
          </a:fillRef>
          <a:effectRef idx="2">
            <a:schemeClr val="accent1"/>
          </a:effectRef>
          <a:fontRef idx="minor">
            <a:schemeClr val="lt1"/>
          </a:fontRef>
        </p:style>
        <p:txBody>
          <a:bodyPr lIns="101600" tIns="25400" bIns="25400" rtlCol="0" anchor="ctr"/>
          <a:lstStyle/>
          <a:p>
            <a:pPr algn="ctr"/>
            <a:r>
              <a:rPr sz="950" b="1">
                <a:solidFill>
                  <a:srgbClr val="FFFFFF"/>
                </a:solidFill>
                <a:latin typeface="Segoe UI"/>
              </a:rPr>
              <a:t>Output:  P(demand&gt;0), P10, P25, P50, P75, P90  per week</a:t>
            </a:r>
          </a:p>
        </p:txBody>
      </p:sp>
      <p:sp>
        <p:nvSpPr>
          <p:cNvPr id="8" name="Rectangle 7"/>
          <p:cNvSpPr/>
          <p:nvPr/>
        </p:nvSpPr>
        <p:spPr>
          <a:xfrm>
            <a:off x="4265676" y="1193388"/>
            <a:ext cx="3657600" cy="310896"/>
          </a:xfrm>
          <a:prstGeom prst="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lIns="101600" tIns="25400" bIns="25400" rtlCol="0" anchor="ctr"/>
          <a:lstStyle/>
          <a:p>
            <a:pPr algn="ctr"/>
            <a:r>
              <a:rPr sz="1100" b="1">
                <a:solidFill>
                  <a:srgbClr val="FFFFFF"/>
                </a:solidFill>
                <a:latin typeface="Segoe UI"/>
              </a:rPr>
              <a:t>B.  BEHAVIORAL VECTORS — 5 × 1,536-d</a:t>
            </a:r>
          </a:p>
        </p:txBody>
      </p:sp>
      <p:graphicFrame>
        <p:nvGraphicFramePr>
          <p:cNvPr id="9" name="Table 8"/>
          <p:cNvGraphicFramePr>
            <a:graphicFrameLocks noGrp="1"/>
          </p:cNvGraphicFramePr>
          <p:nvPr/>
        </p:nvGraphicFramePr>
        <p:xfrm>
          <a:off x="4265676" y="1517904"/>
          <a:ext cx="3657600" cy="2697480"/>
        </p:xfrm>
        <a:graphic>
          <a:graphicData uri="http://schemas.openxmlformats.org/drawingml/2006/table">
            <a:tbl>
              <a:tblPr>
                <a:tableStyleId>{5C22544A-7EE6-4342-B048-85BDC9FD1C3A}</a:tableStyleId>
              </a:tblPr>
              <a:tblGrid>
                <a:gridCol w="1234440">
                  <a:extLst>
                    <a:ext uri="{9D8B030D-6E8A-4147-A177-3AD203B41FA5}">
                      <a16:colId xmlns:a16="http://schemas.microsoft.com/office/drawing/2014/main" val="20000"/>
                    </a:ext>
                  </a:extLst>
                </a:gridCol>
                <a:gridCol w="2423160">
                  <a:extLst>
                    <a:ext uri="{9D8B030D-6E8A-4147-A177-3AD203B41FA5}">
                      <a16:colId xmlns:a16="http://schemas.microsoft.com/office/drawing/2014/main" val="20001"/>
                    </a:ext>
                  </a:extLst>
                </a:gridCol>
              </a:tblGrid>
              <a:tr h="449580">
                <a:tc>
                  <a:txBody>
                    <a:bodyPr/>
                    <a:lstStyle/>
                    <a:p>
                      <a:pPr algn="l"/>
                      <a:r>
                        <a:rPr sz="900" b="1">
                          <a:solidFill>
                            <a:srgbClr val="102A4C"/>
                          </a:solidFill>
                          <a:latin typeface="Segoe UI"/>
                        </a:rPr>
                        <a:t>Signal</a:t>
                      </a:r>
                    </a:p>
                  </a:txBody>
                  <a:tcPr marL="50800" marR="38100" marT="25400" marB="25400" anchor="ctr">
                    <a:solidFill>
                      <a:srgbClr val="ECF1F7"/>
                    </a:solidFill>
                  </a:tcPr>
                </a:tc>
                <a:tc>
                  <a:txBody>
                    <a:bodyPr/>
                    <a:lstStyle/>
                    <a:p>
                      <a:pPr algn="l"/>
                      <a:r>
                        <a:rPr sz="900" b="1">
                          <a:solidFill>
                            <a:srgbClr val="102A4C"/>
                          </a:solidFill>
                          <a:latin typeface="Segoe UI"/>
                        </a:rPr>
                        <a:t>Raw data → embedding</a:t>
                      </a:r>
                    </a:p>
                  </a:txBody>
                  <a:tcPr marL="50800" marR="38100" marT="25400" marB="25400" anchor="ctr">
                    <a:solidFill>
                      <a:srgbClr val="ECF1F7"/>
                    </a:solidFill>
                  </a:tcPr>
                </a:tc>
                <a:extLst>
                  <a:ext uri="{0D108BD9-81ED-4DB2-BD59-A6C34878D82A}">
                    <a16:rowId xmlns:a16="http://schemas.microsoft.com/office/drawing/2014/main" val="10000"/>
                  </a:ext>
                </a:extLst>
              </a:tr>
              <a:tr h="449580">
                <a:tc>
                  <a:txBody>
                    <a:bodyPr/>
                    <a:lstStyle/>
                    <a:p>
                      <a:pPr algn="l"/>
                      <a:r>
                        <a:rPr sz="850" b="1">
                          <a:solidFill>
                            <a:srgbClr val="102A4C"/>
                          </a:solidFill>
                          <a:latin typeface="Segoe UI"/>
                        </a:rPr>
                        <a:t>local_demand</a:t>
                      </a:r>
                    </a:p>
                  </a:txBody>
                  <a:tcPr marL="50800" marR="38100" marT="25400" marB="25400" anchor="ctr">
                    <a:solidFill>
                      <a:srgbClr val="F6F9FC"/>
                    </a:solidFill>
                  </a:tcPr>
                </a:tc>
                <a:tc>
                  <a:txBody>
                    <a:bodyPr/>
                    <a:lstStyle/>
                    <a:p>
                      <a:pPr algn="l"/>
                      <a:r>
                        <a:rPr sz="800">
                          <a:solidFill>
                            <a:srgbClr val="118484"/>
                          </a:solidFill>
                          <a:latin typeface="Segoe UI"/>
                        </a:rPr>
                        <a:t>Weekly qty, trend, active wks, CV → 1,536-d</a:t>
                      </a:r>
                    </a:p>
                  </a:txBody>
                  <a:tcPr marL="50800" marR="38100" marT="25400" marB="25400" anchor="ctr">
                    <a:solidFill>
                      <a:srgbClr val="F6F9FC"/>
                    </a:solidFill>
                  </a:tcPr>
                </a:tc>
                <a:extLst>
                  <a:ext uri="{0D108BD9-81ED-4DB2-BD59-A6C34878D82A}">
                    <a16:rowId xmlns:a16="http://schemas.microsoft.com/office/drawing/2014/main" val="10001"/>
                  </a:ext>
                </a:extLst>
              </a:tr>
              <a:tr h="449580">
                <a:tc>
                  <a:txBody>
                    <a:bodyPr/>
                    <a:lstStyle/>
                    <a:p>
                      <a:pPr algn="l"/>
                      <a:r>
                        <a:rPr sz="850" b="1">
                          <a:solidFill>
                            <a:srgbClr val="102A4C"/>
                          </a:solidFill>
                          <a:latin typeface="Segoe UI"/>
                        </a:rPr>
                        <a:t>local_supply</a:t>
                      </a:r>
                    </a:p>
                  </a:txBody>
                  <a:tcPr marL="50800" marR="38100" marT="25400" marB="25400" anchor="ctr">
                    <a:solidFill>
                      <a:srgbClr val="FFFFFF"/>
                    </a:solidFill>
                  </a:tcPr>
                </a:tc>
                <a:tc>
                  <a:txBody>
                    <a:bodyPr/>
                    <a:lstStyle/>
                    <a:p>
                      <a:pPr algn="l"/>
                      <a:r>
                        <a:rPr sz="800">
                          <a:solidFill>
                            <a:srgbClr val="118484"/>
                          </a:solidFill>
                          <a:latin typeface="Segoe UI"/>
                        </a:rPr>
                        <a:t>Supplier count, HHI, sole-source, avg delay → 1,536-d</a:t>
                      </a:r>
                    </a:p>
                  </a:txBody>
                  <a:tcPr marL="50800" marR="38100" marT="25400" marB="25400" anchor="ctr">
                    <a:solidFill>
                      <a:srgbClr val="FFFFFF"/>
                    </a:solidFill>
                  </a:tcPr>
                </a:tc>
                <a:extLst>
                  <a:ext uri="{0D108BD9-81ED-4DB2-BD59-A6C34878D82A}">
                    <a16:rowId xmlns:a16="http://schemas.microsoft.com/office/drawing/2014/main" val="10002"/>
                  </a:ext>
                </a:extLst>
              </a:tr>
              <a:tr h="449580">
                <a:tc>
                  <a:txBody>
                    <a:bodyPr/>
                    <a:lstStyle/>
                    <a:p>
                      <a:pPr algn="l"/>
                      <a:r>
                        <a:rPr sz="850" b="1">
                          <a:solidFill>
                            <a:srgbClr val="102A4C"/>
                          </a:solidFill>
                          <a:latin typeface="Segoe UI"/>
                        </a:rPr>
                        <a:t>local_inventory</a:t>
                      </a:r>
                    </a:p>
                  </a:txBody>
                  <a:tcPr marL="50800" marR="38100" marT="25400" marB="25400" anchor="ctr">
                    <a:solidFill>
                      <a:srgbClr val="F6F9FC"/>
                    </a:solidFill>
                  </a:tcPr>
                </a:tc>
                <a:tc>
                  <a:txBody>
                    <a:bodyPr/>
                    <a:lstStyle/>
                    <a:p>
                      <a:pPr algn="l"/>
                      <a:r>
                        <a:rPr sz="800">
                          <a:solidFill>
                            <a:srgbClr val="118484"/>
                          </a:solidFill>
                          <a:latin typeface="Segoe UI"/>
                        </a:rPr>
                        <a:t>On-hand mean, trend, safety-stock ratio → 1,536-d</a:t>
                      </a:r>
                    </a:p>
                  </a:txBody>
                  <a:tcPr marL="50800" marR="38100" marT="25400" marB="25400" anchor="ctr">
                    <a:solidFill>
                      <a:srgbClr val="F6F9FC"/>
                    </a:solidFill>
                  </a:tcPr>
                </a:tc>
                <a:extLst>
                  <a:ext uri="{0D108BD9-81ED-4DB2-BD59-A6C34878D82A}">
                    <a16:rowId xmlns:a16="http://schemas.microsoft.com/office/drawing/2014/main" val="10003"/>
                  </a:ext>
                </a:extLst>
              </a:tr>
              <a:tr h="449580">
                <a:tc>
                  <a:txBody>
                    <a:bodyPr/>
                    <a:lstStyle/>
                    <a:p>
                      <a:pPr algn="l"/>
                      <a:r>
                        <a:rPr sz="850" b="1">
                          <a:solidFill>
                            <a:srgbClr val="102A4C"/>
                          </a:solidFill>
                          <a:latin typeface="Segoe UI"/>
                        </a:rPr>
                        <a:t>local_volatility</a:t>
                      </a:r>
                    </a:p>
                  </a:txBody>
                  <a:tcPr marL="50800" marR="38100" marT="25400" marB="25400" anchor="ctr">
                    <a:solidFill>
                      <a:srgbClr val="FFFFFF"/>
                    </a:solidFill>
                  </a:tcPr>
                </a:tc>
                <a:tc>
                  <a:txBody>
                    <a:bodyPr/>
                    <a:lstStyle/>
                    <a:p>
                      <a:pPr algn="l"/>
                      <a:r>
                        <a:rPr sz="800">
                          <a:solidFill>
                            <a:srgbClr val="118484"/>
                          </a:solidFill>
                          <a:latin typeface="Segoe UI"/>
                        </a:rPr>
                        <a:t>Zero-demand %, ADI, intermittency, CV → 1,536-d</a:t>
                      </a:r>
                    </a:p>
                  </a:txBody>
                  <a:tcPr marL="50800" marR="38100" marT="25400" marB="25400" anchor="ctr">
                    <a:solidFill>
                      <a:srgbClr val="FFFFFF"/>
                    </a:solidFill>
                  </a:tcPr>
                </a:tc>
                <a:extLst>
                  <a:ext uri="{0D108BD9-81ED-4DB2-BD59-A6C34878D82A}">
                    <a16:rowId xmlns:a16="http://schemas.microsoft.com/office/drawing/2014/main" val="10004"/>
                  </a:ext>
                </a:extLst>
              </a:tr>
              <a:tr h="449580">
                <a:tc>
                  <a:txBody>
                    <a:bodyPr/>
                    <a:lstStyle/>
                    <a:p>
                      <a:pPr algn="l"/>
                      <a:r>
                        <a:rPr sz="850" b="1">
                          <a:solidFill>
                            <a:srgbClr val="102A4C"/>
                          </a:solidFill>
                          <a:latin typeface="Segoe UI"/>
                        </a:rPr>
                        <a:t>local_context</a:t>
                      </a:r>
                    </a:p>
                  </a:txBody>
                  <a:tcPr marL="50800" marR="38100" marT="25400" marB="25400" anchor="ctr">
                    <a:solidFill>
                      <a:srgbClr val="F6F9FC"/>
                    </a:solidFill>
                  </a:tcPr>
                </a:tc>
                <a:tc>
                  <a:txBody>
                    <a:bodyPr/>
                    <a:lstStyle/>
                    <a:p>
                      <a:pPr algn="l"/>
                      <a:r>
                        <a:rPr sz="800">
                          <a:solidFill>
                            <a:srgbClr val="118484"/>
                          </a:solidFill>
                          <a:latin typeface="Segoe UI"/>
                        </a:rPr>
                        <a:t>Criticality, on-time rate, stock ratio → 1,536-d</a:t>
                      </a:r>
                    </a:p>
                  </a:txBody>
                  <a:tcPr marL="50800" marR="38100" marT="25400" marB="25400" anchor="ctr">
                    <a:solidFill>
                      <a:srgbClr val="F6F9FC"/>
                    </a:solidFill>
                  </a:tcPr>
                </a:tc>
                <a:extLst>
                  <a:ext uri="{0D108BD9-81ED-4DB2-BD59-A6C34878D82A}">
                    <a16:rowId xmlns:a16="http://schemas.microsoft.com/office/drawing/2014/main" val="10005"/>
                  </a:ext>
                </a:extLst>
              </a:tr>
            </a:tbl>
          </a:graphicData>
        </a:graphic>
      </p:graphicFrame>
      <p:sp>
        <p:nvSpPr>
          <p:cNvPr id="10" name="Rectangle 9"/>
          <p:cNvSpPr/>
          <p:nvPr/>
        </p:nvSpPr>
        <p:spPr>
          <a:xfrm>
            <a:off x="4265676" y="4343400"/>
            <a:ext cx="3657600" cy="1417320"/>
          </a:xfrm>
          <a:prstGeom prst="rect">
            <a:avLst/>
          </a:prstGeom>
          <a:solidFill>
            <a:srgbClr val="ECF1F7"/>
          </a:solidFill>
          <a:ln w="9525">
            <a:solidFill>
              <a:srgbClr val="D7DFE8"/>
            </a:solidFill>
          </a:ln>
          <a:effectLst/>
        </p:spPr>
        <p:style>
          <a:lnRef idx="1">
            <a:schemeClr val="accent1"/>
          </a:lnRef>
          <a:fillRef idx="3">
            <a:schemeClr val="accent1"/>
          </a:fillRef>
          <a:effectRef idx="2">
            <a:schemeClr val="accent1"/>
          </a:effectRef>
          <a:fontRef idx="minor">
            <a:schemeClr val="lt1"/>
          </a:fontRef>
        </p:style>
        <p:txBody>
          <a:bodyPr wrap="square" lIns="88900" tIns="63500" rtlCol="0" anchor="ctr"/>
          <a:lstStyle/>
          <a:p>
            <a:pPr algn="ctr">
              <a:spcAft>
                <a:spcPts val="300"/>
              </a:spcAft>
            </a:pPr>
            <a:r>
              <a:rPr sz="900" b="1">
                <a:solidFill>
                  <a:srgbClr val="102A4C"/>
                </a:solidFill>
                <a:latin typeface="Segoe UI"/>
              </a:rPr>
              <a:t>Each signal: </a:t>
            </a:r>
            <a:r>
              <a:rPr sz="900">
                <a:solidFill>
                  <a:srgbClr val="1D2430"/>
                </a:solidFill>
                <a:latin typeface="Segoe UI"/>
              </a:rPr>
              <a:t>natural-language sentence → OpenAI text-embedding-3 → 1,536 floats.</a:t>
            </a:r>
          </a:p>
          <a:p>
            <a:pPr>
              <a:spcAft>
                <a:spcPts val="300"/>
              </a:spcAft>
            </a:pPr>
            <a:r>
              <a:rPr sz="900" b="1">
                <a:solidFill>
                  <a:srgbClr val="102A4C"/>
                </a:solidFill>
                <a:latin typeface="Segoe UI"/>
              </a:rPr>
              <a:t>Snapshots: </a:t>
            </a:r>
            <a:r>
              <a:rPr sz="900">
                <a:solidFill>
                  <a:srgbClr val="1D2430"/>
                </a:solidFill>
                <a:latin typeface="Segoe UI"/>
              </a:rPr>
              <a:t>16–23 monthly · 5 × 1,536 = 7,680 dims/snapshot.</a:t>
            </a:r>
          </a:p>
          <a:p>
            <a:pPr>
              <a:spcAft>
                <a:spcPts val="300"/>
              </a:spcAft>
            </a:pPr>
            <a:r>
              <a:rPr sz="900" b="1">
                <a:solidFill>
                  <a:srgbClr val="102A4C"/>
                </a:solidFill>
                <a:latin typeface="Segoe UI"/>
              </a:rPr>
              <a:t>Raw history: </a:t>
            </a:r>
            <a:r>
              <a:rPr sz="900">
                <a:solidFill>
                  <a:srgbClr val="1D2430"/>
                </a:solidFill>
                <a:latin typeface="Segoe UI"/>
              </a:rPr>
              <a:t>~140,000 dims → compressed to 42 scalar features</a:t>
            </a:r>
          </a:p>
          <a:p>
            <a:pPr>
              <a:spcAft>
                <a:spcPts val="300"/>
              </a:spcAft>
            </a:pPr>
            <a:r>
              <a:rPr sz="900">
                <a:solidFill>
                  <a:srgbClr val="1D2430"/>
                </a:solidFill>
                <a:latin typeface="Segoe UI"/>
              </a:rPr>
              <a:t>(23 zone + 13 signal + 6 cohort).</a:t>
            </a:r>
          </a:p>
        </p:txBody>
      </p:sp>
      <p:sp>
        <p:nvSpPr>
          <p:cNvPr id="11" name="Rectangle 10"/>
          <p:cNvSpPr/>
          <p:nvPr/>
        </p:nvSpPr>
        <p:spPr>
          <a:xfrm>
            <a:off x="8074152" y="1193388"/>
            <a:ext cx="3657600" cy="310896"/>
          </a:xfrm>
          <a:prstGeom prst="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lIns="101600" tIns="25400" bIns="25400" rtlCol="0" anchor="ctr"/>
          <a:lstStyle/>
          <a:p>
            <a:pPr algn="ctr"/>
            <a:r>
              <a:rPr sz="1100" b="1">
                <a:solidFill>
                  <a:srgbClr val="FFFFFF"/>
                </a:solidFill>
                <a:latin typeface="Segoe UI"/>
              </a:rPr>
              <a:t>C.  DRIFT DETECTION</a:t>
            </a:r>
          </a:p>
        </p:txBody>
      </p:sp>
      <p:graphicFrame>
        <p:nvGraphicFramePr>
          <p:cNvPr id="12" name="Table 11"/>
          <p:cNvGraphicFramePr>
            <a:graphicFrameLocks noGrp="1"/>
          </p:cNvGraphicFramePr>
          <p:nvPr/>
        </p:nvGraphicFramePr>
        <p:xfrm>
          <a:off x="8074152" y="1517904"/>
          <a:ext cx="3657600" cy="1828800"/>
        </p:xfrm>
        <a:graphic>
          <a:graphicData uri="http://schemas.openxmlformats.org/drawingml/2006/table">
            <a:tbl>
              <a:tblPr>
                <a:tableStyleId>{5C22544A-7EE6-4342-B048-85BDC9FD1C3A}</a:tableStyleId>
              </a:tblPr>
              <a:tblGrid>
                <a:gridCol w="109728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tblGrid>
              <a:tr h="365760">
                <a:tc>
                  <a:txBody>
                    <a:bodyPr/>
                    <a:lstStyle/>
                    <a:p>
                      <a:pPr algn="l"/>
                      <a:r>
                        <a:rPr sz="900" b="1">
                          <a:solidFill>
                            <a:srgbClr val="102A4C"/>
                          </a:solidFill>
                          <a:latin typeface="Segoe UI"/>
                        </a:rPr>
                        <a:t>Metric</a:t>
                      </a:r>
                    </a:p>
                  </a:txBody>
                  <a:tcPr marL="50800" marR="38100" marT="25400" marB="25400" anchor="ctr">
                    <a:solidFill>
                      <a:srgbClr val="ECF1F7"/>
                    </a:solidFill>
                  </a:tcPr>
                </a:tc>
                <a:tc>
                  <a:txBody>
                    <a:bodyPr/>
                    <a:lstStyle/>
                    <a:p>
                      <a:pPr algn="l"/>
                      <a:r>
                        <a:rPr sz="900" b="1">
                          <a:solidFill>
                            <a:srgbClr val="102A4C"/>
                          </a:solidFill>
                          <a:latin typeface="Segoe UI"/>
                        </a:rPr>
                        <a:t>How computed</a:t>
                      </a:r>
                    </a:p>
                  </a:txBody>
                  <a:tcPr marL="50800" marR="38100" marT="25400" marB="25400" anchor="ctr">
                    <a:solidFill>
                      <a:srgbClr val="ECF1F7"/>
                    </a:solidFill>
                  </a:tcPr>
                </a:tc>
                <a:extLst>
                  <a:ext uri="{0D108BD9-81ED-4DB2-BD59-A6C34878D82A}">
                    <a16:rowId xmlns:a16="http://schemas.microsoft.com/office/drawing/2014/main" val="10000"/>
                  </a:ext>
                </a:extLst>
              </a:tr>
              <a:tr h="365760">
                <a:tc>
                  <a:txBody>
                    <a:bodyPr/>
                    <a:lstStyle/>
                    <a:p>
                      <a:pPr algn="l"/>
                      <a:r>
                        <a:rPr sz="850" b="1">
                          <a:solidFill>
                            <a:srgbClr val="102A4C"/>
                          </a:solidFill>
                          <a:latin typeface="Segoe UI"/>
                        </a:rPr>
                        <a:t>Velocity</a:t>
                      </a:r>
                    </a:p>
                  </a:txBody>
                  <a:tcPr marL="50800" marR="38100" marT="25400" marB="25400" anchor="ctr">
                    <a:solidFill>
                      <a:srgbClr val="F6F9FC"/>
                    </a:solidFill>
                  </a:tcPr>
                </a:tc>
                <a:tc>
                  <a:txBody>
                    <a:bodyPr/>
                    <a:lstStyle/>
                    <a:p>
                      <a:pPr algn="l"/>
                      <a:r>
                        <a:rPr sz="800">
                          <a:solidFill>
                            <a:srgbClr val="118484"/>
                          </a:solidFill>
                          <a:latin typeface="Segoe UI"/>
                        </a:rPr>
                        <a:t>L2 distance between last 2 composite snapshots</a:t>
                      </a:r>
                    </a:p>
                  </a:txBody>
                  <a:tcPr marL="50800" marR="38100" marT="25400" marB="25400" anchor="ctr">
                    <a:solidFill>
                      <a:srgbClr val="F6F9FC"/>
                    </a:solidFill>
                  </a:tcPr>
                </a:tc>
                <a:extLst>
                  <a:ext uri="{0D108BD9-81ED-4DB2-BD59-A6C34878D82A}">
                    <a16:rowId xmlns:a16="http://schemas.microsoft.com/office/drawing/2014/main" val="10001"/>
                  </a:ext>
                </a:extLst>
              </a:tr>
              <a:tr h="365760">
                <a:tc>
                  <a:txBody>
                    <a:bodyPr/>
                    <a:lstStyle/>
                    <a:p>
                      <a:pPr algn="l"/>
                      <a:r>
                        <a:rPr sz="850" b="1">
                          <a:solidFill>
                            <a:srgbClr val="102A4C"/>
                          </a:solidFill>
                          <a:latin typeface="Segoe UI"/>
                        </a:rPr>
                        <a:t>Mean Step</a:t>
                      </a:r>
                    </a:p>
                  </a:txBody>
                  <a:tcPr marL="50800" marR="38100" marT="25400" marB="25400" anchor="ctr">
                    <a:solidFill>
                      <a:srgbClr val="FFFFFF"/>
                    </a:solidFill>
                  </a:tcPr>
                </a:tc>
                <a:tc>
                  <a:txBody>
                    <a:bodyPr/>
                    <a:lstStyle/>
                    <a:p>
                      <a:pPr algn="l"/>
                      <a:r>
                        <a:rPr sz="800">
                          <a:solidFill>
                            <a:srgbClr val="118484"/>
                          </a:solidFill>
                          <a:latin typeface="Segoe UI"/>
                        </a:rPr>
                        <a:t>Average L2 across all consecutive snapshot pairs</a:t>
                      </a:r>
                    </a:p>
                  </a:txBody>
                  <a:tcPr marL="50800" marR="38100" marT="25400" marB="25400" anchor="ctr">
                    <a:solidFill>
                      <a:srgbClr val="FFFFFF"/>
                    </a:solidFill>
                  </a:tcPr>
                </a:tc>
                <a:extLst>
                  <a:ext uri="{0D108BD9-81ED-4DB2-BD59-A6C34878D82A}">
                    <a16:rowId xmlns:a16="http://schemas.microsoft.com/office/drawing/2014/main" val="10002"/>
                  </a:ext>
                </a:extLst>
              </a:tr>
              <a:tr h="365760">
                <a:tc>
                  <a:txBody>
                    <a:bodyPr/>
                    <a:lstStyle/>
                    <a:p>
                      <a:pPr algn="l"/>
                      <a:r>
                        <a:rPr sz="850" b="1">
                          <a:solidFill>
                            <a:srgbClr val="102A4C"/>
                          </a:solidFill>
                          <a:latin typeface="Segoe UI"/>
                        </a:rPr>
                        <a:t>Consistency</a:t>
                      </a:r>
                    </a:p>
                  </a:txBody>
                  <a:tcPr marL="50800" marR="38100" marT="25400" marB="25400" anchor="ctr">
                    <a:solidFill>
                      <a:srgbClr val="F6F9FC"/>
                    </a:solidFill>
                  </a:tcPr>
                </a:tc>
                <a:tc>
                  <a:txBody>
                    <a:bodyPr/>
                    <a:lstStyle/>
                    <a:p>
                      <a:pPr algn="l"/>
                      <a:r>
                        <a:rPr sz="800">
                          <a:solidFill>
                            <a:srgbClr val="118484"/>
                          </a:solidFill>
                          <a:latin typeface="Segoe UI"/>
                        </a:rPr>
                        <a:t>How steady is the direction? (0 = zigzag, 1 = straight)</a:t>
                      </a:r>
                    </a:p>
                  </a:txBody>
                  <a:tcPr marL="50800" marR="38100" marT="25400" marB="25400" anchor="ctr">
                    <a:solidFill>
                      <a:srgbClr val="F6F9FC"/>
                    </a:solidFill>
                  </a:tcPr>
                </a:tc>
                <a:extLst>
                  <a:ext uri="{0D108BD9-81ED-4DB2-BD59-A6C34878D82A}">
                    <a16:rowId xmlns:a16="http://schemas.microsoft.com/office/drawing/2014/main" val="10003"/>
                  </a:ext>
                </a:extLst>
              </a:tr>
              <a:tr h="365760">
                <a:tc>
                  <a:txBody>
                    <a:bodyPr/>
                    <a:lstStyle/>
                    <a:p>
                      <a:pPr algn="l"/>
                      <a:r>
                        <a:rPr sz="850" b="1">
                          <a:solidFill>
                            <a:srgbClr val="102A4C"/>
                          </a:solidFill>
                          <a:latin typeface="Segoe UI"/>
                        </a:rPr>
                        <a:t>Drift Norm</a:t>
                      </a:r>
                    </a:p>
                  </a:txBody>
                  <a:tcPr marL="50800" marR="38100" marT="25400" marB="25400" anchor="ctr">
                    <a:solidFill>
                      <a:srgbClr val="FFFFFF"/>
                    </a:solidFill>
                  </a:tcPr>
                </a:tc>
                <a:tc>
                  <a:txBody>
                    <a:bodyPr/>
                    <a:lstStyle/>
                    <a:p>
                      <a:pPr algn="l"/>
                      <a:r>
                        <a:rPr sz="800">
                          <a:solidFill>
                            <a:srgbClr val="118484"/>
                          </a:solidFill>
                          <a:latin typeface="Segoe UI"/>
                        </a:rPr>
                        <a:t>tanh(velocity / mean_step) → maps to [0, 1]</a:t>
                      </a:r>
                    </a:p>
                  </a:txBody>
                  <a:tcPr marL="50800" marR="38100" marT="25400" marB="25400" anchor="ctr">
                    <a:solidFill>
                      <a:srgbClr val="FFFFFF"/>
                    </a:solidFill>
                  </a:tcPr>
                </a:tc>
                <a:extLst>
                  <a:ext uri="{0D108BD9-81ED-4DB2-BD59-A6C34878D82A}">
                    <a16:rowId xmlns:a16="http://schemas.microsoft.com/office/drawing/2014/main" val="10004"/>
                  </a:ext>
                </a:extLst>
              </a:tr>
            </a:tbl>
          </a:graphicData>
        </a:graphic>
      </p:graphicFrame>
      <p:sp>
        <p:nvSpPr>
          <p:cNvPr id="13" name="Rectangle 12"/>
          <p:cNvSpPr/>
          <p:nvPr/>
        </p:nvSpPr>
        <p:spPr>
          <a:xfrm>
            <a:off x="8074152" y="3456432"/>
            <a:ext cx="3657600" cy="292608"/>
          </a:xfrm>
          <a:prstGeom prst="rect">
            <a:avLst/>
          </a:prstGeom>
          <a:solidFill>
            <a:srgbClr val="9B2C2C"/>
          </a:solidFill>
          <a:ln>
            <a:noFill/>
          </a:ln>
          <a:effectLst/>
        </p:spPr>
        <p:style>
          <a:lnRef idx="1">
            <a:schemeClr val="accent1"/>
          </a:lnRef>
          <a:fillRef idx="3">
            <a:schemeClr val="accent1"/>
          </a:fillRef>
          <a:effectRef idx="2">
            <a:schemeClr val="accent1"/>
          </a:effectRef>
          <a:fontRef idx="minor">
            <a:schemeClr val="lt1"/>
          </a:fontRef>
        </p:style>
        <p:txBody>
          <a:bodyPr lIns="101600" tIns="25400" bIns="25400" rtlCol="0" anchor="ctr"/>
          <a:lstStyle/>
          <a:p>
            <a:pPr algn="ctr"/>
            <a:r>
              <a:rPr sz="850" b="1">
                <a:solidFill>
                  <a:srgbClr val="FFFFFF"/>
                </a:solidFill>
                <a:latin typeface="Segoe UI"/>
              </a:rPr>
              <a:t>8 SCM CONCEPT TARGETS   (alpha = direction × clarity × strength, ±30%)</a:t>
            </a:r>
          </a:p>
        </p:txBody>
      </p:sp>
      <p:graphicFrame>
        <p:nvGraphicFramePr>
          <p:cNvPr id="14" name="Table 13"/>
          <p:cNvGraphicFramePr>
            <a:graphicFrameLocks noGrp="1"/>
          </p:cNvGraphicFramePr>
          <p:nvPr/>
        </p:nvGraphicFramePr>
        <p:xfrm>
          <a:off x="8074152" y="3822191"/>
          <a:ext cx="3657600" cy="1920240"/>
        </p:xfrm>
        <a:graphic>
          <a:graphicData uri="http://schemas.openxmlformats.org/drawingml/2006/table">
            <a:tbl>
              <a:tblPr>
                <a:tableStyleId>{5C22544A-7EE6-4342-B048-85BDC9FD1C3A}</a:tableStyleId>
              </a:tblPr>
              <a:tblGrid>
                <a:gridCol w="19202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tblGrid>
              <a:tr h="213360">
                <a:tc>
                  <a:txBody>
                    <a:bodyPr/>
                    <a:lstStyle/>
                    <a:p>
                      <a:pPr algn="l"/>
                      <a:r>
                        <a:rPr sz="850" b="1">
                          <a:solidFill>
                            <a:srgbClr val="102A4C"/>
                          </a:solidFill>
                          <a:latin typeface="Segoe UI"/>
                        </a:rPr>
                        <a:t>Concept</a:t>
                      </a:r>
                    </a:p>
                  </a:txBody>
                  <a:tcPr marL="50800" marR="38100" marT="25400" marB="25400" anchor="ctr">
                    <a:solidFill>
                      <a:srgbClr val="ECF1F7"/>
                    </a:solidFill>
                  </a:tcPr>
                </a:tc>
                <a:tc>
                  <a:txBody>
                    <a:bodyPr/>
                    <a:lstStyle/>
                    <a:p>
                      <a:pPr algn="ctr"/>
                      <a:r>
                        <a:rPr sz="850" b="1">
                          <a:solidFill>
                            <a:srgbClr val="102A4C"/>
                          </a:solidFill>
                          <a:latin typeface="Segoe UI"/>
                        </a:rPr>
                        <a:t>Dir</a:t>
                      </a:r>
                    </a:p>
                  </a:txBody>
                  <a:tcPr marL="50800" marR="38100" marT="25400" marB="25400" anchor="ctr">
                    <a:solidFill>
                      <a:srgbClr val="ECF1F7"/>
                    </a:solidFill>
                  </a:tcPr>
                </a:tc>
                <a:tc>
                  <a:txBody>
                    <a:bodyPr/>
                    <a:lstStyle/>
                    <a:p>
                      <a:pPr algn="ctr"/>
                      <a:r>
                        <a:rPr sz="850" b="1">
                          <a:solidFill>
                            <a:srgbClr val="102A4C"/>
                          </a:solidFill>
                          <a:latin typeface="Segoe UI"/>
                        </a:rPr>
                        <a:t>Band ×</a:t>
                      </a:r>
                    </a:p>
                  </a:txBody>
                  <a:tcPr marL="50800" marR="38100" marT="25400" marB="25400" anchor="ctr">
                    <a:solidFill>
                      <a:srgbClr val="ECF1F7"/>
                    </a:solidFill>
                  </a:tcPr>
                </a:tc>
                <a:extLst>
                  <a:ext uri="{0D108BD9-81ED-4DB2-BD59-A6C34878D82A}">
                    <a16:rowId xmlns:a16="http://schemas.microsoft.com/office/drawing/2014/main" val="10000"/>
                  </a:ext>
                </a:extLst>
              </a:tr>
              <a:tr h="213360">
                <a:tc>
                  <a:txBody>
                    <a:bodyPr/>
                    <a:lstStyle/>
                    <a:p>
                      <a:pPr algn="l"/>
                      <a:r>
                        <a:rPr sz="850" b="1">
                          <a:solidFill>
                            <a:srgbClr val="102A4C"/>
                          </a:solidFill>
                          <a:latin typeface="Segoe UI"/>
                        </a:rPr>
                        <a:t>demand_surge</a:t>
                      </a:r>
                    </a:p>
                  </a:txBody>
                  <a:tcPr marL="50800" marR="38100" marT="25400" marB="25400" anchor="ctr">
                    <a:solidFill>
                      <a:srgbClr val="F6F9FC"/>
                    </a:solidFill>
                  </a:tcPr>
                </a:tc>
                <a:tc>
                  <a:txBody>
                    <a:bodyPr/>
                    <a:lstStyle/>
                    <a:p>
                      <a:pPr algn="ctr"/>
                      <a:r>
                        <a:rPr sz="850" b="1">
                          <a:solidFill>
                            <a:srgbClr val="1A7A4A"/>
                          </a:solidFill>
                          <a:latin typeface="Segoe UI"/>
                        </a:rPr>
                        <a:t>+ UP</a:t>
                      </a:r>
                    </a:p>
                  </a:txBody>
                  <a:tcPr marL="50800" marR="38100" marT="25400" marB="25400" anchor="ctr">
                    <a:solidFill>
                      <a:srgbClr val="F6F9FC"/>
                    </a:solidFill>
                  </a:tcPr>
                </a:tc>
                <a:tc>
                  <a:txBody>
                    <a:bodyPr/>
                    <a:lstStyle/>
                    <a:p>
                      <a:pPr algn="ctr"/>
                      <a:r>
                        <a:rPr sz="850" b="1">
                          <a:solidFill>
                            <a:srgbClr val="C95A12"/>
                          </a:solidFill>
                          <a:latin typeface="Segoe UI"/>
                        </a:rPr>
                        <a:t>1.2×</a:t>
                      </a:r>
                    </a:p>
                  </a:txBody>
                  <a:tcPr marL="50800" marR="38100" marT="25400" marB="25400" anchor="ctr">
                    <a:solidFill>
                      <a:srgbClr val="F6F9FC"/>
                    </a:solidFill>
                  </a:tcPr>
                </a:tc>
                <a:extLst>
                  <a:ext uri="{0D108BD9-81ED-4DB2-BD59-A6C34878D82A}">
                    <a16:rowId xmlns:a16="http://schemas.microsoft.com/office/drawing/2014/main" val="10001"/>
                  </a:ext>
                </a:extLst>
              </a:tr>
              <a:tr h="213360">
                <a:tc>
                  <a:txBody>
                    <a:bodyPr/>
                    <a:lstStyle/>
                    <a:p>
                      <a:pPr algn="l"/>
                      <a:r>
                        <a:rPr sz="850" b="1">
                          <a:solidFill>
                            <a:srgbClr val="102A4C"/>
                          </a:solidFill>
                          <a:latin typeface="Segoe UI"/>
                        </a:rPr>
                        <a:t>supply_disruption</a:t>
                      </a:r>
                    </a:p>
                  </a:txBody>
                  <a:tcPr marL="50800" marR="38100" marT="25400" marB="25400" anchor="ctr">
                    <a:solidFill>
                      <a:srgbClr val="FFFFFF"/>
                    </a:solidFill>
                  </a:tcPr>
                </a:tc>
                <a:tc>
                  <a:txBody>
                    <a:bodyPr/>
                    <a:lstStyle/>
                    <a:p>
                      <a:pPr algn="ctr"/>
                      <a:r>
                        <a:rPr sz="850" b="1">
                          <a:solidFill>
                            <a:srgbClr val="1A7A4A"/>
                          </a:solidFill>
                          <a:latin typeface="Segoe UI"/>
                        </a:rPr>
                        <a:t>+ UP</a:t>
                      </a:r>
                    </a:p>
                  </a:txBody>
                  <a:tcPr marL="50800" marR="38100" marT="25400" marB="25400" anchor="ctr">
                    <a:solidFill>
                      <a:srgbClr val="FFFFFF"/>
                    </a:solidFill>
                  </a:tcPr>
                </a:tc>
                <a:tc>
                  <a:txBody>
                    <a:bodyPr/>
                    <a:lstStyle/>
                    <a:p>
                      <a:pPr algn="ctr"/>
                      <a:r>
                        <a:rPr sz="850" b="1">
                          <a:solidFill>
                            <a:srgbClr val="C95A12"/>
                          </a:solidFill>
                          <a:latin typeface="Segoe UI"/>
                        </a:rPr>
                        <a:t>1.4×</a:t>
                      </a:r>
                    </a:p>
                  </a:txBody>
                  <a:tcPr marL="50800" marR="38100" marT="25400" marB="25400" anchor="ctr">
                    <a:solidFill>
                      <a:srgbClr val="FFFFFF"/>
                    </a:solidFill>
                  </a:tcPr>
                </a:tc>
                <a:extLst>
                  <a:ext uri="{0D108BD9-81ED-4DB2-BD59-A6C34878D82A}">
                    <a16:rowId xmlns:a16="http://schemas.microsoft.com/office/drawing/2014/main" val="10002"/>
                  </a:ext>
                </a:extLst>
              </a:tr>
              <a:tr h="213360">
                <a:tc>
                  <a:txBody>
                    <a:bodyPr/>
                    <a:lstStyle/>
                    <a:p>
                      <a:pPr algn="l"/>
                      <a:r>
                        <a:rPr sz="850" b="1">
                          <a:solidFill>
                            <a:srgbClr val="102A4C"/>
                          </a:solidFill>
                          <a:latin typeface="Segoe UI"/>
                        </a:rPr>
                        <a:t>critical_shortage</a:t>
                      </a:r>
                    </a:p>
                  </a:txBody>
                  <a:tcPr marL="50800" marR="38100" marT="25400" marB="25400" anchor="ctr">
                    <a:solidFill>
                      <a:srgbClr val="F6F9FC"/>
                    </a:solidFill>
                  </a:tcPr>
                </a:tc>
                <a:tc>
                  <a:txBody>
                    <a:bodyPr/>
                    <a:lstStyle/>
                    <a:p>
                      <a:pPr algn="ctr"/>
                      <a:r>
                        <a:rPr sz="850" b="1">
                          <a:solidFill>
                            <a:srgbClr val="1A7A4A"/>
                          </a:solidFill>
                          <a:latin typeface="Segoe UI"/>
                        </a:rPr>
                        <a:t>+ UP</a:t>
                      </a:r>
                    </a:p>
                  </a:txBody>
                  <a:tcPr marL="50800" marR="38100" marT="25400" marB="25400" anchor="ctr">
                    <a:solidFill>
                      <a:srgbClr val="F6F9FC"/>
                    </a:solidFill>
                  </a:tcPr>
                </a:tc>
                <a:tc>
                  <a:txBody>
                    <a:bodyPr/>
                    <a:lstStyle/>
                    <a:p>
                      <a:pPr algn="ctr"/>
                      <a:r>
                        <a:rPr sz="850" b="1">
                          <a:solidFill>
                            <a:srgbClr val="C95A12"/>
                          </a:solidFill>
                          <a:latin typeface="Segoe UI"/>
                        </a:rPr>
                        <a:t>1.5×</a:t>
                      </a:r>
                    </a:p>
                  </a:txBody>
                  <a:tcPr marL="50800" marR="38100" marT="25400" marB="25400" anchor="ctr">
                    <a:solidFill>
                      <a:srgbClr val="F6F9FC"/>
                    </a:solidFill>
                  </a:tcPr>
                </a:tc>
                <a:extLst>
                  <a:ext uri="{0D108BD9-81ED-4DB2-BD59-A6C34878D82A}">
                    <a16:rowId xmlns:a16="http://schemas.microsoft.com/office/drawing/2014/main" val="10003"/>
                  </a:ext>
                </a:extLst>
              </a:tr>
              <a:tr h="213360">
                <a:tc>
                  <a:txBody>
                    <a:bodyPr/>
                    <a:lstStyle/>
                    <a:p>
                      <a:pPr algn="l"/>
                      <a:r>
                        <a:rPr sz="850" b="1">
                          <a:solidFill>
                            <a:srgbClr val="102A4C"/>
                          </a:solidFill>
                          <a:latin typeface="Segoe UI"/>
                        </a:rPr>
                        <a:t>demand_decline</a:t>
                      </a:r>
                    </a:p>
                  </a:txBody>
                  <a:tcPr marL="50800" marR="38100" marT="25400" marB="25400" anchor="ctr">
                    <a:solidFill>
                      <a:srgbClr val="FFFFFF"/>
                    </a:solidFill>
                  </a:tcPr>
                </a:tc>
                <a:tc>
                  <a:txBody>
                    <a:bodyPr/>
                    <a:lstStyle/>
                    <a:p>
                      <a:pPr algn="ctr"/>
                      <a:r>
                        <a:rPr sz="850" b="1">
                          <a:solidFill>
                            <a:srgbClr val="9B2C2C"/>
                          </a:solidFill>
                          <a:latin typeface="Segoe UI"/>
                        </a:rPr>
                        <a:t>− DOWN</a:t>
                      </a:r>
                    </a:p>
                  </a:txBody>
                  <a:tcPr marL="50800" marR="38100" marT="25400" marB="25400" anchor="ctr">
                    <a:solidFill>
                      <a:srgbClr val="FFFFFF"/>
                    </a:solidFill>
                  </a:tcPr>
                </a:tc>
                <a:tc>
                  <a:txBody>
                    <a:bodyPr/>
                    <a:lstStyle/>
                    <a:p>
                      <a:pPr algn="ctr"/>
                      <a:r>
                        <a:rPr sz="850" b="1">
                          <a:solidFill>
                            <a:srgbClr val="C95A12"/>
                          </a:solidFill>
                          <a:latin typeface="Segoe UI"/>
                        </a:rPr>
                        <a:t>0.9×</a:t>
                      </a:r>
                    </a:p>
                  </a:txBody>
                  <a:tcPr marL="50800" marR="38100" marT="25400" marB="25400" anchor="ctr">
                    <a:solidFill>
                      <a:srgbClr val="FFFFFF"/>
                    </a:solidFill>
                  </a:tcPr>
                </a:tc>
                <a:extLst>
                  <a:ext uri="{0D108BD9-81ED-4DB2-BD59-A6C34878D82A}">
                    <a16:rowId xmlns:a16="http://schemas.microsoft.com/office/drawing/2014/main" val="10004"/>
                  </a:ext>
                </a:extLst>
              </a:tr>
              <a:tr h="213360">
                <a:tc>
                  <a:txBody>
                    <a:bodyPr/>
                    <a:lstStyle/>
                    <a:p>
                      <a:pPr algn="l"/>
                      <a:r>
                        <a:rPr sz="850" b="1">
                          <a:solidFill>
                            <a:srgbClr val="102A4C"/>
                          </a:solidFill>
                          <a:latin typeface="Segoe UI"/>
                        </a:rPr>
                        <a:t>excess_inventory</a:t>
                      </a:r>
                    </a:p>
                  </a:txBody>
                  <a:tcPr marL="50800" marR="38100" marT="25400" marB="25400" anchor="ctr">
                    <a:solidFill>
                      <a:srgbClr val="F6F9FC"/>
                    </a:solidFill>
                  </a:tcPr>
                </a:tc>
                <a:tc>
                  <a:txBody>
                    <a:bodyPr/>
                    <a:lstStyle/>
                    <a:p>
                      <a:pPr algn="ctr"/>
                      <a:r>
                        <a:rPr sz="850" b="1">
                          <a:solidFill>
                            <a:srgbClr val="9B2C2C"/>
                          </a:solidFill>
                          <a:latin typeface="Segoe UI"/>
                        </a:rPr>
                        <a:t>− DOWN</a:t>
                      </a:r>
                    </a:p>
                  </a:txBody>
                  <a:tcPr marL="50800" marR="38100" marT="25400" marB="25400" anchor="ctr">
                    <a:solidFill>
                      <a:srgbClr val="F6F9FC"/>
                    </a:solidFill>
                  </a:tcPr>
                </a:tc>
                <a:tc>
                  <a:txBody>
                    <a:bodyPr/>
                    <a:lstStyle/>
                    <a:p>
                      <a:pPr algn="ctr"/>
                      <a:r>
                        <a:rPr sz="850" b="1">
                          <a:solidFill>
                            <a:srgbClr val="C95A12"/>
                          </a:solidFill>
                          <a:latin typeface="Segoe UI"/>
                        </a:rPr>
                        <a:t>0.85×</a:t>
                      </a:r>
                    </a:p>
                  </a:txBody>
                  <a:tcPr marL="50800" marR="38100" marT="25400" marB="25400" anchor="ctr">
                    <a:solidFill>
                      <a:srgbClr val="F6F9FC"/>
                    </a:solidFill>
                  </a:tcPr>
                </a:tc>
                <a:extLst>
                  <a:ext uri="{0D108BD9-81ED-4DB2-BD59-A6C34878D82A}">
                    <a16:rowId xmlns:a16="http://schemas.microsoft.com/office/drawing/2014/main" val="10005"/>
                  </a:ext>
                </a:extLst>
              </a:tr>
              <a:tr h="213360">
                <a:tc>
                  <a:txBody>
                    <a:bodyPr/>
                    <a:lstStyle/>
                    <a:p>
                      <a:pPr algn="l"/>
                      <a:r>
                        <a:rPr sz="850" b="1">
                          <a:solidFill>
                            <a:srgbClr val="102A4C"/>
                          </a:solidFill>
                          <a:latin typeface="Segoe UI"/>
                        </a:rPr>
                        <a:t>stable_consumption</a:t>
                      </a:r>
                    </a:p>
                  </a:txBody>
                  <a:tcPr marL="50800" marR="38100" marT="25400" marB="25400" anchor="ctr">
                    <a:solidFill>
                      <a:srgbClr val="FFFFFF"/>
                    </a:solidFill>
                  </a:tcPr>
                </a:tc>
                <a:tc>
                  <a:txBody>
                    <a:bodyPr/>
                    <a:lstStyle/>
                    <a:p>
                      <a:pPr algn="ctr"/>
                      <a:r>
                        <a:rPr sz="850" b="1">
                          <a:solidFill>
                            <a:srgbClr val="5E6A75"/>
                          </a:solidFill>
                          <a:latin typeface="Segoe UI"/>
                        </a:rPr>
                        <a:t>• FLAT</a:t>
                      </a:r>
                    </a:p>
                  </a:txBody>
                  <a:tcPr marL="50800" marR="38100" marT="25400" marB="25400" anchor="ctr">
                    <a:solidFill>
                      <a:srgbClr val="FFFFFF"/>
                    </a:solidFill>
                  </a:tcPr>
                </a:tc>
                <a:tc>
                  <a:txBody>
                    <a:bodyPr/>
                    <a:lstStyle/>
                    <a:p>
                      <a:pPr algn="ctr"/>
                      <a:r>
                        <a:rPr sz="850" b="1">
                          <a:solidFill>
                            <a:srgbClr val="C95A12"/>
                          </a:solidFill>
                          <a:latin typeface="Segoe UI"/>
                        </a:rPr>
                        <a:t>0.85×</a:t>
                      </a:r>
                    </a:p>
                  </a:txBody>
                  <a:tcPr marL="50800" marR="38100" marT="25400" marB="25400" anchor="ctr">
                    <a:solidFill>
                      <a:srgbClr val="FFFFFF"/>
                    </a:solidFill>
                  </a:tcPr>
                </a:tc>
                <a:extLst>
                  <a:ext uri="{0D108BD9-81ED-4DB2-BD59-A6C34878D82A}">
                    <a16:rowId xmlns:a16="http://schemas.microsoft.com/office/drawing/2014/main" val="10006"/>
                  </a:ext>
                </a:extLst>
              </a:tr>
              <a:tr h="213360">
                <a:tc>
                  <a:txBody>
                    <a:bodyPr/>
                    <a:lstStyle/>
                    <a:p>
                      <a:pPr algn="l"/>
                      <a:r>
                        <a:rPr sz="850" b="1">
                          <a:solidFill>
                            <a:srgbClr val="102A4C"/>
                          </a:solidFill>
                          <a:latin typeface="Segoe UI"/>
                        </a:rPr>
                        <a:t>intermittent_demand</a:t>
                      </a:r>
                    </a:p>
                  </a:txBody>
                  <a:tcPr marL="50800" marR="38100" marT="25400" marB="25400" anchor="ctr">
                    <a:solidFill>
                      <a:srgbClr val="F6F9FC"/>
                    </a:solidFill>
                  </a:tcPr>
                </a:tc>
                <a:tc>
                  <a:txBody>
                    <a:bodyPr/>
                    <a:lstStyle/>
                    <a:p>
                      <a:pPr algn="ctr"/>
                      <a:r>
                        <a:rPr sz="850" b="1">
                          <a:solidFill>
                            <a:srgbClr val="5E6A75"/>
                          </a:solidFill>
                          <a:latin typeface="Segoe UI"/>
                        </a:rPr>
                        <a:t>• FLAT</a:t>
                      </a:r>
                    </a:p>
                  </a:txBody>
                  <a:tcPr marL="50800" marR="38100" marT="25400" marB="25400" anchor="ctr">
                    <a:solidFill>
                      <a:srgbClr val="F6F9FC"/>
                    </a:solidFill>
                  </a:tcPr>
                </a:tc>
                <a:tc>
                  <a:txBody>
                    <a:bodyPr/>
                    <a:lstStyle/>
                    <a:p>
                      <a:pPr algn="ctr"/>
                      <a:r>
                        <a:rPr sz="850" b="1">
                          <a:solidFill>
                            <a:srgbClr val="C95A12"/>
                          </a:solidFill>
                          <a:latin typeface="Segoe UI"/>
                        </a:rPr>
                        <a:t>1.5×</a:t>
                      </a:r>
                    </a:p>
                  </a:txBody>
                  <a:tcPr marL="50800" marR="38100" marT="25400" marB="25400" anchor="ctr">
                    <a:solidFill>
                      <a:srgbClr val="F6F9FC"/>
                    </a:solidFill>
                  </a:tcPr>
                </a:tc>
                <a:extLst>
                  <a:ext uri="{0D108BD9-81ED-4DB2-BD59-A6C34878D82A}">
                    <a16:rowId xmlns:a16="http://schemas.microsoft.com/office/drawing/2014/main" val="10007"/>
                  </a:ext>
                </a:extLst>
              </a:tr>
              <a:tr h="213360">
                <a:tc>
                  <a:txBody>
                    <a:bodyPr/>
                    <a:lstStyle/>
                    <a:p>
                      <a:pPr algn="l"/>
                      <a:r>
                        <a:rPr sz="850" b="1">
                          <a:solidFill>
                            <a:srgbClr val="102A4C"/>
                          </a:solidFill>
                          <a:latin typeface="Segoe UI"/>
                        </a:rPr>
                        <a:t>volatility_increase</a:t>
                      </a:r>
                    </a:p>
                  </a:txBody>
                  <a:tcPr marL="50800" marR="38100" marT="25400" marB="25400" anchor="ctr">
                    <a:solidFill>
                      <a:srgbClr val="FFFFFF"/>
                    </a:solidFill>
                  </a:tcPr>
                </a:tc>
                <a:tc>
                  <a:txBody>
                    <a:bodyPr/>
                    <a:lstStyle/>
                    <a:p>
                      <a:pPr algn="ctr"/>
                      <a:r>
                        <a:rPr sz="850" b="1">
                          <a:solidFill>
                            <a:srgbClr val="5E6A75"/>
                          </a:solidFill>
                          <a:latin typeface="Segoe UI"/>
                        </a:rPr>
                        <a:t>• FLAT</a:t>
                      </a:r>
                    </a:p>
                  </a:txBody>
                  <a:tcPr marL="50800" marR="38100" marT="25400" marB="25400" anchor="ctr">
                    <a:solidFill>
                      <a:srgbClr val="FFFFFF"/>
                    </a:solidFill>
                  </a:tcPr>
                </a:tc>
                <a:tc>
                  <a:txBody>
                    <a:bodyPr/>
                    <a:lstStyle/>
                    <a:p>
                      <a:pPr algn="ctr"/>
                      <a:r>
                        <a:rPr sz="850" b="1">
                          <a:solidFill>
                            <a:srgbClr val="C95A12"/>
                          </a:solidFill>
                          <a:latin typeface="Segoe UI"/>
                        </a:rPr>
                        <a:t>1.6×</a:t>
                      </a:r>
                    </a:p>
                  </a:txBody>
                  <a:tcPr marL="50800" marR="38100" marT="25400" marB="25400" anchor="ctr">
                    <a:solidFill>
                      <a:srgbClr val="FFFFFF"/>
                    </a:solidFill>
                  </a:tcPr>
                </a:tc>
                <a:extLst>
                  <a:ext uri="{0D108BD9-81ED-4DB2-BD59-A6C34878D82A}">
                    <a16:rowId xmlns:a16="http://schemas.microsoft.com/office/drawing/2014/main" val="10008"/>
                  </a:ext>
                </a:extLst>
              </a:tr>
            </a:tbl>
          </a:graphicData>
        </a:graphic>
      </p:graphicFrame>
      <p:sp>
        <p:nvSpPr>
          <p:cNvPr id="15" name="TextBox 14"/>
          <p:cNvSpPr txBox="1"/>
          <p:nvPr/>
        </p:nvSpPr>
        <p:spPr>
          <a:xfrm>
            <a:off x="457200" y="6141075"/>
            <a:ext cx="11274552" cy="274320"/>
          </a:xfrm>
          <a:prstGeom prst="rect">
            <a:avLst/>
          </a:prstGeom>
          <a:noFill/>
        </p:spPr>
        <p:txBody>
          <a:bodyPr wrap="square" lIns="38100" tIns="12700" rIns="38100" bIns="12700" anchor="t">
            <a:spAutoFit/>
          </a:bodyPr>
          <a:lstStyle/>
          <a:p>
            <a:pPr algn="l"/>
            <a:r>
              <a:rPr sz="850" b="0" i="1" dirty="0">
                <a:solidFill>
                  <a:srgbClr val="5E6A75"/>
                </a:solidFill>
                <a:latin typeface="Segoe UI"/>
              </a:rPr>
              <a:t>Feature names and concept multipliers are read directly from the production code (models/drift_demand.py); direction 0 = band-only, no center shift.</a:t>
            </a:r>
          </a:p>
        </p:txBody>
      </p:sp>
      <p:sp>
        <p:nvSpPr>
          <p:cNvPr id="16" name="TextBox 15"/>
          <p:cNvSpPr txBox="1"/>
          <p:nvPr/>
        </p:nvSpPr>
        <p:spPr>
          <a:xfrm>
            <a:off x="11274552" y="6455664"/>
            <a:ext cx="457200" cy="156453"/>
          </a:xfrm>
          <a:prstGeom prst="rect">
            <a:avLst/>
          </a:prstGeom>
          <a:noFill/>
        </p:spPr>
        <p:txBody>
          <a:bodyPr wrap="square" lIns="38100" tIns="12700" rIns="38100" bIns="12700" anchor="t">
            <a:spAutoFit/>
          </a:bodyPr>
          <a:lstStyle/>
          <a:p>
            <a:pPr algn="r"/>
            <a:r>
              <a:rPr lang="en-US" sz="850" b="0" i="0" dirty="0">
                <a:solidFill>
                  <a:srgbClr val="646F7C"/>
                </a:solidFill>
                <a:latin typeface="Segoe UI"/>
              </a:rPr>
              <a:t>20</a:t>
            </a:r>
            <a:endParaRPr sz="1000" b="0" i="0" dirty="0">
              <a:solidFill>
                <a:srgbClr val="5E6A75"/>
              </a:solidFill>
              <a:latin typeface="Segoe UI"/>
            </a:endParaRPr>
          </a:p>
        </p:txBody>
      </p:sp>
      <p:sp>
        <p:nvSpPr>
          <p:cNvPr id="18" name="Rectangle 17">
            <a:extLst>
              <a:ext uri="{FF2B5EF4-FFF2-40B4-BE49-F238E27FC236}">
                <a16:creationId xmlns:a16="http://schemas.microsoft.com/office/drawing/2014/main" id="{58749FD8-6474-E4D1-22B9-CA325D0F175E}"/>
              </a:ext>
            </a:extLst>
          </p:cNvPr>
          <p:cNvSpPr/>
          <p:nvPr/>
        </p:nvSpPr>
        <p:spPr>
          <a:xfrm>
            <a:off x="0" y="0"/>
            <a:ext cx="12191695" cy="146304"/>
          </a:xfrm>
          <a:prstGeom prst="rect">
            <a:avLst/>
          </a:prstGeom>
          <a:solidFill>
            <a:srgbClr val="0021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6B81F577-082D-601C-B650-2F062991B3C7}"/>
              </a:ext>
            </a:extLst>
          </p:cNvPr>
          <p:cNvSpPr/>
          <p:nvPr/>
        </p:nvSpPr>
        <p:spPr>
          <a:xfrm>
            <a:off x="411480" y="6446520"/>
            <a:ext cx="11338560" cy="9144"/>
          </a:xfrm>
          <a:prstGeom prst="rect">
            <a:avLst/>
          </a:prstGeom>
          <a:solidFill>
            <a:srgbClr val="D2DA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 4">
            <a:extLst>
              <a:ext uri="{FF2B5EF4-FFF2-40B4-BE49-F238E27FC236}">
                <a16:creationId xmlns:a16="http://schemas.microsoft.com/office/drawing/2014/main" id="{82F867E0-4A91-38D3-6A1C-A1DAECF57923}"/>
              </a:ext>
            </a:extLst>
          </p:cNvPr>
          <p:cNvSpPr/>
          <p:nvPr/>
        </p:nvSpPr>
        <p:spPr>
          <a:xfrm>
            <a:off x="438912" y="6510528"/>
            <a:ext cx="80467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CONFIDENTIAL  |  22</a:t>
            </a:r>
            <a:r>
              <a:rPr kumimoji="0" lang="en-US" sz="800" b="0" i="0" u="none" strike="noStrike" kern="1200" cap="none" spc="0" normalizeH="0" baseline="30000" noProof="0" dirty="0">
                <a:ln>
                  <a:noFill/>
                </a:ln>
                <a:solidFill>
                  <a:srgbClr val="5B6470"/>
                </a:solidFill>
                <a:effectLst/>
                <a:uLnTx/>
                <a:uFillTx/>
                <a:latin typeface="Segoe UI"/>
                <a:ea typeface="Aptos" pitchFamily="34" charset="-122"/>
                <a:cs typeface="Aptos" pitchFamily="34" charset="-120"/>
              </a:rPr>
              <a:t>nd</a:t>
            </a: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 Century Technologies  |  DLA EDM Vector Intelligence</a:t>
            </a:r>
            <a:endParaRPr kumimoji="0" lang="en-US" sz="800" b="0" i="0" u="none" strike="noStrike" kern="1200" cap="none" spc="0" normalizeH="0" baseline="0" noProof="0" dirty="0">
              <a:ln>
                <a:noFill/>
              </a:ln>
              <a:solidFill>
                <a:prstClr val="black"/>
              </a:solidFill>
              <a:effectLst/>
              <a:uLnTx/>
              <a:uFillTx/>
              <a:ea typeface="+mn-ea"/>
              <a:cs typeface="+mn-cs"/>
            </a:endParaRPr>
          </a:p>
        </p:txBody>
      </p:sp>
      <p:sp>
        <p:nvSpPr>
          <p:cNvPr id="23" name="Rectangle 22">
            <a:extLst>
              <a:ext uri="{FF2B5EF4-FFF2-40B4-BE49-F238E27FC236}">
                <a16:creationId xmlns:a16="http://schemas.microsoft.com/office/drawing/2014/main" id="{C8E036C4-D737-7CE1-0374-511CAA5D8C7F}"/>
              </a:ext>
            </a:extLst>
          </p:cNvPr>
          <p:cNvSpPr/>
          <p:nvPr/>
        </p:nvSpPr>
        <p:spPr>
          <a:xfrm>
            <a:off x="502920" y="1120140"/>
            <a:ext cx="1106424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256032"/>
            <a:ext cx="11430000" cy="457200"/>
          </a:xfrm>
          <a:prstGeom prst="rect">
            <a:avLst/>
          </a:prstGeom>
          <a:noFill/>
        </p:spPr>
        <p:txBody>
          <a:bodyPr wrap="square" lIns="25400" tIns="12700" rIns="25400" bIns="12700">
            <a:spAutoFit/>
          </a:bodyPr>
          <a:lstStyle/>
          <a:p>
            <a:r>
              <a:rPr sz="2300" b="1" i="0">
                <a:solidFill>
                  <a:srgbClr val="102A4C"/>
                </a:solidFill>
                <a:latin typeface="Segoe UI"/>
              </a:rPr>
              <a:t>Scenarios covered by the app (1 of 2)</a:t>
            </a:r>
          </a:p>
        </p:txBody>
      </p:sp>
      <p:sp>
        <p:nvSpPr>
          <p:cNvPr id="3" name="TextBox 2"/>
          <p:cNvSpPr txBox="1"/>
          <p:nvPr/>
        </p:nvSpPr>
        <p:spPr>
          <a:xfrm>
            <a:off x="365760" y="786384"/>
            <a:ext cx="11430000" cy="292608"/>
          </a:xfrm>
          <a:prstGeom prst="rect">
            <a:avLst/>
          </a:prstGeom>
          <a:noFill/>
        </p:spPr>
        <p:txBody>
          <a:bodyPr wrap="square" lIns="25400" tIns="12700" rIns="25400" bIns="12700">
            <a:spAutoFit/>
          </a:bodyPr>
          <a:lstStyle/>
          <a:p>
            <a:r>
              <a:rPr sz="1200" b="0" i="0">
                <a:solidFill>
                  <a:srgbClr val="5E6A75"/>
                </a:solidFill>
                <a:latin typeface="Segoe UI"/>
              </a:rPr>
              <a:t>Demand and Supply. Each is a working capability in the prototype; the demo runs them live.</a:t>
            </a:r>
          </a:p>
        </p:txBody>
      </p:sp>
      <p:sp>
        <p:nvSpPr>
          <p:cNvPr id="4" name="Rounded Rectangle 3"/>
          <p:cNvSpPr/>
          <p:nvPr/>
        </p:nvSpPr>
        <p:spPr>
          <a:xfrm>
            <a:off x="365760" y="1234440"/>
            <a:ext cx="3730752" cy="1417320"/>
          </a:xfrm>
          <a:prstGeom prst="roundRect">
            <a:avLst/>
          </a:prstGeom>
          <a:solidFill>
            <a:srgbClr val="FFFFFF"/>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75488" y="1344168"/>
            <a:ext cx="329184" cy="329184"/>
          </a:xfrm>
          <a:prstGeom prst="roundRect">
            <a:avLst/>
          </a:prstGeom>
          <a:solidFill>
            <a:srgbClr val="1F5E9C"/>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a:solidFill>
                  <a:srgbClr val="FFFFFF"/>
                </a:solidFill>
                <a:latin typeface="Segoe UI"/>
              </a:rPr>
              <a:t>1</a:t>
            </a:r>
          </a:p>
        </p:txBody>
      </p:sp>
      <p:sp>
        <p:nvSpPr>
          <p:cNvPr id="6" name="TextBox 5"/>
          <p:cNvSpPr txBox="1"/>
          <p:nvPr/>
        </p:nvSpPr>
        <p:spPr>
          <a:xfrm>
            <a:off x="877824" y="1344168"/>
            <a:ext cx="3127248" cy="310896"/>
          </a:xfrm>
          <a:prstGeom prst="rect">
            <a:avLst/>
          </a:prstGeom>
          <a:noFill/>
        </p:spPr>
        <p:txBody>
          <a:bodyPr wrap="square" lIns="25400" tIns="12700" rIns="25400" bIns="12700">
            <a:spAutoFit/>
          </a:bodyPr>
          <a:lstStyle/>
          <a:p>
            <a:r>
              <a:rPr sz="1150" b="1" i="0">
                <a:solidFill>
                  <a:srgbClr val="102A4C"/>
                </a:solidFill>
                <a:latin typeface="Segoe UI"/>
              </a:rPr>
              <a:t>Demand Forecast</a:t>
            </a:r>
          </a:p>
        </p:txBody>
      </p:sp>
      <p:sp>
        <p:nvSpPr>
          <p:cNvPr id="7" name="TextBox 6"/>
          <p:cNvSpPr txBox="1"/>
          <p:nvPr/>
        </p:nvSpPr>
        <p:spPr>
          <a:xfrm>
            <a:off x="502920" y="1709928"/>
            <a:ext cx="3456432" cy="640080"/>
          </a:xfrm>
          <a:prstGeom prst="rect">
            <a:avLst/>
          </a:prstGeom>
          <a:noFill/>
        </p:spPr>
        <p:txBody>
          <a:bodyPr wrap="square" lIns="25400" tIns="12700" rIns="25400" bIns="12700">
            <a:spAutoFit/>
          </a:bodyPr>
          <a:lstStyle/>
          <a:p>
            <a:r>
              <a:rPr sz="950" b="0" i="0">
                <a:solidFill>
                  <a:srgbClr val="5E6A75"/>
                </a:solidFill>
                <a:latin typeface="Segoe UI"/>
              </a:rPr>
              <a:t>Two-phase model learns cross-item patterns and gives P10-P90 ranges instead of a flat average.</a:t>
            </a:r>
          </a:p>
        </p:txBody>
      </p:sp>
      <p:sp>
        <p:nvSpPr>
          <p:cNvPr id="8" name="TextBox 7"/>
          <p:cNvSpPr txBox="1"/>
          <p:nvPr/>
        </p:nvSpPr>
        <p:spPr>
          <a:xfrm>
            <a:off x="502920" y="2395728"/>
            <a:ext cx="3456432" cy="219456"/>
          </a:xfrm>
          <a:prstGeom prst="rect">
            <a:avLst/>
          </a:prstGeom>
          <a:noFill/>
        </p:spPr>
        <p:txBody>
          <a:bodyPr wrap="square" lIns="25400" tIns="12700" rIns="25400" bIns="12700">
            <a:spAutoFit/>
          </a:bodyPr>
          <a:lstStyle/>
          <a:p>
            <a:r>
              <a:rPr sz="850" b="0" i="1">
                <a:solidFill>
                  <a:srgbClr val="1F5E9C"/>
                </a:solidFill>
                <a:latin typeface="Segoe UI"/>
              </a:rPr>
              <a:t>LightGBM hurdle</a:t>
            </a:r>
          </a:p>
        </p:txBody>
      </p:sp>
      <p:sp>
        <p:nvSpPr>
          <p:cNvPr id="9" name="Rounded Rectangle 8"/>
          <p:cNvSpPr/>
          <p:nvPr/>
        </p:nvSpPr>
        <p:spPr>
          <a:xfrm>
            <a:off x="4206240" y="1234440"/>
            <a:ext cx="3730752" cy="1417320"/>
          </a:xfrm>
          <a:prstGeom prst="roundRect">
            <a:avLst/>
          </a:prstGeom>
          <a:solidFill>
            <a:srgbClr val="FFFFFF"/>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4315968" y="1344168"/>
            <a:ext cx="329184" cy="329184"/>
          </a:xfrm>
          <a:prstGeom prst="roundRect">
            <a:avLst/>
          </a:prstGeom>
          <a:solidFill>
            <a:srgbClr val="1F5E9C"/>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a:solidFill>
                  <a:srgbClr val="FFFFFF"/>
                </a:solidFill>
                <a:latin typeface="Segoe UI"/>
              </a:rPr>
              <a:t>2</a:t>
            </a:r>
          </a:p>
        </p:txBody>
      </p:sp>
      <p:sp>
        <p:nvSpPr>
          <p:cNvPr id="11" name="TextBox 10"/>
          <p:cNvSpPr txBox="1"/>
          <p:nvPr/>
        </p:nvSpPr>
        <p:spPr>
          <a:xfrm>
            <a:off x="4718304" y="1344168"/>
            <a:ext cx="3127248" cy="310896"/>
          </a:xfrm>
          <a:prstGeom prst="rect">
            <a:avLst/>
          </a:prstGeom>
          <a:noFill/>
        </p:spPr>
        <p:txBody>
          <a:bodyPr wrap="square" lIns="25400" tIns="12700" rIns="25400" bIns="12700">
            <a:spAutoFit/>
          </a:bodyPr>
          <a:lstStyle/>
          <a:p>
            <a:r>
              <a:rPr sz="1150" b="1" i="0">
                <a:solidFill>
                  <a:srgbClr val="102A4C"/>
                </a:solidFill>
                <a:latin typeface="Segoe UI"/>
              </a:rPr>
              <a:t>Drift-Augmented Procurement</a:t>
            </a:r>
          </a:p>
        </p:txBody>
      </p:sp>
      <p:sp>
        <p:nvSpPr>
          <p:cNvPr id="12" name="TextBox 11"/>
          <p:cNvSpPr txBox="1"/>
          <p:nvPr/>
        </p:nvSpPr>
        <p:spPr>
          <a:xfrm>
            <a:off x="4343400" y="1709928"/>
            <a:ext cx="3456432" cy="640080"/>
          </a:xfrm>
          <a:prstGeom prst="rect">
            <a:avLst/>
          </a:prstGeom>
          <a:noFill/>
        </p:spPr>
        <p:txBody>
          <a:bodyPr wrap="square" lIns="25400" tIns="12700" rIns="25400" bIns="12700">
            <a:spAutoFit/>
          </a:bodyPr>
          <a:lstStyle/>
          <a:p>
            <a:r>
              <a:rPr sz="950" b="0" i="0">
                <a:solidFill>
                  <a:srgbClr val="5E6A75"/>
                </a:solidFill>
                <a:latin typeface="Segoe UI"/>
              </a:rPr>
              <a:t>Reads where an item's behavior is heading and nudges the order signal early.</a:t>
            </a:r>
          </a:p>
        </p:txBody>
      </p:sp>
      <p:sp>
        <p:nvSpPr>
          <p:cNvPr id="13" name="TextBox 12"/>
          <p:cNvSpPr txBox="1"/>
          <p:nvPr/>
        </p:nvSpPr>
        <p:spPr>
          <a:xfrm>
            <a:off x="4343400" y="2395728"/>
            <a:ext cx="3456432" cy="219456"/>
          </a:xfrm>
          <a:prstGeom prst="rect">
            <a:avLst/>
          </a:prstGeom>
          <a:noFill/>
        </p:spPr>
        <p:txBody>
          <a:bodyPr wrap="square" lIns="25400" tIns="12700" rIns="25400" bIns="12700">
            <a:spAutoFit/>
          </a:bodyPr>
          <a:lstStyle/>
          <a:p>
            <a:r>
              <a:rPr sz="850" b="0" i="1">
                <a:solidFill>
                  <a:srgbClr val="1F5E9C"/>
                </a:solidFill>
                <a:latin typeface="Segoe UI"/>
              </a:rPr>
              <a:t>Vector trajectory</a:t>
            </a:r>
          </a:p>
        </p:txBody>
      </p:sp>
      <p:sp>
        <p:nvSpPr>
          <p:cNvPr id="14" name="Rounded Rectangle 13"/>
          <p:cNvSpPr/>
          <p:nvPr/>
        </p:nvSpPr>
        <p:spPr>
          <a:xfrm>
            <a:off x="8046720" y="1234440"/>
            <a:ext cx="3730752" cy="1417320"/>
          </a:xfrm>
          <a:prstGeom prst="roundRect">
            <a:avLst/>
          </a:prstGeom>
          <a:solidFill>
            <a:srgbClr val="FFFFFF"/>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8156448" y="1344168"/>
            <a:ext cx="329184" cy="329184"/>
          </a:xfrm>
          <a:prstGeom prst="roundRect">
            <a:avLst/>
          </a:prstGeom>
          <a:solidFill>
            <a:srgbClr val="1F5E9C"/>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a:solidFill>
                  <a:srgbClr val="FFFFFF"/>
                </a:solidFill>
                <a:latin typeface="Segoe UI"/>
              </a:rPr>
              <a:t>3</a:t>
            </a:r>
          </a:p>
        </p:txBody>
      </p:sp>
      <p:sp>
        <p:nvSpPr>
          <p:cNvPr id="16" name="TextBox 15"/>
          <p:cNvSpPr txBox="1"/>
          <p:nvPr/>
        </p:nvSpPr>
        <p:spPr>
          <a:xfrm>
            <a:off x="8558784" y="1344168"/>
            <a:ext cx="3127248" cy="310896"/>
          </a:xfrm>
          <a:prstGeom prst="rect">
            <a:avLst/>
          </a:prstGeom>
          <a:noFill/>
        </p:spPr>
        <p:txBody>
          <a:bodyPr wrap="square" lIns="25400" tIns="12700" rIns="25400" bIns="12700">
            <a:spAutoFit/>
          </a:bodyPr>
          <a:lstStyle/>
          <a:p>
            <a:r>
              <a:rPr sz="1150" b="1" i="0">
                <a:solidFill>
                  <a:srgbClr val="102A4C"/>
                </a:solidFill>
                <a:latin typeface="Segoe UI"/>
              </a:rPr>
              <a:t>Cold-Start Forecasting</a:t>
            </a:r>
          </a:p>
        </p:txBody>
      </p:sp>
      <p:sp>
        <p:nvSpPr>
          <p:cNvPr id="17" name="TextBox 16"/>
          <p:cNvSpPr txBox="1"/>
          <p:nvPr/>
        </p:nvSpPr>
        <p:spPr>
          <a:xfrm>
            <a:off x="8183880" y="1709928"/>
            <a:ext cx="3456432" cy="640080"/>
          </a:xfrm>
          <a:prstGeom prst="rect">
            <a:avLst/>
          </a:prstGeom>
          <a:noFill/>
        </p:spPr>
        <p:txBody>
          <a:bodyPr wrap="square" lIns="25400" tIns="12700" rIns="25400" bIns="12700">
            <a:spAutoFit/>
          </a:bodyPr>
          <a:lstStyle/>
          <a:p>
            <a:r>
              <a:rPr sz="950" b="0" i="0">
                <a:solidFill>
                  <a:srgbClr val="5E6A75"/>
                </a:solidFill>
                <a:latin typeface="Segoe UI"/>
              </a:rPr>
              <a:t>Gives a day-one forecast for a new item from its behavioral neighbors.</a:t>
            </a:r>
          </a:p>
        </p:txBody>
      </p:sp>
      <p:sp>
        <p:nvSpPr>
          <p:cNvPr id="18" name="TextBox 17"/>
          <p:cNvSpPr txBox="1"/>
          <p:nvPr/>
        </p:nvSpPr>
        <p:spPr>
          <a:xfrm>
            <a:off x="8183880" y="2395728"/>
            <a:ext cx="3456432" cy="219456"/>
          </a:xfrm>
          <a:prstGeom prst="rect">
            <a:avLst/>
          </a:prstGeom>
          <a:noFill/>
        </p:spPr>
        <p:txBody>
          <a:bodyPr wrap="square" lIns="25400" tIns="12700" rIns="25400" bIns="12700">
            <a:spAutoFit/>
          </a:bodyPr>
          <a:lstStyle/>
          <a:p>
            <a:r>
              <a:rPr sz="850" b="0" i="1">
                <a:solidFill>
                  <a:srgbClr val="1F5E9C"/>
                </a:solidFill>
                <a:latin typeface="Segoe UI"/>
              </a:rPr>
              <a:t>k-NN similarity</a:t>
            </a:r>
          </a:p>
        </p:txBody>
      </p:sp>
      <p:sp>
        <p:nvSpPr>
          <p:cNvPr id="19" name="Rounded Rectangle 18"/>
          <p:cNvSpPr/>
          <p:nvPr/>
        </p:nvSpPr>
        <p:spPr>
          <a:xfrm>
            <a:off x="365760" y="2779776"/>
            <a:ext cx="3730752" cy="1417320"/>
          </a:xfrm>
          <a:prstGeom prst="roundRect">
            <a:avLst/>
          </a:prstGeom>
          <a:solidFill>
            <a:srgbClr val="FFFFFF"/>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475488" y="2889504"/>
            <a:ext cx="329184" cy="329184"/>
          </a:xfrm>
          <a:prstGeom prst="roundRect">
            <a:avLst/>
          </a:prstGeom>
          <a:solidFill>
            <a:srgbClr val="1F5E9C"/>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a:solidFill>
                  <a:srgbClr val="FFFFFF"/>
                </a:solidFill>
                <a:latin typeface="Segoe UI"/>
              </a:rPr>
              <a:t>4</a:t>
            </a:r>
          </a:p>
        </p:txBody>
      </p:sp>
      <p:sp>
        <p:nvSpPr>
          <p:cNvPr id="21" name="TextBox 20"/>
          <p:cNvSpPr txBox="1"/>
          <p:nvPr/>
        </p:nvSpPr>
        <p:spPr>
          <a:xfrm>
            <a:off x="877824" y="2889504"/>
            <a:ext cx="3127248" cy="310896"/>
          </a:xfrm>
          <a:prstGeom prst="rect">
            <a:avLst/>
          </a:prstGeom>
          <a:noFill/>
        </p:spPr>
        <p:txBody>
          <a:bodyPr wrap="square" lIns="25400" tIns="12700" rIns="25400" bIns="12700">
            <a:spAutoFit/>
          </a:bodyPr>
          <a:lstStyle/>
          <a:p>
            <a:r>
              <a:rPr sz="1150" b="1" i="0">
                <a:solidFill>
                  <a:srgbClr val="102A4C"/>
                </a:solidFill>
                <a:latin typeface="Segoe UI"/>
              </a:rPr>
              <a:t>Exercise Surge Modeling</a:t>
            </a:r>
          </a:p>
        </p:txBody>
      </p:sp>
      <p:sp>
        <p:nvSpPr>
          <p:cNvPr id="22" name="TextBox 21"/>
          <p:cNvSpPr txBox="1"/>
          <p:nvPr/>
        </p:nvSpPr>
        <p:spPr>
          <a:xfrm>
            <a:off x="502920" y="3255264"/>
            <a:ext cx="3456432" cy="640080"/>
          </a:xfrm>
          <a:prstGeom prst="rect">
            <a:avLst/>
          </a:prstGeom>
          <a:noFill/>
        </p:spPr>
        <p:txBody>
          <a:bodyPr wrap="square" lIns="25400" tIns="12700" rIns="25400" bIns="12700">
            <a:spAutoFit/>
          </a:bodyPr>
          <a:lstStyle/>
          <a:p>
            <a:r>
              <a:rPr sz="950" b="0" i="0">
                <a:solidFill>
                  <a:srgbClr val="5E6A75"/>
                </a:solidFill>
                <a:latin typeface="Segoe UI"/>
              </a:rPr>
              <a:t>Learns surge size by item type rather than applying one generic multiplier.</a:t>
            </a:r>
          </a:p>
        </p:txBody>
      </p:sp>
      <p:sp>
        <p:nvSpPr>
          <p:cNvPr id="23" name="TextBox 22"/>
          <p:cNvSpPr txBox="1"/>
          <p:nvPr/>
        </p:nvSpPr>
        <p:spPr>
          <a:xfrm>
            <a:off x="502920" y="3941063"/>
            <a:ext cx="3456432" cy="219456"/>
          </a:xfrm>
          <a:prstGeom prst="rect">
            <a:avLst/>
          </a:prstGeom>
          <a:noFill/>
        </p:spPr>
        <p:txBody>
          <a:bodyPr wrap="square" lIns="25400" tIns="12700" rIns="25400" bIns="12700">
            <a:spAutoFit/>
          </a:bodyPr>
          <a:lstStyle/>
          <a:p>
            <a:r>
              <a:rPr sz="850" b="0" i="1">
                <a:solidFill>
                  <a:srgbClr val="1F5E9C"/>
                </a:solidFill>
                <a:latin typeface="Segoe UI"/>
              </a:rPr>
              <a:t>LightGBM + exercise feats</a:t>
            </a:r>
          </a:p>
        </p:txBody>
      </p:sp>
      <p:sp>
        <p:nvSpPr>
          <p:cNvPr id="24" name="Rounded Rectangle 23"/>
          <p:cNvSpPr/>
          <p:nvPr/>
        </p:nvSpPr>
        <p:spPr>
          <a:xfrm>
            <a:off x="4206240" y="2779776"/>
            <a:ext cx="3730752" cy="1417320"/>
          </a:xfrm>
          <a:prstGeom prst="roundRect">
            <a:avLst/>
          </a:prstGeom>
          <a:solidFill>
            <a:srgbClr val="FFFFFF"/>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4315968" y="2889504"/>
            <a:ext cx="329184" cy="329184"/>
          </a:xfrm>
          <a:prstGeom prst="roundRect">
            <a:avLst/>
          </a:prstGeom>
          <a:solidFill>
            <a:srgbClr val="1F5E9C"/>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a:solidFill>
                  <a:srgbClr val="FFFFFF"/>
                </a:solidFill>
                <a:latin typeface="Segoe UI"/>
              </a:rPr>
              <a:t>5</a:t>
            </a:r>
          </a:p>
        </p:txBody>
      </p:sp>
      <p:sp>
        <p:nvSpPr>
          <p:cNvPr id="26" name="TextBox 25"/>
          <p:cNvSpPr txBox="1"/>
          <p:nvPr/>
        </p:nvSpPr>
        <p:spPr>
          <a:xfrm>
            <a:off x="4718304" y="2889504"/>
            <a:ext cx="3127248" cy="310896"/>
          </a:xfrm>
          <a:prstGeom prst="rect">
            <a:avLst/>
          </a:prstGeom>
          <a:noFill/>
        </p:spPr>
        <p:txBody>
          <a:bodyPr wrap="square" lIns="25400" tIns="12700" rIns="25400" bIns="12700">
            <a:spAutoFit/>
          </a:bodyPr>
          <a:lstStyle/>
          <a:p>
            <a:r>
              <a:rPr sz="1150" b="1" i="0">
                <a:solidFill>
                  <a:srgbClr val="102A4C"/>
                </a:solidFill>
                <a:latin typeface="Segoe UI"/>
              </a:rPr>
              <a:t>Forecast Benchmark</a:t>
            </a:r>
          </a:p>
        </p:txBody>
      </p:sp>
      <p:sp>
        <p:nvSpPr>
          <p:cNvPr id="27" name="TextBox 26"/>
          <p:cNvSpPr txBox="1"/>
          <p:nvPr/>
        </p:nvSpPr>
        <p:spPr>
          <a:xfrm>
            <a:off x="4343400" y="3255264"/>
            <a:ext cx="3456432" cy="640080"/>
          </a:xfrm>
          <a:prstGeom prst="rect">
            <a:avLst/>
          </a:prstGeom>
          <a:noFill/>
        </p:spPr>
        <p:txBody>
          <a:bodyPr wrap="square" lIns="25400" tIns="12700" rIns="25400" bIns="12700">
            <a:spAutoFit/>
          </a:bodyPr>
          <a:lstStyle/>
          <a:p>
            <a:r>
              <a:rPr sz="950" b="0" i="0">
                <a:solidFill>
                  <a:srgbClr val="5E6A75"/>
                </a:solidFill>
                <a:latin typeface="Segoe UI"/>
              </a:rPr>
              <a:t>Scores each model on held-out weeks vs a pretrained time-series model and legacy.</a:t>
            </a:r>
          </a:p>
        </p:txBody>
      </p:sp>
      <p:sp>
        <p:nvSpPr>
          <p:cNvPr id="28" name="TextBox 27"/>
          <p:cNvSpPr txBox="1"/>
          <p:nvPr/>
        </p:nvSpPr>
        <p:spPr>
          <a:xfrm>
            <a:off x="4343400" y="3941063"/>
            <a:ext cx="3456432" cy="219456"/>
          </a:xfrm>
          <a:prstGeom prst="rect">
            <a:avLst/>
          </a:prstGeom>
          <a:noFill/>
        </p:spPr>
        <p:txBody>
          <a:bodyPr wrap="square" lIns="25400" tIns="12700" rIns="25400" bIns="12700">
            <a:spAutoFit/>
          </a:bodyPr>
          <a:lstStyle/>
          <a:p>
            <a:r>
              <a:rPr sz="850" b="0" i="1">
                <a:solidFill>
                  <a:srgbClr val="1F5E9C"/>
                </a:solidFill>
                <a:latin typeface="Segoe UI"/>
              </a:rPr>
              <a:t>Walk-forward backtest</a:t>
            </a:r>
          </a:p>
        </p:txBody>
      </p:sp>
      <p:sp>
        <p:nvSpPr>
          <p:cNvPr id="29" name="Rounded Rectangle 28"/>
          <p:cNvSpPr/>
          <p:nvPr/>
        </p:nvSpPr>
        <p:spPr>
          <a:xfrm>
            <a:off x="8046720" y="2779776"/>
            <a:ext cx="3730752" cy="1417320"/>
          </a:xfrm>
          <a:prstGeom prst="roundRect">
            <a:avLst/>
          </a:prstGeom>
          <a:solidFill>
            <a:srgbClr val="FFFFFF"/>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8156448" y="2889504"/>
            <a:ext cx="329184" cy="329184"/>
          </a:xfrm>
          <a:prstGeom prst="roundRect">
            <a:avLst/>
          </a:prstGeom>
          <a:solidFill>
            <a:srgbClr val="118484"/>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a:solidFill>
                  <a:srgbClr val="FFFFFF"/>
                </a:solidFill>
                <a:latin typeface="Segoe UI"/>
              </a:rPr>
              <a:t>6</a:t>
            </a:r>
          </a:p>
        </p:txBody>
      </p:sp>
      <p:sp>
        <p:nvSpPr>
          <p:cNvPr id="31" name="TextBox 30"/>
          <p:cNvSpPr txBox="1"/>
          <p:nvPr/>
        </p:nvSpPr>
        <p:spPr>
          <a:xfrm>
            <a:off x="8558784" y="2889504"/>
            <a:ext cx="3127248" cy="310896"/>
          </a:xfrm>
          <a:prstGeom prst="rect">
            <a:avLst/>
          </a:prstGeom>
          <a:noFill/>
        </p:spPr>
        <p:txBody>
          <a:bodyPr wrap="square" lIns="25400" tIns="12700" rIns="25400" bIns="12700">
            <a:spAutoFit/>
          </a:bodyPr>
          <a:lstStyle/>
          <a:p>
            <a:r>
              <a:rPr sz="1150" b="1" i="0">
                <a:solidFill>
                  <a:srgbClr val="102A4C"/>
                </a:solidFill>
                <a:latin typeface="Segoe UI"/>
              </a:rPr>
              <a:t>Supplier Risk Scoring</a:t>
            </a:r>
          </a:p>
        </p:txBody>
      </p:sp>
      <p:sp>
        <p:nvSpPr>
          <p:cNvPr id="32" name="TextBox 31"/>
          <p:cNvSpPr txBox="1"/>
          <p:nvPr/>
        </p:nvSpPr>
        <p:spPr>
          <a:xfrm>
            <a:off x="8183880" y="3255264"/>
            <a:ext cx="3456432" cy="640080"/>
          </a:xfrm>
          <a:prstGeom prst="rect">
            <a:avLst/>
          </a:prstGeom>
          <a:noFill/>
        </p:spPr>
        <p:txBody>
          <a:bodyPr wrap="square" lIns="25400" tIns="12700" rIns="25400" bIns="12700">
            <a:spAutoFit/>
          </a:bodyPr>
          <a:lstStyle/>
          <a:p>
            <a:r>
              <a:rPr sz="950" b="0" i="0">
                <a:solidFill>
                  <a:srgbClr val="5E6A75"/>
                </a:solidFill>
                <a:latin typeface="Segoe UI"/>
              </a:rPr>
              <a:t>30/60/90-day disruption risk with named drivers (on-time trend, geography, behavior).</a:t>
            </a:r>
          </a:p>
        </p:txBody>
      </p:sp>
      <p:sp>
        <p:nvSpPr>
          <p:cNvPr id="33" name="TextBox 32"/>
          <p:cNvSpPr txBox="1"/>
          <p:nvPr/>
        </p:nvSpPr>
        <p:spPr>
          <a:xfrm>
            <a:off x="8183880" y="3941063"/>
            <a:ext cx="3456432" cy="219456"/>
          </a:xfrm>
          <a:prstGeom prst="rect">
            <a:avLst/>
          </a:prstGeom>
          <a:noFill/>
        </p:spPr>
        <p:txBody>
          <a:bodyPr wrap="square" lIns="25400" tIns="12700" rIns="25400" bIns="12700">
            <a:spAutoFit/>
          </a:bodyPr>
          <a:lstStyle/>
          <a:p>
            <a:r>
              <a:rPr sz="850" b="0" i="1">
                <a:solidFill>
                  <a:srgbClr val="118484"/>
                </a:solidFill>
                <a:latin typeface="Segoe UI"/>
              </a:rPr>
              <a:t>LightGBM + SHAP</a:t>
            </a:r>
          </a:p>
        </p:txBody>
      </p:sp>
      <p:sp>
        <p:nvSpPr>
          <p:cNvPr id="34" name="Rounded Rectangle 33"/>
          <p:cNvSpPr/>
          <p:nvPr/>
        </p:nvSpPr>
        <p:spPr>
          <a:xfrm>
            <a:off x="365760" y="4325112"/>
            <a:ext cx="3730752" cy="1417320"/>
          </a:xfrm>
          <a:prstGeom prst="roundRect">
            <a:avLst/>
          </a:prstGeom>
          <a:solidFill>
            <a:srgbClr val="FFFFFF"/>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475488" y="4434840"/>
            <a:ext cx="329184" cy="329184"/>
          </a:xfrm>
          <a:prstGeom prst="roundRect">
            <a:avLst/>
          </a:prstGeom>
          <a:solidFill>
            <a:srgbClr val="118484"/>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a:solidFill>
                  <a:srgbClr val="FFFFFF"/>
                </a:solidFill>
                <a:latin typeface="Segoe UI"/>
              </a:rPr>
              <a:t>7</a:t>
            </a:r>
          </a:p>
        </p:txBody>
      </p:sp>
      <p:sp>
        <p:nvSpPr>
          <p:cNvPr id="36" name="TextBox 35"/>
          <p:cNvSpPr txBox="1"/>
          <p:nvPr/>
        </p:nvSpPr>
        <p:spPr>
          <a:xfrm>
            <a:off x="877824" y="4434840"/>
            <a:ext cx="3127248" cy="310896"/>
          </a:xfrm>
          <a:prstGeom prst="rect">
            <a:avLst/>
          </a:prstGeom>
          <a:noFill/>
        </p:spPr>
        <p:txBody>
          <a:bodyPr wrap="square" lIns="25400" tIns="12700" rIns="25400" bIns="12700">
            <a:spAutoFit/>
          </a:bodyPr>
          <a:lstStyle/>
          <a:p>
            <a:r>
              <a:rPr sz="1150" b="1" i="0">
                <a:solidFill>
                  <a:srgbClr val="102A4C"/>
                </a:solidFill>
                <a:latin typeface="Segoe UI"/>
              </a:rPr>
              <a:t>Lead-Time Estimation</a:t>
            </a:r>
          </a:p>
        </p:txBody>
      </p:sp>
      <p:sp>
        <p:nvSpPr>
          <p:cNvPr id="37" name="TextBox 36"/>
          <p:cNvSpPr txBox="1"/>
          <p:nvPr/>
        </p:nvSpPr>
        <p:spPr>
          <a:xfrm>
            <a:off x="502920" y="4800600"/>
            <a:ext cx="3456432" cy="640080"/>
          </a:xfrm>
          <a:prstGeom prst="rect">
            <a:avLst/>
          </a:prstGeom>
          <a:noFill/>
        </p:spPr>
        <p:txBody>
          <a:bodyPr wrap="square" lIns="25400" tIns="12700" rIns="25400" bIns="12700">
            <a:spAutoFit/>
          </a:bodyPr>
          <a:lstStyle/>
          <a:p>
            <a:r>
              <a:rPr sz="950" b="0" i="0">
                <a:solidFill>
                  <a:srgbClr val="5E6A75"/>
                </a:solidFill>
                <a:latin typeface="Segoe UI"/>
              </a:rPr>
              <a:t>Probabilistic delivery timelines by supplier, mode, route, and reliability pattern.</a:t>
            </a:r>
          </a:p>
        </p:txBody>
      </p:sp>
      <p:sp>
        <p:nvSpPr>
          <p:cNvPr id="38" name="TextBox 37"/>
          <p:cNvSpPr txBox="1"/>
          <p:nvPr/>
        </p:nvSpPr>
        <p:spPr>
          <a:xfrm>
            <a:off x="502920" y="5486400"/>
            <a:ext cx="3456432" cy="219456"/>
          </a:xfrm>
          <a:prstGeom prst="rect">
            <a:avLst/>
          </a:prstGeom>
          <a:noFill/>
        </p:spPr>
        <p:txBody>
          <a:bodyPr wrap="square" lIns="25400" tIns="12700" rIns="25400" bIns="12700">
            <a:spAutoFit/>
          </a:bodyPr>
          <a:lstStyle/>
          <a:p>
            <a:r>
              <a:rPr sz="850" b="0" i="1">
                <a:solidFill>
                  <a:srgbClr val="118484"/>
                </a:solidFill>
                <a:latin typeface="Segoe UI"/>
              </a:rPr>
              <a:t>Quantile model</a:t>
            </a:r>
          </a:p>
        </p:txBody>
      </p:sp>
      <p:sp>
        <p:nvSpPr>
          <p:cNvPr id="39" name="Rounded Rectangle 38"/>
          <p:cNvSpPr/>
          <p:nvPr/>
        </p:nvSpPr>
        <p:spPr>
          <a:xfrm>
            <a:off x="4206240" y="4325112"/>
            <a:ext cx="3730752" cy="1417320"/>
          </a:xfrm>
          <a:prstGeom prst="roundRect">
            <a:avLst/>
          </a:prstGeom>
          <a:solidFill>
            <a:srgbClr val="FFFFFF"/>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4315968" y="4434840"/>
            <a:ext cx="329184" cy="329184"/>
          </a:xfrm>
          <a:prstGeom prst="roundRect">
            <a:avLst/>
          </a:prstGeom>
          <a:solidFill>
            <a:srgbClr val="118484"/>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a:solidFill>
                  <a:srgbClr val="FFFFFF"/>
                </a:solidFill>
                <a:latin typeface="Segoe UI"/>
              </a:rPr>
              <a:t>8</a:t>
            </a:r>
          </a:p>
        </p:txBody>
      </p:sp>
      <p:sp>
        <p:nvSpPr>
          <p:cNvPr id="41" name="TextBox 40"/>
          <p:cNvSpPr txBox="1"/>
          <p:nvPr/>
        </p:nvSpPr>
        <p:spPr>
          <a:xfrm>
            <a:off x="4718304" y="4434840"/>
            <a:ext cx="3127248" cy="310896"/>
          </a:xfrm>
          <a:prstGeom prst="rect">
            <a:avLst/>
          </a:prstGeom>
          <a:noFill/>
        </p:spPr>
        <p:txBody>
          <a:bodyPr wrap="square" lIns="25400" tIns="12700" rIns="25400" bIns="12700">
            <a:spAutoFit/>
          </a:bodyPr>
          <a:lstStyle/>
          <a:p>
            <a:r>
              <a:rPr sz="1150" b="1" i="0">
                <a:solidFill>
                  <a:srgbClr val="102A4C"/>
                </a:solidFill>
                <a:latin typeface="Segoe UI"/>
              </a:rPr>
              <a:t>Supplier Capability Discovery</a:t>
            </a:r>
          </a:p>
        </p:txBody>
      </p:sp>
      <p:sp>
        <p:nvSpPr>
          <p:cNvPr id="42" name="TextBox 41"/>
          <p:cNvSpPr txBox="1"/>
          <p:nvPr/>
        </p:nvSpPr>
        <p:spPr>
          <a:xfrm>
            <a:off x="4343400" y="4800600"/>
            <a:ext cx="3456432" cy="640080"/>
          </a:xfrm>
          <a:prstGeom prst="rect">
            <a:avLst/>
          </a:prstGeom>
          <a:noFill/>
        </p:spPr>
        <p:txBody>
          <a:bodyPr wrap="square" lIns="25400" tIns="12700" rIns="25400" bIns="12700">
            <a:spAutoFit/>
          </a:bodyPr>
          <a:lstStyle/>
          <a:p>
            <a:r>
              <a:rPr sz="950" b="0" i="0">
                <a:solidFill>
                  <a:srgbClr val="5E6A75"/>
                </a:solidFill>
                <a:latin typeface="Segoe UI"/>
              </a:rPr>
              <a:t>Finds suppliers that could produce an item from relationship patterns.</a:t>
            </a:r>
          </a:p>
        </p:txBody>
      </p:sp>
      <p:sp>
        <p:nvSpPr>
          <p:cNvPr id="43" name="TextBox 42"/>
          <p:cNvSpPr txBox="1"/>
          <p:nvPr/>
        </p:nvSpPr>
        <p:spPr>
          <a:xfrm>
            <a:off x="4343400" y="5486400"/>
            <a:ext cx="3456432" cy="219456"/>
          </a:xfrm>
          <a:prstGeom prst="rect">
            <a:avLst/>
          </a:prstGeom>
          <a:noFill/>
        </p:spPr>
        <p:txBody>
          <a:bodyPr wrap="square" lIns="25400" tIns="12700" rIns="25400" bIns="12700">
            <a:spAutoFit/>
          </a:bodyPr>
          <a:lstStyle/>
          <a:p>
            <a:r>
              <a:rPr sz="850" b="0" i="1">
                <a:solidFill>
                  <a:srgbClr val="118484"/>
                </a:solidFill>
                <a:latin typeface="Segoe UI"/>
              </a:rPr>
              <a:t>TransE link prediction</a:t>
            </a:r>
          </a:p>
        </p:txBody>
      </p:sp>
      <p:sp>
        <p:nvSpPr>
          <p:cNvPr id="44" name="Rounded Rectangle 43"/>
          <p:cNvSpPr/>
          <p:nvPr/>
        </p:nvSpPr>
        <p:spPr>
          <a:xfrm>
            <a:off x="8046720" y="4325112"/>
            <a:ext cx="3730752" cy="1417320"/>
          </a:xfrm>
          <a:prstGeom prst="roundRect">
            <a:avLst/>
          </a:prstGeom>
          <a:solidFill>
            <a:srgbClr val="FFFFFF"/>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8156448" y="4434840"/>
            <a:ext cx="329184" cy="329184"/>
          </a:xfrm>
          <a:prstGeom prst="roundRect">
            <a:avLst/>
          </a:prstGeom>
          <a:solidFill>
            <a:srgbClr val="118484"/>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a:solidFill>
                  <a:srgbClr val="FFFFFF"/>
                </a:solidFill>
                <a:latin typeface="Segoe UI"/>
              </a:rPr>
              <a:t>9</a:t>
            </a:r>
          </a:p>
        </p:txBody>
      </p:sp>
      <p:sp>
        <p:nvSpPr>
          <p:cNvPr id="46" name="TextBox 45"/>
          <p:cNvSpPr txBox="1"/>
          <p:nvPr/>
        </p:nvSpPr>
        <p:spPr>
          <a:xfrm>
            <a:off x="8558784" y="4434840"/>
            <a:ext cx="3127248" cy="310896"/>
          </a:xfrm>
          <a:prstGeom prst="rect">
            <a:avLst/>
          </a:prstGeom>
          <a:noFill/>
        </p:spPr>
        <p:txBody>
          <a:bodyPr wrap="square" lIns="25400" tIns="12700" rIns="25400" bIns="12700">
            <a:spAutoFit/>
          </a:bodyPr>
          <a:lstStyle/>
          <a:p>
            <a:r>
              <a:rPr sz="1150" b="1" i="0">
                <a:solidFill>
                  <a:srgbClr val="102A4C"/>
                </a:solidFill>
                <a:latin typeface="Segoe UI"/>
              </a:rPr>
              <a:t>Route Bottleneck Identification</a:t>
            </a:r>
          </a:p>
        </p:txBody>
      </p:sp>
      <p:sp>
        <p:nvSpPr>
          <p:cNvPr id="47" name="TextBox 46"/>
          <p:cNvSpPr txBox="1"/>
          <p:nvPr/>
        </p:nvSpPr>
        <p:spPr>
          <a:xfrm>
            <a:off x="8183880" y="4800600"/>
            <a:ext cx="3456432" cy="640080"/>
          </a:xfrm>
          <a:prstGeom prst="rect">
            <a:avLst/>
          </a:prstGeom>
          <a:noFill/>
        </p:spPr>
        <p:txBody>
          <a:bodyPr wrap="square" lIns="25400" tIns="12700" rIns="25400" bIns="12700">
            <a:spAutoFit/>
          </a:bodyPr>
          <a:lstStyle/>
          <a:p>
            <a:r>
              <a:rPr sz="950" b="0" i="0">
                <a:solidFill>
                  <a:srgbClr val="5E6A75"/>
                </a:solidFill>
                <a:latin typeface="Segoe UI"/>
              </a:rPr>
              <a:t>Maps transport-network risk and the vulnerable legs.</a:t>
            </a:r>
          </a:p>
        </p:txBody>
      </p:sp>
      <p:sp>
        <p:nvSpPr>
          <p:cNvPr id="48" name="TextBox 47"/>
          <p:cNvSpPr txBox="1"/>
          <p:nvPr/>
        </p:nvSpPr>
        <p:spPr>
          <a:xfrm>
            <a:off x="8183880" y="5486400"/>
            <a:ext cx="3456432" cy="219456"/>
          </a:xfrm>
          <a:prstGeom prst="rect">
            <a:avLst/>
          </a:prstGeom>
          <a:noFill/>
        </p:spPr>
        <p:txBody>
          <a:bodyPr wrap="square" lIns="25400" tIns="12700" rIns="25400" bIns="12700">
            <a:spAutoFit/>
          </a:bodyPr>
          <a:lstStyle/>
          <a:p>
            <a:r>
              <a:rPr sz="850" b="0" i="1">
                <a:solidFill>
                  <a:srgbClr val="118484"/>
                </a:solidFill>
                <a:latin typeface="Segoe UI"/>
              </a:rPr>
              <a:t>Graph attention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256032"/>
            <a:ext cx="11430000" cy="457200"/>
          </a:xfrm>
          <a:prstGeom prst="rect">
            <a:avLst/>
          </a:prstGeom>
          <a:noFill/>
        </p:spPr>
        <p:txBody>
          <a:bodyPr wrap="square" lIns="25400" tIns="12700" rIns="25400" bIns="12700">
            <a:spAutoFit/>
          </a:bodyPr>
          <a:lstStyle/>
          <a:p>
            <a:r>
              <a:rPr sz="2300" b="1" i="0">
                <a:solidFill>
                  <a:srgbClr val="102A4C"/>
                </a:solidFill>
                <a:latin typeface="Segoe UI"/>
              </a:rPr>
              <a:t>Scenarios covered by the app (2 of 2)</a:t>
            </a:r>
          </a:p>
        </p:txBody>
      </p:sp>
      <p:sp>
        <p:nvSpPr>
          <p:cNvPr id="3" name="TextBox 2"/>
          <p:cNvSpPr txBox="1"/>
          <p:nvPr/>
        </p:nvSpPr>
        <p:spPr>
          <a:xfrm>
            <a:off x="365760" y="786384"/>
            <a:ext cx="11430000" cy="292608"/>
          </a:xfrm>
          <a:prstGeom prst="rect">
            <a:avLst/>
          </a:prstGeom>
          <a:noFill/>
        </p:spPr>
        <p:txBody>
          <a:bodyPr wrap="square" lIns="25400" tIns="12700" rIns="25400" bIns="12700">
            <a:spAutoFit/>
          </a:bodyPr>
          <a:lstStyle/>
          <a:p>
            <a:r>
              <a:rPr sz="1200" b="0" i="0">
                <a:solidFill>
                  <a:srgbClr val="5E6A75"/>
                </a:solidFill>
                <a:latin typeface="Segoe UI"/>
              </a:rPr>
              <a:t>Risk, Planning, and cross-cutting Intelligence — colored by capability.</a:t>
            </a:r>
          </a:p>
        </p:txBody>
      </p:sp>
      <p:sp>
        <p:nvSpPr>
          <p:cNvPr id="4" name="Rounded Rectangle 3"/>
          <p:cNvSpPr/>
          <p:nvPr/>
        </p:nvSpPr>
        <p:spPr>
          <a:xfrm>
            <a:off x="365760" y="1234440"/>
            <a:ext cx="3730752" cy="1417320"/>
          </a:xfrm>
          <a:prstGeom prst="roundRect">
            <a:avLst/>
          </a:prstGeom>
          <a:solidFill>
            <a:srgbClr val="FFFFFF"/>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75488" y="1344168"/>
            <a:ext cx="329184" cy="329184"/>
          </a:xfrm>
          <a:prstGeom prst="roundRect">
            <a:avLst/>
          </a:prstGeom>
          <a:solidFill>
            <a:srgbClr val="B4262C"/>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a:solidFill>
                  <a:srgbClr val="FFFFFF"/>
                </a:solidFill>
                <a:latin typeface="Segoe UI"/>
              </a:rPr>
              <a:t>10</a:t>
            </a:r>
          </a:p>
        </p:txBody>
      </p:sp>
      <p:sp>
        <p:nvSpPr>
          <p:cNvPr id="6" name="TextBox 5"/>
          <p:cNvSpPr txBox="1"/>
          <p:nvPr/>
        </p:nvSpPr>
        <p:spPr>
          <a:xfrm>
            <a:off x="877824" y="1344168"/>
            <a:ext cx="3127248" cy="310896"/>
          </a:xfrm>
          <a:prstGeom prst="rect">
            <a:avLst/>
          </a:prstGeom>
          <a:noFill/>
        </p:spPr>
        <p:txBody>
          <a:bodyPr wrap="square" lIns="25400" tIns="12700" rIns="25400" bIns="12700">
            <a:spAutoFit/>
          </a:bodyPr>
          <a:lstStyle/>
          <a:p>
            <a:r>
              <a:rPr sz="1150" b="1" i="0">
                <a:solidFill>
                  <a:srgbClr val="102A4C"/>
                </a:solidFill>
                <a:latin typeface="Segoe UI"/>
              </a:rPr>
              <a:t>Stockout Prediction</a:t>
            </a:r>
          </a:p>
        </p:txBody>
      </p:sp>
      <p:sp>
        <p:nvSpPr>
          <p:cNvPr id="7" name="TextBox 6"/>
          <p:cNvSpPr txBox="1"/>
          <p:nvPr/>
        </p:nvSpPr>
        <p:spPr>
          <a:xfrm>
            <a:off x="502920" y="1709928"/>
            <a:ext cx="3456432" cy="640080"/>
          </a:xfrm>
          <a:prstGeom prst="rect">
            <a:avLst/>
          </a:prstGeom>
          <a:noFill/>
        </p:spPr>
        <p:txBody>
          <a:bodyPr wrap="square" lIns="25400" tIns="12700" rIns="25400" bIns="12700">
            <a:spAutoFit/>
          </a:bodyPr>
          <a:lstStyle/>
          <a:p>
            <a:r>
              <a:rPr sz="950" b="0" i="0">
                <a:solidFill>
                  <a:srgbClr val="5E6A75"/>
                </a:solidFill>
                <a:latin typeface="Segoe UI"/>
              </a:rPr>
              <a:t>Correlated simulation of demand, lead time, and supplier failure into 30/60/90-day risk.</a:t>
            </a:r>
          </a:p>
        </p:txBody>
      </p:sp>
      <p:sp>
        <p:nvSpPr>
          <p:cNvPr id="8" name="TextBox 7"/>
          <p:cNvSpPr txBox="1"/>
          <p:nvPr/>
        </p:nvSpPr>
        <p:spPr>
          <a:xfrm>
            <a:off x="502920" y="2395728"/>
            <a:ext cx="3456432" cy="219456"/>
          </a:xfrm>
          <a:prstGeom prst="rect">
            <a:avLst/>
          </a:prstGeom>
          <a:noFill/>
        </p:spPr>
        <p:txBody>
          <a:bodyPr wrap="square" lIns="25400" tIns="12700" rIns="25400" bIns="12700">
            <a:spAutoFit/>
          </a:bodyPr>
          <a:lstStyle/>
          <a:p>
            <a:r>
              <a:rPr sz="850" b="0" i="1">
                <a:solidFill>
                  <a:srgbClr val="B4262C"/>
                </a:solidFill>
                <a:latin typeface="Segoe UI"/>
              </a:rPr>
              <a:t>Monte Carlo</a:t>
            </a:r>
          </a:p>
        </p:txBody>
      </p:sp>
      <p:sp>
        <p:nvSpPr>
          <p:cNvPr id="9" name="Rounded Rectangle 8"/>
          <p:cNvSpPr/>
          <p:nvPr/>
        </p:nvSpPr>
        <p:spPr>
          <a:xfrm>
            <a:off x="4206240" y="1234440"/>
            <a:ext cx="3730752" cy="1417320"/>
          </a:xfrm>
          <a:prstGeom prst="roundRect">
            <a:avLst/>
          </a:prstGeom>
          <a:solidFill>
            <a:srgbClr val="FFFFFF"/>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4315968" y="1344168"/>
            <a:ext cx="329184" cy="329184"/>
          </a:xfrm>
          <a:prstGeom prst="roundRect">
            <a:avLst/>
          </a:prstGeom>
          <a:solidFill>
            <a:srgbClr val="B4262C"/>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a:solidFill>
                  <a:srgbClr val="FFFFFF"/>
                </a:solidFill>
                <a:latin typeface="Segoe UI"/>
              </a:rPr>
              <a:t>11</a:t>
            </a:r>
          </a:p>
        </p:txBody>
      </p:sp>
      <p:sp>
        <p:nvSpPr>
          <p:cNvPr id="11" name="TextBox 10"/>
          <p:cNvSpPr txBox="1"/>
          <p:nvPr/>
        </p:nvSpPr>
        <p:spPr>
          <a:xfrm>
            <a:off x="4718304" y="1344168"/>
            <a:ext cx="3127248" cy="310896"/>
          </a:xfrm>
          <a:prstGeom prst="rect">
            <a:avLst/>
          </a:prstGeom>
          <a:noFill/>
        </p:spPr>
        <p:txBody>
          <a:bodyPr wrap="square" lIns="25400" tIns="12700" rIns="25400" bIns="12700">
            <a:spAutoFit/>
          </a:bodyPr>
          <a:lstStyle/>
          <a:p>
            <a:r>
              <a:rPr sz="1150" b="1" i="0">
                <a:solidFill>
                  <a:srgbClr val="102A4C"/>
                </a:solidFill>
                <a:latin typeface="Segoe UI"/>
              </a:rPr>
              <a:t>Cascading Failure Analysis</a:t>
            </a:r>
          </a:p>
        </p:txBody>
      </p:sp>
      <p:sp>
        <p:nvSpPr>
          <p:cNvPr id="12" name="TextBox 11"/>
          <p:cNvSpPr txBox="1"/>
          <p:nvPr/>
        </p:nvSpPr>
        <p:spPr>
          <a:xfrm>
            <a:off x="4343400" y="1709928"/>
            <a:ext cx="3456432" cy="640080"/>
          </a:xfrm>
          <a:prstGeom prst="rect">
            <a:avLst/>
          </a:prstGeom>
          <a:noFill/>
        </p:spPr>
        <p:txBody>
          <a:bodyPr wrap="square" lIns="25400" tIns="12700" rIns="25400" bIns="12700">
            <a:spAutoFit/>
          </a:bodyPr>
          <a:lstStyle/>
          <a:p>
            <a:r>
              <a:rPr sz="950" b="0" i="0">
                <a:solidFill>
                  <a:srgbClr val="5E6A75"/>
                </a:solidFill>
                <a:latin typeface="Segoe UI"/>
              </a:rPr>
              <a:t>Traces a supplier failure across items, depots, and missions.</a:t>
            </a:r>
          </a:p>
        </p:txBody>
      </p:sp>
      <p:sp>
        <p:nvSpPr>
          <p:cNvPr id="13" name="TextBox 12"/>
          <p:cNvSpPr txBox="1"/>
          <p:nvPr/>
        </p:nvSpPr>
        <p:spPr>
          <a:xfrm>
            <a:off x="4343400" y="2395728"/>
            <a:ext cx="3456432" cy="219456"/>
          </a:xfrm>
          <a:prstGeom prst="rect">
            <a:avLst/>
          </a:prstGeom>
          <a:noFill/>
        </p:spPr>
        <p:txBody>
          <a:bodyPr wrap="square" lIns="25400" tIns="12700" rIns="25400" bIns="12700">
            <a:spAutoFit/>
          </a:bodyPr>
          <a:lstStyle/>
          <a:p>
            <a:r>
              <a:rPr sz="850" b="0" i="1">
                <a:solidFill>
                  <a:srgbClr val="B4262C"/>
                </a:solidFill>
                <a:latin typeface="Segoe UI"/>
              </a:rPr>
              <a:t>Graph propagation</a:t>
            </a:r>
          </a:p>
        </p:txBody>
      </p:sp>
      <p:sp>
        <p:nvSpPr>
          <p:cNvPr id="14" name="Rounded Rectangle 13"/>
          <p:cNvSpPr/>
          <p:nvPr/>
        </p:nvSpPr>
        <p:spPr>
          <a:xfrm>
            <a:off x="8046720" y="1234440"/>
            <a:ext cx="3730752" cy="1417320"/>
          </a:xfrm>
          <a:prstGeom prst="roundRect">
            <a:avLst/>
          </a:prstGeom>
          <a:solidFill>
            <a:srgbClr val="FFFFFF"/>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8156448" y="1344168"/>
            <a:ext cx="329184" cy="329184"/>
          </a:xfrm>
          <a:prstGeom prst="roundRect">
            <a:avLst/>
          </a:prstGeom>
          <a:solidFill>
            <a:srgbClr val="B4262C"/>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a:solidFill>
                  <a:srgbClr val="FFFFFF"/>
                </a:solidFill>
                <a:latin typeface="Segoe UI"/>
              </a:rPr>
              <a:t>12</a:t>
            </a:r>
          </a:p>
        </p:txBody>
      </p:sp>
      <p:sp>
        <p:nvSpPr>
          <p:cNvPr id="16" name="TextBox 15"/>
          <p:cNvSpPr txBox="1"/>
          <p:nvPr/>
        </p:nvSpPr>
        <p:spPr>
          <a:xfrm>
            <a:off x="8558784" y="1344168"/>
            <a:ext cx="3127248" cy="310896"/>
          </a:xfrm>
          <a:prstGeom prst="rect">
            <a:avLst/>
          </a:prstGeom>
          <a:noFill/>
        </p:spPr>
        <p:txBody>
          <a:bodyPr wrap="square" lIns="25400" tIns="12700" rIns="25400" bIns="12700">
            <a:spAutoFit/>
          </a:bodyPr>
          <a:lstStyle/>
          <a:p>
            <a:r>
              <a:rPr sz="1150" b="1" i="0">
                <a:solidFill>
                  <a:srgbClr val="102A4C"/>
                </a:solidFill>
                <a:latin typeface="Segoe UI"/>
              </a:rPr>
              <a:t>Compound Scenario Stress Test</a:t>
            </a:r>
          </a:p>
        </p:txBody>
      </p:sp>
      <p:sp>
        <p:nvSpPr>
          <p:cNvPr id="17" name="TextBox 16"/>
          <p:cNvSpPr txBox="1"/>
          <p:nvPr/>
        </p:nvSpPr>
        <p:spPr>
          <a:xfrm>
            <a:off x="8183880" y="1709928"/>
            <a:ext cx="3456432" cy="640080"/>
          </a:xfrm>
          <a:prstGeom prst="rect">
            <a:avLst/>
          </a:prstGeom>
          <a:noFill/>
        </p:spPr>
        <p:txBody>
          <a:bodyPr wrap="square" lIns="25400" tIns="12700" rIns="25400" bIns="12700">
            <a:spAutoFit/>
          </a:bodyPr>
          <a:lstStyle/>
          <a:p>
            <a:r>
              <a:rPr sz="950" b="0" i="0">
                <a:solidFill>
                  <a:srgbClr val="5E6A75"/>
                </a:solidFill>
                <a:latin typeface="Segoe UI"/>
              </a:rPr>
              <a:t>Tests simultaneous shocks: demand spike + supplier loss + lead-time increase.</a:t>
            </a:r>
          </a:p>
        </p:txBody>
      </p:sp>
      <p:sp>
        <p:nvSpPr>
          <p:cNvPr id="18" name="TextBox 17"/>
          <p:cNvSpPr txBox="1"/>
          <p:nvPr/>
        </p:nvSpPr>
        <p:spPr>
          <a:xfrm>
            <a:off x="8183880" y="2395728"/>
            <a:ext cx="3456432" cy="219456"/>
          </a:xfrm>
          <a:prstGeom prst="rect">
            <a:avLst/>
          </a:prstGeom>
          <a:noFill/>
        </p:spPr>
        <p:txBody>
          <a:bodyPr wrap="square" lIns="25400" tIns="12700" rIns="25400" bIns="12700">
            <a:spAutoFit/>
          </a:bodyPr>
          <a:lstStyle/>
          <a:p>
            <a:r>
              <a:rPr sz="850" b="0" i="1">
                <a:solidFill>
                  <a:srgbClr val="B4262C"/>
                </a:solidFill>
                <a:latin typeface="Segoe UI"/>
              </a:rPr>
              <a:t>Multi-factor Monte Carlo</a:t>
            </a:r>
          </a:p>
        </p:txBody>
      </p:sp>
      <p:sp>
        <p:nvSpPr>
          <p:cNvPr id="19" name="Rounded Rectangle 18"/>
          <p:cNvSpPr/>
          <p:nvPr/>
        </p:nvSpPr>
        <p:spPr>
          <a:xfrm>
            <a:off x="365760" y="2779776"/>
            <a:ext cx="3730752" cy="1417320"/>
          </a:xfrm>
          <a:prstGeom prst="roundRect">
            <a:avLst/>
          </a:prstGeom>
          <a:solidFill>
            <a:srgbClr val="FFFFFF"/>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475488" y="2889504"/>
            <a:ext cx="329184" cy="329184"/>
          </a:xfrm>
          <a:prstGeom prst="roundRect">
            <a:avLst/>
          </a:prstGeom>
          <a:solidFill>
            <a:srgbClr val="C96A1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a:solidFill>
                  <a:srgbClr val="FFFFFF"/>
                </a:solidFill>
                <a:latin typeface="Segoe UI"/>
              </a:rPr>
              <a:t>13</a:t>
            </a:r>
          </a:p>
        </p:txBody>
      </p:sp>
      <p:sp>
        <p:nvSpPr>
          <p:cNvPr id="21" name="TextBox 20"/>
          <p:cNvSpPr txBox="1"/>
          <p:nvPr/>
        </p:nvSpPr>
        <p:spPr>
          <a:xfrm>
            <a:off x="877824" y="2889504"/>
            <a:ext cx="3127248" cy="310896"/>
          </a:xfrm>
          <a:prstGeom prst="rect">
            <a:avLst/>
          </a:prstGeom>
          <a:noFill/>
        </p:spPr>
        <p:txBody>
          <a:bodyPr wrap="square" lIns="25400" tIns="12700" rIns="25400" bIns="12700">
            <a:spAutoFit/>
          </a:bodyPr>
          <a:lstStyle/>
          <a:p>
            <a:r>
              <a:rPr sz="1150" b="1" i="0">
                <a:solidFill>
                  <a:srgbClr val="102A4C"/>
                </a:solidFill>
                <a:latin typeface="Segoe UI"/>
              </a:rPr>
              <a:t>Budget Optimization</a:t>
            </a:r>
          </a:p>
        </p:txBody>
      </p:sp>
      <p:sp>
        <p:nvSpPr>
          <p:cNvPr id="22" name="TextBox 21"/>
          <p:cNvSpPr txBox="1"/>
          <p:nvPr/>
        </p:nvSpPr>
        <p:spPr>
          <a:xfrm>
            <a:off x="502920" y="3255264"/>
            <a:ext cx="3456432" cy="640080"/>
          </a:xfrm>
          <a:prstGeom prst="rect">
            <a:avLst/>
          </a:prstGeom>
          <a:noFill/>
        </p:spPr>
        <p:txBody>
          <a:bodyPr wrap="square" lIns="25400" tIns="12700" rIns="25400" bIns="12700">
            <a:spAutoFit/>
          </a:bodyPr>
          <a:lstStyle/>
          <a:p>
            <a:r>
              <a:rPr sz="950" b="0" i="0">
                <a:solidFill>
                  <a:srgbClr val="5E6A75"/>
                </a:solidFill>
                <a:latin typeface="Segoe UI"/>
              </a:rPr>
              <a:t>Allocates dollars across the portfolio to maximize readiness under constraints.</a:t>
            </a:r>
          </a:p>
        </p:txBody>
      </p:sp>
      <p:sp>
        <p:nvSpPr>
          <p:cNvPr id="23" name="TextBox 22"/>
          <p:cNvSpPr txBox="1"/>
          <p:nvPr/>
        </p:nvSpPr>
        <p:spPr>
          <a:xfrm>
            <a:off x="502920" y="3941063"/>
            <a:ext cx="3456432" cy="219456"/>
          </a:xfrm>
          <a:prstGeom prst="rect">
            <a:avLst/>
          </a:prstGeom>
          <a:noFill/>
        </p:spPr>
        <p:txBody>
          <a:bodyPr wrap="square" lIns="25400" tIns="12700" rIns="25400" bIns="12700">
            <a:spAutoFit/>
          </a:bodyPr>
          <a:lstStyle/>
          <a:p>
            <a:r>
              <a:rPr sz="850" b="0" i="1">
                <a:solidFill>
                  <a:srgbClr val="C96A1E"/>
                </a:solidFill>
                <a:latin typeface="Segoe UI"/>
              </a:rPr>
              <a:t>MILP</a:t>
            </a:r>
          </a:p>
        </p:txBody>
      </p:sp>
      <p:sp>
        <p:nvSpPr>
          <p:cNvPr id="24" name="Rounded Rectangle 23"/>
          <p:cNvSpPr/>
          <p:nvPr/>
        </p:nvSpPr>
        <p:spPr>
          <a:xfrm>
            <a:off x="4206240" y="2779776"/>
            <a:ext cx="3730752" cy="1417320"/>
          </a:xfrm>
          <a:prstGeom prst="roundRect">
            <a:avLst/>
          </a:prstGeom>
          <a:solidFill>
            <a:srgbClr val="FFFFFF"/>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4315968" y="2889504"/>
            <a:ext cx="329184" cy="329184"/>
          </a:xfrm>
          <a:prstGeom prst="round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a:solidFill>
                  <a:srgbClr val="FFFFFF"/>
                </a:solidFill>
                <a:latin typeface="Segoe UI"/>
              </a:rPr>
              <a:t>14</a:t>
            </a:r>
          </a:p>
        </p:txBody>
      </p:sp>
      <p:sp>
        <p:nvSpPr>
          <p:cNvPr id="26" name="TextBox 25"/>
          <p:cNvSpPr txBox="1"/>
          <p:nvPr/>
        </p:nvSpPr>
        <p:spPr>
          <a:xfrm>
            <a:off x="4718304" y="2889504"/>
            <a:ext cx="3127248" cy="310896"/>
          </a:xfrm>
          <a:prstGeom prst="rect">
            <a:avLst/>
          </a:prstGeom>
          <a:noFill/>
        </p:spPr>
        <p:txBody>
          <a:bodyPr wrap="square" lIns="25400" tIns="12700" rIns="25400" bIns="12700">
            <a:spAutoFit/>
          </a:bodyPr>
          <a:lstStyle/>
          <a:p>
            <a:r>
              <a:rPr sz="1150" b="1" i="0">
                <a:solidFill>
                  <a:srgbClr val="102A4C"/>
                </a:solidFill>
                <a:latin typeface="Segoe UI"/>
              </a:rPr>
              <a:t>Drift Early-Warning</a:t>
            </a:r>
          </a:p>
        </p:txBody>
      </p:sp>
      <p:sp>
        <p:nvSpPr>
          <p:cNvPr id="27" name="TextBox 26"/>
          <p:cNvSpPr txBox="1"/>
          <p:nvPr/>
        </p:nvSpPr>
        <p:spPr>
          <a:xfrm>
            <a:off x="4343400" y="3255264"/>
            <a:ext cx="3456432" cy="640080"/>
          </a:xfrm>
          <a:prstGeom prst="rect">
            <a:avLst/>
          </a:prstGeom>
          <a:noFill/>
        </p:spPr>
        <p:txBody>
          <a:bodyPr wrap="square" lIns="25400" tIns="12700" rIns="25400" bIns="12700">
            <a:spAutoFit/>
          </a:bodyPr>
          <a:lstStyle/>
          <a:p>
            <a:r>
              <a:rPr sz="950" b="0" i="0">
                <a:solidFill>
                  <a:srgbClr val="5E6A75"/>
                </a:solidFill>
                <a:latin typeface="Segoe UI"/>
              </a:rPr>
              <a:t>Alerts when an item moves toward a concerning pattern before it shows in reports.</a:t>
            </a:r>
          </a:p>
        </p:txBody>
      </p:sp>
      <p:sp>
        <p:nvSpPr>
          <p:cNvPr id="28" name="TextBox 27"/>
          <p:cNvSpPr txBox="1"/>
          <p:nvPr/>
        </p:nvSpPr>
        <p:spPr>
          <a:xfrm>
            <a:off x="4343400" y="3941063"/>
            <a:ext cx="3456432" cy="219456"/>
          </a:xfrm>
          <a:prstGeom prst="rect">
            <a:avLst/>
          </a:prstGeom>
          <a:noFill/>
        </p:spPr>
        <p:txBody>
          <a:bodyPr wrap="square" lIns="25400" tIns="12700" rIns="25400" bIns="12700">
            <a:spAutoFit/>
          </a:bodyPr>
          <a:lstStyle/>
          <a:p>
            <a:r>
              <a:rPr sz="850" b="0" i="1">
                <a:solidFill>
                  <a:srgbClr val="5B21B6"/>
                </a:solidFill>
                <a:latin typeface="Segoe UI"/>
              </a:rPr>
              <a:t>Velocity + cosine</a:t>
            </a:r>
          </a:p>
        </p:txBody>
      </p:sp>
      <p:sp>
        <p:nvSpPr>
          <p:cNvPr id="29" name="Rounded Rectangle 28"/>
          <p:cNvSpPr/>
          <p:nvPr/>
        </p:nvSpPr>
        <p:spPr>
          <a:xfrm>
            <a:off x="8046720" y="2779776"/>
            <a:ext cx="3730752" cy="1417320"/>
          </a:xfrm>
          <a:prstGeom prst="roundRect">
            <a:avLst/>
          </a:prstGeom>
          <a:solidFill>
            <a:srgbClr val="FFFFFF"/>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8156448" y="2889504"/>
            <a:ext cx="329184" cy="329184"/>
          </a:xfrm>
          <a:prstGeom prst="round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a:solidFill>
                  <a:srgbClr val="FFFFFF"/>
                </a:solidFill>
                <a:latin typeface="Segoe UI"/>
              </a:rPr>
              <a:t>15</a:t>
            </a:r>
          </a:p>
        </p:txBody>
      </p:sp>
      <p:sp>
        <p:nvSpPr>
          <p:cNvPr id="31" name="TextBox 30"/>
          <p:cNvSpPr txBox="1"/>
          <p:nvPr/>
        </p:nvSpPr>
        <p:spPr>
          <a:xfrm>
            <a:off x="8558784" y="2889504"/>
            <a:ext cx="3127248" cy="310896"/>
          </a:xfrm>
          <a:prstGeom prst="rect">
            <a:avLst/>
          </a:prstGeom>
          <a:noFill/>
        </p:spPr>
        <p:txBody>
          <a:bodyPr wrap="square" lIns="25400" tIns="12700" rIns="25400" bIns="12700">
            <a:spAutoFit/>
          </a:bodyPr>
          <a:lstStyle/>
          <a:p>
            <a:r>
              <a:rPr sz="1150" b="1" i="0">
                <a:solidFill>
                  <a:srgbClr val="102A4C"/>
                </a:solidFill>
                <a:latin typeface="Segoe UI"/>
              </a:rPr>
              <a:t>Item Health Watchlist</a:t>
            </a:r>
          </a:p>
        </p:txBody>
      </p:sp>
      <p:sp>
        <p:nvSpPr>
          <p:cNvPr id="32" name="TextBox 31"/>
          <p:cNvSpPr txBox="1"/>
          <p:nvPr/>
        </p:nvSpPr>
        <p:spPr>
          <a:xfrm>
            <a:off x="8183880" y="3255264"/>
            <a:ext cx="3456432" cy="640080"/>
          </a:xfrm>
          <a:prstGeom prst="rect">
            <a:avLst/>
          </a:prstGeom>
          <a:noFill/>
        </p:spPr>
        <p:txBody>
          <a:bodyPr wrap="square" lIns="25400" tIns="12700" rIns="25400" bIns="12700">
            <a:spAutoFit/>
          </a:bodyPr>
          <a:lstStyle/>
          <a:p>
            <a:r>
              <a:rPr sz="950" b="0" i="0">
                <a:solidFill>
                  <a:srgbClr val="5E6A75"/>
                </a:solidFill>
                <a:latin typeface="Segoe UI"/>
              </a:rPr>
              <a:t>Composite score across demand, supply, inventory, volatility, and context.</a:t>
            </a:r>
          </a:p>
        </p:txBody>
      </p:sp>
      <p:sp>
        <p:nvSpPr>
          <p:cNvPr id="33" name="TextBox 32"/>
          <p:cNvSpPr txBox="1"/>
          <p:nvPr/>
        </p:nvSpPr>
        <p:spPr>
          <a:xfrm>
            <a:off x="8183880" y="3941063"/>
            <a:ext cx="3456432" cy="219456"/>
          </a:xfrm>
          <a:prstGeom prst="rect">
            <a:avLst/>
          </a:prstGeom>
          <a:noFill/>
        </p:spPr>
        <p:txBody>
          <a:bodyPr wrap="square" lIns="25400" tIns="12700" rIns="25400" bIns="12700">
            <a:spAutoFit/>
          </a:bodyPr>
          <a:lstStyle/>
          <a:p>
            <a:r>
              <a:rPr sz="850" b="0" i="1">
                <a:solidFill>
                  <a:srgbClr val="5B21B6"/>
                </a:solidFill>
                <a:latin typeface="Segoe UI"/>
              </a:rPr>
              <a:t>Multi-signal scoring</a:t>
            </a:r>
          </a:p>
        </p:txBody>
      </p:sp>
      <p:sp>
        <p:nvSpPr>
          <p:cNvPr id="34" name="Rounded Rectangle 33"/>
          <p:cNvSpPr/>
          <p:nvPr/>
        </p:nvSpPr>
        <p:spPr>
          <a:xfrm>
            <a:off x="365760" y="4325112"/>
            <a:ext cx="3730752" cy="1417320"/>
          </a:xfrm>
          <a:prstGeom prst="roundRect">
            <a:avLst/>
          </a:prstGeom>
          <a:solidFill>
            <a:srgbClr val="FFFFFF"/>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475488" y="4434840"/>
            <a:ext cx="329184" cy="329184"/>
          </a:xfrm>
          <a:prstGeom prst="round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a:solidFill>
                  <a:srgbClr val="FFFFFF"/>
                </a:solidFill>
                <a:latin typeface="Segoe UI"/>
              </a:rPr>
              <a:t>16</a:t>
            </a:r>
          </a:p>
        </p:txBody>
      </p:sp>
      <p:sp>
        <p:nvSpPr>
          <p:cNvPr id="36" name="TextBox 35"/>
          <p:cNvSpPr txBox="1"/>
          <p:nvPr/>
        </p:nvSpPr>
        <p:spPr>
          <a:xfrm>
            <a:off x="877824" y="4434840"/>
            <a:ext cx="3127248" cy="310896"/>
          </a:xfrm>
          <a:prstGeom prst="rect">
            <a:avLst/>
          </a:prstGeom>
          <a:noFill/>
        </p:spPr>
        <p:txBody>
          <a:bodyPr wrap="square" lIns="25400" tIns="12700" rIns="25400" bIns="12700">
            <a:spAutoFit/>
          </a:bodyPr>
          <a:lstStyle/>
          <a:p>
            <a:r>
              <a:rPr sz="1150" b="1" i="0">
                <a:solidFill>
                  <a:srgbClr val="102A4C"/>
                </a:solidFill>
                <a:latin typeface="Segoe UI"/>
              </a:rPr>
              <a:t>Cohort Discovery</a:t>
            </a:r>
          </a:p>
        </p:txBody>
      </p:sp>
      <p:sp>
        <p:nvSpPr>
          <p:cNvPr id="37" name="TextBox 36"/>
          <p:cNvSpPr txBox="1"/>
          <p:nvPr/>
        </p:nvSpPr>
        <p:spPr>
          <a:xfrm>
            <a:off x="502920" y="4800600"/>
            <a:ext cx="3456432" cy="640080"/>
          </a:xfrm>
          <a:prstGeom prst="rect">
            <a:avLst/>
          </a:prstGeom>
          <a:noFill/>
        </p:spPr>
        <p:txBody>
          <a:bodyPr wrap="square" lIns="25400" tIns="12700" rIns="25400" bIns="12700">
            <a:spAutoFit/>
          </a:bodyPr>
          <a:lstStyle/>
          <a:p>
            <a:r>
              <a:rPr sz="950" b="0" i="0">
                <a:solidFill>
                  <a:srgbClr val="5E6A75"/>
                </a:solidFill>
                <a:latin typeface="Segoe UI"/>
              </a:rPr>
              <a:t>Groups items that behave alike and surfaces hidden patterns.</a:t>
            </a:r>
          </a:p>
        </p:txBody>
      </p:sp>
      <p:sp>
        <p:nvSpPr>
          <p:cNvPr id="38" name="TextBox 37"/>
          <p:cNvSpPr txBox="1"/>
          <p:nvPr/>
        </p:nvSpPr>
        <p:spPr>
          <a:xfrm>
            <a:off x="502920" y="5486400"/>
            <a:ext cx="3456432" cy="219456"/>
          </a:xfrm>
          <a:prstGeom prst="rect">
            <a:avLst/>
          </a:prstGeom>
          <a:noFill/>
        </p:spPr>
        <p:txBody>
          <a:bodyPr wrap="square" lIns="25400" tIns="12700" rIns="25400" bIns="12700">
            <a:spAutoFit/>
          </a:bodyPr>
          <a:lstStyle/>
          <a:p>
            <a:r>
              <a:rPr sz="850" b="0" i="1">
                <a:solidFill>
                  <a:srgbClr val="5B21B6"/>
                </a:solidFill>
                <a:latin typeface="Segoe UI"/>
              </a:rPr>
              <a:t>HDBSCAN clustering</a:t>
            </a:r>
          </a:p>
        </p:txBody>
      </p:sp>
      <p:sp>
        <p:nvSpPr>
          <p:cNvPr id="39" name="Rounded Rectangle 38"/>
          <p:cNvSpPr/>
          <p:nvPr/>
        </p:nvSpPr>
        <p:spPr>
          <a:xfrm>
            <a:off x="4206240" y="4325112"/>
            <a:ext cx="3730752" cy="1417320"/>
          </a:xfrm>
          <a:prstGeom prst="roundRect">
            <a:avLst/>
          </a:prstGeom>
          <a:solidFill>
            <a:srgbClr val="FFFFFF"/>
          </a:solidFill>
          <a:ln w="9525">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4315968" y="4434840"/>
            <a:ext cx="329184" cy="329184"/>
          </a:xfrm>
          <a:prstGeom prst="round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200" b="1">
                <a:solidFill>
                  <a:srgbClr val="FFFFFF"/>
                </a:solidFill>
                <a:latin typeface="Segoe UI"/>
              </a:rPr>
              <a:t>17</a:t>
            </a:r>
          </a:p>
        </p:txBody>
      </p:sp>
      <p:sp>
        <p:nvSpPr>
          <p:cNvPr id="41" name="TextBox 40"/>
          <p:cNvSpPr txBox="1"/>
          <p:nvPr/>
        </p:nvSpPr>
        <p:spPr>
          <a:xfrm>
            <a:off x="4718304" y="4434840"/>
            <a:ext cx="3127248" cy="310896"/>
          </a:xfrm>
          <a:prstGeom prst="rect">
            <a:avLst/>
          </a:prstGeom>
          <a:noFill/>
        </p:spPr>
        <p:txBody>
          <a:bodyPr wrap="square" lIns="25400" tIns="12700" rIns="25400" bIns="12700">
            <a:spAutoFit/>
          </a:bodyPr>
          <a:lstStyle/>
          <a:p>
            <a:r>
              <a:rPr sz="1150" b="1" i="0">
                <a:solidFill>
                  <a:srgbClr val="102A4C"/>
                </a:solidFill>
                <a:latin typeface="Segoe UI"/>
              </a:rPr>
              <a:t>Semantic Substitute Search</a:t>
            </a:r>
          </a:p>
        </p:txBody>
      </p:sp>
      <p:sp>
        <p:nvSpPr>
          <p:cNvPr id="42" name="TextBox 41"/>
          <p:cNvSpPr txBox="1"/>
          <p:nvPr/>
        </p:nvSpPr>
        <p:spPr>
          <a:xfrm>
            <a:off x="4343400" y="4800600"/>
            <a:ext cx="3456432" cy="640080"/>
          </a:xfrm>
          <a:prstGeom prst="rect">
            <a:avLst/>
          </a:prstGeom>
          <a:noFill/>
        </p:spPr>
        <p:txBody>
          <a:bodyPr wrap="square" lIns="25400" tIns="12700" rIns="25400" bIns="12700">
            <a:spAutoFit/>
          </a:bodyPr>
          <a:lstStyle/>
          <a:p>
            <a:r>
              <a:rPr sz="950" b="0" i="0">
                <a:solidFill>
                  <a:srgbClr val="5E6A75"/>
                </a:solidFill>
                <a:latin typeface="Segoe UI"/>
              </a:rPr>
              <a:t>Finds replacements by behavior and context, not keyword matching.</a:t>
            </a:r>
          </a:p>
        </p:txBody>
      </p:sp>
      <p:sp>
        <p:nvSpPr>
          <p:cNvPr id="43" name="TextBox 42"/>
          <p:cNvSpPr txBox="1"/>
          <p:nvPr/>
        </p:nvSpPr>
        <p:spPr>
          <a:xfrm>
            <a:off x="4343400" y="5486400"/>
            <a:ext cx="3456432" cy="219456"/>
          </a:xfrm>
          <a:prstGeom prst="rect">
            <a:avLst/>
          </a:prstGeom>
          <a:noFill/>
        </p:spPr>
        <p:txBody>
          <a:bodyPr wrap="square" lIns="25400" tIns="12700" rIns="25400" bIns="12700">
            <a:spAutoFit/>
          </a:bodyPr>
          <a:lstStyle/>
          <a:p>
            <a:r>
              <a:rPr sz="850" b="0" i="1">
                <a:solidFill>
                  <a:srgbClr val="5B21B6"/>
                </a:solidFill>
                <a:latin typeface="Segoe UI"/>
              </a:rPr>
              <a:t>Cosine similarity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164592"/>
          </a:xfrm>
          <a:prstGeom prst="rect">
            <a:avLst/>
          </a:prstGeom>
          <a:solidFill>
            <a:srgbClr val="051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384048"/>
            <a:ext cx="6894773" cy="461665"/>
          </a:xfrm>
          <a:prstGeom prst="rect">
            <a:avLst/>
          </a:prstGeom>
          <a:noFill/>
        </p:spPr>
        <p:txBody>
          <a:bodyPr wrap="none">
            <a:spAutoFit/>
          </a:bodyPr>
          <a:lstStyle/>
          <a:p>
            <a:pPr>
              <a:defRPr sz="2300" b="1">
                <a:solidFill>
                  <a:srgbClr val="051F37"/>
                </a:solidFill>
                <a:latin typeface="Aptos Display"/>
              </a:defRPr>
            </a:pPr>
            <a:r>
              <a:rPr dirty="0">
                <a:solidFill/>
                <a:latin typeface="Segoe UI"/>
              </a:rPr>
              <a:t>Appendix</a:t>
            </a:r>
            <a:r>
              <a:rPr lang="en-US" sz="2000" b="1" dirty="0">
                <a:solidFill>
                  <a:srgbClr val="102A4C"/>
                </a:solidFill>
                <a:latin typeface="Segoe UI" pitchFamily="34" charset="0"/>
                <a:ea typeface="Aptos Display" pitchFamily="34" charset="-122"/>
                <a:cs typeface="Aptos Display" pitchFamily="34" charset="-120"/>
              </a:rPr>
              <a:t> – </a:t>
            </a:r>
            <a:r>
              <a:rPr dirty="0">
                <a:latin typeface="Segoe UI"/>
              </a:rPr>
              <a:t>From flat records to living logistics entities</a:t>
            </a:r>
          </a:p>
        </p:txBody>
      </p:sp>
      <p:sp>
        <p:nvSpPr>
          <p:cNvPr id="4" name="TextBox 3"/>
          <p:cNvSpPr txBox="1"/>
          <p:nvPr/>
        </p:nvSpPr>
        <p:spPr>
          <a:xfrm>
            <a:off x="438912" y="932688"/>
            <a:ext cx="10789920" cy="292608"/>
          </a:xfrm>
          <a:prstGeom prst="rect">
            <a:avLst/>
          </a:prstGeom>
          <a:noFill/>
        </p:spPr>
        <p:txBody>
          <a:bodyPr wrap="none">
            <a:spAutoFit/>
          </a:bodyPr>
          <a:lstStyle/>
          <a:p>
            <a:pPr>
              <a:defRPr sz="1150">
                <a:solidFill>
                  <a:srgbClr val="16222F"/>
                </a:solidFill>
                <a:latin typeface="Aptos"/>
              </a:defRPr>
            </a:pPr>
            <a:r>
              <a:rPr>
                <a:latin typeface="Segoe UI"/>
              </a:rPr>
              <a:t>This explains the core mental model behind EDM / BEI without adding technical burden to the main discussion.</a:t>
            </a:r>
          </a:p>
        </p:txBody>
      </p:sp>
      <p:sp>
        <p:nvSpPr>
          <p:cNvPr id="5" name="Rectangle 4"/>
          <p:cNvSpPr/>
          <p:nvPr/>
        </p:nvSpPr>
        <p:spPr>
          <a:xfrm>
            <a:off x="438912" y="1261872"/>
            <a:ext cx="11018520" cy="15240"/>
          </a:xfrm>
          <a:prstGeom prst="rect">
            <a:avLst/>
          </a:prstGeom>
          <a:solidFill>
            <a:srgbClr val="E869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85800" y="1508760"/>
            <a:ext cx="3200400" cy="3383280"/>
          </a:xfrm>
          <a:prstGeom prst="roundRect">
            <a:avLst/>
          </a:prstGeom>
          <a:solidFill>
            <a:srgbClr val="FAFCFE"/>
          </a:solidFill>
          <a:ln w="15240">
            <a:solidFill>
              <a:srgbClr val="005E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920240" y="1783080"/>
            <a:ext cx="658368" cy="658368"/>
          </a:xfrm>
          <a:prstGeom prst="ellipse">
            <a:avLst/>
          </a:prstGeom>
          <a:solidFill>
            <a:srgbClr val="005E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920240" y="1938528"/>
            <a:ext cx="658368" cy="228600"/>
          </a:xfrm>
          <a:prstGeom prst="rect">
            <a:avLst/>
          </a:prstGeom>
          <a:noFill/>
        </p:spPr>
        <p:txBody>
          <a:bodyPr wrap="square">
            <a:noAutofit/>
          </a:bodyPr>
          <a:lstStyle/>
          <a:p>
            <a:pPr algn="ctr">
              <a:defRPr sz="1600" b="1">
                <a:solidFill>
                  <a:srgbClr val="FFFFFF"/>
                </a:solidFill>
                <a:latin typeface="Aptos"/>
              </a:defRPr>
            </a:pPr>
            <a:r>
              <a:rPr>
                <a:latin typeface="Segoe UI"/>
              </a:rPr>
              <a:t>1</a:t>
            </a:r>
          </a:p>
        </p:txBody>
      </p:sp>
      <p:sp>
        <p:nvSpPr>
          <p:cNvPr id="9" name="TextBox 8"/>
          <p:cNvSpPr txBox="1"/>
          <p:nvPr/>
        </p:nvSpPr>
        <p:spPr>
          <a:xfrm>
            <a:off x="941832" y="2615184"/>
            <a:ext cx="2651760" cy="228600"/>
          </a:xfrm>
          <a:prstGeom prst="rect">
            <a:avLst/>
          </a:prstGeom>
          <a:noFill/>
        </p:spPr>
        <p:txBody>
          <a:bodyPr wrap="square">
            <a:noAutofit/>
          </a:bodyPr>
          <a:lstStyle/>
          <a:p>
            <a:pPr algn="ctr">
              <a:defRPr sz="1400" b="1">
                <a:solidFill>
                  <a:srgbClr val="051F37"/>
                </a:solidFill>
                <a:latin typeface="Aptos"/>
              </a:defRPr>
            </a:pPr>
            <a:r>
              <a:rPr sz="1600" dirty="0">
                <a:latin typeface="Segoe UI"/>
              </a:rPr>
              <a:t>Flat records</a:t>
            </a:r>
          </a:p>
        </p:txBody>
      </p:sp>
      <p:sp>
        <p:nvSpPr>
          <p:cNvPr id="10" name="TextBox 9"/>
          <p:cNvSpPr txBox="1"/>
          <p:nvPr/>
        </p:nvSpPr>
        <p:spPr>
          <a:xfrm>
            <a:off x="1051560" y="3063240"/>
            <a:ext cx="2468880" cy="594360"/>
          </a:xfrm>
          <a:prstGeom prst="rect">
            <a:avLst/>
          </a:prstGeom>
          <a:noFill/>
        </p:spPr>
        <p:txBody>
          <a:bodyPr wrap="square">
            <a:noAutofit/>
          </a:bodyPr>
          <a:lstStyle/>
          <a:p>
            <a:pPr algn="ctr">
              <a:defRPr sz="900" b="0">
                <a:solidFill>
                  <a:srgbClr val="16222F"/>
                </a:solidFill>
                <a:latin typeface="Aptos"/>
              </a:defRPr>
            </a:pPr>
            <a:r>
              <a:rPr sz="1100">
                <a:latin typeface="Segoe UI"/>
              </a:rPr>
              <a:t>Rows describe an item, supplier, depot, transaction, or event at a point in time.</a:t>
            </a:r>
          </a:p>
        </p:txBody>
      </p:sp>
      <p:sp>
        <p:nvSpPr>
          <p:cNvPr id="11" name="Rectangle 10"/>
          <p:cNvSpPr/>
          <p:nvPr/>
        </p:nvSpPr>
        <p:spPr>
          <a:xfrm>
            <a:off x="1097280" y="3822191"/>
            <a:ext cx="2377440" cy="12700"/>
          </a:xfrm>
          <a:prstGeom prst="rect">
            <a:avLst/>
          </a:prstGeom>
          <a:solidFill>
            <a:srgbClr val="C5D3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69848" y="3977639"/>
            <a:ext cx="2423160" cy="502920"/>
          </a:xfrm>
          <a:prstGeom prst="rect">
            <a:avLst/>
          </a:prstGeom>
          <a:noFill/>
        </p:spPr>
        <p:txBody>
          <a:bodyPr wrap="square">
            <a:noAutofit/>
          </a:bodyPr>
          <a:lstStyle/>
          <a:p>
            <a:pPr algn="ctr">
              <a:defRPr sz="800" b="0">
                <a:solidFill>
                  <a:srgbClr val="525F6E"/>
                </a:solidFill>
                <a:latin typeface="Aptos"/>
              </a:defRPr>
            </a:pPr>
            <a:r>
              <a:rPr sz="1000">
                <a:latin typeface="Segoe UI"/>
              </a:rPr>
              <a:t>Limited view: data is static and often reviewed by field or table.</a:t>
            </a:r>
          </a:p>
        </p:txBody>
      </p:sp>
      <p:cxnSp>
        <p:nvCxnSpPr>
          <p:cNvPr id="13" name="Connector 12"/>
          <p:cNvCxnSpPr/>
          <p:nvPr/>
        </p:nvCxnSpPr>
        <p:spPr>
          <a:xfrm>
            <a:off x="3931920" y="3136392"/>
            <a:ext cx="411480" cy="0"/>
          </a:xfrm>
          <a:prstGeom prst="line">
            <a:avLst/>
          </a:prstGeom>
          <a:ln w="21590">
            <a:solidFill>
              <a:srgbClr val="051F37"/>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434840" y="1508760"/>
            <a:ext cx="3200400" cy="3383280"/>
          </a:xfrm>
          <a:prstGeom prst="roundRect">
            <a:avLst/>
          </a:prstGeom>
          <a:solidFill>
            <a:srgbClr val="FAFCFE"/>
          </a:solidFill>
          <a:ln w="15240">
            <a:solidFill>
              <a:srgbClr val="00787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5669279" y="1783080"/>
            <a:ext cx="658368" cy="658368"/>
          </a:xfrm>
          <a:prstGeom prst="ellipse">
            <a:avLst/>
          </a:prstGeom>
          <a:solidFill>
            <a:srgbClr val="0078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669279" y="1938528"/>
            <a:ext cx="658368" cy="228600"/>
          </a:xfrm>
          <a:prstGeom prst="rect">
            <a:avLst/>
          </a:prstGeom>
          <a:noFill/>
        </p:spPr>
        <p:txBody>
          <a:bodyPr wrap="square">
            <a:noAutofit/>
          </a:bodyPr>
          <a:lstStyle/>
          <a:p>
            <a:pPr algn="ctr">
              <a:defRPr sz="1600" b="1">
                <a:solidFill>
                  <a:srgbClr val="FFFFFF"/>
                </a:solidFill>
                <a:latin typeface="Aptos"/>
              </a:defRPr>
            </a:pPr>
            <a:r>
              <a:rPr>
                <a:latin typeface="Segoe UI"/>
              </a:rPr>
              <a:t>2</a:t>
            </a:r>
          </a:p>
        </p:txBody>
      </p:sp>
      <p:sp>
        <p:nvSpPr>
          <p:cNvPr id="17" name="TextBox 16"/>
          <p:cNvSpPr txBox="1"/>
          <p:nvPr/>
        </p:nvSpPr>
        <p:spPr>
          <a:xfrm>
            <a:off x="4690872" y="2615184"/>
            <a:ext cx="2651760" cy="228600"/>
          </a:xfrm>
          <a:prstGeom prst="rect">
            <a:avLst/>
          </a:prstGeom>
          <a:noFill/>
        </p:spPr>
        <p:txBody>
          <a:bodyPr wrap="square">
            <a:noAutofit/>
          </a:bodyPr>
          <a:lstStyle/>
          <a:p>
            <a:pPr algn="ctr">
              <a:defRPr sz="1400" b="1">
                <a:solidFill>
                  <a:srgbClr val="051F37"/>
                </a:solidFill>
                <a:latin typeface="Aptos"/>
              </a:defRPr>
            </a:pPr>
            <a:r>
              <a:rPr sz="1600">
                <a:latin typeface="Segoe UI"/>
              </a:rPr>
              <a:t>Behavioral entity</a:t>
            </a:r>
          </a:p>
        </p:txBody>
      </p:sp>
      <p:sp>
        <p:nvSpPr>
          <p:cNvPr id="18" name="TextBox 17"/>
          <p:cNvSpPr txBox="1"/>
          <p:nvPr/>
        </p:nvSpPr>
        <p:spPr>
          <a:xfrm>
            <a:off x="4800600" y="3063240"/>
            <a:ext cx="2468880" cy="594360"/>
          </a:xfrm>
          <a:prstGeom prst="rect">
            <a:avLst/>
          </a:prstGeom>
          <a:noFill/>
        </p:spPr>
        <p:txBody>
          <a:bodyPr wrap="square">
            <a:noAutofit/>
          </a:bodyPr>
          <a:lstStyle/>
          <a:p>
            <a:pPr algn="ctr">
              <a:defRPr sz="900" b="0">
                <a:solidFill>
                  <a:srgbClr val="16222F"/>
                </a:solidFill>
                <a:latin typeface="Aptos"/>
              </a:defRPr>
            </a:pPr>
            <a:r>
              <a:rPr sz="1100">
                <a:latin typeface="Segoe UI"/>
              </a:rPr>
              <a:t>The record becomes a time-aware profile that carries demand, supply, inventory, volatility, relationship, and context signals.</a:t>
            </a:r>
          </a:p>
        </p:txBody>
      </p:sp>
      <p:sp>
        <p:nvSpPr>
          <p:cNvPr id="19" name="Rectangle 18"/>
          <p:cNvSpPr/>
          <p:nvPr/>
        </p:nvSpPr>
        <p:spPr>
          <a:xfrm>
            <a:off x="4846320" y="3822191"/>
            <a:ext cx="2377440" cy="12700"/>
          </a:xfrm>
          <a:prstGeom prst="rect">
            <a:avLst/>
          </a:prstGeom>
          <a:solidFill>
            <a:srgbClr val="C5D3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818888" y="3977639"/>
            <a:ext cx="2423160" cy="502920"/>
          </a:xfrm>
          <a:prstGeom prst="rect">
            <a:avLst/>
          </a:prstGeom>
          <a:noFill/>
        </p:spPr>
        <p:txBody>
          <a:bodyPr wrap="square">
            <a:noAutofit/>
          </a:bodyPr>
          <a:lstStyle/>
          <a:p>
            <a:pPr algn="ctr">
              <a:defRPr sz="800" b="0">
                <a:solidFill>
                  <a:srgbClr val="525F6E"/>
                </a:solidFill>
                <a:latin typeface="Aptos"/>
              </a:defRPr>
            </a:pPr>
            <a:r>
              <a:rPr sz="1000">
                <a:latin typeface="Segoe UI"/>
              </a:rPr>
              <a:t>Richer view: the entity can be compared to itself, peers, and related entities.</a:t>
            </a:r>
          </a:p>
        </p:txBody>
      </p:sp>
      <p:cxnSp>
        <p:nvCxnSpPr>
          <p:cNvPr id="21" name="Connector 20"/>
          <p:cNvCxnSpPr/>
          <p:nvPr/>
        </p:nvCxnSpPr>
        <p:spPr>
          <a:xfrm>
            <a:off x="7680959" y="3136392"/>
            <a:ext cx="411481" cy="0"/>
          </a:xfrm>
          <a:prstGeom prst="line">
            <a:avLst/>
          </a:prstGeom>
          <a:ln w="21590">
            <a:solidFill>
              <a:srgbClr val="051F3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183879" y="1508760"/>
            <a:ext cx="3200400" cy="3383280"/>
          </a:xfrm>
          <a:prstGeom prst="roundRect">
            <a:avLst/>
          </a:prstGeom>
          <a:solidFill>
            <a:srgbClr val="FAFCFE"/>
          </a:solidFill>
          <a:ln w="15240">
            <a:solidFill>
              <a:srgbClr val="E8691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9418319" y="1783080"/>
            <a:ext cx="658368" cy="658368"/>
          </a:xfrm>
          <a:prstGeom prst="ellipse">
            <a:avLst/>
          </a:prstGeom>
          <a:solidFill>
            <a:srgbClr val="E869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418319" y="1938528"/>
            <a:ext cx="658368" cy="228600"/>
          </a:xfrm>
          <a:prstGeom prst="rect">
            <a:avLst/>
          </a:prstGeom>
          <a:noFill/>
        </p:spPr>
        <p:txBody>
          <a:bodyPr wrap="square">
            <a:noAutofit/>
          </a:bodyPr>
          <a:lstStyle/>
          <a:p>
            <a:pPr algn="ctr">
              <a:defRPr sz="1600" b="1">
                <a:solidFill>
                  <a:srgbClr val="FFFFFF"/>
                </a:solidFill>
                <a:latin typeface="Aptos"/>
              </a:defRPr>
            </a:pPr>
            <a:r>
              <a:rPr>
                <a:latin typeface="Segoe UI"/>
              </a:rPr>
              <a:t>3</a:t>
            </a:r>
          </a:p>
        </p:txBody>
      </p:sp>
      <p:sp>
        <p:nvSpPr>
          <p:cNvPr id="25" name="TextBox 24"/>
          <p:cNvSpPr txBox="1"/>
          <p:nvPr/>
        </p:nvSpPr>
        <p:spPr>
          <a:xfrm>
            <a:off x="8439911" y="2615184"/>
            <a:ext cx="2651760" cy="228600"/>
          </a:xfrm>
          <a:prstGeom prst="rect">
            <a:avLst/>
          </a:prstGeom>
          <a:noFill/>
        </p:spPr>
        <p:txBody>
          <a:bodyPr wrap="square">
            <a:noAutofit/>
          </a:bodyPr>
          <a:lstStyle/>
          <a:p>
            <a:pPr algn="ctr">
              <a:defRPr sz="1400" b="1">
                <a:solidFill>
                  <a:srgbClr val="051F37"/>
                </a:solidFill>
                <a:latin typeface="Aptos"/>
              </a:defRPr>
            </a:pPr>
            <a:r>
              <a:rPr sz="1600">
                <a:latin typeface="Segoe UI"/>
              </a:rPr>
              <a:t>Decision signal</a:t>
            </a:r>
          </a:p>
        </p:txBody>
      </p:sp>
      <p:sp>
        <p:nvSpPr>
          <p:cNvPr id="26" name="TextBox 25"/>
          <p:cNvSpPr txBox="1"/>
          <p:nvPr/>
        </p:nvSpPr>
        <p:spPr>
          <a:xfrm>
            <a:off x="8549640" y="3063240"/>
            <a:ext cx="2468880" cy="594360"/>
          </a:xfrm>
          <a:prstGeom prst="rect">
            <a:avLst/>
          </a:prstGeom>
          <a:noFill/>
        </p:spPr>
        <p:txBody>
          <a:bodyPr wrap="square">
            <a:noAutofit/>
          </a:bodyPr>
          <a:lstStyle/>
          <a:p>
            <a:pPr algn="ctr">
              <a:defRPr sz="900" b="0">
                <a:solidFill>
                  <a:srgbClr val="16222F"/>
                </a:solidFill>
                <a:latin typeface="Aptos"/>
              </a:defRPr>
            </a:pPr>
            <a:r>
              <a:rPr sz="1100">
                <a:latin typeface="Segoe UI"/>
              </a:rPr>
              <a:t>The entity’s movement is converted into drift, uncertainty, concept alignment, and explainable drivers.</a:t>
            </a:r>
          </a:p>
        </p:txBody>
      </p:sp>
      <p:sp>
        <p:nvSpPr>
          <p:cNvPr id="27" name="Rectangle 26"/>
          <p:cNvSpPr/>
          <p:nvPr/>
        </p:nvSpPr>
        <p:spPr>
          <a:xfrm>
            <a:off x="8595359" y="3822191"/>
            <a:ext cx="2377440" cy="12700"/>
          </a:xfrm>
          <a:prstGeom prst="rect">
            <a:avLst/>
          </a:prstGeom>
          <a:solidFill>
            <a:srgbClr val="C5D3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567928" y="3977639"/>
            <a:ext cx="2423160" cy="502920"/>
          </a:xfrm>
          <a:prstGeom prst="rect">
            <a:avLst/>
          </a:prstGeom>
          <a:noFill/>
        </p:spPr>
        <p:txBody>
          <a:bodyPr wrap="square">
            <a:noAutofit/>
          </a:bodyPr>
          <a:lstStyle/>
          <a:p>
            <a:pPr algn="ctr">
              <a:defRPr sz="800" b="0">
                <a:solidFill>
                  <a:srgbClr val="525F6E"/>
                </a:solidFill>
                <a:latin typeface="Aptos"/>
              </a:defRPr>
            </a:pPr>
            <a:r>
              <a:rPr sz="1000">
                <a:latin typeface="Segoe UI"/>
              </a:rPr>
              <a:t>Actionable view: DLA can evaluate where risk is moving before outcomes are visible.</a:t>
            </a:r>
          </a:p>
        </p:txBody>
      </p:sp>
      <p:sp>
        <p:nvSpPr>
          <p:cNvPr id="29" name="Rounded Rectangle 28"/>
          <p:cNvSpPr/>
          <p:nvPr/>
        </p:nvSpPr>
        <p:spPr>
          <a:xfrm>
            <a:off x="685800" y="5349240"/>
            <a:ext cx="10744200" cy="658368"/>
          </a:xfrm>
          <a:prstGeom prst="roundRect">
            <a:avLst/>
          </a:prstGeom>
          <a:solidFill>
            <a:srgbClr val="F6FAFF"/>
          </a:solidFill>
          <a:ln w="15240">
            <a:solidFill>
              <a:srgbClr val="C5D3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14400" y="5522976"/>
            <a:ext cx="1280160" cy="164592"/>
          </a:xfrm>
          <a:prstGeom prst="rect">
            <a:avLst/>
          </a:prstGeom>
          <a:noFill/>
        </p:spPr>
        <p:txBody>
          <a:bodyPr wrap="square">
            <a:noAutofit/>
          </a:bodyPr>
          <a:lstStyle/>
          <a:p>
            <a:pPr algn="l">
              <a:defRPr sz="1050" b="1">
                <a:solidFill>
                  <a:srgbClr val="051F37"/>
                </a:solidFill>
                <a:latin typeface="Aptos"/>
              </a:defRPr>
            </a:pPr>
            <a:r>
              <a:rPr sz="1200" dirty="0">
                <a:latin typeface="Segoe UI"/>
              </a:rPr>
              <a:t>Why it matters</a:t>
            </a:r>
          </a:p>
        </p:txBody>
      </p:sp>
      <p:sp>
        <p:nvSpPr>
          <p:cNvPr id="31" name="TextBox 30"/>
          <p:cNvSpPr txBox="1"/>
          <p:nvPr/>
        </p:nvSpPr>
        <p:spPr>
          <a:xfrm>
            <a:off x="2240280" y="5547360"/>
            <a:ext cx="8869680" cy="237744"/>
          </a:xfrm>
          <a:prstGeom prst="rect">
            <a:avLst/>
          </a:prstGeom>
          <a:noFill/>
        </p:spPr>
        <p:txBody>
          <a:bodyPr wrap="square">
            <a:noAutofit/>
          </a:bodyPr>
          <a:lstStyle/>
          <a:p>
            <a:pPr algn="l">
              <a:defRPr sz="880" b="0">
                <a:solidFill>
                  <a:srgbClr val="16222F"/>
                </a:solidFill>
                <a:latin typeface="Aptos"/>
              </a:defRPr>
            </a:pPr>
            <a:r>
              <a:rPr sz="1050" dirty="0">
                <a:latin typeface="Segoe UI"/>
              </a:rPr>
              <a:t>DLA can move from reviewing what happened to testing whether demand, supplier behavior, or network exposure is starting to move.</a:t>
            </a:r>
          </a:p>
        </p:txBody>
      </p:sp>
      <p:sp>
        <p:nvSpPr>
          <p:cNvPr id="32" name="Rectangle 31"/>
          <p:cNvSpPr/>
          <p:nvPr/>
        </p:nvSpPr>
        <p:spPr>
          <a:xfrm>
            <a:off x="411480" y="6565392"/>
            <a:ext cx="11384280" cy="15240"/>
          </a:xfrm>
          <a:prstGeom prst="rect">
            <a:avLst/>
          </a:prstGeom>
          <a:solidFill>
            <a:srgbClr val="D7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11480" y="6611112"/>
            <a:ext cx="7315200" cy="164592"/>
          </a:xfrm>
          <a:prstGeom prst="rect">
            <a:avLst/>
          </a:prstGeom>
          <a:noFill/>
        </p:spPr>
        <p:txBody>
          <a:bodyPr wrap="none">
            <a:spAutoFit/>
          </a:bodyPr>
          <a:lstStyle/>
          <a:p>
            <a:pPr>
              <a:defRPr sz="720">
                <a:solidFill>
                  <a:srgbClr val="525F6E"/>
                </a:solidFill>
                <a:latin typeface="Aptos"/>
              </a:defRPr>
            </a:pPr>
            <a:r>
              <a:rPr>
                <a:latin typeface="Segoe UI"/>
              </a:rPr>
              <a:t>CONFIDENTIAL   |   22nd Century Technologies   |   DLA EDM Vector Intelligence</a:t>
            </a:r>
          </a:p>
        </p:txBody>
      </p:sp>
      <p:sp>
        <p:nvSpPr>
          <p:cNvPr id="34" name="TextBox 33"/>
          <p:cNvSpPr txBox="1"/>
          <p:nvPr/>
        </p:nvSpPr>
        <p:spPr>
          <a:xfrm>
            <a:off x="11495677" y="6601968"/>
            <a:ext cx="300083" cy="223138"/>
          </a:xfrm>
          <a:prstGeom prst="rect">
            <a:avLst/>
          </a:prstGeom>
          <a:noFill/>
        </p:spPr>
        <p:txBody>
          <a:bodyPr wrap="none">
            <a:spAutoFit/>
          </a:bodyPr>
          <a:lstStyle/>
          <a:p>
            <a:pPr algn="r">
              <a:defRPr sz="900">
                <a:solidFill>
                  <a:srgbClr val="525F6E"/>
                </a:solidFill>
                <a:latin typeface="Aptos"/>
              </a:defRPr>
            </a:pPr>
            <a:r>
              <a:rPr lang="en-US" sz="850" b="0" i="0" dirty="0">
                <a:solidFill>
                  <a:srgbClr val="646F7C"/>
                </a:solidFill>
                <a:latin typeface="Segoe UI"/>
              </a:rPr>
              <a:t>23</a:t>
            </a:r>
            <a:endParaRPr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9692640" cy="411480"/>
          </a:xfrm>
          <a:prstGeom prst="rect">
            <a:avLst/>
          </a:prstGeom>
          <a:noFill/>
          <a:ln/>
        </p:spPr>
        <p:txBody>
          <a:bodyPr wrap="square" lIns="254" tIns="254" rIns="254" bIns="254"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02A4C"/>
                </a:solidFill>
                <a:effectLst/>
                <a:uLnTx/>
                <a:uFillTx/>
                <a:latin typeface="Segoe UI" pitchFamily="34" charset="0"/>
                <a:ea typeface="Aptos Display" pitchFamily="34" charset="-122"/>
                <a:cs typeface="Aptos Display" pitchFamily="34" charset="-120"/>
              </a:rPr>
              <a:t>Appendix – Overall solution architecture</a:t>
            </a:r>
            <a:endParaRPr kumimoji="0" lang="en-US" sz="2400" b="0" i="0" u="none" strike="noStrike" kern="1200" cap="none" spc="0" normalizeH="0" baseline="0" noProof="0" dirty="0">
              <a:ln>
                <a:noFill/>
              </a:ln>
              <a:solidFill>
                <a:prstClr val="black"/>
              </a:solidFill>
              <a:effectLst/>
              <a:uLnTx/>
              <a:uFillTx/>
              <a:latin typeface="Aptos"/>
              <a:ea typeface="+mn-ea"/>
              <a:cs typeface="+mn-cs"/>
            </a:endParaRPr>
          </a:p>
        </p:txBody>
      </p:sp>
      <p:sp>
        <p:nvSpPr>
          <p:cNvPr id="3" name="Text 1"/>
          <p:cNvSpPr/>
          <p:nvPr/>
        </p:nvSpPr>
        <p:spPr>
          <a:xfrm>
            <a:off x="521208" y="804672"/>
            <a:ext cx="10652760" cy="228600"/>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5B6470"/>
                </a:solidFill>
                <a:effectLst/>
                <a:uLnTx/>
                <a:uFillTx/>
                <a:latin typeface="Segoe UI" pitchFamily="34" charset="0"/>
                <a:ea typeface="Aptos" pitchFamily="34" charset="-122"/>
                <a:cs typeface="Aptos" pitchFamily="34" charset="-120"/>
              </a:rPr>
              <a:t>Transition from source feeds to living digital entities.</a:t>
            </a:r>
            <a:endParaRPr kumimoji="0" lang="en-US" sz="115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Shape 2"/>
          <p:cNvSpPr/>
          <p:nvPr/>
        </p:nvSpPr>
        <p:spPr>
          <a:xfrm>
            <a:off x="502920" y="1097280"/>
            <a:ext cx="11155680" cy="0"/>
          </a:xfrm>
          <a:prstGeom prst="line">
            <a:avLst/>
          </a:prstGeom>
          <a:noFill/>
          <a:ln w="12700">
            <a:solidFill>
              <a:srgbClr val="F36C2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5" name="Shape 3"/>
          <p:cNvSpPr/>
          <p:nvPr/>
        </p:nvSpPr>
        <p:spPr>
          <a:xfrm>
            <a:off x="411480" y="6446520"/>
            <a:ext cx="11365992" cy="0"/>
          </a:xfrm>
          <a:prstGeom prst="line">
            <a:avLst/>
          </a:prstGeom>
          <a:noFill/>
          <a:ln w="7620">
            <a:solidFill>
              <a:srgbClr val="C9D3D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7" name="Text 5"/>
          <p:cNvSpPr/>
          <p:nvPr/>
        </p:nvSpPr>
        <p:spPr>
          <a:xfrm>
            <a:off x="11475720" y="6492240"/>
            <a:ext cx="320040" cy="20116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850" b="0" i="0" dirty="0">
                <a:solidFill>
                  <a:srgbClr val="646F7C"/>
                </a:solidFill>
                <a:latin typeface="Segoe UI"/>
              </a:rPr>
              <a:t>24</a:t>
            </a:r>
            <a:endParaRPr kumimoji="0" lang="en-US" sz="700" b="0" i="0" u="none" strike="noStrike" kern="1200" cap="none" spc="0" normalizeH="0" baseline="0" noProof="0" dirty="0">
              <a:ln>
                <a:noFill/>
              </a:ln>
              <a:solidFill>
                <a:prstClr val="black"/>
              </a:solidFill>
              <a:effectLst/>
              <a:uLnTx/>
              <a:uFillTx/>
              <a:latin typeface="Aptos"/>
              <a:ea typeface="+mn-ea"/>
              <a:cs typeface="+mn-cs"/>
            </a:endParaRPr>
          </a:p>
        </p:txBody>
      </p:sp>
      <p:sp>
        <p:nvSpPr>
          <p:cNvPr id="23" name="Text 4">
            <a:extLst>
              <a:ext uri="{FF2B5EF4-FFF2-40B4-BE49-F238E27FC236}">
                <a16:creationId xmlns:a16="http://schemas.microsoft.com/office/drawing/2014/main" id="{9B2D026C-FA68-A3C3-8357-312DFB0B82E8}"/>
              </a:ext>
            </a:extLst>
          </p:cNvPr>
          <p:cNvSpPr/>
          <p:nvPr/>
        </p:nvSpPr>
        <p:spPr>
          <a:xfrm>
            <a:off x="438912" y="6510528"/>
            <a:ext cx="80467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CONFIDENTIAL  |  22</a:t>
            </a:r>
            <a:r>
              <a:rPr kumimoji="0" lang="en-US" sz="800" b="0" i="0" u="none" strike="noStrike" kern="1200" cap="none" spc="0" normalizeH="0" baseline="30000" noProof="0" dirty="0">
                <a:ln>
                  <a:noFill/>
                </a:ln>
                <a:solidFill>
                  <a:srgbClr val="5B6470"/>
                </a:solidFill>
                <a:effectLst/>
                <a:uLnTx/>
                <a:uFillTx/>
                <a:latin typeface="Segoe UI"/>
                <a:ea typeface="Aptos" pitchFamily="34" charset="-122"/>
                <a:cs typeface="Aptos" pitchFamily="34" charset="-120"/>
              </a:rPr>
              <a:t>nd</a:t>
            </a: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 Century Technologies  |  DLA EDM Vector Intelligence</a:t>
            </a:r>
            <a:endParaRPr kumimoji="0" lang="en-US" sz="800" b="0" i="0" u="none" strike="noStrike" kern="1200" cap="none" spc="0" normalizeH="0" baseline="0" noProof="0" dirty="0">
              <a:ln>
                <a:noFill/>
              </a:ln>
              <a:solidFill>
                <a:prstClr val="black"/>
              </a:solidFill>
              <a:effectLst/>
              <a:uLnTx/>
              <a:uFillTx/>
              <a:ea typeface="+mn-ea"/>
              <a:cs typeface="+mn-cs"/>
            </a:endParaRPr>
          </a:p>
        </p:txBody>
      </p:sp>
      <p:sp>
        <p:nvSpPr>
          <p:cNvPr id="22" name="Shape 0">
            <a:extLst>
              <a:ext uri="{FF2B5EF4-FFF2-40B4-BE49-F238E27FC236}">
                <a16:creationId xmlns:a16="http://schemas.microsoft.com/office/drawing/2014/main" id="{8A0E928D-907C-4B41-89F6-3BABAEAC0989}"/>
              </a:ext>
            </a:extLst>
          </p:cNvPr>
          <p:cNvSpPr/>
          <p:nvPr/>
        </p:nvSpPr>
        <p:spPr>
          <a:xfrm>
            <a:off x="0" y="0"/>
            <a:ext cx="12191695" cy="137160"/>
          </a:xfrm>
          <a:prstGeom prst="rect">
            <a:avLst/>
          </a:prstGeom>
          <a:solidFill>
            <a:srgbClr val="06244A"/>
          </a:solidFill>
          <a:ln w="12700">
            <a:solidFill>
              <a:srgbClr val="06244A"/>
            </a:solidFill>
            <a:prstDash val="solid"/>
          </a:ln>
        </p:spPr>
        <p:txBody>
          <a:bodyPr/>
          <a:lstStyle/>
          <a:p>
            <a:endParaRPr lang="en-US"/>
          </a:p>
        </p:txBody>
      </p:sp>
      <p:sp>
        <p:nvSpPr>
          <p:cNvPr id="6" name="Rectangle 5">
            <a:extLst>
              <a:ext uri="{FF2B5EF4-FFF2-40B4-BE49-F238E27FC236}">
                <a16:creationId xmlns:a16="http://schemas.microsoft.com/office/drawing/2014/main" id="{3144F2B0-23ED-FEC5-B592-E4F0C2275A3F}"/>
              </a:ext>
            </a:extLst>
          </p:cNvPr>
          <p:cNvSpPr/>
          <p:nvPr/>
        </p:nvSpPr>
        <p:spPr>
          <a:xfrm>
            <a:off x="411480" y="1313688"/>
            <a:ext cx="1417320" cy="2057400"/>
          </a:xfrm>
          <a:prstGeom prst="rect">
            <a:avLst/>
          </a:prstGeom>
          <a:solidFill>
            <a:srgbClr val="F1F6FC"/>
          </a:solidFill>
          <a:ln w="15240" cap="flat" cmpd="sng" algn="ctr">
            <a:solidFill>
              <a:srgbClr val="3366B2"/>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24" name="TextBox 23">
            <a:extLst>
              <a:ext uri="{FF2B5EF4-FFF2-40B4-BE49-F238E27FC236}">
                <a16:creationId xmlns:a16="http://schemas.microsoft.com/office/drawing/2014/main" id="{1E743A7D-7549-3455-746C-67DB9E3FD88B}"/>
              </a:ext>
            </a:extLst>
          </p:cNvPr>
          <p:cNvSpPr txBox="1"/>
          <p:nvPr/>
        </p:nvSpPr>
        <p:spPr>
          <a:xfrm>
            <a:off x="411480" y="1368552"/>
            <a:ext cx="1417320" cy="201168"/>
          </a:xfrm>
          <a:prstGeom prst="rect">
            <a:avLst/>
          </a:prstGeom>
          <a:noFill/>
        </p:spPr>
        <p:txBody>
          <a:bodyPr wrap="square" anchor="t">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sz="1500" b="1" i="0" u="none" strike="noStrike" kern="0" cap="none" spc="0" normalizeH="0" baseline="0" noProof="0" dirty="0">
                <a:ln>
                  <a:noFill/>
                </a:ln>
                <a:solidFill>
                  <a:srgbClr val="16345A"/>
                </a:solidFill>
                <a:effectLst/>
                <a:uLnTx/>
                <a:uFillTx/>
                <a:latin typeface="Segoe UI"/>
              </a:rPr>
              <a:t>Source systems</a:t>
            </a:r>
          </a:p>
        </p:txBody>
      </p:sp>
      <p:sp>
        <p:nvSpPr>
          <p:cNvPr id="25" name="TextBox 24">
            <a:extLst>
              <a:ext uri="{FF2B5EF4-FFF2-40B4-BE49-F238E27FC236}">
                <a16:creationId xmlns:a16="http://schemas.microsoft.com/office/drawing/2014/main" id="{3BF2E3C1-0835-54AD-2E4C-6D5C45A46508}"/>
              </a:ext>
            </a:extLst>
          </p:cNvPr>
          <p:cNvSpPr txBox="1"/>
          <p:nvPr/>
        </p:nvSpPr>
        <p:spPr>
          <a:xfrm>
            <a:off x="484632" y="1816608"/>
            <a:ext cx="1271016" cy="1490472"/>
          </a:xfrm>
          <a:prstGeom prst="rect">
            <a:avLst/>
          </a:prstGeom>
          <a:noFill/>
        </p:spPr>
        <p:txBody>
          <a:bodyPr wrap="square">
            <a:spAutoFit/>
          </a:bodyPr>
          <a:lstStyle/>
          <a:p>
            <a:pPr marL="0" marR="0" lvl="0" indent="0" algn="ctr" defTabSz="457200" eaLnBrk="1" fontAlgn="auto" latinLnBrk="0" hangingPunct="1">
              <a:lnSpc>
                <a:spcPct val="100000"/>
              </a:lnSpc>
              <a:spcBef>
                <a:spcPts val="0"/>
              </a:spcBef>
              <a:spcAft>
                <a:spcPts val="200"/>
              </a:spcAft>
              <a:buClrTx/>
              <a:buSzTx/>
              <a:buFontTx/>
              <a:buNone/>
              <a:tabLst/>
              <a:defRPr/>
            </a:pPr>
            <a:r>
              <a:rPr kumimoji="0" sz="1150" b="0" i="0" u="none" strike="noStrike" kern="0" cap="none" spc="0" normalizeH="0" baseline="0" noProof="0">
                <a:ln>
                  <a:noFill/>
                </a:ln>
                <a:solidFill>
                  <a:srgbClr val="303942"/>
                </a:solidFill>
                <a:effectLst/>
                <a:uLnTx/>
                <a:uFillTx/>
                <a:latin typeface="Segoe UI"/>
              </a:rPr>
              <a:t>Oracle EBS</a:t>
            </a:r>
          </a:p>
          <a:p>
            <a:pPr marL="0" marR="0" lvl="0" indent="0" algn="ctr" defTabSz="457200" eaLnBrk="1" fontAlgn="auto" latinLnBrk="0" hangingPunct="1">
              <a:lnSpc>
                <a:spcPct val="100000"/>
              </a:lnSpc>
              <a:spcBef>
                <a:spcPts val="0"/>
              </a:spcBef>
              <a:spcAft>
                <a:spcPts val="200"/>
              </a:spcAft>
              <a:buClrTx/>
              <a:buSzTx/>
              <a:buFontTx/>
              <a:buNone/>
              <a:tabLst/>
              <a:defRPr/>
            </a:pPr>
            <a:r>
              <a:rPr kumimoji="0" sz="1150" b="0" i="0" u="none" strike="noStrike" kern="0" cap="none" spc="0" normalizeH="0" baseline="0" noProof="0">
                <a:ln>
                  <a:noFill/>
                </a:ln>
                <a:solidFill>
                  <a:srgbClr val="303942"/>
                </a:solidFill>
                <a:effectLst/>
                <a:uLnTx/>
                <a:uFillTx/>
                <a:latin typeface="Segoe UI"/>
              </a:rPr>
              <a:t>SAP MM</a:t>
            </a:r>
          </a:p>
          <a:p>
            <a:pPr marL="0" marR="0" lvl="0" indent="0" algn="ctr" defTabSz="457200" eaLnBrk="1" fontAlgn="auto" latinLnBrk="0" hangingPunct="1">
              <a:lnSpc>
                <a:spcPct val="100000"/>
              </a:lnSpc>
              <a:spcBef>
                <a:spcPts val="0"/>
              </a:spcBef>
              <a:spcAft>
                <a:spcPts val="200"/>
              </a:spcAft>
              <a:buClrTx/>
              <a:buSzTx/>
              <a:buFontTx/>
              <a:buNone/>
              <a:tabLst/>
              <a:defRPr/>
            </a:pPr>
            <a:r>
              <a:rPr kumimoji="0" sz="1150" b="0" i="0" u="none" strike="noStrike" kern="0" cap="none" spc="0" normalizeH="0" baseline="0" noProof="0">
                <a:ln>
                  <a:noFill/>
                </a:ln>
                <a:solidFill>
                  <a:srgbClr val="303942"/>
                </a:solidFill>
                <a:effectLst/>
                <a:uLnTx/>
                <a:uFillTx/>
                <a:latin typeface="Segoe UI"/>
              </a:rPr>
              <a:t>GCSS-Army</a:t>
            </a:r>
          </a:p>
          <a:p>
            <a:pPr marL="0" marR="0" lvl="0" indent="0" algn="ctr" defTabSz="457200" eaLnBrk="1" fontAlgn="auto" latinLnBrk="0" hangingPunct="1">
              <a:lnSpc>
                <a:spcPct val="100000"/>
              </a:lnSpc>
              <a:spcBef>
                <a:spcPts val="0"/>
              </a:spcBef>
              <a:spcAft>
                <a:spcPts val="200"/>
              </a:spcAft>
              <a:buClrTx/>
              <a:buSzTx/>
              <a:buFontTx/>
              <a:buNone/>
              <a:tabLst/>
              <a:defRPr/>
            </a:pPr>
            <a:r>
              <a:rPr kumimoji="0" sz="1150" b="0" i="0" u="none" strike="noStrike" kern="0" cap="none" spc="0" normalizeH="0" baseline="0" noProof="0">
                <a:ln>
                  <a:noFill/>
                </a:ln>
                <a:solidFill>
                  <a:srgbClr val="303942"/>
                </a:solidFill>
                <a:effectLst/>
                <a:uLnTx/>
                <a:uFillTx/>
                <a:latin typeface="Segoe UI"/>
              </a:rPr>
              <a:t>DPAS</a:t>
            </a:r>
          </a:p>
          <a:p>
            <a:pPr marL="0" marR="0" lvl="0" indent="0" algn="ctr" defTabSz="457200" eaLnBrk="1" fontAlgn="auto" latinLnBrk="0" hangingPunct="1">
              <a:lnSpc>
                <a:spcPct val="100000"/>
              </a:lnSpc>
              <a:spcBef>
                <a:spcPts val="0"/>
              </a:spcBef>
              <a:spcAft>
                <a:spcPts val="200"/>
              </a:spcAft>
              <a:buClrTx/>
              <a:buSzTx/>
              <a:buFontTx/>
              <a:buNone/>
              <a:tabLst/>
              <a:defRPr/>
            </a:pPr>
            <a:r>
              <a:rPr kumimoji="0" sz="1150" b="0" i="0" u="none" strike="noStrike" kern="0" cap="none" spc="0" normalizeH="0" baseline="0" noProof="0">
                <a:ln>
                  <a:noFill/>
                </a:ln>
                <a:solidFill>
                  <a:srgbClr val="303942"/>
                </a:solidFill>
                <a:effectLst/>
                <a:uLnTx/>
                <a:uFillTx/>
                <a:latin typeface="Segoe UI"/>
              </a:rPr>
              <a:t>FedMall</a:t>
            </a:r>
          </a:p>
          <a:p>
            <a:pPr marL="0" marR="0" lvl="0" indent="0" algn="ctr" defTabSz="457200" eaLnBrk="1" fontAlgn="auto" latinLnBrk="0" hangingPunct="1">
              <a:lnSpc>
                <a:spcPct val="100000"/>
              </a:lnSpc>
              <a:spcBef>
                <a:spcPts val="0"/>
              </a:spcBef>
              <a:spcAft>
                <a:spcPts val="200"/>
              </a:spcAft>
              <a:buClrTx/>
              <a:buSzTx/>
              <a:buFontTx/>
              <a:buNone/>
              <a:tabLst/>
              <a:defRPr/>
            </a:pPr>
            <a:r>
              <a:rPr kumimoji="0" sz="1150" b="0" i="0" u="none" strike="noStrike" kern="0" cap="none" spc="0" normalizeH="0" baseline="0" noProof="0">
                <a:ln>
                  <a:noFill/>
                </a:ln>
                <a:solidFill>
                  <a:srgbClr val="303942"/>
                </a:solidFill>
                <a:effectLst/>
                <a:uLnTx/>
                <a:uFillTx/>
                <a:latin typeface="Segoe UI"/>
              </a:rPr>
              <a:t>Other feeds</a:t>
            </a:r>
          </a:p>
        </p:txBody>
      </p:sp>
      <p:sp>
        <p:nvSpPr>
          <p:cNvPr id="26" name="Rectangle 25">
            <a:extLst>
              <a:ext uri="{FF2B5EF4-FFF2-40B4-BE49-F238E27FC236}">
                <a16:creationId xmlns:a16="http://schemas.microsoft.com/office/drawing/2014/main" id="{5B2B2062-F224-473E-E9DA-32F7DC91031B}"/>
              </a:ext>
            </a:extLst>
          </p:cNvPr>
          <p:cNvSpPr/>
          <p:nvPr/>
        </p:nvSpPr>
        <p:spPr>
          <a:xfrm>
            <a:off x="2157984" y="1313688"/>
            <a:ext cx="1389888" cy="2057400"/>
          </a:xfrm>
          <a:prstGeom prst="rect">
            <a:avLst/>
          </a:prstGeom>
          <a:solidFill>
            <a:srgbClr val="FBF8F0"/>
          </a:solidFill>
          <a:ln w="15240" cap="flat" cmpd="sng" algn="ctr">
            <a:solidFill>
              <a:srgbClr val="CC9C23"/>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27" name="TextBox 26">
            <a:extLst>
              <a:ext uri="{FF2B5EF4-FFF2-40B4-BE49-F238E27FC236}">
                <a16:creationId xmlns:a16="http://schemas.microsoft.com/office/drawing/2014/main" id="{D4E062FE-3471-6442-5F33-6B9B85C48D84}"/>
              </a:ext>
            </a:extLst>
          </p:cNvPr>
          <p:cNvSpPr txBox="1"/>
          <p:nvPr/>
        </p:nvSpPr>
        <p:spPr>
          <a:xfrm>
            <a:off x="2157984" y="1368552"/>
            <a:ext cx="1389888" cy="201168"/>
          </a:xfrm>
          <a:prstGeom prst="rect">
            <a:avLst/>
          </a:prstGeom>
          <a:noFill/>
        </p:spPr>
        <p:txBody>
          <a:bodyPr wrap="square" anchor="t">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sz="1500" b="1" i="0" u="none" strike="noStrike" kern="0" cap="none" spc="0" normalizeH="0" baseline="0" noProof="0">
                <a:ln>
                  <a:noFill/>
                </a:ln>
                <a:solidFill>
                  <a:srgbClr val="16345A"/>
                </a:solidFill>
                <a:effectLst/>
                <a:uLnTx/>
                <a:uFillTx/>
                <a:latin typeface="Segoe UI"/>
              </a:rPr>
              <a:t>AI-powered ETL</a:t>
            </a:r>
          </a:p>
        </p:txBody>
      </p:sp>
      <p:sp>
        <p:nvSpPr>
          <p:cNvPr id="28" name="TextBox 27">
            <a:extLst>
              <a:ext uri="{FF2B5EF4-FFF2-40B4-BE49-F238E27FC236}">
                <a16:creationId xmlns:a16="http://schemas.microsoft.com/office/drawing/2014/main" id="{116F92C3-3F52-EAC2-4B3B-9C4E87D2DE35}"/>
              </a:ext>
            </a:extLst>
          </p:cNvPr>
          <p:cNvSpPr txBox="1"/>
          <p:nvPr/>
        </p:nvSpPr>
        <p:spPr>
          <a:xfrm>
            <a:off x="2231136" y="1816608"/>
            <a:ext cx="1243584" cy="1490472"/>
          </a:xfrm>
          <a:prstGeom prst="rect">
            <a:avLst/>
          </a:prstGeom>
          <a:noFill/>
        </p:spPr>
        <p:txBody>
          <a:bodyPr wrap="square">
            <a:spAutoFit/>
          </a:bodyPr>
          <a:lstStyle/>
          <a:p>
            <a:pPr marL="0" marR="0" lvl="0" indent="0" algn="ctr" defTabSz="457200" eaLnBrk="1" fontAlgn="auto" latinLnBrk="0" hangingPunct="1">
              <a:lnSpc>
                <a:spcPct val="100000"/>
              </a:lnSpc>
              <a:spcBef>
                <a:spcPts val="0"/>
              </a:spcBef>
              <a:spcAft>
                <a:spcPts val="200"/>
              </a:spcAft>
              <a:buClrTx/>
              <a:buSzTx/>
              <a:buFontTx/>
              <a:buNone/>
              <a:tabLst/>
              <a:defRPr/>
            </a:pPr>
            <a:r>
              <a:rPr kumimoji="0" sz="1150" b="0" i="0" u="none" strike="noStrike" kern="0" cap="none" spc="0" normalizeH="0" baseline="0" noProof="0">
                <a:ln>
                  <a:noFill/>
                </a:ln>
                <a:solidFill>
                  <a:srgbClr val="303942"/>
                </a:solidFill>
                <a:effectLst/>
                <a:uLnTx/>
                <a:uFillTx/>
                <a:latin typeface="Segoe UI"/>
              </a:rPr>
              <a:t>Ingest</a:t>
            </a:r>
          </a:p>
          <a:p>
            <a:pPr marL="0" marR="0" lvl="0" indent="0" algn="ctr" defTabSz="457200" eaLnBrk="1" fontAlgn="auto" latinLnBrk="0" hangingPunct="1">
              <a:lnSpc>
                <a:spcPct val="100000"/>
              </a:lnSpc>
              <a:spcBef>
                <a:spcPts val="0"/>
              </a:spcBef>
              <a:spcAft>
                <a:spcPts val="200"/>
              </a:spcAft>
              <a:buClrTx/>
              <a:buSzTx/>
              <a:buFontTx/>
              <a:buNone/>
              <a:tabLst/>
              <a:defRPr/>
            </a:pPr>
            <a:r>
              <a:rPr kumimoji="0" sz="1150" b="0" i="0" u="none" strike="noStrike" kern="0" cap="none" spc="0" normalizeH="0" baseline="0" noProof="0">
                <a:ln>
                  <a:noFill/>
                </a:ln>
                <a:solidFill>
                  <a:srgbClr val="303942"/>
                </a:solidFill>
                <a:effectLst/>
                <a:uLnTx/>
                <a:uFillTx/>
                <a:latin typeface="Segoe UI"/>
              </a:rPr>
              <a:t>Validate</a:t>
            </a:r>
          </a:p>
          <a:p>
            <a:pPr marL="0" marR="0" lvl="0" indent="0" algn="ctr" defTabSz="457200" eaLnBrk="1" fontAlgn="auto" latinLnBrk="0" hangingPunct="1">
              <a:lnSpc>
                <a:spcPct val="100000"/>
              </a:lnSpc>
              <a:spcBef>
                <a:spcPts val="0"/>
              </a:spcBef>
              <a:spcAft>
                <a:spcPts val="200"/>
              </a:spcAft>
              <a:buClrTx/>
              <a:buSzTx/>
              <a:buFontTx/>
              <a:buNone/>
              <a:tabLst/>
              <a:defRPr/>
            </a:pPr>
            <a:r>
              <a:rPr kumimoji="0" sz="1150" b="0" i="0" u="none" strike="noStrike" kern="0" cap="none" spc="0" normalizeH="0" baseline="0" noProof="0">
                <a:ln>
                  <a:noFill/>
                </a:ln>
                <a:solidFill>
                  <a:srgbClr val="303942"/>
                </a:solidFill>
                <a:effectLst/>
                <a:uLnTx/>
                <a:uFillTx/>
                <a:latin typeface="Segoe UI"/>
              </a:rPr>
              <a:t>Map identity</a:t>
            </a:r>
          </a:p>
          <a:p>
            <a:pPr marL="0" marR="0" lvl="0" indent="0" algn="ctr" defTabSz="457200" eaLnBrk="1" fontAlgn="auto" latinLnBrk="0" hangingPunct="1">
              <a:lnSpc>
                <a:spcPct val="100000"/>
              </a:lnSpc>
              <a:spcBef>
                <a:spcPts val="0"/>
              </a:spcBef>
              <a:spcAft>
                <a:spcPts val="200"/>
              </a:spcAft>
              <a:buClrTx/>
              <a:buSzTx/>
              <a:buFontTx/>
              <a:buNone/>
              <a:tabLst/>
              <a:defRPr/>
            </a:pPr>
            <a:r>
              <a:rPr kumimoji="0" sz="1150" b="0" i="0" u="none" strike="noStrike" kern="0" cap="none" spc="0" normalizeH="0" baseline="0" noProof="0">
                <a:ln>
                  <a:noFill/>
                </a:ln>
                <a:solidFill>
                  <a:srgbClr val="303942"/>
                </a:solidFill>
                <a:effectLst/>
                <a:uLnTx/>
                <a:uFillTx/>
                <a:latin typeface="Segoe UI"/>
              </a:rPr>
              <a:t>Prepare metadata</a:t>
            </a:r>
          </a:p>
        </p:txBody>
      </p:sp>
      <p:sp>
        <p:nvSpPr>
          <p:cNvPr id="29" name="Rectangle 28">
            <a:extLst>
              <a:ext uri="{FF2B5EF4-FFF2-40B4-BE49-F238E27FC236}">
                <a16:creationId xmlns:a16="http://schemas.microsoft.com/office/drawing/2014/main" id="{7818FFEB-88B8-516C-9129-1FDF2AC04A8B}"/>
              </a:ext>
            </a:extLst>
          </p:cNvPr>
          <p:cNvSpPr/>
          <p:nvPr/>
        </p:nvSpPr>
        <p:spPr>
          <a:xfrm>
            <a:off x="3877056" y="1313688"/>
            <a:ext cx="1325880" cy="2057400"/>
          </a:xfrm>
          <a:prstGeom prst="rect">
            <a:avLst/>
          </a:prstGeom>
          <a:solidFill>
            <a:srgbClr val="F1F6FC"/>
          </a:solidFill>
          <a:ln w="15240" cap="flat" cmpd="sng" algn="ctr">
            <a:solidFill>
              <a:srgbClr val="3366B2"/>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30" name="TextBox 29">
            <a:extLst>
              <a:ext uri="{FF2B5EF4-FFF2-40B4-BE49-F238E27FC236}">
                <a16:creationId xmlns:a16="http://schemas.microsoft.com/office/drawing/2014/main" id="{7273244E-3DA3-005E-E207-4A4970677D1B}"/>
              </a:ext>
            </a:extLst>
          </p:cNvPr>
          <p:cNvSpPr txBox="1"/>
          <p:nvPr/>
        </p:nvSpPr>
        <p:spPr>
          <a:xfrm>
            <a:off x="3877056" y="1368552"/>
            <a:ext cx="1325880" cy="201168"/>
          </a:xfrm>
          <a:prstGeom prst="rect">
            <a:avLst/>
          </a:prstGeom>
          <a:noFill/>
        </p:spPr>
        <p:txBody>
          <a:bodyPr wrap="square" anchor="t">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sz="1500" b="1" i="0" u="none" strike="noStrike" kern="0" cap="none" spc="0" normalizeH="0" baseline="0" noProof="0">
                <a:ln>
                  <a:noFill/>
                </a:ln>
                <a:solidFill>
                  <a:srgbClr val="16345A"/>
                </a:solidFill>
                <a:effectLst/>
                <a:uLnTx/>
                <a:uFillTx/>
                <a:latin typeface="Segoe UI"/>
              </a:rPr>
              <a:t>Bronze</a:t>
            </a:r>
          </a:p>
        </p:txBody>
      </p:sp>
      <p:sp>
        <p:nvSpPr>
          <p:cNvPr id="31" name="TextBox 30">
            <a:extLst>
              <a:ext uri="{FF2B5EF4-FFF2-40B4-BE49-F238E27FC236}">
                <a16:creationId xmlns:a16="http://schemas.microsoft.com/office/drawing/2014/main" id="{A5335A9C-4F01-0470-D60C-10600AC50E5D}"/>
              </a:ext>
            </a:extLst>
          </p:cNvPr>
          <p:cNvSpPr txBox="1"/>
          <p:nvPr/>
        </p:nvSpPr>
        <p:spPr>
          <a:xfrm>
            <a:off x="3950208" y="1816608"/>
            <a:ext cx="1179576" cy="1490472"/>
          </a:xfrm>
          <a:prstGeom prst="rect">
            <a:avLst/>
          </a:prstGeom>
          <a:noFill/>
        </p:spPr>
        <p:txBody>
          <a:bodyPr wrap="square">
            <a:spAutoFit/>
          </a:bodyPr>
          <a:lstStyle/>
          <a:p>
            <a:pPr marL="0" marR="0" lvl="0" indent="0" algn="ctr" defTabSz="457200" eaLnBrk="1" fontAlgn="auto" latinLnBrk="0" hangingPunct="1">
              <a:lnSpc>
                <a:spcPct val="100000"/>
              </a:lnSpc>
              <a:spcBef>
                <a:spcPts val="0"/>
              </a:spcBef>
              <a:spcAft>
                <a:spcPts val="200"/>
              </a:spcAft>
              <a:buClrTx/>
              <a:buSzTx/>
              <a:buFontTx/>
              <a:buNone/>
              <a:tabLst/>
              <a:defRPr/>
            </a:pPr>
            <a:r>
              <a:rPr kumimoji="0" sz="1150" b="0" i="0" u="none" strike="noStrike" kern="0" cap="none" spc="0" normalizeH="0" baseline="0" noProof="0">
                <a:ln>
                  <a:noFill/>
                </a:ln>
                <a:solidFill>
                  <a:srgbClr val="303942"/>
                </a:solidFill>
                <a:effectLst/>
                <a:uLnTx/>
                <a:uFillTx/>
                <a:latin typeface="Segoe UI"/>
              </a:rPr>
              <a:t>Raw landing</a:t>
            </a:r>
          </a:p>
          <a:p>
            <a:pPr marL="0" marR="0" lvl="0" indent="0" algn="ctr" defTabSz="457200" eaLnBrk="1" fontAlgn="auto" latinLnBrk="0" hangingPunct="1">
              <a:lnSpc>
                <a:spcPct val="100000"/>
              </a:lnSpc>
              <a:spcBef>
                <a:spcPts val="0"/>
              </a:spcBef>
              <a:spcAft>
                <a:spcPts val="200"/>
              </a:spcAft>
              <a:buClrTx/>
              <a:buSzTx/>
              <a:buFontTx/>
              <a:buNone/>
              <a:tabLst/>
              <a:defRPr/>
            </a:pPr>
            <a:r>
              <a:rPr kumimoji="0" sz="1150" b="0" i="0" u="none" strike="noStrike" kern="0" cap="none" spc="0" normalizeH="0" baseline="0" noProof="0">
                <a:ln>
                  <a:noFill/>
                </a:ln>
                <a:solidFill>
                  <a:srgbClr val="303942"/>
                </a:solidFill>
                <a:effectLst/>
                <a:uLnTx/>
                <a:uFillTx/>
                <a:latin typeface="Segoe UI"/>
              </a:rPr>
              <a:t>Immutable source</a:t>
            </a:r>
          </a:p>
          <a:p>
            <a:pPr marL="0" marR="0" lvl="0" indent="0" algn="ctr" defTabSz="457200" eaLnBrk="1" fontAlgn="auto" latinLnBrk="0" hangingPunct="1">
              <a:lnSpc>
                <a:spcPct val="100000"/>
              </a:lnSpc>
              <a:spcBef>
                <a:spcPts val="0"/>
              </a:spcBef>
              <a:spcAft>
                <a:spcPts val="200"/>
              </a:spcAft>
              <a:buClrTx/>
              <a:buSzTx/>
              <a:buFontTx/>
              <a:buNone/>
              <a:tabLst/>
              <a:defRPr/>
            </a:pPr>
            <a:r>
              <a:rPr kumimoji="0" sz="1150" b="0" i="0" u="none" strike="noStrike" kern="0" cap="none" spc="0" normalizeH="0" baseline="0" noProof="0">
                <a:ln>
                  <a:noFill/>
                </a:ln>
                <a:solidFill>
                  <a:srgbClr val="303942"/>
                </a:solidFill>
                <a:effectLst/>
                <a:uLnTx/>
                <a:uFillTx/>
                <a:latin typeface="Segoe UI"/>
              </a:rPr>
              <a:t>Auditability</a:t>
            </a:r>
          </a:p>
        </p:txBody>
      </p:sp>
      <p:sp>
        <p:nvSpPr>
          <p:cNvPr id="32" name="Rectangle 31">
            <a:extLst>
              <a:ext uri="{FF2B5EF4-FFF2-40B4-BE49-F238E27FC236}">
                <a16:creationId xmlns:a16="http://schemas.microsoft.com/office/drawing/2014/main" id="{1CEC6EC7-A344-6FC3-A491-E6D1B6F4BE08}"/>
              </a:ext>
            </a:extLst>
          </p:cNvPr>
          <p:cNvSpPr/>
          <p:nvPr/>
        </p:nvSpPr>
        <p:spPr>
          <a:xfrm>
            <a:off x="5532120" y="1313688"/>
            <a:ext cx="1325880" cy="2057400"/>
          </a:xfrm>
          <a:prstGeom prst="rect">
            <a:avLst/>
          </a:prstGeom>
          <a:solidFill>
            <a:srgbClr val="FBF8F0"/>
          </a:solidFill>
          <a:ln w="15240" cap="flat" cmpd="sng" algn="ctr">
            <a:solidFill>
              <a:srgbClr val="CC9C23"/>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33" name="TextBox 32">
            <a:extLst>
              <a:ext uri="{FF2B5EF4-FFF2-40B4-BE49-F238E27FC236}">
                <a16:creationId xmlns:a16="http://schemas.microsoft.com/office/drawing/2014/main" id="{8E060A7D-6C0C-F40D-33CA-A9D6997E651B}"/>
              </a:ext>
            </a:extLst>
          </p:cNvPr>
          <p:cNvSpPr txBox="1"/>
          <p:nvPr/>
        </p:nvSpPr>
        <p:spPr>
          <a:xfrm>
            <a:off x="5532120" y="1368552"/>
            <a:ext cx="1325880" cy="201168"/>
          </a:xfrm>
          <a:prstGeom prst="rect">
            <a:avLst/>
          </a:prstGeom>
          <a:noFill/>
        </p:spPr>
        <p:txBody>
          <a:bodyPr wrap="square" anchor="t">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sz="1500" b="1" i="0" u="none" strike="noStrike" kern="0" cap="none" spc="0" normalizeH="0" baseline="0" noProof="0">
                <a:ln>
                  <a:noFill/>
                </a:ln>
                <a:solidFill>
                  <a:srgbClr val="16345A"/>
                </a:solidFill>
                <a:effectLst/>
                <a:uLnTx/>
                <a:uFillTx/>
                <a:latin typeface="Segoe UI"/>
              </a:rPr>
              <a:t>Silver</a:t>
            </a:r>
          </a:p>
        </p:txBody>
      </p:sp>
      <p:sp>
        <p:nvSpPr>
          <p:cNvPr id="34" name="TextBox 33">
            <a:extLst>
              <a:ext uri="{FF2B5EF4-FFF2-40B4-BE49-F238E27FC236}">
                <a16:creationId xmlns:a16="http://schemas.microsoft.com/office/drawing/2014/main" id="{ED09B592-564D-E428-642A-C109DF6B2462}"/>
              </a:ext>
            </a:extLst>
          </p:cNvPr>
          <p:cNvSpPr txBox="1"/>
          <p:nvPr/>
        </p:nvSpPr>
        <p:spPr>
          <a:xfrm>
            <a:off x="5605272" y="1816608"/>
            <a:ext cx="1179576" cy="1490472"/>
          </a:xfrm>
          <a:prstGeom prst="rect">
            <a:avLst/>
          </a:prstGeom>
          <a:noFill/>
        </p:spPr>
        <p:txBody>
          <a:bodyPr wrap="square">
            <a:spAutoFit/>
          </a:bodyPr>
          <a:lstStyle/>
          <a:p>
            <a:pPr marL="0" marR="0" lvl="0" indent="0" algn="ctr" defTabSz="457200" eaLnBrk="1" fontAlgn="auto" latinLnBrk="0" hangingPunct="1">
              <a:lnSpc>
                <a:spcPct val="100000"/>
              </a:lnSpc>
              <a:spcBef>
                <a:spcPts val="0"/>
              </a:spcBef>
              <a:spcAft>
                <a:spcPts val="200"/>
              </a:spcAft>
              <a:buClrTx/>
              <a:buSzTx/>
              <a:buFontTx/>
              <a:buNone/>
              <a:tabLst/>
              <a:defRPr/>
            </a:pPr>
            <a:r>
              <a:rPr kumimoji="0" sz="1150" b="0" i="0" u="none" strike="noStrike" kern="0" cap="none" spc="0" normalizeH="0" baseline="0" noProof="0">
                <a:ln>
                  <a:noFill/>
                </a:ln>
                <a:solidFill>
                  <a:srgbClr val="303942"/>
                </a:solidFill>
                <a:effectLst/>
                <a:uLnTx/>
                <a:uFillTx/>
                <a:latin typeface="Segoe UI"/>
              </a:rPr>
              <a:t>Cleaned data</a:t>
            </a:r>
          </a:p>
          <a:p>
            <a:pPr marL="0" marR="0" lvl="0" indent="0" algn="ctr" defTabSz="457200" eaLnBrk="1" fontAlgn="auto" latinLnBrk="0" hangingPunct="1">
              <a:lnSpc>
                <a:spcPct val="100000"/>
              </a:lnSpc>
              <a:spcBef>
                <a:spcPts val="0"/>
              </a:spcBef>
              <a:spcAft>
                <a:spcPts val="200"/>
              </a:spcAft>
              <a:buClrTx/>
              <a:buSzTx/>
              <a:buFontTx/>
              <a:buNone/>
              <a:tabLst/>
              <a:defRPr/>
            </a:pPr>
            <a:r>
              <a:rPr kumimoji="0" sz="1150" b="0" i="0" u="none" strike="noStrike" kern="0" cap="none" spc="0" normalizeH="0" baseline="0" noProof="0">
                <a:ln>
                  <a:noFill/>
                </a:ln>
                <a:solidFill>
                  <a:srgbClr val="303942"/>
                </a:solidFill>
                <a:effectLst/>
                <a:uLnTx/>
                <a:uFillTx/>
                <a:latin typeface="Segoe UI"/>
              </a:rPr>
              <a:t>Resolved keys</a:t>
            </a:r>
          </a:p>
          <a:p>
            <a:pPr marL="0" marR="0" lvl="0" indent="0" algn="ctr" defTabSz="457200" eaLnBrk="1" fontAlgn="auto" latinLnBrk="0" hangingPunct="1">
              <a:lnSpc>
                <a:spcPct val="100000"/>
              </a:lnSpc>
              <a:spcBef>
                <a:spcPts val="0"/>
              </a:spcBef>
              <a:spcAft>
                <a:spcPts val="200"/>
              </a:spcAft>
              <a:buClrTx/>
              <a:buSzTx/>
              <a:buFontTx/>
              <a:buNone/>
              <a:tabLst/>
              <a:defRPr/>
            </a:pPr>
            <a:r>
              <a:rPr kumimoji="0" sz="1150" b="0" i="0" u="none" strike="noStrike" kern="0" cap="none" spc="0" normalizeH="0" baseline="0" noProof="0">
                <a:ln>
                  <a:noFill/>
                </a:ln>
                <a:solidFill>
                  <a:srgbClr val="303942"/>
                </a:solidFill>
                <a:effectLst/>
                <a:uLnTx/>
                <a:uFillTx/>
                <a:latin typeface="Segoe UI"/>
              </a:rPr>
              <a:t>Quality checks</a:t>
            </a:r>
          </a:p>
        </p:txBody>
      </p:sp>
      <p:sp>
        <p:nvSpPr>
          <p:cNvPr id="35" name="Rectangle 34">
            <a:extLst>
              <a:ext uri="{FF2B5EF4-FFF2-40B4-BE49-F238E27FC236}">
                <a16:creationId xmlns:a16="http://schemas.microsoft.com/office/drawing/2014/main" id="{6B828542-9775-C498-A049-944041F91C69}"/>
              </a:ext>
            </a:extLst>
          </p:cNvPr>
          <p:cNvSpPr/>
          <p:nvPr/>
        </p:nvSpPr>
        <p:spPr>
          <a:xfrm>
            <a:off x="7187184" y="1313688"/>
            <a:ext cx="1371600" cy="2057400"/>
          </a:xfrm>
          <a:prstGeom prst="rect">
            <a:avLst/>
          </a:prstGeom>
          <a:solidFill>
            <a:srgbClr val="F1F6FC"/>
          </a:solidFill>
          <a:ln w="15240" cap="flat" cmpd="sng" algn="ctr">
            <a:solidFill>
              <a:srgbClr val="3366B2"/>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36" name="TextBox 35">
            <a:extLst>
              <a:ext uri="{FF2B5EF4-FFF2-40B4-BE49-F238E27FC236}">
                <a16:creationId xmlns:a16="http://schemas.microsoft.com/office/drawing/2014/main" id="{1AE2AD52-CBBB-C874-BDA8-6E081AE3874B}"/>
              </a:ext>
            </a:extLst>
          </p:cNvPr>
          <p:cNvSpPr txBox="1"/>
          <p:nvPr/>
        </p:nvSpPr>
        <p:spPr>
          <a:xfrm>
            <a:off x="7187184" y="1368552"/>
            <a:ext cx="1371600" cy="201168"/>
          </a:xfrm>
          <a:prstGeom prst="rect">
            <a:avLst/>
          </a:prstGeom>
          <a:noFill/>
        </p:spPr>
        <p:txBody>
          <a:bodyPr wrap="square" anchor="t">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sz="1500" b="1" i="0" u="none" strike="noStrike" kern="0" cap="none" spc="0" normalizeH="0" baseline="0" noProof="0">
                <a:ln>
                  <a:noFill/>
                </a:ln>
                <a:solidFill>
                  <a:srgbClr val="16345A"/>
                </a:solidFill>
                <a:effectLst/>
                <a:uLnTx/>
                <a:uFillTx/>
                <a:latin typeface="Segoe UI"/>
              </a:rPr>
              <a:t>Gold</a:t>
            </a:r>
          </a:p>
        </p:txBody>
      </p:sp>
      <p:sp>
        <p:nvSpPr>
          <p:cNvPr id="37" name="TextBox 36">
            <a:extLst>
              <a:ext uri="{FF2B5EF4-FFF2-40B4-BE49-F238E27FC236}">
                <a16:creationId xmlns:a16="http://schemas.microsoft.com/office/drawing/2014/main" id="{FA150892-C6B2-73CA-69BD-DE96DD2D6060}"/>
              </a:ext>
            </a:extLst>
          </p:cNvPr>
          <p:cNvSpPr txBox="1"/>
          <p:nvPr/>
        </p:nvSpPr>
        <p:spPr>
          <a:xfrm>
            <a:off x="7260336" y="1816608"/>
            <a:ext cx="1225296" cy="1490472"/>
          </a:xfrm>
          <a:prstGeom prst="rect">
            <a:avLst/>
          </a:prstGeom>
          <a:noFill/>
        </p:spPr>
        <p:txBody>
          <a:bodyPr wrap="square">
            <a:spAutoFit/>
          </a:bodyPr>
          <a:lstStyle/>
          <a:p>
            <a:pPr marL="0" marR="0" lvl="0" indent="0" algn="ctr" defTabSz="457200" eaLnBrk="1" fontAlgn="auto" latinLnBrk="0" hangingPunct="1">
              <a:lnSpc>
                <a:spcPct val="100000"/>
              </a:lnSpc>
              <a:spcBef>
                <a:spcPts val="0"/>
              </a:spcBef>
              <a:spcAft>
                <a:spcPts val="200"/>
              </a:spcAft>
              <a:buClrTx/>
              <a:buSzTx/>
              <a:buFontTx/>
              <a:buNone/>
              <a:tabLst/>
              <a:defRPr/>
            </a:pPr>
            <a:r>
              <a:rPr kumimoji="0" sz="1150" b="0" i="0" u="none" strike="noStrike" kern="0" cap="none" spc="0" normalizeH="0" baseline="0" noProof="0">
                <a:ln>
                  <a:noFill/>
                </a:ln>
                <a:solidFill>
                  <a:srgbClr val="303942"/>
                </a:solidFill>
                <a:effectLst/>
                <a:uLnTx/>
                <a:uFillTx/>
                <a:latin typeface="Segoe UI"/>
              </a:rPr>
              <a:t>Analytic views</a:t>
            </a:r>
          </a:p>
          <a:p>
            <a:pPr marL="0" marR="0" lvl="0" indent="0" algn="ctr" defTabSz="457200" eaLnBrk="1" fontAlgn="auto" latinLnBrk="0" hangingPunct="1">
              <a:lnSpc>
                <a:spcPct val="100000"/>
              </a:lnSpc>
              <a:spcBef>
                <a:spcPts val="0"/>
              </a:spcBef>
              <a:spcAft>
                <a:spcPts val="200"/>
              </a:spcAft>
              <a:buClrTx/>
              <a:buSzTx/>
              <a:buFontTx/>
              <a:buNone/>
              <a:tabLst/>
              <a:defRPr/>
            </a:pPr>
            <a:r>
              <a:rPr kumimoji="0" sz="1150" b="0" i="0" u="none" strike="noStrike" kern="0" cap="none" spc="0" normalizeH="0" baseline="0" noProof="0">
                <a:ln>
                  <a:noFill/>
                </a:ln>
                <a:solidFill>
                  <a:srgbClr val="303942"/>
                </a:solidFill>
                <a:effectLst/>
                <a:uLnTx/>
                <a:uFillTx/>
                <a:latin typeface="Segoe UI"/>
              </a:rPr>
              <a:t>Feature sets</a:t>
            </a:r>
          </a:p>
          <a:p>
            <a:pPr marL="0" marR="0" lvl="0" indent="0" algn="ctr" defTabSz="457200" eaLnBrk="1" fontAlgn="auto" latinLnBrk="0" hangingPunct="1">
              <a:lnSpc>
                <a:spcPct val="100000"/>
              </a:lnSpc>
              <a:spcBef>
                <a:spcPts val="0"/>
              </a:spcBef>
              <a:spcAft>
                <a:spcPts val="200"/>
              </a:spcAft>
              <a:buClrTx/>
              <a:buSzTx/>
              <a:buFontTx/>
              <a:buNone/>
              <a:tabLst/>
              <a:defRPr/>
            </a:pPr>
            <a:r>
              <a:rPr kumimoji="0" sz="1150" b="0" i="0" u="none" strike="noStrike" kern="0" cap="none" spc="0" normalizeH="0" baseline="0" noProof="0">
                <a:ln>
                  <a:noFill/>
                </a:ln>
                <a:solidFill>
                  <a:srgbClr val="303942"/>
                </a:solidFill>
                <a:effectLst/>
                <a:uLnTx/>
                <a:uFillTx/>
                <a:latin typeface="Segoe UI"/>
              </a:rPr>
              <a:t>Operational metrics</a:t>
            </a:r>
          </a:p>
        </p:txBody>
      </p:sp>
      <p:sp>
        <p:nvSpPr>
          <p:cNvPr id="38" name="Rectangle 37">
            <a:extLst>
              <a:ext uri="{FF2B5EF4-FFF2-40B4-BE49-F238E27FC236}">
                <a16:creationId xmlns:a16="http://schemas.microsoft.com/office/drawing/2014/main" id="{D1AABFE4-19EB-9BC2-FCF0-EB32E972352A}"/>
              </a:ext>
            </a:extLst>
          </p:cNvPr>
          <p:cNvSpPr/>
          <p:nvPr/>
        </p:nvSpPr>
        <p:spPr>
          <a:xfrm>
            <a:off x="8887968" y="1313688"/>
            <a:ext cx="1828800" cy="2057400"/>
          </a:xfrm>
          <a:prstGeom prst="rect">
            <a:avLst/>
          </a:prstGeom>
          <a:solidFill>
            <a:srgbClr val="FBF8F0"/>
          </a:solidFill>
          <a:ln w="15240" cap="flat" cmpd="sng" algn="ctr">
            <a:solidFill>
              <a:srgbClr val="CC9C23"/>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39" name="TextBox 38">
            <a:extLst>
              <a:ext uri="{FF2B5EF4-FFF2-40B4-BE49-F238E27FC236}">
                <a16:creationId xmlns:a16="http://schemas.microsoft.com/office/drawing/2014/main" id="{8E770A4F-8CBE-C08D-8E84-649DB0CB46A4}"/>
              </a:ext>
            </a:extLst>
          </p:cNvPr>
          <p:cNvSpPr txBox="1"/>
          <p:nvPr/>
        </p:nvSpPr>
        <p:spPr>
          <a:xfrm>
            <a:off x="8887968" y="1368552"/>
            <a:ext cx="1828800" cy="201168"/>
          </a:xfrm>
          <a:prstGeom prst="rect">
            <a:avLst/>
          </a:prstGeom>
          <a:noFill/>
        </p:spPr>
        <p:txBody>
          <a:bodyPr wrap="square" anchor="t">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sz="1500" b="1" i="0" u="none" strike="noStrike" kern="0" cap="none" spc="0" normalizeH="0" baseline="0" noProof="0">
                <a:ln>
                  <a:noFill/>
                </a:ln>
                <a:solidFill>
                  <a:srgbClr val="16345A"/>
                </a:solidFill>
                <a:effectLst/>
                <a:uLnTx/>
                <a:uFillTx/>
                <a:latin typeface="Segoe UI"/>
              </a:rPr>
              <a:t>Living entities</a:t>
            </a:r>
          </a:p>
        </p:txBody>
      </p:sp>
      <p:sp>
        <p:nvSpPr>
          <p:cNvPr id="40" name="TextBox 39">
            <a:extLst>
              <a:ext uri="{FF2B5EF4-FFF2-40B4-BE49-F238E27FC236}">
                <a16:creationId xmlns:a16="http://schemas.microsoft.com/office/drawing/2014/main" id="{FA482880-6941-F3A0-9C79-8D3C002A6CC2}"/>
              </a:ext>
            </a:extLst>
          </p:cNvPr>
          <p:cNvSpPr txBox="1"/>
          <p:nvPr/>
        </p:nvSpPr>
        <p:spPr>
          <a:xfrm>
            <a:off x="8961120" y="1816608"/>
            <a:ext cx="1682496" cy="1490472"/>
          </a:xfrm>
          <a:prstGeom prst="rect">
            <a:avLst/>
          </a:prstGeom>
          <a:noFill/>
        </p:spPr>
        <p:txBody>
          <a:bodyPr wrap="square">
            <a:spAutoFit/>
          </a:bodyPr>
          <a:lstStyle/>
          <a:p>
            <a:pPr marL="0" marR="0" lvl="0" indent="0" algn="ctr" defTabSz="457200" eaLnBrk="1" fontAlgn="auto" latinLnBrk="0" hangingPunct="1">
              <a:lnSpc>
                <a:spcPct val="100000"/>
              </a:lnSpc>
              <a:spcBef>
                <a:spcPts val="0"/>
              </a:spcBef>
              <a:spcAft>
                <a:spcPts val="200"/>
              </a:spcAft>
              <a:buClrTx/>
              <a:buSzTx/>
              <a:buFontTx/>
              <a:buNone/>
              <a:tabLst/>
              <a:defRPr/>
            </a:pPr>
            <a:r>
              <a:rPr kumimoji="0" sz="1150" b="0" i="0" u="none" strike="noStrike" kern="0" cap="none" spc="0" normalizeH="0" baseline="0" noProof="0">
                <a:ln>
                  <a:noFill/>
                </a:ln>
                <a:solidFill>
                  <a:srgbClr val="303942"/>
                </a:solidFill>
                <a:effectLst/>
                <a:uLnTx/>
                <a:uFillTx/>
                <a:latin typeface="Segoe UI"/>
              </a:rPr>
              <a:t>NSN</a:t>
            </a:r>
          </a:p>
          <a:p>
            <a:pPr marL="0" marR="0" lvl="0" indent="0" algn="ctr" defTabSz="457200" eaLnBrk="1" fontAlgn="auto" latinLnBrk="0" hangingPunct="1">
              <a:lnSpc>
                <a:spcPct val="100000"/>
              </a:lnSpc>
              <a:spcBef>
                <a:spcPts val="0"/>
              </a:spcBef>
              <a:spcAft>
                <a:spcPts val="200"/>
              </a:spcAft>
              <a:buClrTx/>
              <a:buSzTx/>
              <a:buFontTx/>
              <a:buNone/>
              <a:tabLst/>
              <a:defRPr/>
            </a:pPr>
            <a:r>
              <a:rPr kumimoji="0" sz="1150" b="0" i="0" u="none" strike="noStrike" kern="0" cap="none" spc="0" normalizeH="0" baseline="0" noProof="0">
                <a:ln>
                  <a:noFill/>
                </a:ln>
                <a:solidFill>
                  <a:srgbClr val="303942"/>
                </a:solidFill>
                <a:effectLst/>
                <a:uLnTx/>
                <a:uFillTx/>
                <a:latin typeface="Segoe UI"/>
              </a:rPr>
              <a:t>Supplier</a:t>
            </a:r>
          </a:p>
          <a:p>
            <a:pPr marL="0" marR="0" lvl="0" indent="0" algn="ctr" defTabSz="457200" eaLnBrk="1" fontAlgn="auto" latinLnBrk="0" hangingPunct="1">
              <a:lnSpc>
                <a:spcPct val="100000"/>
              </a:lnSpc>
              <a:spcBef>
                <a:spcPts val="0"/>
              </a:spcBef>
              <a:spcAft>
                <a:spcPts val="200"/>
              </a:spcAft>
              <a:buClrTx/>
              <a:buSzTx/>
              <a:buFontTx/>
              <a:buNone/>
              <a:tabLst/>
              <a:defRPr/>
            </a:pPr>
            <a:r>
              <a:rPr kumimoji="0" sz="1150" b="0" i="0" u="none" strike="noStrike" kern="0" cap="none" spc="0" normalizeH="0" baseline="0" noProof="0">
                <a:ln>
                  <a:noFill/>
                </a:ln>
                <a:solidFill>
                  <a:srgbClr val="303942"/>
                </a:solidFill>
                <a:effectLst/>
                <a:uLnTx/>
                <a:uFillTx/>
                <a:latin typeface="Segoe UI"/>
              </a:rPr>
              <a:t>Depot</a:t>
            </a:r>
          </a:p>
          <a:p>
            <a:pPr marL="0" marR="0" lvl="0" indent="0" algn="ctr" defTabSz="457200" eaLnBrk="1" fontAlgn="auto" latinLnBrk="0" hangingPunct="1">
              <a:lnSpc>
                <a:spcPct val="100000"/>
              </a:lnSpc>
              <a:spcBef>
                <a:spcPts val="0"/>
              </a:spcBef>
              <a:spcAft>
                <a:spcPts val="200"/>
              </a:spcAft>
              <a:buClrTx/>
              <a:buSzTx/>
              <a:buFontTx/>
              <a:buNone/>
              <a:tabLst/>
              <a:defRPr/>
            </a:pPr>
            <a:r>
              <a:rPr kumimoji="0" sz="1150" b="0" i="0" u="none" strike="noStrike" kern="0" cap="none" spc="0" normalizeH="0" baseline="0" noProof="0">
                <a:ln>
                  <a:noFill/>
                </a:ln>
                <a:solidFill>
                  <a:srgbClr val="303942"/>
                </a:solidFill>
                <a:effectLst/>
                <a:uLnTx/>
                <a:uFillTx/>
                <a:latin typeface="Segoe UI"/>
              </a:rPr>
              <a:t>Route</a:t>
            </a:r>
          </a:p>
          <a:p>
            <a:pPr marL="0" marR="0" lvl="0" indent="0" algn="ctr" defTabSz="457200" eaLnBrk="1" fontAlgn="auto" latinLnBrk="0" hangingPunct="1">
              <a:lnSpc>
                <a:spcPct val="100000"/>
              </a:lnSpc>
              <a:spcBef>
                <a:spcPts val="0"/>
              </a:spcBef>
              <a:spcAft>
                <a:spcPts val="200"/>
              </a:spcAft>
              <a:buClrTx/>
              <a:buSzTx/>
              <a:buFontTx/>
              <a:buNone/>
              <a:tabLst/>
              <a:defRPr/>
            </a:pPr>
            <a:r>
              <a:rPr kumimoji="0" sz="1150" b="0" i="0" u="none" strike="noStrike" kern="0" cap="none" spc="0" normalizeH="0" baseline="0" noProof="0">
                <a:ln>
                  <a:noFill/>
                </a:ln>
                <a:solidFill>
                  <a:srgbClr val="303942"/>
                </a:solidFill>
                <a:effectLst/>
                <a:uLnTx/>
                <a:uFillTx/>
                <a:latin typeface="Segoe UI"/>
              </a:rPr>
              <a:t>Demand behavior</a:t>
            </a:r>
          </a:p>
        </p:txBody>
      </p:sp>
      <p:cxnSp>
        <p:nvCxnSpPr>
          <p:cNvPr id="41" name="Connector 23">
            <a:extLst>
              <a:ext uri="{FF2B5EF4-FFF2-40B4-BE49-F238E27FC236}">
                <a16:creationId xmlns:a16="http://schemas.microsoft.com/office/drawing/2014/main" id="{85967339-8E86-1908-6C9D-AB5C4B5FC18A}"/>
              </a:ext>
            </a:extLst>
          </p:cNvPr>
          <p:cNvCxnSpPr/>
          <p:nvPr/>
        </p:nvCxnSpPr>
        <p:spPr>
          <a:xfrm>
            <a:off x="1828800" y="2346960"/>
            <a:ext cx="329184" cy="0"/>
          </a:xfrm>
          <a:prstGeom prst="line">
            <a:avLst/>
          </a:prstGeom>
          <a:noFill/>
          <a:ln w="19050" cap="flat" cmpd="sng" algn="ctr">
            <a:solidFill>
              <a:srgbClr val="58626E"/>
            </a:solidFill>
            <a:prstDash val="solid"/>
          </a:ln>
          <a:effectLst>
            <a:outerShdw blurRad="40000" dist="20000" dir="5400000" rotWithShape="0">
              <a:srgbClr val="000000">
                <a:alpha val="38000"/>
              </a:srgbClr>
            </a:outerShdw>
          </a:effectLst>
        </p:spPr>
      </p:cxnSp>
      <p:cxnSp>
        <p:nvCxnSpPr>
          <p:cNvPr id="42" name="Connector 24">
            <a:extLst>
              <a:ext uri="{FF2B5EF4-FFF2-40B4-BE49-F238E27FC236}">
                <a16:creationId xmlns:a16="http://schemas.microsoft.com/office/drawing/2014/main" id="{3B4A4D19-A6C2-F774-AB47-283258DDDAAA}"/>
              </a:ext>
            </a:extLst>
          </p:cNvPr>
          <p:cNvCxnSpPr/>
          <p:nvPr/>
        </p:nvCxnSpPr>
        <p:spPr>
          <a:xfrm>
            <a:off x="3547872" y="2346960"/>
            <a:ext cx="329184" cy="0"/>
          </a:xfrm>
          <a:prstGeom prst="line">
            <a:avLst/>
          </a:prstGeom>
          <a:noFill/>
          <a:ln w="19050" cap="flat" cmpd="sng" algn="ctr">
            <a:solidFill>
              <a:srgbClr val="58626E"/>
            </a:solidFill>
            <a:prstDash val="solid"/>
          </a:ln>
          <a:effectLst>
            <a:outerShdw blurRad="40000" dist="20000" dir="5400000" rotWithShape="0">
              <a:srgbClr val="000000">
                <a:alpha val="38000"/>
              </a:srgbClr>
            </a:outerShdw>
          </a:effectLst>
        </p:spPr>
      </p:cxnSp>
      <p:cxnSp>
        <p:nvCxnSpPr>
          <p:cNvPr id="43" name="Connector 25">
            <a:extLst>
              <a:ext uri="{FF2B5EF4-FFF2-40B4-BE49-F238E27FC236}">
                <a16:creationId xmlns:a16="http://schemas.microsoft.com/office/drawing/2014/main" id="{433770FC-08DD-6033-0B3B-BFE3008F0E5E}"/>
              </a:ext>
            </a:extLst>
          </p:cNvPr>
          <p:cNvCxnSpPr/>
          <p:nvPr/>
        </p:nvCxnSpPr>
        <p:spPr>
          <a:xfrm>
            <a:off x="5202936" y="2346960"/>
            <a:ext cx="329184" cy="0"/>
          </a:xfrm>
          <a:prstGeom prst="line">
            <a:avLst/>
          </a:prstGeom>
          <a:noFill/>
          <a:ln w="19050" cap="flat" cmpd="sng" algn="ctr">
            <a:solidFill>
              <a:srgbClr val="58626E"/>
            </a:solidFill>
            <a:prstDash val="solid"/>
          </a:ln>
          <a:effectLst>
            <a:outerShdw blurRad="40000" dist="20000" dir="5400000" rotWithShape="0">
              <a:srgbClr val="000000">
                <a:alpha val="38000"/>
              </a:srgbClr>
            </a:outerShdw>
          </a:effectLst>
        </p:spPr>
      </p:cxnSp>
      <p:cxnSp>
        <p:nvCxnSpPr>
          <p:cNvPr id="44" name="Connector 26">
            <a:extLst>
              <a:ext uri="{FF2B5EF4-FFF2-40B4-BE49-F238E27FC236}">
                <a16:creationId xmlns:a16="http://schemas.microsoft.com/office/drawing/2014/main" id="{DDFE0BB2-D6F8-77C7-A41C-D656FBA41299}"/>
              </a:ext>
            </a:extLst>
          </p:cNvPr>
          <p:cNvCxnSpPr/>
          <p:nvPr/>
        </p:nvCxnSpPr>
        <p:spPr>
          <a:xfrm>
            <a:off x="6858000" y="2346960"/>
            <a:ext cx="329184" cy="0"/>
          </a:xfrm>
          <a:prstGeom prst="line">
            <a:avLst/>
          </a:prstGeom>
          <a:noFill/>
          <a:ln w="19050" cap="flat" cmpd="sng" algn="ctr">
            <a:solidFill>
              <a:srgbClr val="58626E"/>
            </a:solidFill>
            <a:prstDash val="solid"/>
          </a:ln>
          <a:effectLst>
            <a:outerShdw blurRad="40000" dist="20000" dir="5400000" rotWithShape="0">
              <a:srgbClr val="000000">
                <a:alpha val="38000"/>
              </a:srgbClr>
            </a:outerShdw>
          </a:effectLst>
        </p:spPr>
      </p:cxnSp>
      <p:cxnSp>
        <p:nvCxnSpPr>
          <p:cNvPr id="45" name="Connector 27">
            <a:extLst>
              <a:ext uri="{FF2B5EF4-FFF2-40B4-BE49-F238E27FC236}">
                <a16:creationId xmlns:a16="http://schemas.microsoft.com/office/drawing/2014/main" id="{AFCE0CA5-59BC-F8C0-6059-54C78D331068}"/>
              </a:ext>
            </a:extLst>
          </p:cNvPr>
          <p:cNvCxnSpPr/>
          <p:nvPr/>
        </p:nvCxnSpPr>
        <p:spPr>
          <a:xfrm>
            <a:off x="8558784" y="2346960"/>
            <a:ext cx="329184" cy="0"/>
          </a:xfrm>
          <a:prstGeom prst="line">
            <a:avLst/>
          </a:prstGeom>
          <a:noFill/>
          <a:ln w="19050" cap="flat" cmpd="sng" algn="ctr">
            <a:solidFill>
              <a:srgbClr val="58626E"/>
            </a:solidFill>
            <a:prstDash val="solid"/>
          </a:ln>
          <a:effectLst>
            <a:outerShdw blurRad="40000" dist="20000" dir="5400000" rotWithShape="0">
              <a:srgbClr val="000000">
                <a:alpha val="38000"/>
              </a:srgbClr>
            </a:outerShdw>
          </a:effectLst>
        </p:spPr>
      </p:cxnSp>
      <p:sp>
        <p:nvSpPr>
          <p:cNvPr id="46" name="Rounded Rectangle 28">
            <a:extLst>
              <a:ext uri="{FF2B5EF4-FFF2-40B4-BE49-F238E27FC236}">
                <a16:creationId xmlns:a16="http://schemas.microsoft.com/office/drawing/2014/main" id="{ABD23E86-D95D-73CF-F8DB-3E3B6CB79F08}"/>
              </a:ext>
            </a:extLst>
          </p:cNvPr>
          <p:cNvSpPr/>
          <p:nvPr/>
        </p:nvSpPr>
        <p:spPr>
          <a:xfrm>
            <a:off x="9454896" y="1149096"/>
            <a:ext cx="822960" cy="219456"/>
          </a:xfrm>
          <a:prstGeom prst="roundRect">
            <a:avLst/>
          </a:prstGeom>
          <a:solidFill>
            <a:srgbClr val="E6761D"/>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sz="950" b="1" i="0" u="none" strike="noStrike" kern="0" cap="none" spc="0" normalizeH="0" baseline="0" noProof="0">
                <a:ln>
                  <a:noFill/>
                </a:ln>
                <a:solidFill>
                  <a:srgbClr val="FFFFFF"/>
                </a:solidFill>
                <a:effectLst/>
                <a:uLnTx/>
                <a:uFillTx/>
                <a:latin typeface="Segoe UI"/>
                <a:ea typeface="+mn-ea"/>
                <a:cs typeface="+mn-cs"/>
              </a:rPr>
              <a:t>EDM / BEI</a:t>
            </a:r>
          </a:p>
        </p:txBody>
      </p:sp>
      <p:sp>
        <p:nvSpPr>
          <p:cNvPr id="47" name="Rectangle 46">
            <a:extLst>
              <a:ext uri="{FF2B5EF4-FFF2-40B4-BE49-F238E27FC236}">
                <a16:creationId xmlns:a16="http://schemas.microsoft.com/office/drawing/2014/main" id="{A4CF5689-9803-F5F7-7E98-B562463AAA09}"/>
              </a:ext>
            </a:extLst>
          </p:cNvPr>
          <p:cNvSpPr/>
          <p:nvPr/>
        </p:nvSpPr>
        <p:spPr>
          <a:xfrm>
            <a:off x="502920" y="4221480"/>
            <a:ext cx="3657600" cy="1627632"/>
          </a:xfrm>
          <a:prstGeom prst="rect">
            <a:avLst/>
          </a:prstGeom>
          <a:solidFill>
            <a:srgbClr val="F6F8FB"/>
          </a:solidFill>
          <a:ln w="15240" cap="flat" cmpd="sng" algn="ctr">
            <a:solidFill>
              <a:srgbClr val="3366B2"/>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48" name="TextBox 47">
            <a:extLst>
              <a:ext uri="{FF2B5EF4-FFF2-40B4-BE49-F238E27FC236}">
                <a16:creationId xmlns:a16="http://schemas.microsoft.com/office/drawing/2014/main" id="{9949B241-67FC-C3EC-961F-EFDC07F72C53}"/>
              </a:ext>
            </a:extLst>
          </p:cNvPr>
          <p:cNvSpPr txBox="1"/>
          <p:nvPr/>
        </p:nvSpPr>
        <p:spPr>
          <a:xfrm>
            <a:off x="649224" y="4312919"/>
            <a:ext cx="1737360" cy="411480"/>
          </a:xfrm>
          <a:prstGeom prst="rect">
            <a:avLst/>
          </a:prstGeom>
          <a:noFill/>
        </p:spPr>
        <p:txBody>
          <a:bodyPr wrap="square" anchor="t">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sz="1450" b="1" i="0" u="none" strike="noStrike" kern="0" cap="none" spc="0" normalizeH="0" baseline="0" noProof="0">
                <a:ln>
                  <a:noFill/>
                </a:ln>
                <a:solidFill>
                  <a:srgbClr val="16345A"/>
                </a:solidFill>
                <a:effectLst/>
                <a:uLnTx/>
                <a:uFillTx/>
                <a:latin typeface="Segoe UI"/>
              </a:rPr>
              <a:t>Security posture</a:t>
            </a:r>
          </a:p>
        </p:txBody>
      </p:sp>
      <p:sp>
        <p:nvSpPr>
          <p:cNvPr id="49" name="TextBox 48">
            <a:extLst>
              <a:ext uri="{FF2B5EF4-FFF2-40B4-BE49-F238E27FC236}">
                <a16:creationId xmlns:a16="http://schemas.microsoft.com/office/drawing/2014/main" id="{7F536C4E-8A66-48BF-1951-2DED0986812F}"/>
              </a:ext>
            </a:extLst>
          </p:cNvPr>
          <p:cNvSpPr txBox="1"/>
          <p:nvPr/>
        </p:nvSpPr>
        <p:spPr>
          <a:xfrm>
            <a:off x="667512" y="4828032"/>
            <a:ext cx="3328416" cy="841248"/>
          </a:xfrm>
          <a:prstGeom prst="rect">
            <a:avLst/>
          </a:prstGeom>
          <a:noFill/>
        </p:spPr>
        <p:txBody>
          <a:bodyPr wrap="square" anchor="t">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sz="1050" b="0" i="0" u="none" strike="noStrike" kern="0" cap="none" spc="0" normalizeH="0" baseline="0" noProof="0">
                <a:ln>
                  <a:noFill/>
                </a:ln>
                <a:solidFill>
                  <a:srgbClr val="303942"/>
                </a:solidFill>
                <a:effectLst/>
                <a:uLnTx/>
                <a:uFillTx/>
                <a:latin typeface="Segoe UI"/>
              </a:rPr>
              <a:t>Designed to operate within DLA security, governance, and data-access constraints, including controlled or air-gapped environments as required.</a:t>
            </a:r>
          </a:p>
        </p:txBody>
      </p:sp>
      <p:sp>
        <p:nvSpPr>
          <p:cNvPr id="50" name="Oval 49">
            <a:extLst>
              <a:ext uri="{FF2B5EF4-FFF2-40B4-BE49-F238E27FC236}">
                <a16:creationId xmlns:a16="http://schemas.microsoft.com/office/drawing/2014/main" id="{333D7E9E-13A1-E7C0-C7A6-02E3098A0A7C}"/>
              </a:ext>
            </a:extLst>
          </p:cNvPr>
          <p:cNvSpPr/>
          <p:nvPr/>
        </p:nvSpPr>
        <p:spPr>
          <a:xfrm>
            <a:off x="3447288" y="4386071"/>
            <a:ext cx="438912" cy="438912"/>
          </a:xfrm>
          <a:prstGeom prst="ellipse">
            <a:avLst/>
          </a:prstGeom>
          <a:solidFill>
            <a:srgbClr val="F1F6FC"/>
          </a:solidFill>
          <a:ln w="9525" cap="flat" cmpd="sng" algn="ctr">
            <a:solidFill>
              <a:srgbClr val="3366B2"/>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51" name="TextBox 50">
            <a:extLst>
              <a:ext uri="{FF2B5EF4-FFF2-40B4-BE49-F238E27FC236}">
                <a16:creationId xmlns:a16="http://schemas.microsoft.com/office/drawing/2014/main" id="{0972D135-7FD3-8232-AC5A-C1B3F51AFE88}"/>
              </a:ext>
            </a:extLst>
          </p:cNvPr>
          <p:cNvSpPr txBox="1"/>
          <p:nvPr/>
        </p:nvSpPr>
        <p:spPr>
          <a:xfrm>
            <a:off x="3557015" y="4477512"/>
            <a:ext cx="219456" cy="146304"/>
          </a:xfrm>
          <a:prstGeom prst="rect">
            <a:avLst/>
          </a:prstGeom>
          <a:noFill/>
        </p:spPr>
        <p:txBody>
          <a:bodyPr wrap="square" anchor="t">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sz="1300" b="1" i="0" u="none" strike="noStrike" kern="0" cap="none" spc="0" normalizeH="0" baseline="0" noProof="0">
                <a:ln>
                  <a:noFill/>
                </a:ln>
                <a:solidFill>
                  <a:srgbClr val="3366B2"/>
                </a:solidFill>
                <a:effectLst/>
                <a:uLnTx/>
                <a:uFillTx/>
                <a:latin typeface="Segoe UI"/>
              </a:rPr>
              <a:t>✓</a:t>
            </a:r>
          </a:p>
        </p:txBody>
      </p:sp>
      <p:sp>
        <p:nvSpPr>
          <p:cNvPr id="52" name="Rectangle 51">
            <a:extLst>
              <a:ext uri="{FF2B5EF4-FFF2-40B4-BE49-F238E27FC236}">
                <a16:creationId xmlns:a16="http://schemas.microsoft.com/office/drawing/2014/main" id="{F162E1B0-8F3B-0D79-627B-2AD062C526C2}"/>
              </a:ext>
            </a:extLst>
          </p:cNvPr>
          <p:cNvSpPr/>
          <p:nvPr/>
        </p:nvSpPr>
        <p:spPr>
          <a:xfrm>
            <a:off x="4389120" y="4221480"/>
            <a:ext cx="3657600" cy="1627632"/>
          </a:xfrm>
          <a:prstGeom prst="rect">
            <a:avLst/>
          </a:prstGeom>
          <a:solidFill>
            <a:srgbClr val="FFFFFF"/>
          </a:solidFill>
          <a:ln w="15240" cap="flat" cmpd="sng" algn="ctr">
            <a:solidFill>
              <a:srgbClr val="3366B2"/>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53" name="TextBox 52">
            <a:extLst>
              <a:ext uri="{FF2B5EF4-FFF2-40B4-BE49-F238E27FC236}">
                <a16:creationId xmlns:a16="http://schemas.microsoft.com/office/drawing/2014/main" id="{D4E684F1-20DD-6F2F-AFFE-A8D98D62C5EA}"/>
              </a:ext>
            </a:extLst>
          </p:cNvPr>
          <p:cNvSpPr txBox="1"/>
          <p:nvPr/>
        </p:nvSpPr>
        <p:spPr>
          <a:xfrm>
            <a:off x="4535424" y="4312919"/>
            <a:ext cx="2103120" cy="201168"/>
          </a:xfrm>
          <a:prstGeom prst="rect">
            <a:avLst/>
          </a:prstGeom>
          <a:noFill/>
        </p:spPr>
        <p:txBody>
          <a:bodyPr wrap="square" anchor="t">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sz="1500" b="1" i="0" u="none" strike="noStrike" kern="0" cap="none" spc="0" normalizeH="0" baseline="0" noProof="0">
                <a:ln>
                  <a:noFill/>
                </a:ln>
                <a:solidFill>
                  <a:srgbClr val="16345A"/>
                </a:solidFill>
                <a:effectLst/>
                <a:uLnTx/>
                <a:uFillTx/>
                <a:latin typeface="Segoe UI"/>
              </a:rPr>
              <a:t>Entity attributes</a:t>
            </a:r>
          </a:p>
        </p:txBody>
      </p:sp>
      <p:sp>
        <p:nvSpPr>
          <p:cNvPr id="54" name="TextBox 53">
            <a:extLst>
              <a:ext uri="{FF2B5EF4-FFF2-40B4-BE49-F238E27FC236}">
                <a16:creationId xmlns:a16="http://schemas.microsoft.com/office/drawing/2014/main" id="{85E2923D-F2B3-24B0-C001-A0972C0D8EB4}"/>
              </a:ext>
            </a:extLst>
          </p:cNvPr>
          <p:cNvSpPr txBox="1"/>
          <p:nvPr/>
        </p:nvSpPr>
        <p:spPr>
          <a:xfrm>
            <a:off x="4553712" y="4715256"/>
            <a:ext cx="3310128" cy="960120"/>
          </a:xfrm>
          <a:prstGeom prst="rect">
            <a:avLst/>
          </a:prstGeom>
          <a:noFill/>
        </p:spPr>
        <p:txBody>
          <a:bodyPr wrap="square" anchor="t">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sz="1055" b="0" i="0" u="none" strike="noStrike" kern="0" cap="none" spc="0" normalizeH="0" baseline="0" noProof="0">
                <a:ln>
                  <a:noFill/>
                </a:ln>
                <a:solidFill>
                  <a:srgbClr val="303942"/>
                </a:solidFill>
                <a:effectLst/>
                <a:uLnTx/>
                <a:uFillTx/>
                <a:latin typeface="Segoe UI"/>
              </a:rPr>
              <a:t>Connected entity attributes unify item, supplier, depot, route, inventory, and demand signals so the model can interpret behavior, drift, and relationships across the network.</a:t>
            </a:r>
          </a:p>
        </p:txBody>
      </p:sp>
      <p:sp>
        <p:nvSpPr>
          <p:cNvPr id="55" name="Oval 54">
            <a:extLst>
              <a:ext uri="{FF2B5EF4-FFF2-40B4-BE49-F238E27FC236}">
                <a16:creationId xmlns:a16="http://schemas.microsoft.com/office/drawing/2014/main" id="{0B706E36-084C-8C32-E472-9C4C287C261A}"/>
              </a:ext>
            </a:extLst>
          </p:cNvPr>
          <p:cNvSpPr/>
          <p:nvPr/>
        </p:nvSpPr>
        <p:spPr>
          <a:xfrm>
            <a:off x="7205472" y="4660392"/>
            <a:ext cx="100584" cy="100584"/>
          </a:xfrm>
          <a:prstGeom prst="ellipse">
            <a:avLst/>
          </a:prstGeom>
          <a:solidFill>
            <a:srgbClr val="3366B2"/>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56" name="Oval 55">
            <a:extLst>
              <a:ext uri="{FF2B5EF4-FFF2-40B4-BE49-F238E27FC236}">
                <a16:creationId xmlns:a16="http://schemas.microsoft.com/office/drawing/2014/main" id="{8BF87511-DC69-BA18-045C-6BD0302B4E1E}"/>
              </a:ext>
            </a:extLst>
          </p:cNvPr>
          <p:cNvSpPr/>
          <p:nvPr/>
        </p:nvSpPr>
        <p:spPr>
          <a:xfrm>
            <a:off x="7388352" y="4459223"/>
            <a:ext cx="100584" cy="100584"/>
          </a:xfrm>
          <a:prstGeom prst="ellipse">
            <a:avLst/>
          </a:prstGeom>
          <a:solidFill>
            <a:srgbClr val="3366B2"/>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57" name="Oval 56">
            <a:extLst>
              <a:ext uri="{FF2B5EF4-FFF2-40B4-BE49-F238E27FC236}">
                <a16:creationId xmlns:a16="http://schemas.microsoft.com/office/drawing/2014/main" id="{9AC70CDC-1F9D-A52C-611D-0D71944CDE90}"/>
              </a:ext>
            </a:extLst>
          </p:cNvPr>
          <p:cNvSpPr/>
          <p:nvPr/>
        </p:nvSpPr>
        <p:spPr>
          <a:xfrm>
            <a:off x="7571231" y="4660392"/>
            <a:ext cx="100584" cy="100584"/>
          </a:xfrm>
          <a:prstGeom prst="ellipse">
            <a:avLst/>
          </a:prstGeom>
          <a:solidFill>
            <a:srgbClr val="3366B2"/>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cxnSp>
        <p:nvCxnSpPr>
          <p:cNvPr id="58" name="Connector 40">
            <a:extLst>
              <a:ext uri="{FF2B5EF4-FFF2-40B4-BE49-F238E27FC236}">
                <a16:creationId xmlns:a16="http://schemas.microsoft.com/office/drawing/2014/main" id="{4972D812-8CA9-CE81-5A9D-06D627533A66}"/>
              </a:ext>
            </a:extLst>
          </p:cNvPr>
          <p:cNvCxnSpPr/>
          <p:nvPr/>
        </p:nvCxnSpPr>
        <p:spPr>
          <a:xfrm flipV="1">
            <a:off x="7251192" y="4504943"/>
            <a:ext cx="182879" cy="201169"/>
          </a:xfrm>
          <a:prstGeom prst="line">
            <a:avLst/>
          </a:prstGeom>
          <a:noFill/>
          <a:ln w="12700" cap="flat" cmpd="sng" algn="ctr">
            <a:solidFill>
              <a:srgbClr val="3366B2"/>
            </a:solidFill>
            <a:prstDash val="solid"/>
          </a:ln>
          <a:effectLst>
            <a:outerShdw blurRad="40000" dist="20000" dir="5400000" rotWithShape="0">
              <a:srgbClr val="000000">
                <a:alpha val="38000"/>
              </a:srgbClr>
            </a:outerShdw>
          </a:effectLst>
        </p:spPr>
      </p:cxnSp>
      <p:cxnSp>
        <p:nvCxnSpPr>
          <p:cNvPr id="59" name="Connector 41">
            <a:extLst>
              <a:ext uri="{FF2B5EF4-FFF2-40B4-BE49-F238E27FC236}">
                <a16:creationId xmlns:a16="http://schemas.microsoft.com/office/drawing/2014/main" id="{458AB4B7-4763-D832-0B85-8CC2CDFC12D5}"/>
              </a:ext>
            </a:extLst>
          </p:cNvPr>
          <p:cNvCxnSpPr/>
          <p:nvPr/>
        </p:nvCxnSpPr>
        <p:spPr>
          <a:xfrm flipH="1" flipV="1">
            <a:off x="7434071" y="4504943"/>
            <a:ext cx="182881" cy="201169"/>
          </a:xfrm>
          <a:prstGeom prst="line">
            <a:avLst/>
          </a:prstGeom>
          <a:noFill/>
          <a:ln w="12700" cap="flat" cmpd="sng" algn="ctr">
            <a:solidFill>
              <a:srgbClr val="3366B2"/>
            </a:solidFill>
            <a:prstDash val="solid"/>
          </a:ln>
          <a:effectLst>
            <a:outerShdw blurRad="40000" dist="20000" dir="5400000" rotWithShape="0">
              <a:srgbClr val="000000">
                <a:alpha val="38000"/>
              </a:srgbClr>
            </a:outerShdw>
          </a:effectLst>
        </p:spPr>
      </p:cxnSp>
      <p:cxnSp>
        <p:nvCxnSpPr>
          <p:cNvPr id="60" name="Connector 42">
            <a:extLst>
              <a:ext uri="{FF2B5EF4-FFF2-40B4-BE49-F238E27FC236}">
                <a16:creationId xmlns:a16="http://schemas.microsoft.com/office/drawing/2014/main" id="{394022AF-4BFF-55F5-5BC1-787FFD9A4DF9}"/>
              </a:ext>
            </a:extLst>
          </p:cNvPr>
          <p:cNvCxnSpPr/>
          <p:nvPr/>
        </p:nvCxnSpPr>
        <p:spPr>
          <a:xfrm>
            <a:off x="7251192" y="4706112"/>
            <a:ext cx="365760" cy="0"/>
          </a:xfrm>
          <a:prstGeom prst="line">
            <a:avLst/>
          </a:prstGeom>
          <a:noFill/>
          <a:ln w="12700" cap="flat" cmpd="sng" algn="ctr">
            <a:solidFill>
              <a:srgbClr val="3366B2"/>
            </a:solidFill>
            <a:prstDash val="solid"/>
          </a:ln>
          <a:effectLst>
            <a:outerShdw blurRad="40000" dist="20000" dir="5400000" rotWithShape="0">
              <a:srgbClr val="000000">
                <a:alpha val="38000"/>
              </a:srgbClr>
            </a:outerShdw>
          </a:effectLst>
        </p:spPr>
      </p:cxnSp>
      <p:sp>
        <p:nvSpPr>
          <p:cNvPr id="61" name="Rectangle 60">
            <a:extLst>
              <a:ext uri="{FF2B5EF4-FFF2-40B4-BE49-F238E27FC236}">
                <a16:creationId xmlns:a16="http://schemas.microsoft.com/office/drawing/2014/main" id="{11631716-2DFF-0CCA-19C3-D553175FD5FB}"/>
              </a:ext>
            </a:extLst>
          </p:cNvPr>
          <p:cNvSpPr/>
          <p:nvPr/>
        </p:nvSpPr>
        <p:spPr>
          <a:xfrm>
            <a:off x="8275320" y="4221480"/>
            <a:ext cx="3657600" cy="1627632"/>
          </a:xfrm>
          <a:prstGeom prst="rect">
            <a:avLst/>
          </a:prstGeom>
          <a:solidFill>
            <a:srgbClr val="FBF8F0"/>
          </a:solidFill>
          <a:ln w="15240" cap="flat" cmpd="sng" algn="ctr">
            <a:solidFill>
              <a:srgbClr val="CC9C23"/>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62" name="TextBox 61">
            <a:extLst>
              <a:ext uri="{FF2B5EF4-FFF2-40B4-BE49-F238E27FC236}">
                <a16:creationId xmlns:a16="http://schemas.microsoft.com/office/drawing/2014/main" id="{4F9BB831-0847-9ACC-8CA5-D42DB9C515C3}"/>
              </a:ext>
            </a:extLst>
          </p:cNvPr>
          <p:cNvSpPr txBox="1"/>
          <p:nvPr/>
        </p:nvSpPr>
        <p:spPr>
          <a:xfrm>
            <a:off x="8421624" y="4312919"/>
            <a:ext cx="2377440" cy="201168"/>
          </a:xfrm>
          <a:prstGeom prst="rect">
            <a:avLst/>
          </a:prstGeom>
          <a:noFill/>
        </p:spPr>
        <p:txBody>
          <a:bodyPr wrap="square" anchor="t">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sz="1500" b="1" i="0" u="none" strike="noStrike" kern="0" cap="none" spc="0" normalizeH="0" baseline="0" noProof="0">
                <a:ln>
                  <a:noFill/>
                </a:ln>
                <a:solidFill>
                  <a:srgbClr val="16345A"/>
                </a:solidFill>
                <a:effectLst/>
                <a:uLnTx/>
                <a:uFillTx/>
                <a:latin typeface="Segoe UI"/>
              </a:rPr>
              <a:t>Decision workspace</a:t>
            </a:r>
          </a:p>
        </p:txBody>
      </p:sp>
      <p:sp>
        <p:nvSpPr>
          <p:cNvPr id="63" name="TextBox 62">
            <a:extLst>
              <a:ext uri="{FF2B5EF4-FFF2-40B4-BE49-F238E27FC236}">
                <a16:creationId xmlns:a16="http://schemas.microsoft.com/office/drawing/2014/main" id="{80AE0A0A-7B01-AAC8-CF14-D2D3D456DA8B}"/>
              </a:ext>
            </a:extLst>
          </p:cNvPr>
          <p:cNvSpPr txBox="1"/>
          <p:nvPr/>
        </p:nvSpPr>
        <p:spPr>
          <a:xfrm>
            <a:off x="8439912" y="4715256"/>
            <a:ext cx="3255264" cy="960120"/>
          </a:xfrm>
          <a:prstGeom prst="rect">
            <a:avLst/>
          </a:prstGeom>
          <a:noFill/>
        </p:spPr>
        <p:txBody>
          <a:bodyPr wrap="square" anchor="t">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sz="1055" b="0" i="0" u="none" strike="noStrike" kern="0" cap="none" spc="0" normalizeH="0" baseline="0" noProof="0" dirty="0">
                <a:ln>
                  <a:noFill/>
                </a:ln>
                <a:solidFill>
                  <a:srgbClr val="303942"/>
                </a:solidFill>
                <a:effectLst/>
                <a:uLnTx/>
                <a:uFillTx/>
                <a:latin typeface="Segoe UI"/>
              </a:rPr>
              <a:t>Outputs support forecast review, supplier risk triage, scenario assessment, explainability, and MVP measurement using mission-relevant evidence rather than static records alone.</a:t>
            </a:r>
          </a:p>
        </p:txBody>
      </p:sp>
      <p:sp>
        <p:nvSpPr>
          <p:cNvPr id="64" name="Rectangle 63">
            <a:extLst>
              <a:ext uri="{FF2B5EF4-FFF2-40B4-BE49-F238E27FC236}">
                <a16:creationId xmlns:a16="http://schemas.microsoft.com/office/drawing/2014/main" id="{33F78ADF-7470-9E27-1269-AF1C4DC9E2F0}"/>
              </a:ext>
            </a:extLst>
          </p:cNvPr>
          <p:cNvSpPr/>
          <p:nvPr/>
        </p:nvSpPr>
        <p:spPr>
          <a:xfrm>
            <a:off x="11481816" y="4411979"/>
            <a:ext cx="64008" cy="164592"/>
          </a:xfrm>
          <a:prstGeom prst="rect">
            <a:avLst/>
          </a:prstGeom>
          <a:solidFill>
            <a:srgbClr val="E6761D"/>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65" name="Rectangle 64">
            <a:extLst>
              <a:ext uri="{FF2B5EF4-FFF2-40B4-BE49-F238E27FC236}">
                <a16:creationId xmlns:a16="http://schemas.microsoft.com/office/drawing/2014/main" id="{9C1CAEDB-422A-C0EE-EF51-BE5AA4EAABCB}"/>
              </a:ext>
            </a:extLst>
          </p:cNvPr>
          <p:cNvSpPr/>
          <p:nvPr/>
        </p:nvSpPr>
        <p:spPr>
          <a:xfrm>
            <a:off x="11591544" y="4366260"/>
            <a:ext cx="64008" cy="256032"/>
          </a:xfrm>
          <a:prstGeom prst="rect">
            <a:avLst/>
          </a:prstGeom>
          <a:solidFill>
            <a:srgbClr val="E6761D"/>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66" name="Rectangle 65">
            <a:extLst>
              <a:ext uri="{FF2B5EF4-FFF2-40B4-BE49-F238E27FC236}">
                <a16:creationId xmlns:a16="http://schemas.microsoft.com/office/drawing/2014/main" id="{2ABE924E-9323-A1F9-068F-7F5E22ED8CFC}"/>
              </a:ext>
            </a:extLst>
          </p:cNvPr>
          <p:cNvSpPr/>
          <p:nvPr/>
        </p:nvSpPr>
        <p:spPr>
          <a:xfrm>
            <a:off x="11701272" y="4302251"/>
            <a:ext cx="64008" cy="384048"/>
          </a:xfrm>
          <a:prstGeom prst="rect">
            <a:avLst/>
          </a:prstGeom>
          <a:solidFill>
            <a:srgbClr val="E6761D"/>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137160"/>
          </a:xfrm>
          <a:prstGeom prst="rect">
            <a:avLst/>
          </a:prstGeom>
          <a:solidFill>
            <a:srgbClr val="06244A"/>
          </a:solidFill>
          <a:ln w="12700">
            <a:solidFill>
              <a:srgbClr val="06244A"/>
            </a:solidFill>
            <a:prstDash val="solid"/>
          </a:ln>
        </p:spPr>
        <p:txBody>
          <a:bodyPr/>
          <a:lstStyle/>
          <a:p>
            <a:endParaRPr lang="en-US"/>
          </a:p>
        </p:txBody>
      </p:sp>
      <p:sp>
        <p:nvSpPr>
          <p:cNvPr id="3" name="Text 1"/>
          <p:cNvSpPr/>
          <p:nvPr/>
        </p:nvSpPr>
        <p:spPr>
          <a:xfrm>
            <a:off x="438912" y="292608"/>
            <a:ext cx="8869680" cy="329184"/>
          </a:xfrm>
          <a:prstGeom prst="rect">
            <a:avLst/>
          </a:prstGeom>
          <a:noFill/>
          <a:ln/>
        </p:spPr>
        <p:txBody>
          <a:bodyPr wrap="square" lIns="0" tIns="0" rIns="0" bIns="0" rtlCol="0" anchor="ctr"/>
          <a:lstStyle/>
          <a:p>
            <a:pPr marL="0" indent="0">
              <a:buNone/>
            </a:pPr>
            <a:r>
              <a:rPr lang="en-US" sz="2300" b="1" dirty="0">
                <a:solidFill>
                  <a:srgbClr val="102A4C"/>
                </a:solidFill>
                <a:latin typeface="Segoe UI" pitchFamily="34" charset="0"/>
                <a:ea typeface="Aptos Display" pitchFamily="34" charset="-122"/>
                <a:cs typeface="Aptos Display" pitchFamily="34" charset="-120"/>
              </a:rPr>
              <a:t>Appendix – AOI-05 alignment and validation path</a:t>
            </a:r>
            <a:endParaRPr lang="en-US" sz="2300" dirty="0"/>
          </a:p>
        </p:txBody>
      </p:sp>
      <p:sp>
        <p:nvSpPr>
          <p:cNvPr id="4" name="Text 2"/>
          <p:cNvSpPr/>
          <p:nvPr/>
        </p:nvSpPr>
        <p:spPr>
          <a:xfrm>
            <a:off x="457200" y="749808"/>
            <a:ext cx="10881360" cy="310896"/>
          </a:xfrm>
          <a:prstGeom prst="rect">
            <a:avLst/>
          </a:prstGeom>
          <a:noFill/>
          <a:ln/>
        </p:spPr>
        <p:txBody>
          <a:bodyPr wrap="square" lIns="0" tIns="0" rIns="0" bIns="0" rtlCol="0" anchor="ctr"/>
          <a:lstStyle/>
          <a:p>
            <a:pPr marL="0" indent="0">
              <a:buNone/>
            </a:pPr>
            <a:r>
              <a:rPr lang="en-US" sz="1150" dirty="0">
                <a:solidFill>
                  <a:srgbClr val="5E6A75"/>
                </a:solidFill>
                <a:latin typeface="Segoe UI"/>
              </a:rPr>
              <a:t>EDM aligns to AOI-05 priorities by connecting fragmented logistics signals to predictive, explainable, and mission-relevant decision outputs.</a:t>
            </a:r>
            <a:endParaRPr lang="en-US" sz="1150" dirty="0"/>
          </a:p>
        </p:txBody>
      </p:sp>
      <p:sp>
        <p:nvSpPr>
          <p:cNvPr id="5" name="Shape 3"/>
          <p:cNvSpPr/>
          <p:nvPr/>
        </p:nvSpPr>
        <p:spPr>
          <a:xfrm>
            <a:off x="594360" y="1234440"/>
            <a:ext cx="2423160" cy="329184"/>
          </a:xfrm>
          <a:prstGeom prst="rect">
            <a:avLst/>
          </a:prstGeom>
          <a:solidFill>
            <a:srgbClr val="06244A"/>
          </a:solidFill>
          <a:ln w="12700">
            <a:solidFill>
              <a:srgbClr val="06244A"/>
            </a:solidFill>
            <a:prstDash val="solid"/>
          </a:ln>
        </p:spPr>
        <p:txBody>
          <a:bodyPr/>
          <a:lstStyle/>
          <a:p>
            <a:endParaRPr lang="en-US" sz="4000"/>
          </a:p>
        </p:txBody>
      </p:sp>
      <p:sp>
        <p:nvSpPr>
          <p:cNvPr id="6" name="Text 4"/>
          <p:cNvSpPr/>
          <p:nvPr/>
        </p:nvSpPr>
        <p:spPr>
          <a:xfrm>
            <a:off x="685800" y="1316736"/>
            <a:ext cx="2240280" cy="109728"/>
          </a:xfrm>
          <a:prstGeom prst="rect">
            <a:avLst/>
          </a:prstGeom>
          <a:noFill/>
          <a:ln/>
        </p:spPr>
        <p:txBody>
          <a:bodyPr wrap="square" lIns="0" tIns="0" rIns="0" bIns="0" rtlCol="0" anchor="ctr"/>
          <a:lstStyle/>
          <a:p>
            <a:pPr marL="0" indent="0">
              <a:buNone/>
            </a:pPr>
            <a:r>
              <a:rPr lang="en-US" sz="1400" b="1" dirty="0">
                <a:solidFill>
                  <a:srgbClr val="FFFFFF"/>
                </a:solidFill>
                <a:latin typeface="Segoe UI"/>
              </a:rPr>
              <a:t>DLA / AOI-05 concern</a:t>
            </a:r>
            <a:endParaRPr lang="en-US" sz="1400" dirty="0"/>
          </a:p>
        </p:txBody>
      </p:sp>
      <p:sp>
        <p:nvSpPr>
          <p:cNvPr id="7" name="Shape 5"/>
          <p:cNvSpPr/>
          <p:nvPr/>
        </p:nvSpPr>
        <p:spPr>
          <a:xfrm>
            <a:off x="3017520" y="1234440"/>
            <a:ext cx="4160520" cy="329184"/>
          </a:xfrm>
          <a:prstGeom prst="rect">
            <a:avLst/>
          </a:prstGeom>
          <a:solidFill>
            <a:srgbClr val="06244A"/>
          </a:solidFill>
          <a:ln w="12700">
            <a:solidFill>
              <a:srgbClr val="06244A"/>
            </a:solidFill>
            <a:prstDash val="solid"/>
          </a:ln>
        </p:spPr>
        <p:txBody>
          <a:bodyPr/>
          <a:lstStyle/>
          <a:p>
            <a:endParaRPr lang="en-US" sz="4000"/>
          </a:p>
        </p:txBody>
      </p:sp>
      <p:sp>
        <p:nvSpPr>
          <p:cNvPr id="8" name="Text 6"/>
          <p:cNvSpPr/>
          <p:nvPr/>
        </p:nvSpPr>
        <p:spPr>
          <a:xfrm>
            <a:off x="3108960" y="1316736"/>
            <a:ext cx="3977640" cy="109728"/>
          </a:xfrm>
          <a:prstGeom prst="rect">
            <a:avLst/>
          </a:prstGeom>
          <a:noFill/>
          <a:ln/>
        </p:spPr>
        <p:txBody>
          <a:bodyPr wrap="square" lIns="0" tIns="0" rIns="0" bIns="0" rtlCol="0" anchor="ctr"/>
          <a:lstStyle/>
          <a:p>
            <a:pPr marL="0" indent="0">
              <a:buNone/>
            </a:pPr>
            <a:r>
              <a:rPr lang="en-US" sz="1400" b="1" dirty="0">
                <a:solidFill>
                  <a:srgbClr val="FFFFFF"/>
                </a:solidFill>
                <a:latin typeface="Segoe UI"/>
              </a:rPr>
              <a:t>How EDM addresses it</a:t>
            </a:r>
            <a:endParaRPr lang="en-US" sz="1400" dirty="0"/>
          </a:p>
        </p:txBody>
      </p:sp>
      <p:sp>
        <p:nvSpPr>
          <p:cNvPr id="9" name="Shape 7"/>
          <p:cNvSpPr/>
          <p:nvPr/>
        </p:nvSpPr>
        <p:spPr>
          <a:xfrm>
            <a:off x="7178040" y="1234440"/>
            <a:ext cx="4160520" cy="329184"/>
          </a:xfrm>
          <a:prstGeom prst="rect">
            <a:avLst/>
          </a:prstGeom>
          <a:solidFill>
            <a:srgbClr val="06244A"/>
          </a:solidFill>
          <a:ln w="12700">
            <a:solidFill>
              <a:srgbClr val="06244A"/>
            </a:solidFill>
            <a:prstDash val="solid"/>
          </a:ln>
        </p:spPr>
        <p:txBody>
          <a:bodyPr/>
          <a:lstStyle/>
          <a:p>
            <a:endParaRPr lang="en-US" sz="4000"/>
          </a:p>
        </p:txBody>
      </p:sp>
      <p:sp>
        <p:nvSpPr>
          <p:cNvPr id="10" name="Text 8"/>
          <p:cNvSpPr/>
          <p:nvPr/>
        </p:nvSpPr>
        <p:spPr>
          <a:xfrm>
            <a:off x="7269480" y="1316736"/>
            <a:ext cx="3977640" cy="109728"/>
          </a:xfrm>
          <a:prstGeom prst="rect">
            <a:avLst/>
          </a:prstGeom>
          <a:noFill/>
          <a:ln/>
        </p:spPr>
        <p:txBody>
          <a:bodyPr wrap="square" lIns="0" tIns="0" rIns="0" bIns="0" rtlCol="0" anchor="ctr"/>
          <a:lstStyle/>
          <a:p>
            <a:pPr marL="0" indent="0">
              <a:buNone/>
            </a:pPr>
            <a:r>
              <a:rPr lang="en-US" sz="1400" b="1" dirty="0">
                <a:solidFill>
                  <a:srgbClr val="FFFFFF"/>
                </a:solidFill>
                <a:latin typeface="Segoe UI"/>
              </a:rPr>
              <a:t>Validation required</a:t>
            </a:r>
            <a:endParaRPr lang="en-US" sz="1400" dirty="0"/>
          </a:p>
        </p:txBody>
      </p:sp>
      <p:sp>
        <p:nvSpPr>
          <p:cNvPr id="11" name="Shape 9"/>
          <p:cNvSpPr/>
          <p:nvPr/>
        </p:nvSpPr>
        <p:spPr>
          <a:xfrm>
            <a:off x="594360" y="1563624"/>
            <a:ext cx="2423160" cy="566928"/>
          </a:xfrm>
          <a:prstGeom prst="rect">
            <a:avLst/>
          </a:prstGeom>
          <a:solidFill>
            <a:srgbClr val="F8FAFC"/>
          </a:solidFill>
          <a:ln w="6350">
            <a:solidFill>
              <a:srgbClr val="D9E0E8"/>
            </a:solidFill>
            <a:prstDash val="solid"/>
          </a:ln>
        </p:spPr>
        <p:txBody>
          <a:bodyPr/>
          <a:lstStyle/>
          <a:p>
            <a:endParaRPr lang="en-US" sz="4000"/>
          </a:p>
        </p:txBody>
      </p:sp>
      <p:sp>
        <p:nvSpPr>
          <p:cNvPr id="12" name="Text 10"/>
          <p:cNvSpPr/>
          <p:nvPr/>
        </p:nvSpPr>
        <p:spPr>
          <a:xfrm>
            <a:off x="685800" y="1673352"/>
            <a:ext cx="2240280" cy="438912"/>
          </a:xfrm>
          <a:prstGeom prst="rect">
            <a:avLst/>
          </a:prstGeom>
          <a:noFill/>
          <a:ln/>
        </p:spPr>
        <p:txBody>
          <a:bodyPr wrap="square" lIns="0" tIns="0" rIns="0" bIns="0" rtlCol="0" anchor="ctr">
            <a:normAutofit/>
          </a:bodyPr>
          <a:lstStyle/>
          <a:p>
            <a:pPr marL="0" indent="0">
              <a:buNone/>
            </a:pPr>
            <a:r>
              <a:rPr lang="en-US" sz="1200" b="1" dirty="0">
                <a:solidFill>
                  <a:srgbClr val="06244A"/>
                </a:solidFill>
                <a:latin typeface="Segoe UI"/>
              </a:rPr>
              <a:t>Reactive posture</a:t>
            </a:r>
            <a:endParaRPr lang="en-US" sz="1200" dirty="0"/>
          </a:p>
        </p:txBody>
      </p:sp>
      <p:sp>
        <p:nvSpPr>
          <p:cNvPr id="13" name="Shape 11"/>
          <p:cNvSpPr/>
          <p:nvPr/>
        </p:nvSpPr>
        <p:spPr>
          <a:xfrm>
            <a:off x="3017520" y="1563624"/>
            <a:ext cx="4160520" cy="566928"/>
          </a:xfrm>
          <a:prstGeom prst="rect">
            <a:avLst/>
          </a:prstGeom>
          <a:solidFill>
            <a:srgbClr val="F8FAFC"/>
          </a:solidFill>
          <a:ln w="6350">
            <a:solidFill>
              <a:srgbClr val="D9E0E8"/>
            </a:solidFill>
            <a:prstDash val="solid"/>
          </a:ln>
        </p:spPr>
        <p:txBody>
          <a:bodyPr/>
          <a:lstStyle/>
          <a:p>
            <a:endParaRPr lang="en-US" sz="4000"/>
          </a:p>
        </p:txBody>
      </p:sp>
      <p:sp>
        <p:nvSpPr>
          <p:cNvPr id="14" name="Text 12"/>
          <p:cNvSpPr/>
          <p:nvPr/>
        </p:nvSpPr>
        <p:spPr>
          <a:xfrm>
            <a:off x="3108960" y="1673352"/>
            <a:ext cx="3977640" cy="438912"/>
          </a:xfrm>
          <a:prstGeom prst="rect">
            <a:avLst/>
          </a:prstGeom>
          <a:noFill/>
          <a:ln/>
        </p:spPr>
        <p:txBody>
          <a:bodyPr wrap="square" lIns="0" tIns="0" rIns="0" bIns="0" rtlCol="0" anchor="ctr">
            <a:normAutofit/>
          </a:bodyPr>
          <a:lstStyle/>
          <a:p>
            <a:pPr marL="0" indent="0">
              <a:buNone/>
            </a:pPr>
            <a:r>
              <a:rPr lang="en-US" sz="1200" dirty="0">
                <a:solidFill>
                  <a:srgbClr val="5E6A75"/>
                </a:solidFill>
                <a:latin typeface="Segoe UI"/>
              </a:rPr>
              <a:t>Earlier warning through entity behavior, drift, and probabilistic risk outputs</a:t>
            </a:r>
            <a:endParaRPr lang="en-US" sz="1200" dirty="0"/>
          </a:p>
        </p:txBody>
      </p:sp>
      <p:sp>
        <p:nvSpPr>
          <p:cNvPr id="15" name="Shape 13"/>
          <p:cNvSpPr/>
          <p:nvPr/>
        </p:nvSpPr>
        <p:spPr>
          <a:xfrm>
            <a:off x="7178040" y="1563624"/>
            <a:ext cx="4160520" cy="566928"/>
          </a:xfrm>
          <a:prstGeom prst="rect">
            <a:avLst/>
          </a:prstGeom>
          <a:solidFill>
            <a:srgbClr val="F8FAFC"/>
          </a:solidFill>
          <a:ln w="6350">
            <a:solidFill>
              <a:srgbClr val="D9E0E8"/>
            </a:solidFill>
            <a:prstDash val="solid"/>
          </a:ln>
        </p:spPr>
        <p:txBody>
          <a:bodyPr/>
          <a:lstStyle/>
          <a:p>
            <a:endParaRPr lang="en-US" sz="4000"/>
          </a:p>
        </p:txBody>
      </p:sp>
      <p:sp>
        <p:nvSpPr>
          <p:cNvPr id="16" name="Text 14"/>
          <p:cNvSpPr/>
          <p:nvPr/>
        </p:nvSpPr>
        <p:spPr>
          <a:xfrm>
            <a:off x="7269480" y="1673352"/>
            <a:ext cx="3977640" cy="438912"/>
          </a:xfrm>
          <a:prstGeom prst="rect">
            <a:avLst/>
          </a:prstGeom>
          <a:noFill/>
          <a:ln/>
        </p:spPr>
        <p:txBody>
          <a:bodyPr wrap="square" lIns="0" tIns="0" rIns="0" bIns="0" rtlCol="0" anchor="ctr">
            <a:normAutofit/>
          </a:bodyPr>
          <a:lstStyle/>
          <a:p>
            <a:pPr marL="0" indent="0">
              <a:buNone/>
            </a:pPr>
            <a:r>
              <a:rPr lang="en-US" sz="1200" dirty="0">
                <a:solidFill>
                  <a:srgbClr val="5E6A75"/>
                </a:solidFill>
                <a:latin typeface="Segoe UI"/>
              </a:rPr>
              <a:t>Define baseline and compare against current decision process</a:t>
            </a:r>
            <a:endParaRPr lang="en-US" sz="1200" dirty="0"/>
          </a:p>
        </p:txBody>
      </p:sp>
      <p:sp>
        <p:nvSpPr>
          <p:cNvPr id="17" name="Shape 15"/>
          <p:cNvSpPr/>
          <p:nvPr/>
        </p:nvSpPr>
        <p:spPr>
          <a:xfrm>
            <a:off x="594360" y="2130552"/>
            <a:ext cx="2423160" cy="566928"/>
          </a:xfrm>
          <a:prstGeom prst="rect">
            <a:avLst/>
          </a:prstGeom>
          <a:solidFill>
            <a:srgbClr val="FFFFFF"/>
          </a:solidFill>
          <a:ln w="6350">
            <a:solidFill>
              <a:srgbClr val="D9E0E8"/>
            </a:solidFill>
            <a:prstDash val="solid"/>
          </a:ln>
        </p:spPr>
        <p:txBody>
          <a:bodyPr/>
          <a:lstStyle/>
          <a:p>
            <a:endParaRPr lang="en-US" sz="4000"/>
          </a:p>
        </p:txBody>
      </p:sp>
      <p:sp>
        <p:nvSpPr>
          <p:cNvPr id="18" name="Text 16"/>
          <p:cNvSpPr/>
          <p:nvPr/>
        </p:nvSpPr>
        <p:spPr>
          <a:xfrm>
            <a:off x="685800" y="2240280"/>
            <a:ext cx="2240280" cy="438912"/>
          </a:xfrm>
          <a:prstGeom prst="rect">
            <a:avLst/>
          </a:prstGeom>
          <a:noFill/>
          <a:ln/>
        </p:spPr>
        <p:txBody>
          <a:bodyPr wrap="square" lIns="0" tIns="0" rIns="0" bIns="0" rtlCol="0" anchor="ctr">
            <a:normAutofit/>
          </a:bodyPr>
          <a:lstStyle/>
          <a:p>
            <a:pPr marL="0" indent="0">
              <a:buNone/>
            </a:pPr>
            <a:r>
              <a:rPr lang="en-US" sz="1200" b="1" dirty="0">
                <a:solidFill>
                  <a:srgbClr val="06244A"/>
                </a:solidFill>
                <a:latin typeface="Segoe UI"/>
              </a:rPr>
              <a:t>No predictive models</a:t>
            </a:r>
            <a:endParaRPr lang="en-US" sz="1200" dirty="0"/>
          </a:p>
        </p:txBody>
      </p:sp>
      <p:sp>
        <p:nvSpPr>
          <p:cNvPr id="19" name="Shape 17"/>
          <p:cNvSpPr/>
          <p:nvPr/>
        </p:nvSpPr>
        <p:spPr>
          <a:xfrm>
            <a:off x="3017520" y="2130552"/>
            <a:ext cx="4160520" cy="566928"/>
          </a:xfrm>
          <a:prstGeom prst="rect">
            <a:avLst/>
          </a:prstGeom>
          <a:solidFill>
            <a:srgbClr val="FFFFFF"/>
          </a:solidFill>
          <a:ln w="6350">
            <a:solidFill>
              <a:srgbClr val="D9E0E8"/>
            </a:solidFill>
            <a:prstDash val="solid"/>
          </a:ln>
        </p:spPr>
        <p:txBody>
          <a:bodyPr/>
          <a:lstStyle/>
          <a:p>
            <a:endParaRPr lang="en-US" sz="4000"/>
          </a:p>
        </p:txBody>
      </p:sp>
      <p:sp>
        <p:nvSpPr>
          <p:cNvPr id="20" name="Text 18"/>
          <p:cNvSpPr/>
          <p:nvPr/>
        </p:nvSpPr>
        <p:spPr>
          <a:xfrm>
            <a:off x="3108960" y="2240280"/>
            <a:ext cx="3977640" cy="438912"/>
          </a:xfrm>
          <a:prstGeom prst="rect">
            <a:avLst/>
          </a:prstGeom>
          <a:noFill/>
          <a:ln/>
        </p:spPr>
        <p:txBody>
          <a:bodyPr wrap="square" lIns="0" tIns="0" rIns="0" bIns="0" rtlCol="0" anchor="ctr">
            <a:normAutofit/>
          </a:bodyPr>
          <a:lstStyle/>
          <a:p>
            <a:pPr marL="0" indent="0">
              <a:buNone/>
            </a:pPr>
            <a:r>
              <a:rPr lang="en-US" sz="1200" dirty="0">
                <a:solidFill>
                  <a:srgbClr val="5E6A75"/>
                </a:solidFill>
                <a:latin typeface="Segoe UI"/>
              </a:rPr>
              <a:t>Demand, lead-time, stockout, and supplier-risk outputs</a:t>
            </a:r>
            <a:endParaRPr lang="en-US" sz="1200" dirty="0"/>
          </a:p>
        </p:txBody>
      </p:sp>
      <p:sp>
        <p:nvSpPr>
          <p:cNvPr id="21" name="Shape 19"/>
          <p:cNvSpPr/>
          <p:nvPr/>
        </p:nvSpPr>
        <p:spPr>
          <a:xfrm>
            <a:off x="7178040" y="2130552"/>
            <a:ext cx="4160520" cy="566928"/>
          </a:xfrm>
          <a:prstGeom prst="rect">
            <a:avLst/>
          </a:prstGeom>
          <a:solidFill>
            <a:srgbClr val="FFFFFF"/>
          </a:solidFill>
          <a:ln w="6350">
            <a:solidFill>
              <a:srgbClr val="D9E0E8"/>
            </a:solidFill>
            <a:prstDash val="solid"/>
          </a:ln>
        </p:spPr>
        <p:txBody>
          <a:bodyPr/>
          <a:lstStyle/>
          <a:p>
            <a:endParaRPr lang="en-US" sz="4000"/>
          </a:p>
        </p:txBody>
      </p:sp>
      <p:sp>
        <p:nvSpPr>
          <p:cNvPr id="22" name="Text 20"/>
          <p:cNvSpPr/>
          <p:nvPr/>
        </p:nvSpPr>
        <p:spPr>
          <a:xfrm>
            <a:off x="7269480" y="2240280"/>
            <a:ext cx="3977640" cy="438912"/>
          </a:xfrm>
          <a:prstGeom prst="rect">
            <a:avLst/>
          </a:prstGeom>
          <a:noFill/>
          <a:ln/>
        </p:spPr>
        <p:txBody>
          <a:bodyPr wrap="square" lIns="0" tIns="0" rIns="0" bIns="0" rtlCol="0" anchor="ctr">
            <a:normAutofit/>
          </a:bodyPr>
          <a:lstStyle/>
          <a:p>
            <a:pPr marL="0" indent="0">
              <a:buNone/>
            </a:pPr>
            <a:r>
              <a:rPr lang="en-US" sz="1200" dirty="0">
                <a:solidFill>
                  <a:srgbClr val="5E6A75"/>
                </a:solidFill>
                <a:latin typeface="Segoe UI"/>
              </a:rPr>
              <a:t>Validate model performance on representative DLA data</a:t>
            </a:r>
            <a:endParaRPr lang="en-US" sz="1200" dirty="0"/>
          </a:p>
        </p:txBody>
      </p:sp>
      <p:sp>
        <p:nvSpPr>
          <p:cNvPr id="23" name="Shape 21"/>
          <p:cNvSpPr/>
          <p:nvPr/>
        </p:nvSpPr>
        <p:spPr>
          <a:xfrm>
            <a:off x="594360" y="2697480"/>
            <a:ext cx="2423160" cy="566928"/>
          </a:xfrm>
          <a:prstGeom prst="rect">
            <a:avLst/>
          </a:prstGeom>
          <a:solidFill>
            <a:srgbClr val="F8FAFC"/>
          </a:solidFill>
          <a:ln w="6350">
            <a:solidFill>
              <a:srgbClr val="D9E0E8"/>
            </a:solidFill>
            <a:prstDash val="solid"/>
          </a:ln>
        </p:spPr>
        <p:txBody>
          <a:bodyPr/>
          <a:lstStyle/>
          <a:p>
            <a:endParaRPr lang="en-US" sz="4000"/>
          </a:p>
        </p:txBody>
      </p:sp>
      <p:sp>
        <p:nvSpPr>
          <p:cNvPr id="24" name="Text 22"/>
          <p:cNvSpPr/>
          <p:nvPr/>
        </p:nvSpPr>
        <p:spPr>
          <a:xfrm>
            <a:off x="685800" y="2807208"/>
            <a:ext cx="2240280" cy="438912"/>
          </a:xfrm>
          <a:prstGeom prst="rect">
            <a:avLst/>
          </a:prstGeom>
          <a:noFill/>
          <a:ln/>
        </p:spPr>
        <p:txBody>
          <a:bodyPr wrap="square" lIns="0" tIns="0" rIns="0" bIns="0" rtlCol="0" anchor="ctr">
            <a:normAutofit/>
          </a:bodyPr>
          <a:lstStyle/>
          <a:p>
            <a:pPr marL="0" indent="0">
              <a:buNone/>
            </a:pPr>
            <a:r>
              <a:rPr lang="en-US" sz="1200" b="1" dirty="0">
                <a:solidFill>
                  <a:srgbClr val="06244A"/>
                </a:solidFill>
                <a:latin typeface="Segoe UI"/>
              </a:rPr>
              <a:t>Delayed ERP access</a:t>
            </a:r>
            <a:endParaRPr lang="en-US" sz="1200" dirty="0"/>
          </a:p>
        </p:txBody>
      </p:sp>
      <p:sp>
        <p:nvSpPr>
          <p:cNvPr id="25" name="Shape 23"/>
          <p:cNvSpPr/>
          <p:nvPr/>
        </p:nvSpPr>
        <p:spPr>
          <a:xfrm>
            <a:off x="3017520" y="2697480"/>
            <a:ext cx="4160520" cy="566928"/>
          </a:xfrm>
          <a:prstGeom prst="rect">
            <a:avLst/>
          </a:prstGeom>
          <a:solidFill>
            <a:srgbClr val="F8FAFC"/>
          </a:solidFill>
          <a:ln w="6350">
            <a:solidFill>
              <a:srgbClr val="D9E0E8"/>
            </a:solidFill>
            <a:prstDash val="solid"/>
          </a:ln>
        </p:spPr>
        <p:txBody>
          <a:bodyPr/>
          <a:lstStyle/>
          <a:p>
            <a:endParaRPr lang="en-US" sz="4000"/>
          </a:p>
        </p:txBody>
      </p:sp>
      <p:sp>
        <p:nvSpPr>
          <p:cNvPr id="26" name="Text 24"/>
          <p:cNvSpPr/>
          <p:nvPr/>
        </p:nvSpPr>
        <p:spPr>
          <a:xfrm>
            <a:off x="3108960" y="2807208"/>
            <a:ext cx="3977640" cy="438912"/>
          </a:xfrm>
          <a:prstGeom prst="rect">
            <a:avLst/>
          </a:prstGeom>
          <a:noFill/>
          <a:ln/>
        </p:spPr>
        <p:txBody>
          <a:bodyPr wrap="square" lIns="0" tIns="0" rIns="0" bIns="0" rtlCol="0" anchor="ctr">
            <a:normAutofit/>
          </a:bodyPr>
          <a:lstStyle/>
          <a:p>
            <a:pPr marL="0" indent="0">
              <a:buNone/>
            </a:pPr>
            <a:r>
              <a:rPr lang="en-US" sz="1200" dirty="0">
                <a:solidFill>
                  <a:srgbClr val="5E6A75"/>
                </a:solidFill>
                <a:latin typeface="Segoe UI"/>
              </a:rPr>
              <a:t>Bronze → Silver → Gold data pipeline and selected source exports</a:t>
            </a:r>
            <a:endParaRPr lang="en-US" sz="1200" dirty="0"/>
          </a:p>
        </p:txBody>
      </p:sp>
      <p:sp>
        <p:nvSpPr>
          <p:cNvPr id="27" name="Shape 25"/>
          <p:cNvSpPr/>
          <p:nvPr/>
        </p:nvSpPr>
        <p:spPr>
          <a:xfrm>
            <a:off x="7178040" y="2697480"/>
            <a:ext cx="4160520" cy="566928"/>
          </a:xfrm>
          <a:prstGeom prst="rect">
            <a:avLst/>
          </a:prstGeom>
          <a:solidFill>
            <a:srgbClr val="F8FAFC"/>
          </a:solidFill>
          <a:ln w="6350">
            <a:solidFill>
              <a:srgbClr val="D9E0E8"/>
            </a:solidFill>
            <a:prstDash val="solid"/>
          </a:ln>
        </p:spPr>
        <p:txBody>
          <a:bodyPr/>
          <a:lstStyle/>
          <a:p>
            <a:endParaRPr lang="en-US" sz="4000"/>
          </a:p>
        </p:txBody>
      </p:sp>
      <p:sp>
        <p:nvSpPr>
          <p:cNvPr id="28" name="Text 26"/>
          <p:cNvSpPr/>
          <p:nvPr/>
        </p:nvSpPr>
        <p:spPr>
          <a:xfrm>
            <a:off x="7269480" y="2807208"/>
            <a:ext cx="3977640" cy="438912"/>
          </a:xfrm>
          <a:prstGeom prst="rect">
            <a:avLst/>
          </a:prstGeom>
          <a:noFill/>
          <a:ln/>
        </p:spPr>
        <p:txBody>
          <a:bodyPr wrap="square" lIns="0" tIns="0" rIns="0" bIns="0" rtlCol="0" anchor="ctr">
            <a:normAutofit/>
          </a:bodyPr>
          <a:lstStyle/>
          <a:p>
            <a:pPr marL="0" indent="0">
              <a:buNone/>
            </a:pPr>
            <a:r>
              <a:rPr lang="en-US" sz="1200" dirty="0">
                <a:solidFill>
                  <a:srgbClr val="5E6A75"/>
                </a:solidFill>
                <a:latin typeface="Segoe UI"/>
              </a:rPr>
              <a:t>Confirm minimum viable data set and security assumptions</a:t>
            </a:r>
            <a:endParaRPr lang="en-US" sz="1200" dirty="0"/>
          </a:p>
        </p:txBody>
      </p:sp>
      <p:sp>
        <p:nvSpPr>
          <p:cNvPr id="29" name="Shape 27"/>
          <p:cNvSpPr/>
          <p:nvPr/>
        </p:nvSpPr>
        <p:spPr>
          <a:xfrm>
            <a:off x="594360" y="3264408"/>
            <a:ext cx="2423160" cy="566928"/>
          </a:xfrm>
          <a:prstGeom prst="rect">
            <a:avLst/>
          </a:prstGeom>
          <a:solidFill>
            <a:srgbClr val="FFFFFF"/>
          </a:solidFill>
          <a:ln w="6350">
            <a:solidFill>
              <a:srgbClr val="D9E0E8"/>
            </a:solidFill>
            <a:prstDash val="solid"/>
          </a:ln>
        </p:spPr>
        <p:txBody>
          <a:bodyPr/>
          <a:lstStyle/>
          <a:p>
            <a:endParaRPr lang="en-US" sz="4000"/>
          </a:p>
        </p:txBody>
      </p:sp>
      <p:sp>
        <p:nvSpPr>
          <p:cNvPr id="30" name="Text 28"/>
          <p:cNvSpPr/>
          <p:nvPr/>
        </p:nvSpPr>
        <p:spPr>
          <a:xfrm>
            <a:off x="685800" y="3374136"/>
            <a:ext cx="2240280" cy="438912"/>
          </a:xfrm>
          <a:prstGeom prst="rect">
            <a:avLst/>
          </a:prstGeom>
          <a:noFill/>
          <a:ln/>
        </p:spPr>
        <p:txBody>
          <a:bodyPr wrap="square" lIns="0" tIns="0" rIns="0" bIns="0" rtlCol="0" anchor="ctr">
            <a:normAutofit/>
          </a:bodyPr>
          <a:lstStyle/>
          <a:p>
            <a:pPr marL="0" indent="0">
              <a:buNone/>
            </a:pPr>
            <a:r>
              <a:rPr lang="en-US" sz="1200" b="1" dirty="0">
                <a:solidFill>
                  <a:srgbClr val="06244A"/>
                </a:solidFill>
                <a:latin typeface="Segoe UI"/>
              </a:rPr>
              <a:t>Data silos</a:t>
            </a:r>
            <a:endParaRPr lang="en-US" sz="1200" dirty="0"/>
          </a:p>
        </p:txBody>
      </p:sp>
      <p:sp>
        <p:nvSpPr>
          <p:cNvPr id="31" name="Shape 29"/>
          <p:cNvSpPr/>
          <p:nvPr/>
        </p:nvSpPr>
        <p:spPr>
          <a:xfrm>
            <a:off x="3017520" y="3264408"/>
            <a:ext cx="4160520" cy="566928"/>
          </a:xfrm>
          <a:prstGeom prst="rect">
            <a:avLst/>
          </a:prstGeom>
          <a:solidFill>
            <a:srgbClr val="FFFFFF"/>
          </a:solidFill>
          <a:ln w="6350">
            <a:solidFill>
              <a:srgbClr val="D9E0E8"/>
            </a:solidFill>
            <a:prstDash val="solid"/>
          </a:ln>
        </p:spPr>
        <p:txBody>
          <a:bodyPr/>
          <a:lstStyle/>
          <a:p>
            <a:endParaRPr lang="en-US" sz="4000"/>
          </a:p>
        </p:txBody>
      </p:sp>
      <p:sp>
        <p:nvSpPr>
          <p:cNvPr id="32" name="Text 30"/>
          <p:cNvSpPr/>
          <p:nvPr/>
        </p:nvSpPr>
        <p:spPr>
          <a:xfrm>
            <a:off x="3108960" y="3374136"/>
            <a:ext cx="3977640" cy="438912"/>
          </a:xfrm>
          <a:prstGeom prst="rect">
            <a:avLst/>
          </a:prstGeom>
          <a:noFill/>
          <a:ln/>
        </p:spPr>
        <p:txBody>
          <a:bodyPr wrap="square" lIns="0" tIns="0" rIns="0" bIns="0" rtlCol="0" anchor="ctr">
            <a:normAutofit/>
          </a:bodyPr>
          <a:lstStyle/>
          <a:p>
            <a:pPr marL="0" indent="0">
              <a:buNone/>
            </a:pPr>
            <a:r>
              <a:rPr lang="en-US" sz="1200" dirty="0">
                <a:solidFill>
                  <a:srgbClr val="5E6A75"/>
                </a:solidFill>
                <a:latin typeface="Segoe UI"/>
              </a:rPr>
              <a:t>NSN, supplier, depot, route, demand, and fulfillment connected as entities</a:t>
            </a:r>
            <a:endParaRPr lang="en-US" sz="1200" dirty="0"/>
          </a:p>
        </p:txBody>
      </p:sp>
      <p:sp>
        <p:nvSpPr>
          <p:cNvPr id="33" name="Shape 31"/>
          <p:cNvSpPr/>
          <p:nvPr/>
        </p:nvSpPr>
        <p:spPr>
          <a:xfrm>
            <a:off x="7178040" y="3264408"/>
            <a:ext cx="4160520" cy="566928"/>
          </a:xfrm>
          <a:prstGeom prst="rect">
            <a:avLst/>
          </a:prstGeom>
          <a:solidFill>
            <a:srgbClr val="FFFFFF"/>
          </a:solidFill>
          <a:ln w="6350">
            <a:solidFill>
              <a:srgbClr val="D9E0E8"/>
            </a:solidFill>
            <a:prstDash val="solid"/>
          </a:ln>
        </p:spPr>
        <p:txBody>
          <a:bodyPr/>
          <a:lstStyle/>
          <a:p>
            <a:endParaRPr lang="en-US" sz="4000"/>
          </a:p>
        </p:txBody>
      </p:sp>
      <p:sp>
        <p:nvSpPr>
          <p:cNvPr id="34" name="Text 32"/>
          <p:cNvSpPr/>
          <p:nvPr/>
        </p:nvSpPr>
        <p:spPr>
          <a:xfrm>
            <a:off x="7269480" y="3374136"/>
            <a:ext cx="3977640" cy="438912"/>
          </a:xfrm>
          <a:prstGeom prst="rect">
            <a:avLst/>
          </a:prstGeom>
          <a:noFill/>
          <a:ln/>
        </p:spPr>
        <p:txBody>
          <a:bodyPr wrap="square" lIns="0" tIns="0" rIns="0" bIns="0" rtlCol="0" anchor="ctr">
            <a:normAutofit/>
          </a:bodyPr>
          <a:lstStyle/>
          <a:p>
            <a:pPr marL="0" indent="0">
              <a:buNone/>
            </a:pPr>
            <a:r>
              <a:rPr lang="en-US" sz="1200" dirty="0">
                <a:solidFill>
                  <a:srgbClr val="5E6A75"/>
                </a:solidFill>
                <a:latin typeface="Segoe UI"/>
              </a:rPr>
              <a:t>Map available feeds and entity resolution requirements</a:t>
            </a:r>
            <a:endParaRPr lang="en-US" sz="1200" dirty="0"/>
          </a:p>
        </p:txBody>
      </p:sp>
      <p:sp>
        <p:nvSpPr>
          <p:cNvPr id="35" name="Shape 33"/>
          <p:cNvSpPr/>
          <p:nvPr/>
        </p:nvSpPr>
        <p:spPr>
          <a:xfrm>
            <a:off x="594360" y="3831336"/>
            <a:ext cx="2423160" cy="566928"/>
          </a:xfrm>
          <a:prstGeom prst="rect">
            <a:avLst/>
          </a:prstGeom>
          <a:solidFill>
            <a:srgbClr val="F8FAFC"/>
          </a:solidFill>
          <a:ln w="6350">
            <a:solidFill>
              <a:srgbClr val="D9E0E8"/>
            </a:solidFill>
            <a:prstDash val="solid"/>
          </a:ln>
        </p:spPr>
        <p:txBody>
          <a:bodyPr/>
          <a:lstStyle/>
          <a:p>
            <a:endParaRPr lang="en-US" sz="4000"/>
          </a:p>
        </p:txBody>
      </p:sp>
      <p:sp>
        <p:nvSpPr>
          <p:cNvPr id="36" name="Text 34"/>
          <p:cNvSpPr/>
          <p:nvPr/>
        </p:nvSpPr>
        <p:spPr>
          <a:xfrm>
            <a:off x="685800" y="3941064"/>
            <a:ext cx="2240280" cy="438912"/>
          </a:xfrm>
          <a:prstGeom prst="rect">
            <a:avLst/>
          </a:prstGeom>
          <a:noFill/>
          <a:ln/>
        </p:spPr>
        <p:txBody>
          <a:bodyPr wrap="square" lIns="0" tIns="0" rIns="0" bIns="0" rtlCol="0" anchor="ctr">
            <a:normAutofit/>
          </a:bodyPr>
          <a:lstStyle/>
          <a:p>
            <a:pPr marL="0" indent="0">
              <a:buNone/>
            </a:pPr>
            <a:r>
              <a:rPr lang="en-US" sz="1200" b="1" dirty="0">
                <a:solidFill>
                  <a:srgbClr val="06244A"/>
                </a:solidFill>
                <a:latin typeface="Segoe UI"/>
              </a:rPr>
              <a:t>Explainability need</a:t>
            </a:r>
            <a:endParaRPr lang="en-US" sz="1200" dirty="0"/>
          </a:p>
        </p:txBody>
      </p:sp>
      <p:sp>
        <p:nvSpPr>
          <p:cNvPr id="37" name="Shape 35"/>
          <p:cNvSpPr/>
          <p:nvPr/>
        </p:nvSpPr>
        <p:spPr>
          <a:xfrm>
            <a:off x="3017520" y="3831336"/>
            <a:ext cx="4160520" cy="566928"/>
          </a:xfrm>
          <a:prstGeom prst="rect">
            <a:avLst/>
          </a:prstGeom>
          <a:solidFill>
            <a:srgbClr val="F8FAFC"/>
          </a:solidFill>
          <a:ln w="6350">
            <a:solidFill>
              <a:srgbClr val="D9E0E8"/>
            </a:solidFill>
            <a:prstDash val="solid"/>
          </a:ln>
        </p:spPr>
        <p:txBody>
          <a:bodyPr/>
          <a:lstStyle/>
          <a:p>
            <a:endParaRPr lang="en-US" sz="4000"/>
          </a:p>
        </p:txBody>
      </p:sp>
      <p:sp>
        <p:nvSpPr>
          <p:cNvPr id="38" name="Text 36"/>
          <p:cNvSpPr/>
          <p:nvPr/>
        </p:nvSpPr>
        <p:spPr>
          <a:xfrm>
            <a:off x="3108960" y="3941064"/>
            <a:ext cx="3977640" cy="438912"/>
          </a:xfrm>
          <a:prstGeom prst="rect">
            <a:avLst/>
          </a:prstGeom>
          <a:noFill/>
          <a:ln/>
        </p:spPr>
        <p:txBody>
          <a:bodyPr wrap="square" lIns="0" tIns="0" rIns="0" bIns="0" rtlCol="0" anchor="ctr">
            <a:normAutofit/>
          </a:bodyPr>
          <a:lstStyle/>
          <a:p>
            <a:pPr marL="0" indent="0">
              <a:buNone/>
            </a:pPr>
            <a:r>
              <a:rPr lang="en-US" sz="1200" dirty="0">
                <a:solidFill>
                  <a:srgbClr val="5E6A75"/>
                </a:solidFill>
                <a:latin typeface="Segoe UI"/>
              </a:rPr>
              <a:t>Drivers, confidence, and related exposure surfaced for user review</a:t>
            </a:r>
            <a:endParaRPr lang="en-US" sz="1200" dirty="0"/>
          </a:p>
        </p:txBody>
      </p:sp>
      <p:sp>
        <p:nvSpPr>
          <p:cNvPr id="39" name="Shape 37"/>
          <p:cNvSpPr/>
          <p:nvPr/>
        </p:nvSpPr>
        <p:spPr>
          <a:xfrm>
            <a:off x="7178040" y="3831336"/>
            <a:ext cx="4160520" cy="566928"/>
          </a:xfrm>
          <a:prstGeom prst="rect">
            <a:avLst/>
          </a:prstGeom>
          <a:solidFill>
            <a:srgbClr val="F8FAFC"/>
          </a:solidFill>
          <a:ln w="6350">
            <a:solidFill>
              <a:srgbClr val="D9E0E8"/>
            </a:solidFill>
            <a:prstDash val="solid"/>
          </a:ln>
        </p:spPr>
        <p:txBody>
          <a:bodyPr/>
          <a:lstStyle/>
          <a:p>
            <a:endParaRPr lang="en-US" sz="4000"/>
          </a:p>
        </p:txBody>
      </p:sp>
      <p:sp>
        <p:nvSpPr>
          <p:cNvPr id="40" name="Text 38"/>
          <p:cNvSpPr/>
          <p:nvPr/>
        </p:nvSpPr>
        <p:spPr>
          <a:xfrm>
            <a:off x="7269480" y="3941064"/>
            <a:ext cx="3977640" cy="438912"/>
          </a:xfrm>
          <a:prstGeom prst="rect">
            <a:avLst/>
          </a:prstGeom>
          <a:noFill/>
          <a:ln/>
        </p:spPr>
        <p:txBody>
          <a:bodyPr wrap="square" lIns="0" tIns="0" rIns="0" bIns="0" rtlCol="0" anchor="ctr">
            <a:normAutofit/>
          </a:bodyPr>
          <a:lstStyle/>
          <a:p>
            <a:pPr marL="0" indent="0">
              <a:buNone/>
            </a:pPr>
            <a:r>
              <a:rPr lang="en-US" sz="1200" dirty="0">
                <a:solidFill>
                  <a:srgbClr val="5E6A75"/>
                </a:solidFill>
                <a:latin typeface="Segoe UI"/>
              </a:rPr>
              <a:t>Use SME review to validate trust and actionability</a:t>
            </a:r>
            <a:endParaRPr lang="en-US" sz="1200" dirty="0"/>
          </a:p>
        </p:txBody>
      </p:sp>
      <p:sp>
        <p:nvSpPr>
          <p:cNvPr id="41" name="Shape 39"/>
          <p:cNvSpPr/>
          <p:nvPr/>
        </p:nvSpPr>
        <p:spPr>
          <a:xfrm>
            <a:off x="594360" y="4398264"/>
            <a:ext cx="2423160" cy="566928"/>
          </a:xfrm>
          <a:prstGeom prst="rect">
            <a:avLst/>
          </a:prstGeom>
          <a:solidFill>
            <a:srgbClr val="FFFFFF"/>
          </a:solidFill>
          <a:ln w="6350">
            <a:solidFill>
              <a:srgbClr val="D9E0E8"/>
            </a:solidFill>
            <a:prstDash val="solid"/>
          </a:ln>
        </p:spPr>
        <p:txBody>
          <a:bodyPr/>
          <a:lstStyle/>
          <a:p>
            <a:endParaRPr lang="en-US" sz="4000"/>
          </a:p>
        </p:txBody>
      </p:sp>
      <p:sp>
        <p:nvSpPr>
          <p:cNvPr id="42" name="Text 40"/>
          <p:cNvSpPr/>
          <p:nvPr/>
        </p:nvSpPr>
        <p:spPr>
          <a:xfrm>
            <a:off x="685800" y="4507992"/>
            <a:ext cx="2240280" cy="438912"/>
          </a:xfrm>
          <a:prstGeom prst="rect">
            <a:avLst/>
          </a:prstGeom>
          <a:noFill/>
          <a:ln/>
        </p:spPr>
        <p:txBody>
          <a:bodyPr wrap="square" lIns="0" tIns="0" rIns="0" bIns="0" rtlCol="0" anchor="ctr">
            <a:normAutofit/>
          </a:bodyPr>
          <a:lstStyle/>
          <a:p>
            <a:pPr marL="0" indent="0">
              <a:buNone/>
            </a:pPr>
            <a:r>
              <a:rPr lang="en-US" sz="1200" b="1" dirty="0">
                <a:solidFill>
                  <a:srgbClr val="06244A"/>
                </a:solidFill>
                <a:latin typeface="Segoe UI"/>
              </a:rPr>
              <a:t>Classified / controlled environment</a:t>
            </a:r>
            <a:endParaRPr lang="en-US" sz="1200" dirty="0"/>
          </a:p>
        </p:txBody>
      </p:sp>
      <p:sp>
        <p:nvSpPr>
          <p:cNvPr id="43" name="Shape 41"/>
          <p:cNvSpPr/>
          <p:nvPr/>
        </p:nvSpPr>
        <p:spPr>
          <a:xfrm>
            <a:off x="3017520" y="4398264"/>
            <a:ext cx="4160520" cy="566928"/>
          </a:xfrm>
          <a:prstGeom prst="rect">
            <a:avLst/>
          </a:prstGeom>
          <a:solidFill>
            <a:srgbClr val="FFFFFF"/>
          </a:solidFill>
          <a:ln w="6350">
            <a:solidFill>
              <a:srgbClr val="D9E0E8"/>
            </a:solidFill>
            <a:prstDash val="solid"/>
          </a:ln>
        </p:spPr>
        <p:txBody>
          <a:bodyPr/>
          <a:lstStyle/>
          <a:p>
            <a:endParaRPr lang="en-US" sz="4000"/>
          </a:p>
        </p:txBody>
      </p:sp>
      <p:sp>
        <p:nvSpPr>
          <p:cNvPr id="44" name="Text 42"/>
          <p:cNvSpPr/>
          <p:nvPr/>
        </p:nvSpPr>
        <p:spPr>
          <a:xfrm>
            <a:off x="3108960" y="4507992"/>
            <a:ext cx="3977640" cy="438912"/>
          </a:xfrm>
          <a:prstGeom prst="rect">
            <a:avLst/>
          </a:prstGeom>
          <a:noFill/>
          <a:ln/>
        </p:spPr>
        <p:txBody>
          <a:bodyPr wrap="square" lIns="0" tIns="0" rIns="0" bIns="0" rtlCol="0" anchor="ctr">
            <a:normAutofit/>
          </a:bodyPr>
          <a:lstStyle/>
          <a:p>
            <a:pPr marL="0" indent="0">
              <a:buNone/>
            </a:pPr>
            <a:r>
              <a:rPr lang="en-US" sz="1200" dirty="0">
                <a:solidFill>
                  <a:srgbClr val="5E6A75"/>
                </a:solidFill>
                <a:latin typeface="Segoe UI"/>
              </a:rPr>
              <a:t>Responsible AI, human-in-the-loop, and deployment-path assumptions</a:t>
            </a:r>
            <a:endParaRPr lang="en-US" sz="1200" dirty="0"/>
          </a:p>
        </p:txBody>
      </p:sp>
      <p:sp>
        <p:nvSpPr>
          <p:cNvPr id="45" name="Shape 43"/>
          <p:cNvSpPr/>
          <p:nvPr/>
        </p:nvSpPr>
        <p:spPr>
          <a:xfrm>
            <a:off x="7178040" y="4398264"/>
            <a:ext cx="4160520" cy="566928"/>
          </a:xfrm>
          <a:prstGeom prst="rect">
            <a:avLst/>
          </a:prstGeom>
          <a:solidFill>
            <a:srgbClr val="FFFFFF"/>
          </a:solidFill>
          <a:ln w="6350">
            <a:solidFill>
              <a:srgbClr val="D9E0E8"/>
            </a:solidFill>
            <a:prstDash val="solid"/>
          </a:ln>
        </p:spPr>
        <p:txBody>
          <a:bodyPr/>
          <a:lstStyle/>
          <a:p>
            <a:endParaRPr lang="en-US" sz="4000"/>
          </a:p>
        </p:txBody>
      </p:sp>
      <p:sp>
        <p:nvSpPr>
          <p:cNvPr id="46" name="Text 44"/>
          <p:cNvSpPr/>
          <p:nvPr/>
        </p:nvSpPr>
        <p:spPr>
          <a:xfrm>
            <a:off x="7269480" y="4507992"/>
            <a:ext cx="3977640" cy="438912"/>
          </a:xfrm>
          <a:prstGeom prst="rect">
            <a:avLst/>
          </a:prstGeom>
          <a:noFill/>
          <a:ln/>
        </p:spPr>
        <p:txBody>
          <a:bodyPr wrap="square" lIns="0" tIns="0" rIns="0" bIns="0" rtlCol="0" anchor="ctr">
            <a:normAutofit/>
          </a:bodyPr>
          <a:lstStyle/>
          <a:p>
            <a:pPr marL="0" indent="0">
              <a:buNone/>
            </a:pPr>
            <a:r>
              <a:rPr lang="en-US" sz="1200" dirty="0">
                <a:solidFill>
                  <a:srgbClr val="5E6A75"/>
                </a:solidFill>
                <a:latin typeface="Segoe UI"/>
              </a:rPr>
              <a:t>Confirm environment, access, and governance constraints</a:t>
            </a:r>
            <a:endParaRPr lang="en-US" sz="1200" dirty="0"/>
          </a:p>
        </p:txBody>
      </p:sp>
      <p:sp>
        <p:nvSpPr>
          <p:cNvPr id="47" name="Shape 45"/>
          <p:cNvSpPr/>
          <p:nvPr/>
        </p:nvSpPr>
        <p:spPr>
          <a:xfrm>
            <a:off x="594360" y="5321807"/>
            <a:ext cx="10972800" cy="722377"/>
          </a:xfrm>
          <a:prstGeom prst="roundRect">
            <a:avLst>
              <a:gd name="adj" fmla="val 8333"/>
            </a:avLst>
          </a:prstGeom>
          <a:solidFill>
            <a:srgbClr val="F7FAFD"/>
          </a:solidFill>
          <a:ln w="12700">
            <a:solidFill>
              <a:srgbClr val="B7C8D9"/>
            </a:solidFill>
            <a:prstDash val="solid"/>
          </a:ln>
        </p:spPr>
        <p:txBody>
          <a:bodyPr/>
          <a:lstStyle/>
          <a:p>
            <a:endParaRPr lang="en-US"/>
          </a:p>
        </p:txBody>
      </p:sp>
      <p:sp>
        <p:nvSpPr>
          <p:cNvPr id="48" name="Shape 46"/>
          <p:cNvSpPr/>
          <p:nvPr/>
        </p:nvSpPr>
        <p:spPr>
          <a:xfrm>
            <a:off x="594360" y="5321807"/>
            <a:ext cx="54864" cy="722377"/>
          </a:xfrm>
          <a:prstGeom prst="rect">
            <a:avLst/>
          </a:prstGeom>
          <a:solidFill>
            <a:srgbClr val="0E4A7B"/>
          </a:solidFill>
          <a:ln w="12700">
            <a:solidFill>
              <a:srgbClr val="0E4A7B"/>
            </a:solidFill>
            <a:prstDash val="solid"/>
          </a:ln>
        </p:spPr>
        <p:txBody>
          <a:bodyPr/>
          <a:lstStyle/>
          <a:p>
            <a:endParaRPr lang="en-US"/>
          </a:p>
        </p:txBody>
      </p:sp>
      <p:sp>
        <p:nvSpPr>
          <p:cNvPr id="49" name="Text 47"/>
          <p:cNvSpPr/>
          <p:nvPr/>
        </p:nvSpPr>
        <p:spPr>
          <a:xfrm>
            <a:off x="758952" y="5361552"/>
            <a:ext cx="10652760" cy="192024"/>
          </a:xfrm>
          <a:prstGeom prst="rect">
            <a:avLst/>
          </a:prstGeom>
          <a:noFill/>
          <a:ln/>
        </p:spPr>
        <p:txBody>
          <a:bodyPr wrap="square" lIns="0" tIns="0" rIns="0" bIns="0" rtlCol="0" anchor="ctr"/>
          <a:lstStyle/>
          <a:p>
            <a:pPr marL="0" indent="0">
              <a:buNone/>
            </a:pPr>
            <a:r>
              <a:rPr lang="en-US" sz="1400" b="1" dirty="0">
                <a:solidFill>
                  <a:srgbClr val="06244A"/>
                </a:solidFill>
                <a:latin typeface="Segoe UI"/>
              </a:rPr>
              <a:t>Technical discussion context</a:t>
            </a:r>
            <a:endParaRPr lang="en-US" sz="1400" dirty="0"/>
          </a:p>
        </p:txBody>
      </p:sp>
      <p:sp>
        <p:nvSpPr>
          <p:cNvPr id="50" name="Text 48"/>
          <p:cNvSpPr/>
          <p:nvPr/>
        </p:nvSpPr>
        <p:spPr>
          <a:xfrm>
            <a:off x="758952" y="5652752"/>
            <a:ext cx="10652760" cy="283464"/>
          </a:xfrm>
          <a:prstGeom prst="rect">
            <a:avLst/>
          </a:prstGeom>
          <a:noFill/>
          <a:ln/>
        </p:spPr>
        <p:txBody>
          <a:bodyPr wrap="square" lIns="0" tIns="0" rIns="0" bIns="0" rtlCol="0" anchor="ctr">
            <a:noAutofit/>
          </a:bodyPr>
          <a:lstStyle/>
          <a:p>
            <a:pPr marL="0" indent="0">
              <a:buNone/>
            </a:pPr>
            <a:r>
              <a:rPr lang="en-US" sz="1200" dirty="0">
                <a:solidFill>
                  <a:srgbClr val="5E6A75"/>
                </a:solidFill>
                <a:latin typeface="Segoe UI"/>
              </a:rPr>
              <a:t>This appendix slide connects DLA / AOI-05 priorities to the proposed validation path and can support deeper discussion on data readiness, explainability, governance, and MVP scope.</a:t>
            </a:r>
            <a:endParaRPr lang="en-US" sz="1200" dirty="0"/>
          </a:p>
        </p:txBody>
      </p:sp>
      <p:sp>
        <p:nvSpPr>
          <p:cNvPr id="52" name="Text 50"/>
          <p:cNvSpPr/>
          <p:nvPr/>
        </p:nvSpPr>
        <p:spPr>
          <a:xfrm>
            <a:off x="11247120" y="6473952"/>
            <a:ext cx="502920" cy="182880"/>
          </a:xfrm>
          <a:prstGeom prst="rect">
            <a:avLst/>
          </a:prstGeom>
          <a:noFill/>
          <a:ln/>
        </p:spPr>
        <p:txBody>
          <a:bodyPr wrap="square" lIns="0" tIns="0" rIns="0" bIns="0" rtlCol="0" anchor="ctr"/>
          <a:lstStyle/>
          <a:p>
            <a:pPr marL="0" indent="0" algn="r">
              <a:buNone/>
            </a:pPr>
            <a:r>
              <a:rPr lang="en-US" sz="850" b="0" i="0" dirty="0">
                <a:solidFill>
                  <a:srgbClr val="646F7C"/>
                </a:solidFill>
                <a:latin typeface="Segoe UI"/>
              </a:rPr>
              <a:t>25</a:t>
            </a:r>
            <a:endParaRPr lang="en-US" sz="750" dirty="0"/>
          </a:p>
        </p:txBody>
      </p:sp>
      <p:sp>
        <p:nvSpPr>
          <p:cNvPr id="54" name="Shape 2">
            <a:extLst>
              <a:ext uri="{FF2B5EF4-FFF2-40B4-BE49-F238E27FC236}">
                <a16:creationId xmlns:a16="http://schemas.microsoft.com/office/drawing/2014/main" id="{D478D23B-A77E-2A01-A4A9-70B168A24BEF}"/>
              </a:ext>
            </a:extLst>
          </p:cNvPr>
          <p:cNvSpPr/>
          <p:nvPr/>
        </p:nvSpPr>
        <p:spPr>
          <a:xfrm>
            <a:off x="502920" y="1097280"/>
            <a:ext cx="11155680" cy="0"/>
          </a:xfrm>
          <a:prstGeom prst="line">
            <a:avLst/>
          </a:prstGeom>
          <a:noFill/>
          <a:ln w="12700">
            <a:solidFill>
              <a:srgbClr val="F36C2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55" name="Text 4">
            <a:extLst>
              <a:ext uri="{FF2B5EF4-FFF2-40B4-BE49-F238E27FC236}">
                <a16:creationId xmlns:a16="http://schemas.microsoft.com/office/drawing/2014/main" id="{DDB813EF-58B1-E4CF-A43F-7B92921F5DB9}"/>
              </a:ext>
            </a:extLst>
          </p:cNvPr>
          <p:cNvSpPr/>
          <p:nvPr/>
        </p:nvSpPr>
        <p:spPr>
          <a:xfrm>
            <a:off x="438912" y="6510528"/>
            <a:ext cx="80467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CONFIDENTIAL  |  22</a:t>
            </a:r>
            <a:r>
              <a:rPr kumimoji="0" lang="en-US" sz="800" b="0" i="0" u="none" strike="noStrike" kern="1200" cap="none" spc="0" normalizeH="0" baseline="30000" noProof="0" dirty="0">
                <a:ln>
                  <a:noFill/>
                </a:ln>
                <a:solidFill>
                  <a:srgbClr val="5B6470"/>
                </a:solidFill>
                <a:effectLst/>
                <a:uLnTx/>
                <a:uFillTx/>
                <a:latin typeface="Segoe UI"/>
                <a:ea typeface="Aptos" pitchFamily="34" charset="-122"/>
                <a:cs typeface="Aptos" pitchFamily="34" charset="-120"/>
              </a:rPr>
              <a:t>nd</a:t>
            </a: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 Century Technologies  |  DLA EDM Vector Intelligence</a:t>
            </a:r>
            <a:endParaRPr kumimoji="0" lang="en-US" sz="800" b="0" i="0" u="none" strike="noStrike" kern="1200" cap="none" spc="0" normalizeH="0" baseline="0" noProof="0" dirty="0">
              <a:ln>
                <a:noFill/>
              </a:ln>
              <a:solidFill>
                <a:prstClr val="black"/>
              </a:solidFill>
              <a:effectLst/>
              <a:uLnTx/>
              <a:uFillTx/>
              <a:ea typeface="+mn-ea"/>
              <a:cs typeface="+mn-cs"/>
            </a:endParaRPr>
          </a:p>
        </p:txBody>
      </p:sp>
      <p:sp>
        <p:nvSpPr>
          <p:cNvPr id="57" name="Shape 3">
            <a:extLst>
              <a:ext uri="{FF2B5EF4-FFF2-40B4-BE49-F238E27FC236}">
                <a16:creationId xmlns:a16="http://schemas.microsoft.com/office/drawing/2014/main" id="{324AB8C7-9258-A4EC-5ACF-3846E01FB6D4}"/>
              </a:ext>
            </a:extLst>
          </p:cNvPr>
          <p:cNvSpPr/>
          <p:nvPr/>
        </p:nvSpPr>
        <p:spPr>
          <a:xfrm>
            <a:off x="411480" y="6446520"/>
            <a:ext cx="11365992" cy="0"/>
          </a:xfrm>
          <a:prstGeom prst="line">
            <a:avLst/>
          </a:prstGeom>
          <a:noFill/>
          <a:ln w="7620">
            <a:solidFill>
              <a:srgbClr val="C9D3D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9509760" cy="411480"/>
          </a:xfrm>
          <a:prstGeom prst="rect">
            <a:avLst/>
          </a:prstGeom>
          <a:noFill/>
        </p:spPr>
        <p:txBody>
          <a:bodyPr wrap="none" lIns="36576" tIns="36576" rIns="36576" bIns="36576">
            <a:spAutoFit/>
          </a:bodyPr>
          <a:lstStyle/>
          <a:p>
            <a:r>
              <a:rPr sz="2400" b="1" dirty="0">
                <a:solidFill>
                  <a:srgbClr val="102A4C"/>
                </a:solidFill>
                <a:latin typeface="Segoe UI"/>
              </a:rPr>
              <a:t>Appendix – Technical patterns for living logistics entities</a:t>
            </a:r>
          </a:p>
        </p:txBody>
      </p:sp>
      <p:sp>
        <p:nvSpPr>
          <p:cNvPr id="4" name="Rectangle 3"/>
          <p:cNvSpPr/>
          <p:nvPr/>
        </p:nvSpPr>
        <p:spPr>
          <a:xfrm>
            <a:off x="0" y="0"/>
            <a:ext cx="12192000" cy="137160"/>
          </a:xfrm>
          <a:prstGeom prst="rect">
            <a:avLst/>
          </a:prstGeom>
          <a:solidFill>
            <a:srgbClr val="0726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786384"/>
            <a:ext cx="5669280" cy="201168"/>
          </a:xfrm>
          <a:prstGeom prst="rect">
            <a:avLst/>
          </a:prstGeom>
          <a:noFill/>
        </p:spPr>
        <p:txBody>
          <a:bodyPr wrap="none" lIns="36576" tIns="36576" rIns="36576" bIns="36576">
            <a:spAutoFit/>
          </a:bodyPr>
          <a:lstStyle/>
          <a:p>
            <a:r>
              <a:rPr sz="1200">
                <a:solidFill>
                  <a:srgbClr val="58626E"/>
                </a:solidFill>
                <a:latin typeface="Segoe UI"/>
              </a:rPr>
              <a:t>Technical backup for deeper discussion.</a:t>
            </a:r>
          </a:p>
        </p:txBody>
      </p:sp>
      <p:sp>
        <p:nvSpPr>
          <p:cNvPr id="7" name="Rounded Rectangle 6"/>
          <p:cNvSpPr/>
          <p:nvPr/>
        </p:nvSpPr>
        <p:spPr>
          <a:xfrm>
            <a:off x="502920" y="1417320"/>
            <a:ext cx="3429000" cy="1600200"/>
          </a:xfrm>
          <a:prstGeom prst="roundRect">
            <a:avLst/>
          </a:prstGeom>
          <a:solidFill>
            <a:srgbClr val="EAF2FA"/>
          </a:solidFill>
          <a:ln w="15875">
            <a:solidFill>
              <a:srgbClr val="2362A7"/>
            </a:solidFill>
          </a:ln>
        </p:spPr>
        <p:style>
          <a:lnRef idx="1">
            <a:schemeClr val="accent1"/>
          </a:lnRef>
          <a:fillRef idx="3">
            <a:schemeClr val="accent1"/>
          </a:fillRef>
          <a:effectRef idx="2">
            <a:schemeClr val="accent1"/>
          </a:effectRef>
          <a:fontRef idx="minor">
            <a:schemeClr val="lt1"/>
          </a:fontRef>
        </p:style>
        <p:txBody>
          <a:bodyPr lIns="164592" tIns="109728" rIns="146304" bIns="73152" rtlCol="0" anchor="ctr"/>
          <a:lstStyle/>
          <a:p>
            <a:pPr algn="ctr"/>
            <a:r>
              <a:rPr sz="1600" b="1" dirty="0">
                <a:solidFill>
                  <a:srgbClr val="072645"/>
                </a:solidFill>
                <a:latin typeface="Segoe UI"/>
              </a:rPr>
              <a:t>Neural ODE trajectory</a:t>
            </a:r>
          </a:p>
          <a:p>
            <a:pPr>
              <a:spcBef>
                <a:spcPts val="800"/>
              </a:spcBef>
            </a:pPr>
            <a:r>
              <a:rPr sz="1100" dirty="0">
                <a:solidFill>
                  <a:srgbClr val="232A31"/>
                </a:solidFill>
                <a:latin typeface="Segoe UI"/>
              </a:rPr>
              <a:t>Predict where an entity will be, not only where it is. Supports early detection of suppliers approaching failure before the 90-day window catches it.</a:t>
            </a:r>
          </a:p>
        </p:txBody>
      </p:sp>
      <p:sp>
        <p:nvSpPr>
          <p:cNvPr id="8" name="Rounded Rectangle 7"/>
          <p:cNvSpPr/>
          <p:nvPr/>
        </p:nvSpPr>
        <p:spPr>
          <a:xfrm>
            <a:off x="4279392" y="1417320"/>
            <a:ext cx="3429000" cy="1600200"/>
          </a:xfrm>
          <a:prstGeom prst="roundRect">
            <a:avLst/>
          </a:prstGeom>
          <a:solidFill>
            <a:srgbClr val="E8F7F7"/>
          </a:solidFill>
          <a:ln w="15875">
            <a:solidFill>
              <a:srgbClr val="007C80"/>
            </a:solidFill>
          </a:ln>
        </p:spPr>
        <p:style>
          <a:lnRef idx="1">
            <a:schemeClr val="accent1"/>
          </a:lnRef>
          <a:fillRef idx="3">
            <a:schemeClr val="accent1"/>
          </a:fillRef>
          <a:effectRef idx="2">
            <a:schemeClr val="accent1"/>
          </a:effectRef>
          <a:fontRef idx="minor">
            <a:schemeClr val="lt1"/>
          </a:fontRef>
        </p:style>
        <p:txBody>
          <a:bodyPr lIns="164592" tIns="109728" rIns="146304" bIns="73152" rtlCol="0" anchor="ctr"/>
          <a:lstStyle/>
          <a:p>
            <a:pPr algn="ctr"/>
            <a:r>
              <a:rPr sz="1600" b="1" dirty="0">
                <a:solidFill>
                  <a:srgbClr val="007C80"/>
                </a:solidFill>
                <a:latin typeface="Segoe UI"/>
              </a:rPr>
              <a:t>Phase-space representation</a:t>
            </a:r>
          </a:p>
          <a:p>
            <a:pPr>
              <a:spcBef>
                <a:spcPts val="800"/>
              </a:spcBef>
            </a:pPr>
            <a:r>
              <a:rPr sz="1100" dirty="0">
                <a:solidFill>
                  <a:srgbClr val="232A31"/>
                </a:solidFill>
                <a:latin typeface="Segoe UI"/>
              </a:rPr>
              <a:t>Represents state, velocity, acceleration, and regime so identical snapshots can be distinguished by direction and risk posture.</a:t>
            </a:r>
          </a:p>
        </p:txBody>
      </p:sp>
      <p:sp>
        <p:nvSpPr>
          <p:cNvPr id="9" name="Rounded Rectangle 8"/>
          <p:cNvSpPr/>
          <p:nvPr/>
        </p:nvSpPr>
        <p:spPr>
          <a:xfrm>
            <a:off x="8055864" y="1417320"/>
            <a:ext cx="3429000" cy="1600200"/>
          </a:xfrm>
          <a:prstGeom prst="roundRect">
            <a:avLst/>
          </a:prstGeom>
          <a:solidFill>
            <a:srgbClr val="EAF2FA"/>
          </a:solidFill>
          <a:ln w="15875">
            <a:solidFill>
              <a:srgbClr val="2362A7"/>
            </a:solidFill>
          </a:ln>
        </p:spPr>
        <p:style>
          <a:lnRef idx="1">
            <a:schemeClr val="accent1"/>
          </a:lnRef>
          <a:fillRef idx="3">
            <a:schemeClr val="accent1"/>
          </a:fillRef>
          <a:effectRef idx="2">
            <a:schemeClr val="accent1"/>
          </a:effectRef>
          <a:fontRef idx="minor">
            <a:schemeClr val="lt1"/>
          </a:fontRef>
        </p:style>
        <p:txBody>
          <a:bodyPr lIns="164592" tIns="109728" rIns="146304" bIns="73152" rtlCol="0" anchor="ctr"/>
          <a:lstStyle/>
          <a:p>
            <a:pPr algn="ctr"/>
            <a:r>
              <a:rPr sz="1600" b="1" dirty="0">
                <a:solidFill>
                  <a:srgbClr val="072645"/>
                </a:solidFill>
                <a:latin typeface="Segoe UI"/>
              </a:rPr>
              <a:t>Route as transformer sequence</a:t>
            </a:r>
          </a:p>
          <a:p>
            <a:pPr>
              <a:spcBef>
                <a:spcPts val="800"/>
              </a:spcBef>
            </a:pPr>
            <a:r>
              <a:rPr sz="1100" dirty="0">
                <a:solidFill>
                  <a:srgbClr val="232A31"/>
                </a:solidFill>
                <a:latin typeface="Segoe UI"/>
              </a:rPr>
              <a:t>Models routes as sequences of depots, legs, modes, capacity, utilization, reliability, and cost to expose lead-time risk.</a:t>
            </a:r>
          </a:p>
        </p:txBody>
      </p:sp>
      <p:sp>
        <p:nvSpPr>
          <p:cNvPr id="10" name="Rounded Rectangle 9"/>
          <p:cNvSpPr/>
          <p:nvPr/>
        </p:nvSpPr>
        <p:spPr>
          <a:xfrm>
            <a:off x="502920" y="3703320"/>
            <a:ext cx="3429000" cy="1600200"/>
          </a:xfrm>
          <a:prstGeom prst="roundRect">
            <a:avLst/>
          </a:prstGeom>
          <a:solidFill>
            <a:srgbClr val="E8F7F7"/>
          </a:solidFill>
          <a:ln w="15875">
            <a:solidFill>
              <a:srgbClr val="007C80"/>
            </a:solidFill>
          </a:ln>
        </p:spPr>
        <p:style>
          <a:lnRef idx="1">
            <a:schemeClr val="accent1"/>
          </a:lnRef>
          <a:fillRef idx="3">
            <a:schemeClr val="accent1"/>
          </a:fillRef>
          <a:effectRef idx="2">
            <a:schemeClr val="accent1"/>
          </a:effectRef>
          <a:fontRef idx="minor">
            <a:schemeClr val="lt1"/>
          </a:fontRef>
        </p:style>
        <p:txBody>
          <a:bodyPr lIns="164592" tIns="109728" rIns="146304" bIns="73152" rtlCol="0" anchor="ctr"/>
          <a:lstStyle/>
          <a:p>
            <a:pPr algn="ctr"/>
            <a:r>
              <a:rPr sz="1600" b="1" dirty="0">
                <a:solidFill>
                  <a:srgbClr val="007C80"/>
                </a:solidFill>
                <a:latin typeface="Segoe UI"/>
              </a:rPr>
              <a:t>Hierarchical attention</a:t>
            </a:r>
          </a:p>
          <a:p>
            <a:pPr>
              <a:spcBef>
                <a:spcPts val="800"/>
              </a:spcBef>
            </a:pPr>
            <a:r>
              <a:rPr sz="1100" dirty="0">
                <a:solidFill>
                  <a:srgbClr val="232A31"/>
                </a:solidFill>
                <a:latin typeface="Segoe UI"/>
              </a:rPr>
              <a:t>Aggregates attribute groups into entity representations and lets operational context determine which attributes matter most.</a:t>
            </a:r>
          </a:p>
        </p:txBody>
      </p:sp>
      <p:sp>
        <p:nvSpPr>
          <p:cNvPr id="11" name="Rounded Rectangle 10"/>
          <p:cNvSpPr/>
          <p:nvPr/>
        </p:nvSpPr>
        <p:spPr>
          <a:xfrm>
            <a:off x="4279392" y="3703320"/>
            <a:ext cx="3429000" cy="1600200"/>
          </a:xfrm>
          <a:prstGeom prst="roundRect">
            <a:avLst/>
          </a:prstGeom>
          <a:solidFill>
            <a:srgbClr val="EAF2FA"/>
          </a:solidFill>
          <a:ln w="15875">
            <a:solidFill>
              <a:srgbClr val="2362A7"/>
            </a:solidFill>
          </a:ln>
        </p:spPr>
        <p:style>
          <a:lnRef idx="1">
            <a:schemeClr val="accent1"/>
          </a:lnRef>
          <a:fillRef idx="3">
            <a:schemeClr val="accent1"/>
          </a:fillRef>
          <a:effectRef idx="2">
            <a:schemeClr val="accent1"/>
          </a:effectRef>
          <a:fontRef idx="minor">
            <a:schemeClr val="lt1"/>
          </a:fontRef>
        </p:style>
        <p:txBody>
          <a:bodyPr lIns="164592" tIns="109728" rIns="146304" bIns="73152" rtlCol="0" anchor="ctr"/>
          <a:lstStyle/>
          <a:p>
            <a:pPr algn="ctr"/>
            <a:r>
              <a:rPr sz="1600" b="1" dirty="0">
                <a:solidFill>
                  <a:srgbClr val="072645"/>
                </a:solidFill>
                <a:latin typeface="Segoe UI"/>
              </a:rPr>
              <a:t>Hierarchical attribute tree</a:t>
            </a:r>
          </a:p>
          <a:p>
            <a:pPr>
              <a:spcBef>
                <a:spcPts val="800"/>
              </a:spcBef>
            </a:pPr>
            <a:r>
              <a:rPr sz="1100" dirty="0">
                <a:solidFill>
                  <a:srgbClr val="232A31"/>
                </a:solidFill>
                <a:latin typeface="Segoe UI"/>
              </a:rPr>
              <a:t>Keeps NSN, supplier, and route entities structured and current without treating every object as a flat row.</a:t>
            </a:r>
          </a:p>
        </p:txBody>
      </p:sp>
      <p:sp>
        <p:nvSpPr>
          <p:cNvPr id="12" name="Rounded Rectangle 11"/>
          <p:cNvSpPr/>
          <p:nvPr/>
        </p:nvSpPr>
        <p:spPr>
          <a:xfrm>
            <a:off x="8055864" y="3703320"/>
            <a:ext cx="3429000" cy="1600200"/>
          </a:xfrm>
          <a:prstGeom prst="roundRect">
            <a:avLst/>
          </a:prstGeom>
          <a:solidFill>
            <a:srgbClr val="FEF2E8"/>
          </a:solidFill>
          <a:ln w="15875">
            <a:solidFill>
              <a:srgbClr val="E5731C"/>
            </a:solidFill>
          </a:ln>
        </p:spPr>
        <p:style>
          <a:lnRef idx="1">
            <a:schemeClr val="accent1"/>
          </a:lnRef>
          <a:fillRef idx="3">
            <a:schemeClr val="accent1"/>
          </a:fillRef>
          <a:effectRef idx="2">
            <a:schemeClr val="accent1"/>
          </a:effectRef>
          <a:fontRef idx="minor">
            <a:schemeClr val="lt1"/>
          </a:fontRef>
        </p:style>
        <p:txBody>
          <a:bodyPr lIns="164592" tIns="109728" rIns="146304" bIns="73152" rtlCol="0" anchor="ctr"/>
          <a:lstStyle/>
          <a:p>
            <a:pPr algn="ctr"/>
            <a:r>
              <a:rPr sz="1600" b="1" dirty="0">
                <a:solidFill>
                  <a:srgbClr val="E5731C"/>
                </a:solidFill>
                <a:latin typeface="Segoe UI"/>
              </a:rPr>
              <a:t>Technical discussion use</a:t>
            </a:r>
          </a:p>
          <a:p>
            <a:pPr>
              <a:spcBef>
                <a:spcPts val="800"/>
              </a:spcBef>
            </a:pPr>
            <a:r>
              <a:rPr sz="1100" dirty="0">
                <a:solidFill>
                  <a:srgbClr val="232A31"/>
                </a:solidFill>
                <a:latin typeface="Segoe UI"/>
              </a:rPr>
              <a:t>Use only if the audience asks how EDM models future state, route risk, or context-aware behavior at a deeper level.</a:t>
            </a:r>
          </a:p>
        </p:txBody>
      </p:sp>
      <p:sp>
        <p:nvSpPr>
          <p:cNvPr id="13" name="Straight Connector 12"/>
          <p:cNvSpPr/>
          <p:nvPr/>
        </p:nvSpPr>
        <p:spPr>
          <a:xfrm>
            <a:off x="411480" y="6446520"/>
            <a:ext cx="11365992" cy="0"/>
          </a:xfrm>
          <a:prstGeom prst="lineInv">
            <a:avLst/>
          </a:prstGeom>
          <a:ln>
            <a:solidFill>
              <a:srgbClr val="C2CD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1606477" y="6492240"/>
            <a:ext cx="189283" cy="204671"/>
          </a:xfrm>
          <a:prstGeom prst="rect">
            <a:avLst/>
          </a:prstGeom>
          <a:noFill/>
        </p:spPr>
        <p:txBody>
          <a:bodyPr wrap="none" lIns="36576" tIns="36576" rIns="36576" bIns="36576">
            <a:spAutoFit/>
          </a:bodyPr>
          <a:lstStyle/>
          <a:p>
            <a:pPr algn="r"/>
            <a:r>
              <a:rPr lang="en-US" sz="850" b="0" i="0" dirty="0">
                <a:solidFill>
                  <a:srgbClr val="646F7C"/>
                </a:solidFill>
                <a:latin typeface="Segoe UI"/>
              </a:rPr>
              <a:t>26</a:t>
            </a:r>
            <a:endParaRPr sz="900" dirty="0">
              <a:solidFill>
                <a:srgbClr val="66707B"/>
              </a:solidFill>
              <a:latin typeface="Aptos"/>
            </a:endParaRPr>
          </a:p>
        </p:txBody>
      </p:sp>
      <p:sp>
        <p:nvSpPr>
          <p:cNvPr id="17" name="Text 4">
            <a:extLst>
              <a:ext uri="{FF2B5EF4-FFF2-40B4-BE49-F238E27FC236}">
                <a16:creationId xmlns:a16="http://schemas.microsoft.com/office/drawing/2014/main" id="{54014627-5E3A-8E27-8781-157B5AFEAE2D}"/>
              </a:ext>
            </a:extLst>
          </p:cNvPr>
          <p:cNvSpPr/>
          <p:nvPr/>
        </p:nvSpPr>
        <p:spPr>
          <a:xfrm>
            <a:off x="438912" y="6510528"/>
            <a:ext cx="80467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CONFIDENTIAL  |  22</a:t>
            </a:r>
            <a:r>
              <a:rPr kumimoji="0" lang="en-US" sz="800" b="0" i="0" u="none" strike="noStrike" kern="1200" cap="none" spc="0" normalizeH="0" baseline="30000" noProof="0" dirty="0">
                <a:ln>
                  <a:noFill/>
                </a:ln>
                <a:solidFill>
                  <a:srgbClr val="5B6470"/>
                </a:solidFill>
                <a:effectLst/>
                <a:uLnTx/>
                <a:uFillTx/>
                <a:latin typeface="Segoe UI"/>
                <a:ea typeface="Aptos" pitchFamily="34" charset="-122"/>
                <a:cs typeface="Aptos" pitchFamily="34" charset="-120"/>
              </a:rPr>
              <a:t>nd</a:t>
            </a: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 Century Technologies  |  DLA EDM Vector Intelligence</a:t>
            </a:r>
            <a:endParaRPr kumimoji="0" lang="en-US" sz="800" b="0" i="0" u="none" strike="noStrike" kern="1200" cap="none" spc="0" normalizeH="0" baseline="0" noProof="0" dirty="0">
              <a:ln>
                <a:noFill/>
              </a:ln>
              <a:solidFill>
                <a:prstClr val="black"/>
              </a:solidFill>
              <a:effectLst/>
              <a:uLnTx/>
              <a:uFillTx/>
              <a:ea typeface="+mn-ea"/>
              <a:cs typeface="+mn-cs"/>
            </a:endParaRPr>
          </a:p>
        </p:txBody>
      </p:sp>
      <p:sp>
        <p:nvSpPr>
          <p:cNvPr id="16" name="Rectangle 15">
            <a:extLst>
              <a:ext uri="{FF2B5EF4-FFF2-40B4-BE49-F238E27FC236}">
                <a16:creationId xmlns:a16="http://schemas.microsoft.com/office/drawing/2014/main" id="{46C09021-F553-06C1-73F5-374B5DCA0E40}"/>
              </a:ext>
            </a:extLst>
          </p:cNvPr>
          <p:cNvSpPr/>
          <p:nvPr/>
        </p:nvSpPr>
        <p:spPr>
          <a:xfrm>
            <a:off x="502920" y="1120140"/>
            <a:ext cx="1106424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9509760" cy="411480"/>
          </a:xfrm>
          <a:prstGeom prst="rect">
            <a:avLst/>
          </a:prstGeom>
          <a:noFill/>
        </p:spPr>
        <p:txBody>
          <a:bodyPr wrap="none" lIns="36576" tIns="36576" rIns="36576" bIns="36576">
            <a:spAutoFit/>
          </a:bodyPr>
          <a:lstStyle/>
          <a:p>
            <a:r>
              <a:rPr sz="2400" b="1" dirty="0">
                <a:solidFill>
                  <a:srgbClr val="102A4C"/>
                </a:solidFill>
                <a:latin typeface="Segoe UI"/>
              </a:rPr>
              <a:t>Appendix – Algorithmic layer for contextual inference</a:t>
            </a:r>
          </a:p>
        </p:txBody>
      </p:sp>
      <p:sp>
        <p:nvSpPr>
          <p:cNvPr id="4" name="Rectangle 3"/>
          <p:cNvSpPr/>
          <p:nvPr/>
        </p:nvSpPr>
        <p:spPr>
          <a:xfrm>
            <a:off x="0" y="0"/>
            <a:ext cx="12192000" cy="137160"/>
          </a:xfrm>
          <a:prstGeom prst="rect">
            <a:avLst/>
          </a:prstGeom>
          <a:solidFill>
            <a:srgbClr val="0726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786384"/>
            <a:ext cx="5669280" cy="201168"/>
          </a:xfrm>
          <a:prstGeom prst="rect">
            <a:avLst/>
          </a:prstGeom>
          <a:noFill/>
        </p:spPr>
        <p:txBody>
          <a:bodyPr wrap="none" lIns="36576" tIns="36576" rIns="36576" bIns="36576">
            <a:spAutoFit/>
          </a:bodyPr>
          <a:lstStyle/>
          <a:p>
            <a:r>
              <a:rPr sz="1200">
                <a:solidFill>
                  <a:srgbClr val="58626E"/>
                </a:solidFill>
                <a:latin typeface="Segoe UI"/>
              </a:rPr>
              <a:t>Technical backup for deeper discussion.</a:t>
            </a:r>
          </a:p>
        </p:txBody>
      </p:sp>
      <p:sp>
        <p:nvSpPr>
          <p:cNvPr id="7" name="Rounded Rectangle 6"/>
          <p:cNvSpPr/>
          <p:nvPr/>
        </p:nvSpPr>
        <p:spPr>
          <a:xfrm>
            <a:off x="502920" y="1417320"/>
            <a:ext cx="3429000" cy="1600200"/>
          </a:xfrm>
          <a:prstGeom prst="roundRect">
            <a:avLst/>
          </a:prstGeom>
          <a:solidFill>
            <a:srgbClr val="EBF6ED"/>
          </a:solidFill>
          <a:ln w="15875">
            <a:solidFill>
              <a:srgbClr val="2F7B44"/>
            </a:solidFill>
          </a:ln>
        </p:spPr>
        <p:style>
          <a:lnRef idx="1">
            <a:schemeClr val="accent1"/>
          </a:lnRef>
          <a:fillRef idx="3">
            <a:schemeClr val="accent1"/>
          </a:fillRef>
          <a:effectRef idx="2">
            <a:schemeClr val="accent1"/>
          </a:effectRef>
          <a:fontRef idx="minor">
            <a:schemeClr val="lt1"/>
          </a:fontRef>
        </p:style>
        <p:txBody>
          <a:bodyPr lIns="164592" tIns="109728" rIns="146304" bIns="73152" rtlCol="0" anchor="ctr"/>
          <a:lstStyle/>
          <a:p>
            <a:pPr algn="ctr"/>
            <a:r>
              <a:rPr sz="1600" b="1" dirty="0">
                <a:solidFill>
                  <a:srgbClr val="2F7B44"/>
                </a:solidFill>
                <a:latin typeface="Segoe UI"/>
              </a:rPr>
              <a:t>Learned ensemble + RL</a:t>
            </a:r>
          </a:p>
          <a:p>
            <a:pPr>
              <a:spcBef>
                <a:spcPts val="800"/>
              </a:spcBef>
            </a:pPr>
            <a:r>
              <a:rPr sz="1100" dirty="0">
                <a:solidFill>
                  <a:srgbClr val="232A31"/>
                </a:solidFill>
                <a:latin typeface="Segoe UI"/>
              </a:rPr>
              <a:t>Dynamic model selection and sequential allocation using graph state, with actions such as transfer, expedite, or order.</a:t>
            </a:r>
          </a:p>
        </p:txBody>
      </p:sp>
      <p:sp>
        <p:nvSpPr>
          <p:cNvPr id="8" name="Rounded Rectangle 7"/>
          <p:cNvSpPr/>
          <p:nvPr/>
        </p:nvSpPr>
        <p:spPr>
          <a:xfrm>
            <a:off x="4279392" y="1417320"/>
            <a:ext cx="3429000" cy="1600200"/>
          </a:xfrm>
          <a:prstGeom prst="roundRect">
            <a:avLst/>
          </a:prstGeom>
          <a:solidFill>
            <a:srgbClr val="FEF2E8"/>
          </a:solidFill>
          <a:ln w="15875">
            <a:solidFill>
              <a:srgbClr val="E5731C"/>
            </a:solidFill>
          </a:ln>
        </p:spPr>
        <p:style>
          <a:lnRef idx="1">
            <a:schemeClr val="accent1"/>
          </a:lnRef>
          <a:fillRef idx="3">
            <a:schemeClr val="accent1"/>
          </a:fillRef>
          <a:effectRef idx="2">
            <a:schemeClr val="accent1"/>
          </a:effectRef>
          <a:fontRef idx="minor">
            <a:schemeClr val="lt1"/>
          </a:fontRef>
        </p:style>
        <p:txBody>
          <a:bodyPr lIns="164592" tIns="109728" rIns="146304" bIns="73152" rtlCol="0" anchor="ctr"/>
          <a:lstStyle/>
          <a:p>
            <a:pPr algn="ctr"/>
            <a:r>
              <a:rPr sz="1600" b="1" dirty="0">
                <a:solidFill>
                  <a:srgbClr val="E5731C"/>
                </a:solidFill>
                <a:latin typeface="Segoe UI"/>
              </a:rPr>
              <a:t>H-VAE scenario generation</a:t>
            </a:r>
          </a:p>
          <a:p>
            <a:pPr>
              <a:spcBef>
                <a:spcPts val="800"/>
              </a:spcBef>
            </a:pPr>
            <a:r>
              <a:rPr sz="1100" dirty="0">
                <a:solidFill>
                  <a:srgbClr val="232A31"/>
                </a:solidFill>
                <a:latin typeface="Segoe UI"/>
              </a:rPr>
              <a:t>Creates partial-surge, compound-disruption, stress-test, and worst-nearby scenarios for decision rehearsal.</a:t>
            </a:r>
          </a:p>
        </p:txBody>
      </p:sp>
      <p:sp>
        <p:nvSpPr>
          <p:cNvPr id="9" name="Rounded Rectangle 8"/>
          <p:cNvSpPr/>
          <p:nvPr/>
        </p:nvSpPr>
        <p:spPr>
          <a:xfrm>
            <a:off x="8055864" y="1417320"/>
            <a:ext cx="3429000" cy="1600200"/>
          </a:xfrm>
          <a:prstGeom prst="roundRect">
            <a:avLst/>
          </a:prstGeom>
          <a:solidFill>
            <a:srgbClr val="EAF2FA"/>
          </a:solidFill>
          <a:ln w="15875">
            <a:solidFill>
              <a:srgbClr val="2362A7"/>
            </a:solidFill>
          </a:ln>
        </p:spPr>
        <p:style>
          <a:lnRef idx="1">
            <a:schemeClr val="accent1"/>
          </a:lnRef>
          <a:fillRef idx="3">
            <a:schemeClr val="accent1"/>
          </a:fillRef>
          <a:effectRef idx="2">
            <a:schemeClr val="accent1"/>
          </a:effectRef>
          <a:fontRef idx="minor">
            <a:schemeClr val="lt1"/>
          </a:fontRef>
        </p:style>
        <p:txBody>
          <a:bodyPr lIns="164592" tIns="109728" rIns="146304" bIns="73152" rtlCol="0" anchor="ctr"/>
          <a:lstStyle/>
          <a:p>
            <a:pPr algn="ctr"/>
            <a:r>
              <a:rPr sz="1600" b="1" dirty="0">
                <a:solidFill>
                  <a:srgbClr val="2362A7"/>
                </a:solidFill>
                <a:latin typeface="Segoe UI"/>
              </a:rPr>
              <a:t>Knowledge graph completion</a:t>
            </a:r>
          </a:p>
          <a:p>
            <a:pPr>
              <a:spcBef>
                <a:spcPts val="800"/>
              </a:spcBef>
            </a:pPr>
            <a:r>
              <a:rPr sz="1100" dirty="0">
                <a:solidFill>
                  <a:srgbClr val="232A31"/>
                </a:solidFill>
                <a:latin typeface="Segoe UI"/>
              </a:rPr>
              <a:t>Predicts plausible supplier, NSN, and substitution relationships before failure becomes a sole-source crisis.</a:t>
            </a:r>
          </a:p>
        </p:txBody>
      </p:sp>
      <p:sp>
        <p:nvSpPr>
          <p:cNvPr id="10" name="Rounded Rectangle 9"/>
          <p:cNvSpPr/>
          <p:nvPr/>
        </p:nvSpPr>
        <p:spPr>
          <a:xfrm>
            <a:off x="502920" y="3703320"/>
            <a:ext cx="3429000" cy="1600200"/>
          </a:xfrm>
          <a:prstGeom prst="roundRect">
            <a:avLst/>
          </a:prstGeom>
          <a:solidFill>
            <a:srgbClr val="E8F7F7"/>
          </a:solidFill>
          <a:ln w="15875">
            <a:solidFill>
              <a:srgbClr val="007C80"/>
            </a:solidFill>
          </a:ln>
        </p:spPr>
        <p:style>
          <a:lnRef idx="1">
            <a:schemeClr val="accent1"/>
          </a:lnRef>
          <a:fillRef idx="3">
            <a:schemeClr val="accent1"/>
          </a:fillRef>
          <a:effectRef idx="2">
            <a:schemeClr val="accent1"/>
          </a:effectRef>
          <a:fontRef idx="minor">
            <a:schemeClr val="lt1"/>
          </a:fontRef>
        </p:style>
        <p:txBody>
          <a:bodyPr lIns="164592" tIns="109728" rIns="146304" bIns="73152" rtlCol="0" anchor="ctr"/>
          <a:lstStyle/>
          <a:p>
            <a:pPr algn="ctr"/>
            <a:r>
              <a:rPr sz="1600" b="1" dirty="0">
                <a:solidFill>
                  <a:srgbClr val="007C80"/>
                </a:solidFill>
                <a:latin typeface="Segoe UI"/>
              </a:rPr>
              <a:t>Contrastive substitutability</a:t>
            </a:r>
          </a:p>
          <a:p>
            <a:pPr>
              <a:spcBef>
                <a:spcPts val="800"/>
              </a:spcBef>
            </a:pPr>
            <a:r>
              <a:rPr sz="1100" dirty="0">
                <a:solidFill>
                  <a:srgbClr val="232A31"/>
                </a:solidFill>
                <a:latin typeface="Segoe UI"/>
              </a:rPr>
              <a:t>Uses geometry to identify similar NSNs, suppliers, or routes for alternate sourcing and cold-start support.</a:t>
            </a:r>
          </a:p>
        </p:txBody>
      </p:sp>
      <p:sp>
        <p:nvSpPr>
          <p:cNvPr id="11" name="Rounded Rectangle 10"/>
          <p:cNvSpPr/>
          <p:nvPr/>
        </p:nvSpPr>
        <p:spPr>
          <a:xfrm>
            <a:off x="4279392" y="3703320"/>
            <a:ext cx="3429000" cy="1600200"/>
          </a:xfrm>
          <a:prstGeom prst="roundRect">
            <a:avLst/>
          </a:prstGeom>
          <a:solidFill>
            <a:srgbClr val="EBF6ED"/>
          </a:solidFill>
          <a:ln w="15875">
            <a:solidFill>
              <a:srgbClr val="2F7B44"/>
            </a:solidFill>
          </a:ln>
        </p:spPr>
        <p:style>
          <a:lnRef idx="1">
            <a:schemeClr val="accent1"/>
          </a:lnRef>
          <a:fillRef idx="3">
            <a:schemeClr val="accent1"/>
          </a:fillRef>
          <a:effectRef idx="2">
            <a:schemeClr val="accent1"/>
          </a:effectRef>
          <a:fontRef idx="minor">
            <a:schemeClr val="lt1"/>
          </a:fontRef>
        </p:style>
        <p:txBody>
          <a:bodyPr lIns="164592" tIns="109728" rIns="146304" bIns="73152" rtlCol="0" anchor="ctr"/>
          <a:lstStyle/>
          <a:p>
            <a:pPr algn="ctr"/>
            <a:r>
              <a:rPr sz="1600" b="1" dirty="0">
                <a:solidFill>
                  <a:srgbClr val="2F7B44"/>
                </a:solidFill>
                <a:latin typeface="Segoe UI"/>
              </a:rPr>
              <a:t>GNN cascading risk</a:t>
            </a:r>
          </a:p>
          <a:p>
            <a:pPr>
              <a:spcBef>
                <a:spcPts val="800"/>
              </a:spcBef>
            </a:pPr>
            <a:r>
              <a:rPr sz="1100" dirty="0">
                <a:solidFill>
                  <a:srgbClr val="232A31"/>
                </a:solidFill>
                <a:latin typeface="Segoe UI"/>
              </a:rPr>
              <a:t>Propagates supplier risk across NSNs, depots, and routes to expose system-level heatmaps and failure paths.</a:t>
            </a:r>
          </a:p>
        </p:txBody>
      </p:sp>
      <p:sp>
        <p:nvSpPr>
          <p:cNvPr id="12" name="Rounded Rectangle 11"/>
          <p:cNvSpPr/>
          <p:nvPr/>
        </p:nvSpPr>
        <p:spPr>
          <a:xfrm>
            <a:off x="8055864" y="3703320"/>
            <a:ext cx="3429000" cy="1600200"/>
          </a:xfrm>
          <a:prstGeom prst="roundRect">
            <a:avLst/>
          </a:prstGeom>
          <a:solidFill>
            <a:srgbClr val="F4F7FA"/>
          </a:solidFill>
          <a:ln w="15875">
            <a:solidFill>
              <a:srgbClr val="66707B"/>
            </a:solidFill>
          </a:ln>
        </p:spPr>
        <p:style>
          <a:lnRef idx="1">
            <a:schemeClr val="accent1"/>
          </a:lnRef>
          <a:fillRef idx="3">
            <a:schemeClr val="accent1"/>
          </a:fillRef>
          <a:effectRef idx="2">
            <a:schemeClr val="accent1"/>
          </a:effectRef>
          <a:fontRef idx="minor">
            <a:schemeClr val="lt1"/>
          </a:fontRef>
        </p:style>
        <p:txBody>
          <a:bodyPr lIns="164592" tIns="109728" rIns="146304" bIns="73152" rtlCol="0" anchor="ctr"/>
          <a:lstStyle/>
          <a:p>
            <a:pPr algn="ctr"/>
            <a:r>
              <a:rPr sz="1600" b="1" dirty="0">
                <a:solidFill>
                  <a:srgbClr val="072645"/>
                </a:solidFill>
                <a:latin typeface="Segoe UI"/>
              </a:rPr>
              <a:t>Technical discussion use</a:t>
            </a:r>
          </a:p>
          <a:p>
            <a:pPr>
              <a:spcBef>
                <a:spcPts val="800"/>
              </a:spcBef>
            </a:pPr>
            <a:r>
              <a:rPr sz="1100" dirty="0">
                <a:solidFill>
                  <a:srgbClr val="232A31"/>
                </a:solidFill>
                <a:latin typeface="Segoe UI"/>
              </a:rPr>
              <a:t>Use only if the audience asks about model-selection logic, scenario creation, substitution discovery, or cascading-risk propagation.</a:t>
            </a:r>
          </a:p>
        </p:txBody>
      </p:sp>
      <p:sp>
        <p:nvSpPr>
          <p:cNvPr id="13" name="Straight Connector 12"/>
          <p:cNvSpPr/>
          <p:nvPr/>
        </p:nvSpPr>
        <p:spPr>
          <a:xfrm>
            <a:off x="411480" y="6446520"/>
            <a:ext cx="11365992" cy="0"/>
          </a:xfrm>
          <a:prstGeom prst="lineInv">
            <a:avLst/>
          </a:prstGeom>
          <a:ln>
            <a:solidFill>
              <a:srgbClr val="C2CD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1606477" y="6492240"/>
            <a:ext cx="189283" cy="204671"/>
          </a:xfrm>
          <a:prstGeom prst="rect">
            <a:avLst/>
          </a:prstGeom>
          <a:noFill/>
        </p:spPr>
        <p:txBody>
          <a:bodyPr wrap="none" lIns="36576" tIns="36576" rIns="36576" bIns="36576">
            <a:spAutoFit/>
          </a:bodyPr>
          <a:lstStyle/>
          <a:p>
            <a:pPr algn="r"/>
            <a:r>
              <a:rPr lang="en-US" sz="850" b="0" i="0" dirty="0">
                <a:solidFill>
                  <a:srgbClr val="646F7C"/>
                </a:solidFill>
                <a:latin typeface="Segoe UI"/>
              </a:rPr>
              <a:t>27</a:t>
            </a:r>
            <a:endParaRPr sz="900" dirty="0">
              <a:solidFill>
                <a:srgbClr val="66707B"/>
              </a:solidFill>
              <a:latin typeface="Aptos"/>
            </a:endParaRPr>
          </a:p>
        </p:txBody>
      </p:sp>
      <p:sp>
        <p:nvSpPr>
          <p:cNvPr id="17" name="Text 4">
            <a:extLst>
              <a:ext uri="{FF2B5EF4-FFF2-40B4-BE49-F238E27FC236}">
                <a16:creationId xmlns:a16="http://schemas.microsoft.com/office/drawing/2014/main" id="{1B5D7D37-76DD-FE21-844B-E716E7A145B8}"/>
              </a:ext>
            </a:extLst>
          </p:cNvPr>
          <p:cNvSpPr/>
          <p:nvPr/>
        </p:nvSpPr>
        <p:spPr>
          <a:xfrm>
            <a:off x="438912" y="6510528"/>
            <a:ext cx="80467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CONFIDENTIAL  |  22</a:t>
            </a:r>
            <a:r>
              <a:rPr kumimoji="0" lang="en-US" sz="800" b="0" i="0" u="none" strike="noStrike" kern="1200" cap="none" spc="0" normalizeH="0" baseline="30000" noProof="0" dirty="0">
                <a:ln>
                  <a:noFill/>
                </a:ln>
                <a:solidFill>
                  <a:srgbClr val="5B6470"/>
                </a:solidFill>
                <a:effectLst/>
                <a:uLnTx/>
                <a:uFillTx/>
                <a:latin typeface="Segoe UI"/>
                <a:ea typeface="Aptos" pitchFamily="34" charset="-122"/>
                <a:cs typeface="Aptos" pitchFamily="34" charset="-120"/>
              </a:rPr>
              <a:t>nd</a:t>
            </a: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 Century Technologies  |  DLA EDM Vector Intelligence</a:t>
            </a:r>
            <a:endParaRPr kumimoji="0" lang="en-US" sz="800" b="0" i="0" u="none" strike="noStrike" kern="1200" cap="none" spc="0" normalizeH="0" baseline="0" noProof="0" dirty="0">
              <a:ln>
                <a:noFill/>
              </a:ln>
              <a:solidFill>
                <a:prstClr val="black"/>
              </a:solidFill>
              <a:effectLst/>
              <a:uLnTx/>
              <a:uFillTx/>
              <a:ea typeface="+mn-ea"/>
              <a:cs typeface="+mn-cs"/>
            </a:endParaRPr>
          </a:p>
        </p:txBody>
      </p:sp>
      <p:sp>
        <p:nvSpPr>
          <p:cNvPr id="16" name="Rectangle 15">
            <a:extLst>
              <a:ext uri="{FF2B5EF4-FFF2-40B4-BE49-F238E27FC236}">
                <a16:creationId xmlns:a16="http://schemas.microsoft.com/office/drawing/2014/main" id="{3FA91D44-5C13-1D30-691C-28DAC44BB225}"/>
              </a:ext>
            </a:extLst>
          </p:cNvPr>
          <p:cNvSpPr/>
          <p:nvPr/>
        </p:nvSpPr>
        <p:spPr>
          <a:xfrm>
            <a:off x="502920" y="1120140"/>
            <a:ext cx="1106424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92608"/>
            <a:ext cx="10058400" cy="502920"/>
          </a:xfrm>
          <a:prstGeom prst="rect">
            <a:avLst/>
          </a:prstGeom>
          <a:noFill/>
        </p:spPr>
        <p:txBody>
          <a:bodyPr wrap="square" lIns="38100" tIns="25400" rIns="38100" bIns="25400" anchor="t">
            <a:spAutoFit/>
          </a:bodyPr>
          <a:lstStyle/>
          <a:p>
            <a:pPr algn="l">
              <a:spcAft>
                <a:spcPts val="300"/>
              </a:spcAft>
            </a:pPr>
            <a:r>
              <a:rPr sz="2300" b="1" i="0">
                <a:solidFill>
                  <a:srgbClr val="102A4C"/>
                </a:solidFill>
                <a:latin typeface="Segoe UI"/>
              </a:rPr>
              <a:t>Appendix — EDM Vector Intelligence: the 67 features</a:t>
            </a:r>
          </a:p>
        </p:txBody>
      </p:sp>
      <p:sp>
        <p:nvSpPr>
          <p:cNvPr id="4" name="TextBox 3"/>
          <p:cNvSpPr txBox="1"/>
          <p:nvPr/>
        </p:nvSpPr>
        <p:spPr>
          <a:xfrm>
            <a:off x="457200" y="868680"/>
            <a:ext cx="11274552" cy="365760"/>
          </a:xfrm>
          <a:prstGeom prst="rect">
            <a:avLst/>
          </a:prstGeom>
          <a:noFill/>
        </p:spPr>
        <p:txBody>
          <a:bodyPr wrap="square" lIns="38100" tIns="25400" rIns="38100" bIns="25400" anchor="t">
            <a:spAutoFit/>
          </a:bodyPr>
          <a:lstStyle/>
          <a:p>
            <a:pPr algn="l">
              <a:spcAft>
                <a:spcPts val="300"/>
              </a:spcAft>
            </a:pPr>
            <a:r>
              <a:rPr sz="1250" b="0" i="1">
                <a:solidFill>
                  <a:srgbClr val="1F5E9C"/>
                </a:solidFill>
                <a:latin typeface="Segoe UI"/>
              </a:rPr>
              <a:t>25 base tabular  +  42 learned from the behavioral twin (23 zone-embedding + 13 entity-signal + 6 cohort-transfer).</a:t>
            </a:r>
          </a:p>
        </p:txBody>
      </p:sp>
      <p:sp>
        <p:nvSpPr>
          <p:cNvPr id="5" name="Rounded Rectangle 4"/>
          <p:cNvSpPr/>
          <p:nvPr/>
        </p:nvSpPr>
        <p:spPr>
          <a:xfrm>
            <a:off x="457200" y="1417320"/>
            <a:ext cx="3657600" cy="4389120"/>
          </a:xfrm>
          <a:prstGeom prst="round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21792" y="1527048"/>
            <a:ext cx="3328416" cy="274320"/>
          </a:xfrm>
          <a:prstGeom prst="rect">
            <a:avLst/>
          </a:prstGeom>
          <a:noFill/>
        </p:spPr>
        <p:txBody>
          <a:bodyPr wrap="square" lIns="38100" tIns="25400" rIns="38100" bIns="25400" anchor="t">
            <a:spAutoFit/>
          </a:bodyPr>
          <a:lstStyle/>
          <a:p>
            <a:pPr algn="l">
              <a:spcAft>
                <a:spcPts val="300"/>
              </a:spcAft>
            </a:pPr>
            <a:r>
              <a:rPr sz="1200" b="1" i="0">
                <a:solidFill>
                  <a:srgbClr val="102A4C"/>
                </a:solidFill>
                <a:latin typeface="Segoe UI"/>
              </a:rPr>
              <a:t>A · 25 BASE TABULAR (LightGBM)</a:t>
            </a:r>
          </a:p>
        </p:txBody>
      </p:sp>
      <p:sp>
        <p:nvSpPr>
          <p:cNvPr id="7" name="TextBox 6"/>
          <p:cNvSpPr txBox="1"/>
          <p:nvPr/>
        </p:nvSpPr>
        <p:spPr>
          <a:xfrm>
            <a:off x="621792" y="1874519"/>
            <a:ext cx="3328416" cy="3822191"/>
          </a:xfrm>
          <a:prstGeom prst="rect">
            <a:avLst/>
          </a:prstGeom>
          <a:noFill/>
        </p:spPr>
        <p:txBody>
          <a:bodyPr wrap="square" lIns="38100" tIns="25400" rIns="38100" bIns="25400" anchor="t">
            <a:spAutoFit/>
          </a:bodyPr>
          <a:lstStyle/>
          <a:p>
            <a:pPr algn="l">
              <a:spcAft>
                <a:spcPts val="400"/>
              </a:spcAft>
            </a:pPr>
            <a:r>
              <a:rPr sz="950" b="1" i="0">
                <a:solidFill>
                  <a:srgbClr val="1D2430"/>
                </a:solidFill>
                <a:latin typeface="Segoe UI"/>
              </a:rPr>
              <a:t>Demand history (10):</a:t>
            </a:r>
          </a:p>
          <a:p>
            <a:pPr algn="l">
              <a:spcAft>
                <a:spcPts val="400"/>
              </a:spcAft>
            </a:pPr>
            <a:r>
              <a:rPr sz="900" b="0" i="0">
                <a:solidFill>
                  <a:srgbClr val="5E6A75"/>
                </a:solidFill>
                <a:latin typeface="Segoe UI"/>
              </a:rPr>
              <a:t>avg_qty_4w/13w, max_qty_13w, demand_freq_4w/13w, cv, adi, lumpy_flag, weeks_since_demand, lifetime_rate</a:t>
            </a:r>
          </a:p>
          <a:p>
            <a:pPr algn="l">
              <a:spcAft>
                <a:spcPts val="400"/>
              </a:spcAft>
            </a:pPr>
            <a:r>
              <a:rPr sz="950" b="1" i="0">
                <a:solidFill>
                  <a:srgbClr val="1D2430"/>
                </a:solidFill>
                <a:latin typeface="Segoe UI"/>
              </a:rPr>
              <a:t>Exercise calendar (7):</a:t>
            </a:r>
          </a:p>
          <a:p>
            <a:pPr algn="l">
              <a:spcAft>
                <a:spcPts val="400"/>
              </a:spcAft>
            </a:pPr>
            <a:r>
              <a:rPr sz="900" b="0" i="0">
                <a:solidFill>
                  <a:srgbClr val="5E6A75"/>
                </a:solidFill>
                <a:latin typeface="Segoe UI"/>
              </a:rPr>
              <a:t>active, days_until, intensity, ×avg_qty, ×freq, ×crit, days_since_end</a:t>
            </a:r>
          </a:p>
          <a:p>
            <a:pPr algn="l">
              <a:spcAft>
                <a:spcPts val="400"/>
              </a:spcAft>
            </a:pPr>
            <a:r>
              <a:rPr sz="950" b="1" i="0">
                <a:solidFill>
                  <a:srgbClr val="1D2430"/>
                </a:solidFill>
                <a:latin typeface="Segoe UI"/>
              </a:rPr>
              <a:t>Item &amp; depot (4):</a:t>
            </a:r>
          </a:p>
          <a:p>
            <a:pPr algn="l">
              <a:spcAft>
                <a:spcPts val="400"/>
              </a:spcAft>
            </a:pPr>
            <a:r>
              <a:rPr sz="900" b="0" i="0">
                <a:solidFill>
                  <a:srgbClr val="5E6A75"/>
                </a:solidFill>
                <a:latin typeface="Segoe UI"/>
              </a:rPr>
              <a:t>category, dodaac, criticality, unit_price_log</a:t>
            </a:r>
          </a:p>
          <a:p>
            <a:pPr algn="l">
              <a:spcAft>
                <a:spcPts val="400"/>
              </a:spcAft>
            </a:pPr>
            <a:r>
              <a:rPr sz="950" b="1" i="0">
                <a:solidFill>
                  <a:srgbClr val="1D2430"/>
                </a:solidFill>
                <a:latin typeface="Segoe UI"/>
              </a:rPr>
              <a:t>Fiscal &amp; temporal (4):</a:t>
            </a:r>
          </a:p>
          <a:p>
            <a:pPr algn="l">
              <a:spcAft>
                <a:spcPts val="400"/>
              </a:spcAft>
            </a:pPr>
            <a:r>
              <a:rPr sz="900" b="0" i="0">
                <a:solidFill>
                  <a:srgbClr val="5E6A75"/>
                </a:solidFill>
                <a:latin typeface="Segoe UI"/>
              </a:rPr>
              <a:t>month, week_of_year, fy_quarter, days_to_fy_end</a:t>
            </a:r>
          </a:p>
          <a:p>
            <a:pPr algn="l">
              <a:spcAft>
                <a:spcPts val="400"/>
              </a:spcAft>
            </a:pPr>
            <a:r>
              <a:rPr sz="900" b="0" i="0">
                <a:solidFill>
                  <a:srgbClr val="118484"/>
                </a:solidFill>
                <a:latin typeface="Segoe UI"/>
              </a:rPr>
              <a:t>→ outputs P(demand&gt;0) + P10/P25/P50/P75/P90</a:t>
            </a:r>
          </a:p>
        </p:txBody>
      </p:sp>
      <p:sp>
        <p:nvSpPr>
          <p:cNvPr id="8" name="Rounded Rectangle 7"/>
          <p:cNvSpPr/>
          <p:nvPr/>
        </p:nvSpPr>
        <p:spPr>
          <a:xfrm>
            <a:off x="4297680" y="1417320"/>
            <a:ext cx="3657600" cy="4389120"/>
          </a:xfrm>
          <a:prstGeom prst="round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462272" y="1527048"/>
            <a:ext cx="3328416" cy="274320"/>
          </a:xfrm>
          <a:prstGeom prst="rect">
            <a:avLst/>
          </a:prstGeom>
          <a:noFill/>
        </p:spPr>
        <p:txBody>
          <a:bodyPr wrap="square" lIns="38100" tIns="25400" rIns="38100" bIns="25400" anchor="t">
            <a:spAutoFit/>
          </a:bodyPr>
          <a:lstStyle/>
          <a:p>
            <a:pPr algn="l">
              <a:spcAft>
                <a:spcPts val="300"/>
              </a:spcAft>
            </a:pPr>
            <a:r>
              <a:rPr sz="1200" b="1" i="0">
                <a:solidFill>
                  <a:srgbClr val="102A4C"/>
                </a:solidFill>
                <a:latin typeface="Segoe UI"/>
              </a:rPr>
              <a:t>B · BEHAVIORAL VECTORS (5 × 1,536-d)</a:t>
            </a:r>
          </a:p>
        </p:txBody>
      </p:sp>
      <p:sp>
        <p:nvSpPr>
          <p:cNvPr id="10" name="TextBox 9"/>
          <p:cNvSpPr txBox="1"/>
          <p:nvPr/>
        </p:nvSpPr>
        <p:spPr>
          <a:xfrm>
            <a:off x="4462272" y="1874519"/>
            <a:ext cx="3328416" cy="3822191"/>
          </a:xfrm>
          <a:prstGeom prst="rect">
            <a:avLst/>
          </a:prstGeom>
          <a:noFill/>
        </p:spPr>
        <p:txBody>
          <a:bodyPr wrap="square" lIns="38100" tIns="25400" rIns="38100" bIns="25400" anchor="t">
            <a:spAutoFit/>
          </a:bodyPr>
          <a:lstStyle/>
          <a:p>
            <a:pPr algn="l">
              <a:spcAft>
                <a:spcPts val="400"/>
              </a:spcAft>
            </a:pPr>
            <a:r>
              <a:rPr sz="950" b="1" i="0">
                <a:solidFill>
                  <a:srgbClr val="1D2430"/>
                </a:solidFill>
                <a:latin typeface="Segoe UI"/>
              </a:rPr>
              <a:t>local_demand</a:t>
            </a:r>
            <a:r>
              <a:rPr sz="900" b="0" i="0">
                <a:solidFill>
                  <a:srgbClr val="5E6A75"/>
                </a:solidFill>
                <a:latin typeface="Segoe UI"/>
              </a:rPr>
              <a:t> — weekly qty, trend, active wks, CV</a:t>
            </a:r>
          </a:p>
          <a:p>
            <a:pPr algn="l">
              <a:spcAft>
                <a:spcPts val="400"/>
              </a:spcAft>
            </a:pPr>
            <a:r>
              <a:rPr sz="950" b="1" i="0">
                <a:solidFill>
                  <a:srgbClr val="1D2430"/>
                </a:solidFill>
                <a:latin typeface="Segoe UI"/>
              </a:rPr>
              <a:t>local_supply</a:t>
            </a:r>
            <a:r>
              <a:rPr sz="900" b="0" i="0">
                <a:solidFill>
                  <a:srgbClr val="5E6A75"/>
                </a:solidFill>
                <a:latin typeface="Segoe UI"/>
              </a:rPr>
              <a:t> — supplier count, HHI, sole-source, delay</a:t>
            </a:r>
          </a:p>
          <a:p>
            <a:pPr algn="l">
              <a:spcAft>
                <a:spcPts val="400"/>
              </a:spcAft>
            </a:pPr>
            <a:r>
              <a:rPr sz="950" b="1" i="0">
                <a:solidFill>
                  <a:srgbClr val="1D2430"/>
                </a:solidFill>
                <a:latin typeface="Segoe UI"/>
              </a:rPr>
              <a:t>local_inventory</a:t>
            </a:r>
            <a:r>
              <a:rPr sz="900" b="0" i="0">
                <a:solidFill>
                  <a:srgbClr val="5E6A75"/>
                </a:solidFill>
                <a:latin typeface="Segoe UI"/>
              </a:rPr>
              <a:t> — on-hand mean, trend, safety-stock ratio</a:t>
            </a:r>
          </a:p>
          <a:p>
            <a:pPr algn="l">
              <a:spcAft>
                <a:spcPts val="400"/>
              </a:spcAft>
            </a:pPr>
            <a:r>
              <a:rPr sz="950" b="1" i="0">
                <a:solidFill>
                  <a:srgbClr val="1D2430"/>
                </a:solidFill>
                <a:latin typeface="Segoe UI"/>
              </a:rPr>
              <a:t>local_volatility</a:t>
            </a:r>
            <a:r>
              <a:rPr sz="900" b="0" i="0">
                <a:solidFill>
                  <a:srgbClr val="5E6A75"/>
                </a:solidFill>
                <a:latin typeface="Segoe UI"/>
              </a:rPr>
              <a:t> — zero-demand %, ADI, intermittency, CV</a:t>
            </a:r>
          </a:p>
          <a:p>
            <a:pPr algn="l">
              <a:spcAft>
                <a:spcPts val="400"/>
              </a:spcAft>
            </a:pPr>
            <a:r>
              <a:rPr sz="950" b="1" i="0">
                <a:solidFill>
                  <a:srgbClr val="1D2430"/>
                </a:solidFill>
                <a:latin typeface="Segoe UI"/>
              </a:rPr>
              <a:t>local_context</a:t>
            </a:r>
            <a:r>
              <a:rPr sz="900" b="0" i="0">
                <a:solidFill>
                  <a:srgbClr val="5E6A75"/>
                </a:solidFill>
                <a:latin typeface="Segoe UI"/>
              </a:rPr>
              <a:t> — criticality, on-time rate, stock ratio</a:t>
            </a:r>
          </a:p>
          <a:p>
            <a:pPr algn="l">
              <a:spcAft>
                <a:spcPts val="400"/>
              </a:spcAft>
            </a:pPr>
            <a:endParaRPr sz="900" b="0" i="0">
              <a:solidFill>
                <a:srgbClr val="5E6A75"/>
              </a:solidFill>
              <a:latin typeface="Segoe UI"/>
            </a:endParaRPr>
          </a:p>
          <a:p>
            <a:pPr algn="l">
              <a:spcAft>
                <a:spcPts val="400"/>
              </a:spcAft>
            </a:pPr>
            <a:r>
              <a:rPr sz="900" b="0" i="0">
                <a:solidFill>
                  <a:srgbClr val="1D2430"/>
                </a:solidFill>
                <a:latin typeface="Segoe UI"/>
              </a:rPr>
              <a:t>Each signal → OpenAI text-embedding-3 → 1,536 floats.</a:t>
            </a:r>
          </a:p>
          <a:p>
            <a:pPr algn="l">
              <a:spcAft>
                <a:spcPts val="400"/>
              </a:spcAft>
            </a:pPr>
            <a:r>
              <a:rPr sz="900" b="0" i="0">
                <a:solidFill>
                  <a:srgbClr val="5E6A75"/>
                </a:solidFill>
                <a:latin typeface="Segoe UI"/>
              </a:rPr>
              <a:t>5 × 1,536 = 7,680 / snapshot · 16–23 snapshots ≈ 140,000 dims</a:t>
            </a:r>
          </a:p>
          <a:p>
            <a:pPr algn="l">
              <a:spcAft>
                <a:spcPts val="400"/>
              </a:spcAft>
            </a:pPr>
            <a:r>
              <a:rPr sz="900" b="0" i="0">
                <a:solidFill>
                  <a:srgbClr val="118484"/>
                </a:solidFill>
                <a:latin typeface="Segoe UI"/>
              </a:rPr>
              <a:t>→ 42 scalars: 23 zone (5 zones × [centroid_dist, isolation, PC1, PC2] + 3 cross-zone) + 13 signal + 6 cohort</a:t>
            </a:r>
          </a:p>
        </p:txBody>
      </p:sp>
      <p:sp>
        <p:nvSpPr>
          <p:cNvPr id="11" name="Rounded Rectangle 10"/>
          <p:cNvSpPr/>
          <p:nvPr/>
        </p:nvSpPr>
        <p:spPr>
          <a:xfrm>
            <a:off x="8138160" y="1417320"/>
            <a:ext cx="3593592" cy="4389120"/>
          </a:xfrm>
          <a:prstGeom prst="round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302752" y="1527048"/>
            <a:ext cx="3264408" cy="274320"/>
          </a:xfrm>
          <a:prstGeom prst="rect">
            <a:avLst/>
          </a:prstGeom>
          <a:noFill/>
        </p:spPr>
        <p:txBody>
          <a:bodyPr wrap="square" lIns="38100" tIns="25400" rIns="38100" bIns="25400" anchor="t">
            <a:spAutoFit/>
          </a:bodyPr>
          <a:lstStyle/>
          <a:p>
            <a:pPr algn="l">
              <a:spcAft>
                <a:spcPts val="300"/>
              </a:spcAft>
            </a:pPr>
            <a:r>
              <a:rPr sz="1200" b="1" i="0">
                <a:solidFill>
                  <a:srgbClr val="102A4C"/>
                </a:solidFill>
                <a:latin typeface="Segoe UI"/>
              </a:rPr>
              <a:t>C · DRIFT DETECTION</a:t>
            </a:r>
          </a:p>
        </p:txBody>
      </p:sp>
      <p:sp>
        <p:nvSpPr>
          <p:cNvPr id="13" name="TextBox 12"/>
          <p:cNvSpPr txBox="1"/>
          <p:nvPr/>
        </p:nvSpPr>
        <p:spPr>
          <a:xfrm>
            <a:off x="8302752" y="1874519"/>
            <a:ext cx="3264408" cy="3822191"/>
          </a:xfrm>
          <a:prstGeom prst="rect">
            <a:avLst/>
          </a:prstGeom>
          <a:noFill/>
        </p:spPr>
        <p:txBody>
          <a:bodyPr wrap="square" lIns="38100" tIns="25400" rIns="38100" bIns="25400" anchor="t">
            <a:spAutoFit/>
          </a:bodyPr>
          <a:lstStyle/>
          <a:p>
            <a:pPr algn="l">
              <a:spcAft>
                <a:spcPts val="400"/>
              </a:spcAft>
            </a:pPr>
            <a:r>
              <a:rPr sz="950" b="1" i="0">
                <a:solidFill>
                  <a:srgbClr val="1D2430"/>
                </a:solidFill>
                <a:latin typeface="Segoe UI"/>
              </a:rPr>
              <a:t>velocity</a:t>
            </a:r>
            <a:r>
              <a:rPr sz="900" b="0" i="0">
                <a:solidFill>
                  <a:srgbClr val="5E6A75"/>
                </a:solidFill>
                <a:latin typeface="Segoe UI"/>
              </a:rPr>
              <a:t> — Euclidean distance of latest monthly step</a:t>
            </a:r>
          </a:p>
          <a:p>
            <a:pPr algn="l">
              <a:spcAft>
                <a:spcPts val="400"/>
              </a:spcAft>
            </a:pPr>
            <a:r>
              <a:rPr sz="950" b="1" i="0">
                <a:solidFill>
                  <a:srgbClr val="1D2430"/>
                </a:solidFill>
                <a:latin typeface="Segoe UI"/>
              </a:rPr>
              <a:t>mean_step</a:t>
            </a:r>
            <a:r>
              <a:rPr sz="900" b="0" i="0">
                <a:solidFill>
                  <a:srgbClr val="5E6A75"/>
                </a:solidFill>
                <a:latin typeface="Segoe UI"/>
              </a:rPr>
              <a:t> — avg Euclidean distance across pairs</a:t>
            </a:r>
          </a:p>
          <a:p>
            <a:pPr algn="l">
              <a:spcAft>
                <a:spcPts val="400"/>
              </a:spcAft>
            </a:pPr>
            <a:r>
              <a:rPr sz="950" b="1" i="0">
                <a:solidFill>
                  <a:srgbClr val="1D2430"/>
                </a:solidFill>
                <a:latin typeface="Segoe UI"/>
              </a:rPr>
              <a:t>consistency</a:t>
            </a:r>
            <a:r>
              <a:rPr sz="900" b="0" i="0">
                <a:solidFill>
                  <a:srgbClr val="5E6A75"/>
                </a:solidFill>
                <a:latin typeface="Segoe UI"/>
              </a:rPr>
              <a:t> — steady (1) vs zigzag (0)</a:t>
            </a:r>
          </a:p>
          <a:p>
            <a:pPr algn="l">
              <a:spcAft>
                <a:spcPts val="400"/>
              </a:spcAft>
            </a:pPr>
            <a:r>
              <a:rPr sz="950" b="1" i="0">
                <a:solidFill>
                  <a:srgbClr val="1D2430"/>
                </a:solidFill>
                <a:latin typeface="Segoe UI"/>
              </a:rPr>
              <a:t>drift strength</a:t>
            </a:r>
            <a:r>
              <a:rPr sz="900" b="0" i="0">
                <a:solidFill>
                  <a:srgbClr val="5E6A75"/>
                </a:solidFill>
                <a:latin typeface="Segoe UI"/>
              </a:rPr>
              <a:t> — tanh(velocity/mean_step)</a:t>
            </a:r>
          </a:p>
          <a:p>
            <a:pPr algn="l">
              <a:spcAft>
                <a:spcPts val="400"/>
              </a:spcAft>
            </a:pPr>
            <a:endParaRPr sz="900" b="0" i="0">
              <a:solidFill>
                <a:srgbClr val="5E6A75"/>
              </a:solidFill>
              <a:latin typeface="Segoe UI"/>
            </a:endParaRPr>
          </a:p>
          <a:p>
            <a:pPr algn="l">
              <a:spcAft>
                <a:spcPts val="400"/>
              </a:spcAft>
            </a:pPr>
            <a:r>
              <a:rPr sz="950" b="1" i="0">
                <a:solidFill>
                  <a:srgbClr val="B4262C"/>
                </a:solidFill>
                <a:latin typeface="Segoe UI"/>
              </a:rPr>
              <a:t>8 SCM concepts (dir · band):</a:t>
            </a:r>
          </a:p>
          <a:p>
            <a:pPr algn="l">
              <a:spcAft>
                <a:spcPts val="400"/>
              </a:spcAft>
            </a:pPr>
            <a:r>
              <a:rPr sz="900" b="0" i="0">
                <a:solidFill>
                  <a:srgbClr val="5E6A75"/>
                </a:solidFill>
                <a:latin typeface="Segoe UI"/>
              </a:rPr>
              <a:t>demand_surge +UP 1.2× · supply_disruption +UP 1.4×</a:t>
            </a:r>
          </a:p>
          <a:p>
            <a:pPr algn="l">
              <a:spcAft>
                <a:spcPts val="400"/>
              </a:spcAft>
            </a:pPr>
            <a:r>
              <a:rPr sz="900" b="0" i="0">
                <a:solidFill>
                  <a:srgbClr val="5E6A75"/>
                </a:solidFill>
                <a:latin typeface="Segoe UI"/>
              </a:rPr>
              <a:t>critical_shortage +UP 1.5× · demand_decline −DOWN 0.9×</a:t>
            </a:r>
          </a:p>
          <a:p>
            <a:pPr algn="l">
              <a:spcAft>
                <a:spcPts val="400"/>
              </a:spcAft>
            </a:pPr>
            <a:r>
              <a:rPr sz="900" b="0" i="0">
                <a:solidFill>
                  <a:srgbClr val="5E6A75"/>
                </a:solidFill>
                <a:latin typeface="Segoe UI"/>
              </a:rPr>
              <a:t>excess_inventory −DOWN 0.85× · stable 0.85×</a:t>
            </a:r>
          </a:p>
          <a:p>
            <a:pPr algn="l">
              <a:spcAft>
                <a:spcPts val="400"/>
              </a:spcAft>
            </a:pPr>
            <a:r>
              <a:rPr sz="900" b="0" i="0">
                <a:solidFill>
                  <a:srgbClr val="5E6A75"/>
                </a:solidFill>
                <a:latin typeface="Segoe UI"/>
              </a:rPr>
              <a:t>intermittent 1.5× · volatility 1.6×</a:t>
            </a:r>
          </a:p>
        </p:txBody>
      </p:sp>
      <p:sp>
        <p:nvSpPr>
          <p:cNvPr id="15" name="TextBox 14"/>
          <p:cNvSpPr txBox="1"/>
          <p:nvPr/>
        </p:nvSpPr>
        <p:spPr>
          <a:xfrm>
            <a:off x="11274552" y="6455664"/>
            <a:ext cx="457200" cy="182101"/>
          </a:xfrm>
          <a:prstGeom prst="rect">
            <a:avLst/>
          </a:prstGeom>
          <a:noFill/>
        </p:spPr>
        <p:txBody>
          <a:bodyPr wrap="square" lIns="38100" tIns="25400" rIns="38100" bIns="25400" anchor="t">
            <a:spAutoFit/>
          </a:bodyPr>
          <a:lstStyle/>
          <a:p>
            <a:pPr algn="r">
              <a:spcAft>
                <a:spcPts val="300"/>
              </a:spcAft>
            </a:pPr>
            <a:r>
              <a:rPr lang="en-US" sz="850" b="0" i="0" dirty="0">
                <a:solidFill>
                  <a:srgbClr val="646F7C"/>
                </a:solidFill>
                <a:latin typeface="Segoe UI"/>
              </a:rPr>
              <a:t>28</a:t>
            </a:r>
            <a:endParaRPr sz="1000" b="0" i="0" dirty="0">
              <a:solidFill>
                <a:srgbClr val="5E6A75"/>
              </a:solidFill>
              <a:latin typeface="Segoe UI"/>
            </a:endParaRPr>
          </a:p>
        </p:txBody>
      </p:sp>
      <p:sp>
        <p:nvSpPr>
          <p:cNvPr id="17" name="Rectangle 16">
            <a:extLst>
              <a:ext uri="{FF2B5EF4-FFF2-40B4-BE49-F238E27FC236}">
                <a16:creationId xmlns:a16="http://schemas.microsoft.com/office/drawing/2014/main" id="{2B152165-830E-2A07-D1AD-144C9F0C798C}"/>
              </a:ext>
            </a:extLst>
          </p:cNvPr>
          <p:cNvSpPr/>
          <p:nvPr/>
        </p:nvSpPr>
        <p:spPr>
          <a:xfrm>
            <a:off x="0" y="0"/>
            <a:ext cx="12191695" cy="146304"/>
          </a:xfrm>
          <a:prstGeom prst="rect">
            <a:avLst/>
          </a:prstGeom>
          <a:solidFill>
            <a:srgbClr val="0021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a:extLst>
              <a:ext uri="{FF2B5EF4-FFF2-40B4-BE49-F238E27FC236}">
                <a16:creationId xmlns:a16="http://schemas.microsoft.com/office/drawing/2014/main" id="{6A7243CA-3723-7F60-7754-0848AA89F094}"/>
              </a:ext>
            </a:extLst>
          </p:cNvPr>
          <p:cNvSpPr/>
          <p:nvPr/>
        </p:nvSpPr>
        <p:spPr>
          <a:xfrm>
            <a:off x="411480" y="6446520"/>
            <a:ext cx="11338560" cy="9144"/>
          </a:xfrm>
          <a:prstGeom prst="rect">
            <a:avLst/>
          </a:prstGeom>
          <a:solidFill>
            <a:srgbClr val="D2DA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 4">
            <a:extLst>
              <a:ext uri="{FF2B5EF4-FFF2-40B4-BE49-F238E27FC236}">
                <a16:creationId xmlns:a16="http://schemas.microsoft.com/office/drawing/2014/main" id="{E69B6443-2ADF-631E-DD97-CE86E0470D4A}"/>
              </a:ext>
            </a:extLst>
          </p:cNvPr>
          <p:cNvSpPr/>
          <p:nvPr/>
        </p:nvSpPr>
        <p:spPr>
          <a:xfrm>
            <a:off x="438912" y="6510528"/>
            <a:ext cx="80467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CONFIDENTIAL  |  22</a:t>
            </a:r>
            <a:r>
              <a:rPr kumimoji="0" lang="en-US" sz="800" b="0" i="0" u="none" strike="noStrike" kern="1200" cap="none" spc="0" normalizeH="0" baseline="30000" noProof="0" dirty="0">
                <a:ln>
                  <a:noFill/>
                </a:ln>
                <a:solidFill>
                  <a:srgbClr val="5B6470"/>
                </a:solidFill>
                <a:effectLst/>
                <a:uLnTx/>
                <a:uFillTx/>
                <a:latin typeface="Segoe UI"/>
                <a:ea typeface="Aptos" pitchFamily="34" charset="-122"/>
                <a:cs typeface="Aptos" pitchFamily="34" charset="-120"/>
              </a:rPr>
              <a:t>nd</a:t>
            </a: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 Century Technologies  |  DLA EDM Vector Intelligence</a:t>
            </a:r>
            <a:endParaRPr kumimoji="0" lang="en-US" sz="800" b="0" i="0" u="none" strike="noStrike" kern="1200" cap="none" spc="0" normalizeH="0" baseline="0" noProof="0" dirty="0">
              <a:ln>
                <a:noFill/>
              </a:ln>
              <a:solidFill>
                <a:prstClr val="black"/>
              </a:solidFill>
              <a:effectLst/>
              <a:uLnTx/>
              <a:uFillTx/>
              <a:ea typeface="+mn-ea"/>
              <a:cs typeface="+mn-cs"/>
            </a:endParaRPr>
          </a:p>
        </p:txBody>
      </p:sp>
      <p:sp>
        <p:nvSpPr>
          <p:cNvPr id="24" name="Rectangle 23">
            <a:extLst>
              <a:ext uri="{FF2B5EF4-FFF2-40B4-BE49-F238E27FC236}">
                <a16:creationId xmlns:a16="http://schemas.microsoft.com/office/drawing/2014/main" id="{6F7227C4-3217-0DC9-2A13-73DD6502B911}"/>
              </a:ext>
            </a:extLst>
          </p:cNvPr>
          <p:cNvSpPr/>
          <p:nvPr/>
        </p:nvSpPr>
        <p:spPr>
          <a:xfrm>
            <a:off x="502920" y="1120140"/>
            <a:ext cx="1106424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92608"/>
            <a:ext cx="10058400" cy="502920"/>
          </a:xfrm>
          <a:prstGeom prst="rect">
            <a:avLst/>
          </a:prstGeom>
          <a:noFill/>
        </p:spPr>
        <p:txBody>
          <a:bodyPr wrap="square" lIns="38100" tIns="25400" rIns="38100" bIns="25400" anchor="t">
            <a:spAutoFit/>
          </a:bodyPr>
          <a:lstStyle/>
          <a:p>
            <a:pPr algn="l">
              <a:spcAft>
                <a:spcPts val="300"/>
              </a:spcAft>
            </a:pPr>
            <a:r>
              <a:rPr sz="2300" b="1" i="0">
                <a:solidFill>
                  <a:srgbClr val="102A4C"/>
                </a:solidFill>
                <a:latin typeface="Segoe UI"/>
              </a:rPr>
              <a:t>Appendix — Behavioral drift pipeline &amp; entity signals</a:t>
            </a:r>
          </a:p>
        </p:txBody>
      </p:sp>
      <p:sp>
        <p:nvSpPr>
          <p:cNvPr id="4" name="TextBox 3"/>
          <p:cNvSpPr txBox="1"/>
          <p:nvPr/>
        </p:nvSpPr>
        <p:spPr>
          <a:xfrm>
            <a:off x="457200" y="868680"/>
            <a:ext cx="11274552" cy="365760"/>
          </a:xfrm>
          <a:prstGeom prst="rect">
            <a:avLst/>
          </a:prstGeom>
          <a:noFill/>
        </p:spPr>
        <p:txBody>
          <a:bodyPr wrap="square" lIns="38100" tIns="25400" rIns="38100" bIns="25400" anchor="t">
            <a:spAutoFit/>
          </a:bodyPr>
          <a:lstStyle/>
          <a:p>
            <a:pPr algn="l">
              <a:spcAft>
                <a:spcPts val="300"/>
              </a:spcAft>
            </a:pPr>
            <a:r>
              <a:rPr sz="1250" b="0" i="1">
                <a:solidFill>
                  <a:srgbClr val="1F5E9C"/>
                </a:solidFill>
                <a:latin typeface="Segoe UI"/>
              </a:rPr>
              <a:t>How the trajectory layer turns 16–23 monthly snapshots into a bounded, concept-aligned procurement adjustment.</a:t>
            </a:r>
          </a:p>
        </p:txBody>
      </p:sp>
      <p:sp>
        <p:nvSpPr>
          <p:cNvPr id="5" name="Rounded Rectangle 4"/>
          <p:cNvSpPr/>
          <p:nvPr/>
        </p:nvSpPr>
        <p:spPr>
          <a:xfrm>
            <a:off x="457200" y="1417320"/>
            <a:ext cx="2221992" cy="1783080"/>
          </a:xfrm>
          <a:prstGeom prst="roundRect">
            <a:avLst/>
          </a:prstGeom>
          <a:solidFill>
            <a:srgbClr val="ECF6F1"/>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21792" y="1527048"/>
            <a:ext cx="1892808" cy="274320"/>
          </a:xfrm>
          <a:prstGeom prst="rect">
            <a:avLst/>
          </a:prstGeom>
          <a:noFill/>
        </p:spPr>
        <p:txBody>
          <a:bodyPr wrap="square" lIns="38100" tIns="25400" rIns="38100" bIns="25400" anchor="t">
            <a:spAutoFit/>
          </a:bodyPr>
          <a:lstStyle/>
          <a:p>
            <a:pPr algn="l">
              <a:spcAft>
                <a:spcPts val="300"/>
              </a:spcAft>
            </a:pPr>
            <a:r>
              <a:rPr sz="1200" b="1" i="0">
                <a:solidFill>
                  <a:srgbClr val="118484"/>
                </a:solidFill>
                <a:latin typeface="Segoe UI"/>
              </a:rPr>
              <a:t>1 · EDM Baseline</a:t>
            </a:r>
          </a:p>
        </p:txBody>
      </p:sp>
      <p:sp>
        <p:nvSpPr>
          <p:cNvPr id="7" name="TextBox 6"/>
          <p:cNvSpPr txBox="1"/>
          <p:nvPr/>
        </p:nvSpPr>
        <p:spPr>
          <a:xfrm>
            <a:off x="621792" y="1874519"/>
            <a:ext cx="1892808" cy="1216152"/>
          </a:xfrm>
          <a:prstGeom prst="rect">
            <a:avLst/>
          </a:prstGeom>
          <a:noFill/>
        </p:spPr>
        <p:txBody>
          <a:bodyPr wrap="square" lIns="38100" tIns="25400" rIns="38100" bIns="25400" anchor="t">
            <a:spAutoFit/>
          </a:bodyPr>
          <a:lstStyle/>
          <a:p>
            <a:pPr algn="l">
              <a:spcAft>
                <a:spcPts val="400"/>
              </a:spcAft>
            </a:pPr>
            <a:r>
              <a:rPr sz="900" b="0" i="0">
                <a:solidFill>
                  <a:srgbClr val="1D2430"/>
                </a:solidFill>
                <a:latin typeface="Segoe UI"/>
              </a:rPr>
              <a:t>67-feature two-phase model → P10–P90 band + P(demand&gt;0)</a:t>
            </a:r>
          </a:p>
        </p:txBody>
      </p:sp>
      <p:sp>
        <p:nvSpPr>
          <p:cNvPr id="8" name="Rounded Rectangle 7"/>
          <p:cNvSpPr/>
          <p:nvPr/>
        </p:nvSpPr>
        <p:spPr>
          <a:xfrm>
            <a:off x="2724912" y="1417320"/>
            <a:ext cx="2221992" cy="1783080"/>
          </a:xfrm>
          <a:prstGeom prst="roundRect">
            <a:avLst/>
          </a:prstGeom>
          <a:solidFill>
            <a:srgbClr val="ECF6F1"/>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889504" y="1527048"/>
            <a:ext cx="1892808" cy="274320"/>
          </a:xfrm>
          <a:prstGeom prst="rect">
            <a:avLst/>
          </a:prstGeom>
          <a:noFill/>
        </p:spPr>
        <p:txBody>
          <a:bodyPr wrap="square" lIns="38100" tIns="25400" rIns="38100" bIns="25400" anchor="t">
            <a:spAutoFit/>
          </a:bodyPr>
          <a:lstStyle/>
          <a:p>
            <a:pPr algn="l">
              <a:spcAft>
                <a:spcPts val="300"/>
              </a:spcAft>
            </a:pPr>
            <a:r>
              <a:rPr sz="1200" b="1" i="0">
                <a:solidFill>
                  <a:srgbClr val="118484"/>
                </a:solidFill>
                <a:latin typeface="Segoe UI"/>
              </a:rPr>
              <a:t>2 · Load Snapshots</a:t>
            </a:r>
          </a:p>
        </p:txBody>
      </p:sp>
      <p:sp>
        <p:nvSpPr>
          <p:cNvPr id="10" name="TextBox 9"/>
          <p:cNvSpPr txBox="1"/>
          <p:nvPr/>
        </p:nvSpPr>
        <p:spPr>
          <a:xfrm>
            <a:off x="2889504" y="1874519"/>
            <a:ext cx="1892808" cy="1216152"/>
          </a:xfrm>
          <a:prstGeom prst="rect">
            <a:avLst/>
          </a:prstGeom>
          <a:noFill/>
        </p:spPr>
        <p:txBody>
          <a:bodyPr wrap="square" lIns="38100" tIns="25400" rIns="38100" bIns="25400" anchor="t">
            <a:spAutoFit/>
          </a:bodyPr>
          <a:lstStyle/>
          <a:p>
            <a:pPr algn="l">
              <a:spcAft>
                <a:spcPts val="400"/>
              </a:spcAft>
            </a:pPr>
            <a:r>
              <a:rPr sz="900" b="0" i="0">
                <a:solidFill>
                  <a:srgbClr val="1D2430"/>
                </a:solidFill>
                <a:latin typeface="Segoe UI"/>
              </a:rPr>
              <a:t>16–23 monthly twin snapshots · 5 signals × 1,536-d → trajectory</a:t>
            </a:r>
          </a:p>
        </p:txBody>
      </p:sp>
      <p:sp>
        <p:nvSpPr>
          <p:cNvPr id="11" name="Rounded Rectangle 10"/>
          <p:cNvSpPr/>
          <p:nvPr/>
        </p:nvSpPr>
        <p:spPr>
          <a:xfrm>
            <a:off x="4992624" y="1417320"/>
            <a:ext cx="2221992" cy="1783080"/>
          </a:xfrm>
          <a:prstGeom prst="roundRect">
            <a:avLst/>
          </a:prstGeom>
          <a:solidFill>
            <a:srgbClr val="ECF6F1"/>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157216" y="1527048"/>
            <a:ext cx="1892808" cy="274320"/>
          </a:xfrm>
          <a:prstGeom prst="rect">
            <a:avLst/>
          </a:prstGeom>
          <a:noFill/>
        </p:spPr>
        <p:txBody>
          <a:bodyPr wrap="square" lIns="38100" tIns="25400" rIns="38100" bIns="25400" anchor="t">
            <a:spAutoFit/>
          </a:bodyPr>
          <a:lstStyle/>
          <a:p>
            <a:pPr algn="l">
              <a:spcAft>
                <a:spcPts val="300"/>
              </a:spcAft>
            </a:pPr>
            <a:r>
              <a:rPr sz="1200" b="1" i="0">
                <a:solidFill>
                  <a:srgbClr val="118484"/>
                </a:solidFill>
                <a:latin typeface="Segoe UI"/>
              </a:rPr>
              <a:t>3 · Drift Trajectory</a:t>
            </a:r>
          </a:p>
        </p:txBody>
      </p:sp>
      <p:sp>
        <p:nvSpPr>
          <p:cNvPr id="13" name="TextBox 12"/>
          <p:cNvSpPr txBox="1"/>
          <p:nvPr/>
        </p:nvSpPr>
        <p:spPr>
          <a:xfrm>
            <a:off x="5157216" y="1874519"/>
            <a:ext cx="1892808" cy="1216152"/>
          </a:xfrm>
          <a:prstGeom prst="rect">
            <a:avLst/>
          </a:prstGeom>
          <a:noFill/>
        </p:spPr>
        <p:txBody>
          <a:bodyPr wrap="square" lIns="38100" tIns="25400" rIns="38100" bIns="25400" anchor="t">
            <a:spAutoFit/>
          </a:bodyPr>
          <a:lstStyle/>
          <a:p>
            <a:pPr algn="l">
              <a:spcAft>
                <a:spcPts val="400"/>
              </a:spcAft>
            </a:pPr>
            <a:r>
              <a:rPr sz="900" b="0" i="0">
                <a:solidFill>
                  <a:srgbClr val="1D2430"/>
                </a:solidFill>
                <a:latin typeface="Segoe UI"/>
              </a:rPr>
              <a:t>Euclidean distance between snapshots → velocity, mean_step, drift strength (0–1)(v/ms), consistency</a:t>
            </a:r>
          </a:p>
        </p:txBody>
      </p:sp>
      <p:sp>
        <p:nvSpPr>
          <p:cNvPr id="14" name="Rounded Rectangle 13"/>
          <p:cNvSpPr/>
          <p:nvPr/>
        </p:nvSpPr>
        <p:spPr>
          <a:xfrm>
            <a:off x="7260336" y="1417320"/>
            <a:ext cx="2221992" cy="1783080"/>
          </a:xfrm>
          <a:prstGeom prst="roundRect">
            <a:avLst/>
          </a:prstGeom>
          <a:solidFill>
            <a:srgbClr val="ECF6F1"/>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24927" y="1527048"/>
            <a:ext cx="1892808" cy="274320"/>
          </a:xfrm>
          <a:prstGeom prst="rect">
            <a:avLst/>
          </a:prstGeom>
          <a:noFill/>
        </p:spPr>
        <p:txBody>
          <a:bodyPr wrap="square" lIns="38100" tIns="25400" rIns="38100" bIns="25400" anchor="t">
            <a:spAutoFit/>
          </a:bodyPr>
          <a:lstStyle/>
          <a:p>
            <a:pPr algn="l">
              <a:spcAft>
                <a:spcPts val="300"/>
              </a:spcAft>
            </a:pPr>
            <a:r>
              <a:rPr sz="1200" b="1" i="0">
                <a:solidFill>
                  <a:srgbClr val="118484"/>
                </a:solidFill>
                <a:latin typeface="Segoe UI"/>
              </a:rPr>
              <a:t>4 · Concept Alignment</a:t>
            </a:r>
          </a:p>
        </p:txBody>
      </p:sp>
      <p:sp>
        <p:nvSpPr>
          <p:cNvPr id="16" name="TextBox 15"/>
          <p:cNvSpPr txBox="1"/>
          <p:nvPr/>
        </p:nvSpPr>
        <p:spPr>
          <a:xfrm>
            <a:off x="7424927" y="1874519"/>
            <a:ext cx="1892808" cy="1216152"/>
          </a:xfrm>
          <a:prstGeom prst="rect">
            <a:avLst/>
          </a:prstGeom>
          <a:noFill/>
        </p:spPr>
        <p:txBody>
          <a:bodyPr wrap="square" lIns="38100" tIns="25400" rIns="38100" bIns="25400" anchor="t">
            <a:spAutoFit/>
          </a:bodyPr>
          <a:lstStyle/>
          <a:p>
            <a:pPr algn="l">
              <a:spcAft>
                <a:spcPts val="400"/>
              </a:spcAft>
            </a:pPr>
            <a:r>
              <a:rPr sz="900" b="0" i="0">
                <a:solidFill>
                  <a:srgbClr val="1D2430"/>
                </a:solidFill>
                <a:latin typeface="Segoe UI"/>
              </a:rPr>
              <a:t>cosine(drift, 8 SCM concepts) → top concept + alignment + direction + band-widen</a:t>
            </a:r>
          </a:p>
        </p:txBody>
      </p:sp>
      <p:sp>
        <p:nvSpPr>
          <p:cNvPr id="17" name="Rounded Rectangle 16"/>
          <p:cNvSpPr/>
          <p:nvPr/>
        </p:nvSpPr>
        <p:spPr>
          <a:xfrm>
            <a:off x="9528048" y="1417320"/>
            <a:ext cx="2221992" cy="1783080"/>
          </a:xfrm>
          <a:prstGeom prst="roundRect">
            <a:avLst/>
          </a:prstGeom>
          <a:solidFill>
            <a:srgbClr val="ECF6F1"/>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692640" y="1527048"/>
            <a:ext cx="1892808" cy="274320"/>
          </a:xfrm>
          <a:prstGeom prst="rect">
            <a:avLst/>
          </a:prstGeom>
          <a:noFill/>
        </p:spPr>
        <p:txBody>
          <a:bodyPr wrap="square" lIns="38100" tIns="25400" rIns="38100" bIns="25400" anchor="t">
            <a:spAutoFit/>
          </a:bodyPr>
          <a:lstStyle/>
          <a:p>
            <a:pPr algn="l">
              <a:spcAft>
                <a:spcPts val="300"/>
              </a:spcAft>
            </a:pPr>
            <a:r>
              <a:rPr sz="1200" b="1" i="0">
                <a:solidFill>
                  <a:srgbClr val="118484"/>
                </a:solidFill>
                <a:latin typeface="Segoe UI"/>
              </a:rPr>
              <a:t>5 · Alpha + MC</a:t>
            </a:r>
          </a:p>
        </p:txBody>
      </p:sp>
      <p:sp>
        <p:nvSpPr>
          <p:cNvPr id="19" name="TextBox 18"/>
          <p:cNvSpPr txBox="1"/>
          <p:nvPr/>
        </p:nvSpPr>
        <p:spPr>
          <a:xfrm>
            <a:off x="9692640" y="1874519"/>
            <a:ext cx="1892808" cy="1216152"/>
          </a:xfrm>
          <a:prstGeom prst="rect">
            <a:avLst/>
          </a:prstGeom>
          <a:noFill/>
        </p:spPr>
        <p:txBody>
          <a:bodyPr wrap="square" lIns="38100" tIns="25400" rIns="38100" bIns="25400" anchor="t">
            <a:spAutoFit/>
          </a:bodyPr>
          <a:lstStyle/>
          <a:p>
            <a:pPr algn="l">
              <a:spcAft>
                <a:spcPts val="400"/>
              </a:spcAft>
            </a:pPr>
            <a:r>
              <a:rPr sz="900" b="0" i="0">
                <a:solidFill>
                  <a:srgbClr val="1D2430"/>
                </a:solidFill>
                <a:latin typeface="Segoe UI"/>
              </a:rPr>
              <a:t>α = dir × align × drift strength (±30%; ×0.7 if erratic) → adjust bands → 5,000 AR(1) MC</a:t>
            </a:r>
          </a:p>
        </p:txBody>
      </p:sp>
      <p:sp>
        <p:nvSpPr>
          <p:cNvPr id="20" name="TextBox 19"/>
          <p:cNvSpPr txBox="1"/>
          <p:nvPr/>
        </p:nvSpPr>
        <p:spPr>
          <a:xfrm>
            <a:off x="457200" y="3337560"/>
            <a:ext cx="11274552" cy="365760"/>
          </a:xfrm>
          <a:prstGeom prst="rect">
            <a:avLst/>
          </a:prstGeom>
          <a:noFill/>
        </p:spPr>
        <p:txBody>
          <a:bodyPr wrap="square" lIns="38100" tIns="25400" rIns="38100" bIns="25400" anchor="t">
            <a:spAutoFit/>
          </a:bodyPr>
          <a:lstStyle/>
          <a:p>
            <a:pPr algn="l">
              <a:spcAft>
                <a:spcPts val="300"/>
              </a:spcAft>
            </a:pPr>
            <a:r>
              <a:rPr sz="1100" b="1" i="0">
                <a:solidFill>
                  <a:srgbClr val="102A4C"/>
                </a:solidFill>
                <a:latin typeface="Segoe UI"/>
              </a:rPr>
              <a:t>Formula:  </a:t>
            </a:r>
            <a:r>
              <a:rPr sz="1050" b="0" i="0">
                <a:solidFill>
                  <a:srgbClr val="1D2430"/>
                </a:solidFill>
                <a:latin typeface="Segoe UI"/>
              </a:rPr>
              <a:t>alpha = direction × alignment × drift strength, capped ±0.30.  |alignment| &lt; 0.03 → α = 0.  consistency &lt; 0.2 → α × 0.7  (safety gates).</a:t>
            </a:r>
          </a:p>
        </p:txBody>
      </p:sp>
      <p:sp>
        <p:nvSpPr>
          <p:cNvPr id="21" name="Rounded Rectangle 20"/>
          <p:cNvSpPr/>
          <p:nvPr/>
        </p:nvSpPr>
        <p:spPr>
          <a:xfrm>
            <a:off x="457200" y="3886200"/>
            <a:ext cx="5532120" cy="2286000"/>
          </a:xfrm>
          <a:prstGeom prst="round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1792" y="3995928"/>
            <a:ext cx="5202936" cy="274320"/>
          </a:xfrm>
          <a:prstGeom prst="rect">
            <a:avLst/>
          </a:prstGeom>
          <a:noFill/>
        </p:spPr>
        <p:txBody>
          <a:bodyPr wrap="square" lIns="38100" tIns="25400" rIns="38100" bIns="25400" anchor="t">
            <a:spAutoFit/>
          </a:bodyPr>
          <a:lstStyle/>
          <a:p>
            <a:pPr algn="l">
              <a:spcAft>
                <a:spcPts val="300"/>
              </a:spcAft>
            </a:pPr>
            <a:r>
              <a:rPr sz="1200" b="1" i="0">
                <a:solidFill>
                  <a:srgbClr val="102A4C"/>
                </a:solidFill>
                <a:latin typeface="Segoe UI"/>
              </a:rPr>
              <a:t>Temporal trajectory signals (Group 3)</a:t>
            </a:r>
          </a:p>
        </p:txBody>
      </p:sp>
      <p:sp>
        <p:nvSpPr>
          <p:cNvPr id="23" name="TextBox 22"/>
          <p:cNvSpPr txBox="1"/>
          <p:nvPr/>
        </p:nvSpPr>
        <p:spPr>
          <a:xfrm>
            <a:off x="621792" y="4343400"/>
            <a:ext cx="5202936" cy="1719072"/>
          </a:xfrm>
          <a:prstGeom prst="rect">
            <a:avLst/>
          </a:prstGeom>
          <a:noFill/>
        </p:spPr>
        <p:txBody>
          <a:bodyPr wrap="square" lIns="38100" tIns="25400" rIns="38100" bIns="25400" anchor="t">
            <a:spAutoFit/>
          </a:bodyPr>
          <a:lstStyle/>
          <a:p>
            <a:pPr algn="l">
              <a:spcAft>
                <a:spcPts val="400"/>
              </a:spcAft>
            </a:pPr>
            <a:r>
              <a:rPr sz="950" b="1" i="0">
                <a:solidFill>
                  <a:srgbClr val="1D2430"/>
                </a:solidFill>
                <a:latin typeface="Segoe UI"/>
              </a:rPr>
              <a:t>trajectory_velocity</a:t>
            </a:r>
            <a:r>
              <a:rPr sz="900" b="0" i="0">
                <a:solidFill>
                  <a:srgbClr val="5E6A75"/>
                </a:solidFill>
                <a:latin typeface="Segoe UI"/>
              </a:rPr>
              <a:t> — how fast behavior is changing now</a:t>
            </a:r>
          </a:p>
          <a:p>
            <a:pPr algn="l">
              <a:spcAft>
                <a:spcPts val="400"/>
              </a:spcAft>
            </a:pPr>
            <a:r>
              <a:rPr sz="950" b="1" i="0">
                <a:solidFill>
                  <a:srgbClr val="1D2430"/>
                </a:solidFill>
                <a:latin typeface="Segoe UI"/>
              </a:rPr>
              <a:t>trajectory_stability</a:t>
            </a:r>
            <a:r>
              <a:rPr sz="900" b="0" i="0">
                <a:solidFill>
                  <a:srgbClr val="5E6A75"/>
                </a:solidFill>
                <a:latin typeface="Segoe UI"/>
              </a:rPr>
              <a:t> — is the drift one-directional (trend) vs noise</a:t>
            </a:r>
          </a:p>
          <a:p>
            <a:pPr algn="l">
              <a:spcAft>
                <a:spcPts val="400"/>
              </a:spcAft>
            </a:pPr>
            <a:r>
              <a:rPr sz="950" b="1" i="0">
                <a:solidFill>
                  <a:srgbClr val="1D2430"/>
                </a:solidFill>
                <a:latin typeface="Segoe UI"/>
              </a:rPr>
              <a:t>trajectory_drift</a:t>
            </a:r>
            <a:r>
              <a:rPr sz="900" b="0" i="0">
                <a:solidFill>
                  <a:srgbClr val="5E6A75"/>
                </a:solidFill>
                <a:latin typeface="Segoe UI"/>
              </a:rPr>
              <a:t> — total distance traveled in behavior space</a:t>
            </a:r>
          </a:p>
          <a:p>
            <a:pPr algn="l">
              <a:spcAft>
                <a:spcPts val="400"/>
              </a:spcAft>
            </a:pPr>
            <a:r>
              <a:rPr sz="950" b="1" i="0">
                <a:solidFill>
                  <a:srgbClr val="1D2430"/>
                </a:solidFill>
                <a:latin typeface="Segoe UI"/>
              </a:rPr>
              <a:t>regime_shift</a:t>
            </a:r>
            <a:r>
              <a:rPr sz="900" b="0" i="0">
                <a:solidFill>
                  <a:srgbClr val="5E6A75"/>
                </a:solidFill>
                <a:latin typeface="Segoe UI"/>
              </a:rPr>
              <a:t> — did behavior fundamentally change (1/0)</a:t>
            </a:r>
          </a:p>
        </p:txBody>
      </p:sp>
      <p:sp>
        <p:nvSpPr>
          <p:cNvPr id="24" name="Rounded Rectangle 23"/>
          <p:cNvSpPr/>
          <p:nvPr/>
        </p:nvSpPr>
        <p:spPr>
          <a:xfrm>
            <a:off x="6172200" y="3886200"/>
            <a:ext cx="5559552" cy="2286000"/>
          </a:xfrm>
          <a:prstGeom prst="round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336792" y="3995928"/>
            <a:ext cx="5230368" cy="274320"/>
          </a:xfrm>
          <a:prstGeom prst="rect">
            <a:avLst/>
          </a:prstGeom>
          <a:noFill/>
        </p:spPr>
        <p:txBody>
          <a:bodyPr wrap="square" lIns="38100" tIns="25400" rIns="38100" bIns="25400" anchor="t">
            <a:spAutoFit/>
          </a:bodyPr>
          <a:lstStyle/>
          <a:p>
            <a:pPr algn="l">
              <a:spcAft>
                <a:spcPts val="300"/>
              </a:spcAft>
            </a:pPr>
            <a:r>
              <a:rPr sz="1200" b="1" i="0">
                <a:solidFill>
                  <a:srgbClr val="102A4C"/>
                </a:solidFill>
                <a:latin typeface="Segoe UI"/>
              </a:rPr>
              <a:t>Cross-embedding alignment (Group 4)</a:t>
            </a:r>
          </a:p>
        </p:txBody>
      </p:sp>
      <p:sp>
        <p:nvSpPr>
          <p:cNvPr id="26" name="TextBox 25"/>
          <p:cNvSpPr txBox="1"/>
          <p:nvPr/>
        </p:nvSpPr>
        <p:spPr>
          <a:xfrm>
            <a:off x="6336792" y="4343400"/>
            <a:ext cx="5230368" cy="1719072"/>
          </a:xfrm>
          <a:prstGeom prst="rect">
            <a:avLst/>
          </a:prstGeom>
          <a:noFill/>
        </p:spPr>
        <p:txBody>
          <a:bodyPr wrap="square" lIns="38100" tIns="25400" rIns="38100" bIns="25400" anchor="t">
            <a:spAutoFit/>
          </a:bodyPr>
          <a:lstStyle/>
          <a:p>
            <a:pPr algn="l">
              <a:spcAft>
                <a:spcPts val="400"/>
              </a:spcAft>
            </a:pPr>
            <a:r>
              <a:rPr sz="950" b="1" i="0">
                <a:solidFill>
                  <a:srgbClr val="1D2430"/>
                </a:solidFill>
                <a:latin typeface="Segoe UI"/>
              </a:rPr>
              <a:t>beh_graph_alignment</a:t>
            </a:r>
            <a:r>
              <a:rPr sz="900" b="0" i="0">
                <a:solidFill>
                  <a:srgbClr val="5E6A75"/>
                </a:solidFill>
                <a:latin typeface="Segoe UI"/>
              </a:rPr>
              <a:t> — do behavior &amp; supply-network position agree? conflict ⇒ more uncertainty</a:t>
            </a:r>
          </a:p>
          <a:p>
            <a:pPr algn="l">
              <a:spcAft>
                <a:spcPts val="400"/>
              </a:spcAft>
            </a:pPr>
            <a:r>
              <a:rPr sz="950" b="1" i="0">
                <a:solidFill>
                  <a:srgbClr val="1D2430"/>
                </a:solidFill>
                <a:latin typeface="Segoe UI"/>
              </a:rPr>
              <a:t>demand_graph_coupling</a:t>
            </a:r>
            <a:r>
              <a:rPr sz="900" b="0" i="0">
                <a:solidFill>
                  <a:srgbClr val="5E6A75"/>
                </a:solidFill>
                <a:latin typeface="Segoe UI"/>
              </a:rPr>
              <a:t> — is demand driven by network position (rerouting/new supplier) vs end-user need</a:t>
            </a:r>
          </a:p>
          <a:p>
            <a:pPr algn="l">
              <a:spcAft>
                <a:spcPts val="400"/>
              </a:spcAft>
            </a:pPr>
            <a:endParaRPr sz="900" b="0" i="0">
              <a:solidFill>
                <a:srgbClr val="5E6A75"/>
              </a:solidFill>
              <a:latin typeface="Segoe UI"/>
            </a:endParaRPr>
          </a:p>
          <a:p>
            <a:pPr algn="l">
              <a:spcAft>
                <a:spcPts val="400"/>
              </a:spcAft>
            </a:pPr>
            <a:r>
              <a:rPr sz="900" b="0" i="0">
                <a:solidFill>
                  <a:srgbClr val="5E6A75"/>
                </a:solidFill>
                <a:latin typeface="Segoe UI"/>
              </a:rPr>
              <a:t>(Plus 5 static-energy signals + 2 norms = the 13 entity signals.)</a:t>
            </a:r>
          </a:p>
        </p:txBody>
      </p:sp>
      <p:sp>
        <p:nvSpPr>
          <p:cNvPr id="28" name="TextBox 27"/>
          <p:cNvSpPr txBox="1"/>
          <p:nvPr/>
        </p:nvSpPr>
        <p:spPr>
          <a:xfrm>
            <a:off x="11274552" y="6455664"/>
            <a:ext cx="457200" cy="182101"/>
          </a:xfrm>
          <a:prstGeom prst="rect">
            <a:avLst/>
          </a:prstGeom>
          <a:noFill/>
        </p:spPr>
        <p:txBody>
          <a:bodyPr wrap="square" lIns="38100" tIns="25400" rIns="38100" bIns="25400" anchor="t">
            <a:spAutoFit/>
          </a:bodyPr>
          <a:lstStyle/>
          <a:p>
            <a:pPr algn="r">
              <a:spcAft>
                <a:spcPts val="300"/>
              </a:spcAft>
            </a:pPr>
            <a:r>
              <a:rPr lang="en-US" sz="850" b="0" i="0" dirty="0">
                <a:solidFill>
                  <a:srgbClr val="646F7C"/>
                </a:solidFill>
                <a:latin typeface="Segoe UI"/>
              </a:rPr>
              <a:t>29</a:t>
            </a:r>
            <a:endParaRPr sz="1000" b="0" i="0" dirty="0">
              <a:solidFill>
                <a:srgbClr val="5E6A75"/>
              </a:solidFill>
              <a:latin typeface="Segoe UI"/>
            </a:endParaRPr>
          </a:p>
        </p:txBody>
      </p:sp>
      <p:sp>
        <p:nvSpPr>
          <p:cNvPr id="30" name="Rectangle 29">
            <a:extLst>
              <a:ext uri="{FF2B5EF4-FFF2-40B4-BE49-F238E27FC236}">
                <a16:creationId xmlns:a16="http://schemas.microsoft.com/office/drawing/2014/main" id="{9FCD87BE-FD26-3CEA-4046-1B0C879052AC}"/>
              </a:ext>
            </a:extLst>
          </p:cNvPr>
          <p:cNvSpPr/>
          <p:nvPr/>
        </p:nvSpPr>
        <p:spPr>
          <a:xfrm>
            <a:off x="0" y="0"/>
            <a:ext cx="12191695" cy="146304"/>
          </a:xfrm>
          <a:prstGeom prst="rect">
            <a:avLst/>
          </a:prstGeom>
          <a:solidFill>
            <a:srgbClr val="0021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a:extLst>
              <a:ext uri="{FF2B5EF4-FFF2-40B4-BE49-F238E27FC236}">
                <a16:creationId xmlns:a16="http://schemas.microsoft.com/office/drawing/2014/main" id="{B7A30F74-F5B4-B4D4-72D6-6CDE611C377F}"/>
              </a:ext>
            </a:extLst>
          </p:cNvPr>
          <p:cNvSpPr/>
          <p:nvPr/>
        </p:nvSpPr>
        <p:spPr>
          <a:xfrm>
            <a:off x="411480" y="6446520"/>
            <a:ext cx="11338560" cy="9144"/>
          </a:xfrm>
          <a:prstGeom prst="rect">
            <a:avLst/>
          </a:prstGeom>
          <a:solidFill>
            <a:srgbClr val="D2DA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4">
            <a:extLst>
              <a:ext uri="{FF2B5EF4-FFF2-40B4-BE49-F238E27FC236}">
                <a16:creationId xmlns:a16="http://schemas.microsoft.com/office/drawing/2014/main" id="{C0621936-9459-C38E-4D85-A0C957135605}"/>
              </a:ext>
            </a:extLst>
          </p:cNvPr>
          <p:cNvSpPr/>
          <p:nvPr/>
        </p:nvSpPr>
        <p:spPr>
          <a:xfrm>
            <a:off x="438912" y="6510528"/>
            <a:ext cx="80467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CONFIDENTIAL  |  22</a:t>
            </a:r>
            <a:r>
              <a:rPr kumimoji="0" lang="en-US" sz="800" b="0" i="0" u="none" strike="noStrike" kern="1200" cap="none" spc="0" normalizeH="0" baseline="30000" noProof="0" dirty="0">
                <a:ln>
                  <a:noFill/>
                </a:ln>
                <a:solidFill>
                  <a:srgbClr val="5B6470"/>
                </a:solidFill>
                <a:effectLst/>
                <a:uLnTx/>
                <a:uFillTx/>
                <a:latin typeface="Segoe UI"/>
                <a:ea typeface="Aptos" pitchFamily="34" charset="-122"/>
                <a:cs typeface="Aptos" pitchFamily="34" charset="-120"/>
              </a:rPr>
              <a:t>nd</a:t>
            </a:r>
            <a:r>
              <a:rPr kumimoji="0" lang="en-US" sz="800" b="0" i="0" u="none" strike="noStrike" kern="1200" cap="none" spc="0" normalizeH="0" baseline="0" noProof="0" dirty="0">
                <a:ln>
                  <a:noFill/>
                </a:ln>
                <a:solidFill>
                  <a:srgbClr val="5B6470"/>
                </a:solidFill>
                <a:effectLst/>
                <a:uLnTx/>
                <a:uFillTx/>
                <a:latin typeface="Segoe UI"/>
                <a:ea typeface="Aptos" pitchFamily="34" charset="-122"/>
                <a:cs typeface="Aptos" pitchFamily="34" charset="-120"/>
              </a:rPr>
              <a:t> Century Technologies  |  DLA EDM Vector Intelligence</a:t>
            </a:r>
            <a:endParaRPr kumimoji="0" lang="en-US" sz="800" b="0" i="0" u="none" strike="noStrike" kern="1200" cap="none" spc="0" normalizeH="0" baseline="0" noProof="0" dirty="0">
              <a:ln>
                <a:noFill/>
              </a:ln>
              <a:solidFill>
                <a:prstClr val="black"/>
              </a:solidFill>
              <a:effectLst/>
              <a:uLnTx/>
              <a:uFillTx/>
              <a:ea typeface="+mn-ea"/>
              <a:cs typeface="+mn-cs"/>
            </a:endParaRPr>
          </a:p>
        </p:txBody>
      </p:sp>
      <p:sp>
        <p:nvSpPr>
          <p:cNvPr id="37" name="Rectangle 36">
            <a:extLst>
              <a:ext uri="{FF2B5EF4-FFF2-40B4-BE49-F238E27FC236}">
                <a16:creationId xmlns:a16="http://schemas.microsoft.com/office/drawing/2014/main" id="{4E01B828-9F06-2B78-AA54-E12430EC9C6B}"/>
              </a:ext>
            </a:extLst>
          </p:cNvPr>
          <p:cNvSpPr/>
          <p:nvPr/>
        </p:nvSpPr>
        <p:spPr>
          <a:xfrm>
            <a:off x="502920" y="1120140"/>
            <a:ext cx="1106424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1274552" cy="457200"/>
          </a:xfrm>
          <a:prstGeom prst="rect">
            <a:avLst/>
          </a:prstGeom>
          <a:noFill/>
        </p:spPr>
        <p:txBody>
          <a:bodyPr wrap="square" lIns="12700" tIns="0" rIns="12700" bIns="0">
            <a:spAutoFit/>
          </a:bodyPr>
          <a:lstStyle/>
          <a:p>
            <a:r>
              <a:rPr sz="2400" b="1" i="0">
                <a:solidFill>
                  <a:srgbClr val="102A4C"/>
                </a:solidFill>
                <a:latin typeface="Segoe UI"/>
              </a:rPr>
              <a:t>Demand forecast — held-out benchmark across more items</a:t>
            </a:r>
          </a:p>
        </p:txBody>
      </p:sp>
      <p:sp>
        <p:nvSpPr>
          <p:cNvPr id="3" name="TextBox 2"/>
          <p:cNvSpPr txBox="1"/>
          <p:nvPr/>
        </p:nvSpPr>
        <p:spPr>
          <a:xfrm>
            <a:off x="457200" y="841248"/>
            <a:ext cx="11274552" cy="320040"/>
          </a:xfrm>
          <a:prstGeom prst="rect">
            <a:avLst/>
          </a:prstGeom>
          <a:noFill/>
        </p:spPr>
        <p:txBody>
          <a:bodyPr wrap="square" lIns="12700" tIns="0" rIns="12700" bIns="0">
            <a:spAutoFit/>
          </a:bodyPr>
          <a:lstStyle/>
          <a:p>
            <a:r>
              <a:rPr sz="1200" b="0" i="0">
                <a:solidFill>
                  <a:srgbClr val="5E6A75"/>
                </a:solidFill>
                <a:latin typeface="Segoe UI"/>
              </a:rPr>
              <a:t>Same blind test on six items. Navy = actual demand; red = legacy; green = EDM. EDM has the lowest error on four, ties one, and trails legacy on one (FUEL PUMP). Synthetic data.</a:t>
            </a:r>
          </a:p>
        </p:txBody>
      </p:sp>
      <p:sp>
        <p:nvSpPr>
          <p:cNvPr id="4" name="TextBox 3"/>
          <p:cNvSpPr txBox="1"/>
          <p:nvPr/>
        </p:nvSpPr>
        <p:spPr>
          <a:xfrm>
            <a:off x="457200" y="1371600"/>
            <a:ext cx="3703320" cy="219456"/>
          </a:xfrm>
          <a:prstGeom prst="rect">
            <a:avLst/>
          </a:prstGeom>
          <a:noFill/>
        </p:spPr>
        <p:txBody>
          <a:bodyPr wrap="square" lIns="12700" tIns="0" rIns="12700" bIns="0">
            <a:spAutoFit/>
          </a:bodyPr>
          <a:lstStyle/>
          <a:p>
            <a:r>
              <a:rPr sz="1100" b="1" i="0">
                <a:solidFill>
                  <a:srgbClr val="102A4C"/>
                </a:solidFill>
                <a:latin typeface="Segoe UI"/>
              </a:rPr>
              <a:t>BALLISTIC PANEL</a:t>
            </a:r>
          </a:p>
        </p:txBody>
      </p:sp>
      <p:sp>
        <p:nvSpPr>
          <p:cNvPr id="5" name="TextBox 4"/>
          <p:cNvSpPr txBox="1"/>
          <p:nvPr/>
        </p:nvSpPr>
        <p:spPr>
          <a:xfrm>
            <a:off x="457200" y="1591056"/>
            <a:ext cx="3703320" cy="201168"/>
          </a:xfrm>
          <a:prstGeom prst="rect">
            <a:avLst/>
          </a:prstGeom>
          <a:noFill/>
        </p:spPr>
        <p:txBody>
          <a:bodyPr wrap="square" lIns="12700" tIns="0" rIns="12700" bIns="0">
            <a:spAutoFit/>
          </a:bodyPr>
          <a:lstStyle/>
          <a:p>
            <a:r>
              <a:rPr sz="900" b="0" i="0">
                <a:solidFill>
                  <a:srgbClr val="1A724E"/>
                </a:solidFill>
                <a:latin typeface="Segoe UI"/>
              </a:rPr>
              <a:t>WAPE  legacy 0.69 · EDM 0.33</a:t>
            </a:r>
          </a:p>
        </p:txBody>
      </p:sp>
      <p:graphicFrame>
        <p:nvGraphicFramePr>
          <p:cNvPr id="6" name="Chart 5"/>
          <p:cNvGraphicFramePr>
            <a:graphicFrameLocks noGrp="1"/>
          </p:cNvGraphicFramePr>
          <p:nvPr/>
        </p:nvGraphicFramePr>
        <p:xfrm>
          <a:off x="457200" y="1828800"/>
          <a:ext cx="3703320" cy="1737360"/>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p:cNvSpPr txBox="1"/>
          <p:nvPr/>
        </p:nvSpPr>
        <p:spPr>
          <a:xfrm>
            <a:off x="4206240" y="1371600"/>
            <a:ext cx="3703320" cy="219456"/>
          </a:xfrm>
          <a:prstGeom prst="rect">
            <a:avLst/>
          </a:prstGeom>
          <a:noFill/>
        </p:spPr>
        <p:txBody>
          <a:bodyPr wrap="square" lIns="12700" tIns="0" rIns="12700" bIns="0">
            <a:spAutoFit/>
          </a:bodyPr>
          <a:lstStyle/>
          <a:p>
            <a:r>
              <a:rPr sz="1100" b="1" i="0">
                <a:solidFill>
                  <a:srgbClr val="102A4C"/>
                </a:solidFill>
                <a:latin typeface="Segoe UI"/>
              </a:rPr>
              <a:t>SLEEVE BEARING</a:t>
            </a:r>
          </a:p>
        </p:txBody>
      </p:sp>
      <p:sp>
        <p:nvSpPr>
          <p:cNvPr id="8" name="TextBox 7"/>
          <p:cNvSpPr txBox="1"/>
          <p:nvPr/>
        </p:nvSpPr>
        <p:spPr>
          <a:xfrm>
            <a:off x="4206240" y="1591056"/>
            <a:ext cx="3703320" cy="201168"/>
          </a:xfrm>
          <a:prstGeom prst="rect">
            <a:avLst/>
          </a:prstGeom>
          <a:noFill/>
        </p:spPr>
        <p:txBody>
          <a:bodyPr wrap="square" lIns="12700" tIns="0" rIns="12700" bIns="0">
            <a:spAutoFit/>
          </a:bodyPr>
          <a:lstStyle/>
          <a:p>
            <a:r>
              <a:rPr sz="900" b="0" i="0">
                <a:solidFill>
                  <a:srgbClr val="1A724E"/>
                </a:solidFill>
                <a:latin typeface="Segoe UI"/>
              </a:rPr>
              <a:t>WAPE  legacy 0.57 · EDM 0.44</a:t>
            </a:r>
          </a:p>
        </p:txBody>
      </p:sp>
      <p:graphicFrame>
        <p:nvGraphicFramePr>
          <p:cNvPr id="9" name="Chart 8"/>
          <p:cNvGraphicFramePr>
            <a:graphicFrameLocks noGrp="1"/>
          </p:cNvGraphicFramePr>
          <p:nvPr/>
        </p:nvGraphicFramePr>
        <p:xfrm>
          <a:off x="4206240" y="1828800"/>
          <a:ext cx="3703320" cy="173736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9"/>
          <p:cNvSpPr txBox="1"/>
          <p:nvPr/>
        </p:nvSpPr>
        <p:spPr>
          <a:xfrm>
            <a:off x="7955279" y="1371600"/>
            <a:ext cx="3703320" cy="219456"/>
          </a:xfrm>
          <a:prstGeom prst="rect">
            <a:avLst/>
          </a:prstGeom>
          <a:noFill/>
        </p:spPr>
        <p:txBody>
          <a:bodyPr wrap="square" lIns="12700" tIns="0" rIns="12700" bIns="0">
            <a:spAutoFit/>
          </a:bodyPr>
          <a:lstStyle/>
          <a:p>
            <a:r>
              <a:rPr sz="1100" b="1" i="0">
                <a:solidFill>
                  <a:srgbClr val="102A4C"/>
                </a:solidFill>
                <a:latin typeface="Segoe UI"/>
              </a:rPr>
              <a:t>FUEL PUMP</a:t>
            </a:r>
          </a:p>
        </p:txBody>
      </p:sp>
      <p:sp>
        <p:nvSpPr>
          <p:cNvPr id="11" name="TextBox 10"/>
          <p:cNvSpPr txBox="1"/>
          <p:nvPr/>
        </p:nvSpPr>
        <p:spPr>
          <a:xfrm>
            <a:off x="7955279" y="1591056"/>
            <a:ext cx="3703320" cy="201168"/>
          </a:xfrm>
          <a:prstGeom prst="rect">
            <a:avLst/>
          </a:prstGeom>
          <a:noFill/>
        </p:spPr>
        <p:txBody>
          <a:bodyPr wrap="square" lIns="12700" tIns="0" rIns="12700" bIns="0">
            <a:spAutoFit/>
          </a:bodyPr>
          <a:lstStyle/>
          <a:p>
            <a:r>
              <a:rPr sz="900" b="0" i="0">
                <a:solidFill>
                  <a:srgbClr val="1A724E"/>
                </a:solidFill>
                <a:latin typeface="Segoe UI"/>
              </a:rPr>
              <a:t>WAPE  legacy 0.61 · EDM 0.61</a:t>
            </a:r>
          </a:p>
        </p:txBody>
      </p:sp>
      <p:graphicFrame>
        <p:nvGraphicFramePr>
          <p:cNvPr id="12" name="Chart 11"/>
          <p:cNvGraphicFramePr>
            <a:graphicFrameLocks noGrp="1"/>
          </p:cNvGraphicFramePr>
          <p:nvPr/>
        </p:nvGraphicFramePr>
        <p:xfrm>
          <a:off x="7955279" y="1828800"/>
          <a:ext cx="3703320" cy="1737360"/>
        </p:xfrm>
        <a:graphic>
          <a:graphicData uri="http://schemas.openxmlformats.org/drawingml/2006/chart">
            <c:chart xmlns:c="http://schemas.openxmlformats.org/drawingml/2006/chart" xmlns:r="http://schemas.openxmlformats.org/officeDocument/2006/relationships" r:id="rId4"/>
          </a:graphicData>
        </a:graphic>
      </p:graphicFrame>
      <p:sp>
        <p:nvSpPr>
          <p:cNvPr id="13" name="TextBox 12"/>
          <p:cNvSpPr txBox="1"/>
          <p:nvPr/>
        </p:nvSpPr>
        <p:spPr>
          <a:xfrm>
            <a:off x="457200" y="3840480"/>
            <a:ext cx="3703320" cy="219456"/>
          </a:xfrm>
          <a:prstGeom prst="rect">
            <a:avLst/>
          </a:prstGeom>
          <a:noFill/>
        </p:spPr>
        <p:txBody>
          <a:bodyPr wrap="square" lIns="12700" tIns="0" rIns="12700" bIns="0">
            <a:spAutoFit/>
          </a:bodyPr>
          <a:lstStyle/>
          <a:p>
            <a:r>
              <a:rPr sz="1100" b="1" i="0">
                <a:solidFill>
                  <a:srgbClr val="102A4C"/>
                </a:solidFill>
                <a:latin typeface="Segoe UI"/>
              </a:rPr>
              <a:t>ARMOR MOUNTING BRACKET</a:t>
            </a:r>
          </a:p>
        </p:txBody>
      </p:sp>
      <p:sp>
        <p:nvSpPr>
          <p:cNvPr id="14" name="TextBox 13"/>
          <p:cNvSpPr txBox="1"/>
          <p:nvPr/>
        </p:nvSpPr>
        <p:spPr>
          <a:xfrm>
            <a:off x="457200" y="4059936"/>
            <a:ext cx="3703320" cy="201168"/>
          </a:xfrm>
          <a:prstGeom prst="rect">
            <a:avLst/>
          </a:prstGeom>
          <a:noFill/>
        </p:spPr>
        <p:txBody>
          <a:bodyPr wrap="square" lIns="12700" tIns="0" rIns="12700" bIns="0">
            <a:spAutoFit/>
          </a:bodyPr>
          <a:lstStyle/>
          <a:p>
            <a:r>
              <a:rPr sz="900" b="0" i="0">
                <a:solidFill>
                  <a:srgbClr val="1A724E"/>
                </a:solidFill>
                <a:latin typeface="Segoe UI"/>
              </a:rPr>
              <a:t>WAPE  legacy 0.66 · EDM 0.63</a:t>
            </a:r>
          </a:p>
        </p:txBody>
      </p:sp>
      <p:graphicFrame>
        <p:nvGraphicFramePr>
          <p:cNvPr id="15" name="Chart 14"/>
          <p:cNvGraphicFramePr>
            <a:graphicFrameLocks noGrp="1"/>
          </p:cNvGraphicFramePr>
          <p:nvPr/>
        </p:nvGraphicFramePr>
        <p:xfrm>
          <a:off x="457200" y="4297680"/>
          <a:ext cx="3703320" cy="1737360"/>
        </p:xfrm>
        <a:graphic>
          <a:graphicData uri="http://schemas.openxmlformats.org/drawingml/2006/chart">
            <c:chart xmlns:c="http://schemas.openxmlformats.org/drawingml/2006/chart" xmlns:r="http://schemas.openxmlformats.org/officeDocument/2006/relationships" r:id="rId5"/>
          </a:graphicData>
        </a:graphic>
      </p:graphicFrame>
      <p:sp>
        <p:nvSpPr>
          <p:cNvPr id="16" name="TextBox 15"/>
          <p:cNvSpPr txBox="1"/>
          <p:nvPr/>
        </p:nvSpPr>
        <p:spPr>
          <a:xfrm>
            <a:off x="4206240" y="3840480"/>
            <a:ext cx="3703320" cy="219456"/>
          </a:xfrm>
          <a:prstGeom prst="rect">
            <a:avLst/>
          </a:prstGeom>
          <a:noFill/>
        </p:spPr>
        <p:txBody>
          <a:bodyPr wrap="square" lIns="12700" tIns="0" rIns="12700" bIns="0">
            <a:spAutoFit/>
          </a:bodyPr>
          <a:lstStyle/>
          <a:p>
            <a:r>
              <a:rPr sz="1100" b="1" i="0">
                <a:solidFill>
                  <a:srgbClr val="102A4C"/>
                </a:solidFill>
                <a:latin typeface="Segoe UI"/>
              </a:rPr>
              <a:t>PROTECTIVE INSERT</a:t>
            </a:r>
          </a:p>
        </p:txBody>
      </p:sp>
      <p:sp>
        <p:nvSpPr>
          <p:cNvPr id="17" name="TextBox 16"/>
          <p:cNvSpPr txBox="1"/>
          <p:nvPr/>
        </p:nvSpPr>
        <p:spPr>
          <a:xfrm>
            <a:off x="4206240" y="4059936"/>
            <a:ext cx="3703320" cy="201168"/>
          </a:xfrm>
          <a:prstGeom prst="rect">
            <a:avLst/>
          </a:prstGeom>
          <a:noFill/>
        </p:spPr>
        <p:txBody>
          <a:bodyPr wrap="square" lIns="12700" tIns="0" rIns="12700" bIns="0">
            <a:spAutoFit/>
          </a:bodyPr>
          <a:lstStyle/>
          <a:p>
            <a:r>
              <a:rPr sz="900" b="0" i="0">
                <a:solidFill>
                  <a:srgbClr val="1A724E"/>
                </a:solidFill>
                <a:latin typeface="Segoe UI"/>
              </a:rPr>
              <a:t>WAPE  legacy 0.82 · EDM 0.76</a:t>
            </a:r>
          </a:p>
        </p:txBody>
      </p:sp>
      <p:graphicFrame>
        <p:nvGraphicFramePr>
          <p:cNvPr id="18" name="Chart 17"/>
          <p:cNvGraphicFramePr>
            <a:graphicFrameLocks noGrp="1"/>
          </p:cNvGraphicFramePr>
          <p:nvPr/>
        </p:nvGraphicFramePr>
        <p:xfrm>
          <a:off x="4206240" y="4297680"/>
          <a:ext cx="3703320" cy="1737360"/>
        </p:xfrm>
        <a:graphic>
          <a:graphicData uri="http://schemas.openxmlformats.org/drawingml/2006/chart">
            <c:chart xmlns:c="http://schemas.openxmlformats.org/drawingml/2006/chart" xmlns:r="http://schemas.openxmlformats.org/officeDocument/2006/relationships" r:id="rId6"/>
          </a:graphicData>
        </a:graphic>
      </p:graphicFrame>
      <p:sp>
        <p:nvSpPr>
          <p:cNvPr id="19" name="TextBox 18"/>
          <p:cNvSpPr txBox="1"/>
          <p:nvPr/>
        </p:nvSpPr>
        <p:spPr>
          <a:xfrm>
            <a:off x="7955279" y="3840480"/>
            <a:ext cx="3703320" cy="219456"/>
          </a:xfrm>
          <a:prstGeom prst="rect">
            <a:avLst/>
          </a:prstGeom>
          <a:noFill/>
        </p:spPr>
        <p:txBody>
          <a:bodyPr wrap="square" lIns="12700" tIns="0" rIns="12700" bIns="0">
            <a:spAutoFit/>
          </a:bodyPr>
          <a:lstStyle/>
          <a:p>
            <a:r>
              <a:rPr sz="1100" b="1" i="0">
                <a:solidFill>
                  <a:srgbClr val="102A4C"/>
                </a:solidFill>
                <a:latin typeface="Segoe UI"/>
              </a:rPr>
              <a:t>TRACK SHOE</a:t>
            </a:r>
          </a:p>
        </p:txBody>
      </p:sp>
      <p:sp>
        <p:nvSpPr>
          <p:cNvPr id="20" name="TextBox 19"/>
          <p:cNvSpPr txBox="1"/>
          <p:nvPr/>
        </p:nvSpPr>
        <p:spPr>
          <a:xfrm>
            <a:off x="7955279" y="4059936"/>
            <a:ext cx="3703320" cy="201168"/>
          </a:xfrm>
          <a:prstGeom prst="rect">
            <a:avLst/>
          </a:prstGeom>
          <a:noFill/>
        </p:spPr>
        <p:txBody>
          <a:bodyPr wrap="square" lIns="12700" tIns="0" rIns="12700" bIns="0">
            <a:spAutoFit/>
          </a:bodyPr>
          <a:lstStyle/>
          <a:p>
            <a:r>
              <a:rPr sz="900" b="0" i="0">
                <a:solidFill>
                  <a:srgbClr val="1A724E"/>
                </a:solidFill>
                <a:latin typeface="Segoe UI"/>
              </a:rPr>
              <a:t>WAPE  legacy 0.95 · EDM 0.78</a:t>
            </a:r>
          </a:p>
        </p:txBody>
      </p:sp>
      <p:graphicFrame>
        <p:nvGraphicFramePr>
          <p:cNvPr id="21" name="Chart 20"/>
          <p:cNvGraphicFramePr>
            <a:graphicFrameLocks noGrp="1"/>
          </p:cNvGraphicFramePr>
          <p:nvPr/>
        </p:nvGraphicFramePr>
        <p:xfrm>
          <a:off x="7955279" y="4297680"/>
          <a:ext cx="3703320" cy="1737360"/>
        </p:xfrm>
        <a:graphic>
          <a:graphicData uri="http://schemas.openxmlformats.org/drawingml/2006/chart">
            <c:chart xmlns:c="http://schemas.openxmlformats.org/drawingml/2006/chart" xmlns:r="http://schemas.openxmlformats.org/officeDocument/2006/relationships" r:id="rId7"/>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810</TotalTime>
  <Words>11620</Words>
  <Application>Microsoft Office PowerPoint</Application>
  <PresentationFormat>Widescreen</PresentationFormat>
  <Paragraphs>1143</Paragraphs>
  <Slides>34</Slides>
  <Notes>23</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34</vt:i4>
      </vt:variant>
    </vt:vector>
  </HeadingPairs>
  <TitlesOfParts>
    <vt:vector size="41" baseType="lpstr">
      <vt:lpstr>Aptos</vt:lpstr>
      <vt:lpstr>Aptos Display</vt:lpstr>
      <vt:lpstr>Arial</vt:lpstr>
      <vt:lpstr>Calibri</vt:lpstr>
      <vt:lpstr>Segoe UI</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DLA EDM Briefing</dc:title>
  <dc:subject>Capability Presentation</dc:subject>
  <dc:creator>Taimur Ahya</dc:creator>
  <cp:lastModifiedBy>Ravindra Shukla</cp:lastModifiedBy>
  <cp:revision>98</cp:revision>
  <dcterms:created xsi:type="dcterms:W3CDTF">2026-06-09T19:53:44Z</dcterms:created>
  <dcterms:modified xsi:type="dcterms:W3CDTF">2026-06-19T16:04:21Z</dcterms:modified>
</cp:coreProperties>
</file>