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8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6" y="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Legacy</c:v>
                </c:pt>
              </c:strCache>
            </c:strRef>
          </c:tx>
          <c:spPr>
            <a:solidFill>
              <a:srgbClr val="1F5E9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 i="0" u="none" strike="noStrike">
                    <a:solidFill>
                      <a:srgbClr val="1D2430"/>
                    </a:solidFill>
                    <a:latin typeface="Apto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Routine (P50)</c:v>
                </c:pt>
                <c:pt idx="1">
                  <c:v>Critical (P90)</c:v>
                </c:pt>
                <c:pt idx="2">
                  <c:v>Mean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356</c:v>
                </c:pt>
                <c:pt idx="1">
                  <c:v>540</c:v>
                </c:pt>
                <c:pt idx="2">
                  <c:v>364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E18-46B6-94B7-1600E80AC4E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EDM Vector Intelligence</c:v>
                </c:pt>
              </c:strCache>
            </c:strRef>
          </c:tx>
          <c:spPr>
            <a:solidFill>
              <a:srgbClr val="11848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 i="0" u="none" strike="noStrike">
                    <a:solidFill>
                      <a:srgbClr val="1D2430"/>
                    </a:solidFill>
                    <a:latin typeface="Apto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Routine (P50)</c:v>
                </c:pt>
                <c:pt idx="1">
                  <c:v>Critical (P90)</c:v>
                </c:pt>
                <c:pt idx="2">
                  <c:v>Mean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143</c:v>
                </c:pt>
                <c:pt idx="1">
                  <c:v>228</c:v>
                </c:pt>
                <c:pt idx="2">
                  <c:v>147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E18-46B6-94B7-1600E80AC4E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E6A75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E6A75"/>
              </a:solidFill>
              <a:latin typeface="Aptos"/>
              <a:cs typeface="Aptos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21872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1.xml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0885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500" b="1">
                <a:solidFill>
                  <a:srgbClr val="102A4C"/>
                </a:solidFill>
                <a:latin typeface="Aptos"/>
              </a:rPr>
              <a:t>Same logs, two outcomes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0317175" y="36576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E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Lead: Ravindra Shukla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i="1">
                <a:solidFill>
                  <a:srgbClr val="1F5E9C"/>
                </a:solidFill>
                <a:latin typeface="Aptos"/>
              </a:rPr>
              <a:t>Legacy scores one user against a fixed line. Behavioral entities read the same logs in context — and catch all four stealth attacks.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572768"/>
            <a:ext cx="3200400" cy="35204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CBD7E3"/>
            </a:solidFill>
            <a:prstDash val="solid"/>
          </a:ln>
          <a:effectLst>
            <a:outerShdw blurRad="889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1773936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b="1">
                <a:solidFill>
                  <a:srgbClr val="1F5E9C"/>
                </a:solidFill>
                <a:latin typeface="Aptos"/>
              </a:rPr>
              <a:t>LEGACY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2066544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00" i="1">
                <a:solidFill>
                  <a:srgbClr val="5E6A75"/>
                </a:solidFill>
                <a:latin typeface="Aptos"/>
              </a:rPr>
              <a:t>one user vs a threshold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85800" y="2441448"/>
            <a:ext cx="2743200" cy="457200"/>
          </a:xfrm>
          <a:prstGeom prst="roundRect">
            <a:avLst>
              <a:gd name="adj" fmla="val 12000"/>
            </a:avLst>
          </a:prstGeom>
          <a:solidFill>
            <a:srgbClr val="EAF3FC"/>
          </a:solidFill>
          <a:ln w="12700">
            <a:solidFill>
              <a:srgbClr val="CBD7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50392" y="2615184"/>
            <a:ext cx="118872" cy="118872"/>
          </a:xfrm>
          <a:prstGeom prst="ellipse">
            <a:avLst/>
          </a:prstGeom>
          <a:solidFill>
            <a:srgbClr val="1F5E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97280" y="244144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50">
                <a:solidFill>
                  <a:srgbClr val="1D2430"/>
                </a:solidFill>
                <a:latin typeface="Aptos"/>
              </a:rPr>
              <a:t>Single-user history only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85800" y="3008376"/>
            <a:ext cx="2743200" cy="457200"/>
          </a:xfrm>
          <a:prstGeom prst="roundRect">
            <a:avLst>
              <a:gd name="adj" fmla="val 12000"/>
            </a:avLst>
          </a:prstGeom>
          <a:solidFill>
            <a:srgbClr val="EAF3FC"/>
          </a:solidFill>
          <a:ln w="12700">
            <a:solidFill>
              <a:srgbClr val="CBD7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50392" y="3182112"/>
            <a:ext cx="118872" cy="118872"/>
          </a:xfrm>
          <a:prstGeom prst="ellipse">
            <a:avLst/>
          </a:prstGeom>
          <a:solidFill>
            <a:srgbClr val="1F5E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97280" y="300837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50">
                <a:solidFill>
                  <a:srgbClr val="1D2430"/>
                </a:solidFill>
                <a:latin typeface="Aptos"/>
              </a:rPr>
              <a:t>Fixed alert thresholds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85800" y="3575304"/>
            <a:ext cx="2743200" cy="457200"/>
          </a:xfrm>
          <a:prstGeom prst="roundRect">
            <a:avLst>
              <a:gd name="adj" fmla="val 12000"/>
            </a:avLst>
          </a:prstGeom>
          <a:solidFill>
            <a:srgbClr val="EAF3FC"/>
          </a:solidFill>
          <a:ln w="12700">
            <a:solidFill>
              <a:srgbClr val="CBD7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50392" y="3749040"/>
            <a:ext cx="118872" cy="118872"/>
          </a:xfrm>
          <a:prstGeom prst="ellipse">
            <a:avLst/>
          </a:prstGeom>
          <a:solidFill>
            <a:srgbClr val="1F5E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97280" y="357530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50">
                <a:solidFill>
                  <a:srgbClr val="1D2430"/>
                </a:solidFill>
                <a:latin typeface="Aptos"/>
              </a:rPr>
              <a:t>0 of 4 attacks flagged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776472" y="310438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5E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&gt;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4265676" y="1572768"/>
            <a:ext cx="3566160" cy="352044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CBD7E3"/>
            </a:solidFill>
            <a:prstDash val="solid"/>
          </a:ln>
          <a:effectLst>
            <a:outerShdw blurRad="889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494276" y="177393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b="1">
                <a:solidFill>
                  <a:srgbClr val="1F5E9C"/>
                </a:solidFill>
                <a:latin typeface="Aptos"/>
              </a:rPr>
              <a:t>BEHAVIORAL TWIN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494276" y="206654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00" i="1">
                <a:solidFill>
                  <a:srgbClr val="5E6A75"/>
                </a:solidFill>
                <a:latin typeface="Aptos"/>
              </a:rPr>
              <a:t>same logs, in context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494276" y="2441448"/>
            <a:ext cx="3108960" cy="457200"/>
          </a:xfrm>
          <a:prstGeom prst="roundRect">
            <a:avLst>
              <a:gd name="adj" fmla="val 12000"/>
            </a:avLst>
          </a:prstGeom>
          <a:solidFill>
            <a:srgbClr val="EAF3FC"/>
          </a:solidFill>
          <a:ln w="12700">
            <a:solidFill>
              <a:srgbClr val="CBD7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658868" y="2615184"/>
            <a:ext cx="118872" cy="118872"/>
          </a:xfrm>
          <a:prstGeom prst="ellipse">
            <a:avLst/>
          </a:prstGeom>
          <a:solidFill>
            <a:srgbClr val="1F5E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905756" y="244144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50">
                <a:solidFill>
                  <a:srgbClr val="1D2430"/>
                </a:solidFill>
                <a:latin typeface="Aptos"/>
              </a:rPr>
              <a:t>Cohort-relative deviation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494276" y="3008376"/>
            <a:ext cx="3108960" cy="457200"/>
          </a:xfrm>
          <a:prstGeom prst="roundRect">
            <a:avLst>
              <a:gd name="adj" fmla="val 12000"/>
            </a:avLst>
          </a:prstGeom>
          <a:solidFill>
            <a:srgbClr val="EAF3FC"/>
          </a:solidFill>
          <a:ln w="12700">
            <a:solidFill>
              <a:srgbClr val="CBD7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658868" y="3182112"/>
            <a:ext cx="118872" cy="118872"/>
          </a:xfrm>
          <a:prstGeom prst="ellipse">
            <a:avLst/>
          </a:prstGeom>
          <a:solidFill>
            <a:srgbClr val="1F5E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905756" y="3008376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50">
                <a:solidFill>
                  <a:srgbClr val="1D2430"/>
                </a:solidFill>
                <a:latin typeface="Aptos"/>
              </a:rPr>
              <a:t>Self-drift over time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494276" y="3575304"/>
            <a:ext cx="3108960" cy="457200"/>
          </a:xfrm>
          <a:prstGeom prst="roundRect">
            <a:avLst>
              <a:gd name="adj" fmla="val 12000"/>
            </a:avLst>
          </a:prstGeom>
          <a:solidFill>
            <a:srgbClr val="EAF3FC"/>
          </a:solidFill>
          <a:ln w="12700">
            <a:solidFill>
              <a:srgbClr val="CBD7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658868" y="3749040"/>
            <a:ext cx="118872" cy="118872"/>
          </a:xfrm>
          <a:prstGeom prst="ellipse">
            <a:avLst/>
          </a:prstGeom>
          <a:solidFill>
            <a:srgbClr val="1F5E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905756" y="357530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50">
                <a:solidFill>
                  <a:srgbClr val="1D2430"/>
                </a:solidFill>
                <a:latin typeface="Aptos"/>
              </a:rPr>
              <a:t>Known-bad profile match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494276" y="4142232"/>
            <a:ext cx="3108960" cy="457200"/>
          </a:xfrm>
          <a:prstGeom prst="roundRect">
            <a:avLst>
              <a:gd name="adj" fmla="val 12000"/>
            </a:avLst>
          </a:prstGeom>
          <a:solidFill>
            <a:srgbClr val="EAF3FC"/>
          </a:solidFill>
          <a:ln w="12700">
            <a:solidFill>
              <a:srgbClr val="CBD7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658868" y="4315968"/>
            <a:ext cx="118872" cy="118872"/>
          </a:xfrm>
          <a:prstGeom prst="ellipse">
            <a:avLst/>
          </a:prstGeom>
          <a:solidFill>
            <a:srgbClr val="1F5E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905756" y="414223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50">
                <a:solidFill>
                  <a:srgbClr val="1D2430"/>
                </a:solidFill>
                <a:latin typeface="Aptos"/>
              </a:rPr>
              <a:t>Evidence-backed, explainable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7955280" y="310438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5E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&gt;</a:t>
            </a:r>
            <a:endParaRPr lang="en-US" sz="2600" dirty="0"/>
          </a:p>
        </p:txBody>
      </p:sp>
      <p:sp>
        <p:nvSpPr>
          <p:cNvPr id="34" name="Shape 32"/>
          <p:cNvSpPr/>
          <p:nvPr/>
        </p:nvSpPr>
        <p:spPr>
          <a:xfrm>
            <a:off x="8439912" y="1572768"/>
            <a:ext cx="3294583" cy="3520440"/>
          </a:xfrm>
          <a:prstGeom prst="roundRect">
            <a:avLst>
              <a:gd name="adj" fmla="val 1943"/>
            </a:avLst>
          </a:prstGeom>
          <a:solidFill>
            <a:srgbClr val="102A4C"/>
          </a:solidFill>
          <a:ln w="12700">
            <a:solidFill>
              <a:srgbClr val="CBD7E3"/>
            </a:solidFill>
            <a:prstDash val="solid"/>
          </a:ln>
          <a:effectLst>
            <a:outerShdw blurRad="889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8668512" y="1773936"/>
            <a:ext cx="283738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Aptos"/>
              </a:rPr>
              <a:t>RESULT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668512" y="2066544"/>
            <a:ext cx="283738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00" i="1">
                <a:solidFill>
                  <a:srgbClr val="9DB8D6"/>
                </a:solidFill>
                <a:latin typeface="Aptos"/>
              </a:rPr>
              <a:t>caught, with evidence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668512" y="2487168"/>
            <a:ext cx="2837383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sz="1200">
                <a:solidFill>
                  <a:srgbClr val="DCE6F4"/>
                </a:solidFill>
                <a:latin typeface="Aptos"/>
              </a:rPr>
              <a:t>What a user HAS done</a:t>
            </a:r>
            <a:endParaRPr lang="en-US" sz="1200" dirty="0"/>
          </a:p>
          <a:p>
            <a:pPr/>
            <a:r>
              <a:rPr sz="1200">
                <a:solidFill>
                  <a:srgbClr val="DCE6F4"/>
                </a:solidFill>
                <a:latin typeface="Aptos"/>
              </a:rPr>
              <a:t>plus where they’re HEADING</a:t>
            </a:r>
          </a:p>
        </p:txBody>
      </p:sp>
      <p:sp>
        <p:nvSpPr>
          <p:cNvPr id="38" name="Text 36"/>
          <p:cNvSpPr/>
          <p:nvPr/>
        </p:nvSpPr>
        <p:spPr>
          <a:xfrm>
            <a:off x="8668512" y="4453128"/>
            <a:ext cx="28373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00" b="1" i="1">
                <a:solidFill>
                  <a:srgbClr val="F36C21"/>
                </a:solidFill>
                <a:latin typeface="Aptos"/>
              </a:rPr>
              <a:t>4 of 4 caught · 0 false positives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57200" y="5321808"/>
            <a:ext cx="11277295" cy="841248"/>
          </a:xfrm>
          <a:prstGeom prst="roundRect">
            <a:avLst>
              <a:gd name="adj" fmla="val 6522"/>
            </a:avLst>
          </a:prstGeom>
          <a:solidFill>
            <a:srgbClr val="FBEDE6"/>
          </a:solidFill>
          <a:ln w="12700">
            <a:solidFill>
              <a:srgbClr val="F36C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85800" y="53949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 b="1">
                <a:solidFill>
                  <a:srgbClr val="1F5E9C"/>
                </a:solidFill>
                <a:latin typeface="Aptos"/>
              </a:rPr>
              <a:t>Why it matters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85800" y="5705856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 b="1">
                <a:solidFill>
                  <a:srgbClr val="1D2430"/>
                </a:solidFill>
                <a:latin typeface="Aptos"/>
              </a:rPr>
              <a:t>Point-anomaly tools saw normal employees; the behavioral twin named each attack by the behavior that gave it away.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57200" y="6455664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00">
                <a:solidFill>
                  <a:srgbClr val="5E6A75"/>
                </a:solidFill>
                <a:latin typeface="Aptos"/>
              </a:rPr>
              <a:t>CONFIDENTIAL  |  22nd Century Technologies  |  EDM Vector Intelligence — Cyber UEBA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277295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000">
                <a:solidFill>
                  <a:srgbClr val="5E6A75"/>
                </a:solidFill>
                <a:latin typeface="Aptos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0885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02A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data, re-imagined as living digital entities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0317175" y="36576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E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Lead: Ravindra Shukla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F5E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identical records become connected, time-aware entities — ready for GenAI-grade operations.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572768"/>
            <a:ext cx="2926080" cy="3520440"/>
          </a:xfrm>
          <a:prstGeom prst="roundRect">
            <a:avLst>
              <a:gd name="adj" fmla="val 2188"/>
            </a:avLst>
          </a:prstGeom>
          <a:solidFill>
            <a:srgbClr val="FFFFFF"/>
          </a:solidFill>
          <a:ln w="12700">
            <a:solidFill>
              <a:srgbClr val="CBD7E3"/>
            </a:solidFill>
            <a:prstDash val="solid"/>
          </a:ln>
          <a:effectLst>
            <a:outerShdw blurRad="889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177393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E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INPUT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206654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E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new data needed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85800" y="2441448"/>
            <a:ext cx="2468880" cy="457200"/>
          </a:xfrm>
          <a:prstGeom prst="roundRect">
            <a:avLst>
              <a:gd name="adj" fmla="val 12000"/>
            </a:avLst>
          </a:prstGeom>
          <a:solidFill>
            <a:srgbClr val="EAF3FC"/>
          </a:solidFill>
          <a:ln w="12700">
            <a:solidFill>
              <a:srgbClr val="CBD7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50392" y="2615184"/>
            <a:ext cx="118872" cy="118872"/>
          </a:xfrm>
          <a:prstGeom prst="ellipse">
            <a:avLst/>
          </a:prstGeom>
          <a:solidFill>
            <a:srgbClr val="1F5E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97280" y="244144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D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requisition history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85800" y="3008376"/>
            <a:ext cx="2468880" cy="457200"/>
          </a:xfrm>
          <a:prstGeom prst="roundRect">
            <a:avLst>
              <a:gd name="adj" fmla="val 12000"/>
            </a:avLst>
          </a:prstGeom>
          <a:solidFill>
            <a:srgbClr val="EAF3FC"/>
          </a:solidFill>
          <a:ln w="12700">
            <a:solidFill>
              <a:srgbClr val="CBD7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50392" y="3182112"/>
            <a:ext cx="118872" cy="118872"/>
          </a:xfrm>
          <a:prstGeom prst="ellipse">
            <a:avLst/>
          </a:prstGeom>
          <a:solidFill>
            <a:srgbClr val="1F5E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97280" y="3008376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D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Supplier &amp; inventory records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85800" y="3575304"/>
            <a:ext cx="2468880" cy="457200"/>
          </a:xfrm>
          <a:prstGeom prst="roundRect">
            <a:avLst>
              <a:gd name="adj" fmla="val 12000"/>
            </a:avLst>
          </a:prstGeom>
          <a:solidFill>
            <a:srgbClr val="EAF3FC"/>
          </a:solidFill>
          <a:ln w="12700">
            <a:solidFill>
              <a:srgbClr val="CBD7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50392" y="3749040"/>
            <a:ext cx="118872" cy="118872"/>
          </a:xfrm>
          <a:prstGeom prst="ellipse">
            <a:avLst/>
          </a:prstGeom>
          <a:solidFill>
            <a:srgbClr val="1F5E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97280" y="357530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D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Item &amp; depot context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483864" y="310438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5E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&gt;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3945636" y="1572768"/>
            <a:ext cx="4297680" cy="3520440"/>
          </a:xfrm>
          <a:prstGeom prst="roundRect">
            <a:avLst>
              <a:gd name="adj" fmla="val 1818"/>
            </a:avLst>
          </a:prstGeom>
          <a:solidFill>
            <a:srgbClr val="102A4C"/>
          </a:solidFill>
          <a:ln w="12700">
            <a:solidFill>
              <a:srgbClr val="CBD7E3"/>
            </a:solidFill>
            <a:prstDash val="solid"/>
          </a:ln>
          <a:effectLst>
            <a:outerShdw blurRad="889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174236" y="177393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DIGITAL TWIN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174236" y="206654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DB8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re-imagine the data model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174236" y="2468880"/>
            <a:ext cx="3840480" cy="502920"/>
          </a:xfrm>
          <a:prstGeom prst="roundRect">
            <a:avLst>
              <a:gd name="adj" fmla="val 10909"/>
            </a:avLst>
          </a:prstGeom>
          <a:solidFill>
            <a:srgbClr val="15355C"/>
          </a:solidFill>
          <a:ln w="12700">
            <a:solidFill>
              <a:srgbClr val="2C56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357116" y="24688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3EC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Behavior tracked over time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174236" y="3072384"/>
            <a:ext cx="3840480" cy="502920"/>
          </a:xfrm>
          <a:prstGeom prst="roundRect">
            <a:avLst>
              <a:gd name="adj" fmla="val 10909"/>
            </a:avLst>
          </a:prstGeom>
          <a:solidFill>
            <a:srgbClr val="15355C"/>
          </a:solidFill>
          <a:ln w="12700">
            <a:solidFill>
              <a:srgbClr val="2C56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357116" y="3072384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3EC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Learns from similar items (peers)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174236" y="3675888"/>
            <a:ext cx="3840480" cy="502920"/>
          </a:xfrm>
          <a:prstGeom prst="roundRect">
            <a:avLst>
              <a:gd name="adj" fmla="val 10909"/>
            </a:avLst>
          </a:prstGeom>
          <a:solidFill>
            <a:srgbClr val="15355C"/>
          </a:solidFill>
          <a:ln w="12700">
            <a:solidFill>
              <a:srgbClr val="2C56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357116" y="367588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3EC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Detects drift — where it’s heading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174236" y="4279392"/>
            <a:ext cx="3840480" cy="502920"/>
          </a:xfrm>
          <a:prstGeom prst="roundRect">
            <a:avLst>
              <a:gd name="adj" fmla="val 10909"/>
            </a:avLst>
          </a:prstGeom>
          <a:solidFill>
            <a:srgbClr val="15355C"/>
          </a:solidFill>
          <a:ln w="12700">
            <a:solidFill>
              <a:srgbClr val="2C56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357116" y="427939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3EC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Adjusts uncertainty dynamically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348472" y="310438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5E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&gt;</a:t>
            </a:r>
            <a:endParaRPr lang="en-US" sz="2600" dirty="0"/>
          </a:p>
        </p:txBody>
      </p:sp>
      <p:sp>
        <p:nvSpPr>
          <p:cNvPr id="30" name="Shape 28"/>
          <p:cNvSpPr/>
          <p:nvPr/>
        </p:nvSpPr>
        <p:spPr>
          <a:xfrm>
            <a:off x="8805672" y="1572768"/>
            <a:ext cx="2928823" cy="3520440"/>
          </a:xfrm>
          <a:prstGeom prst="roundRect">
            <a:avLst>
              <a:gd name="adj" fmla="val 2185"/>
            </a:avLst>
          </a:prstGeom>
          <a:solidFill>
            <a:srgbClr val="FFFFFF"/>
          </a:solidFill>
          <a:ln w="12700">
            <a:solidFill>
              <a:srgbClr val="CBD7E3"/>
            </a:solidFill>
            <a:prstDash val="solid"/>
          </a:ln>
          <a:effectLst>
            <a:outerShdw blurRad="889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9034272" y="1773936"/>
            <a:ext cx="247162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84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034272" y="2066544"/>
            <a:ext cx="24716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E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forward-looking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9034272" y="2441448"/>
            <a:ext cx="2471623" cy="457200"/>
          </a:xfrm>
          <a:prstGeom prst="roundRect">
            <a:avLst>
              <a:gd name="adj" fmla="val 12000"/>
            </a:avLst>
          </a:prstGeom>
          <a:solidFill>
            <a:srgbClr val="EAF3FC"/>
          </a:solidFill>
          <a:ln w="12700">
            <a:solidFill>
              <a:srgbClr val="CBD7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9198864" y="2615184"/>
            <a:ext cx="118872" cy="118872"/>
          </a:xfrm>
          <a:prstGeom prst="ellipse">
            <a:avLst/>
          </a:prstGeom>
          <a:solidFill>
            <a:srgbClr val="1184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9445752" y="2441448"/>
            <a:ext cx="19229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D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ML demand model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9034272" y="3008376"/>
            <a:ext cx="2471623" cy="457200"/>
          </a:xfrm>
          <a:prstGeom prst="roundRect">
            <a:avLst>
              <a:gd name="adj" fmla="val 12000"/>
            </a:avLst>
          </a:prstGeom>
          <a:solidFill>
            <a:srgbClr val="EAF3FC"/>
          </a:solidFill>
          <a:ln w="12700">
            <a:solidFill>
              <a:srgbClr val="CBD7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9198864" y="3182112"/>
            <a:ext cx="118872" cy="118872"/>
          </a:xfrm>
          <a:prstGeom prst="ellipse">
            <a:avLst/>
          </a:prstGeom>
          <a:solidFill>
            <a:srgbClr val="1184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9445752" y="3008376"/>
            <a:ext cx="19229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D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behavioral drift signal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9034272" y="3575304"/>
            <a:ext cx="2471623" cy="457200"/>
          </a:xfrm>
          <a:prstGeom prst="roundRect">
            <a:avLst>
              <a:gd name="adj" fmla="val 12000"/>
            </a:avLst>
          </a:prstGeom>
          <a:solidFill>
            <a:srgbClr val="EAF3FC"/>
          </a:solidFill>
          <a:ln w="12700">
            <a:solidFill>
              <a:srgbClr val="CBD7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9198864" y="3749040"/>
            <a:ext cx="118872" cy="118872"/>
          </a:xfrm>
          <a:prstGeom prst="ellipse">
            <a:avLst/>
          </a:prstGeom>
          <a:solidFill>
            <a:srgbClr val="1184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9445752" y="3575304"/>
            <a:ext cx="19229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D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Calibrated, uncertainty-aware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9034272" y="4142232"/>
            <a:ext cx="2471623" cy="457200"/>
          </a:xfrm>
          <a:prstGeom prst="roundRect">
            <a:avLst>
              <a:gd name="adj" fmla="val 12000"/>
            </a:avLst>
          </a:prstGeom>
          <a:solidFill>
            <a:srgbClr val="EAF3FC"/>
          </a:solidFill>
          <a:ln w="12700">
            <a:solidFill>
              <a:srgbClr val="CBD7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9198864" y="4315968"/>
            <a:ext cx="118872" cy="118872"/>
          </a:xfrm>
          <a:prstGeom prst="ellipse">
            <a:avLst/>
          </a:prstGeom>
          <a:solidFill>
            <a:srgbClr val="1184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9445752" y="4142232"/>
            <a:ext cx="19229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D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Works with little or no history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457200" y="5321808"/>
            <a:ext cx="11277295" cy="841248"/>
          </a:xfrm>
          <a:prstGeom prst="roundRect">
            <a:avLst>
              <a:gd name="adj" fmla="val 6522"/>
            </a:avLst>
          </a:prstGeom>
          <a:solidFill>
            <a:srgbClr val="EAF3FC"/>
          </a:solidFill>
          <a:ln w="12700">
            <a:solidFill>
              <a:srgbClr val="CBD7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85800" y="5394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5E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point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85800" y="5705856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D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data, a richer model — it captures </a:t>
            </a:r>
            <a:r>
              <a:rPr lang="en-US" sz="1250" b="1" dirty="0">
                <a:solidFill>
                  <a:srgbClr val="102A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an item HAS done</a:t>
            </a:r>
            <a:r>
              <a:rPr lang="en-US" sz="1250" dirty="0">
                <a:solidFill>
                  <a:srgbClr val="1D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plus </a:t>
            </a:r>
            <a:r>
              <a:rPr lang="en-US" sz="1250" b="1" dirty="0">
                <a:solidFill>
                  <a:srgbClr val="102A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it’s HEADING</a:t>
            </a:r>
            <a:r>
              <a:rPr lang="en-US" sz="1250" dirty="0">
                <a:solidFill>
                  <a:srgbClr val="1D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457200" y="6455664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CONFIDENTIAL  |  22nd Century Technologies  |  DLA EDM Vector Intelligence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1277295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E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0885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500" b="1">
                <a:solidFill>
                  <a:srgbClr val="102A4C"/>
                </a:solidFill>
                <a:latin typeface="Aptos"/>
              </a:rPr>
              <a:t>Vector Intelligence: per-week → cumulative drift → composite score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0317175" y="36576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E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Lead: Ravindra Shukla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i="1">
                <a:solidFill>
                  <a:srgbClr val="1F5E9C"/>
                </a:solidFill>
                <a:latin typeface="Aptos"/>
              </a:rPr>
              <a:t>Per-week, an attacker resembles a common user; accumulating the signal reveals persistent drift; the composite fuses every front — 4 of 4 caught.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457200" y="5989320"/>
            <a:ext cx="112772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50" i="1">
                <a:solidFill>
                  <a:srgbClr val="5E6A75"/>
                </a:solidFill>
                <a:latin typeface="Aptos"/>
              </a:rPr>
              <a:t>Synthetic / representative demo data — to be revalidated on customer SOC data before production claims.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457200" y="6455664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00">
                <a:solidFill>
                  <a:srgbClr val="5E6A75"/>
                </a:solidFill>
                <a:latin typeface="Aptos"/>
              </a:rPr>
              <a:t>CONFIDENTIAL  |  22nd Century Technologies  |  EDM Vector Intelligence — Cyber UEBA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1277295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000">
                <a:solidFill>
                  <a:srgbClr val="5E6A75"/>
                </a:solidFill>
                <a:latin typeface="Aptos"/>
              </a:rPr>
              <a:t>2</a:t>
            </a:r>
            <a:endParaRPr lang="en-US" sz="1000" dirty="0"/>
          </a:p>
        </p:txBody>
      </p:sp>
      <p:pic>
        <p:nvPicPr>
          <p:cNvPr id="26" name="Picture 25" descr="per_week_drif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1572768"/>
            <a:ext cx="3703320" cy="2855264"/>
          </a:xfrm>
          <a:prstGeom prst="rect">
            <a:avLst/>
          </a:prstGeom>
        </p:spPr>
      </p:pic>
      <p:pic>
        <p:nvPicPr>
          <p:cNvPr id="27" name="Picture 26" descr="cumulative_drif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42816" y="1572768"/>
            <a:ext cx="3703320" cy="2855264"/>
          </a:xfrm>
          <a:prstGeom prst="rect">
            <a:avLst/>
          </a:prstGeom>
        </p:spPr>
      </p:pic>
      <p:pic>
        <p:nvPicPr>
          <p:cNvPr id="28" name="Picture 27" descr="composite_scor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65592" y="1572768"/>
            <a:ext cx="3703320" cy="2855264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320040" y="4709160"/>
            <a:ext cx="11521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D2430"/>
                </a:solidFill>
              </a:rPr>
              <a:t>On any given week the stealth APT (USR-234) sits inside the normal range 97% of the time. Accumulating the signal — then fusing every front into one composite score — separates all four attackers from 250 users, at 8% false positives.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298</TotalTime>
  <Words>348</Words>
  <Application>Microsoft Office PowerPoint</Application>
  <PresentationFormat>Widescreen</PresentationFormat>
  <Paragraphs>69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Legacy vs EDM Demand Forecast</dc:title>
  <dc:subject>PptxGenJS Presentation</dc:subject>
  <dc:creator>22nd Century Technologies</dc:creator>
  <cp:lastModifiedBy>Ravindra Shukla</cp:lastModifiedBy>
  <cp:revision>1</cp:revision>
  <dcterms:created xsi:type="dcterms:W3CDTF">2026-06-13T21:16:26Z</dcterms:created>
  <dcterms:modified xsi:type="dcterms:W3CDTF">2026-06-14T02:18:13Z</dcterms:modified>
</cp:coreProperties>
</file>