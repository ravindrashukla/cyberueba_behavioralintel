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12252960"/>
  <p:notesSz cx="1225296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NGFW policy verification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 mathematical analysis that surpasses traditional firewall checks and assessments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2926080"/>
          </a:xfrm>
          <a:prstGeom prst="roundRect">
            <a:avLst>
              <a:gd name="adj" fmla="val 3750"/>
            </a:avLst>
          </a:prstGeom>
          <a:solidFill>
            <a:srgbClr val="FAFAF8"/>
          </a:solidFill>
          <a:ln w="6350">
            <a:solidFill>
              <a:srgbClr val="D6D5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6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 — four-step formal analysis flow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AECE7"/>
          </a:solidFill>
          <a:ln w="12700">
            <a:solidFill>
              <a:srgbClr val="E8A0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98448" y="1828800"/>
            <a:ext cx="502920" cy="502920"/>
          </a:xfrm>
          <a:prstGeom prst="ellipse">
            <a:avLst/>
          </a:prstGeom>
          <a:solidFill>
            <a:srgbClr val="E8A08C"/>
          </a:solidFill>
          <a:ln/>
        </p:spPr>
      </p:sp>
      <p:sp>
        <p:nvSpPr>
          <p:cNvPr id="8" name="Text 6"/>
          <p:cNvSpPr/>
          <p:nvPr/>
        </p:nvSpPr>
        <p:spPr>
          <a:xfrm>
            <a:off x="1298448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" y="2423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3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Messy NGFW configs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743200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993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100K+ rules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93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vendors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93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FQDNs, user groups,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93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regex, dynamic objects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993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errors that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993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 over time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14600" y="2743200"/>
            <a:ext cx="228600" cy="0"/>
          </a:xfrm>
          <a:prstGeom prst="line">
            <a:avLst/>
          </a:prstGeom>
          <a:noFill/>
          <a:ln w="19050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743200" y="169164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E1F5EE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01568" y="1828800"/>
            <a:ext cx="502920" cy="502920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14" name="Text 12"/>
          <p:cNvSpPr/>
          <p:nvPr/>
        </p:nvSpPr>
        <p:spPr>
          <a:xfrm>
            <a:off x="3401568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834640" y="2423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 math model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834640" y="2743200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Mathematically complete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of computation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configs +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objects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(IPs, ports, FQDNs,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users, regex)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17720" y="2743200"/>
            <a:ext cx="228600" cy="0"/>
          </a:xfrm>
          <a:prstGeom prst="line">
            <a:avLst/>
          </a:prstGeom>
          <a:noFill/>
          <a:ln w="19050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846320" y="169164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DF5E6"/>
          </a:solidFill>
          <a:ln w="12700">
            <a:solidFill>
              <a:srgbClr val="DBA84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504688" y="1828800"/>
            <a:ext cx="502920" cy="502920"/>
          </a:xfrm>
          <a:prstGeom prst="ellipse">
            <a:avLst/>
          </a:prstGeom>
          <a:solidFill>
            <a:srgbClr val="DBA84E"/>
          </a:solidFill>
          <a:ln/>
        </p:spPr>
      </p:sp>
      <p:sp>
        <p:nvSpPr>
          <p:cNvPr id="20" name="Text 18"/>
          <p:cNvSpPr/>
          <p:nvPr/>
        </p:nvSpPr>
        <p:spPr>
          <a:xfrm>
            <a:off x="5504688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937760" y="2423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5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gap findings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37760" y="2743200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7A5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Syntactic &amp; semantic errors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7A5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&amp; dynamic errors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7A5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 errors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7A5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Shadows &amp; conflicts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7A5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Redundancies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b="1" i="1" dirty="0">
                <a:solidFill>
                  <a:srgbClr val="7A5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false positives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720840" y="2743200"/>
            <a:ext cx="228600" cy="0"/>
          </a:xfrm>
          <a:prstGeom prst="line">
            <a:avLst/>
          </a:prstGeom>
          <a:noFill/>
          <a:ln w="19050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949440" y="169164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E6F1FB"/>
          </a:solidFill>
          <a:ln w="12700">
            <a:solidFill>
              <a:srgbClr val="85B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07808" y="1828800"/>
            <a:ext cx="502920" cy="502920"/>
          </a:xfrm>
          <a:prstGeom prst="ellipse">
            <a:avLst/>
          </a:prstGeom>
          <a:solidFill>
            <a:srgbClr val="185FA5"/>
          </a:solidFill>
          <a:ln/>
        </p:spPr>
      </p:sp>
      <p:sp>
        <p:nvSpPr>
          <p:cNvPr id="26" name="Text 24"/>
          <p:cNvSpPr/>
          <p:nvPr/>
        </p:nvSpPr>
        <p:spPr>
          <a:xfrm>
            <a:off x="7607808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040880" y="2423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Remediation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040880" y="2743200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Posture hardening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 resolution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consolidation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Redundancy elimination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b="1" i="1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chain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b="1" i="1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evidence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Three-step engagement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57200" y="4709160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F3F2EE"/>
          </a:solidFill>
          <a:ln w="6350">
            <a:solidFill>
              <a:srgbClr val="D6D5C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" y="4983480"/>
            <a:ext cx="457200" cy="45720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32" name="Text 30"/>
          <p:cNvSpPr/>
          <p:nvPr/>
        </p:nvSpPr>
        <p:spPr>
          <a:xfrm>
            <a:off x="594360" y="4983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143000" y="4846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config upload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143000" y="51206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send your NGFW configurations via our secure portal. No agents, no telemetry, no production touch.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46120" y="4709160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F3F2EE"/>
          </a:solidFill>
          <a:ln w="6350">
            <a:solidFill>
              <a:srgbClr val="D6D5C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383280" y="4983480"/>
            <a:ext cx="457200" cy="45720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37" name="Text 35"/>
          <p:cNvSpPr/>
          <p:nvPr/>
        </p:nvSpPr>
        <p:spPr>
          <a:xfrm>
            <a:off x="3383280" y="4983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3931920" y="4846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findings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931920" y="51206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deliver detailed control gap findings with semantic chain of evidence — no false positives, no false negatives.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035040" y="4709160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F3F2EE"/>
          </a:solidFill>
          <a:ln w="6350">
            <a:solidFill>
              <a:srgbClr val="D6D5C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172200" y="4983480"/>
            <a:ext cx="457200" cy="45720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42" name="Text 40"/>
          <p:cNvSpPr/>
          <p:nvPr/>
        </p:nvSpPr>
        <p:spPr>
          <a:xfrm>
            <a:off x="6172200" y="4983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6720840" y="4846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&amp; remediate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720840" y="51206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review findings and optionally implement remediation recommendations at your own pace.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57200" y="5989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we’ve found in real customer environments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457200" y="6400800"/>
            <a:ext cx="39776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6350">
            <a:solidFill>
              <a:srgbClr val="D6D5C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57200" y="6400800"/>
            <a:ext cx="73152" cy="868680"/>
          </a:xfrm>
          <a:prstGeom prst="rect">
            <a:avLst/>
          </a:prstGeom>
          <a:solidFill>
            <a:srgbClr val="C27B2A"/>
          </a:solidFill>
          <a:ln/>
        </p:spPr>
      </p:sp>
      <p:sp>
        <p:nvSpPr>
          <p:cNvPr id="48" name="Text 46"/>
          <p:cNvSpPr/>
          <p:nvPr/>
        </p:nvSpPr>
        <p:spPr>
          <a:xfrm>
            <a:off x="640080" y="64922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2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SERVICES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40080" y="6693408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Conflicting rules caused access to malicious IPs, exposing an Asian bank to regulatory fines.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709160" y="6400800"/>
            <a:ext cx="39776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6350">
            <a:solidFill>
              <a:srgbClr val="D6D5C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09160" y="6400800"/>
            <a:ext cx="73152" cy="868680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52" name="Text 50"/>
          <p:cNvSpPr/>
          <p:nvPr/>
        </p:nvSpPr>
        <p:spPr>
          <a:xfrm>
            <a:off x="4892040" y="64922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EDUCATION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892040" y="6693408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Posture gap in virus filtering of internet traffic exposed a US university to compliance failure.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57200" y="7406640"/>
            <a:ext cx="39776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6350">
            <a:solidFill>
              <a:srgbClr val="D6D5C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57200" y="7406640"/>
            <a:ext cx="73152" cy="868680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56" name="Text 54"/>
          <p:cNvSpPr/>
          <p:nvPr/>
        </p:nvSpPr>
        <p:spPr>
          <a:xfrm>
            <a:off x="640080" y="749808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EDUCATION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640080" y="7699248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Combination of multiple rules shadowed DNS threat posture for customer-facing applications.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709160" y="7406640"/>
            <a:ext cx="39776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6350">
            <a:solidFill>
              <a:srgbClr val="D6D5C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709160" y="7406640"/>
            <a:ext cx="73152" cy="86868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60" name="Text 58"/>
          <p:cNvSpPr/>
          <p:nvPr/>
        </p:nvSpPr>
        <p:spPr>
          <a:xfrm>
            <a:off x="4892040" y="749808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UTILITIES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4892040" y="7699248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inbound telnet ports at an Asian utility company would have resulted in regulatory audit failure.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457200" y="8412480"/>
            <a:ext cx="39776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6350">
            <a:solidFill>
              <a:srgbClr val="D6D5C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57200" y="8412480"/>
            <a:ext cx="73152" cy="868680"/>
          </a:xfrm>
          <a:prstGeom prst="rect">
            <a:avLst/>
          </a:prstGeom>
          <a:solidFill>
            <a:srgbClr val="9E3A2A"/>
          </a:solidFill>
          <a:ln/>
        </p:spPr>
      </p:sp>
      <p:sp>
        <p:nvSpPr>
          <p:cNvPr id="64" name="Text 62"/>
          <p:cNvSpPr/>
          <p:nvPr/>
        </p:nvSpPr>
        <p:spPr>
          <a:xfrm>
            <a:off x="640080" y="85039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E3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(F100)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640080" y="8705088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100+ configuration errors created high-risk exposure for a Silicon Valley Fortune 100 company.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4709160" y="8412480"/>
            <a:ext cx="39776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6350">
            <a:solidFill>
              <a:srgbClr val="D6D5C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709160" y="8412480"/>
            <a:ext cx="73152" cy="868680"/>
          </a:xfrm>
          <a:prstGeom prst="rect">
            <a:avLst/>
          </a:prstGeom>
          <a:solidFill>
            <a:srgbClr val="9E3A2A"/>
          </a:solidFill>
          <a:ln/>
        </p:spPr>
      </p:sp>
      <p:sp>
        <p:nvSpPr>
          <p:cNvPr id="68" name="Text 66"/>
          <p:cNvSpPr/>
          <p:nvPr/>
        </p:nvSpPr>
        <p:spPr>
          <a:xfrm>
            <a:off x="4892040" y="85039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E3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CENTER (F500)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4892040" y="8705088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Absence of a data security profile exposed critical assets at a Fortune 500 data center to malware.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457200" y="9418320"/>
            <a:ext cx="39776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6350">
            <a:solidFill>
              <a:srgbClr val="D6D5C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57200" y="9418320"/>
            <a:ext cx="73152" cy="868680"/>
          </a:xfrm>
          <a:prstGeom prst="rect">
            <a:avLst/>
          </a:prstGeom>
          <a:solidFill>
            <a:srgbClr val="7A5B1A"/>
          </a:solidFill>
          <a:ln/>
        </p:spPr>
      </p:sp>
      <p:sp>
        <p:nvSpPr>
          <p:cNvPr id="72" name="Text 70"/>
          <p:cNvSpPr/>
          <p:nvPr/>
        </p:nvSpPr>
        <p:spPr>
          <a:xfrm>
            <a:off x="640080" y="95097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5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GOVERNMENT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640080" y="9710928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anti-virus and anti-spyware at a state agency would have resulted in high-risk botnet exposure.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4709160" y="9418320"/>
            <a:ext cx="39776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6350">
            <a:solidFill>
              <a:srgbClr val="D6D5C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709160" y="9418320"/>
            <a:ext cx="73152" cy="86868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76" name="Text 74"/>
          <p:cNvSpPr/>
          <p:nvPr/>
        </p:nvSpPr>
        <p:spPr>
          <a:xfrm>
            <a:off x="4892040" y="95097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4892040" y="9710928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Shadowed SMB app-control rules allowed vulnerable SMBv1.0 traffic, enabling lateral malware migration.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457200" y="10241280"/>
            <a:ext cx="3977640" cy="1554480"/>
          </a:xfrm>
          <a:prstGeom prst="roundRect">
            <a:avLst>
              <a:gd name="adj" fmla="val 4706"/>
            </a:avLst>
          </a:prstGeom>
          <a:solidFill>
            <a:srgbClr val="F9F9F6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40080" y="103510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Supported vendors</a:t>
            </a:r>
            <a:endParaRPr lang="en-US" sz="1200" dirty="0"/>
          </a:p>
        </p:txBody>
      </p:sp>
      <p:sp>
        <p:nvSpPr>
          <p:cNvPr id="80" name="Text 78"/>
          <p:cNvSpPr/>
          <p:nvPr/>
        </p:nvSpPr>
        <p:spPr>
          <a:xfrm>
            <a:off x="640080" y="10625328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Palo Alto Networks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Fortinet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Cisco ASA, FTD, Meraki  (roadmap)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640080" y="115214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roadmap: intra- and inter-device topology modeling, extended intent errors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4709160" y="10241280"/>
            <a:ext cx="3977640" cy="1554480"/>
          </a:xfrm>
          <a:prstGeom prst="roundRect">
            <a:avLst>
              <a:gd name="adj" fmla="val 4706"/>
            </a:avLst>
          </a:prstGeom>
          <a:solidFill>
            <a:srgbClr val="E1F5EE"/>
          </a:solidFill>
          <a:ln w="9525">
            <a:solidFill>
              <a:srgbClr val="1D9E75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892040" y="103510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differentiators</a:t>
            </a:r>
            <a:endParaRPr lang="en-US" sz="1200" dirty="0"/>
          </a:p>
        </p:txBody>
      </p:sp>
      <p:sp>
        <p:nvSpPr>
          <p:cNvPr id="84" name="Text 82"/>
          <p:cNvSpPr/>
          <p:nvPr/>
        </p:nvSpPr>
        <p:spPr>
          <a:xfrm>
            <a:off x="4892040" y="10625328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Mathematically complete model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Resolves dynamic operational state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chain of evidence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false positives, zero false negatives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457200" y="119329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4,000+ past and present customers who have benefited from formal firewall analysis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NGFW Policy Verification Use Case</dc:title>
  <dc:subject>PptxGenJS Presentation</dc:subject>
  <dc:creator>PptxGenJS</dc:creator>
  <cp:lastModifiedBy>PptxGenJS</cp:lastModifiedBy>
  <cp:revision>1</cp:revision>
  <dcterms:created xsi:type="dcterms:W3CDTF">2026-04-17T18:37:39Z</dcterms:created>
  <dcterms:modified xsi:type="dcterms:W3CDTF">2026-04-17T18:37:39Z</dcterms:modified>
</cp:coreProperties>
</file>