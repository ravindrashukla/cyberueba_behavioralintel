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C27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C27A07"/>
                </a:solidFill>
                <a:latin typeface="Segoe UI"/>
              </a:rPr>
              <a:t>V-INTELLIGENCE UEBA</a:t>
            </a:r>
          </a:p>
          <a:p>
            <a:pPr>
              <a:spcBef>
                <a:spcPts val="1000"/>
              </a:spcBef>
            </a:pPr>
            <a:r>
              <a:rPr sz="4000" b="1" i="0">
                <a:solidFill>
                  <a:srgbClr val="FFFFFF"/>
                </a:solidFill>
                <a:latin typeface="Segoe UI"/>
              </a:rPr>
              <a:t>Behavioral Entity Intelligence for Cyber Defense</a:t>
            </a:r>
          </a:p>
          <a:p>
            <a:pPr>
              <a:spcBef>
                <a:spcPts val="1400"/>
              </a:spcBef>
            </a:pPr>
            <a:r>
              <a:rPr sz="1800" b="0" i="0">
                <a:solidFill>
                  <a:srgbClr val="C9D6E4"/>
                </a:solidFill>
                <a:latin typeface="Segoe UI"/>
              </a:rPr>
              <a:t>Catching the attacks that stay under the alarm: insiders, nation-state intrusions, and living-off-the-land campaigns.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9FB3C8"/>
                </a:solidFill>
                <a:latin typeface="Segoe UI"/>
              </a:rPr>
              <a:t>Executive Overview   |   Business and Technical Briefing   | 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C27A07"/>
                </a:solidFill>
                <a:latin typeface="Segoe UI"/>
              </a:rPr>
              <a:t>THE PROBLEM</a:t>
            </a:r>
          </a:p>
          <a:p>
            <a:pPr>
              <a:spcBef>
                <a:spcPts val="200"/>
              </a:spcBef>
            </a:pPr>
            <a:r>
              <a:rPr sz="2700" b="1" i="0">
                <a:solidFill>
                  <a:srgbClr val="0B1F3A"/>
                </a:solidFill>
                <a:latin typeface="Segoe UI"/>
              </a:rPr>
              <a:t>The attacks that matter most never trip an alarm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56068"/>
                </a:solidFill>
                <a:latin typeface="Segoe UI"/>
              </a:rPr>
              <a:t>V-Intelligence UEBA   |   Behavioral Entity Intelligence</a:t>
            </a:r>
            <a:r>
              <a:rPr sz="900" b="0" i="1">
                <a:solidFill>
                  <a:srgbClr val="C27A07"/>
                </a:solidFill>
                <a:latin typeface="Segoe UI"/>
              </a:rPr>
              <a:t>          Proof of concept on synthetic data</a:t>
            </a:r>
            <a:r>
              <a:rPr sz="900">
                <a:solidFill>
                  <a:srgbClr val="556068"/>
                </a:solidFill>
              </a:rPr>
              <a:t>         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4864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 i="0">
                <a:solidFill>
                  <a:srgbClr val="0E6E6B"/>
                </a:solidFill>
                <a:latin typeface="Segoe UI"/>
              </a:rPr>
              <a:t>▶  </a:t>
            </a:r>
            <a:r>
              <a:rPr sz="1500" b="1" i="0">
                <a:solidFill>
                  <a:srgbClr val="22282E"/>
                </a:solidFill>
                <a:latin typeface="Segoe UI"/>
              </a:rPr>
              <a:t>Volt Typhoon. </a:t>
            </a:r>
            <a:r>
              <a:rPr sz="1500" b="0" i="0">
                <a:solidFill>
                  <a:srgbClr val="22282E"/>
                </a:solidFill>
                <a:latin typeface="Segoe UI"/>
              </a:rPr>
              <a:t>A state-sponsored campaign lived inside US critical-infrastructure networks for at least five years, undetected by any victim tool.</a:t>
            </a:r>
          </a:p>
          <a:p>
            <a:pPr>
              <a:spcAft>
                <a:spcPts val="1200"/>
              </a:spcAft>
            </a:pPr>
            <a:r>
              <a:rPr sz="1200" b="1" i="0">
                <a:solidFill>
                  <a:srgbClr val="0E6E6B"/>
                </a:solidFill>
                <a:latin typeface="Segoe UI"/>
              </a:rPr>
              <a:t>▶  </a:t>
            </a:r>
            <a:r>
              <a:rPr sz="1500" b="1" i="0">
                <a:solidFill>
                  <a:srgbClr val="22282E"/>
                </a:solidFill>
                <a:latin typeface="Segoe UI"/>
              </a:rPr>
              <a:t>Salt Typhoon. </a:t>
            </a:r>
            <a:r>
              <a:rPr sz="1500" b="0" i="0">
                <a:solidFill>
                  <a:srgbClr val="22282E"/>
                </a:solidFill>
                <a:latin typeface="Segoe UI"/>
              </a:rPr>
              <a:t>A second campaign sat inside major US telecom carriers for months, called the worst telecom hack in the nation's history.</a:t>
            </a:r>
          </a:p>
          <a:p>
            <a:pPr>
              <a:spcAft>
                <a:spcPts val="1200"/>
              </a:spcAft>
            </a:pPr>
            <a:r>
              <a:rPr sz="1200" b="1" i="0">
                <a:solidFill>
                  <a:srgbClr val="0E6E6B"/>
                </a:solidFill>
                <a:latin typeface="Segoe UI"/>
              </a:rPr>
              <a:t>▶  </a:t>
            </a:r>
            <a:r>
              <a:rPr sz="1500" b="1" i="0">
                <a:solidFill>
                  <a:srgbClr val="22282E"/>
                </a:solidFill>
                <a:latin typeface="Segoe UI"/>
              </a:rPr>
              <a:t>Insiders. </a:t>
            </a:r>
            <a:r>
              <a:rPr sz="1500" b="0" i="0">
                <a:solidFill>
                  <a:srgbClr val="22282E"/>
                </a:solidFill>
                <a:latin typeface="Segoe UI"/>
              </a:rPr>
              <a:t>Roughly one breach in five comes from inside, with a median time to discovery beyond 200 days.</a:t>
            </a:r>
          </a:p>
          <a:p>
            <a:pPr>
              <a:spcAft>
                <a:spcPts val="1200"/>
              </a:spcAft>
            </a:pPr>
            <a:r>
              <a:rPr sz="1200" b="1" i="0">
                <a:solidFill>
                  <a:srgbClr val="0E6E6B"/>
                </a:solidFill>
                <a:latin typeface="Segoe UI"/>
              </a:rPr>
              <a:t>▶  </a:t>
            </a:r>
            <a:r>
              <a:rPr sz="1500" b="1" i="0">
                <a:solidFill>
                  <a:srgbClr val="22282E"/>
                </a:solidFill>
                <a:latin typeface="Segoe UI"/>
              </a:rPr>
              <a:t>The common thread. </a:t>
            </a:r>
            <a:r>
              <a:rPr sz="1500" b="0" i="0">
                <a:solidFill>
                  <a:srgbClr val="22282E"/>
                </a:solidFill>
                <a:latin typeface="Segoe UI"/>
              </a:rPr>
              <a:t>Valid credentials, legitimate tools, and gradual change over months. Every single action looks authorized.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828800"/>
            <a:ext cx="5120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5120640" cy="822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2066544"/>
            <a:ext cx="471830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C0392B"/>
                </a:solidFill>
                <a:latin typeface="Segoe UI"/>
              </a:rPr>
              <a:t>Found by outsiders, not by victims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22282E"/>
                </a:solidFill>
                <a:latin typeface="Segoe UI"/>
              </a:rPr>
              <a:t>In both Typhoon campaigns the victims' SIEM, antivirus, and endpoint tools stayed green. The intrusions were discovered by outside intelligence agencies, years and months too late.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3840480"/>
            <a:ext cx="5120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3840480"/>
            <a:ext cx="5120640" cy="82296"/>
          </a:xfrm>
          <a:prstGeom prst="rect">
            <a:avLst/>
          </a:prstGeom>
          <a:solidFill>
            <a:srgbClr val="C27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4078224"/>
            <a:ext cx="471830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C27A07"/>
                </a:solidFill>
                <a:latin typeface="Segoe UI"/>
              </a:rPr>
              <a:t>This is a structural gap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22282E"/>
                </a:solidFill>
                <a:latin typeface="Segoe UI"/>
              </a:rPr>
              <a:t>It is not a missed patch or a tuning error. The tools were asking "does this match something known to be bad?" and these attackers are built to answer no.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C27A07"/>
                </a:solidFill>
                <a:latin typeface="Segoe UI"/>
              </a:rPr>
              <a:t>WHY TODAY'S TOOLS MISS THEM</a:t>
            </a:r>
          </a:p>
          <a:p>
            <a:pPr>
              <a:spcBef>
                <a:spcPts val="200"/>
              </a:spcBef>
            </a:pPr>
            <a:r>
              <a:rPr sz="2700" b="1" i="0">
                <a:solidFill>
                  <a:srgbClr val="0B1F3A"/>
                </a:solidFill>
                <a:latin typeface="Segoe UI"/>
              </a:rPr>
              <a:t>Five blind spots in conventional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56068"/>
                </a:solidFill>
                <a:latin typeface="Segoe UI"/>
              </a:rPr>
              <a:t>V-Intelligence UEBA   |   Behavioral Entity Intelligence</a:t>
            </a:r>
            <a:r>
              <a:rPr sz="900" b="0" i="1">
                <a:solidFill>
                  <a:srgbClr val="C27A07"/>
                </a:solidFill>
                <a:latin typeface="Segoe UI"/>
              </a:rPr>
              <a:t>          Proof of concept on synthetic data</a:t>
            </a:r>
            <a:r>
              <a:rPr sz="900">
                <a:solidFill>
                  <a:srgbClr val="556068"/>
                </a:solidFill>
              </a:rPr>
              <a:t>          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341985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3419856" cy="82296"/>
          </a:xfrm>
          <a:prstGeom prst="rect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020824"/>
            <a:ext cx="301752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0E6E6B"/>
                </a:solidFill>
                <a:latin typeface="Segoe UI"/>
              </a:rPr>
              <a:t>Look for the known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22282E"/>
                </a:solidFill>
                <a:latin typeface="Segoe UI"/>
              </a:rPr>
              <a:t>Signatures match only catalogued threats. Living-off-the-land attacks bring no malware to fingerprint.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79976" y="1783080"/>
            <a:ext cx="341985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79976" y="1783080"/>
            <a:ext cx="3419856" cy="82296"/>
          </a:xfrm>
          <a:prstGeom prst="rect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2020824"/>
            <a:ext cx="301752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0E6E6B"/>
                </a:solidFill>
                <a:latin typeface="Segoe UI"/>
              </a:rPr>
              <a:t>Measure how much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22282E"/>
                </a:solidFill>
                <a:latin typeface="Segoe UI"/>
              </a:rPr>
              <a:t>Thresholds watch volume. An insider holds volume flat and shifts what they access instead.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1783080"/>
            <a:ext cx="341985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19872" y="1783080"/>
            <a:ext cx="3419856" cy="82296"/>
          </a:xfrm>
          <a:prstGeom prst="rect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020824"/>
            <a:ext cx="301752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0E6E6B"/>
                </a:solidFill>
                <a:latin typeface="Segoe UI"/>
              </a:rPr>
              <a:t>Watch one entity alone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22282E"/>
                </a:solidFill>
                <a:latin typeface="Segoe UI"/>
              </a:rPr>
              <a:t>A covert channel calling home on a steady rhythm is invisible to a tool that only counts traffic.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977639"/>
            <a:ext cx="341985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977639"/>
            <a:ext cx="3419856" cy="82296"/>
          </a:xfrm>
          <a:prstGeom prst="rect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215383"/>
            <a:ext cx="301752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0E6E6B"/>
                </a:solidFill>
                <a:latin typeface="Segoe UI"/>
              </a:rPr>
              <a:t>Judge a single moment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22282E"/>
                </a:solidFill>
                <a:latin typeface="Segoe UI"/>
              </a:rPr>
              <a:t>Slow-and-low change is invisible in any one week and clear only across months.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9976" y="3977639"/>
            <a:ext cx="341985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79976" y="3977639"/>
            <a:ext cx="3419856" cy="82296"/>
          </a:xfrm>
          <a:prstGeom prst="rect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4215383"/>
            <a:ext cx="301752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0E6E6B"/>
                </a:solidFill>
                <a:latin typeface="Segoe UI"/>
              </a:rPr>
              <a:t>Compare you to everyone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22282E"/>
                </a:solidFill>
                <a:latin typeface="Segoe UI"/>
              </a:rPr>
              <a:t>A developer judged against the whole company hides abuse that stands out only among developers.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19872" y="3977639"/>
            <a:ext cx="341985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19872" y="3977639"/>
            <a:ext cx="3419856" cy="822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4215383"/>
            <a:ext cx="301752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C0392B"/>
                </a:solidFill>
                <a:latin typeface="Segoe UI"/>
              </a:rPr>
              <a:t>The trap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22282E"/>
                </a:solidFill>
                <a:latin typeface="Segoe UI"/>
              </a:rPr>
              <a:t>Loosen the tools and they bury analysts in false alarms. Tighten them and they miss the real attack.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C27A07"/>
                </a:solidFill>
                <a:latin typeface="Segoe UI"/>
              </a:rPr>
              <a:t>A DIFFERENT WAY TO SEE</a:t>
            </a:r>
          </a:p>
          <a:p>
            <a:pPr>
              <a:spcBef>
                <a:spcPts val="200"/>
              </a:spcBef>
            </a:pPr>
            <a:r>
              <a:rPr sz="2700" b="1" i="0">
                <a:solidFill>
                  <a:srgbClr val="0B1F3A"/>
                </a:solidFill>
                <a:latin typeface="Segoe UI"/>
              </a:rPr>
              <a:t>Measure direction, not just magnitude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56068"/>
                </a:solidFill>
                <a:latin typeface="Segoe UI"/>
              </a:rPr>
              <a:t>V-Intelligence UEBA   |   Behavioral Entity Intelligence</a:t>
            </a:r>
            <a:r>
              <a:rPr sz="900" b="0" i="1">
                <a:solidFill>
                  <a:srgbClr val="C27A07"/>
                </a:solidFill>
                <a:latin typeface="Segoe UI"/>
              </a:rPr>
              <a:t>          Proof of concept on synthetic data</a:t>
            </a:r>
            <a:r>
              <a:rPr sz="900">
                <a:solidFill>
                  <a:srgbClr val="556068"/>
                </a:solidFill>
              </a:rPr>
              <a:t>         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0292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200" b="1" i="0">
                <a:solidFill>
                  <a:srgbClr val="0E6E6B"/>
                </a:solidFill>
                <a:latin typeface="Segoe UI"/>
              </a:rPr>
              <a:t>▶  </a:t>
            </a:r>
            <a:r>
              <a:rPr sz="1350" b="1" i="0">
                <a:solidFill>
                  <a:srgbClr val="22282E"/>
                </a:solidFill>
                <a:latin typeface="Segoe UI"/>
              </a:rPr>
              <a:t>Behavior, not events. </a:t>
            </a:r>
            <a:r>
              <a:rPr sz="1350" b="0" i="0">
                <a:solidFill>
                  <a:srgbClr val="22282E"/>
                </a:solidFill>
                <a:latin typeface="Segoe UI"/>
              </a:rPr>
              <a:t>Each entity is a profile that evolves week to week, like a medical chart.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0E6E6B"/>
                </a:solidFill>
                <a:latin typeface="Segoe UI"/>
              </a:rPr>
              <a:t>▶  </a:t>
            </a:r>
            <a:r>
              <a:rPr sz="1350" b="1" i="0">
                <a:solidFill>
                  <a:srgbClr val="22282E"/>
                </a:solidFill>
                <a:latin typeface="Segoe UI"/>
              </a:rPr>
              <a:t>Direction, not size. </a:t>
            </a:r>
            <a:r>
              <a:rPr sz="1350" b="0" i="0">
                <a:solidFill>
                  <a:srgbClr val="22282E"/>
                </a:solidFill>
                <a:latin typeface="Segoe UI"/>
              </a:rPr>
              <a:t>We track which way behavior is trending, not just how big it is.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0E6E6B"/>
                </a:solidFill>
                <a:latin typeface="Segoe UI"/>
              </a:rPr>
              <a:t>▶  </a:t>
            </a:r>
            <a:r>
              <a:rPr sz="1350" b="1" i="0">
                <a:solidFill>
                  <a:srgbClr val="22282E"/>
                </a:solidFill>
                <a:latin typeface="Segoe UI"/>
              </a:rPr>
              <a:t>Peers, not the crowd. </a:t>
            </a:r>
            <a:r>
              <a:rPr sz="1350" b="0" i="0">
                <a:solidFill>
                  <a:srgbClr val="22282E"/>
                </a:solidFill>
                <a:latin typeface="Segoe UI"/>
              </a:rPr>
              <a:t>Each entity is judged against its true role-group.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0E6E6B"/>
                </a:solidFill>
                <a:latin typeface="Segoe UI"/>
              </a:rPr>
              <a:t>▶  </a:t>
            </a:r>
            <a:r>
              <a:rPr sz="1350" b="1" i="0">
                <a:solidFill>
                  <a:srgbClr val="22282E"/>
                </a:solidFill>
                <a:latin typeface="Segoe UI"/>
              </a:rPr>
              <a:t>Explanation attached. </a:t>
            </a:r>
            <a:r>
              <a:rPr sz="1350" b="0" i="0">
                <a:solidFill>
                  <a:srgbClr val="22282E"/>
                </a:solidFill>
                <a:latin typeface="Segoe UI"/>
              </a:rPr>
              <a:t>Each finding names what changed and the attacker technique it resembles.</a:t>
            </a:r>
          </a:p>
        </p:txBody>
      </p:sp>
      <p:pic>
        <p:nvPicPr>
          <p:cNvPr id="6" name="Picture 5" descr="chart_dir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783080"/>
            <a:ext cx="5897880" cy="20176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166360"/>
            <a:ext cx="109728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C27A07"/>
                </a:solidFill>
                <a:latin typeface="Segoe UI"/>
              </a:rPr>
              <a:t>The insider example: </a:t>
            </a:r>
            <a:r>
              <a:rPr sz="1400" b="0" i="0">
                <a:solidFill>
                  <a:srgbClr val="22282E"/>
                </a:solidFill>
                <a:latin typeface="Segoe UI"/>
              </a:rPr>
              <a:t>file volume never changes, so every magnitude-based tool stays silent. What changes is the direction, the share of confidential material, which is exactly what behavioral intelligence watches.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C27A07"/>
                </a:solidFill>
                <a:latin typeface="Segoe UI"/>
              </a:rPr>
              <a:t>HOW IT WORKS</a:t>
            </a:r>
          </a:p>
          <a:p>
            <a:pPr>
              <a:spcBef>
                <a:spcPts val="200"/>
              </a:spcBef>
            </a:pPr>
            <a:r>
              <a:rPr sz="2700" b="1" i="0">
                <a:solidFill>
                  <a:srgbClr val="0B1F3A"/>
                </a:solidFill>
                <a:latin typeface="Segoe UI"/>
              </a:rPr>
              <a:t>One pipeline, two complementary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56068"/>
                </a:solidFill>
                <a:latin typeface="Segoe UI"/>
              </a:rPr>
              <a:t>V-Intelligence UEBA   |   Behavioral Entity Intelligence</a:t>
            </a:r>
            <a:r>
              <a:rPr sz="900" b="0" i="1">
                <a:solidFill>
                  <a:srgbClr val="C27A07"/>
                </a:solidFill>
                <a:latin typeface="Segoe UI"/>
              </a:rPr>
              <a:t>          Proof of concept on synthetic data</a:t>
            </a:r>
            <a:r>
              <a:rPr sz="900">
                <a:solidFill>
                  <a:srgbClr val="556068"/>
                </a:solidFill>
              </a:rPr>
              <a:t>         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834640"/>
            <a:ext cx="2240280" cy="1371600"/>
          </a:xfrm>
          <a:prstGeom prst="roundRect">
            <a:avLst/>
          </a:prstGeom>
          <a:solidFill>
            <a:srgbClr val="EAF2F1"/>
          </a:solidFill>
          <a:ln w="12700">
            <a:solidFill>
              <a:srgbClr val="EAF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 i="0">
                <a:solidFill>
                  <a:srgbClr val="22282E"/>
                </a:solidFill>
                <a:latin typeface="Segoe UI"/>
              </a:rPr>
              <a:t>Five log sources</a:t>
            </a:r>
          </a:p>
          <a:p>
            <a:pPr algn="ctr">
              <a:spcBef>
                <a:spcPts val="300"/>
              </a:spcBef>
            </a:pPr>
            <a:r>
              <a:rPr sz="1050" b="0" i="0">
                <a:solidFill>
                  <a:srgbClr val="22282E"/>
                </a:solidFill>
                <a:latin typeface="Segoe UI"/>
              </a:rPr>
              <a:t>sign-in, file, endpoint,
network, DNS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52928" y="3310128"/>
            <a:ext cx="457200" cy="411480"/>
          </a:xfrm>
          <a:prstGeom prst="rightArrow">
            <a:avLst/>
          </a:prstGeom>
          <a:solidFill>
            <a:srgbClr val="B6C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64992" y="2834640"/>
            <a:ext cx="2286000" cy="1371600"/>
          </a:xfrm>
          <a:prstGeom prst="roundRect">
            <a:avLst/>
          </a:prstGeom>
          <a:solidFill>
            <a:srgbClr val="EAF2F1"/>
          </a:solidFill>
          <a:ln w="12700">
            <a:solidFill>
              <a:srgbClr val="EAF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 i="0">
                <a:solidFill>
                  <a:srgbClr val="22282E"/>
                </a:solidFill>
                <a:latin typeface="Segoe UI"/>
              </a:rPr>
              <a:t>Behavioral profile</a:t>
            </a:r>
          </a:p>
          <a:p>
            <a:pPr algn="ctr">
              <a:spcBef>
                <a:spcPts val="300"/>
              </a:spcBef>
            </a:pPr>
            <a:r>
              <a:rPr sz="1050" b="0" i="0">
                <a:solidFill>
                  <a:srgbClr val="22282E"/>
                </a:solidFill>
                <a:latin typeface="Segoe UI"/>
              </a:rPr>
              <a:t>per entity, five zones,
updated weekly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724144" y="3310128"/>
            <a:ext cx="457200" cy="411480"/>
          </a:xfrm>
          <a:prstGeom prst="rightArrow">
            <a:avLst/>
          </a:prstGeom>
          <a:solidFill>
            <a:srgbClr val="B6C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36208" y="1783080"/>
            <a:ext cx="2880360" cy="1371600"/>
          </a:xfrm>
          <a:prstGeom prst="roundRect">
            <a:avLst/>
          </a:prstGeom>
          <a:solidFill>
            <a:srgbClr val="0E6E6B"/>
          </a:solidFill>
          <a:ln w="12700">
            <a:solidFill>
              <a:srgbClr val="0E6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Layer 1: Precision</a:t>
            </a:r>
          </a:p>
          <a:p>
            <a:pPr algn="ctr">
              <a:spcBef>
                <a:spcPts val="300"/>
              </a:spcBef>
            </a:pPr>
            <a:r>
              <a:rPr sz="1050" b="0" i="0">
                <a:solidFill>
                  <a:srgbClr val="FFFFFF"/>
                </a:solidFill>
                <a:latin typeface="Segoe UI"/>
              </a:rPr>
              <a:t>named fingerprints,
peer-relative, near-zero
false alarms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3886200"/>
            <a:ext cx="2880360" cy="1371600"/>
          </a:xfrm>
          <a:prstGeom prst="roundRect">
            <a:avLst/>
          </a:prstGeom>
          <a:solidFill>
            <a:srgbClr val="C27A07"/>
          </a:solidFill>
          <a:ln w="12700">
            <a:solidFill>
              <a:srgbClr val="C27A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Layer 2: Discovery</a:t>
            </a:r>
          </a:p>
          <a:p>
            <a:pPr algn="ctr">
              <a:spcBef>
                <a:spcPts val="300"/>
              </a:spcBef>
            </a:pPr>
            <a:r>
              <a:rPr sz="1050" b="0" i="0">
                <a:solidFill>
                  <a:srgbClr val="FFFFFF"/>
                </a:solidFill>
                <a:latin typeface="Segoe UI"/>
              </a:rPr>
              <a:t>drift and novelty, names
the direction of change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189720" y="3310128"/>
            <a:ext cx="457200" cy="411480"/>
          </a:xfrm>
          <a:prstGeom prst="rightArrow">
            <a:avLst/>
          </a:prstGeom>
          <a:solidFill>
            <a:srgbClr val="B6C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92640" y="2834640"/>
            <a:ext cx="2240280" cy="137160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Ranked, explained leads</a:t>
            </a:r>
          </a:p>
          <a:p>
            <a:pPr algn="ctr">
              <a:spcBef>
                <a:spcPts val="300"/>
              </a:spcBef>
            </a:pPr>
            <a:r>
              <a:rPr sz="1050" b="0" i="0">
                <a:solidFill>
                  <a:srgbClr val="FFFFFF"/>
                </a:solidFill>
                <a:latin typeface="Segoe UI"/>
              </a:rPr>
              <a:t>with a MITRE ATT&amp;CK
technique, into your SOC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6235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22282E"/>
                </a:solidFill>
                <a:latin typeface="Segoe UI"/>
              </a:rPr>
              <a:t>Layer 1 catches what we can name and keeps false alarms low. Layer 2 is the safety net for novel attacks and explains the direction.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C27A07"/>
                </a:solidFill>
                <a:latin typeface="Segoe UI"/>
              </a:rPr>
              <a:t>DRIFT IN ACTION</a:t>
            </a:r>
          </a:p>
          <a:p>
            <a:pPr>
              <a:spcBef>
                <a:spcPts val="200"/>
              </a:spcBef>
            </a:pPr>
            <a:r>
              <a:rPr sz="2700" b="1" i="0">
                <a:solidFill>
                  <a:srgbClr val="0B1F3A"/>
                </a:solidFill>
                <a:latin typeface="Segoe UI"/>
              </a:rPr>
              <a:t>Behavioral drift pulls the attackers clear of normal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56068"/>
                </a:solidFill>
                <a:latin typeface="Segoe UI"/>
              </a:rPr>
              <a:t>V-Intelligence UEBA   |   Behavioral Entity Intelligence</a:t>
            </a:r>
            <a:r>
              <a:rPr sz="900" b="0" i="1">
                <a:solidFill>
                  <a:srgbClr val="C27A07"/>
                </a:solidFill>
                <a:latin typeface="Segoe UI"/>
              </a:rPr>
              <a:t>          Proof of concept on synthetic data</a:t>
            </a:r>
            <a:r>
              <a:rPr sz="900">
                <a:solidFill>
                  <a:srgbClr val="556068"/>
                </a:solidFill>
              </a:rPr>
              <a:t>          5</a:t>
            </a:r>
          </a:p>
        </p:txBody>
      </p:sp>
      <p:pic>
        <p:nvPicPr>
          <p:cNvPr id="5" name="Picture 4" descr="chart_d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0"/>
            <a:ext cx="7772400" cy="313264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549640" y="1783080"/>
            <a:ext cx="315468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49640" y="1783080"/>
            <a:ext cx="3154680" cy="82296"/>
          </a:xfrm>
          <a:prstGeom prst="rect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50808" y="2020824"/>
            <a:ext cx="2752344" cy="1508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0E6E6B"/>
                </a:solidFill>
                <a:latin typeface="Segoe UI"/>
              </a:rPr>
              <a:t>What drift measures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22282E"/>
                </a:solidFill>
                <a:latin typeface="Segoe UI"/>
              </a:rPr>
              <a:t>How far an entity has moved from its own normal, accumulated week over week, so a long run of small changes eventually shows.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549640" y="3794760"/>
            <a:ext cx="315468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49640" y="3794760"/>
            <a:ext cx="3154680" cy="82296"/>
          </a:xfrm>
          <a:prstGeom prst="rect">
            <a:avLst/>
          </a:prstGeom>
          <a:solidFill>
            <a:srgbClr val="C27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50808" y="4032504"/>
            <a:ext cx="2752344" cy="1508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C27A07"/>
                </a:solidFill>
                <a:latin typeface="Segoe UI"/>
              </a:rPr>
              <a:t>No single net catches all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22282E"/>
                </a:solidFill>
                <a:latin typeface="Segoe UI"/>
              </a:rPr>
              <a:t>Three campaigns separate on drift at different times. The slow APT never does, and is caught by its beacon instead. Layers cover each other.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C27A07"/>
                </a:solidFill>
                <a:latin typeface="Segoe UI"/>
              </a:rPr>
              <a:t>WHAT WE TESTED</a:t>
            </a:r>
          </a:p>
          <a:p>
            <a:pPr>
              <a:spcBef>
                <a:spcPts val="200"/>
              </a:spcBef>
            </a:pPr>
            <a:r>
              <a:rPr sz="2700" b="1" i="0">
                <a:solidFill>
                  <a:srgbClr val="0B1F3A"/>
                </a:solidFill>
                <a:latin typeface="Segoe UI"/>
              </a:rPr>
              <a:t>Four long-running campaigns, modeled on real intrusions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56068"/>
                </a:solidFill>
                <a:latin typeface="Segoe UI"/>
              </a:rPr>
              <a:t>V-Intelligence UEBA   |   Behavioral Entity Intelligence</a:t>
            </a:r>
            <a:r>
              <a:rPr sz="900" b="0" i="1">
                <a:solidFill>
                  <a:srgbClr val="C27A07"/>
                </a:solidFill>
                <a:latin typeface="Segoe UI"/>
              </a:rPr>
              <a:t>          Proof of concept on synthetic data</a:t>
            </a:r>
            <a:r>
              <a:rPr sz="900">
                <a:solidFill>
                  <a:srgbClr val="556068"/>
                </a:solidFill>
              </a:rPr>
              <a:t>          6</a:t>
            </a:r>
          </a:p>
        </p:txBody>
      </p:sp>
      <p:pic>
        <p:nvPicPr>
          <p:cNvPr id="5" name="Picture 4" descr="chart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45920"/>
            <a:ext cx="10469880" cy="30307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800600"/>
            <a:ext cx="2651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C0392B"/>
                </a:solidFill>
                <a:latin typeface="Segoe UI"/>
              </a:rPr>
              <a:t>  Insider</a:t>
            </a:r>
          </a:p>
          <a:p>
            <a:r>
              <a:rPr sz="1150" b="0" i="0">
                <a:solidFill>
                  <a:srgbClr val="22282E"/>
                </a:solidFill>
                <a:latin typeface="Segoe UI"/>
              </a:rPr>
              <a:t>  drifts toward confidential files while volume stays flat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800600"/>
            <a:ext cx="109728" cy="12344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92424" y="4800600"/>
            <a:ext cx="2651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E67E22"/>
                </a:solidFill>
                <a:latin typeface="Segoe UI"/>
              </a:rPr>
              <a:t>  Slow APT</a:t>
            </a:r>
          </a:p>
          <a:p>
            <a:r>
              <a:rPr sz="1150" b="0" i="0">
                <a:solidFill>
                  <a:srgbClr val="22282E"/>
                </a:solidFill>
                <a:latin typeface="Segoe UI"/>
              </a:rPr>
              <a:t>  implant calls home every few hours in tiny packets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92424" y="4800600"/>
            <a:ext cx="109728" cy="12344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4800600"/>
            <a:ext cx="2651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7D3C98"/>
                </a:solidFill>
                <a:latin typeface="Segoe UI"/>
              </a:rPr>
              <a:t>  Volt Typhoon</a:t>
            </a:r>
          </a:p>
          <a:p>
            <a:r>
              <a:rPr sz="1150" b="0" i="0">
                <a:solidFill>
                  <a:srgbClr val="22282E"/>
                </a:solidFill>
                <a:latin typeface="Segoe UI"/>
              </a:rPr>
              <a:t>  critical-infrastructure pre-positioning with built-in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4768" y="4800600"/>
            <a:ext cx="109728" cy="1234440"/>
          </a:xfrm>
          <a:prstGeom prst="rect">
            <a:avLst/>
          </a:prstGeom>
          <a:solidFill>
            <a:srgbClr val="7D3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97112" y="4800600"/>
            <a:ext cx="2651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2471A3"/>
                </a:solidFill>
                <a:latin typeface="Segoe UI"/>
              </a:rPr>
              <a:t>  Salt Typhoon</a:t>
            </a:r>
          </a:p>
          <a:p>
            <a:r>
              <a:rPr sz="1150" b="0" i="0">
                <a:solidFill>
                  <a:srgbClr val="22282E"/>
                </a:solidFill>
                <a:latin typeface="Segoe UI"/>
              </a:rPr>
              <a:t>  telecom intrusion fanning out to map and intercept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97112" y="4800600"/>
            <a:ext cx="109728" cy="1234440"/>
          </a:xfrm>
          <a:prstGeom prst="rect">
            <a:avLst/>
          </a:prstGeom>
          <a:solidFill>
            <a:srgbClr val="2471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C27A07"/>
                </a:solidFill>
                <a:latin typeface="Segoe UI"/>
              </a:rPr>
              <a:t>THE PROOF</a:t>
            </a:r>
          </a:p>
          <a:p>
            <a:pPr>
              <a:spcBef>
                <a:spcPts val="200"/>
              </a:spcBef>
            </a:pPr>
            <a:r>
              <a:rPr sz="2700" b="1" i="0">
                <a:solidFill>
                  <a:srgbClr val="0B1F3A"/>
                </a:solidFill>
                <a:latin typeface="Segoe UI"/>
              </a:rPr>
              <a:t>All four caught, with no false alarms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56068"/>
                </a:solidFill>
                <a:latin typeface="Segoe UI"/>
              </a:rPr>
              <a:t>V-Intelligence UEBA   |   Behavioral Entity Intelligence</a:t>
            </a:r>
            <a:r>
              <a:rPr sz="900" b="0" i="1">
                <a:solidFill>
                  <a:srgbClr val="C27A07"/>
                </a:solidFill>
                <a:latin typeface="Segoe UI"/>
              </a:rPr>
              <a:t>          Proof of concept on synthetic data</a:t>
            </a:r>
            <a:r>
              <a:rPr sz="900">
                <a:solidFill>
                  <a:srgbClr val="556068"/>
                </a:solidFill>
              </a:rPr>
              <a:t>          7</a:t>
            </a:r>
          </a:p>
        </p:txBody>
      </p:sp>
      <p:pic>
        <p:nvPicPr>
          <p:cNvPr id="5" name="Picture 4" descr="chart_score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7680960" cy="28472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828800"/>
            <a:ext cx="3291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0" b="1" i="0">
                <a:solidFill>
                  <a:srgbClr val="0E6E6B"/>
                </a:solidFill>
                <a:latin typeface="Segoe UI"/>
              </a:rPr>
              <a:t>4 of 4</a:t>
            </a:r>
          </a:p>
          <a:p>
            <a:pPr algn="ctr">
              <a:spcBef>
                <a:spcPts val="200"/>
              </a:spcBef>
            </a:pPr>
            <a:r>
              <a:rPr sz="1300" b="0" i="0">
                <a:solidFill>
                  <a:srgbClr val="22282E"/>
                </a:solidFill>
                <a:latin typeface="Segoe UI"/>
              </a:rPr>
              <a:t>campaigns detected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3383280"/>
            <a:ext cx="3291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0" b="1" i="0">
                <a:solidFill>
                  <a:srgbClr val="0E6E6B"/>
                </a:solidFill>
                <a:latin typeface="Segoe UI"/>
              </a:rPr>
              <a:t>0%</a:t>
            </a:r>
          </a:p>
          <a:p>
            <a:pPr algn="ctr">
              <a:spcBef>
                <a:spcPts val="200"/>
              </a:spcBef>
            </a:pPr>
            <a:r>
              <a:rPr sz="1300" b="0" i="0">
                <a:solidFill>
                  <a:srgbClr val="22282E"/>
                </a:solidFill>
                <a:latin typeface="Segoe UI"/>
              </a:rPr>
              <a:t>false alarms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846320"/>
            <a:ext cx="3291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0" b="1" i="0">
                <a:solidFill>
                  <a:srgbClr val="C0392B"/>
                </a:solidFill>
                <a:latin typeface="Segoe UI"/>
              </a:rPr>
              <a:t>1 of 4</a:t>
            </a:r>
          </a:p>
          <a:p>
            <a:pPr algn="ctr">
              <a:spcBef>
                <a:spcPts val="200"/>
              </a:spcBef>
            </a:pPr>
            <a:r>
              <a:rPr sz="1300" b="0" i="0">
                <a:solidFill>
                  <a:srgbClr val="22282E"/>
                </a:solidFill>
                <a:latin typeface="Segoe UI"/>
              </a:rPr>
              <a:t>best conventional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556068"/>
                </a:solidFill>
                <a:latin typeface="Segoe UI"/>
              </a:rPr>
              <a:t>250 users  |  485 days (70 weeks)  |  about 14 million events  |  5 log sources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C27A07"/>
                </a:solidFill>
                <a:latin typeface="Segoe UI"/>
              </a:rPr>
              <a:t>WHY THE DETECTIONS HOLD UP</a:t>
            </a:r>
          </a:p>
          <a:p>
            <a:pPr>
              <a:spcBef>
                <a:spcPts val="200"/>
              </a:spcBef>
            </a:pPr>
            <a:r>
              <a:rPr sz="2700" b="1" i="0">
                <a:solidFill>
                  <a:srgbClr val="0B1F3A"/>
                </a:solidFill>
                <a:latin typeface="Segoe UI"/>
              </a:rPr>
              <a:t>Measurable evidence, not a black-box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56068"/>
                </a:solidFill>
                <a:latin typeface="Segoe UI"/>
              </a:rPr>
              <a:t>V-Intelligence UEBA   |   Behavioral Entity Intelligence</a:t>
            </a:r>
            <a:r>
              <a:rPr sz="900" b="0" i="1">
                <a:solidFill>
                  <a:srgbClr val="C27A07"/>
                </a:solidFill>
                <a:latin typeface="Segoe UI"/>
              </a:rPr>
              <a:t>          Proof of concept on synthetic data</a:t>
            </a:r>
            <a:r>
              <a:rPr sz="900">
                <a:solidFill>
                  <a:srgbClr val="556068"/>
                </a:solidFill>
              </a:rPr>
              <a:t>          8</a:t>
            </a:r>
          </a:p>
        </p:txBody>
      </p:sp>
      <p:pic>
        <p:nvPicPr>
          <p:cNvPr id="5" name="Picture 4" descr="chart_fingerpr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27632"/>
            <a:ext cx="6903720" cy="2361799"/>
          </a:xfrm>
          <a:prstGeom prst="rect">
            <a:avLst/>
          </a:prstGeom>
        </p:spPr>
      </p:pic>
      <p:pic>
        <p:nvPicPr>
          <p:cNvPr id="6" name="Picture 5" descr="chart_beacon_rhyth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526280"/>
            <a:ext cx="6903720" cy="163509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635240" y="1783080"/>
            <a:ext cx="40690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35240" y="1783080"/>
            <a:ext cx="4069080" cy="82296"/>
          </a:xfrm>
          <a:prstGeom prst="rect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36408" y="2020824"/>
            <a:ext cx="3666744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0E6E6B"/>
                </a:solidFill>
                <a:latin typeface="Segoe UI"/>
              </a:rPr>
              <a:t>Every alert answers three questions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22282E"/>
                </a:solidFill>
                <a:latin typeface="Segoe UI"/>
              </a:rPr>
              <a:t>What changed?
The specific behavior and zone.
Compared to whom?
The entity's true role-group peers.
What does it resemble?
A named attacker technique (MITRE ATT&amp;CK).
That is the difference between a score and a lead an analyst can act 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C27A07"/>
                </a:solidFill>
                <a:latin typeface="Segoe UI"/>
              </a:rPr>
              <a:t>WHAT WE PROVED, AND WHAT WE DID NOT</a:t>
            </a:r>
          </a:p>
          <a:p>
            <a:pPr>
              <a:spcBef>
                <a:spcPts val="200"/>
              </a:spcBef>
            </a:pPr>
            <a:r>
              <a:rPr sz="2700" b="1" i="0">
                <a:solidFill>
                  <a:srgbClr val="0B1F3A"/>
                </a:solidFill>
                <a:latin typeface="Segoe UI"/>
              </a:rPr>
              <a:t>An honest read of the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56068"/>
                </a:solidFill>
                <a:latin typeface="Segoe UI"/>
              </a:rPr>
              <a:t>V-Intelligence UEBA   |   Behavioral Entity Intelligence</a:t>
            </a:r>
            <a:r>
              <a:rPr sz="900" b="0" i="1">
                <a:solidFill>
                  <a:srgbClr val="C27A07"/>
                </a:solidFill>
                <a:latin typeface="Segoe UI"/>
              </a:rPr>
              <a:t>          Proof of concept on synthetic data</a:t>
            </a:r>
            <a:r>
              <a:rPr sz="900">
                <a:solidFill>
                  <a:srgbClr val="556068"/>
                </a:solidFill>
              </a:rPr>
              <a:t>          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341985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419856" cy="82296"/>
          </a:xfrm>
          <a:prstGeom prst="rect">
            <a:avLst/>
          </a:prstGeom>
          <a:solidFill>
            <a:srgbClr val="C27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066544"/>
            <a:ext cx="30175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C27A07"/>
                </a:solidFill>
                <a:latin typeface="Segoe UI"/>
              </a:rPr>
              <a:t>The data is simulated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22282E"/>
                </a:solidFill>
                <a:latin typeface="Segoe UI"/>
              </a:rPr>
              <a:t>Results come from a synthetic enterprise calibrated to public advisories. Every figure, including zero false alarms, must be re-measured on real telemetry.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79976" y="1828800"/>
            <a:ext cx="341985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79976" y="1828800"/>
            <a:ext cx="3419856" cy="82296"/>
          </a:xfrm>
          <a:prstGeom prst="rect">
            <a:avLst/>
          </a:prstGeom>
          <a:solidFill>
            <a:srgbClr val="C27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2066544"/>
            <a:ext cx="30175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C27A07"/>
                </a:solidFill>
                <a:latin typeface="Segoe UI"/>
              </a:rPr>
              <a:t>Coverage has limits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22282E"/>
                </a:solidFill>
                <a:latin typeface="Segoe UI"/>
              </a:rPr>
              <a:t>The precision layer catches the patterns it is built to catch. The discovery layer is the net for novel attacks, and is noisier by design.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1828800"/>
            <a:ext cx="341985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19872" y="1828800"/>
            <a:ext cx="3419856" cy="82296"/>
          </a:xfrm>
          <a:prstGeom prst="rect">
            <a:avLst/>
          </a:prstGeom>
          <a:solidFill>
            <a:srgbClr val="C27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066544"/>
            <a:ext cx="30175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C27A07"/>
                </a:solidFill>
                <a:latin typeface="Segoe UI"/>
              </a:rPr>
              <a:t>The bar was set in a lab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22282E"/>
                </a:solidFill>
                <a:latin typeface="Segoe UI"/>
              </a:rPr>
              <a:t>Thresholds here were tuned knowing the answers. In production they must be set blind and tuned to each environment.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10972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22282E"/>
                </a:solidFill>
                <a:latin typeface="Segoe UI"/>
              </a:rPr>
              <a:t>None of this weakens the finding. The approach sees a class of attack today's tools demonstrably miss, with an explanation attached. That is the result worth validating.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C27A07"/>
                </a:solidFill>
                <a:latin typeface="Segoe UI"/>
              </a:rPr>
              <a:t>THE PATH FORWARD</a:t>
            </a:r>
          </a:p>
          <a:p>
            <a:pPr>
              <a:spcBef>
                <a:spcPts val="200"/>
              </a:spcBef>
            </a:pPr>
            <a:r>
              <a:rPr sz="2700" b="1" i="0">
                <a:solidFill>
                  <a:srgbClr val="0B1F3A"/>
                </a:solidFill>
                <a:latin typeface="Segoe UI"/>
              </a:rPr>
              <a:t>A low-risk pilot on your own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56068"/>
                </a:solidFill>
                <a:latin typeface="Segoe UI"/>
              </a:rPr>
              <a:t>V-Intelligence UEBA   |   Behavioral Entity Intelligence</a:t>
            </a:r>
            <a:r>
              <a:rPr sz="900" b="0" i="1">
                <a:solidFill>
                  <a:srgbClr val="C27A07"/>
                </a:solidFill>
                <a:latin typeface="Segoe UI"/>
              </a:rPr>
              <a:t>          Proof of concept on synthetic data</a:t>
            </a:r>
            <a:r>
              <a:rPr sz="900">
                <a:solidFill>
                  <a:srgbClr val="556068"/>
                </a:solidFill>
              </a:rPr>
              <a:t>        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6692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 i="0">
                <a:solidFill>
                  <a:srgbClr val="0E6E6B"/>
                </a:solidFill>
                <a:latin typeface="Segoe UI"/>
              </a:rPr>
              <a:t>▶  </a:t>
            </a:r>
            <a:r>
              <a:rPr sz="1500" b="1" i="0">
                <a:solidFill>
                  <a:srgbClr val="22282E"/>
                </a:solidFill>
                <a:latin typeface="Segoe UI"/>
              </a:rPr>
              <a:t>It adds, it does not replace. </a:t>
            </a:r>
            <a:r>
              <a:rPr sz="1500" b="0" i="0">
                <a:solidFill>
                  <a:srgbClr val="22282E"/>
                </a:solidFill>
                <a:latin typeface="Segoe UI"/>
              </a:rPr>
              <a:t>The behavioral layer runs alongside your existing stack, in advisory mode, with no automated blocking until results are validated.</a:t>
            </a:r>
          </a:p>
          <a:p>
            <a:pPr>
              <a:spcAft>
                <a:spcPts val="1200"/>
              </a:spcAft>
            </a:pPr>
            <a:r>
              <a:rPr sz="1200" b="1" i="0">
                <a:solidFill>
                  <a:srgbClr val="0E6E6B"/>
                </a:solidFill>
                <a:latin typeface="Segoe UI"/>
              </a:rPr>
              <a:t>▶  </a:t>
            </a:r>
            <a:r>
              <a:rPr sz="1500" b="1" i="0">
                <a:solidFill>
                  <a:srgbClr val="22282E"/>
                </a:solidFill>
                <a:latin typeface="Segoe UI"/>
              </a:rPr>
              <a:t>It uses data you already collect. </a:t>
            </a:r>
            <a:r>
              <a:rPr sz="1500" b="0" i="0">
                <a:solidFill>
                  <a:srgbClr val="22282E"/>
                </a:solidFill>
                <a:latin typeface="Segoe UI"/>
              </a:rPr>
              <a:t>Five standard log sources, no new sensors.</a:t>
            </a:r>
          </a:p>
          <a:p>
            <a:pPr>
              <a:spcAft>
                <a:spcPts val="1200"/>
              </a:spcAft>
            </a:pPr>
            <a:r>
              <a:rPr sz="1200" b="1" i="0">
                <a:solidFill>
                  <a:srgbClr val="0E6E6B"/>
                </a:solidFill>
                <a:latin typeface="Segoe UI"/>
              </a:rPr>
              <a:t>▶  </a:t>
            </a:r>
            <a:r>
              <a:rPr sz="1500" b="1" i="0">
                <a:solidFill>
                  <a:srgbClr val="22282E"/>
                </a:solidFill>
                <a:latin typeface="Segoe UI"/>
              </a:rPr>
              <a:t>It fits your workflow. </a:t>
            </a:r>
            <a:r>
              <a:rPr sz="1500" b="0" i="0">
                <a:solidFill>
                  <a:srgbClr val="22282E"/>
                </a:solidFill>
                <a:latin typeface="Segoe UI"/>
              </a:rPr>
              <a:t>Ranked, explained leads with a named technique, into your existing analyst process.</a:t>
            </a:r>
          </a:p>
          <a:p>
            <a:pPr>
              <a:spcAft>
                <a:spcPts val="1200"/>
              </a:spcAft>
            </a:pPr>
            <a:r>
              <a:rPr sz="1200" b="1" i="0">
                <a:solidFill>
                  <a:srgbClr val="0E6E6B"/>
                </a:solidFill>
                <a:latin typeface="Segoe UI"/>
              </a:rPr>
              <a:t>▶  </a:t>
            </a:r>
            <a:r>
              <a:rPr sz="1500" b="1" i="0">
                <a:solidFill>
                  <a:srgbClr val="22282E"/>
                </a:solidFill>
                <a:latin typeface="Segoe UI"/>
              </a:rPr>
              <a:t>It proves itself on your environment. </a:t>
            </a:r>
            <a:r>
              <a:rPr sz="1500" b="0" i="0">
                <a:solidFill>
                  <a:srgbClr val="22282E"/>
                </a:solidFill>
                <a:latin typeface="Segoe UI"/>
              </a:rPr>
              <a:t>Validated by replaying known-bad or historical incidents on your own telemetry.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920240"/>
            <a:ext cx="5029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92240" y="1920240"/>
            <a:ext cx="5029200" cy="82296"/>
          </a:xfrm>
          <a:prstGeom prst="rect">
            <a:avLst/>
          </a:prstGeom>
          <a:solidFill>
            <a:srgbClr val="0E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93408" y="2157984"/>
            <a:ext cx="4626864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0E6E6B"/>
                </a:solidFill>
                <a:latin typeface="Segoe UI"/>
              </a:rPr>
              <a:t>The pilot question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22282E"/>
                </a:solidFill>
                <a:latin typeface="Segoe UI"/>
              </a:rPr>
              <a:t>Does the behavioral layer surface real, explained threats your current stack misses, at a false-alarm rate your team can live with?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4572000"/>
            <a:ext cx="5029200" cy="12344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4736592"/>
            <a:ext cx="44805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1" i="0">
                <a:solidFill>
                  <a:srgbClr val="C27A07"/>
                </a:solidFill>
                <a:latin typeface="Segoe UI"/>
              </a:rPr>
              <a:t>Next step: </a:t>
            </a:r>
            <a:r>
              <a:rPr sz="1500" b="0" i="0">
                <a:solidFill>
                  <a:srgbClr val="FFFFFF"/>
                </a:solidFill>
                <a:latin typeface="Segoe UI"/>
              </a:rPr>
              <a:t>scope a bounded pilot on a representative slice of live telemetry.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