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766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 i="0">
                <a:solidFill>
                  <a:srgbClr val="102A4C"/>
                </a:solidFill>
                <a:latin typeface="Segoe UI"/>
              </a:rPr>
              <a:t>Behavioral UEBA for the Age of AI-Enabled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6766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5E9C"/>
                </a:solidFill>
                <a:latin typeface="Segoe UI"/>
              </a:rPr>
              <a:t>Why detect-and-respond no longer defends critical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219456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102A4C"/>
                </a:solidFill>
                <a:latin typeface="Segoe UI"/>
              </a:rPr>
              <a:t>V-Intelligence  |  22nd Century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E6A75"/>
                </a:solidFill>
                <a:latin typeface="Segoe UI"/>
              </a:rPr>
              <a:t>Part 1: The Problem  -  why an advanced solution is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3017520" cy="73152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Valid-account attacks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3017520" cy="73152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97180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AI-speed adversaries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931920"/>
            <a:ext cx="3017520" cy="7315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93192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Alert-fatigued SOCs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SOC Runs on SIEM and UEBA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Collect, correlate, alert, triage, respond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logs from many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19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1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1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parse and enrich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38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0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Correlate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0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rules + statistical baselines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7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09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09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threshold or rule fires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6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28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28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analyst investigates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795" y="1828800"/>
            <a:ext cx="1755648" cy="1371600"/>
          </a:xfrm>
          <a:prstGeom prst="rect">
            <a:avLst/>
          </a:prstGeom>
          <a:solidFill>
            <a:srgbClr val="ECF4FC"/>
          </a:solidFill>
          <a:ln w="12700">
            <a:solidFill>
              <a:srgbClr val="1F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2947" y="1965960"/>
            <a:ext cx="16093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02A4C"/>
                </a:solidFill>
                <a:latin typeface="Segoe UI"/>
              </a:rPr>
              <a:t>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47" y="2514600"/>
            <a:ext cx="1609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D2430"/>
                </a:solidFill>
                <a:latin typeface="Segoe UI"/>
              </a:rPr>
              <a:t>contain and remediate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02A4C"/>
                </a:solidFill>
                <a:latin typeface="Segoe UI"/>
              </a:rPr>
              <a:t>•  The model assumes the attack produces a signal that crosses a rule or a threshold.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430"/>
                </a:solidFill>
                <a:latin typeface="Segoe UI"/>
              </a:rPr>
              <a:t>•  It assumes a known signature, or a deviation large enough to stand out from a baseline.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2430"/>
                </a:solidFill>
                <a:latin typeface="Segoe UI"/>
              </a:rPr>
              <a:t>•  And it assumes a human analyst has the time to triage what fires.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How Detection Works Today, and Where It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2976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64008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Signature and correlation rules match known-bad patterns.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UEBA adds statistical baselines (peer and self) and risk scores.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Alerts are ranked by severity and pushed to the SOC queue.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94960" cy="429768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94960" cy="64008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Where it breaks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A61B1B"/>
                </a:solidFill>
                <a:latin typeface="Segoe UI"/>
              </a:rPr>
              <a:t>•  Magnitude, not meaning: 47 files is 47 files, intent is lost.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A61B1B"/>
                </a:solidFill>
                <a:latin typeface="Segoe UI"/>
              </a:rPr>
              <a:t>•  Thresholds miss slow, valid-account, living-off-the-land attacks that never spike.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Per-source silos make one attacker look like ten users.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Alert fatigue: analysts drown; real signal is buried in noise.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D2430"/>
                </a:solidFill>
                <a:latin typeface="Segoe UI"/>
              </a:rPr>
              <a:t>•  Reactive: it detects after the fact, not before.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SIEM / UEBA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Mature tools, the same structural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What it does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Splunk Enterprise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log search, correlation rules, dashboards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IBM QRadar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flow + log correlation, offense scoring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Microsoft Sentinel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Cloud SIEM + SOAR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KQL analytics, automation, some UEBA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Exabeam / Securonix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UEBA-led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behavioral baselining, risk scoring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Elastic Security / Google SecOps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search, detections, pipelines at scale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LogRhythm / Devo / Sumo Logic / Rapid7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log analytics and detections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2A4C"/>
                </a:solidFill>
                <a:latin typeface="Segoe UI"/>
              </a:rPr>
              <a:t>All are excellent at collecting and searching logs and at matching known patterns. All share the same limit: they alert on magnitude and signatures, not on the meaning and direction of behavior, so the valid-account, slow, AI-speed adversary walks past.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Inflection: AI-Enabled (Mythos-Level) Attackers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Adversaries now wield AI that finds and exploits vulnerabilities at machine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102A4C"/>
                </a:solidFill>
                <a:latin typeface="Segoe UI"/>
              </a:rPr>
              <a:t>•  Offensive AI (Mythos-level) autonomously discovers vulnerabilities, chains low-severity weaknesses, and exploits them, faster than humans can respond.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D2430"/>
                </a:solidFill>
                <a:latin typeface="Segoe UI"/>
              </a:rPr>
              <a:t>•  In 2025, an AI-orchestrated espionage campaign (Anthropic GTG-1002) ran largely autonomously against roughly 30 targets at machine speed.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D2430"/>
                </a:solidFill>
                <a:latin typeface="Segoe UI"/>
              </a:rPr>
              <a:t>•  Threats now evolve faster than vulnerability disclosure and patch cycles; attackers exploit before a CVE or patch exists.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A61B1B"/>
                </a:solidFill>
                <a:latin typeface="Segoe UI"/>
              </a:rPr>
              <a:t>•  By the time a detect-and-respond pipeline fires, the breach is already complete.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A61B1B"/>
                </a:solidFill>
                <a:latin typeface="Segoe UI"/>
              </a:rPr>
              <a:t>•  Detect-and-respond, the model every SIEM is built on, cannot defend U.S. infrastructure against this.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Mythos-Level Attacks Mean Operational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Not data loss alone: mission and infrastructure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743200" cy="29260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743200" cy="7315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Energy /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D2430"/>
                </a:solidFill>
                <a:latin typeface="Segoe UI"/>
              </a:rPr>
              <a:t>pre-positioned access enables disruption of power, water, and fuel on demand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645920"/>
            <a:ext cx="2743200" cy="29260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1645920"/>
            <a:ext cx="2743200" cy="73152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7373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Telecom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56032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D2430"/>
                </a:solidFill>
                <a:latin typeface="Segoe UI"/>
              </a:rPr>
              <a:t>carrier-scale espionage and the ability to degrade communications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1616" y="1645920"/>
            <a:ext cx="2743200" cy="29260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71616" y="1645920"/>
            <a:ext cx="2743200" cy="73152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7373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Transport / 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56032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D2430"/>
                </a:solidFill>
                <a:latin typeface="Segoe UI"/>
              </a:rPr>
              <a:t>route, depot, and fulfillment disruption that stalls mobilization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78824" y="1645920"/>
            <a:ext cx="2743200" cy="292608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78824" y="1645920"/>
            <a:ext cx="2743200" cy="7315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7373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Defense / 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56032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D2430"/>
                </a:solidFill>
                <a:latin typeface="Segoe UI"/>
              </a:rPr>
              <a:t>loss of decision time and readiness when it is needed most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2A4C"/>
                </a:solidFill>
                <a:latin typeface="Segoe UI"/>
              </a:rPr>
              <a:t>Adversaries pre-position quietly, on valid credentials, to disrupt critical infrastructure at the moment of their choosing. The cost of a missed warning is operational, not just informational.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Recent Attacks Current Tools Could Not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4765">
                <a:tc>
                  <a:txBody>
                    <a:bodyPr/>
                    <a:lstStyle/>
                    <a:p>
                      <a:r>
                        <a:rPr sz="1100" b="1">
                          <a:latin typeface="Segoe UI"/>
                        </a:rPr>
                        <a:t>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Segoe UI"/>
                        </a:rPr>
                        <a:t>What it 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Segoe UI"/>
                        </a:rPr>
                        <a:t>Why current tools missed it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Volt Typhoon (2023-24)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living-off-the-land pre-positioning in U.S. critical infrastructure, 5+ year dwell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valid accounts, no malware, no signature, sub-threshold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Salt Typhoon (2024-25)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telecom espionage at carrier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slow, valid-account, below every alert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SolarWinds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trojanized signed update pushed to ~18,000 organizations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trusted, signed update, no anomaly to flag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MOVEit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mass zero-day exploitation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no CVE or signature at time of exploit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XZ Utils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multi-year supply-chain backdoor in a core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trusted dependency, no known-bad version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Colonial Pipeline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ransomware, fuel-supply disruption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Segoe UI"/>
                        </a:rPr>
                        <a:t>credential access, detected too late to prevent impact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61B1B"/>
                </a:solidFill>
                <a:latin typeface="Segoe UI"/>
              </a:rPr>
              <a:t>The common thread: valid credentials, no signature, no spike, or a trusted path. Magnitude-and-signature detection had nothing to fire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87722"/>
                </a:solidFill>
                <a:latin typeface="Segoe UI"/>
              </a:rPr>
              <a:t>WHY WE NEED AN ADVANCED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Current SIEM and UEBA detect magnitude and signatures; they miss meaning and direction.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They cannot catch valid-account, living-off-the-land attacks that cross no threshold.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They are reactive, and AI-speed adversaries are gone before detect-and-respond fires.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And they overwhelm the SOC with alerts instead of giving analysts a ranked, explainable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7722"/>
                </a:solidFill>
                <a:latin typeface="Segoe UI"/>
              </a:rPr>
              <a:t>We need behavior read as meaning, detection that is preemptive and precise, and a SOC that is helped, not buried.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7722"/>
                </a:solidFill>
                <a:latin typeface="Segoe U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The Solution: A Behavioral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BFD4EA"/>
                </a:solidFill>
                <a:latin typeface="Segoe UI"/>
              </a:rPr>
              <a:t>Read behavior as meaning, track where each entity is heading, hand the SOC a ranked, explainable verdict.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Input Data: the Logs the SOC Already Collects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No new sensors. The twin sits downstream of your existing SIEM.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6766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47244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Log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Signal it carries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Identity /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who, when, from where, privilege use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File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access, volume, sensitivity, movement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Network /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destinations, beaconing, data egress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resolution patterns, DGA, rare domains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Endpoint /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process lineage, living-off-the-land tools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1508760"/>
            <a:ext cx="4206240" cy="283464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508760"/>
            <a:ext cx="4206240" cy="54864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563624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Collection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9456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D2430"/>
                </a:solidFill>
                <a:latin typeface="Segoe UI"/>
              </a:rPr>
              <a:t>•  Ingest from the SIEM / forwarders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D2430"/>
                </a:solidFill>
                <a:latin typeface="Segoe UI"/>
              </a:rPr>
              <a:t>•  Normalize and parse to a common schema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D2430"/>
                </a:solidFill>
                <a:latin typeface="Segoe UI"/>
              </a:rPr>
              <a:t>•  Group events into behavioral dimensions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D2430"/>
                </a:solidFill>
                <a:latin typeface="Segoe UI"/>
              </a:rPr>
              <a:t>•  Serialize and embed; store as 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02A4C"/>
                </a:solidFill>
                <a:latin typeface="Segoe UI"/>
              </a:rPr>
              <a:t>Scale of the proof-of-concept: 250 entities, 485 days, about 14 million events across five log sources. Behavioral snapshots are stored as 1536-dimension vectors in a PostgreSQL pgvector database, so similarity and drift are queried directly in the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Dimensions We Model,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Five behavioral zones, 23 features; identity as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64592" cy="713232"/>
          </a:xfrm>
          <a:prstGeom prst="rect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600200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4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55064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role, department, clearance, user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655064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E6A75"/>
                </a:solidFill>
                <a:latin typeface="Segoe UI"/>
              </a:rPr>
              <a:t>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41448"/>
            <a:ext cx="164592" cy="713232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441448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96312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Access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96312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logins, sources, destinations, off-hours, methods (7 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496312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1F5E9C"/>
                </a:solidFill>
                <a:latin typeface="Segoe UI"/>
              </a:rPr>
              <a:t>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82696"/>
            <a:ext cx="164592" cy="713232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282696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Data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file volume, sensitivity, breadth, writes (6 features)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337560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118484"/>
                </a:solidFill>
                <a:latin typeface="Segoe UI"/>
              </a:rPr>
              <a:t>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23944"/>
            <a:ext cx="164592" cy="713232"/>
          </a:xfrm>
          <a:prstGeom prst="rect">
            <a:avLst/>
          </a:prstGeom>
          <a:solidFill>
            <a:srgbClr val="1A7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4123944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78808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Network footprint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178808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egress bytes, destinations, DNS patterns (5 features)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178808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1A724E"/>
                </a:solidFill>
                <a:latin typeface="Segoe UI"/>
              </a:rPr>
              <a:t>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65192"/>
            <a:ext cx="164592" cy="71323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4965192"/>
            <a:ext cx="10607040" cy="713232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20056"/>
            <a:ext cx="2743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Segoe UI"/>
              </a:rPr>
              <a:t>Risk posture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020056"/>
            <a:ext cx="6035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endpoint and process risk scores (5 features)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5020056"/>
            <a:ext cx="1371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E87722"/>
                </a:solidFill>
                <a:latin typeface="Segoe UI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Segoe UI"/>
              </a:rPr>
              <a:t>Why these: an attacker on valid credentials betrays themselves not in one number but across zones at once. Identity sets the peer group; the four action zones carry the behavior we score against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Aggregation: from Activity to a Comparable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Windowed so behavior can be compared over time and across 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49240" cy="2743200"/>
          </a:xfrm>
          <a:prstGeom prst="rect">
            <a:avLst/>
          </a:prstGeom>
          <a:solidFill>
            <a:srgbClr val="EA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49240" cy="59436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Today (proof-of-concept)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Weekly aggregation across 485 days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Long horizon proves slow-drift detection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One trajectory point per entity per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440680" cy="274320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40680" cy="59436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0784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Design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E87722"/>
                </a:solidFill>
                <a:latin typeface="Segoe UI"/>
              </a:rPr>
              <a:t>•  Hourly aggregation for near-real-time detection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Same pipeline, finer window: faster warning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Shrinks dwell time from weeks toward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02A4C"/>
                </a:solidFill>
                <a:latin typeface="Segoe UI"/>
              </a:rPr>
              <a:t>The method is window-agnostic. The current build aggregates weekly because the study spans 485 days and targets slow living-off-the-land drift; the same serialize-embed-compose-score pipeline runs at an hourly cadence to move detection closer to real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End-to-End Flow: Activity to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377440"/>
            <a:ext cx="1481328" cy="1371600"/>
          </a:xfrm>
          <a:prstGeom prst="rect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logins, files,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flows, DNS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47088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70532" y="2377440"/>
            <a:ext cx="1481328" cy="137160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6252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Input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6252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5 SIEM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log sources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51860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75304" y="2377440"/>
            <a:ext cx="1481328" cy="137160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grouped into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5 zones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56632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80076" y="2377440"/>
            <a:ext cx="1481328" cy="1371600"/>
          </a:xfrm>
          <a:prstGeom prst="rect">
            <a:avLst/>
          </a:prstGeom>
          <a:solidFill>
            <a:srgbClr val="1A7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5796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Entity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5796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23 features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per window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61404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84848" y="2377440"/>
            <a:ext cx="1481328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Digital twin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prose -&gt; vector,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attention-fused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66176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89620" y="2377440"/>
            <a:ext cx="1481328" cy="13716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5340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Algorithms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5340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CUSUM + two-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layer composite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70948" y="2880360"/>
            <a:ext cx="12344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94392" y="2377440"/>
            <a:ext cx="1481328" cy="1371600"/>
          </a:xfrm>
          <a:prstGeom prst="rect">
            <a:avLst/>
          </a:prstGeom>
          <a:solidFill>
            <a:srgbClr val="C9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3017520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ranked,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explainable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062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2A4C"/>
                </a:solidFill>
                <a:latin typeface="Segoe UI"/>
              </a:rPr>
              <a:t>One unbroken path: the raw events the SOC already has become one ranked, explainable verdict, with the reason and the MITRE direction attached.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No new collection: it consumes existing logs.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No labels required: the twin is unsupervised.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Every score is traceable back to the behavior that caused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How the Digital Twin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Raw metrics become meaning before they become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651760" cy="155448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2432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Serialize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24323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each zone's features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become a sentence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331720"/>
            <a:ext cx="14630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55264" y="1737360"/>
            <a:ext cx="2651760" cy="155448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874519"/>
            <a:ext cx="2432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377440"/>
            <a:ext cx="24323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each sentence -&gt;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1536-d vector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07024" y="2331720"/>
            <a:ext cx="14630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737360"/>
            <a:ext cx="2651760" cy="155448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874519"/>
            <a:ext cx="2432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377440"/>
            <a:ext cx="24323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zones fused by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attention weight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5088" y="2331720"/>
            <a:ext cx="146304" cy="365760"/>
          </a:xfrm>
          <a:prstGeom prst="rightArrow">
            <a:avLst/>
          </a:prstGeom>
          <a:solidFill>
            <a:srgbClr val="5E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1392" y="1737360"/>
            <a:ext cx="2651760" cy="1554480"/>
          </a:xfrm>
          <a:prstGeom prst="rect">
            <a:avLst/>
          </a:prstGeom>
          <a:solidFill>
            <a:srgbClr val="1A7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874519"/>
            <a:ext cx="2432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Trajectory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24323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one twin per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window,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39"/>
            <a:ext cx="11155680" cy="210312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49039"/>
            <a:ext cx="164592" cy="21031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319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02A4C"/>
                </a:solidFill>
                <a:latin typeface="Segoe UI"/>
              </a:rPr>
              <a:t>•  Meaning over magnitude: "47 files" becomes "reaching far more sensitive data than peers, and widening."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Composition, not concatenation: zones are fused by attention weight, so the signal that matters dominates.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D2430"/>
                </a:solidFill>
                <a:latin typeface="Segoe UI"/>
              </a:rPr>
              <a:t>•  Drift is direction in meaning-space: the cosine distance between successive twins, tracked over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The Algorithms: Two Complementary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Precision first, discovery alongside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94960" cy="6858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Layer A -- Precision (production)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102A4C"/>
                </a:solidFill>
                <a:latin typeface="Segoe UI"/>
              </a:rPr>
              <a:t>•  Multi-front threat-profile detector.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Matches entities to named known-bad fingerprints (mass collection, C2 beacon, DGA, recon fan-out, LOTL).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Scored against role-group peers; fires only on a corroborated match.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E87722"/>
                </a:solidFill>
                <a:latin typeface="Segoe UI"/>
              </a:rPr>
              <a:t>•  Result: 4 of 4 attackers at 0 false positives.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4206240"/>
          </a:xfrm>
          <a:prstGeom prst="rect">
            <a:avLst/>
          </a:prstGeom>
          <a:solidFill>
            <a:srgbClr val="EA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40680" cy="68580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Layer B -- Discovery (the twin)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102A4C"/>
                </a:solidFill>
                <a:latin typeface="Segoe UI"/>
              </a:rPr>
              <a:t>•  CUSUM accumulates slow drift that no single week would trip.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Direction projected onto MITRE ATT&amp;CK concepts: names where the entity is heading.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Composite score ranks every entity, no fingerprint needed.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18484"/>
                </a:solidFill>
                <a:latin typeface="Segoe UI"/>
              </a:rPr>
              <a:t>•  Surfaces 4 of 4 by rank where classical methods catch 0 of 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Slow Drift, Made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Real trajectory: what CUSUM accumulates that a weekly threshold never trips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eba_cus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7955279" cy="29218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41080" y="1600200"/>
            <a:ext cx="3063240" cy="301752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1600200"/>
            <a:ext cx="146304" cy="30175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7830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2A4C"/>
                </a:solidFill>
                <a:latin typeface="Segoe UI"/>
              </a:rPr>
              <a:t>•  Each week's drift is small, below any alert line.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2430"/>
                </a:solidFill>
                <a:latin typeface="Segoe UI"/>
              </a:rPr>
              <a:t>•  CUSUM sums the small, persistent pushes.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E87722"/>
                </a:solidFill>
                <a:latin typeface="Segoe UI"/>
              </a:rPr>
              <a:t>•  It crosses the fire line and stays, so the slow operator is caught while still inside.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02A4C"/>
                </a:solidFill>
                <a:latin typeface="Segoe UI"/>
              </a:rPr>
              <a:t>This is the signal classical point-anomaly methods miss: no single week is anomalous, but the direction is, sustained and accumulating.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Results: the Blind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Four nation-state-style attackers hidden among 250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Catches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Note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Precision detector (Layer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4 of 4 at 0 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named fingerprint per attacker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Discovery twin (Layer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4 of 4 by rank (8.1% operating 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no fingerprint; names MITRE direction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Isolation Forest / One-Class SVM / LOF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0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point-anomaly, no behavior over time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Z-score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1 of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Segoe UI"/>
                        </a:rPr>
                        <a:t>magnitude only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Insider caught by mass collection + rare destinations; Slow APT by a 386-day C2 beacon + 160 DGA domains.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D2430"/>
                </a:solidFill>
                <a:latin typeface="Segoe UI"/>
              </a:rPr>
              <a:t>•  Living-off-the-land operator caught by anomalous process use; telecom-pivot by reconnaissance fan-out.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5E6A75"/>
                </a:solidFill>
                <a:latin typeface="Segoe UI"/>
              </a:rPr>
              <a:t>Controlled, synthetic-data proof-of-concept (250 entities, 485 days). Indicative, not a guarantee of field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02A4C"/>
                </a:solidFill>
                <a:latin typeface="Segoe UI"/>
              </a:rPr>
              <a:t>What This Gives the SOC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A75"/>
                </a:solidFill>
                <a:latin typeface="Segoe UI"/>
              </a:rPr>
              <a:t>Less noise, earlier warning, a verdict you can act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703320" cy="310896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703320" cy="7315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383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One ranked queue, not a flood. The analyst sees the few entities that matter, each already explained.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645920"/>
            <a:ext cx="3703320" cy="310896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45920"/>
            <a:ext cx="3703320" cy="731520"/>
          </a:xfrm>
          <a:prstGeom prst="rect">
            <a:avLst/>
          </a:prstGeom>
          <a:solidFill>
            <a:srgbClr val="1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73736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Quick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606040"/>
            <a:ext cx="3383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Slow, valid-account drift is caught while it builds, not after exfiltration. CUSUM warns weeks early.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1645920"/>
            <a:ext cx="3703320" cy="3108960"/>
          </a:xfrm>
          <a:prstGeom prst="rect">
            <a:avLst/>
          </a:prstGeom>
          <a:solidFill>
            <a:srgbClr val="EC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645920"/>
            <a:ext cx="3703320" cy="731520"/>
          </a:xfrm>
          <a:prstGeom prst="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73736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06040"/>
            <a:ext cx="3383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2430"/>
                </a:solidFill>
                <a:latin typeface="Segoe UI"/>
              </a:rPr>
              <a:t>Every alert carries its reason and a MITRE direction, so triage starts at "what and where," not "is this real?"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A4C"/>
                </a:solidFill>
                <a:latin typeface="Segoe UI"/>
              </a:rPr>
              <a:t>The shift: from chasing thousands of magnitude alerts to acting on a short, ranked, explainable list, so the analyst spends time on response, not triage.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381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87722"/>
                </a:solidFill>
                <a:latin typeface="Segoe UI"/>
              </a:rPr>
              <a:t>THE BEHAVIORAL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Reads behavior as meaning, not magnitude, from the logs you already collect.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Catches the valid-account, living-off-the-land attacker that crosses no threshold.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Precision layer at 0 false positives; discovery twin that needs no prior fingerprint.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Hands the analyst a ranked, explainable verdict with its MITRE direction attached.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87722"/>
                </a:solidFill>
                <a:latin typeface="Segoe UI"/>
              </a:rPr>
              <a:t>From detect-and-respond, too late, to read-the-meaning and warn early.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2552"/>
            <a:ext cx="12191695" cy="1524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E6A75"/>
                </a:solidFill>
                <a:latin typeface="Segoe UI"/>
              </a:rPr>
              <a:t>CONFIDENTIAL  |  22nd Century Technologies  |  V-Intelligence Behavioral 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E6A75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