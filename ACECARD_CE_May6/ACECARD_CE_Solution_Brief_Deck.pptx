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AA"/>
                </a:solidFill>
                <a:latin typeface="Segoe UI"/>
              </a:defRPr>
            </a:pPr>
            <a:r>
              <a:t>ACECARD CE — Solution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Behavioral Anomaly Detection Mission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963A"/>
                </a:solidFill>
                <a:latin typeface="Segoe UI"/>
              </a:defRPr>
            </a:pPr>
            <a:r>
              <a:t>Preemptive Cyber Defense + Behavioral Trajectory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474720"/>
            <a:ext cx="6705295" cy="18288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EC0"/>
                </a:solidFill>
                <a:latin typeface="Segoe UI"/>
              </a:defRPr>
            </a:pPr>
            <a:r>
              <a:t>A Containerized, Cloud-Native Prototype for Gabriel Nimbus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CFIC  |  U.S. Army Cyber Command (ARCYBER)  |  ArCTIC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77799"/>
                </a:solidFill>
                <a:latin typeface="Segoe UI"/>
              </a:defRPr>
            </a:pPr>
            <a:r>
              <a:t>22nd Century Technologies  |  Rigor AI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88"/>
                </a:solidFill>
                <a:latin typeface="Segoe UI"/>
              </a:defRPr>
            </a:pPr>
            <a:r>
              <a:t>06 MAY 2026  |  Solution-Focused  |  Working Prototype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Four challenges that current SOC tooling cannot 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834640" cy="36576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Manual Context Reassembly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2834640" cy="3200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Analyst touches 6–12 data tables per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Each table: different schema, different timestamps, different entity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520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30–45 min triage time per alert × 500 alerts/day = most never investigated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1188720"/>
            <a:ext cx="2834640" cy="3657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Inconsistent Siloed 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600200"/>
            <a:ext cx="2834640" cy="3200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AD, AAD, Okta, AWS, K8s each see 1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Lateral movement across 5 systems = 5 weak signals, not 1 strong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520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No current tool fuses these into a single trajectory per entity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2834640" cy="36576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Scalability Constraints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00200"/>
            <a:ext cx="2834640" cy="3200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Manual correlation caps at ~50 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N log sources = N separate analytics pipelines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20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Gabriel Nimbus scale: 100K+ entities. Current tools cannot keep 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188720"/>
            <a:ext cx="283464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2070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Operational Inefficiency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1600200"/>
            <a:ext cx="2834640" cy="32004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Anomaly score "87%" — no direction, no MITRE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060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Static Sigma rules decay monthly (PRC actors test against them)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204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Alert fatigue: analysts ignore most alerts. Attacker operates freely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963A"/>
                </a:solidFill>
                <a:latin typeface="Segoe UI"/>
              </a:defRPr>
            </a:pPr>
            <a:r>
              <a:t>Result: Volt Typhoon dwelled 5+ years. Salt Typhoon dwelled 4+ years. Neither was caught by config-only or behavior-only defenses.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Source: CISA AA24-038A (Volt Typhoon) | CISA AA25-239A (Salt Typhoon) | Gartner: 99% of firewall breaches = misconfiguration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Why Current Tools Structurally Cannot Solve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Two gap categories — one in preemption, one in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41148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PREEMPTIVE LAYER FAILS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91640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99% of firewall breaches = misconfiguration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Gartner. Both Typhoons exploit mis-set NGFWs and VPNs.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404872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KEV patching covers only ~20% of attacks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The other 80% — most Salt Typhoon paths — have no CVE patch.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18104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181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ASM/BAS only sample the 2^8000 state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92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Cannot PROVE protection. Coverage is statistical, not deterministic.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831336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Config drift goes unverified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05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Salt Typhoon modifies router ACLs. Drift-detection is reactive, not preemptive.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5760720" cy="41148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BEHAVIORAL LAYER FAILS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691640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691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Threshold scoring misses LoTL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65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Volt Typhoon's process tree was 'normal' at every step. ntdsutil never crosses a threshold.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404872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404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Per-source siloed analytics fragment identity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6791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AD, AAD, AWS, Okta, K8s each see one identifier — lateral movement reads as 4 weak signals.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18104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1181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Static rules decay monthly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392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PRC actors test against published Sigma rules before campaigns. Coverage decays by month.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831336"/>
            <a:ext cx="73152" cy="640080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8313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'Anomaly score' without direction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10565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Analyst gets '87% anomalous' — no hypothesis, no MITRE mapping. Triage time blows out.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Two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Rigor preempts what CAN be prevented. ACECARD detects what CANNOT.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76072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1188720"/>
            <a:ext cx="5760720" cy="41148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LAYER 1: Rigor AI — Preemptive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Formal mathematical model of ALL security controls (NGFW, IPS, IdP, SASE, WAF)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Exhaustive analysis of 2^8000 state space — symbolic reasoning, NOT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PROVES attack paths are closed — mathematical certainty, not probability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Continuous re-verification on every config change (hourly or per-change)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Risk-prioritized remediation with vendor-specific fix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•  Solves the 99% misconfiguration problem: finds multi-rule shadow, zombie rules, ACL gaps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5760720" cy="38404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188720"/>
            <a:ext cx="5760720" cy="411480"/>
          </a:xfrm>
          <a:prstGeom prst="roundRect">
            <a:avLst/>
          </a:prstGeom>
          <a:solidFill>
            <a:srgbClr val="006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216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LAYER 2: ACECARD UEBA — Behavioral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7373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1536-d behavioral embedding per entity per hour (OpenAI or local SLM)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57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5 behavioral signals: auth, process, network, file,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CUSUM change-point detection catches slow drift over weeks/months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97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Drift direction: cosine projection onto 8 MITRE-mapped threat concepts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Peer cohort z-score comparison (role/OU/group context)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375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DDCC"/>
                </a:solidFill>
                <a:latin typeface="Segoe UI"/>
              </a:defRPr>
            </a:pPr>
            <a:r>
              <a:t>•  ABAC trust loop: auto-enforces step-up MFA, restrict, or block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212080"/>
            <a:ext cx="1161288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Why Both Layers Are Required: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CC"/>
                </a:solidFill>
                <a:latin typeface="Segoe UI"/>
              </a:defRPr>
            </a:pPr>
            <a:r>
              <a:t>Rigor cannot detect attacks in progress (valid credentials, zero-days, insider threats). ACECARD cannot prevent misconfigured controls. Together: either the path never existed (Rigor closed it) OR the attack is detected and contained within hours (ACECARD + ABAC). Defense in depth.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How It Solves the Four CFIC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Direct mapping: each challenge → specific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61288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1234440"/>
            <a:ext cx="2560320" cy="274320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Manual Context Reassembly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234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Unified 1536-d embedding fuses ALL log sources into one vector per entity. No manual joins across tables.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57276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One API call: GET /api/trajectory/{entity}/dashboard → drift, velocity, CUSUM, health, top-3 threat concepts, MITRE technique IDs, peer z-score.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9385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Analyst goes from alert to full context in &lt;3 seconds, not 30–45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514600"/>
            <a:ext cx="1161288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0040" y="2560320"/>
            <a:ext cx="2560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7860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Inconsistent Siloed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560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5 signal serializers normalize events from ANY source (ECS/OCSF/STIX 2.1) into one coherent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986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Entity resolution maps AD/AAD/Okta/AWS/K8s identities to single entity_uuid. All signals contribute to ONE embedding.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6440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Lateral movement across 5 identity systems = 1 strong signal, not 5 weak 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840480"/>
            <a:ext cx="1161288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0040" y="3886200"/>
            <a:ext cx="2560320" cy="2743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904488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Scalability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8862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Containerized: Iron Bank base images, OCI-compliant, K8s Helm chart. Gabriel Nimbus native.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2452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10,000 entities/hour on 4-vCPU. Horizontal scaling via K8s replicas. &lt;3 sec per entity window.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5902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1 unified pipeline handles ALL log types. New sources plug in via schema config, not code.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66359"/>
            <a:ext cx="11612880" cy="123444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" y="5212079"/>
            <a:ext cx="2560320" cy="2743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230367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Operational Inefficiency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212079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Fully automated: ingest → normalize → serialize → embed → analyze → alert → enforce. Zero manual wrangling.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55040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ABAC trust loop auto-restricts access proportionally: step-up MFA → read-only → block. &lt;5 min from detection to enforcement.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916167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Analyst TP/FP feedback auto-tunes thresholds. System improves with use, not decays.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Five Behavioral Signals → 6 Embeddings (9,216-d Total)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signal individually embedded (1536-d) + one fused composite (1536-d) = per-signal drift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94560" cy="347472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1: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600200"/>
            <a:ext cx="219456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62763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5A87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830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Win 4624/4625/4768</a:t>
            </a:r>
            <a:br/>
            <a:r>
              <a:t>Okta, Azure 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2788920"/>
            <a:ext cx="219456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81635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D5A87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999232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logon_count, failure_rate, unique_hosts,</a:t>
            </a:r>
            <a:br/>
            <a:r>
              <a:t>off_hours_ratio, impossible_travel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188720"/>
            <a:ext cx="2194560" cy="34747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2: 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1600200"/>
            <a:ext cx="219456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24912" y="162763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17830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Sysmon EID 1/3</a:t>
            </a:r>
            <a:br/>
            <a:r>
              <a:t>EDR, auditd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788920"/>
            <a:ext cx="219456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281635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C3AED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2999232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unique_procs, lolbin_count, cmdline_entropy,</a:t>
            </a:r>
            <a:br/>
            <a:r>
              <a:t>parent_child_depth, unsigned_ratio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1188720"/>
            <a:ext cx="2194560" cy="34747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3: NETWORK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0" y="1600200"/>
            <a:ext cx="219456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162763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B8A6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17830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NetFlow, Zeek</a:t>
            </a:r>
            <a:br/>
            <a:r>
              <a:t>PAN, Fortinet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2788920"/>
            <a:ext cx="219456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281635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4B8A6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2999232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unique_dest_ips, bytes_out_ratio,</a:t>
            </a:r>
            <a:br/>
            <a:r>
              <a:t>beacon_score, dns_rate, geo_anomaly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06640" y="1188720"/>
            <a:ext cx="2194560" cy="34747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4: FILE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1600200"/>
            <a:ext cx="219456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79792" y="162763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79792" y="17830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Sysmon EID 11</a:t>
            </a:r>
            <a:br/>
            <a:r>
              <a:t>File audit, DLP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06640" y="2788920"/>
            <a:ext cx="219456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281635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2999232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files_created/deleted, sensitive_access,</a:t>
            </a:r>
            <a:br/>
            <a:r>
              <a:t>archive_creates, extension_changes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1188720"/>
            <a:ext cx="2194560" cy="347472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8408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Signal 5: IDENTITY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84080" y="1600200"/>
            <a:ext cx="2194560" cy="109728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57232" y="162763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53E3E"/>
                </a:solidFill>
                <a:latin typeface="Segoe UI"/>
              </a:defRPr>
            </a:pPr>
            <a:r>
              <a:t>SOURCES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17830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Win 4672, CloudTrail</a:t>
            </a:r>
            <a:br/>
            <a:r>
              <a:t>K8s audit, 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784080" y="2788920"/>
            <a:ext cx="2194560" cy="11887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57232" y="2816352"/>
            <a:ext cx="204825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53E3E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57232" y="2999232"/>
            <a:ext cx="20482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BBCC"/>
                </a:solidFill>
                <a:latin typeface="Segoe UI"/>
              </a:defRPr>
            </a:pPr>
            <a:r>
              <a:t>priv_escalations, group_adds,</a:t>
            </a:r>
            <a:br/>
            <a:r>
              <a:t>mfa_bypass, role_changes, admin_actions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4206240"/>
            <a:ext cx="11612880" cy="5943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224528"/>
            <a:ext cx="11247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Segoe UI"/>
              </a:defRPr>
            </a:pPr>
            <a:r>
              <a:t>DUAL EMBEDDING ARCHITECTURE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Segoe UI"/>
              </a:defRPr>
            </a:pPr>
            <a:r>
              <a:t>Each signal individually embedded → 5 x 1536-d vectors (per-signal drift tracking). All 5 signal texts also concatenated → 1 x 1536-d fused composite. Total: 6 vectors = 9,216 dimensions per (entity, window). No raw event content sent to provider — only summarized metrics. Local SLM (Phi-4/Mistral) for JWICS.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74320" y="4846320"/>
            <a:ext cx="5669280" cy="1645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892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Trajectory Analysis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212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Cascadia Code"/>
              </a:defRPr>
            </a:pPr>
            <a:r>
              <a:t>•  Cosine drift = 1 - cos(V_current, V_baseline)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•  Velocity = drift(t) - drift(t-1)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•  CUSUM: cumulative sum, alarm at 4σ</a:t>
            </a:r>
          </a:p>
          <a:p>
            <a:pPr>
              <a:spcBef>
                <a:spcPts val="400"/>
              </a:spcBef>
              <a:defRPr sz="1000" b="0">
                <a:solidFill>
                  <a:srgbClr val="CCDDCC"/>
                </a:solidFill>
                <a:latin typeface="Segoe UI"/>
              </a:defRPr>
            </a:pPr>
            <a:r>
              <a:t>•  Health score: 0–100 (Critical &lt;40)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4846320"/>
            <a:ext cx="5760720" cy="164592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60" y="48920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Drift Direction (8 MITRE Concepts)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2120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DDCC"/>
                </a:solidFill>
                <a:latin typeface="Cascadia Code"/>
              </a:defRPr>
            </a:pPr>
            <a:r>
              <a:t>projection = cosine(drift_vector, concept_embedding)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credential_dumping (T1003) | lateral_movement (T1021)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data_exfiltration (T1041) | c2_beaconing (T1071)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lotl_execution (T1059) | privilege_escalation (T1078)</a:t>
            </a:r>
          </a:p>
          <a:p>
            <a:pPr>
              <a:spcBef>
                <a:spcPts val="400"/>
              </a:spcBef>
              <a:defRPr sz="1000" b="0">
                <a:solidFill>
                  <a:srgbClr val="B8963A"/>
                </a:solidFill>
                <a:latin typeface="Segoe UI"/>
              </a:defRPr>
            </a:pPr>
            <a:r>
              <a:t>defense_evasion (T1562) | insider_hoarding (T1074)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Volt Typhoon: Both Layers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Each phase: what Rigor preempts AND what ACECARD detects if preemption is bypassed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6128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Attacker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Rigor Preempts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ACECARD Detects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554480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79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Initial Access</a:t>
            </a:r>
            <a:br/>
            <a:r>
              <a:t>0–12h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579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Compromised SOHO router → VPN credential 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79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Zero-trust segmentation verified;</a:t>
            </a:r>
            <a:br/>
            <a:r>
              <a:t>MFA bypass paths surfaced (T1133)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579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Auth: off_hours_ratio spikes,</a:t>
            </a:r>
            <a:br/>
            <a:r>
              <a:t>new source IP — drift 0.08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450592"/>
            <a:ext cx="11704320" cy="86868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47599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LOLBin Execution</a:t>
            </a:r>
            <a:br/>
            <a:r>
              <a:t>12–36h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759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wmic, ntdsutil, netsh 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759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App-control policies verified;</a:t>
            </a:r>
            <a:br/>
            <a:r>
              <a:t>unsigned exec paths blocked (T1059)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759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Process: lolbin_count 0→7,</a:t>
            </a:r>
            <a:br/>
            <a:r>
              <a:t>cmdline_entropy rises — drift 0.14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346704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372104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Lateral Movement</a:t>
            </a:r>
            <a:br/>
            <a:r>
              <a:t>36–72h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72104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RDP + WinRM to domain controllers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7210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Micro-seg blocks DC access</a:t>
            </a:r>
            <a:br/>
            <a:r>
              <a:t>from user VLAN (T1021)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37210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Network: unique_dest 3→18,</a:t>
            </a:r>
            <a:br/>
            <a:r>
              <a:t>admin shares — drift 0.19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242816"/>
            <a:ext cx="11704320" cy="86868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268216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Persistence</a:t>
            </a:r>
            <a:br/>
            <a:r>
              <a:t>72–96h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68216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Scheduled tasks + registry mods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68216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Config drift detected;</a:t>
            </a:r>
            <a:br/>
            <a:r>
              <a:t>baseline deviation flagged (T1053)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68216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Identity: svc_acct_use spikes</a:t>
            </a:r>
            <a:br/>
            <a:r>
              <a:t>CUSUM triggers at 4σ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5138928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16432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Pre-positioning</a:t>
            </a:r>
            <a:br/>
            <a:r>
              <a:t>96h+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164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Credential harvest + network 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1643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Credential-guard policies</a:t>
            </a:r>
            <a:br/>
            <a:r>
              <a:t>verified on DCs (T1003)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643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File: sensitive_access rises</a:t>
            </a:r>
            <a:br/>
            <a:r>
              <a:t>Health: 28 (CRITICAL)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Salt Typhoon: Both Layers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Telecom-specific tradecraft. Rigor preempts + ACECARD detects.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143000"/>
            <a:ext cx="11704320" cy="347472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1645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161288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Attacker Behavior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Rigor Preempts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16128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4AA"/>
                </a:solidFill>
                <a:latin typeface="Segoe UI"/>
              </a:defRPr>
            </a:pPr>
            <a:r>
              <a:t>ACECARD Detects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" y="1554480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798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Edge CVE Exploit</a:t>
            </a:r>
            <a:br/>
            <a:r>
              <a:t>0–24h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5798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CVE-2023-20198 vs Cisco IOS XE;</a:t>
            </a:r>
            <a:br/>
            <a:r>
              <a:t>level-15 admin obtained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579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WAF blocks /webui/ public access;</a:t>
            </a:r>
            <a:br/>
            <a:r>
              <a:t>mgmt-plane ACL verified (T1190)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5798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Network: anomalous mgmt-plane</a:t>
            </a:r>
            <a:br/>
            <a:r>
              <a:t>source IP — drift 0.09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" y="2450592"/>
            <a:ext cx="11704320" cy="86868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2475992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ACL Tampering</a:t>
            </a:r>
            <a:br/>
            <a:r>
              <a:t>1–7d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759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Modifies router ACLs + AAA;</a:t>
            </a:r>
            <a:br/>
            <a:r>
              <a:t>creates persistent hidden 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759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Config drift detected in &lt;1 hour;</a:t>
            </a:r>
            <a:br/>
            <a:r>
              <a:t>baseline deviation flagged (T1556)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475992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Auth: SNMP access pattern change;</a:t>
            </a:r>
            <a:br/>
            <a:r>
              <a:t>Identity: new admin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346704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372104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GRE Tunneling</a:t>
            </a:r>
            <a:br/>
            <a:r>
              <a:t>7–30d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372104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GRE tunnel + encrypted C2</a:t>
            </a:r>
            <a:br/>
            <a:r>
              <a:t>channels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7210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Unauthorized tunnel endpoints</a:t>
            </a:r>
            <a:br/>
            <a:r>
              <a:t>detected; egress verified (T1572)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372104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Network: beacon_score rises;</a:t>
            </a:r>
            <a:br/>
            <a:r>
              <a:t>new protocol mix — CUSUM accumulating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600" y="4242816"/>
            <a:ext cx="11704320" cy="868680"/>
          </a:xfrm>
          <a:prstGeom prst="roundRect">
            <a:avLst/>
          </a:prstGeom>
          <a:solidFill>
            <a:srgbClr val="15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268216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Wiretap Access</a:t>
            </a:r>
            <a:br/>
            <a:r>
              <a:t>30–90d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68216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CALEA lawful intercept</a:t>
            </a:r>
            <a:br/>
            <a:r>
              <a:t>system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268216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Privilege verification on</a:t>
            </a:r>
            <a:br/>
            <a:r>
              <a:t>interception systems (T1078)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268216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Identity: priv_esc on CALEA;</a:t>
            </a:r>
            <a:br/>
            <a:r>
              <a:t>admin_actions spike — CUSUM triggers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" y="5138928"/>
            <a:ext cx="11704320" cy="86868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5164328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CDR Exfiltration</a:t>
            </a:r>
            <a:br/>
            <a:r>
              <a:t>90d+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164328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DD"/>
                </a:solidFill>
                <a:latin typeface="Segoe UI"/>
              </a:defRPr>
            </a:pPr>
            <a:r>
              <a:t>Call detail records stolen</a:t>
            </a:r>
            <a:br/>
            <a:r>
              <a:t>over months, slowly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1643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Outbound restriction policies</a:t>
            </a:r>
            <a:br/>
            <a:r>
              <a:t>verified for CDR stores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1643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DDCC"/>
                </a:solidFill>
                <a:latin typeface="Segoe UI"/>
              </a:defRPr>
            </a:pPr>
            <a:r>
              <a:t>File: steady bytes_out increase;</a:t>
            </a:r>
            <a:br/>
            <a:r>
              <a:t>Health: 24 (CRITICAL)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Proof: Working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Not a concept. Not a proposal. A running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Running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Docker-compose: PostgreSQL+pgvector, FastAPI, 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83664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270 days synthetic event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6 injected attack scenarios (Volt/Salt Typhoon TTPs)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59152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Mock embedding pipeline: 5 signals → 1536-d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96896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CUSUM detection + drift direction + MITRE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83464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Kill-chain reconstruction (multi-phase narratives)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749039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80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963A"/>
                </a:solidFill>
                <a:latin typeface="Segoe UI"/>
              </a:defRPr>
            </a:pPr>
            <a:r>
              <a:t>7-Chart SOC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64592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Drift timeline (cosine drift per window)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883664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Velocity / acceleration (rate of change)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21408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Change-point timeline (CUSUM triggers)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59152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Health gauge (0–100)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596896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Drift-direction radar (8 MITRE concepts)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3464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Per-signal contribution (which signal drives drift)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72384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Peer-cohort scatter (outlier detection)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188720"/>
            <a:ext cx="3749039" cy="27432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280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Segoe UI"/>
              </a:defRPr>
            </a:pPr>
            <a:r>
              <a:t>Proven Foundation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4592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E-11 Temporal Trajectory Intelligence at DLA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883664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500+ entities tracked over 23 monthly snapshots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121408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5 behavioral signals → CUSUM change-point 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59152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Drift direction with concept alignment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96896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Same architecture, same 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834640"/>
            <a:ext cx="3291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Segoe UI"/>
              </a:defRPr>
            </a:pPr>
            <a:r>
              <a:t>•  Different signals: SCM → cyber defense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114800"/>
            <a:ext cx="11612880" cy="21945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60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D5A87"/>
                </a:solidFill>
                <a:latin typeface="Segoe UI"/>
              </a:defRPr>
            </a:pPr>
            <a:r>
              <a:t>Rigor AI — Production Findings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45262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Closed SMB lateral movement path — 3 higher-priority rules shadowed app-control profiles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00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Comms | NA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8006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Eliminated CVE exposure — IPS filters missing on rsync traffic to backup servers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Government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0749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Found zombie rules — legacy permits for decommissioned systems still allowed traffic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963A"/>
                </a:solidFill>
                <a:latin typeface="Segoe UI"/>
              </a:defRPr>
            </a:pPr>
            <a:r>
              <a:t>Critical Infra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534924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CCDD"/>
                </a:solidFill>
                <a:latin typeface="Segoe UI"/>
              </a:defRPr>
            </a:pPr>
            <a:r>
              <a:t>Verified Zero Trust claims were incomplete — implicit trust in edge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Gabriel Nimbus Deployment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Containerized, multi-enclave, cATO-aligned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1463040" cy="256032"/>
          </a:xfrm>
          <a:prstGeom prst="roundRect">
            <a:avLst/>
          </a:prstGeom>
          <a:solidFill>
            <a:srgbClr val="2D5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344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Iron Bank-compatible base image, OCI-compliant, signed with SBOM, Big Bang Helm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883664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929384"/>
            <a:ext cx="1463040" cy="25603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476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Enclaves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19476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IL5 (NIPR) / IL6 (SIPR) / JWICS — replicated containers, no cross-domain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487168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2532888"/>
            <a:ext cx="1463040" cy="256032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5117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55117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OpenAI text-embedding-3-small (IL5) | Local SLM: Phi-4 / Mistral for JWICS (env var swap, no code change)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90672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136392"/>
            <a:ext cx="1463040" cy="256032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&lt;3s embed+analyze+interpret per entity window; 10K entities/hour on 4-vCPU; horizontal K8s scaling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694176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739896"/>
            <a:ext cx="1463040" cy="256032"/>
          </a:xfrm>
          <a:prstGeom prst="round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75818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758184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Bearer token (dev) / CAC/PIV mTLS (production cluster); RBAC on API endpoints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297680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11480" y="4343400"/>
            <a:ext cx="1463040" cy="256032"/>
          </a:xfrm>
          <a:prstGeom prst="roundRect">
            <a:avLst/>
          </a:prstGeom>
          <a:solidFill>
            <a:srgbClr val="B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361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Schema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36168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ECS, OCSF, STIX 2.1 normalized input — new log sources plug in via schema config, not code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901184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1480" y="4946904"/>
            <a:ext cx="1463040" cy="256032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96519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9651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Structured JSON logs, Prometheus metrics, OpenTelemetry traces end-to-end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504688"/>
            <a:ext cx="11430000" cy="566928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33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1480" y="5550408"/>
            <a:ext cx="1463040" cy="256032"/>
          </a:xfrm>
          <a:prstGeom prst="roundRect">
            <a:avLst/>
          </a:prstGeom>
          <a:solidFill>
            <a:srgbClr val="A0AE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686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CI/CD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568696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FluxCD GitOps, SBOM generation, vulnerability scanning (Anchore/Grype), cATO DoD CIO Feb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Team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  <a:latin typeface="Segoe UI"/>
              </a:defRPr>
            </a:pPr>
            <a:r>
              <a:t>Operational experience at scale in DoD cyber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Segoe UI"/>
              </a:defRPr>
            </a:pPr>
            <a:r>
              <a:t>ACECARD 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B89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8963A"/>
                </a:solidFill>
                <a:latin typeface="Segoe UI"/>
              </a:defRPr>
            </a:pPr>
            <a:r>
              <a:t>22nd Century Technologies (TSCTI)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U.S. Army SOC/MDR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$90M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800+ cleared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U.S. Air 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$108M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Cybersecurity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FBI TSC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468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$56M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Cybersecurity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34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NAVAIR / USMC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Segoe UI"/>
              </a:defRPr>
            </a:pPr>
            <a:r>
              <a:t>$145M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  <a:latin typeface="Segoe UI"/>
              </a:defRPr>
            </a:pPr>
            <a:r>
              <a:t>Cybersecurity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DD"/>
                </a:solidFill>
                <a:latin typeface="Segoe UI"/>
              </a:defRPr>
            </a:pPr>
            <a:r>
              <a:t>ACECARD UEBA is built by the team that operates SOC/MDR at scale for the U.S. military. This is not academic research — it is built by practitioners who triage alerts, investigate incidents, and respond to threats every day.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88720"/>
            <a:ext cx="5669280" cy="411480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D5A8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34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5A87"/>
                </a:solidFill>
                <a:latin typeface="Segoe UI"/>
              </a:defRPr>
            </a:pPr>
            <a:r>
              <a:t>Rigor AI Inc.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CCDD"/>
                </a:solidFill>
                <a:latin typeface="Segoe UI"/>
              </a:defRPr>
            </a:pPr>
            <a:r>
              <a:t>20+ design partners across:</a:t>
            </a:r>
            <a:br/>
            <a:br/>
            <a:r>
              <a:t>•  Fortune 500 enterprises</a:t>
            </a:r>
            <a:br/>
            <a:r>
              <a:t>•  Federal agencies</a:t>
            </a:r>
            <a:br/>
            <a:r>
              <a:t>•  Critical infrastructure operators</a:t>
            </a:r>
            <a:br/>
            <a:r>
              <a:t>•  MSSPs (Managed Security Service Providers)</a:t>
            </a:r>
            <a:br/>
            <a:r>
              <a:t>•  Nation states</a:t>
            </a:r>
            <a:br/>
            <a:br/>
            <a:r>
              <a:t>Production findings in financial services, telecom, and government. Formal verification engine with real customer results: closed SMB lateral movement paths, eliminated CVE exposure gaps, found zombie firewall rules, verified Zero Trust claims.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  <a:latin typeface="Segoe UI"/>
              </a:defRPr>
            </a:pPr>
            <a:r>
              <a:t>We Have a Working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8963A"/>
                </a:solidFill>
                <a:latin typeface="Segoe UI"/>
              </a:defRPr>
            </a:pPr>
            <a:r>
              <a:t>We Can Demo It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926080"/>
            <a:ext cx="8534095" cy="18288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CC"/>
                </a:solidFill>
                <a:latin typeface="Segoe UI"/>
              </a:defRPr>
            </a:pPr>
            <a:r>
              <a:t>Rigor AI mathematically proves your configuration closes every known TTP path — before exploitation.</a:t>
            </a:r>
            <a:br/>
            <a:br/>
            <a:r>
              <a:t>ACECARD UEBA detects behavioral drift when Living-off-the-Land tradecraft slips through — with MITRE-mapped direction, not just anomaly scores.</a:t>
            </a:r>
            <a:br/>
            <a:br/>
            <a:r>
              <a:t>Together: preempt what can be prevented, detect what cannot, enforce proportionally via ABAC.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029200"/>
            <a:ext cx="8534095" cy="18288"/>
          </a:xfrm>
          <a:prstGeom prst="roundRect">
            <a:avLst/>
          </a:prstGeom>
          <a:solidFill>
            <a:srgbClr val="33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EC0"/>
                </a:solidFill>
                <a:latin typeface="Segoe UI"/>
              </a:defRPr>
            </a:pPr>
            <a:r>
              <a:t>Containerized  |  Gabriel Nimbus Ready  |  IL5/IL6/JWICS  |  cATO-Aligned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Segoe UI"/>
              </a:defRPr>
            </a:pPr>
            <a:r>
              <a:t>22nd Century Technologies  |  Rigor AI Inc.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0" y="6803136"/>
            <a:ext cx="12191695" cy="54864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  <a:latin typeface="Segoe UI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