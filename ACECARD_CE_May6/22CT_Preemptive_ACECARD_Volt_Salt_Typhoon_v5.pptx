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8" r:id="rId23"/>
    <p:sldId id="282" r:id="rId24"/>
    <p:sldId id="283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96" y="1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645920" y="164592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B7950B"/>
                </a:solidFill>
                <a:latin typeface="Georgia"/>
              </a:defRPr>
            </a:pPr>
            <a:r>
              <a:t>22nd Century Technologies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377440"/>
            <a:ext cx="91440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Georgia"/>
              </a:defRPr>
            </a:pPr>
            <a:r>
              <a:t>Preemptive Cyber Defense</a:t>
            </a:r>
            <a:br/>
            <a:r>
              <a:t>&amp; Behavioral Intelligence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411480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A0B8D0"/>
                </a:solidFill>
                <a:latin typeface="Segoe UI"/>
              </a:defRPr>
            </a:pPr>
            <a:r>
              <a:t>Solution Overview  |  Architecture  |  Implementation 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0" y="4846320"/>
            <a:ext cx="3200400" cy="2540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51206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7A8B9E"/>
                </a:solidFill>
                <a:latin typeface="Segoe UI"/>
              </a:defRPr>
            </a:pPr>
            <a:r>
              <a:t>Stopping Nation-State Adversaries Before They Strike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612648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A6B7E"/>
                </a:solidFill>
                <a:latin typeface="Segoe UI"/>
              </a:defRPr>
            </a:pPr>
            <a:r>
              <a:t>PROPRIETARY  //  NOT FOR PUBLIC RELEASE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B4F72"/>
                </a:solidFill>
                <a:latin typeface="Segoe UI"/>
              </a:defRPr>
            </a:pPr>
            <a:r>
              <a:t>Nation-state adversaries are dwelling inside U.S. critical infrastructure — undetected for 4–5+ years.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463040"/>
            <a:ext cx="10058400" cy="1828800"/>
          </a:xfrm>
          <a:prstGeom prst="roundRect">
            <a:avLst/>
          </a:prstGeom>
          <a:solidFill>
            <a:srgbClr val="FDEDEC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97280" y="1463040"/>
            <a:ext cx="10058400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71600" y="1477695"/>
            <a:ext cx="96012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  <a:latin typeface="Segoe UI"/>
              </a:defRPr>
            </a:pPr>
            <a:r>
              <a:rPr dirty="0"/>
              <a:t>Two confirmed nation-state campaigns — Volt Typhoon and Salt Typhoon — have compromised</a:t>
            </a:r>
          </a:p>
          <a:p>
            <a:pPr>
              <a:spcBef>
                <a:spcPts val="800"/>
              </a:spcBef>
              <a:defRPr sz="1400" b="1">
                <a:solidFill>
                  <a:srgbClr val="2C3E50"/>
                </a:solidFill>
                <a:latin typeface="Segoe UI"/>
              </a:defRPr>
            </a:pPr>
            <a:r>
              <a:rPr dirty="0"/>
              <a:t>hundreds of critical infrastructure targets using techniques that no existing tool can detect:</a:t>
            </a:r>
          </a:p>
          <a:p>
            <a:pPr>
              <a:spcBef>
                <a:spcPts val="800"/>
              </a:spcBef>
              <a:defRPr sz="800" b="0">
                <a:solidFill>
                  <a:srgbClr val="2C3E50"/>
                </a:solidFill>
                <a:latin typeface="Segoe UI"/>
              </a:defRPr>
            </a:pPr>
            <a:endParaRPr dirty="0"/>
          </a:p>
          <a:p>
            <a:pPr>
              <a:spcBef>
                <a:spcPts val="800"/>
              </a:spcBef>
              <a:defRPr sz="1300" b="0">
                <a:solidFill>
                  <a:srgbClr val="2C3E50"/>
                </a:solidFill>
                <a:latin typeface="Segoe UI"/>
              </a:defRPr>
            </a:pPr>
            <a:r>
              <a:rPr dirty="0"/>
              <a:t>•  Living-off-the-Land (LOTL): only legitimate admin tools — no malware signatures to find</a:t>
            </a:r>
          </a:p>
          <a:p>
            <a:pPr>
              <a:spcBef>
                <a:spcPts val="800"/>
              </a:spcBef>
              <a:defRPr sz="1300" b="0">
                <a:solidFill>
                  <a:srgbClr val="2C3E50"/>
                </a:solidFill>
                <a:latin typeface="Segoe UI"/>
              </a:defRPr>
            </a:pPr>
            <a:r>
              <a:rPr dirty="0"/>
              <a:t>•  Configuration-resident persistence: the attack IS the network configuration itself</a:t>
            </a:r>
          </a:p>
          <a:p>
            <a:pPr>
              <a:spcBef>
                <a:spcPts val="800"/>
              </a:spcBef>
              <a:defRPr sz="1300" b="0">
                <a:solidFill>
                  <a:srgbClr val="2C3E50"/>
                </a:solidFill>
                <a:latin typeface="Segoe UI"/>
              </a:defRPr>
            </a:pPr>
            <a:r>
              <a:rPr dirty="0"/>
              <a:t>•  Stolen valid credentials: every access control says "approved"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3383280"/>
            <a:ext cx="10058400" cy="13716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97280" y="3383280"/>
            <a:ext cx="54864" cy="13716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71600" y="3383280"/>
            <a:ext cx="96012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rPr dirty="0"/>
              <a:t>WHY NO EXISTING TOOL SOLVES THIS: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rPr dirty="0"/>
              <a:t>•  SIEM / EDR / XDR — detect known-bad signatures. These adversaries use only known-good tools.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rPr dirty="0"/>
              <a:t>•  Commercial UEBA — fixed thresholds. LOTL operates below every one.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rPr dirty="0"/>
              <a:t>•  Pentest / Vuln Scanners — sample attack paths. Cannot cover the combinatorial config space.</a:t>
            </a:r>
          </a:p>
          <a:p>
            <a:pPr>
              <a:spcBef>
                <a:spcPts val="800"/>
              </a:spcBef>
              <a:defRPr sz="1200" b="1">
                <a:solidFill>
                  <a:srgbClr val="C0392B"/>
                </a:solidFill>
                <a:latin typeface="Segoe UI"/>
              </a:defRPr>
            </a:pPr>
            <a:r>
              <a:rPr dirty="0"/>
              <a:t>•  No tool mathematically proves that all attack paths are blocked.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5029200"/>
            <a:ext cx="10058400" cy="109728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97280" y="5029200"/>
            <a:ext cx="54864" cy="109728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371600" y="4983480"/>
            <a:ext cx="9601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B4F72"/>
                </a:solidFill>
                <a:latin typeface="Segoe UI"/>
              </a:defRPr>
            </a:pPr>
            <a:r>
              <a:rPr dirty="0"/>
              <a:t>OUR SOLUTION:</a:t>
            </a:r>
          </a:p>
          <a:p>
            <a:pPr>
              <a:spcBef>
                <a:spcPts val="800"/>
              </a:spcBef>
              <a:defRPr sz="1300" b="0">
                <a:solidFill>
                  <a:srgbClr val="2C3E50"/>
                </a:solidFill>
                <a:latin typeface="Segoe UI"/>
              </a:defRPr>
            </a:pPr>
            <a:r>
              <a:rPr dirty="0"/>
              <a:t>1.  Preemptive Verification — Formal Mathematical Model that exhaustively proves configs block all known attack paths</a:t>
            </a:r>
          </a:p>
          <a:p>
            <a:pPr>
              <a:spcBef>
                <a:spcPts val="800"/>
              </a:spcBef>
              <a:defRPr sz="1300" b="0">
                <a:solidFill>
                  <a:srgbClr val="2C3E50"/>
                </a:solidFill>
                <a:latin typeface="Segoe UI"/>
              </a:defRPr>
            </a:pPr>
            <a:r>
              <a:rPr dirty="0"/>
              <a:t>2.  Behavioral Intelligence (ACECARD) — Digital Twin of each entity with time dimension; detects sub-threshold behavioral drift</a:t>
            </a:r>
          </a:p>
          <a:p>
            <a:pPr>
              <a:spcBef>
                <a:spcPts val="800"/>
              </a:spcBef>
              <a:defRPr sz="1300" b="1">
                <a:solidFill>
                  <a:srgbClr val="0D1B2A"/>
                </a:solidFill>
                <a:latin typeface="Segoe UI"/>
              </a:defRPr>
            </a:pPr>
            <a:r>
              <a:rPr dirty="0"/>
              <a:t>Together: 95–98% threat coverage. Dwell time reduced from 5 years to hours.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The Threat Landscape: Why This Matters Now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B4F72"/>
                </a:solidFill>
                <a:latin typeface="Segoe UI"/>
              </a:defRPr>
            </a:pPr>
            <a:r>
              <a:t>Nation-state adversaries are already inside U.S. critical infrastructure — undetected for years.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463040"/>
            <a:ext cx="4846320" cy="2286000"/>
          </a:xfrm>
          <a:prstGeom prst="roundRect">
            <a:avLst/>
          </a:prstGeom>
          <a:solidFill>
            <a:srgbClr val="FDEDEC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97280" y="1463040"/>
            <a:ext cx="4846320" cy="457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80160" y="1536192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  VOLT TYPHOON (G1017)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011680"/>
            <a:ext cx="43891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Segoe UI"/>
              </a:defRPr>
            </a:pPr>
            <a:r>
              <a:t>PRC state-sponsored. Active since mid-2021.</a:t>
            </a:r>
          </a:p>
          <a:p>
            <a:pPr>
              <a:spcBef>
                <a:spcPts val="800"/>
              </a:spcBef>
              <a:defRPr sz="1300" b="0">
                <a:solidFill>
                  <a:srgbClr val="2C3E50"/>
                </a:solidFill>
                <a:latin typeface="Segoe UI"/>
              </a:defRPr>
            </a:pPr>
            <a:r>
              <a:t>Pre-positioned in power, water, telecom for future disruption</a:t>
            </a:r>
          </a:p>
          <a:p>
            <a:pPr>
              <a:spcBef>
                <a:spcPts val="800"/>
              </a:spcBef>
              <a:defRPr sz="1300" b="0">
                <a:solidFill>
                  <a:srgbClr val="2C3E50"/>
                </a:solidFill>
                <a:latin typeface="Segoe UI"/>
              </a:defRPr>
            </a:pPr>
            <a:r>
              <a:t>Living-off-the-Land: uses only legitimate admin tools</a:t>
            </a:r>
          </a:p>
          <a:p>
            <a:pPr>
              <a:spcBef>
                <a:spcPts val="800"/>
              </a:spcBef>
              <a:defRPr sz="1300" b="1">
                <a:solidFill>
                  <a:srgbClr val="C0392B"/>
                </a:solidFill>
                <a:latin typeface="Segoe UI"/>
              </a:defRPr>
            </a:pPr>
            <a:r>
              <a:t>5+ year undetected dwell time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463040"/>
            <a:ext cx="4846320" cy="228600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09360" y="1463040"/>
            <a:ext cx="4846320" cy="4572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1536192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  SALT TYPHOON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011680"/>
            <a:ext cx="43891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Segoe UI"/>
              </a:defRPr>
            </a:pPr>
            <a:r>
              <a:t>200+ telecoms compromised across 80+ countries.</a:t>
            </a:r>
          </a:p>
          <a:p>
            <a:pPr>
              <a:spcBef>
                <a:spcPts val="800"/>
              </a:spcBef>
              <a:defRPr sz="1300" b="0">
                <a:solidFill>
                  <a:srgbClr val="2C3E50"/>
                </a:solidFill>
                <a:latin typeface="Segoe UI"/>
              </a:defRPr>
            </a:pPr>
            <a:r>
              <a:t>9 U.S. carriers. CALEA wiretap access.</a:t>
            </a:r>
          </a:p>
          <a:p>
            <a:pPr>
              <a:spcBef>
                <a:spcPts val="800"/>
              </a:spcBef>
              <a:defRPr sz="1300" b="0">
                <a:solidFill>
                  <a:srgbClr val="2C3E50"/>
                </a:solidFill>
                <a:latin typeface="Segoe UI"/>
              </a:defRPr>
            </a:pPr>
            <a:r>
              <a:t>Persistence IS the network configuration itself</a:t>
            </a:r>
          </a:p>
          <a:p>
            <a:pPr>
              <a:spcBef>
                <a:spcPts val="800"/>
              </a:spcBef>
              <a:defRPr sz="1300" b="1">
                <a:solidFill>
                  <a:srgbClr val="C0392B"/>
                </a:solidFill>
                <a:latin typeface="Segoe UI"/>
              </a:defRPr>
            </a:pPr>
            <a:r>
              <a:t>4+ year undetected dwell time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4023360"/>
            <a:ext cx="10058400" cy="13716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97280" y="4023360"/>
            <a:ext cx="54864" cy="13716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371600" y="4114800"/>
            <a:ext cx="96012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WHY CURRENT DEFENSES FAIL: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Configuration gaps are never mathematically proven closed — pentests only sample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Behavioral detection uses fixed thresholds — LOTL tradecraft operates below every one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Identity fragmented across 10+ systems — cross-domain movement reads as unrelated signals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66928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  <a:latin typeface="Segoe UI"/>
              </a:defRPr>
            </a:pPr>
            <a:r>
              <a:t>Sources: CISA AA24-038A  |  FBI/NSA/CISA Joint Advisory (Dec 2024)  |  Microsoft Threat Intel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Why Current Tools Cannot Solve This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B4F72"/>
                </a:solidFill>
                <a:latin typeface="Segoe UI"/>
              </a:defRPr>
            </a:pPr>
            <a:r>
              <a:t>These are the limiting factors — structural gaps that nation-state adversaries exploit by design.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371600"/>
            <a:ext cx="10058400" cy="80467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1828800" cy="80467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155448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SIEM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444752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Segoe UI"/>
              </a:defRPr>
            </a:pPr>
            <a:r>
              <a:t>Correlates known patterns from log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444752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Cannot detect novel combinations of legitimate tool usage. Volt Typhoon uses only approved admin binaries.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2240280"/>
            <a:ext cx="10058400" cy="80467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97280" y="2240280"/>
            <a:ext cx="1828800" cy="80467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88720" y="242316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EDR / XDR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2313432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Segoe UI"/>
              </a:defRPr>
            </a:pPr>
            <a:r>
              <a:t>Detects malware and known-bad executables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313432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Every binary Volt Typhoon uses is allowlisted. Salt Typhoon lives on routers where EDR cannot deploy.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3108960"/>
            <a:ext cx="10058400" cy="80467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097280" y="3108960"/>
            <a:ext cx="1828800" cy="80467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88720" y="329184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Commercial UEBA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182112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Segoe UI"/>
              </a:defRPr>
            </a:pPr>
            <a:r>
              <a:t>Fixed thresholds per data source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182112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LOTL operates below every threshold. No cross-system identity fusion. No drift direction.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" y="3977640"/>
            <a:ext cx="10058400" cy="80467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097280" y="3977640"/>
            <a:ext cx="1828800" cy="80467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88720" y="416052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Pentest / Red Team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4050792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Segoe UI"/>
              </a:defRPr>
            </a:pPr>
            <a:r>
              <a:t>Manual testing of known attack paths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050792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Point-in-time sample. Cannot cover combinatorial config space. Annual cadence vs continuous adversary.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4846320"/>
            <a:ext cx="10058400" cy="80467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097280" y="4846320"/>
            <a:ext cx="1828800" cy="80467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188720" y="502920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Vuln Scanner / ASM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4919472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Segoe UI"/>
              </a:defRPr>
            </a:pPr>
            <a:r>
              <a:t>Enumerates assets and known CVEs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4919472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Sees what EXISTS, not what is REACHABLE through config. Statistical confidence, not mathematical certainty.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97280" y="5760720"/>
            <a:ext cx="10058400" cy="457200"/>
          </a:xfrm>
          <a:prstGeom prst="roundRect">
            <a:avLst/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371600" y="580644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C0392B"/>
                </a:solidFill>
                <a:latin typeface="Segoe UI"/>
              </a:defRPr>
            </a:pPr>
            <a:r>
              <a:t>The gap is structural, not operational. A fundamentally different approach is required.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Our Approach: Two Complementary Layers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B4F72"/>
                </a:solidFill>
                <a:latin typeface="Segoe UI"/>
              </a:defRPr>
            </a:pPr>
            <a:r>
              <a:t>Mathematical certainty meets advanced behavioral intelligence — together, complete defense.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463040"/>
            <a:ext cx="4846320" cy="4114800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97280" y="1463040"/>
            <a:ext cx="4846320" cy="50292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71600" y="1536192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LAYER 1 — PREEMPTIVE VERIFICATION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103120"/>
            <a:ext cx="438912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  <a:latin typeface="Segoe UI"/>
              </a:defRPr>
            </a:pPr>
            <a:r>
              <a:t>We define a Formal Mathematical Model that reasons</a:t>
            </a:r>
          </a:p>
          <a:p>
            <a:pPr>
              <a:spcBef>
                <a:spcPts val="800"/>
              </a:spcBef>
              <a:defRPr sz="1300" b="0">
                <a:solidFill>
                  <a:srgbClr val="2C3E50"/>
                </a:solidFill>
                <a:latin typeface="Segoe UI"/>
              </a:defRPr>
            </a:pPr>
            <a:r>
              <a:t>exhaustively over your entire defensive configuration.</a:t>
            </a:r>
          </a:p>
          <a:p>
            <a:pPr>
              <a:spcBef>
                <a:spcPts val="800"/>
              </a:spcBef>
              <a:defRPr sz="800" b="0">
                <a:solidFill>
                  <a:srgbClr val="2C3E50"/>
                </a:solidFill>
                <a:latin typeface="Segoe UI"/>
              </a:defRPr>
            </a:pPr>
            <a:endParaRPr/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Ingests all threat intelligence continuously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Models every defensive control formally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Proves whether attack paths exist or are blocked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Prescribes vendor-specific remediations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Re-verifies continuously (hourly + on change)</a:t>
            </a:r>
          </a:p>
          <a:p>
            <a:pPr>
              <a:spcBef>
                <a:spcPts val="800"/>
              </a:spcBef>
              <a:defRPr sz="800" b="0">
                <a:solidFill>
                  <a:srgbClr val="2C3E50"/>
                </a:solidFill>
                <a:latin typeface="Segoe UI"/>
              </a:defRPr>
            </a:pPr>
            <a:endParaRPr/>
          </a:p>
          <a:p>
            <a:pPr>
              <a:spcBef>
                <a:spcPts val="800"/>
              </a:spcBef>
              <a:defRPr sz="1100" b="1">
                <a:solidFill>
                  <a:srgbClr val="1B4F72"/>
                </a:solidFill>
                <a:latin typeface="Segoe UI"/>
              </a:defRPr>
            </a:pPr>
            <a:r>
              <a:t>GUARANTEE: Zero false positives. Zero false negatives.</a:t>
            </a:r>
          </a:p>
          <a:p>
            <a:pPr>
              <a:spcBef>
                <a:spcPts val="800"/>
              </a:spcBef>
              <a:defRPr sz="1300" b="1">
                <a:solidFill>
                  <a:srgbClr val="0D1B2A"/>
                </a:solidFill>
                <a:latin typeface="Segoe UI"/>
              </a:defRPr>
            </a:pPr>
            <a:r>
              <a:t>Formal mathematical certainty within model scope.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463040"/>
            <a:ext cx="4846320" cy="411480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09360" y="1463040"/>
            <a:ext cx="4846320" cy="50292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0" y="1536192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LAYER 2 — BEHAVIORAL INTELLIGENCE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103120"/>
            <a:ext cx="438912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  <a:latin typeface="Segoe UI"/>
              </a:defRPr>
            </a:pPr>
            <a:r>
              <a:t>We create a Digital Twin of each entity instance.</a:t>
            </a:r>
          </a:p>
          <a:p>
            <a:pPr>
              <a:spcBef>
                <a:spcPts val="800"/>
              </a:spcBef>
              <a:defRPr sz="1300" b="0">
                <a:solidFill>
                  <a:srgbClr val="2C3E50"/>
                </a:solidFill>
                <a:latin typeface="Segoe UI"/>
              </a:defRPr>
            </a:pPr>
            <a:r>
              <a:t>User interaction is a living entity with a time</a:t>
            </a:r>
          </a:p>
          <a:p>
            <a:pPr>
              <a:spcBef>
                <a:spcPts val="800"/>
              </a:spcBef>
              <a:defRPr sz="1300" b="0">
                <a:solidFill>
                  <a:srgbClr val="2C3E50"/>
                </a:solidFill>
                <a:latin typeface="Segoe UI"/>
              </a:defRPr>
            </a:pPr>
            <a:r>
              <a:t>dimension — capturing behavioral evolution continuously.</a:t>
            </a:r>
          </a:p>
          <a:p>
            <a:pPr>
              <a:spcBef>
                <a:spcPts val="800"/>
              </a:spcBef>
              <a:defRPr sz="800" b="0">
                <a:solidFill>
                  <a:srgbClr val="2C3E50"/>
                </a:solidFill>
                <a:latin typeface="Segoe UI"/>
              </a:defRPr>
            </a:pPr>
            <a:endParaRPr/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Multi-signal behavioral profiling per entity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Advanced change-point detection (sub-threshold)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Drift direction mapped to MITRE ATT&amp;CK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Cross-system entity fusion (10+ identity sources)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Automated trust scoring and adaptive access</a:t>
            </a:r>
          </a:p>
          <a:p>
            <a:pPr>
              <a:spcBef>
                <a:spcPts val="800"/>
              </a:spcBef>
              <a:defRPr sz="800" b="0">
                <a:solidFill>
                  <a:srgbClr val="2C3E50"/>
                </a:solidFill>
                <a:latin typeface="Segoe UI"/>
              </a:defRPr>
            </a:pPr>
            <a:endParaRPr/>
          </a:p>
          <a:p>
            <a:pPr>
              <a:spcBef>
                <a:spcPts val="800"/>
              </a:spcBef>
              <a:defRPr sz="1100" b="1">
                <a:solidFill>
                  <a:srgbClr val="0E6B8A"/>
                </a:solidFill>
                <a:latin typeface="Segoe UI"/>
              </a:defRPr>
            </a:pPr>
            <a:r>
              <a:t>DETECTS: LOTL, credential abuse, insider threat.</a:t>
            </a:r>
          </a:p>
          <a:p>
            <a:pPr>
              <a:spcBef>
                <a:spcPts val="800"/>
              </a:spcBef>
              <a:defRPr sz="1300" b="1">
                <a:solidFill>
                  <a:srgbClr val="0D1B2A"/>
                </a:solidFill>
                <a:latin typeface="Segoe UI"/>
              </a:defRPr>
            </a:pPr>
            <a:r>
              <a:t>Catches what no threshold system can.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5760720"/>
            <a:ext cx="10058400" cy="45720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71600" y="580644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0D1B2A"/>
                </a:solidFill>
                <a:latin typeface="Segoe UI"/>
              </a:defRPr>
            </a:pPr>
            <a:r>
              <a:t>Together: attack surface never exists (Layer 1)  OR  adversary detected in hours, not years (Layer 2).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Preemptive Layer: Three Intelligences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B4F72"/>
                </a:solidFill>
                <a:latin typeface="Segoe UI"/>
              </a:defRPr>
            </a:pPr>
            <a:r>
              <a:t>Attack Intelligence → Defense Intelligence → Remediation Intelligence. Continuous closed loop.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463040"/>
            <a:ext cx="3108960" cy="4114800"/>
          </a:xfrm>
          <a:prstGeom prst="roundRect">
            <a:avLst/>
          </a:prstGeom>
          <a:solidFill>
            <a:srgbClr val="FDEDEC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97280" y="1463040"/>
            <a:ext cx="3108960" cy="457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80160" y="153619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  ATTACK INTELLIGENCE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057400"/>
            <a:ext cx="265176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C3E50"/>
                </a:solidFill>
                <a:latin typeface="Segoe UI"/>
              </a:defRPr>
            </a:pPr>
            <a:r>
              <a:t>Analyze all known threat intelligence</a:t>
            </a:r>
          </a:p>
          <a:p>
            <a:pPr>
              <a:spcBef>
                <a:spcPts val="800"/>
              </a:spcBef>
              <a:defRPr sz="600" b="0">
                <a:solidFill>
                  <a:srgbClr val="2C3E50"/>
                </a:solidFill>
                <a:latin typeface="Segoe UI"/>
              </a:defRPr>
            </a:pPr>
            <a:endParaRPr/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Ingests terabytes of CVE, advisories, CTI, IOCs, IOAs, PSIRTs continuously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MITRE-enriched attack graphs built by ML/NLP pipeline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Full TTP coverage of Volt Typhoon and Salt Typhoon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Auto-updates on every new advisory</a:t>
            </a:r>
          </a:p>
          <a:p>
            <a:pPr>
              <a:spcBef>
                <a:spcPts val="800"/>
              </a:spcBef>
              <a:defRPr sz="600" b="0">
                <a:solidFill>
                  <a:srgbClr val="2C3E50"/>
                </a:solidFill>
                <a:latin typeface="Segoe UI"/>
              </a:defRPr>
            </a:pPr>
            <a:endParaRPr/>
          </a:p>
          <a:p>
            <a:pPr>
              <a:spcBef>
                <a:spcPts val="800"/>
              </a:spcBef>
              <a:defRPr sz="950" b="1">
                <a:solidFill>
                  <a:srgbClr val="6C757D"/>
                </a:solidFill>
                <a:latin typeface="Segoe UI"/>
              </a:defRPr>
            </a:pPr>
            <a:r>
              <a:t>Sources:</a:t>
            </a:r>
          </a:p>
          <a:p>
            <a:pPr>
              <a:spcBef>
                <a:spcPts val="800"/>
              </a:spcBef>
              <a:defRPr sz="1000" b="0">
                <a:solidFill>
                  <a:srgbClr val="6C757D"/>
                </a:solidFill>
                <a:latin typeface="Segoe UI"/>
              </a:defRPr>
            </a:pPr>
            <a:r>
              <a:t>CISA KEV, NVD, NSA advisories, vendor PSIRTs, MITRE ATT&amp;CK, classified feeds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463040"/>
            <a:ext cx="3108960" cy="411480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34840" y="1463040"/>
            <a:ext cx="3108960" cy="4572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17720" y="153619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  DEFENSE INTELLIGENCE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057400"/>
            <a:ext cx="265176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C3E50"/>
                </a:solidFill>
                <a:latin typeface="Segoe UI"/>
              </a:defRPr>
            </a:pPr>
            <a:r>
              <a:t>Identify every defensive control gap</a:t>
            </a:r>
          </a:p>
          <a:p>
            <a:pPr>
              <a:spcBef>
                <a:spcPts val="800"/>
              </a:spcBef>
              <a:defRPr sz="600" b="0">
                <a:solidFill>
                  <a:srgbClr val="2C3E50"/>
                </a:solidFill>
                <a:latin typeface="Segoe UI"/>
              </a:defRPr>
            </a:pPr>
            <a:endParaRPr/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Formal Mathematical Model of every NGFW rule, ACL, IPS profile, identity policy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Exhaustively reasons over the complete configuration state space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No sampling — complete mathematical reasoning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Every path analyzed. Every combination verified.</a:t>
            </a:r>
          </a:p>
          <a:p>
            <a:pPr>
              <a:spcBef>
                <a:spcPts val="800"/>
              </a:spcBef>
              <a:defRPr sz="600" b="0">
                <a:solidFill>
                  <a:srgbClr val="2C3E50"/>
                </a:solidFill>
                <a:latin typeface="Segoe UI"/>
              </a:defRPr>
            </a:pPr>
            <a:endParaRPr/>
          </a:p>
          <a:p>
            <a:pPr>
              <a:spcBef>
                <a:spcPts val="800"/>
              </a:spcBef>
              <a:defRPr sz="950" b="1">
                <a:solidFill>
                  <a:srgbClr val="6C757D"/>
                </a:solidFill>
                <a:latin typeface="Segoe UI"/>
              </a:defRPr>
            </a:pPr>
            <a:r>
              <a:t>Supports:</a:t>
            </a:r>
          </a:p>
          <a:p>
            <a:pPr>
              <a:spcBef>
                <a:spcPts val="800"/>
              </a:spcBef>
              <a:defRPr sz="1000" b="0">
                <a:solidFill>
                  <a:srgbClr val="6C757D"/>
                </a:solidFill>
                <a:latin typeface="Segoe UI"/>
              </a:defRPr>
            </a:pPr>
            <a:r>
              <a:t>Palo Alto, Fortinet, Cisco, Check Point (N-S and E-W NGFWs)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1463040"/>
            <a:ext cx="3108960" cy="411480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772400" y="1463040"/>
            <a:ext cx="3108960" cy="45720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55280" y="153619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  REMEDIATION 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2057400"/>
            <a:ext cx="265176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C3E50"/>
                </a:solidFill>
                <a:latin typeface="Segoe UI"/>
              </a:defRPr>
            </a:pPr>
            <a:r>
              <a:t>Prescribe correct configurations</a:t>
            </a:r>
          </a:p>
          <a:p>
            <a:pPr>
              <a:spcBef>
                <a:spcPts val="800"/>
              </a:spcBef>
              <a:defRPr sz="600" b="0">
                <a:solidFill>
                  <a:srgbClr val="2C3E50"/>
                </a:solidFill>
                <a:latin typeface="Segoe UI"/>
              </a:defRPr>
            </a:pPr>
            <a:endParaRPr/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Risk-prioritized, vendor-specific remediation playbooks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No false positives (mathematically proven)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No false negatives (exhaustive reasoning)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Auto-push to ServiceNow, JIRA, SOC ticketing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Optional auto-apply + re-verify</a:t>
            </a:r>
          </a:p>
          <a:p>
            <a:pPr>
              <a:spcBef>
                <a:spcPts val="800"/>
              </a:spcBef>
              <a:defRPr sz="600" b="0">
                <a:solidFill>
                  <a:srgbClr val="2C3E50"/>
                </a:solidFill>
                <a:latin typeface="Segoe UI"/>
              </a:defRPr>
            </a:pPr>
            <a:endParaRPr/>
          </a:p>
          <a:p>
            <a:pPr>
              <a:spcBef>
                <a:spcPts val="800"/>
              </a:spcBef>
              <a:defRPr sz="950" b="1">
                <a:solidFill>
                  <a:srgbClr val="6C757D"/>
                </a:solidFill>
                <a:latin typeface="Segoe UI"/>
              </a:defRPr>
            </a:pPr>
            <a:r>
              <a:t>Guarantees:</a:t>
            </a:r>
          </a:p>
          <a:p>
            <a:pPr>
              <a:spcBef>
                <a:spcPts val="800"/>
              </a:spcBef>
              <a:defRPr sz="1000" b="0">
                <a:solidFill>
                  <a:srgbClr val="6C757D"/>
                </a:solidFill>
                <a:latin typeface="Segoe UI"/>
              </a:defRPr>
            </a:pPr>
            <a:r>
              <a:t>No new errors, no broken connectivity, no business disruption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320040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0D1B2A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3800" y="320040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0D1B2A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5760720"/>
            <a:ext cx="10058400" cy="45720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371600" y="5788152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D1B2A"/>
                </a:solidFill>
                <a:latin typeface="Segoe UI"/>
              </a:defRPr>
            </a:pPr>
            <a:r>
              <a:t>Continuous loop: new threat → model attack → verify defense → prescribe fix → re-verify. Every hour and on every config change.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Layered Defense: Where Attacks Are Stopped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B4F72"/>
                </a:solidFill>
                <a:latin typeface="Segoe UI"/>
              </a:defRPr>
            </a:pPr>
            <a:r>
              <a:t>80% of attacks are eliminated at the network/firewall layer — before they ever reach endpoints or users.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463040"/>
            <a:ext cx="10058400" cy="822960"/>
          </a:xfrm>
          <a:prstGeom prst="rect">
            <a:avLst/>
          </a:prstGeom>
          <a:solidFill>
            <a:srgbClr val="FDEDEC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97280" y="1463040"/>
            <a:ext cx="73152" cy="8229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71600" y="155448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C0392B"/>
                </a:solidFill>
                <a:latin typeface="Segoe UI"/>
              </a:defRPr>
            </a:pPr>
            <a:r>
              <a:t>100% of Attacks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874519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CVE exploits, C2 traffic, lateral movement, config abuse, credential theft, data exfiltration, zero-days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33172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0D1B2A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2651760"/>
            <a:ext cx="10058400" cy="1371600"/>
          </a:xfrm>
          <a:prstGeom prst="rect">
            <a:avLst/>
          </a:prstGeom>
          <a:solidFill>
            <a:srgbClr val="EBF5FB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97280" y="2651760"/>
            <a:ext cx="73152" cy="13716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371600" y="274320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B4F72"/>
                </a:solidFill>
                <a:latin typeface="Segoe UI"/>
              </a:defRPr>
            </a:pPr>
            <a:r>
              <a:t>NETWORK / FIREWALL LAYER — PREEMPTIVE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2743200"/>
            <a:ext cx="1645920" cy="32004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18120" y="2761488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80% STOPPED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108960"/>
            <a:ext cx="9601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Formal model proves every CVE exploit path is blocked across all NGFW/IPS/WAF configs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Threat-feed C2 IPs/domains denied (50M+ rule combinations verified)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Config drift caught within 1 hour — unauthorized ACL changes, shadow rules, weak inspection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Compensating controls identified for unpatchable CVEs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406908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6C757D"/>
                </a:solidFill>
                <a:latin typeface="Segoe UI"/>
              </a:defRPr>
            </a:pPr>
            <a:r>
              <a:t>▼  20% pass through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0" y="4389120"/>
            <a:ext cx="7680960" cy="1371600"/>
          </a:xfrm>
          <a:prstGeom prst="rect">
            <a:avLst/>
          </a:prstGeom>
          <a:solidFill>
            <a:srgbClr val="E8F4F8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286000" y="4389120"/>
            <a:ext cx="73152" cy="137160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560320" y="448056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E6B8A"/>
                </a:solidFill>
                <a:latin typeface="Segoe UI"/>
              </a:defRPr>
            </a:pPr>
            <a:r>
              <a:t>BEHAVIORAL LAYER — ACECARD UEBA (Digital Twin)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0" y="4480560"/>
            <a:ext cx="2011680" cy="32004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818120" y="4498848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15-18% DETECTED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4846320"/>
            <a:ext cx="7223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Compromised valid credentials — traffic is policy-allowed but behaviorally abnormal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Living-off-the-Land — legitimate binaries used in malicious combinations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Zero-day post-exploitation — no signature exists yet, but drift is detectable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Slow lateral movement — sub-threshold drift accumulated over weeks/months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58064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6C757D"/>
                </a:solidFill>
                <a:latin typeface="Segoe UI"/>
              </a:defRPr>
            </a:pPr>
            <a:r>
              <a:t>▼  2-5% residual risk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97280" y="6035040"/>
            <a:ext cx="10058400" cy="32004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371600" y="6053328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D1B2A"/>
                </a:solidFill>
                <a:latin typeface="Segoe UI"/>
              </a:defRPr>
            </a:pPr>
            <a:r>
              <a:t>Combined: 95-98% coverage.  Preemptive eliminates the majority.  UEBA catches what passes through.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How Preemptive &amp; UEBA Work Together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B4F72"/>
                </a:solidFill>
                <a:latin typeface="Segoe UI"/>
              </a:defRPr>
            </a:pPr>
            <a:r>
              <a:t>Closed-loop architecture: each layer feeds intelligence to the other continuously.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4389120" cy="4389120"/>
          </a:xfrm>
          <a:prstGeom prst="rect">
            <a:avLst/>
          </a:prstGeom>
          <a:solidFill>
            <a:srgbClr val="EBF5FB"/>
          </a:solidFill>
          <a:ln w="127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4389120" cy="41148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399032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PREEMPTIVE VERIFICATION ENGINE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1920240"/>
            <a:ext cx="40233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196596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B4F72"/>
                </a:solidFill>
                <a:latin typeface="Segoe UI"/>
              </a:defRPr>
            </a:pPr>
            <a:r>
              <a:t>Attack Intelligence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24028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Segoe UI"/>
              </a:defRPr>
            </a:pPr>
            <a:r>
              <a:t>Threat feeds → MITRE attack graphs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2633472"/>
            <a:ext cx="40233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267919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B4F72"/>
                </a:solidFill>
                <a:latin typeface="Segoe UI"/>
              </a:defRPr>
            </a:pPr>
            <a:r>
              <a:t>Defense Intelligence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95351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Segoe UI"/>
              </a:defRPr>
            </a:pPr>
            <a:r>
              <a:t>Formal model of all configs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346704"/>
            <a:ext cx="40233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3392424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B4F72"/>
                </a:solidFill>
                <a:latin typeface="Segoe UI"/>
              </a:defRPr>
            </a:pPr>
            <a:r>
              <a:t>Remediation 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666744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Segoe UI"/>
              </a:defRPr>
            </a:pPr>
            <a:r>
              <a:t>Vendor-specific fixes + verify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059936"/>
            <a:ext cx="40233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4105656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B4F72"/>
                </a:solidFill>
                <a:latin typeface="Segoe UI"/>
              </a:defRPr>
            </a:pPr>
            <a:r>
              <a:t>Continuous Re-verification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379976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Segoe UI"/>
              </a:defRPr>
            </a:pPr>
            <a:r>
              <a:t>Hourly + on every change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0" y="1371600"/>
            <a:ext cx="4389120" cy="4389120"/>
          </a:xfrm>
          <a:prstGeom prst="rect">
            <a:avLst/>
          </a:prstGeom>
          <a:solidFill>
            <a:srgbClr val="E8F4F8"/>
          </a:solidFill>
          <a:ln w="12700">
            <a:solidFill>
              <a:srgbClr val="0E6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858000" y="1371600"/>
            <a:ext cx="4389120" cy="41148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040880" y="1399032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ACECARD UEBA ENGINE (Digital Twin)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40880" y="1920240"/>
            <a:ext cx="40233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223760" y="196596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E6B8A"/>
                </a:solidFill>
                <a:latin typeface="Segoe UI"/>
              </a:defRPr>
            </a:pPr>
            <a:r>
              <a:t>Entity Fusion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224028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C757D"/>
                </a:solidFill>
                <a:latin typeface="Segoe UI"/>
              </a:defRPr>
            </a:pPr>
            <a:r>
              <a:t>10+ identity sources → one entity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40880" y="2633472"/>
            <a:ext cx="40233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223760" y="267919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E6B8A"/>
                </a:solidFill>
                <a:latin typeface="Segoe UI"/>
              </a:defRPr>
            </a:pPr>
            <a:r>
              <a:t>Behavioral Profiling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295351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C757D"/>
                </a:solidFill>
                <a:latin typeface="Segoe UI"/>
              </a:defRPr>
            </a:pPr>
            <a:r>
              <a:t>5 signals × time dimension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040880" y="3346704"/>
            <a:ext cx="40233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223760" y="3392424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E6B8A"/>
                </a:solidFill>
                <a:latin typeface="Segoe UI"/>
              </a:defRPr>
            </a:pPr>
            <a:r>
              <a:t>Change-Point Detection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0" y="3666744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C757D"/>
                </a:solidFill>
                <a:latin typeface="Segoe UI"/>
              </a:defRPr>
            </a:pPr>
            <a:r>
              <a:t>Sub-threshold drift alarm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040880" y="4059936"/>
            <a:ext cx="40233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223760" y="4105656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E6B8A"/>
                </a:solidFill>
                <a:latin typeface="Segoe UI"/>
              </a:defRPr>
            </a:pPr>
            <a:r>
              <a:t>Drift Direction + ABAC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0" y="4379976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C757D"/>
                </a:solidFill>
                <a:latin typeface="Segoe UI"/>
              </a:defRPr>
            </a:pPr>
            <a:r>
              <a:t>MITRE mapping → trust action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212080" y="2103120"/>
            <a:ext cx="1554480" cy="45720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257800" y="2121408"/>
            <a:ext cx="1463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GAP FOUND 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57800" y="2331720"/>
            <a:ext cx="1463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50" b="0">
                <a:solidFill>
                  <a:srgbClr val="FFFFFF"/>
                </a:solidFill>
                <a:latin typeface="Segoe UI"/>
              </a:defRPr>
            </a:pPr>
            <a:r>
              <a:t>Raise sensitivity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212080" y="3200400"/>
            <a:ext cx="1554480" cy="45720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257800" y="3218688"/>
            <a:ext cx="1463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← CONFIRMED TP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57800" y="3429000"/>
            <a:ext cx="1463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50" b="0">
                <a:solidFill>
                  <a:srgbClr val="FFFFFF"/>
                </a:solidFill>
                <a:latin typeface="Segoe UI"/>
              </a:defRPr>
            </a:pPr>
            <a:r>
              <a:t>Re-verify globally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212080" y="4297680"/>
            <a:ext cx="1554480" cy="4572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257800" y="4315968"/>
            <a:ext cx="1463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SHARED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57800" y="4526280"/>
            <a:ext cx="1463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50" b="0">
                <a:solidFill>
                  <a:srgbClr val="FFFFFF"/>
                </a:solidFill>
                <a:latin typeface="Segoe UI"/>
              </a:defRPr>
            </a:pPr>
            <a:r>
              <a:t>MITRE + Entity IDs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5943600"/>
            <a:ext cx="10515600" cy="4114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731520" y="5943600"/>
            <a:ext cx="10515600" cy="54864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14400" y="6016752"/>
            <a:ext cx="10149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0D1B2A"/>
                </a:solidFill>
                <a:latin typeface="Segoe UI"/>
              </a:defRPr>
            </a:pPr>
            <a:r>
              <a:t>SOC OUTPUT:  Correlated findings  •  Kill-chain reconstruction  •  ServiceNow/JIRA  •  ABAC policy enforcement  •  IR automation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Stopping Volt Typhoon: Preemptive Layer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B4F72"/>
                </a:solidFill>
                <a:latin typeface="Segoe UI"/>
              </a:defRPr>
            </a:pPr>
            <a:r>
              <a:t>Volt Typhoon needs configuration weakness to enter and pivot. We prove those weaknesses do not exist.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280160"/>
            <a:ext cx="10058400" cy="347472"/>
          </a:xfrm>
          <a:prstGeom prst="round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80160" y="1298448"/>
            <a:ext cx="1645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1298448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VOLT TYPHOON BEHAVIOR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1298448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HOW OUR PREEMPTIVE LAYER STOPS 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1691640"/>
            <a:ext cx="10058400" cy="84124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80160" y="1737360"/>
            <a:ext cx="1554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Initial Access</a:t>
            </a:r>
            <a:br/>
            <a:r>
              <a:t>(0-12h)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764792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  <a:latin typeface="Segoe UI"/>
              </a:defRPr>
            </a:pPr>
            <a:r>
              <a:t>Exploits unpatched Fortinet, Ivanti, PAN edge devices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1764792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Maps every CVE to control verification. Proves IPS/threat-feed blocks exploit. If no patch, identifies compensating control.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2569464"/>
            <a:ext cx="100584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80160" y="2615184"/>
            <a:ext cx="1554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Persistence</a:t>
            </a:r>
            <a:br/>
            <a:r>
              <a:t>(12-48h)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2642616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  <a:latin typeface="Segoe UI"/>
              </a:defRPr>
            </a:pPr>
            <a:r>
              <a:t>Drops web shells. Routes C2 through compromised SOHO routers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2642616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Models all threat-feed IPs/domains as denied. Proves 50M+ rule combinations block C2 flows. WAF verified for upload inspection.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3447288"/>
            <a:ext cx="10058400" cy="84124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80160" y="3493008"/>
            <a:ext cx="1554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Credential Access</a:t>
            </a:r>
            <a:br/>
            <a:r>
              <a:t>(48-96h)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3520440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  <a:latin typeface="Segoe UI"/>
              </a:defRPr>
            </a:pPr>
            <a:r>
              <a:t>ntdsutil to dump AD. LSASS memory extraction.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3520440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Verifies EDR/EPP coverage on every DC. Script-control blocking validated. Egress blocks cred exfil to C2.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7280" y="4325112"/>
            <a:ext cx="100584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280160" y="4370832"/>
            <a:ext cx="1554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Lateral Movement</a:t>
            </a:r>
            <a:br/>
            <a:r>
              <a:t>(96h+)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398264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  <a:latin typeface="Segoe UI"/>
              </a:defRPr>
            </a:pPr>
            <a:r>
              <a:t>SMB/RDP/WinRM to DCs and file servers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4398264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Real finding: 3 rules shadowed SMB IPS profile. Model closed lateral path no scanner found. Segmentation proven.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5202936"/>
            <a:ext cx="10058400" cy="84124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280160" y="5248656"/>
            <a:ext cx="1554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Pre-positioning</a:t>
            </a:r>
            <a:br/>
            <a:r>
              <a:t>(Weeks-Years)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0" y="5276088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  <a:latin typeface="Segoe UI"/>
              </a:defRPr>
            </a:pPr>
            <a:r>
              <a:t>Maps network for future sabotage during crisis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0" y="5276088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Continuous re-verification on every config change. Zero-trust segmentation re-proven hourly. Drift = immediate alert.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97280" y="6126480"/>
            <a:ext cx="10058400" cy="274320"/>
          </a:xfrm>
          <a:prstGeom prst="round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371600" y="6144768"/>
            <a:ext cx="9601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1B4F72"/>
                </a:solidFill>
                <a:latin typeface="Segoe UI"/>
              </a:defRPr>
            </a:pPr>
            <a:r>
              <a:t>Volt Typhoon (G1017): PRC state-sponsored. 5+ year dwell. LOTL tradecraft. Critical infrastructure targeting.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Stopping Salt Typhoon: Preemptive Layer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B4F72"/>
                </a:solidFill>
                <a:latin typeface="Segoe UI"/>
              </a:defRPr>
            </a:pPr>
            <a:r>
              <a:t>Salt Typhoon lives on misconfigured edge gear. We verify every configuration every hour.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280160"/>
            <a:ext cx="10058400" cy="347472"/>
          </a:xfrm>
          <a:prstGeom prst="round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80160" y="1298448"/>
            <a:ext cx="1645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1298448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SALT TYPHOON BEHAVIOR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1298448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HOW OUR PREEMPTIVE LAYER STOPS 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1691640"/>
            <a:ext cx="10058400" cy="84124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80160" y="1737360"/>
            <a:ext cx="1554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Edge CVE Exploit</a:t>
            </a:r>
            <a:br/>
            <a:r>
              <a:t>(0-24h)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764792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  <a:latin typeface="Segoe UI"/>
              </a:defRPr>
            </a:pPr>
            <a:r>
              <a:t>Exploits Cisco IOS XE web UI (CVE-2023-20198). 1000+ devices.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1764792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Every exposed management interface flagged. Proves ACL blocks /webui/. Identifies compensating control for unpatched CVEs.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2569464"/>
            <a:ext cx="100584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80160" y="2615184"/>
            <a:ext cx="1554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Persistence</a:t>
            </a:r>
            <a:br/>
            <a:r>
              <a:t>(1-7d)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2642616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  <a:latin typeface="Segoe UI"/>
              </a:defRPr>
            </a:pPr>
            <a:r>
              <a:t>Creates local admin. Modifies router ACLs. Enables Guest Shell.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2642616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Config drift: hourly comparison to approved AAA baseline. Any new account or ACL change = immediate gap finding with exact diff.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3447288"/>
            <a:ext cx="10058400" cy="84124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80160" y="3493008"/>
            <a:ext cx="1554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TACACS+ Capture</a:t>
            </a:r>
            <a:br/>
            <a:r>
              <a:t>(7-30d)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3520440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  <a:latin typeface="Segoe UI"/>
              </a:defRPr>
            </a:pPr>
            <a:r>
              <a:t>Captures credential traffic on TCP/49. Harvests admin passwords.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3520440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Mgmt-plane segmentation verified. On-box capture permissions modeled. TACACS+ encryption enforcement validated.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7280" y="4325112"/>
            <a:ext cx="100584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280160" y="4370832"/>
            <a:ext cx="1554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GRE Tunneling</a:t>
            </a:r>
            <a:br/>
            <a:r>
              <a:t>(30-90d)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398264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  <a:latin typeface="Segoe UI"/>
              </a:defRPr>
            </a:pPr>
            <a:r>
              <a:t>Configures GRE tunnels between compromised routers for C2.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4398264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GRE peer authorization verified in routing config. Unauthorized tunnel endpoints flagged. Egress policy proven.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5202936"/>
            <a:ext cx="10058400" cy="84124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280160" y="5248656"/>
            <a:ext cx="1554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CALEA Exfil</a:t>
            </a:r>
            <a:br/>
            <a:r>
              <a:t>(90d+)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0" y="5276088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  <a:latin typeface="Segoe UI"/>
              </a:defRPr>
            </a:pPr>
            <a:r>
              <a:t>Accesses lawful intercept. Steady CDR/metadata exfil over months.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0" y="5276088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CALEA-zone segmentation proven end-to-end. Privilege verification on intercept systems. Outbound restrictions verified.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97280" y="6126480"/>
            <a:ext cx="10058400" cy="274320"/>
          </a:xfrm>
          <a:prstGeom prst="round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371600" y="6144768"/>
            <a:ext cx="9601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1B4F72"/>
                </a:solidFill>
                <a:latin typeface="Segoe UI"/>
              </a:defRPr>
            </a:pPr>
            <a:r>
              <a:t>Salt Typhoon: PRC state-sponsored. 4+ years. 200+ telcos. CVE-2023-20198. CALEA wiretap access.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The Residual Threat: What Config Alone Cannot Stop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B4F72"/>
                </a:solidFill>
                <a:latin typeface="Segoe UI"/>
              </a:defRPr>
            </a:pPr>
            <a:r>
              <a:t>Three attack classes remain even with perfect configuration — behavioral intelligence completes the defense.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371600"/>
            <a:ext cx="10058400" cy="14173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10058400" cy="3200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80160" y="1417320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1. Zero-Day &amp; Unknown TTPs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755648"/>
            <a:ext cx="9692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Preemptive verifies every TTP in MITRE ATT&amp;CK. A genuine zero-day with no signature and no MITRE mapping has nothing to verify against.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2240280"/>
            <a:ext cx="54864" cy="41148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554480" y="2240280"/>
            <a:ext cx="9418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0E6B8A"/>
                </a:solidFill>
                <a:latin typeface="Segoe UI"/>
              </a:defRPr>
            </a:pPr>
            <a:r>
              <a:t>ACECARD response:  ACECARD detects resulting behavioral drift even without a MITRE label. Post-exploitation always creates structural shifts.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2880360"/>
            <a:ext cx="10058400" cy="14173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97280" y="2880360"/>
            <a:ext cx="10058400" cy="32004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80160" y="2926080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2. Compromised Valid Accounts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64408"/>
            <a:ext cx="9692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Both Typhoons abuse stolen, valid credentials. A correctly-configured firewall ALLOWS that traffic — by design. Config is correct; behavior is the threat.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0" y="3749040"/>
            <a:ext cx="54864" cy="41148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554480" y="3749040"/>
            <a:ext cx="9418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0E6B8A"/>
                </a:solidFill>
                <a:latin typeface="Segoe UI"/>
              </a:defRPr>
            </a:pPr>
            <a:r>
              <a:t>ACECARD response:  ACECARD catches the abuse: same credentials, structurally different usage from the real user. Peer cohort comparison surfaces deviation.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4389120"/>
            <a:ext cx="10058400" cy="14173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097280" y="4389120"/>
            <a:ext cx="10058400" cy="32004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280160" y="4434840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3. Living-off-the-Land Tradecraft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773168"/>
            <a:ext cx="9692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ntdsutil, wmic, netsh, PowerShell — every binary Volt Typhoon uses is a legitimate admin tool. Blocking them entirely is infeasible.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71600" y="5257800"/>
            <a:ext cx="54864" cy="41148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554480" y="5257800"/>
            <a:ext cx="9418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0E6B8A"/>
                </a:solidFill>
                <a:latin typeface="Segoe UI"/>
              </a:defRPr>
            </a:pPr>
            <a:r>
              <a:t>ACECARD response:  ACECARD captures the COMBINATION of LOTL tools, timing, targets. Only behavioral context separates admin from adversary.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97280" y="5943600"/>
            <a:ext cx="10058400" cy="36576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371600" y="5971032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Preemptive eliminates configuration attack surface.  Behavioral catches what remains.  Together = complete.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How ACECARD Detects Volt Typhoon Behavior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B4F72"/>
                </a:solidFill>
                <a:latin typeface="Segoe UI"/>
              </a:defRPr>
            </a:pPr>
            <a:r>
              <a:t>Even when config is bypassed, behavioral trajectory reveals the adversary within hours.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280160"/>
            <a:ext cx="10058400" cy="347472"/>
          </a:xfrm>
          <a:prstGeom prst="round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80160" y="1298448"/>
            <a:ext cx="1828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TECHNIQUE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1298448"/>
            <a:ext cx="3108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WHAT EXISTING TOOLS MISS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298448"/>
            <a:ext cx="4663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HOW ACECARD DETECTS 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1691640"/>
            <a:ext cx="10058400" cy="9601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80160" y="1764792"/>
            <a:ext cx="1737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Credential abuse</a:t>
            </a:r>
            <a:br/>
            <a:r>
              <a:t>(T1078)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1764792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  <a:latin typeface="Segoe UI"/>
              </a:defRPr>
            </a:pPr>
            <a:r>
              <a:t>Valid credentials. Every control says "approved." No alert fires.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1764792"/>
            <a:ext cx="4663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Multi-signal model detects: new source + off-hours + unusual targets. Structural shift in auth pattern triggers change-point alarm.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2697480"/>
            <a:ext cx="10058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80160" y="2770632"/>
            <a:ext cx="1737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LOTL execution</a:t>
            </a:r>
            <a:br/>
            <a:r>
              <a:t>(T1059)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2770632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  <a:latin typeface="Segoe UI"/>
              </a:defRPr>
            </a:pPr>
            <a:r>
              <a:t>ntdsutil + wmic + netsh. All legitimate binaries. No malware signature.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770632"/>
            <a:ext cx="4663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Process signal captures tool combination and sequence. Drift direction maps to "LOTL execution." Peer cohort shows no admin matches.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3703320"/>
            <a:ext cx="10058400" cy="9601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80160" y="3776472"/>
            <a:ext cx="1737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Slow lateral</a:t>
            </a:r>
            <a:br/>
            <a:r>
              <a:t>(T1021)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3776472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  <a:latin typeface="Segoe UI"/>
              </a:defRPr>
            </a:pPr>
            <a:r>
              <a:t>Moves 1-2 new hosts/week. Never crosses any single threshold.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776472"/>
            <a:ext cx="4663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Change-point accumulates sub-threshold drift over time. What never triggers a fixed threshold eventually crosses our alarm boundary.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7280" y="4709160"/>
            <a:ext cx="10058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280160" y="4782312"/>
            <a:ext cx="1737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Unknown C2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4782312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  <a:latin typeface="Segoe UI"/>
              </a:defRPr>
            </a:pPr>
            <a:r>
              <a:t>Routes through newly compromised SOHO routers — not in any threat feed.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4782312"/>
            <a:ext cx="4663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Network signal detects structural change: new persistent outbound to unusual destination. Direction: "C2 beaconing."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5760720"/>
            <a:ext cx="10058400" cy="457200"/>
          </a:xfrm>
          <a:prstGeom prst="round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371600" y="580644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E6B8A"/>
                </a:solidFill>
                <a:latin typeface="Segoe UI"/>
              </a:defRPr>
            </a:pPr>
            <a:r>
              <a:t>Every detection includes: trust score adjustment + MITRE mapping + automated response + SOC enrichment.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How ACECARD Detects Salt Typhoon Behavior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B4F72"/>
                </a:solidFill>
                <a:latin typeface="Segoe UI"/>
              </a:defRPr>
            </a:pPr>
            <a:r>
              <a:t>Salt Typhoon abuses legitimate network admin access. Only behavioral intelligence reveals the difference.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280160"/>
            <a:ext cx="10058400" cy="347472"/>
          </a:xfrm>
          <a:prstGeom prst="round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80160" y="1298448"/>
            <a:ext cx="1828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TECHNIQUE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1298448"/>
            <a:ext cx="3108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WHAT EXISTING TOOLS MISS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298448"/>
            <a:ext cx="4663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HOW ACECARD DETECTS 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1691640"/>
            <a:ext cx="10058400" cy="9601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80160" y="1764792"/>
            <a:ext cx="1737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TACACS+ reuse</a:t>
            </a:r>
            <a:br/>
            <a:r>
              <a:t>(T1078)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1764792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  <a:latin typeface="Segoe UI"/>
              </a:defRPr>
            </a:pPr>
            <a:r>
              <a:t>Harvested admin creds used as legitimate sessions. Correct username, correct permissions.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1764792"/>
            <a:ext cx="4663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Same creds, different trajectory: unusual device sequence, off-pattern timing, novel destinations. Multi-signal drift triggers alarm.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2697480"/>
            <a:ext cx="10058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80160" y="2770632"/>
            <a:ext cx="1737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ACL tampering</a:t>
            </a:r>
            <a:br/>
            <a:r>
              <a:t>(T1556)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2770632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  <a:latin typeface="Segoe UI"/>
              </a:defRPr>
            </a:pPr>
            <a:r>
              <a:t>Modifies router ACLs to whitelist attacker IPs. Looks like routine config maintenance.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770632"/>
            <a:ext cx="4663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Identity + network signals combined: config change correlates with new outbound to unusual destinations. Diverges from peer cohort.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3703320"/>
            <a:ext cx="10058400" cy="9601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80160" y="3776472"/>
            <a:ext cx="1737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GRE tunnels</a:t>
            </a:r>
            <a:br/>
            <a:r>
              <a:t>(T1572)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3776472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  <a:latin typeface="Segoe UI"/>
              </a:defRPr>
            </a:pPr>
            <a:r>
              <a:t>Configures tunnels between routers. Normal action for some operators.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776472"/>
            <a:ext cx="4663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This admin never creates GRE tunnels; this device never had tunnel activity. Direction: "protocol tunneling."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7280" y="4709160"/>
            <a:ext cx="10058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280160" y="4782312"/>
            <a:ext cx="1737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CDR exfiltration</a:t>
            </a:r>
            <a:br/>
            <a:r>
              <a:t>(T1041)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4782312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  <a:latin typeface="Segoe UI"/>
              </a:defRPr>
            </a:pPr>
            <a:r>
              <a:t>Slow steady data movement. Under volume thresholds. Months-long.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4782312"/>
            <a:ext cx="4663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Change-point accumulates gradual shift in data access. Peer comparison: no other admin shows this trajectory over same timeframe.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5760720"/>
            <a:ext cx="10058400" cy="457200"/>
          </a:xfrm>
          <a:prstGeom prst="round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371600" y="580644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E6B8A"/>
                </a:solidFill>
                <a:latin typeface="Segoe UI"/>
              </a:defRPr>
            </a:pPr>
            <a:r>
              <a:t>Salt Typhoon has dwelled 4+ years because no tool fuses identity + behavior across network gear. ACECARD does.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Combined Detection Timeline: Both Layers Working Together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B4F72"/>
                </a:solidFill>
                <a:latin typeface="Segoe UI"/>
              </a:defRPr>
            </a:pPr>
            <a:r>
              <a:t>Real scenario: Volt Typhoon campaign. Preemptive finds the gap. ACECARD catches the exploitation.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234440"/>
            <a:ext cx="10058400" cy="320040"/>
          </a:xfrm>
          <a:prstGeom prst="roundRect">
            <a:avLst/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71600" y="1252728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C0392B"/>
                </a:solidFill>
                <a:latin typeface="Segoe UI"/>
              </a:defRPr>
            </a:pPr>
            <a:r>
              <a:t>Scenario: Volt Typhoon targets Air Force network via Fortinet VPN CVE + LOTL credential access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1645920"/>
            <a:ext cx="10058400" cy="5486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143000" y="1755648"/>
            <a:ext cx="640080" cy="2560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61288" y="1773936"/>
            <a:ext cx="60350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T-30d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74519" y="1755648"/>
            <a:ext cx="1371600" cy="256032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892807" y="1773936"/>
            <a:ext cx="13350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PREEMPTIVE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1737360"/>
            <a:ext cx="7589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Identifies missing IPS signature on VPN concentrator. Gap finding pushed to ticketing system.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2221992"/>
            <a:ext cx="100584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143000" y="2331720"/>
            <a:ext cx="640080" cy="2560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61288" y="2350008"/>
            <a:ext cx="60350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T-30d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74519" y="2331720"/>
            <a:ext cx="1371600" cy="256032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892807" y="2350008"/>
            <a:ext cx="13350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INTEGRATION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2313432"/>
            <a:ext cx="7589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Gap finding triggers trust floor reduction. Behavioral sensitivity automatically heightened for VPN zone.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2798064"/>
            <a:ext cx="10058400" cy="5486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143000" y="2907792"/>
            <a:ext cx="640080" cy="2560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61288" y="2926080"/>
            <a:ext cx="60350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T+0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74519" y="2907792"/>
            <a:ext cx="1371600" cy="25603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892807" y="2926080"/>
            <a:ext cx="13350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ATTACKER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2889504"/>
            <a:ext cx="7589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Exploits CVE. Lands on device. Creates local admin. Begins LOTL reconnaissance.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3374136"/>
            <a:ext cx="100584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143000" y="3483864"/>
            <a:ext cx="640080" cy="2560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161288" y="3502152"/>
            <a:ext cx="60350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T+2h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74519" y="3483864"/>
            <a:ext cx="1371600" cy="256032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892807" y="3502152"/>
            <a:ext cx="13350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ACECARD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3280" y="3465576"/>
            <a:ext cx="7589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Entity enters with reduced trust. Auth signal: new source, off-hours. Drift detected and accumulating.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97280" y="3950208"/>
            <a:ext cx="10058400" cy="5486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1143000" y="4059936"/>
            <a:ext cx="640080" cy="2560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161288" y="4078224"/>
            <a:ext cx="60350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T+6h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874519" y="4059936"/>
            <a:ext cx="1371600" cy="256032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892807" y="4078224"/>
            <a:ext cx="13350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ACECARD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83280" y="4041648"/>
            <a:ext cx="7589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Process signal: wmic + ntdsutil chain. Change-point accumulating. Direction: LOTL execution.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97280" y="4526280"/>
            <a:ext cx="100584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1143000" y="4636008"/>
            <a:ext cx="640080" cy="2560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161288" y="4654296"/>
            <a:ext cx="60350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T+8h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874519" y="4636008"/>
            <a:ext cx="1371600" cy="256032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892807" y="4654296"/>
            <a:ext cx="13350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ACECARD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83280" y="4617720"/>
            <a:ext cx="7589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Change-point crosses alarm. Entity BLOCKED. Access revoked. IR ticket auto-created.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97280" y="5102352"/>
            <a:ext cx="10058400" cy="5486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1143000" y="5212080"/>
            <a:ext cx="640080" cy="2560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161288" y="5230368"/>
            <a:ext cx="60350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T+9h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874519" y="5212080"/>
            <a:ext cx="1371600" cy="256032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892807" y="5230368"/>
            <a:ext cx="13350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INTEGRATION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80" y="5193792"/>
            <a:ext cx="7589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Confirmed detection feeds back. Preemptive re-verifies all related configs. Similar gaps found and closed.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97280" y="5760720"/>
            <a:ext cx="10058400" cy="45720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371600" y="5788152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Result: 8-hour dwell time (vs. 5+ years).  Preemptive found the gap.  ACECARD caught the exploitation.  Together: complete defense.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645920" y="2377440"/>
            <a:ext cx="9144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Georgia"/>
              </a:defRPr>
            </a:pPr>
            <a:r>
              <a:t>Architecture &amp;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383280"/>
            <a:ext cx="8686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A0B0C0"/>
                </a:solidFill>
                <a:latin typeface="Segoe UI"/>
              </a:defRPr>
            </a:pPr>
            <a:r>
              <a:t>Platform architecture designed for scalability, security, and classified-enclave deployment.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0" y="3200400"/>
            <a:ext cx="2286000" cy="2540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2026: Hyperscaler Agentic Security Platforms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B4F72"/>
                </a:solidFill>
                <a:latin typeface="Segoe UI"/>
              </a:defRPr>
            </a:pPr>
            <a:r>
              <a:t>AWS, Microsoft, and Google all shipped managed agent platforms with security-ops use cases.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371600"/>
            <a:ext cx="3108960" cy="20116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3108960" cy="36576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34440" y="1399032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  AWS Bedrock AgentCore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828800"/>
            <a:ext cx="2743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Multi-agent collaboration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MicroVM session isolation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Memory, Gateway, Observability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Security Lake (OCSF native)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Guardrails + Policy (GA 2026)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371600"/>
            <a:ext cx="3108960" cy="20116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34840" y="1371600"/>
            <a:ext cx="3108960" cy="36576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0" y="1399032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  Microsoft Foundry + Agent 365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1828800"/>
            <a:ext cx="2743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Security Copilot integration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Agent 365 governance plane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Entra Agent IDs (SPIFFE)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70+ pre-built agents in store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Purview + Defender for 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1371600"/>
            <a:ext cx="3108960" cy="20116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772400" y="1371600"/>
            <a:ext cx="3108960" cy="36576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09560" y="1399032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  Google Gemini Enterprise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0" y="1828800"/>
            <a:ext cx="2743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Cryptographic agent identity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Zero-trust per orchestration step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Model Armor + Agent Compliance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ADK multi-agent loops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Google SecOps integration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56616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What they all converge on (2026 primitives):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" y="3886200"/>
            <a:ext cx="10058400" cy="164592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371600" y="3931920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B4F72"/>
                </a:solidFill>
                <a:latin typeface="Segoe UI"/>
              </a:defRPr>
            </a:pPr>
            <a:r>
              <a:t>•  Agent Runtime &amp; Orchestration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3931920"/>
            <a:ext cx="6766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Multi-agent supervisor + specialist pattern. Hierarchical routing.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206240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B4F72"/>
                </a:solidFill>
                <a:latin typeface="Segoe UI"/>
              </a:defRPr>
            </a:pPr>
            <a:r>
              <a:t>•  Tool Gateway (MCP)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4206240"/>
            <a:ext cx="6766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Structured tool surface with schema validation. Deterministic I/O.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480560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B4F72"/>
                </a:solidFill>
                <a:latin typeface="Segoe UI"/>
              </a:defRPr>
            </a:pPr>
            <a:r>
              <a:t>•  Agent Identity &amp; Governance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4480560"/>
            <a:ext cx="6766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SPIFFE-based IDs, policy enforcement, audit logs, HITL gates.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754880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B4F72"/>
                </a:solidFill>
                <a:latin typeface="Segoe UI"/>
              </a:defRPr>
            </a:pPr>
            <a:r>
              <a:t>•  Memory &amp; RAG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0" y="4754880"/>
            <a:ext cx="6766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Working memory, episodic memory, semantic memory. Vector stores.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5029200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B4F72"/>
                </a:solidFill>
                <a:latin typeface="Segoe UI"/>
              </a:defRPr>
            </a:pPr>
            <a:r>
              <a:t>•  Guardrails &amp; Security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6240" y="5029200"/>
            <a:ext cx="6766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Input/output filtering, prompt injection defense, cost budgets.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97280" y="5760720"/>
            <a:ext cx="10058400" cy="45720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371600" y="5788152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These platforms provide the plumbing — runtime, identity, governance. They do NOT provide the detection intelligence.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320040"/>
            <a:ext cx="1027009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rPr dirty="0"/>
              <a:t>What Preemptive + UEBA Deliver That </a:t>
            </a:r>
            <a:r>
              <a:rPr dirty="0" err="1"/>
              <a:t>Hyperscalers</a:t>
            </a:r>
            <a:r>
              <a:rPr dirty="0"/>
              <a:t> Cannot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B4F72"/>
                </a:solidFill>
                <a:latin typeface="Segoe UI"/>
              </a:defRPr>
            </a:pPr>
            <a:r>
              <a:t>Agent platforms need domain intelligence to act on. We provide what no platform ships.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4572000" cy="311271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4572000" cy="365760"/>
          </a:xfrm>
          <a:prstGeom prst="rect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399032"/>
            <a:ext cx="4206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  HYPERSCALER PLATFORMS PROVIDE: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874519"/>
            <a:ext cx="420624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rPr dirty="0"/>
              <a:t>•  Agent runtime and orchestration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rPr dirty="0"/>
              <a:t>•  Tool gateway (MCP) and structured I/O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rPr dirty="0"/>
              <a:t>•  Identity, governance, guardrails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rPr dirty="0"/>
              <a:t>•  Memory stores and RAG infrastructure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rPr dirty="0"/>
              <a:t>•  Model catalog and routing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rPr dirty="0"/>
              <a:t>•  Observability and eval frameworks</a:t>
            </a:r>
          </a:p>
          <a:p>
            <a:pPr>
              <a:spcBef>
                <a:spcPts val="800"/>
              </a:spcBef>
              <a:defRPr sz="800" b="0">
                <a:solidFill>
                  <a:srgbClr val="2C3E50"/>
                </a:solidFill>
                <a:latin typeface="Segoe UI"/>
              </a:defRPr>
            </a:pPr>
            <a:endParaRPr dirty="0"/>
          </a:p>
          <a:p>
            <a:pPr>
              <a:spcBef>
                <a:spcPts val="800"/>
              </a:spcBef>
              <a:defRPr sz="1200" b="1">
                <a:solidFill>
                  <a:srgbClr val="C0392B"/>
                </a:solidFill>
                <a:latin typeface="Segoe UI"/>
              </a:defRPr>
            </a:pPr>
            <a:r>
              <a:rPr dirty="0"/>
              <a:t>This is PLUMBING — not intelligence.</a:t>
            </a:r>
          </a:p>
          <a:p>
            <a:pPr>
              <a:spcBef>
                <a:spcPts val="800"/>
              </a:spcBef>
              <a:defRPr sz="1100" b="0">
                <a:solidFill>
                  <a:srgbClr val="6C757D"/>
                </a:solidFill>
                <a:latin typeface="Segoe UI"/>
              </a:defRPr>
            </a:pPr>
            <a:r>
              <a:rPr dirty="0"/>
              <a:t>Agents without domain logic are just expensive chatbots.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1371600"/>
            <a:ext cx="5486400" cy="3187874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669280" y="1371600"/>
            <a:ext cx="5486400" cy="36576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52160" y="1399032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  22CT DELIVERS THE INTELLIGENCE: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1874519"/>
            <a:ext cx="512064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Formal Mathematical Model — proves config blocks attacks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Digital Twin — living behavioral entity with time dimension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Exhaustive reasoning (not sampling, not probabilistic)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Change-point detection (sub-threshold drift alarm)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Drift direction → MITRE ATT&amp;CK (explains WHY)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Entity fusion across 10+ systems (one trajectory)</a:t>
            </a:r>
          </a:p>
          <a:p>
            <a:pPr>
              <a:spcBef>
                <a:spcPts val="800"/>
              </a:spcBef>
              <a:defRPr sz="800" b="0">
                <a:solidFill>
                  <a:srgbClr val="2C3E50"/>
                </a:solidFill>
                <a:latin typeface="Segoe UI"/>
              </a:defRPr>
            </a:pPr>
            <a:endParaRPr/>
          </a:p>
          <a:p>
            <a:pPr>
              <a:spcBef>
                <a:spcPts val="800"/>
              </a:spcBef>
              <a:defRPr sz="1000" b="1">
                <a:solidFill>
                  <a:srgbClr val="1B4F72"/>
                </a:solidFill>
                <a:latin typeface="Segoe UI"/>
              </a:defRPr>
            </a:pPr>
            <a:r>
              <a:t>This is DOMAIN INTELLIGENCE — what agents act on.</a:t>
            </a:r>
          </a:p>
          <a:p>
            <a:pPr>
              <a:spcBef>
                <a:spcPts val="800"/>
              </a:spcBef>
              <a:defRPr sz="1100" b="0">
                <a:solidFill>
                  <a:srgbClr val="6C757D"/>
                </a:solidFill>
                <a:latin typeface="Segoe UI"/>
              </a:defRPr>
            </a:pPr>
            <a:r>
              <a:t>Without this, agents have nothing reliable to consume.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404151"/>
            <a:ext cx="10424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rPr dirty="0"/>
              <a:t>Specific capabilities NO </a:t>
            </a:r>
            <a:r>
              <a:rPr dirty="0" err="1"/>
              <a:t>hyperscaler</a:t>
            </a:r>
            <a:r>
              <a:rPr dirty="0"/>
              <a:t> platform provides: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724191"/>
            <a:ext cx="10424160" cy="347472"/>
          </a:xfrm>
          <a:prstGeom prst="round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4742479"/>
            <a:ext cx="3657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CAPABILITY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742479"/>
            <a:ext cx="22860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HYPERSCALER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4742479"/>
            <a:ext cx="3840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22CT PREEMPTIVE + UEBA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089951"/>
            <a:ext cx="10424160" cy="34747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5135671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Prove all config paths block an attack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5135671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C0392B"/>
                </a:solidFill>
                <a:latin typeface="Segoe UI"/>
              </a:defRPr>
            </a:pPr>
            <a:r>
              <a:t>Cannot 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5135671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B4F72"/>
                </a:solidFill>
                <a:latin typeface="Segoe UI"/>
              </a:defRPr>
            </a:pPr>
            <a:r>
              <a:t>Formal model — mathematical proof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455711"/>
            <a:ext cx="1042416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" y="5501431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Detect sub-threshold behavioral drift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5501431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C0392B"/>
                </a:solidFill>
                <a:latin typeface="Segoe UI"/>
              </a:defRPr>
            </a:pPr>
            <a:r>
              <a:t>Cannot do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5501431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B4F72"/>
                </a:solidFill>
                <a:latin typeface="Segoe UI"/>
              </a:defRPr>
            </a:pPr>
            <a:r>
              <a:t>Change-point detection on Digital Twin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821471"/>
            <a:ext cx="10424160" cy="34747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4400" y="5867191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Map drift direction to MITRE technique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5867191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C0392B"/>
                </a:solidFill>
                <a:latin typeface="Segoe UI"/>
              </a:defRPr>
            </a:pPr>
            <a:r>
              <a:t>Cannot do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5867191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B4F72"/>
                </a:solidFill>
                <a:latin typeface="Segoe UI"/>
              </a:defRPr>
            </a:pPr>
            <a:r>
              <a:t>Drift direction classifier (8 threat concepts)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6187231"/>
            <a:ext cx="1042416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14400" y="6232951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Fuse identity across 10+ systems into one entity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6232951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C0392B"/>
                </a:solidFill>
                <a:latin typeface="Segoe UI"/>
              </a:defRPr>
            </a:pPr>
            <a:r>
              <a:t>Partial (per-cloud only)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0" y="6232951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B4F72"/>
                </a:solidFill>
                <a:latin typeface="Segoe UI"/>
              </a:defRPr>
            </a:pPr>
            <a:r>
              <a:t>Cross-cloud, cross-domain entity fusion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6507271"/>
            <a:ext cx="10424160" cy="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Platform Architecture: Five Layers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B4F72"/>
                </a:solidFill>
                <a:latin typeface="Segoe UI"/>
              </a:defRPr>
            </a:pPr>
            <a:r>
              <a:t>Kubernetes-native. Iron Bank hardened. Same architecture across all classification levels.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371600"/>
            <a:ext cx="10058400" cy="86868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71600" y="146304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46304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Presentation &amp; Integration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82880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Segoe UI"/>
              </a:defRPr>
            </a:pPr>
            <a:r>
              <a:t>SOC Dashboard  •  ServiceNow  •  JIRA  •  SOAR  •  API Gateway  •  ABAC Policy Engine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2286000"/>
            <a:ext cx="10058400" cy="868680"/>
          </a:xfrm>
          <a:prstGeom prst="rect">
            <a:avLst/>
          </a:prstGeom>
          <a:solidFill>
            <a:srgbClr val="1B6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71600" y="237744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37744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Analytics &amp; Reasoning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74320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Segoe UI"/>
              </a:defRPr>
            </a:pPr>
            <a:r>
              <a:t>Preemptive Engine  •  Behavioral Engine  •  Kill-Chain Reconstruction  •  Alert Correlation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3200400"/>
            <a:ext cx="10058400" cy="868680"/>
          </a:xfrm>
          <a:prstGeom prst="rect">
            <a:avLst/>
          </a:prstGeom>
          <a:solidFill>
            <a:srgbClr val="145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71600" y="329184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29184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Intelligence &amp; Modeling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365760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Segoe UI"/>
              </a:defRPr>
            </a:pPr>
            <a:r>
              <a:t>Threat Intel Pipeline  •  Math Model Builder  •  Behavioral Profiling  •  Entity Fusion  •  MITRE Mapping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7280" y="4114800"/>
            <a:ext cx="10058400" cy="868680"/>
          </a:xfrm>
          <a:prstGeom prst="rect">
            <a:avLst/>
          </a:prstGeom>
          <a:solidFill>
            <a:srgbClr val="0F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371600" y="420624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20624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Data &amp; Storage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57200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Segoe UI"/>
              </a:defRPr>
            </a:pPr>
            <a:r>
              <a:t>Vector Database (pgvector)  •  Time-Series Store  •  Config Repository  •  Baseline Library  •  Entity Graph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97280" y="5029200"/>
            <a:ext cx="10058400" cy="8686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371600" y="512064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512064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Infrastructure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48640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Segoe UI"/>
              </a:defRPr>
            </a:pPr>
            <a:r>
              <a:t>Kubernetes (EKS/AKS/On-Prem)  •  Iron Bank Containers  •  Istio Service Mesh  •  Vault Secrets  •  Monitoring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6126480"/>
            <a:ext cx="10058400" cy="27432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371600" y="6144768"/>
            <a:ext cx="9601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0D1B2A"/>
                </a:solidFill>
                <a:latin typeface="Segoe UI"/>
              </a:defRPr>
            </a:pPr>
            <a:r>
              <a:t>All containers Iron Bank certified  •  Helm charts for repeatable deployment  •  Horizontal pod autoscaling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Deployment Models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B4F72"/>
                </a:solidFill>
                <a:latin typeface="Segoe UI"/>
              </a:defRPr>
            </a:pPr>
            <a:r>
              <a:t>One codebase, three deployment targets. Environment configuration only — no code forking.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371600"/>
            <a:ext cx="3291840" cy="38404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14400" y="1371600"/>
            <a:ext cx="3291840" cy="4572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1444752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COMMERCIAL / IL5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92024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Segoe UI"/>
              </a:defRPr>
            </a:pPr>
            <a:r>
              <a:t>NIPR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19456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Cloud-hosted (AWS GovCloud / Azure Gov)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5603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API-based config ingestion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92608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Auto-updated threat intelligence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2918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Cloud-native AI/ML services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6576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Fastest time-to-value: days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1371600"/>
            <a:ext cx="3291840" cy="38404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434840" y="1371600"/>
            <a:ext cx="3291840" cy="45720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17720" y="1444752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ON-PREMISES / IL6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192024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Segoe UI"/>
              </a:defRPr>
            </a:pPr>
            <a:r>
              <a:t>SIPR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219456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On-site VM or K8s cluster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9160" y="25603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Local device management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292608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Classified threat feeds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32918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Local AI inference only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36576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8 vCPU / 32GB per node min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55280" y="1371600"/>
            <a:ext cx="3291840" cy="38404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955280" y="1371600"/>
            <a:ext cx="3291840" cy="4572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38160" y="1444752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AIR-GAPPED / JWICS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192024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Segoe UI"/>
              </a:defRPr>
            </a:pPr>
            <a:r>
              <a:t>TS-SCI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19456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Fully disconnected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25603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Manual STIX/TAXII import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292608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Local file ingest / SNMP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32918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Local language model for AI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36576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SCIF-deployable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" y="5394960"/>
            <a:ext cx="10332720" cy="45720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188720" y="5422392"/>
            <a:ext cx="9875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Switch between modes via environment variable. Same containers, same Helm charts, same security posture.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Deployment on Gabriel Nimbus Platform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B4F72"/>
                </a:solidFill>
                <a:latin typeface="Segoe UI"/>
              </a:defRPr>
            </a:pPr>
            <a:r>
              <a:t>Containerized, cloud-native application designed for the Gabriel Nimbus big data environment.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463040"/>
            <a:ext cx="10058400" cy="438912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97280" y="1463040"/>
            <a:ext cx="10058400" cy="4572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71600" y="1536192"/>
            <a:ext cx="9509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CLOUD-NATIVE ARCHITECTURE ON GABRIEL NIMBUS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103120"/>
            <a:ext cx="950976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D1B2A"/>
                </a:solidFill>
                <a:latin typeface="Segoe UI"/>
              </a:defRPr>
            </a:pPr>
            <a:r>
              <a:t>Containerized Microservices (Iron Bank Certified)</a:t>
            </a:r>
          </a:p>
          <a:p>
            <a:pPr>
              <a:spcBef>
                <a:spcPts val="800"/>
              </a:spcBef>
              <a:defRPr sz="800" b="0">
                <a:solidFill>
                  <a:srgbClr val="2C3E50"/>
                </a:solidFill>
                <a:latin typeface="Segoe UI"/>
              </a:defRPr>
            </a:pPr>
            <a:endParaRPr/>
          </a:p>
          <a:p>
            <a:pPr>
              <a:spcBef>
                <a:spcPts val="800"/>
              </a:spcBef>
              <a:defRPr sz="1300" b="0">
                <a:solidFill>
                  <a:srgbClr val="2C3E50"/>
                </a:solidFill>
                <a:latin typeface="Segoe UI"/>
              </a:defRPr>
            </a:pPr>
            <a:r>
              <a:t>•  Kubernetes-native deployment — Helm charts, horizontal pod autoscaling</a:t>
            </a:r>
          </a:p>
          <a:p>
            <a:pPr>
              <a:spcBef>
                <a:spcPts val="800"/>
              </a:spcBef>
              <a:defRPr sz="1300" b="0">
                <a:solidFill>
                  <a:srgbClr val="2C3E50"/>
                </a:solidFill>
                <a:latin typeface="Segoe UI"/>
              </a:defRPr>
            </a:pPr>
            <a:r>
              <a:t>•  All containers Iron Bank hardened and certified for DoD environments</a:t>
            </a:r>
          </a:p>
          <a:p>
            <a:pPr>
              <a:spcBef>
                <a:spcPts val="800"/>
              </a:spcBef>
              <a:defRPr sz="1300" b="0">
                <a:solidFill>
                  <a:srgbClr val="2C3E50"/>
                </a:solidFill>
                <a:latin typeface="Segoe UI"/>
              </a:defRPr>
            </a:pPr>
            <a:r>
              <a:t>•  Designed for cloud-native big data platforms — scales with data volume</a:t>
            </a:r>
          </a:p>
          <a:p>
            <a:pPr>
              <a:spcBef>
                <a:spcPts val="800"/>
              </a:spcBef>
              <a:defRPr sz="1300" b="0">
                <a:solidFill>
                  <a:srgbClr val="2C3E50"/>
                </a:solidFill>
                <a:latin typeface="Segoe UI"/>
              </a:defRPr>
            </a:pPr>
            <a:r>
              <a:t>•  Istio service mesh for zero-trust inter-service communication</a:t>
            </a:r>
          </a:p>
          <a:p>
            <a:pPr>
              <a:spcBef>
                <a:spcPts val="800"/>
              </a:spcBef>
              <a:defRPr sz="1300" b="0">
                <a:solidFill>
                  <a:srgbClr val="2C3E50"/>
                </a:solidFill>
                <a:latin typeface="Segoe UI"/>
              </a:defRPr>
            </a:pPr>
            <a:r>
              <a:t>•  Stateless compute layer — data persists in platform-native stores</a:t>
            </a:r>
          </a:p>
          <a:p>
            <a:pPr>
              <a:spcBef>
                <a:spcPts val="800"/>
              </a:spcBef>
              <a:defRPr sz="1000" b="0">
                <a:solidFill>
                  <a:srgbClr val="2C3E50"/>
                </a:solidFill>
                <a:latin typeface="Segoe UI"/>
              </a:defRPr>
            </a:pPr>
            <a:endParaRPr/>
          </a:p>
          <a:p>
            <a:pPr>
              <a:spcBef>
                <a:spcPts val="800"/>
              </a:spcBef>
              <a:defRPr sz="1300" b="1">
                <a:solidFill>
                  <a:srgbClr val="6C757D"/>
                </a:solidFill>
                <a:latin typeface="Segoe UI"/>
              </a:defRPr>
            </a:pPr>
            <a:r>
              <a:t>[PLACEHOLDER — Gabriel Nimbus-specific integration details, APIs, and data flow to be added]</a:t>
            </a:r>
          </a:p>
          <a:p>
            <a:pPr>
              <a:spcBef>
                <a:spcPts val="800"/>
              </a:spcBef>
              <a:defRPr sz="1000" b="0">
                <a:solidFill>
                  <a:srgbClr val="2C3E50"/>
                </a:solidFill>
                <a:latin typeface="Segoe UI"/>
              </a:defRPr>
            </a:pPr>
            <a:endParaRPr/>
          </a:p>
          <a:p>
            <a:pPr>
              <a:spcBef>
                <a:spcPts val="800"/>
              </a:spcBef>
              <a:defRPr sz="1300" b="0">
                <a:solidFill>
                  <a:srgbClr val="0E6B8A"/>
                </a:solidFill>
                <a:latin typeface="Segoe UI"/>
              </a:defRPr>
            </a:pPr>
            <a:r>
              <a:t>Integration points: ingestion connectors, big data analytics layer, shared storage, platform IAM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6035040"/>
            <a:ext cx="10058400" cy="32004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71600" y="6053328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0D1B2A"/>
                </a:solidFill>
                <a:latin typeface="Segoe UI"/>
              </a:defRPr>
            </a:pPr>
            <a:r>
              <a:t>Same containerized application — deploys on Gabriel Nimbus with environment configuration only.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Implementation Approach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B4F72"/>
                </a:solidFill>
                <a:latin typeface="Segoe UI"/>
              </a:defRPr>
            </a:pPr>
            <a:r>
              <a:t>Three phases. Value within 90 days. Full operational capability within 9 months.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3566160" cy="45720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3566160" cy="54864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41732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 1: Foundation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691640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CDDEE"/>
                </a:solidFill>
                <a:latin typeface="Segoe UI"/>
              </a:defRPr>
            </a:pPr>
            <a:r>
              <a:t>0–90 days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10312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K8s provisioning, secrets, networking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46888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Data connectors (NGFW, IPS, IdP)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83464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Baseline config ingestion + model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20040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First preemptive findings delivered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56616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Entity fusion pipeline operational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114800"/>
            <a:ext cx="3291840" cy="45720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416052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B4F72"/>
                </a:solidFill>
                <a:latin typeface="Segoe UI"/>
              </a:defRPr>
            </a:pPr>
            <a:r>
              <a:t>Milestone: First verified gap findings + playbooks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79" y="1371600"/>
            <a:ext cx="3566160" cy="45720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297679" y="1371600"/>
            <a:ext cx="3566160" cy="54864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80559" y="141732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 2: Operational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59" y="1691640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CDDEE"/>
                </a:solidFill>
                <a:latin typeface="Segoe UI"/>
              </a:defRPr>
            </a:pPr>
            <a:r>
              <a:t>90–180 days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1999" y="210312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Behavioral baselines established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1999" y="246888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Change-point detection active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1999" y="283464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SOC integration (SNOW/JIRA/SOAR)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1999" y="320040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Continuous re-verification enabled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1999" y="356616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ABAC trust scoring live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34839" y="4114800"/>
            <a:ext cx="3291840" cy="45720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26279" y="416052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B4F72"/>
                </a:solidFill>
                <a:latin typeface="Segoe UI"/>
              </a:defRPr>
            </a:pPr>
            <a:r>
              <a:t>Milestone: Full two-layer detection active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18" y="1371600"/>
            <a:ext cx="3566160" cy="45720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046718" y="1371600"/>
            <a:ext cx="3566160" cy="54864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29598" y="141732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 3: Optimization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598" y="1691640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CDDEE"/>
                </a:solidFill>
                <a:latin typeface="Segoe UI"/>
              </a:defRPr>
            </a:pPr>
            <a:r>
              <a:t>180–270 days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38" y="210312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Kill-chain reconstruction live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38" y="246888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Cohort model tuning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38" y="283464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Additional vendor integrations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38" y="320040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Compliance reporting automation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38" y="356616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SOC training and handoff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83878" y="4114800"/>
            <a:ext cx="3291840" cy="45720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275318" y="416052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B4F72"/>
                </a:solidFill>
                <a:latin typeface="Segoe UI"/>
              </a:defRPr>
            </a:pPr>
            <a:r>
              <a:t>Milestone: Full capability + cATO artifacts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Use Cases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B4F72"/>
                </a:solidFill>
                <a:latin typeface="Segoe UI"/>
              </a:defRPr>
            </a:pPr>
            <a:r>
              <a:t>Nine pre-built use cases spanning preemptive defense, compliance, and risk management.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371600"/>
            <a:ext cx="10058400" cy="5029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43000" y="1463040"/>
            <a:ext cx="457200" cy="27432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1481328"/>
            <a:ext cx="365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44475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Preemptive Cyber Defense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46304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Continuous verification that every known TTP path is blocked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1901952"/>
            <a:ext cx="100584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143000" y="1993392"/>
            <a:ext cx="457200" cy="27432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88720" y="2011680"/>
            <a:ext cx="365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1975104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Configuration Drift Mgmt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1993392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Hourly comparison to approved baseline; surfaces unauthorized changes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2432304"/>
            <a:ext cx="10058400" cy="5029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143000" y="2523744"/>
            <a:ext cx="457200" cy="27432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88720" y="2542032"/>
            <a:ext cx="365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2505456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Formal Policy 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2523744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Shadow rules, conflicts, weak inspection across multi-vendor stack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" y="2962656"/>
            <a:ext cx="100584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143000" y="3054096"/>
            <a:ext cx="457200" cy="27432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88720" y="3072384"/>
            <a:ext cx="365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303580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External Attack Surface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3054096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Maps exposed assets to compensating controls; proves coverage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3493008"/>
            <a:ext cx="10058400" cy="5029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143000" y="3584448"/>
            <a:ext cx="457200" cy="27432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188720" y="3602736"/>
            <a:ext cx="365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37360" y="356616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Internal Attack Surface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3584448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Models paths from compromised host to crown-jewel assets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97280" y="4023360"/>
            <a:ext cx="100584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1143000" y="4114800"/>
            <a:ext cx="457200" cy="27432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188720" y="4133088"/>
            <a:ext cx="365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37360" y="409651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Behavioral Threat Detection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411480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LOTL, credential abuse, insider threat, slow lateral movement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97280" y="4553712"/>
            <a:ext cx="10058400" cy="5029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143000" y="4645152"/>
            <a:ext cx="457200" cy="27432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188720" y="4663440"/>
            <a:ext cx="365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37360" y="4626864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Zero-Trust Verification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0" y="4645152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Proves segmentation holds end-to-end (NIST 800-53 / SP 800-207)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97280" y="5084064"/>
            <a:ext cx="100584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1143000" y="5175504"/>
            <a:ext cx="457200" cy="27432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188720" y="5193792"/>
            <a:ext cx="365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08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737360" y="5157216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Vendor Migration Safety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5175504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Proves no regression during NGFW vendor migration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97280" y="5614416"/>
            <a:ext cx="10058400" cy="5029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1143000" y="5705856"/>
            <a:ext cx="457200" cy="27432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188720" y="5724144"/>
            <a:ext cx="365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09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737360" y="568756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M&amp;A / Third-Party Risk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0" y="5705856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Models combined posture pre-merger; verifies isolation controls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What No Existing Tool, Device, or Platform Delivers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B4F72"/>
                </a:solidFill>
                <a:latin typeface="Segoe UI"/>
              </a:defRPr>
            </a:pPr>
            <a:r>
              <a:t>These capabilities do not exist in any product on the market today — at any price point.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371600"/>
            <a:ext cx="10058400" cy="8686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73152" cy="86868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71600" y="141732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B4F72"/>
                </a:solidFill>
                <a:latin typeface="Segoe UI"/>
              </a:defRPr>
            </a:pPr>
            <a:r>
              <a:t>Exhaustive Mathematical Proof of Defense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6916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No SIEM, EDR, scanner, or pentest can prove ALL config paths block an attack. We can. Zero FP. Zero FN.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965960"/>
            <a:ext cx="9601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Segoe UI"/>
              </a:defRPr>
            </a:pPr>
            <a:r>
              <a:t>Not in: Splunk, CrowdStrike, Palo Alto, Tenable, Rapid7, Qualys, any SIEM/EDR/XDR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2304288"/>
            <a:ext cx="10058400" cy="8686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97280" y="2304288"/>
            <a:ext cx="73152" cy="86868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371600" y="2350008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E6B8A"/>
                </a:solidFill>
                <a:latin typeface="Segoe UI"/>
              </a:defRPr>
            </a:pPr>
            <a:r>
              <a:t>Digital Twin with Behavioral Time Dimension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624328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No UEBA creates a living entity model that captures sub-threshold drift over time and maps direction to MITRE.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898648"/>
            <a:ext cx="9601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Segoe UI"/>
              </a:defRPr>
            </a:pPr>
            <a:r>
              <a:t>Not in: Exabeam, Securonix, Microsoft Sentinel, Gurucul, any commercial UEBA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3236976"/>
            <a:ext cx="10058400" cy="8686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097280" y="3236976"/>
            <a:ext cx="73152" cy="86868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371600" y="3282696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B7950B"/>
                </a:solidFill>
                <a:latin typeface="Segoe UI"/>
              </a:defRPr>
            </a:pPr>
            <a:r>
              <a:t>Cross-Domain Entity Fusion (10+ Systems)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557016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No tool stitches identity across AD, AAD, Okta, VPN, TACACS+, badge, endpoint into one behavioral trajectory.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3831336"/>
            <a:ext cx="9601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Segoe UI"/>
              </a:defRPr>
            </a:pPr>
            <a:r>
              <a:t>Not in: Any single-vendor identity solution or SIEM correlation engine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" y="4169664"/>
            <a:ext cx="10058400" cy="8686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097280" y="4169664"/>
            <a:ext cx="73152" cy="8686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371600" y="4215384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C0392B"/>
                </a:solidFill>
                <a:latin typeface="Segoe UI"/>
              </a:defRPr>
            </a:pPr>
            <a:r>
              <a:t>Continuous Re-Verification (Hourly + On Change)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489704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No tool re-proves your entire defense posture every hour AND on every config change. Pentests run annually.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764024"/>
            <a:ext cx="9601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Segoe UI"/>
              </a:defRPr>
            </a:pPr>
            <a:r>
              <a:t>Not in: Any pentest, red team, ASM, or vulnerability management platform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5102352"/>
            <a:ext cx="10058400" cy="8686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097280" y="5102352"/>
            <a:ext cx="73152" cy="8686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371600" y="5148072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Hyperscaler Agent Platforms Cannot Replace This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5422392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AWS/Microsoft/Google ship runtime &amp; orchestration plumbing. They do NOT ship detection intelligence or formal models.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5696712"/>
            <a:ext cx="9601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Segoe UI"/>
              </a:defRPr>
            </a:pPr>
            <a:r>
              <a:t>Not in: Bedrock AgentCore, Microsoft Foundry, Google Gemini Enterprise Agent Platform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97280" y="6126480"/>
            <a:ext cx="10058400" cy="274320"/>
          </a:xfrm>
          <a:prstGeom prst="roundRect">
            <a:avLst/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371600" y="6144768"/>
            <a:ext cx="9601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C0392B"/>
                </a:solidFill>
                <a:latin typeface="Segoe UI"/>
              </a:defRPr>
            </a:pPr>
            <a:r>
              <a:t>This is not an incremental improvement. This is a fundamentally new class of defense that does not exist elsewhere.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645920" y="137160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B7950B"/>
                </a:solidFill>
                <a:latin typeface="Georgia"/>
              </a:defRPr>
            </a:pPr>
            <a:r>
              <a:t>22nd Century Technologies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103120"/>
            <a:ext cx="9144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Georgia"/>
              </a:defRPr>
            </a:pPr>
            <a:r>
              <a:t>We Will Prove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0" y="3017520"/>
            <a:ext cx="2743200" cy="2540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645920" y="338328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A0B8D0"/>
                </a:solidFill>
                <a:latin typeface="Segoe UI"/>
              </a:defRPr>
            </a:pPr>
            <a:r>
              <a:t>Give us 4 weeks and your data. We will demonstrate: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931920"/>
            <a:ext cx="9144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•  Preemptive: verified gap findings on your live configurations — zero false positives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480560"/>
            <a:ext cx="9144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•  ACECARD UEBA: behavioral detections on your actual user/entity data — with MITRE mapping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029200"/>
            <a:ext cx="9144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•  Combined: dwell time reduction from years to hours against Volt/Salt Typhoon TTPs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566928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B7950B"/>
                </a:solidFill>
                <a:latin typeface="Segoe UI"/>
              </a:defRPr>
            </a:pPr>
            <a:r>
              <a:t>No other vendor can make this offer — because no other tool has these capabilities.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612648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A6B7E"/>
                </a:solidFill>
                <a:latin typeface="Segoe UI"/>
              </a:defRPr>
            </a:pPr>
            <a:r>
              <a:t>PROPRIETARY  //  NOT FOR PUBLIC RELEASE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4233</Words>
  <Application>Microsoft Office PowerPoint</Application>
  <PresentationFormat>Widescreen</PresentationFormat>
  <Paragraphs>541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Ravindra Shukla</cp:lastModifiedBy>
  <cp:revision>2</cp:revision>
  <dcterms:created xsi:type="dcterms:W3CDTF">2013-01-27T09:14:16Z</dcterms:created>
  <dcterms:modified xsi:type="dcterms:W3CDTF">2026-05-05T02:52:26Z</dcterms:modified>
  <cp:category/>
</cp:coreProperties>
</file>