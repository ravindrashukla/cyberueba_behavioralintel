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195" y="959494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22nd Century Technologies Inc.</a:t>
            </a:r>
            <a:br>
              <a:rPr dirty="0"/>
            </a:br>
            <a:r>
              <a:rPr dirty="0"/>
              <a:t>COMPREHENSIVE DEFENSE AGAINST</a:t>
            </a:r>
            <a:br>
              <a:rPr dirty="0"/>
            </a:br>
            <a:r>
              <a:rPr dirty="0"/>
              <a:t>VOLT &amp; SALT TYPHOON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Cyber Defense  +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(TSCTI)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PREEMPTIVE LAYER</a:t>
            </a:r>
            <a:br/>
            <a:r>
              <a:t>Mathematically verifies every defensive control</a:t>
            </a:r>
            <a:br/>
            <a:r>
              <a:t>closes every known 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BEHAVIORAL LAYER</a:t>
            </a:r>
            <a:br/>
            <a:r>
              <a:t>ACECARD UEBA</a:t>
            </a:r>
            <a:br/>
            <a:r>
              <a:t>Continuous 1536-d behavioral trajectories</a:t>
            </a:r>
            <a:br/>
            <a:r>
              <a:t>with MITRE-mapped drift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Threat: Two Apex Predators in U.S.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groups are PRC state-sponsored. Both prepare for disruption. Both walked past commercial defenses undetected.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VOLT TYPHOON  (CISA AA24-038A)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Pre-position in U.S. critical infrastructure (energy, water, transport, comms) for sabotage during geopolitical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Initial access via unpatched edge devices (Fortinet, Versa, Ivanti, PAN)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Living-off-the-Land: wmic, ntdsutil, netsh, rundll32, certutil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KV Botnet C2 (compromised SOHO routers)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Credential dumping: ntdsutil ifm, LSASS extraction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Lateral: SMB/RDP/WinRM with stolen admin credentials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Persistence: 5+ YEARS undetected dwell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No malware. No signatures. No IOCs.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Every tool used is a legitimate Windows binary.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SALT TYPHOON  (CISA AA25-239A)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Espionage at carrier scale. Compromised 200+ telcos in 80+ countries. Accessed CALEA lawful intercept.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Exploits known CVEs: Cisco IOS XE (CVE-2023-20198), Ivanti, PAN, Citrix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Creates local admin accounts on routers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Modifies ACLs to whitelist attacker IPs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TACACS+ credential capture (TCP/49)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GRE tunneling + JumbledPath malware for C2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CALEA wiretap access + CDR exfiltration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GhostSpider, Demodex, SnappyBee implants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4+ YEARS undetected. 9 US telcos confirmed.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Sources: CISA AA24-038A; CISA AA25-239A; FBI/NSA/Five-Eyes Joint Advisory; Microsoft Threat Intelligence; Trend Micro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Defenses Fail Against These Adversaries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-- one in preemption, one in detection -- that traditional tooling cannot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PREEMPTIVE LAYER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99% of firewall breaches are misconfiguration (Gartner)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Pentest: point-in-time, incomplete, expensive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ASM: sees what exists, not what is REACHABLE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review: manual, stale within hours of completion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2^8000 rule state space cannot be sampled adequately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LAYER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Threshold-based UEBA: LoTL never crosses fixed thresholds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Sigma rules: adversary downloads published rules, retool in 2 weeks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Per-source silos: each system sees 1 identity, no cross-domain correlation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Anomaly score without direction: "87% anomalous" -- anomalous HOW?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30-45 min analyst triage per alert (MTTR &gt; dwell window)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behavioral TRAJECTORY -- only point-in-time 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06424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WHAT THESE ADVERSARIES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Configuration gaps exist that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Both Typhoons enter via unpatched/misconfigured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credentials are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LoTL tools are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91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wmic/ntdsutil/netsh are legitimate admin tools --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Slow drift is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75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attack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tools that could have detected either campaign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CYBERSECURITY LIFECYCLE  --  PREEMPTIVE vs.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Cybersecurity Lifecycle: Preemptive vs.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Calibri"/>
              </a:defRPr>
            </a:pPr>
            <a:r>
              <a:t>Where attacks are neutralized -- and where preemptive verification fills the gap no reactive tool can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8686800" cy="2560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Preempt &amp; 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52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A"/>
                </a:solidFill>
                <a:latin typeface="Calibri"/>
              </a:defRPr>
            </a:pPr>
            <a:r>
              <a:t>The missing layer -- before any traffic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645920" cy="16459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~85%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of attack surface</a:t>
            </a:r>
            <a:br/>
            <a:r>
              <a:t>eliminated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645920"/>
            <a:ext cx="64008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6642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Preemptive posture verification -- formal mathematical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Attack Intelligence: LLMs + NLP ingest threat intel (CVEs, IOCs, IOAs) to build MITRE ATT&amp;CK attack graphs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Defense Intelligence: Formal math model of all NGFW configs (100K+ states, 2^8000 defense space) -- no sampling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Remediation Intelligence: Guardrailed agentic-AI prescribes vendor-specific, risk-prioritized fixes -- no new errors</a:t>
            </a:r>
          </a:p>
          <a:p>
            <a:pPr>
              <a:spcBef>
                <a:spcPts val="400"/>
              </a:spcBef>
              <a:defRPr sz="850" b="1">
                <a:solidFill>
                  <a:srgbClr val="0B1F3A"/>
                </a:solidFill>
                <a:latin typeface="Calibri"/>
              </a:defRPr>
            </a:pPr>
            <a:r>
              <a:t>Finds: shadows, conflicts, weak rules, redundancies, missing threat profiles, intent errors, multi-rule/device errors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0">
                <a:solidFill>
                  <a:srgbClr val="C0392B"/>
                </a:solidFill>
                <a:latin typeface="Calibri"/>
              </a:defRPr>
            </a:pPr>
            <a:r>
              <a:t>99% of firewall breaches are caused by misconfiguration, not flaws in the firewall itself (Gartner)</a:t>
            </a:r>
          </a:p>
          <a:p>
            <a:pPr>
              <a:spcBef>
                <a:spcPts val="400"/>
              </a:spcBef>
              <a:defRPr sz="800" b="1">
                <a:solidFill>
                  <a:srgbClr val="166B3A"/>
                </a:solidFill>
                <a:latin typeface="Calibri"/>
              </a:defRPr>
            </a:pPr>
            <a:r>
              <a:t>No telemetry  |  No agents  |  Config-only pull  |  Zero false positives  |  Time to value &lt; 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6B3A"/>
                </a:solidFill>
                <a:latin typeface="Calibri"/>
              </a:defRPr>
            </a:pPr>
            <a:r>
              <a:t>Pushes verified, flawless rules down to...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40480"/>
            <a:ext cx="8686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A6878"/>
                </a:solidFill>
                <a:latin typeface="Calibri"/>
              </a:defRPr>
            </a:pPr>
            <a:r>
              <a:t>The live environment -- all tools below are reactive (detect &amp; respond after breach)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86868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Prevent (perimeter)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NGFW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Palo Alto, Fortinet, Cisco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Vuln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Qualys, Tenable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IAM / PAM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CyberArk, Okta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ZTNA / CASB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Zscaler, Netskope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023360"/>
            <a:ext cx="1097280" cy="7315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blocked at</a:t>
            </a:r>
            <a:br/>
            <a:r>
              <a:t>perimeter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84632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If attacker bypasses perimeter... (avg. breakout: 29 min)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86868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Detect &amp; respond (endpoints &amp; network)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CrowdStrike, Defender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8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Darktrace, ExtraHop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UEBA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Behavioral 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DLP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Symantec, Forcepoint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5029200"/>
            <a:ext cx="1097280" cy="731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1248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caught at</a:t>
            </a:r>
            <a:br/>
            <a:r>
              <a:t>endpoints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85216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Sends alerts and logs...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989320"/>
            <a:ext cx="8686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0076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Visibility &amp; triage (the SOC)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Splunk, Sentinel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4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6888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XSOAR, Splunk SOAR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989320"/>
            <a:ext cx="10972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0" y="6035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6355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triaged by</a:t>
            </a:r>
            <a:br/>
            <a:r>
              <a:t>SOC analysts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92640" y="1188720"/>
            <a:ext cx="2286000" cy="5394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692640" y="1188720"/>
            <a:ext cx="91440" cy="539496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875520" y="1234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THE TAKEAWAY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1554480"/>
            <a:ext cx="1920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CrowdStrike, Defender, Splunk are reactive -- alarms that go off when the burglar is already inside.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We ensure the locks on the doors (NGFWs) were actually installed correctly in the first place.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166B3A"/>
                </a:solidFill>
                <a:latin typeface="Calibri"/>
              </a:defRPr>
            </a:pPr>
            <a:r>
              <a:t>Mathematically guaranteeing the burglar can never get in.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We find what no other tool can: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Shadowed rules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Multi-rule conflicts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Missing threat profiles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Intent errors in 100K+ config states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1">
                <a:solidFill>
                  <a:srgbClr val="B8862A"/>
                </a:solidFill>
                <a:latin typeface="Calibri"/>
              </a:defRPr>
            </a:pPr>
            <a:r>
              <a:t>Gartner predicts: by 2030, preemptive cyber will be 50% of IT security spending, up from &lt;5% in 2024.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67512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Gartner predicts: by 2030, preemptive cybersecurity will account for 50% of IT security spending, up from &lt;5% in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Two-Layer Answer: Preemptive + Behavioral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shrinks the attack surface mathematically. ACECARD detects what remains behaviorally.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212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NGFW, IPS, IdP, SASE, and WAF. Reasons exhaustively over 2^8000 state space to PROVE no attack path exists.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PROVES: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known CVE path is blocked (or compensating control identified)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threat-feed C2 destination is denied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is caught within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Segmentation intent holds end-to-end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 false positives. No false negatives.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reasoning. Not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52120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2 -- ACECARD UEBA (BEHAVIORAL)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into 1536-d vectors. Tracks behavioral TRAJECTORY. Detects drift toward MITRE-mapped threat concepts.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CATCHES: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Compromised valid credentials (T1078)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 chains (T1059)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Slow APT drift (CUSUM catches sub-threshold accumulation)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Cross-domain lateral movement via entity fusion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Not what is anomalous -- what they are BECOMING.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either the attack surface never existed (Preemptive) OR the attack is detected within hours (ACECARD + 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Close the Door Before They Knock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Mathematically rigorous, preemptive cyber defense -- Complete, Continuous, Verifiable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Analyze All Known 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Terabytes of CVE, advisories, CTI, IOCs, IOAs, PSIRTs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MITRE-enriched attack graphs built by ML/NLP/LLM pipeline. Full TTP coverage of Volt Typhoon (G1017) and Salt Typhoon. Auto-updates on new advisory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Identify Every 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Exponential combination of NGFW, IdP, IPS, SASE, WAF 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Symbolic Model of Computation. Formal mathematical model -- exhaustively reasons over the 2^8000 state space. No sampling. Complete reasoning. Every possible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Prescribe Correct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Without creating new errors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Grounded agentic-AI reasoners. Risk-prioritized, vendor-specific fixes. No false positives (mathematically proven). No false negatives (exhaustive analysis).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 world's first Mathematically Rigorous -- Complete, Preemptive, Continuous, Verifiable -- Cyber Defense Platform.  |  22nd Century Technologies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the Preemptive Platform Operates: Inputs -&gt; Reasoning -&gt; Continuous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SaaS, on-prem, and air-gapped deployments. Integrates with ServiceNow, JIRA, and major SOC ticketing.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3840480" cy="29260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52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PREEMPTIVE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234440"/>
            <a:ext cx="365760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CONTINUOUS PREEMPTIVE ASSURANCE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645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Threat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47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CVE advisories, CTI feeds, IOCs, IOAs, PSIRTs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87168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5328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Tech Controls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NGFW, IdP, IAM, IPS, EPP, SASE, WAF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74136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4198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Grounded World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Vendor capabilities, MITRE ATT&amp;CK / D3FEND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61104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Telemetry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085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Asset inventory, topology, segmentation intent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60020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160020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194767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Identify Risk-Prioritized Control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Model attacks   |   Model defenses   |   Reason about gaps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78892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278892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53128" y="313639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Generate Remediations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246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Risk-prioritized fixes   |   Vendor-specific playbooks   |   Alerts to SOC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97764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34840" y="397764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3128" y="432511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 Control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434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Apply remediations   |   Validate   |   Re-verify continuously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1600200"/>
            <a:ext cx="3383280" cy="1371599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Findings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Risk-prioritized gaps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Vendor-specific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No false positives / No false negatives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3154679"/>
            <a:ext cx="3383280" cy="1691639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320039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Continuous Remediation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5204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SOC/control admin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947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ServiceNow / JIRA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069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Auto re-verify on config change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3433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Auto re-verify on threat-feed update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Currently supports leading N-S and E-W perimeter NGFWs (PAN, Fortinet, Cisco, Check Point). Identity, SASE, and additional vendors on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VOLT TYPHOON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Preempts Volt Typhoon -- TTP by 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MITRE technique -&gt; formal control gap query -&gt; mathematically verified blocking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MITRE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34440"/>
            <a:ext cx="22860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786384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52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2560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25600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25600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IPS signature + WAF rule verified for every edge CVE (Fortinet, Ivanti, Versa, PAN)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93976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11937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1937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19376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Zero-trust segmentation verified; MFA bypass paths surfaced and remediated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87752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1315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13152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613152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EDR/script-control coverage proven on every endpoint in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81528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0692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06928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OS Credential Dumping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106928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Egress filtering proven; ntdsutil blocked for non-admin via GPO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75304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00704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00704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600704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SMB inspection verified; micro-segmentation proven; admin shares audited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69080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09448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094480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094480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Threat-feed C2 IPs/domains denied across 50M+ rule combinations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62856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58825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58825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588256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Credential-based lateral -&gt; HANDED TO ACECARD behavioral layer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5663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08203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82032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082032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Config Drift Mgmt catches logging/audit baseline deviation within 1 hour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50408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57580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575808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575808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SOHO router IPs from threat feeds denied all zones; botnet IOCs auto-updated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Source: MITRE ATT&amp;CK Group G1017; CISA AA24-038A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SALT TYPHOON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Preempts Salt Typhoon -- TTP by 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MITRE technique -&gt; formal control gap query -&gt; mathematically verified blocking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MITRE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34440"/>
            <a:ext cx="22860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78638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52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2560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2560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2560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WAF/mgmt-plane ACL blocks /webui/ for CVE-2023-20198; compensating control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4884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17424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7424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7424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Config Drift detects unauthorized local account creation within 1 hour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9748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2288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2288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2288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AAA/TACACS+ config baseline comparison every hour; any delta = immediate gap finding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27152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27152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Network Sniffing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27152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On-box capture restricted to authorized roles; mgmt-plane access 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9476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82016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8201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2016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GRE peer authorization verified; unauthorized tunnel endpoints detected and flagged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4340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36880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6880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6880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Outbound to JumbledPath C2 IPs blocked across all zones; CALEA-zone segmentation proved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9204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91744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91744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1744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Log clearing / ACL modification caught by drift management within detection window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4068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46608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46608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46608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TACACS+ credential abuse -&gt; HANDED TO ACECARD behavioral layer for drift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Source: CISA AA25-239A; FBI/NSA/Five-Eyes Joint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Nine Preemptive Use Cases -- Each Closes a Typhoon Attack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Pre-built reasoning templates. Five directly preempt Volt + Salt Typhoon TTPs.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0759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59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59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Continuous ML/NLP/LLM threat intel + config -&gt; proof every TTP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259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Volt T1190, T1133, T1071 / Salt T1190, T1556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64792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10512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837944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790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Configuration Drift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901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Live vs approved baseline comparison every hour; any delta = gap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7901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Salt ACL tampering, Guest Shell activation, local account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95144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340864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368296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3205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3205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2^8000 rule space: finds shadows, conflicts, weak inspection, intent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205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SMB lateral paths, shadowed inspection profiles, multi-rule bypasses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25496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898648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8508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Preemptive ASM (External)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85089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attack surface mapped -&gt; compensating controls verified -&gt;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8508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Edge CVE exploitation (Volt T1190, Salt T1190)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55848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401568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" y="3429000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38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Internal Attack Surface Mgmt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381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Internal paths from compromised host to crown jewels identified and blocked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381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Cross-tenant pivots, lateral movement post-compromise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8620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395935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911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NIST 800-53 / Zero-Trust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91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SP800-207 zero-trust verification end-to-end across all control layers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91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Compliance-as-code: automated evidence for FedRAMP, CMMC, DISA STIGs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416552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462272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4489704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4419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4419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Before/after config analysis: proves no security regression during migration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4419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Use case: PAN-&gt;Fortinet, Cisco-&gt;Palo Alto -- zero blind spots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94690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4992624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" y="5020056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97230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M&amp;A Due Diligence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9723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Combined posture analysis pre-merger identifies inherited misconfigurations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9723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Inherited misconfigs + shadow IT -&gt; found before integration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477256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5522976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" y="5550408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55026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Third-Party / Supply Chain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550265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EASM across third-party ecosystem: supplier exposure mapped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5026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Supply-chain pivots identified before they become breaches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Use cases 1-5 are direct Volt/Salt counters. Use cases 6-9 extend value across the broader cyber operating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PROOF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 Production: Real Customer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Selected findings from financial services, telecom, government, and critical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SMB Lateral Movement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 traffic profiles shadowed by 3 higher-priority rules -- inspection never applied. All lateral paths from user VLANs to DC management now formally verified closed.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Communications | 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Eliminated Known CVE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IPS filters missing on rsync connections to backup servers. CVE-matched threat profiles enforced; compensating control deployed same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RCE Attack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Both PAN and Fortinet allowed Windows Update traffic with no IPS inspection. Two-vendor blind spot closed; exploit path formally proved blocked.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3464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Critical Infra | SE Asia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App Obfuscation Paths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DMZ rules not blocking all targeted applications as intended -- policy intent error. Formal verification found 17 rule combinations allowing blocked app categories.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NIST 800-53 SMTP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SMTP from trusted to untrusted zones with no threat inspection profile. Control gap mapped to NIST 800-53 SC-7; remediation deployed within 4 hours.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29768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EU Sovereign Govt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Preemptive ASM for National Agency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Proved compliance and coverage across 12 government agencies in a single unified analysis. First formal proof of cross-agency segmentation intent.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20+ design partners across F500, federal, critical infrastructure, MSSPs, and nation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FORMAL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Formal Model: Why 2^8000 Cannot Be Sampled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Traditional scanners sample configurations. Our platform reasons EXHAUSTIVELY over the entire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THE PROBLEM WITH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typical enterprise NGFW has: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5,000 - 50,000 firewall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Each: src zone, dst zone, src IP, dst IP, port, app, user, action, profile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Interactions: 50,000^2 = 2.5 billion pairwise rule relationships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Multi-vendor: 3-10 firewalls in series/parallel paths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0B1F3A"/>
                </a:solidFill>
                <a:latin typeface="Calibri"/>
              </a:defRPr>
            </a:pPr>
            <a:r>
              <a:t>Total combinatorial state space: ~2^8000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Sampling 1 billion paths/second for 1 year: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= 3.15 x 10^16 samples (vs 2^8000 = 10^2408 total)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Coverage: effectively 0.000...0%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22CT: SYMBOLIC MODEL OF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Instead of sampling, we build a mathematical MODEL: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1. Parse all rules into symbolic representation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2. Build constraint-satisfaction model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3. For each threat (CVE, C2 dest, lateral path):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   "Does ANY rule combination ALLOW this traffic?"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4. Solver PROVES answer is NO (safe) or YES (gap)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Result: COMPLETE coverage of 2^8000 in seconds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No sampling. No probabilistic reasoning.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Mathematical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06424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9144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NOBODY ELSE HAS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761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Traditional Pentest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761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1-2 weeks, finds 5-15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761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Point-in-time, incomplete, expensive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961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Vulnerability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961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Samples known CVEs against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961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Misses rule interactions and shadows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3162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 Surface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162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Enumerates external-facing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162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Sees what exists, not what is REACHABLE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636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FORMAL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362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Models ALL paths through ALL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6362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Complete, continuous, no gaps, vendor fixes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 2024: "99% of firewall breaches are caused by misconfiguration, not firewall flaws." 22CT Preemptive eliminates that 99%.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Volt Typhoon --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Volt Typhoon needs configuration weakness to enter and pivot. 22CT proves those weaknesses do not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Initial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Scans for unpatched Fortinet, Ivanti, Versa, PAN edge devices. Exploits CVE-2024-21887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Ingests CISA/vendor PSIRTs. Proves every NGFW/VPN/SASE has IPS signature enforced. No patch =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Web shells (.aspx/.jspx). C2 through KV botnet of compromised SOHO routers.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Models 50M+ rule combinations. Proves all threat-feed IPs/domains blocked.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Credential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ntdsutil dump NTDS.dit. LSASS extraction. Exfiltrates creds to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Verifies EDR/EPP coverage on DCs. Script-control blocks ntdsutil for non-admin. Egress filtering 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Lateral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SMB/RDP/WinRM to domain controllers. Admin share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Real finding: 3 rules shadowed SMB IPS. Micro-segmentation: user VLAN proven unable to reach DC mgmt.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Pre-positioning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Network mapping + credential harvest for future sabotage. 5+ year dwell.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Continuous re-verification hourly + on every config change. Zero-trust segmentation re-proven.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Bottom line: 22CT Preemptive doesn't detect Volt Typhoon -- it makes the infrastructure impervious to their entry technique.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Salt Typhoon -- Carrier-Scale Edge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lives on misconfigured Cisco/Ivanti/PAN edge gear. 22CT verifies every config every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Edge CVE Exploit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Cisco IOS XE web UI (CVE-2023-20198) for level-15 admin. 1000+ devices targeted.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CVE-to-control mapping automatic. Proves WAF/mgmt-plane ACL blocks /webui/. Compensating control for unpatched.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Local admin accounts. Router ACL modifications. Guest Shell. 3+ years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Config Drift: approved baseline compared hourly. Any unauthorized ACL/AAA change = immediate gap finding.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TACACS+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Captures TACACS+ on TCP/49 via on-box pcap. Harvests creds. JumbledPath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Mgmt-plane segmentation verified. On-box capture restricted. JumbledPath C2 IPs blocked all zones.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GRE Tunnel +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GRE tunnel between compromised routers. Encrypted C2. Multi-hop chains.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GRE peer authorization verified. Unauthorized tunnel endpoints detected. Egress: only approved protocols.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CALEA Exfil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CALEA lawful intercept access. CDR/metadata exfiltration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CALEA-zone segmentation proven end-to-end. DLP on CDR stores. Outbound restrictions verified.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Salt Typhoon: 200+ telcos, 80+ countries, 4+ years. Every phase requires a misconfigured edge device. 22CT proves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Where Preemptive Needs Help -- Why ACECARD Belongs Next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preemptive layer closes the configuration attack surface. Three classes of attack remain.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1. Zero-Day / Unknown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No signature, no IOC, no MITRE mapping yet = nothing for preemptive layer to prove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Detects behavioral drift even with no label. Post-exploitation ALWAYS creates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Both Typhoons abuse stolen valid credentials. Correctly-configured controls ALLOW this traffic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Cohort z-score + cosine drift catches abuse -- same credentials, different behavioral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91440" cy="1463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Calibri"/>
              </a:defRPr>
            </a:pPr>
            <a:r>
              <a:t>3. Living-off-the-Land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wmic, ntdsutil, netsh, rundll32 -- legitimate admin tools. Cannot be blanket-blocked.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5-signal embedding captures the COMBINATION of LoTL tools + timing + targets. Tool-agnostic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Configuration preemption is necessary but not sufficient. Behavioral detection closes the remaining surface.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BEHAVIORAL LAYER  --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UEBA Misses Volt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campaigns relied on Living-off-the-Land tradecraft. Both walked past every commercial 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6B1F"/>
                </a:solidFill>
                <a:latin typeface="Georgia"/>
              </a:defRPr>
            </a:pPr>
            <a:r>
              <a:t>&gt;= 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Volt Typhoon undetected dwell</a:t>
            </a:r>
            <a:br/>
            <a:r>
              <a:t>in U.S. critical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The Four Structural Gaps in Commercial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one is exactly the gap Volt Typhoon and Salt Typhoon exploit.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Threshold-based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Alerts fire only when a metric crosses a fixed line. LoTL never crosses any single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Volt Typhoon process tree was within "normal" at every single data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Per-source siloed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Each tool sees one identity. AD, AAD, Okta, AWS, K8s -- separate systems, no correlation.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Cross-domain attack chains never escalate above per-source noise floor.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Static rules, decaying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Sigma/CAR rules require maintenance. Adversary retool cycle: 2-4 weeks. Defender: 1-3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By the time a Sigma rule is published, the tradecraft has already evolved.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Anomaly score without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"User is 87% anomalous" -- anomalous HOW? No MITRE mapping. No kill-chain position.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Mean time to investigate exceeds dwell window -- even when detection fires.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STRUCTURAL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Innovations That Close the Four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innovation directly addresses one of the four structural gaps that Volt/Salt Typhoon exploit.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TRAJECTORY, not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Track HOW entities EVOLVE over time. CUSUM catches drift that never crosses a fixed threshold. 5+ year APT = detected in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48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1: Threshold-based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060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One entity_uuid resolves AD, AAD, Okta, AWS, K8s, CrowdStrike, VPN, Splunk, PKI, TACACS+ into single behavioral 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375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2: Per-source silos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94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OBJECTIVES, not tool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Detect the EFFECT of the attack (credential access, lateral movement) not the TOOL (ntdsutil vs secretsdump vs mimikatz).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3: Static rules / rule decay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83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 cosine + credential_dumping (T1003) at 0.54."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15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4: Anomaly without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has ALL FOUR. Most have zero. This is the innovation gap we close.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Dual Embedding Architecture: 6 Vectors = 9,216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individually embedded (1536-d) + one fused composite. Per-signal drift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731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of the 5 signals is INDIVIDUALLY embedded at 1536-d (per-signal drift tracking). All 5 are also concatenated into one COMPOSITE 1536-d vector (holistic entity state). Total: 6 vectors = 9,216 dimensions per entity per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9456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219456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286000"/>
            <a:ext cx="21945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86000"/>
            <a:ext cx="219456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28600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2186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All 5 concatenated -&gt; 1 COMPOSITE 1536-d vector (holistic entity behavioral state)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91440" cy="1371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individual: 5 x 1,536 = 7,680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1 composite: 1 x 1,536 = 1,536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TOTAL: 6 x 1,536 = 9,216 dims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49039"/>
            <a:ext cx="365760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06240" y="3749039"/>
            <a:ext cx="91440" cy="1371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WHY INDIVIDUAL + COMPOSITE?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Composite: "entity behavior changed"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Individual: "AUTH drove 72% of change"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Direction: "PROCESS signal drifting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  toward lotl_execution (T1059)"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3749039"/>
            <a:ext cx="9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IL5: OpenAI text-embedding-3-small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IL6: Local Phi-4 (14B) or Mistral 7B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JWICS: Same SLM, air-gapped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Switch: env var only, no code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03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91440" cy="4572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PRIVACY: No raw event content sent to embedding provider. Only summarized metrics. No usernames, IPs, paths. JWICS-safe.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NOBODY IN THE INDUSTRY embeds behavioral signals into a unified vector space with per-signal drift decomposition.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FIVE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Five Behavioral Signals: Sources, Metrics,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summarizes one dimension of behavior. Together they capture the complete entity footprint.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" cy="9144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89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4624/4625/4768, Okta, AAD, AWS CloudTrail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898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Brute force, Pass-the-Hash, lateral movement, impossible travel, MFA bypass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" cy="9144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1/3/7/8, CrowdStrike, Defender, auditd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500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 chains (Volt Typhoon), code injection, encoded PowerShell, deep process trees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9728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1012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beaconing, data exfiltration, DNS tunneling, scanning, GRE tunneling (Salt)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09728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70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11, Win 4663, DLP, cloud storage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7024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Ransomware, exfil staging, insider theft, credential file access, pre-encryption shadow delete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0972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30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303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Privilege escalation, Golden ticket, MFA bypass, service account abuse, insider admin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30 metrics across 5 signals. ALL embedded into unified 1536-d space. Drift = attack. Direction = MITRE technique.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Math of Behavioral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piece is well-known math. The innovation is the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" cy="10972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Behavioral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V_t = embed("auth: logon_count=47, failure_rate=0.032 | process: lolbin_count=0, cmdline_entropy=1.4 | network: unique_dest=3, beacon_score=0.05 | file: sensitive_access=0 | identity: priv_esc=0")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45720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803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Cosine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803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drift(t) = 1 - (V_t . V_baseline) / (||V_t|| * ||V_baseline||)</a:t>
            </a:r>
            <a:br/>
            <a:r>
              <a:t>Range: [0, 2]    Typical healthy: [0, 0.05]    Compromised: [0.06, 0.15+]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45720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79476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CUSUM (Page 1954)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S_t = max(0, S_{t-1} + (drift_t - mu - k))</a:t>
            </a:r>
            <a:br/>
            <a:r>
              <a:t>k = 0.5 * sigma  (slack)    h = 4 * sigma  (alarm threshold)</a:t>
            </a:r>
            <a:br/>
            <a:r>
              <a:t>ALARM when S_t &gt; h. Catches sustained sub-threshold drift accumulated over windows.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45720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2578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8348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Drift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578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drift_vec = V_current - V_baseline</a:t>
            </a:r>
            <a:br/>
            <a:r>
              <a:t>proj(c) = cosine(drift_vec, embed(concept_c))    for c in {credential_dumping, lateral_movement, ...}</a:t>
            </a:r>
            <a:br/>
            <a:r>
              <a:t>Returns: argmax top-3 concepts with MITRE technique 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Cosine drift + CUSUM + drift direction: three formulas that together catch Volt + Salt Typhoon where thresholds fail.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PIPELINE &amp;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Embedding Pipeline -&gt; Trajectory Analysis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Every entity, every window: ingest -&gt; summarize -&gt; embed -&gt; analyze -&gt; alert.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EMBEDDING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71907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645920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664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Raw events from SIEM, EDR, netflow, AD, IAM -- any source with a timestamp and entity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28600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212848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2311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2311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Group by entity_uuid over configurable window (default 1 hour). 5 signal buckets.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79776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285292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779776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2798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798064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Compute 30 metrics per window: logon_count, lolbin_count, beacon_score, etc.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46704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41985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346704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36499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3649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SHA-256 of metric snapshot. Tamper-detection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13632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98678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913632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39319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9319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text-embedding-3-small (IL5) or local SLM (IL6/JWICS). 1536-d per signal + composite.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55371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480560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44988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4988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entity_snapshots table: uuid, window, embedding, features, hmac_chain.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280160"/>
            <a:ext cx="5394960" cy="292608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298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TRAJECTORY ANALYSIS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1645920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1645920"/>
            <a:ext cx="73152" cy="5029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16824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Cosine 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9019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drift(t) = 1 - cos(V_t, V_baseline)  |  range [0,2]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2212848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2212848"/>
            <a:ext cx="73152" cy="5029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22494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468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v(t) = drift(t) - drift(t-1)  |  rate of change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2779776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2779776"/>
            <a:ext cx="73152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2816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Acceleration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0358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a(t) = v(t) - v(t-1)  |  second derivative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3346704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3346704"/>
            <a:ext cx="73152" cy="502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383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602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S_t = max(0, S_{t-1} + drift_t - mu - k)  |  alarm: S &gt; 4*sigma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913632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09360" y="3913632"/>
            <a:ext cx="7315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3950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1696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H = 100 * (1 - clamp(drift / h, 0, 1))  |  range [0, 100]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Pipeline latency: event to analysis &lt; 3 seconds. Throughput: 10K entities/hour per 4-vCPU worker.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DETECTING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ACECARD Detects Volt Typhoon -- Signal by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5 signals -&gt; 1 fused trajectory. CUSUM alarms T+47min. Drift direction: lateral_movement (0.78) + credential_dumping (0.61). HIGH alert.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058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34440"/>
            <a:ext cx="310896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527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347472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527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DRIFT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3383280" cy="34747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2527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005840" cy="8229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713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Stolen AD creds, 12 new hosts in 2h, off-hours logins, no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671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unique_hosts 0.3-&gt;12, off_hours_ratio 0-&gt;0.7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71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drift=0.142, cohort z=6.17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96312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496312"/>
            <a:ext cx="1005840" cy="8229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791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521712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wmic, ntdsutil, netsh, rundll32, encoded PowerShell chains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21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lolbin_count 0-&gt;7, cmdline_entropy 1.4-&gt;3.2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2171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CUSUM alarm @ T+47min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46704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1005840" cy="822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72104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C2 to KV botnet IPs, new destinations, regular beaconing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721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unique_dest 3-&gt;18, beacon_score 0.05-&gt;0.42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7210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c2_beaconing (T1071) proj=0.71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97096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197096"/>
            <a:ext cx="1005840" cy="8229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22496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shells, NTDS.dit access, 7-Zip staging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22249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sensitive_access 0-&gt;24, archive_creates 0-&gt;3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2249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insider_hoarding (T1074) proj=0.58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47488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0058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072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Priv escalation, Domain Admins group adds, svc_acct spike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728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priv_esc 0-&gt;3, svc_acct_use 5-&gt;47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072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privilege_escalation (T1078) proj=0.66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5 signals -&gt; 1 fused trajectory. CUSUM alarms T+47min. Drift: lateral_movement (0.78) + credential_dumping (0.61). HIGH alert.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DETECTING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ACECARD Detects Salt Typhoon -- Signal by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wins by going slow. CUSUM accumulates the small drifts. 30-day rolling baseline adapts.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058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34440"/>
            <a:ext cx="310896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527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347472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527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DRIFT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3383280" cy="34747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2527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005840" cy="8229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713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Stolen TACACS+ creds, slow host growth over 14 days, off-hours logins creep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671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unique_hosts 5-&gt;18 over 14d, off_hours_ratio 0.1-&gt;0.45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71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Slow drift caught by CUSUM accumulation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96312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496312"/>
            <a:ext cx="1005840" cy="8229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791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521712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Guest Shell activation, JumbledPath ELF binary, tcpdump on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21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New cmdline patterns, unsigned_ratio spikes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2171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defense_evasion (T1562) proj=0.49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46704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1005840" cy="822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72104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GRE tunnels established, slow CDR exfil, encrypted C2 channels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721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bytes_out grows linearly, beacon_score elevates gradually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7210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data_exfiltration (T1041) proj=0.44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97096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197096"/>
            <a:ext cx="1005840" cy="8229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22496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Router startup-config modifications outside change windows, CALEA zone writes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22249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config writes outside approved windows, archive_creates spike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2249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defense_evasion (T1562) pattern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47488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0058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072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Local privileged accounts created, AAA/TACACS+ config modifications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728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identity-graph hash changes, priv_esc 0-&gt;3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072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privilege_escalation (T1078) proj=0.71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Salt Typhoon wins by going slow. CUSUM accumulates sub-threshold drift. 30-day rolling baseline -- dwell of years -&gt; alarms in days.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COHORT +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Peer Cohort Comparison + Calibrated Alert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sysadmin logging into 30 hosts is normal. A finance analyst doing the same is anomalous.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PEER COHORT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27632"/>
            <a:ext cx="5303520" cy="4846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z = (entity_drift - cohort_mean) / cohort_std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jsmith (financial_analyst, 42 peers)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jsmith drift: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Cohort mean: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06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0.031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Cohort std: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80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z-score: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scadia Code"/>
              </a:defRPr>
            </a:pPr>
            <a:r>
              <a:t>6.17  &gt;&gt;&gt; OUTLIER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Drift direction: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lateral_movement (0.78, T1021)</a:t>
            </a:r>
            <a:br/>
            <a:r>
              <a:t>credential_dumping (0.45, T1003)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HIGH -&gt; SOAR playbook triggered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80160"/>
            <a:ext cx="5394960" cy="292608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298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CALIBRATED ALERT TIERS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627632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627632"/>
            <a:ext cx="118872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901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6733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20 OR CUSUM ALARM (4-sigma)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848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Immediate SOC investigation. All access revoked.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615184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2615184"/>
            <a:ext cx="118872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8895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609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40 OR Velocity z &gt;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072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Tier-2 triage within 15 min. Step-up MFA.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602736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3602736"/>
            <a:ext cx="1188720" cy="9144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3877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648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70 + change-point 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05993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Tier-1 review within 1 hour. Watchlist.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590288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4590288"/>
            <a:ext cx="118872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864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636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70-85 AND cohort z &gt;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0474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Log for trend analysis. Watchlist entry.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577840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5A6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5577840"/>
            <a:ext cx="1188720" cy="91440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623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Any CUSUM trigger (4-sigma threshold)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6035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878"/>
                </a:solidFill>
                <a:latin typeface="Calibri"/>
              </a:defRPr>
            </a:pPr>
            <a:r>
              <a:t>Log for trend analysis. Baseline audit.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Cohort z-score: same behavior is normal for sysadmins, anomalous for finance. Context is everything.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CUSUM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CUSUM: Catching What Thresholds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detects small, sustained behavioral shifts over time -- the Volt Typhoon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drift(t) = cosine distance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= expected mean drift (30-day rolling baseline)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 = slack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Key: S(t) resets to 0 when drift returns to normal.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false accumulation from benign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560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CONCRETE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Typical baseline sigma = 0.03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(tolerates drift up to baseline + 0.015)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(alarm at 0.12 accumulated excess)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Sustained drift of 0.06/window: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excess = 0.06 - 0.03 - 0.015 = 0.015/window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ALARM in 0.12/0.015 = 8 windows (8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06424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" cy="2103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WHY CUSUM CATCHES VOLT TYPHOON BUT THRESHOLDS DO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 THRESHOLD =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drift per window = 0.01-0.04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Attacker operates for 5+ YEARS undetected.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CUSUM (h = 4*sigma = 0.12)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Same drift 0.03-0.04 ACCUMULATES over windows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CUSUM alarm in 4-8 days.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Dwell time: YEARS -&gt;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uses CUSUM on behavioral embeddings. This is original research applied to cybersecurity.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DRIFT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Drift Direction: 8 MITRE-Mapped Threat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concept is text-embedded into the same 1536-d space. Cosine projection tells WHAT the entity is BECOMING.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843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843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47672"/>
            <a:ext cx="2194560" cy="25603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603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603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RDP/WinRM/SSH to new hosts, admin shares, PtH/PtT, unique_hosts spike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2374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23744"/>
            <a:ext cx="2194560" cy="2560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64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364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420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Bytes-out inversion, archive staging, cloud uploads, DNS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99816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2194560" cy="25603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1125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125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181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Regular-interval callbacks, DGA domains, encrypted channels, KV botnet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7588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75888"/>
            <a:ext cx="219456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6885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885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941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wmic/ntdsutil/netsh/rundll32 chains, encoded PowerShell, deep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2646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646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270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Group adds (Domain Admins), sudo abuse, token manipulation, delegation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2803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28032"/>
            <a:ext cx="2194560" cy="25603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8407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407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0410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404104"/>
            <a:ext cx="2194560" cy="25603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4168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4168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223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Steady sensitive access increase, bulk downloads, data staging over months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3504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60533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projection = cosine(drift_vector, concept_embedding). Top 3 returned with MITRE IDs. Result: "Entity drifting toward lateral_movement (0.82, T1021) + lotl_execution (0.71, T1059)" -- actionable, mappable, auditable.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projects drift direction onto MITRE techniques. This is the core innovation.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Entity Fusion: Solving Identity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human = 10+ identifiers across 6+ systems. Without fusion, lateral movement is invisible.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ONE PERSON = 10+ IDENTIFIERS  (John Smith, Tier-2 SOC Analyst)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415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Active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15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CORP\jsmith / S-1-5-21-...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7568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883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Azure AD (Entra)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883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ObjectId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352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Okta 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352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00u1a2b3c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821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AWS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5821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290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8290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system:sa:soc:jsmith-sa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759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CrowdStrike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0759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aid:abc123 / JSMITH-WS01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1012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3228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VPN/RADIUS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228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jsmith@corp.mil (cert DN)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5701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697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Splunk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5697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src_user=jsmith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0390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8166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PKI/CAC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8166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CN=SMITH.JOHN.Q.123456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5079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0634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TACACS+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634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 (net device auth)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6B1F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828800"/>
            <a:ext cx="5943600" cy="274320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0" y="1828800"/>
            <a:ext cx="91440" cy="2743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RESOLVED 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148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entity_uuid: e7a2b3c4-9f1d-4e8b-a2c7-3d5f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468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All 5 signals from ALL sources feed ONE embedding.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Lateral across 5 systems = 1 strong signal.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75488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WITHOUT ENTITY FUSION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AD: 1 normal logon (score 0.3)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AAD: 1 normal sign-in (score 0.25)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AWS: 1 normal login (score 0.2)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K8s: 1 normal kubectl (score 0.15)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 alerts below threshold. No correlation.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4754880"/>
            <a:ext cx="91440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WITH ENTITY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ONE entity, ALL events fused: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4 cross-system logins 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 drift: 0.23 (significant)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1 HIGH alert: lateral_movement (0.82)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resolves 10+ identity systems into a unified behavioral entity. This is infrastructure-level innovation.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4-Component Entity Signature: Forensic-Grade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Per entity, per window: identity proof + behavioral state + explainability + tamper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515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IDENTITY-GRAPH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SHA-256 of entity resolution graph (all linked IDs + correlation edges +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Proves WHO was resolved. Detects identity graph manipulation. Full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" cy="10515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BEHAVIORAL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1536-d vector from embedding model (text-embedding-3-small or local SLM)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IS the behavioral state. Enables drift, direction, peer comparison, kill-chain reconstruction.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2743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21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STRUCTURAL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03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JSONB document with all ~30 raw feature values: {"auth":{"logon_count":47,"failure_rate":0.032,...}}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14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Explainability: which specific metric drove the drift? Auditable numbers at detection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91440" cy="10515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HMAC-CHAINED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46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HMAC-SHA256: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Tamper-evident chain. Modifying ANY past snapshot breaks ALL subsequent HMACs.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61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Together: WHO was resolved (hash) + WHAT they did (embedding) + WHY the embedding looks that way (features) + WHEN it happened with proof of non-tampering (HMAC chain). Forensic-grade. Court-admissible. JWICS-deployable.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produces tamper-evident, forensic-grade behavioral evidence chains. This is novel.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ABAC TRUST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ABAC Trust State Machine: Proportional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Not binary lockout. Graduated, reversible, proportional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&gt; 70, no CUSUM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Normal operations. Standard access. Baseline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Default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91440" cy="10058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2103120" cy="3200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ELEVATED_WATCH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974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70 OR cusum &gt; 2*sigma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089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Step-up MFA. Increased log verbosity. Analyst notification.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health &gt; 75 for 24h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1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7947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062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Read-only access. Lateral blocked. Incident ticket created.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43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analyst + health &gt; 60 for 48h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9144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210312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709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20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0352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All access revoked. Sessions terminated. IR team notified.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IR team manual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Detection to enforcement: &lt; 5 minutes. System improves with analyst feedback. False positive = auto-adjusts baseline.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COMBINED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End-to-End Architecture: 22CT Preemptive + ACECARD UEBA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Threat Intel (CVE, CTI, IOCs)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47672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20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Defense Config (NGFW, IAM, SASE)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Telemetry (logs, netflow, EDR)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08376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Schema (MITRE ATT&amp;CK/D3FEND)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51560"/>
            <a:ext cx="384048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106984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417320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1856232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9110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2295144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2350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34056"/>
            <a:ext cx="384048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276148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054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Hardened posture (config verified)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Verified SOC playbooks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MITRE TTP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051560"/>
            <a:ext cx="448056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106984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1417320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1472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Signal Summarizers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1856232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0920" y="19110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Trajectory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2295144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23500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 Direction (8 MITRE concepts)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2734056"/>
            <a:ext cx="448056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2761488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0540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5-tier alerts with MITRE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310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ABAC trust enforcement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566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7-chart dashboard + SOAR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41324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862A"/>
                </a:solidFill>
                <a:latin typeface="Calibri"/>
              </a:defRPr>
            </a:pPr>
            <a:r>
              <a:t>Shared vocabulary: MITRE ATT&amp;CK technique IDs  |  Entity UUIDs  |  Verified TTP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Two layers. One vocabulary. Zero gaps between preemption and detection.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22CT Preemptive + ACECARD: The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Four concrete integration points. Each makes both products stronger.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22CT MITRE Coverage Map -&gt; ACECARD Concept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830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ACECARD loads 22CT's verified TTP list as high-confidence concepts. Alert load drops 30-50% because unpreempted TTPs get priority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5486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8036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22CT Verified Findings -&gt; ACECARD ABAC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718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that touch 22CT-flagged exposed assets are immediately elevated in ABAC. Step-up MFA triggered on assets with active preemptive finding.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5486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947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ACECARD Confirmed TPs -&gt; 22CT Threat-Intel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6052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detections feed back as IOCs into 22CT's threat-intel pipeline. Loop: ACECARD detection -&gt; 22CT blocks the C2 path for all other entities.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548640" cy="109728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25780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83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Shared Vocabulary: MITRE Technique IDs &amp; Entity UUIDs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4924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Single entity model across both layers. MITRE technique ID is the rosetta stone: preemption proof + behavioral alert share the same TTP label.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These four flows are why 22CT Preemptive + ACECARD is a system, not a bundle.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VOLT TYPHOON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Volt Typhoon Walkthrough: Both Layers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Phase-by-phase: what 22CT preempts, what ACECARD detects, what gets blocked.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4630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ATTACKER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3291840" cy="34747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PREEMPTS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80160"/>
            <a:ext cx="329184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170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0-12h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717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SOHO router VPN cred reuse (KV botnet)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T1133 segmentation verified; zero-trust path 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Auth: off_hours spikes, drift 0.08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131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12-36h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61315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wmic, ntdsutil, netsh, rundll32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T1059 EDR script-control coverage 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Process: lolbin 0-&gt;7, CUSUM alarm T+47min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83864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509264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36-72h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50926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RDP/WinRM to Domain Controllers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T1021 SMB shadow rule detected, micro-seg 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unique_dest 3-&gt;18, z=6.17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05376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72-96h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05376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Scheduled tasks, registry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T1556 config drift catches baseline deviation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Identity: svc_acct spike, T1078 flag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76088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30148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96h+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30148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Cred harvest, NTDS.dit, network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T1003 egress filtering verified; ntdsutil blocked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File: sensitive_access 0-&gt;24, CRITICAL -&gt; 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Layer 1 closes the door. Layer 2 watches the room. Together: Volt Typhoon has nowhere to hide.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SALT TYPHOON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Salt Typhoon Walkthrough: Both Layers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wins by going slow. CUSUM accumulates the small drifts. 30-day rolling baseline adapts.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4630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ATTACKER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3291840" cy="34747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PREEMPTS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80160"/>
            <a:ext cx="329184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170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0-24h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717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CVE-2023-20198 IOS XE exploit (/webui/)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T1190 WAF/mgmt-plane ACL blocks /webui/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anomalous mgmt-plane IP surfaced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131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1-7d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61315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Local admin account + AAA config mod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T1556 config drift detects baseline diff &lt;1hr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Identity: new SID linked, priv_esc flag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83864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509264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7-30d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50926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TACACS+ capture on TCP/49 via pcap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Mgmt-plane segmentation, on-box capture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Process: tcpdump outside window, CUSUM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05376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30-90d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05376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JumbledPath pivot chains, GRE tunnel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Outbound C2 IPs blocked; GRE peer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Composite: same entity across 4 hops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76088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30148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90d+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30148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GRE exfil, CALEA CDR/metadata harvest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GRE peer verified; CALEA-zone segmentation proved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data_exfil 0.44, CUSUM 4-sigma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Salt Typhoon wins by going slow. CUSUM accumulates sub-threshold drift. 30-day rolling baseline -- dwell of years -&gt; alarms in days.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COVERAGE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Combined Coverage: Which Layer Owns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adversary capability owned by the right layer. Preemption first, behavioral as backstop.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298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Why This Layer Owns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71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190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728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71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is the gap -- formal proof patch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31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128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1762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185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28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 model finds shadows across multi-vendor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603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85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Router ACL tampering /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26334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2642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85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drift re-verifies hourly vs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0175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042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3090672"/>
            <a:ext cx="1005840" cy="219456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42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Preemptive blocks known; ACECARD catches unknown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4747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00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3547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57800" y="3557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00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957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Living-off-the-Land (T1059)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40050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4014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957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lotl_execution concept + process signal shift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3891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4414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4622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4471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414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Entity fusion joins all identities -&gt; one drift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8463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871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Slow APT (months/years)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49194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57800" y="4928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71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CUSUM 4-sigma accumulates sub-threshold drift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3035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5328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Zero-day / unknown 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344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7800" y="53766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57800" y="5385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328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 MITRE label yet -&gt; behavioral anomaly only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7607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5786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57800" y="5833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57800" y="5843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786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insider_hoarding (T1074) + cohort z-score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the attack surface never existed (Preemptive) OR the attack is detected and contained within hours (ACECARD + ABAC)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COMPLEMENTARY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Complementary Tools: What Rounds Out Defense-in-Depth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+ ACECARD is the core. These technologies close residual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8346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EDR/XDR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CrowdStrike, MS Defender, SentinelOne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In-memory LOTL, process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ACECARD process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371600"/>
            <a:ext cx="283464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Email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Proofpoint, MS Defender for O365, Abnormal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Primary initial-access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identity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1371600"/>
            <a:ext cx="283464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Vectra, ExtraHop, Darktrace, Corelight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East-west packet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network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371600"/>
            <a:ext cx="283464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Splunk, Sentinel, Chronicle, Elastic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 aggregation,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ACECARD reads from SIEM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200400"/>
            <a:ext cx="283464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XSOAR, Splunk SOAR, Tines, Torq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Automated playbooks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Receives alerts with MITRE + ABAC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74720" y="3200400"/>
            <a:ext cx="28346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Identity/ZTNA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Okta, Entra, Ping, Zscaler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Phishing-resistant MFA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Step-up MFA from ABAC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3200400"/>
            <a:ext cx="28346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OT/ICS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Dragos, Claroty, Nozomi, TXOne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OT protocol awareness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Models IT/OT boundary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09760" y="3200400"/>
            <a:ext cx="2834640" cy="2743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Deception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Thinkst Canary, Acalvio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High-fidelity tripwires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ACECARD correlates canary alerts with drift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22CT Preemptive + ACECARD is the core. EDR + Email + NDR close the remaining gaps for full defense-in-depth.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Reference Architecture: Comprehensive Defense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Five layers. Every layer has a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THREAT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5544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CISA/NSA/FBI Advisories  |  Vendor PSIRTs  |  Commercial CTI Feeds  |  MITRE ATT&amp;CK / D3FEND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0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PREEMPTIVE LAYER  (22CT Preemptive)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24028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42316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 Intelligence  |  Defense Intelligence  |  Remediation Intelligence  |  Continuous Re-Verify (hourly + on config change)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2286000" cy="77724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CONTROL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10896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291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NGFW / IPS / WAF  |  Identity (IAM/PAM/IdP)  |  EDR / XDR  |  Email / Web / DLP  |  ZTNA / SASE / CASB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2286000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4. BEHAVIORAL LAYER  (ACECARD UEBA)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97764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Signal Summarizers  |  1536-d Embedding  |  Trajectory Analysis  |  Drift Direction (8 MITRE concepts)  |  ABAC Trust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286000" cy="7772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5. RESPONSE &amp;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84632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5029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SIEM / Data Lake  |  SOAR / Playbooks  |  ServiceNow / JIRA Service Mgmt  |  Audit / Compliance / Forensics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Each layer has a defined owner and a defined job. No gaps. No overlaps. No ambiguity about what defeats what.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Verdict: What the Combined Stack Delivers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IT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Every known MITRE TTP for Volt + Salt Typhoon -- preempted at config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31136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76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tradecraft -- caught as behavioral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78608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Cross-domain identity fusion -- one trajectory across AD/AAD/AWS/Okta/K8s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71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Zero-day &amp; unmapped TTPs -- caught as deviation from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73552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18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Insider threat &amp; valid-account abuse -- cohort z-score + cosine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21024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Long-dwell stealth -- CUSUM 4-sigma on rolling 30-day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91440" cy="5029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389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REMAINING GAPS (BY DESIGN)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883664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Endpoint runtime enforcement -- pair with CrowdStrike / MS Defender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231136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176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Email &amp; phishing -- pair with Proofpoint / Defender for O365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578608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523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OT/ICS protocols -- pair with Dragos / Claroty / Nozomi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926080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2871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Physical &amp; supply-chain -- pair with TPRM platforms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27355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3218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Human factors -- awareness training + tabletops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22CT Preemptive + ACECARD UEBA = comprehensive defense against Volt + Salt Typhoon. Add EDR + Email + NDR for full defense-in-depth.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INNOVATION PROOF  --  NOBODY ELSE HAS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Exists vs.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our innovations against every commercial UEBA and preemptive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0556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Formal verification of 2^8000 config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0556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Pentests sample. ASM enumerates. Nobody 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53312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36245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4650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746504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77190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Zero false positives / zero 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7190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Mathematical guarantee, not probabilistic.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19656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8288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1284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1284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23824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Behavioral embedding in unified 1536-d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3824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Industry uses features/rules. We use vectors.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22951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919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67919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7045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Per-signal drift decomposition (5 individual)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0459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Others embed once. We embed 6x for attribution.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75234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27614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4553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45536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7093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on embedding trajectories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7093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applies sequential change-point to vectors.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21868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322783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1188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3728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63728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"Drifting toward T1021" -- no other UEBA does this.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685032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0" y="369417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7822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078224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10362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10362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Commercial UEBA: 1-3 sources max. We fuse 10+.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15137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41605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4456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54456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56996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HMAC-chained forensic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6996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Tamper-evident behavioral chains. Novel.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61772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0" y="462686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1091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01091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03631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ABAC trust loop with behavioral triggers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03631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Detection + enforcement in one system. &lt;5 min.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508406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01200" y="50932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7725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5477256"/>
            <a:ext cx="73152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50265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Preemptive + behavioral in one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550265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combines formal config proof + behavioral AI.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550408"/>
            <a:ext cx="182880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01200" y="555955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Combined: 10 innovations that do not exist anywhere else in the industry. This is not incremental improvement.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REFERENCE  -- 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Numbers to Memorize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463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Salt Typhoon dwell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Telcos compromised by Salt Typhoon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US telecoms confirmed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FW breaches = misconfig (Gartner)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Attacks stopped by KEV patching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state space (cannot be sampled)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463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Rule combinations 22CT reasons 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463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positives (mathematical proof)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463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negatives (exhaustive reasoning)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463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4535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4535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107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Total dims (6 x 1536) per entity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4535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4535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4535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107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alarm threshold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4535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9107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Event to analysis per entity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24535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9107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per 4-vCPU worker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4535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9107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22CT Army SOC/MDR contract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24535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9107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Cleared analysts on contract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1792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4535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9107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Contract to first detection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24535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9107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952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BUILD YOUR DOME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closes the door. ACECARD watches the room.</a:t>
            </a:r>
            <a:br/>
            <a:r>
              <a:t>Together: comprehensive defense achieved.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 |  Contact: ravindra.shukla@gmail.com  |  CFIC Augusta GA  |  May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PREEMPTIVE: Formal mathematical proof that every known TTP path is blocked.</a:t>
            </a:r>
            <a:br/>
            <a:r>
              <a:t>BEHAVIORAL: Continuous 1536-d trajectory intelligence that catches what preemption cannot.</a:t>
            </a:r>
            <a:br/>
            <a:r>
              <a:t>INTEGRATED: Shared MITRE vocabulary, trust-floor coupling, closed-loop threat intel.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 --  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 Algorithm: Full Mathematical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(1954) -- sequential change-point detection applied to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STEP 1: BEHAVIORAL DRIFT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For each entity e at time window t: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drift(e, t) = 1 - cosine_sim(V(e,t), V(e,t-1))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V(e,t) = 1536-d composite behavioral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V(e,t-1) = previous window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Range: 0.0 (identical) to 2.0 (opposite)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Typical healthy entity: drift ~ 0.02-0.05 per window</a:t>
            </a: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Compromised entity: drift ~ 0.06-0.15 per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STEP 2: BASELINE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Rolling baseline over N=30 windows: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mu(e) = mean(drift(e, t-N .. t-1))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sigma(e) = stdev(drift(e, t-N .. 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captures the entity's NORMAL drift rate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 captures how much that rate naturally varies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mu=0.03, sigma=0.03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This entity normally drifts ~0.03/window +/- 0.03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STEP 3: CUSUM ACCUMULATION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Two parameters control sensitivity: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(slack) = 0.5 * sigma  (allowable noise)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(threshold) = 4 * sigma  (alarm level)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The CUSUM statistic:</a:t>
            </a:r>
          </a:p>
          <a:p>
            <a:pPr>
              <a:spcBef>
                <a:spcPts val="200"/>
              </a:spcBef>
              <a:defRPr sz="1200" b="1">
                <a:solidFill>
                  <a:srgbClr val="C0392B"/>
                </a:solidFill>
                <a:latin typeface="Calibri"/>
              </a:defRPr>
            </a:pPr>
            <a:r>
              <a:t>S(t) = max(0,  S(t-1) + drift(t) - mu - k)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 properties: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can only increase when drift &gt; mu + k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resets to 0 when drift returns to normal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ACCUMULATES excess drift over time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ALARM when S(t) &gt;=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STEP 4: WORKED EXAMPLE (VOLT TYPHOON)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Entity baseline: mu=0.03, sigma=0.03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APT drift per window = 0.06 (below threshold!)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Fixed threshold = 0.15 --&gt; NEVER fires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accumulation: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1: S = 0 + 0.06 - 0.03 - 0.015 = 0.015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2: S = 0.015 + 0.015 = 0.030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3: S = 0.030 + 0.015 = 0.045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4: S = 0.045 + 0.015 = 0.060</a:t>
            </a:r>
          </a:p>
          <a:p>
            <a:pPr>
              <a:spcBef>
                <a:spcPts val="400"/>
              </a:spcBef>
              <a:defRPr sz="900" b="0">
                <a:solidFill>
                  <a:srgbClr val="5A6878"/>
                </a:solidFill>
                <a:latin typeface="Calibri"/>
              </a:defRPr>
            </a:pPr>
            <a:r>
              <a:t>  ...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Window 8: S = 0.120 &gt;= h = 0.12  --&gt;  ALARM!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Dwell time: 5 YEARS (threshold) vs 8 HOURS (CUSUM)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(cont.)  --  CUSUM vs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CUSUM Beats Every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sequential detection methods for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486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THE CORE INSIGHT: Slow APTs produce drift that NEVER exceeds a fixed threshold in any single window. CUSUM detects these by accumulating small excesses over time -- the mathematical equivalent of "death by a thousand cuts."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103120"/>
            <a:ext cx="3749039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121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WEAKNESS / VERDICT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494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Fixed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drift(t) &gt;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Simple, low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94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Misses slow drift entirely. T=0.15: Volt Typhoon undetected for 5+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73552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73552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98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(drift(t)-mu)/sigma &gt;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Adapts to entity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9895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Still single-window. z=3: needs 3-sigma spike. Misses gradual shift.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78224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078224"/>
            <a:ext cx="73152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103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EWMA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Z(t) = lambda*drift(t) + (1-lambda)*Z(t-1)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Smooths noise, catches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036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Lambda tuning fragile. Decays old signal. No formal ARL guarantee.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82896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882896"/>
            <a:ext cx="73152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08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(Ours)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S(t) = max(0, S(t-1)+drift(t)-mu-k)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Accumulates excess. Resets on return.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0829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Optimal: minimizes detection delay for given false alarm rate (Lorden 1971).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064240" cy="731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91440" cy="7315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THEORETICAL GUARANTEE (Lorden 1971, Moustakides 1986)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is MINIMAX OPTIMAL: among all sequential tests with the same false-alarm rate (ARL0), CUSUM minimizes the worst-case detection delay. This is a proven mathematical result, not an empirical claim. No other method can detect faster without increasing false alarms.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 --  MITRE ATT&amp;CK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MITRE ATT&amp;CK Technique IDs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Industry-standard adversary behavior taxonomy maintained by MITRE Corporation (attack.mitre.org).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2103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1645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298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6217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2984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 &amp; 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671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Credential Dumping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671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713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passwords, hashes, tickets from OS. Includes LSASS, SAM, NTDS.dit, DCSync, Kerberoasting.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21992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31343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247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473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2473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Moving between systems via RDP, SMB/Windows Admin Shares, SSH, WinRM. Key Volt Typhoon technique.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88950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077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8234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Exfiltration Over 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823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82346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data through the existing command-and-control channel rather than a separate connection.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374136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65576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838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399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39953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39953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Running commands via PowerShell, cmd, wmic, VBScript. Core Living-off-the-Land technique.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5020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041648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3975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9756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Command &amp;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9756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communication over HTTP/S, DNS, or other standard protocols to blend with normal traffic.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26280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63600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55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Data Staged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551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551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Collecting and staging data in a central location before exfiltration. Key insider threat indicator.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10235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519379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2120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5127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1277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12775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Using stolen legitimate credentials. Passes every config-based check by design.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78424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" y="576986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7881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570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3320" y="5703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570382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Disabling or modifying security tools: AV exclusions, log clearing, agent tampering, firewall rules.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309360"/>
            <a:ext cx="11064240" cy="3657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6309360"/>
            <a:ext cx="91440" cy="36576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63276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ACECARD drift direction projects behavioral drift onto these exact technique embeddings. "Drifting toward T1021 at 0.82" = actionable, auditable, MITRE-mapped intelligence.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(cont.)  --  VOLT &amp; SALT TYPHOON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Complete MITRE ATT&amp;CK Mapping: Volt Typhoon (G1017) &amp; Salt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All techniques observed in CISA advisories AA24-038A and AA25-239A.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93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22860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289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280160"/>
            <a:ext cx="53035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289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80160"/>
            <a:ext cx="21945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289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8191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946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946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5946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Fortinet, Ivanti, Versa, PAN-OS CVEs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60934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8823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900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1900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900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VPN/SASE exploitation for initial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91566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9248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19456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2072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207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2072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Stolen credentials from ntdsutil / LSASS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221992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22311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50088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513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5135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PowerShell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2513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Encoded commands, download cradles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528316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5374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80720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199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28199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 (wmic)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28199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Remote execution via WMI for LoTL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83464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28437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11353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12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126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NTDS (ntdsutil)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3126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Domain controller NTDS.dit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14096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0" y="31501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419856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34325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4325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LSASS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34325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Credential harvesting from LSASS process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4728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3456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3726180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373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3738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SMB/Admin Shares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3738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Lateral via C$ and ADMIN$ shares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53612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37627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32504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0452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3080" y="40452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Desktop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40452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RDP lateral movement with stolen creds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4059936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18320" y="4069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338828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4351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T1071.001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43515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Protocols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80" y="4351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HTTPS C2, KV Botnet communication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36626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18320" y="43754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64515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6578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46578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9080" y="46578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Compromised SOHO routers as proxy infra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67258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0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495147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49641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T1136.001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3080" y="496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Local Account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9080" y="49641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Rogue admin accounts on Cisco IOS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4978908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20" y="49880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25780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8640" y="52705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3080" y="52705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52705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TACACS+ credential capture (TCP/49)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18320" y="5285232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183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56412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8640" y="5576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3080" y="5576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557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GRE tunnels between compromised routers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591556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18320" y="56007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587044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58831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8831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69080" y="58831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CDR/metadata exfiltration, CALEA access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5897880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18320" y="5907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617677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18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T1562.001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83080" y="6189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Disable Security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9080" y="6189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Log clearing, ACL modification for evasion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8320" y="6204204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418320" y="62133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Sources: MITRE ATT&amp;CK v15; CISA AA24-038A (Volt Typhoon); CISA AA25-239A (Salt Typhoon); Microsoft Threat Intelligence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 --  TECHNICAL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Technical Terms &amp; Metrics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Plain-language definitions for every technical term used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7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Cohort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9700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far one entity's drift is from its PEER GROUP average. If all 50 sysadmins drift ~0.03 and one drifts 0.14, z = (0.14 - 0.03) / 0.018 = 6.17. z &gt; 3 is extreme. This entity behaves radically differently from everyone with the same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38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(cosine distance)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38248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much an entity's behavioral embedding changed between two time windows. drift = 1 - cosine_similarity(V_now, V_previous). Range: 0.0 (identical) to 2.0 (opposite). Healthy: ~0.02-0.05. Compromised: ~0.06-0.15.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54096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79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(Cumulative Sum)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79496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Sequential change-point detection algorithm (Page, 1954). Accumulates small behavioral drifts over time. Catches slow APT campaigns that NEVER cross a fixed threshold in any single window. S(t) = max(0, S(t-1) + drift(t) - mu - k). Alarm when S(t) &gt;= 4*sigma.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20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(concept alignment)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20744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Cosine projection of the drift VECTOR onto 8 MITRE threat concept embeddings. Answers "WHAT is this entity becoming?" not just "something changed." Example: "drifting toward lateral_movement (T1021) at cosine 0.82."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36592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36592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61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1536-d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61992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 1,536-dimensional vector that captures the behavioral STATE of an entity. Generated by encoding behavioral metrics as natural language, then embedding via OpenAI text-embedding-3-small (or local SLM for IL6/JWICS). All entities live in the same vector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0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60324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Resolving 10+ identity system identifiers (AD, AAD, Okta, AWS, K8s, CrowdStrike, VPN, etc.) into a single entity_uuid. Without this, one attacker appears as 10 unrelated users.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(cont.)  --  SIGNAL METRICS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Behavioral Signal Metrics: What Each Number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raw metrics inside each of the 5 behavioral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28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PROCESS SIGNAL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819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946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946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Living-off-the-Land Binaries executed (wmic, certutil, ntdsutil, rundll32, mshta, etc.). These are legitimate Windows tools weaponized by attackers. 0 is normal for most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391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518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18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Shannon entropy of command-line arguments. Low (1.0-2.0) = readable commands like "dir C:\Users". High (3.0+) = Base64-encoded or obfuscated payloads. Volt Typhoon uses encoded PowerShell.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963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090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090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Depth of the process tree. Normal: explorer &gt; cmd &gt; dir (depth 2). Attack: winword &gt; cmd &gt; powershell &gt; wmic &gt; rundll32 &gt; cmd (depth 5+). Deep trees = chained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535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662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scripting_engine_calls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662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PowerShell, VBScript, WScript, cscript invocations per window. 0 is normal for non-admin users. 14 in one window = automated attack script running.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107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234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34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executed binaries without valid code signatures. High ratio = custom malware or tampered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41064"/>
            <a:ext cx="1106424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5376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 SIGNAL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28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555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555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Ratio of failed to total logon attempts. Sudden spike = brute force or credential stuffing.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00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27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127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logons outside normal working hours. Spike = compromised account used by attacker in different timezone.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572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1699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699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Logons from locations that are geographically impossible given time between events. NYC at 2:00 PM, Beijing at 2:15 PM = compromised credential.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144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271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6271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sessions bypassing MFA. Token theft or legacy auth exploitation.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44768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157468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NETWORK SIGNAL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446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592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4592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Regularity of outbound connections. C2 beacons call home at fixed intervals. Score 0.0=random, 1.0=perfectly periodic. KV Botnet and JumbledPath have scores &gt; 0.7.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9037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916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bytes_out_ratio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9164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Outbound vs inbound data ratio. Normal users download more than upload. Ratio inversion (upload &gt; download) = data exfiltration.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609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7373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73736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DNS queries per hour. Spike = DNS tunneling for C2 or exfiltration.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10885</Words>
  <Application>Microsoft Office PowerPoint</Application>
  <PresentationFormat>Widescreen</PresentationFormat>
  <Paragraphs>1375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2026-05-04T14:20:02Z</dcterms:modified>
  <cp:category/>
</cp:coreProperties>
</file>