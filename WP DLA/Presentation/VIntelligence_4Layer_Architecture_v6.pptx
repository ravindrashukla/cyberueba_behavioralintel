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25"/>
    <p:sldId id="275" r:id="rId26"/>
    <p:sldId id="276" r:id="rId27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EFC43-D407-4EEF-9E9C-DDE140E06B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60AA2-C8BE-47F1-9C37-EA632AE2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7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835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ravindra.shukla@tscti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Defense + Behavioral Intelligence + API Security + Code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dirty="0"/>
              <a:t>A Four-Layer Answer for Critical-Infrastructure Defense</a:t>
            </a:r>
            <a:endParaRPr lang="en-US" dirty="0"/>
          </a:p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lang="en-US" dirty="0">
                <a:solidFill>
                  <a:schemeClr val="bg2"/>
                </a:solidFill>
              </a:rPr>
              <a:t>22</a:t>
            </a:r>
            <a:r>
              <a:rPr lang="en-US" baseline="30000" dirty="0">
                <a:solidFill>
                  <a:schemeClr val="bg2"/>
                </a:solidFill>
              </a:rPr>
              <a:t>nd</a:t>
            </a:r>
            <a:r>
              <a:rPr lang="en-US" dirty="0">
                <a:solidFill>
                  <a:schemeClr val="bg2"/>
                </a:solidFill>
              </a:rPr>
              <a:t> Century Technologies Inc. </a:t>
            </a:r>
          </a:p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lang="en-US" dirty="0">
                <a:solidFill>
                  <a:schemeClr val="bg2"/>
                </a:solidFill>
              </a:rPr>
              <a:t>Ravindra Shukla – </a:t>
            </a:r>
            <a:r>
              <a:rPr lang="en-US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ravindra.shukla@tscti.com</a:t>
            </a:r>
            <a:r>
              <a:rPr lang="en-US" dirty="0">
                <a:solidFill>
                  <a:schemeClr val="bg2"/>
                </a:solidFill>
              </a:rPr>
              <a:t>, 703-679-0117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008BFA67-CE4A-1733-A96F-16AF7838E0EE}"/>
              </a:ext>
            </a:extLst>
          </p:cNvPr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FA85DD8B-9592-7114-6A81-42FA3DDFE04E}"/>
              </a:ext>
            </a:extLst>
          </p:cNvPr>
          <p:cNvSpPr/>
          <p:nvPr/>
        </p:nvSpPr>
        <p:spPr>
          <a:xfrm>
            <a:off x="457200" y="66751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dirty="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 API security guards applications. Mythos secures the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Four layers, one shared MITRE vocabulary. Preemptive closes the door. UEBA watches the room. API security guards applications. Mythos secures the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0600"/>
            <a:ext cx="534924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55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tos"/>
              </a:rPr>
              <a:t>LAYER 3 — API &amp; APPLICATION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48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Behavioral API discovery and protection. Stops bot attacks, business logic abuse, shadow API exposure. Governs AI agent-to-API traffic.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800600"/>
            <a:ext cx="5349240" cy="128016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800600"/>
            <a:ext cx="91440" cy="1280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855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1B9A"/>
                </a:solidFill>
                <a:latin typeface="Aptos"/>
              </a:rPr>
              <a:t>LAYER 4 — CODE &amp; 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48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Mythos (in development): 2,000+ zero-days in 7 weeks. 7-gate CI/CD pipeline — code, SAST, DAST, SCA, container, IaC, runtime. Vulnerable code cannot reach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3  —  APPLICATION / API / DATA /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API &amp; Application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Discover, protect, and govern every API — before attackers find what you don’t know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120640" cy="192024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573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Aptos"/>
              </a:rPr>
              <a:t>WHAT THE ADVERSARY EXPLOITS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Shadow and undocumented APIs expose unknown attack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Business logic abuse bypasses signature-based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Automated bot attacks — credential stuffing, scraping,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API-targeted data exfiltration and injection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Agentic AI workflows creating ungoverned API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1206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5E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689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5"/>
                </a:solidFill>
                <a:latin typeface="Aptos"/>
              </a:rPr>
              <a:t>ACTIVE DEVICES &amp;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API gateways and load balancers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Web application firewalls (WAF)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Application servers and microservices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Database and data-layer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orchestration (K8s)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Service mesh and east-west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188720"/>
            <a:ext cx="5897880" cy="3383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188720"/>
            <a:ext cx="91440" cy="3383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257300"/>
            <a:ext cx="562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Aptos"/>
              </a:rPr>
              <a:t>22CT 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4630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Behavioral API &amp; Application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828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Automated API discovery — finds shadow, zombie, and undocumented APIs across the 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057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Behavioral bot defense — distinguishes human, bot, and AI agent traffic without CAPTCHAs or friction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286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Business logic abuse detection — identifies application workflow manipulation that WAFs miss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5146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Runtime API protection — real-time threat detection at the API layer, not static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7432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Agentic AI gateway — security, governance, and control for AI agent-to-API interactions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971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Sensitive data exposure monitoring — flags PII and credential leakage in API responses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200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OWASP API Top 10 coverage — comprehensive protection against known API attack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29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Unified visibility — single pane across internal, external, and third-party API traffic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691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APIs are the fastest-growing attack surface in federal environments. Behavioral API protection discovers what you don’t know exists, stops what signatures miss, and governs what AI agents connect to — closing the gap between network defense and application reality.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4  —  CI/CD PIPELINE / SOFTWARE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Code &amp; Supply Chain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Find vulnerabilities before deployment — not after breach. Secure the code that builds the 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120640" cy="192024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573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Aptos"/>
              </a:rPr>
              <a:t>WHAT THE ADVERSARY EXPLOITS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Zero-day vulnerabilities in deployed code and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Compromised open-source packages (supply chain injection)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Vulnerable container images propagating across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Insecure IaC templates creating misconfigurations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Adversary-inserted backdoors in third-party libraries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1206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5E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689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5"/>
                </a:solidFill>
                <a:latin typeface="Aptos"/>
              </a:rPr>
              <a:t>ACTIVE DEVICES &amp;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Source code repositories (Git)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CI/CD build and deploy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Package registries and dependency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image registries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Infrastructure-as-Code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Runtime application environments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188720"/>
            <a:ext cx="5897880" cy="338328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188720"/>
            <a:ext cx="91440" cy="3383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257300"/>
            <a:ext cx="562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1B9A"/>
                </a:solidFill>
                <a:latin typeface="Aptos"/>
              </a:rPr>
              <a:t>22CT 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4630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Mythos + 7-Gate CI/CD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828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Mythos (in development) — 2,000+ zero-day vulnerabilities discovered in 7 weeks across production codebases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057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7-gate automated pipeline — code, SAST, DAST, SCA, container, IaC, and runtime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286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Every gate enforces pass/fail policy — vulnerable code cannot reach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5146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Supply chain dependency analysis — identifies compromised or abandoned packages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7432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image scanning — catches vulnerabilities before images enter the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971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IaC security validation — prevents misconfigurations from deploying as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200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Continuous runtime monitoring — detects drift between deployed code and approved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29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SBOM generation and tracking — complete software bill of materials for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691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Supply chain attacks (SolarWinds, Log4Shell, XZ Utils) prove that perimeter and behavioral defense alone are insufficient. Mythos + 7-gate CI/CD catches what enters the codebase — 2,000+ zero-days in 7 weeks — before it becomes a breach.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HOW THE LAYERS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From Perimeter to Code —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Each layer catches what the others miss. Together they cover the full attack lifecycle — from network edge to codebase.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2560320" cy="1554480"/>
          </a:xfrm>
          <a:prstGeom prst="roundRect">
            <a:avLst/>
          </a:prstGeom>
          <a:solidFill>
            <a:srgbClr val="F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560320" cy="45720"/>
          </a:xfrm>
          <a:prstGeom prst="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1348740"/>
            <a:ext cx="640080" cy="228600"/>
          </a:xfrm>
          <a:prstGeom prst="round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NETWORK
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26B1F"/>
                </a:solidFill>
                <a:latin typeface="Aptos"/>
              </a:rPr>
              <a:t>Preemptive
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Formal math proof.
Config drift &lt; 1 hr.
Multi-vendor.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280160"/>
            <a:ext cx="2560320" cy="1554480"/>
          </a:xfrm>
          <a:prstGeom prst="roundRect">
            <a:avLst/>
          </a:prstGeom>
          <a:solidFill>
            <a:srgbClr val="E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280160"/>
            <a:ext cx="256032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40" y="1348740"/>
            <a:ext cx="640080" cy="2286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BEHAVIORAL
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V-Intelligence
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Behavioral digital twin.
4/4 nation-state
attacks detected.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7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280160"/>
            <a:ext cx="2560320" cy="1554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280160"/>
            <a:ext cx="256032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1348740"/>
            <a:ext cx="64008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APPLICATION
API /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Aptos"/>
              </a:rPr>
              <a:t>Behavioral API
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Discover shadow APIs.
Stop bot attacks.
Govern AI agents.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280160"/>
            <a:ext cx="2560320" cy="155448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1280160"/>
            <a:ext cx="2560320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64040" y="1348740"/>
            <a:ext cx="640080" cy="228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CODE &amp; SUPPLY
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Aptos"/>
              </a:rPr>
              <a:t>Mythos + 7-Gate
CI/CD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Secure before deploy.
2,000+ zero-days
in 7 weeks.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Config Exploits
Misconfiguration, Shadow Rules, Drift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Insider &amp; APT
Salt Typhoon, Volt Typhoon, LoTL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API &amp; App Attacks
Bot Fraud, Logic Abuse, Data Exfil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Supply Chain Attacks
SolarWinds, Log4Shell, XZ Utils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20440"/>
            <a:ext cx="10789920" cy="3200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COUNTERING AI-ENABLED CYBER ATTACKS  —  Innovation at every layer fights AI with AI across the full attack surface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26B1F"/>
                </a:solidFill>
                <a:latin typeface="Aptos"/>
              </a:rPr>
              <a:t>Layer 1 proves: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config gap goes unproven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  <a:latin typeface="Aptos"/>
              </a:rPr>
              <a:t>Layer 2 proves: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behavior goes undetected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Aptos"/>
              </a:rPr>
              <a:t>Layer 3 proves: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API goes unprotected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  <a:latin typeface="Aptos"/>
              </a:rPr>
              <a:t>Layer 4 proves: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vulnerable code ships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Defense in depth: Layer 1 proves the perimeter. Layer 2 watches behavior. Layer 3 guards the applications. Layer 4 secures the code. Together — no gap for adversaries to exploit.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Preemptive Defense Closes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Prove every known attack path is blocked — before any traffic flows. Three intelligence pillars, one formal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606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6B1F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Ingests terabytes of CVE, CTI, IOC/IOA feeds and advisories. ML + NLP + LLMs build deep, MITRE ATT&amp;CK-enriched attack graphs of every campaign that matters — auto-updating on each new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2606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891B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symbolic model of computation of every firewall, IdP, IPS, SASE and WAF. Reasons exhaustively over the full configuration state space — no sampling. Pinpoints shadows, conflicts, weak rules and intent errors across vendors.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2606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guardrailed agentic-AI reasoner, grounded in each vendor's behavior, prescribes precise, risk-prioritized fixes — no new errors, no business disruption. Findings reviewed, then applied and continuously re-verified.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46304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WHY A MODEL — NOT A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multi-vendor firewall path spans an astronomically large configuration state space (≫2^8000). Sampling a billion paths per second for a year covers effectively 0%. A formal model instead PROVES, for every threat: does any rule combination allow this traffic? Complete coverage — no false positives, no false negatives.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telemetry  ·  No agents  ·  Config-only pull  ·  Time-to-value &lt; 2 weeks  ·  SaaS / on-prem / air-gapped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Gartner: 99% of firewall breaches are misconfiguration. Preemptive verification eliminates that surface mathematically.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Coverage, Proof, and Federal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formal model answers many questions — and finds what sampling tools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WHAT FORMAL VERIFICATION FINDS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SMB lateral-movement path shadowed by three interspersed rules — IPS / AntiVirus silently bypassed.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Two-vendor blind spot: PAN and Fortinet both allowed update traffic with no IPS inspection — an open RCE path.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Unsanctioned-app rule partially shadowed and built on an incomplete object — credential and IP exposure.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~25% of internet-facing rules carried weak or no threat inspection — proven reachable into trusted zones.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SMTP trusted→untrusted with no inspection profile — a NIST 800-53 SC-7 compliance gap, remediated same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ONE FORMAL MODEL → NINE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Security posture — segmentation &amp; inspection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External attack surface — ASM compliance, formally extended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3230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Change management — does the change meet its intent?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Configuration drift — vs. an approved golden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5409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Vendor migration — pre/post security posture equivalence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649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Business / regulatory / infosec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Complete preemptive defense — full TTP coverage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867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Third-party / supply-chain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Precision cyber insurance — exact risk, not heuristics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118872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9C0C8"/>
                </a:solidFill>
                <a:latin typeface="Calibri"/>
              </a:defRPr>
            </a:pPr>
            <a:r>
              <a:t>FEDERAL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Maps to NIST CSF pre-attack functions (Govern · Identify · Protect), supports CISA CDM continuous assurance, and enables Policy-as-Code. Gartner projects preemptive cyber rising from &lt;5% of security spend in 2024 to 50% by 2030.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Preemptive shrinks the attack surface to what is provably reachable. V-Intelligence then watches what remains.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Behavioral Meaning Beats Scalar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same number can mean two completely different things. Embeddings see the difference; counters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4160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160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TRADITIONAL TOOLS COUNT — THEY DO NOT COMPREHEND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Two users each touch 47 files this week. One reads their own team's documents; the other scans 12 departments at 2 a.m. A scalar feature sees the same number — 47. The attacker is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EVERY TRADITIONAL METHOD HAS A FATAL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misses slow drift within normal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high false positives in high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Local Outlier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69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sensitive to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Z-Score (|z|&gt;3)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only catches single-feature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Feature CUSUM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flags everyone; no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5349240" cy="4160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91440" cy="4160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V-INTELLIGENCE READS BEHAVIOR AS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47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1.  Serialize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39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Raw metrics become prose: "USR-042 accessed 47 restricted files across 12 departments, 68% outside normal hours."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79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2. 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Text → a 1,536-dimensional vector that captures behavioral semantics, not just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3.  Five behavioral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Identity · Access Pattern · Data Behavior · Network Footprint · Risk Posture.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4. 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Cosine distance between consecutive weekly embeddings = the direction of behavioral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Scalar features see the same number. Embeddings see different meaning — that is the whole difference between 0/4 and 4/4.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 (roadmap)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 (roadmap)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#24, Salt Typhoon #1 — all at 8.1%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Stealth Campaigns, Four Different Tells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 single method catches them all. Composite scoring catches each on the phase that exposes it — 250 entities,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14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Insider Threat · 8-month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Rank #2 /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Signal Strength 30 + Breadth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Strong, broad, sustained escalation across many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91440" cy="2514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Slow APT · 180-day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Rank #7 /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Novelty Persistence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Low magnitude, but novel C2 destinations recur week after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1371600"/>
            <a:ext cx="91440" cy="25146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Volt Typhoon LoTL · 115-day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2A"/>
                </a:solidFill>
                <a:latin typeface="Calibri"/>
              </a:defRPr>
            </a:pPr>
            <a:r>
              <a:t>Rank #24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Breadth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creates breadth, not magnitude.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91440" cy="2514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Salt Typhoon Telecom · 100-day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Rank #1 / 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Sustained 9.6 + Context 7.9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Sustained, broad deviation across many fronts — ranked #1 of 250.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486400" cy="1417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91440" cy="1417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7A44"/>
                </a:solidFill>
                <a:latin typeface="Calibri"/>
              </a:defRPr>
            </a:pPr>
            <a:r>
              <a:t>THE DISCRIMINATION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622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Normal users — average composite 6.6, max 21.5.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Attackers — lowest 13.7, average 32.7.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gap between the strongest normal user and the weakest attacker is clean separation no single method achieves.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69080"/>
            <a:ext cx="5577840" cy="1417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91440" cy="1417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TIME-TO-DETECT — INSIDER (USR-156)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6227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Isolation Forest / SVM / LOF / Z-Score:  NEVER ALERT.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V-Intelligence + composite:  flags in Week 8 — before data-access escalation.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Direction tracked: baseline → off-hours access → cross-dept scope creep → data staging + exfiltration.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4 / 4 detected at 8.1% false-positive — versus 0 / 4 traditional and 1 / 4 z-score. Earlier detection = smaller blast radius.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Four-Layer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8.1% FP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2806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Preemptive closes the door. V-Intelligence watches the room. Together: detect behavioral shifts hours before IOCs fire — explain what is happening, act proportionally.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DAC74-F1E6-52DF-0565-D2A059AA6D1D}"/>
              </a:ext>
            </a:extLst>
          </p:cNvPr>
          <p:cNvSpPr txBox="1"/>
          <p:nvPr/>
        </p:nvSpPr>
        <p:spPr>
          <a:xfrm>
            <a:off x="4039644" y="2624203"/>
            <a:ext cx="472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817741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four stealth attacks. Three tools, three verdicts.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Inside authorized access, the most dangerous threats never trip a threshold — so most tools miss them, or bury the signal in false alarms.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TRADITIONAL SIEM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point-anomaly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Isolation Forest / SVM / LOF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Scores each user vs a threshold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caught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INTERMEDIATE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statistical z-score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Flags the biggest outliers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1 of 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…and alarms on nearly everyone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no threat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V-INTELLIGENCE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behavioral entities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Cohort + drift + known-bad</a:t>
            </a:r>
            <a:endParaRPr lang="en-US" sz="1200" dirty="0"/>
          </a:p>
          <a:p>
            <a:r>
              <a:rPr sz="1200">
                <a:solidFill>
                  <a:srgbClr val="DCE6F4"/>
                </a:solidFill>
                <a:latin typeface="Aptos"/>
              </a:rPr>
              <a:t>fused into one ranked score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The tools most agencies run today see all four attackers as normal employees. V-Intelligence catches every one — and names why.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read as living behavioral entities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No new data. The identical security logs become connected, time-aware entities that reveal where a user is heading — not just what crossed a line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SAME 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Sign-in &amp; access 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Network &amp; endpoint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User &amp; device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same logs, in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Tracked over time (drift)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Compared to its cohort (peers)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Matched to known-bad profiles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Explained in plain language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18484"/>
                </a:solidFill>
                <a:latin typeface="Aptos"/>
              </a:rPr>
              <a:t>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ranked verdict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Behavioral risk score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+ named technique evidence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Calibrated, auditable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low-and-slow attacks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1D2430"/>
                </a:solidFill>
                <a:latin typeface="Aptos"/>
              </a:rPr>
              <a:t>Same data, a richer model — it captures what a user HAS done plus where they’re HEADING.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On any given day, the attacker looks normal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Two lenses read the same logs: raw numbers catch the noisy attack first; the AI “meaning” lens catches the subtle ones ~30 weeks sooner. The stealth APT hides from both on drift alone — which is why we fuse multiple fronts.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3</a:t>
            </a:r>
            <a:endParaRPr lang="en-US" sz="1000" dirty="0"/>
          </a:p>
        </p:txBody>
      </p:sp>
      <p:pic>
        <p:nvPicPr>
          <p:cNvPr id="26" name="Picture 25" descr="feature_cu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72768"/>
            <a:ext cx="5440680" cy="3400425"/>
          </a:xfrm>
          <a:prstGeom prst="rect">
            <a:avLst/>
          </a:prstGeom>
        </p:spPr>
      </p:pic>
      <p:pic>
        <p:nvPicPr>
          <p:cNvPr id="27" name="Picture 26" descr="embedding_cus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572768"/>
            <a:ext cx="5440680" cy="34004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50292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2A4C"/>
                </a:solidFill>
              </a:rPr>
              <a:t>First clear detection (★):   USR-118 wk 36   ·   USR-156 wk 4   ·   USR-042 wk 15   ·   USR-234 — caught by known-bad profile, not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132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Each lens has a blind spot. Running them together — plus the cohort and known-bad fronts — is what catches all four.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No normal user is extreme on every front at once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Each attacker pushes past the normal cluster on a different behavioral phase. That multi-phase extremity is the fingerprint a single threshold can’t see.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4</a:t>
            </a:r>
            <a:endParaRPr lang="en-US" sz="1000" dirty="0"/>
          </a:p>
        </p:txBody>
      </p:sp>
      <p:pic>
        <p:nvPicPr>
          <p:cNvPr id="26" name="Picture 25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754880" cy="41709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6002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D2430"/>
                </a:solidFill>
              </a:rPr>
              <a:t>Grey = normal users (median &amp; 75th percentile): a tight cluster near the center.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The five behavioral phases: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Signal Strength — how far behavior departs from peers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Breadth — how many behaviors shifted at once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Sustained Deviation — how long the shift persisted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Context Divergence — how unlike its role-group it became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Novelty Persistence — new connections (e.g., C2) that keep recurring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02A4C"/>
                </a:solidFill>
              </a:rPr>
              <a:t>USR-156 dominates Signal Strength &amp; Breadth; USR-234 spikes on Novelty Persistence (its C2 beacon). No normal user reaches these extremes on multiple phases at once.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Every attack caught — with the cost stated honestly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Fused into one score, all four campaigns rank above the line that catches all four. A complementary known-bad detector catches the same four at zero false positives.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5</a:t>
            </a:r>
            <a:endParaRPr lang="en-US" sz="1000" dirty="0"/>
          </a:p>
        </p:txBody>
      </p:sp>
      <p:pic>
        <p:nvPicPr>
          <p:cNvPr id="26" name="Picture 25" descr="composit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6126480" cy="3675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228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36C21"/>
                </a:solidFill>
              </a:rPr>
              <a:t>0 → 4 of 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430"/>
                </a:solidFill>
              </a:rPr>
              <a:t>stealth attacks caught that legacy scored as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Known-bad profile matching (roadmap, not in current build)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Composite ranking: 4 of 4 at ~8% false positives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Subtle attacks flagged up to ~30 weeks earlier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Every alert names the behavior that fired — auditable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What this enables for the mission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From a daily flood of alerts to one ranked, explainable verdict — on the logs you already collect.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6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16916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Triage by risk — one risk-ranked list of entities, not thousands of threshold alerts.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Explainable verdicts — every flag names the behavior, mapped to MITRE ATT&amp;CK.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Slow-and-low coverage — catches insiders and APTs that stay inside every threshold for months.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Deployable where you operate — containerized; runs on-premises or in an enclave.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36C21"/>
                </a:solidFill>
              </a:rPr>
              <a:t>Bottom line: catch what rules miss, before it becomes a breach — with evidence a SOC analyst and an auditor can both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3435</Words>
  <Application>Microsoft Office PowerPoint</Application>
  <PresentationFormat>Widescreen</PresentationFormat>
  <Paragraphs>314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Ravindra Kumar Shukla</dc:creator>
  <cp:keywords/>
  <dc:description>generated using python-pptx</dc:description>
  <cp:lastModifiedBy>Ravindra Shukla</cp:lastModifiedBy>
  <cp:revision>5</cp:revision>
  <cp:lastPrinted>2026-06-17T11:45:30Z</cp:lastPrinted>
  <dcterms:created xsi:type="dcterms:W3CDTF">2013-01-27T09:14:16Z</dcterms:created>
  <dcterms:modified xsi:type="dcterms:W3CDTF">2026-06-17T11:45:40Z</dcterms:modified>
  <cp:category/>
</cp:coreProperties>
</file>