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C27A07"/>
                </a:solidFill>
                <a:latin typeface="Segoe UI"/>
              </a:rPr>
              <a:t>V-INTELLIGENCE UEBA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Behavioral Entity Intelligence for Cyber Defense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C9D6E4"/>
                </a:solidFill>
                <a:latin typeface="Segoe UI"/>
              </a:rPr>
              <a:t>Catching the attacks that stay under the alarm: insiders, nation-state intrusions, and living-off-the-land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9FB3C8"/>
                </a:solidFill>
                <a:latin typeface="Segoe UI"/>
              </a:rPr>
              <a:t>Executive Overview   |   Business and Technical Briefing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THE PROBLEM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The attacks that matter most never trip an alarm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Volt Typhoon.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A state-sponsored campaign lived inside US critical-infrastructure networks for at least five years, undetected by any victim tool.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Salt Typhoon.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A second campaign sat inside major US telecom carriers for months, called the worst telecom hack in the nation's history.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Insiders.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Roughly one breach in five comes from inside, with a median time to discovery beyond 200 days.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The common thread.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Valid credentials, legitimate tools, and gradual change over months. Every single action looks authorized.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12064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066544"/>
            <a:ext cx="47183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Segoe UI"/>
              </a:rPr>
              <a:t>Found by outsiders, not by victims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In both Typhoon campaigns the victims' SIEM, antivirus, and endpoint tools stayed green. The intrusions were discovered by outside intelligence agencies, years and months too 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84048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840480"/>
            <a:ext cx="5120640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4078224"/>
            <a:ext cx="471830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This is a structural gap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It is not a missed patch or a tuning error. The tools were asking "does this match something known to be bad?" and these attackers are built to answer 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WHY TODAY'S TOOLS MISS THEM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Five blind spots in conventional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0824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Look for the known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Signatures match only catalogued threats. Living-off-the-land attacks bring no malware to fingerprint.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9976" y="1783080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783080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020824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Measure how much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Thresholds watch volume. An insider holds volume flat and shifts what they access instead.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783080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783080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20824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Watch one entity alone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A covert channel calling home on a steady rhythm is invisible to a tool that only counts traffic.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15383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Judge a single moment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Slow-and-low change is invisible in any one week and clear only across months.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3977639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3977639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4215383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Compare you to everyone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A developer judged against the whole company hides abuse that stands out only among developers.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3977639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3977639"/>
            <a:ext cx="341985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215383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Segoe UI"/>
              </a:rPr>
              <a:t>The trap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Loosen the tools and they bury analysts in false alarms. Tighten them and they miss the real attack.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A DIFFERENT WAY TO SEE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Measure direction, not just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350" b="1" i="0">
                <a:solidFill>
                  <a:srgbClr val="22282E"/>
                </a:solidFill>
                <a:latin typeface="Segoe UI"/>
              </a:rPr>
              <a:t>Behavior, not events. </a:t>
            </a:r>
            <a:r>
              <a:rPr sz="1350" b="0" i="0">
                <a:solidFill>
                  <a:srgbClr val="22282E"/>
                </a:solidFill>
                <a:latin typeface="Segoe UI"/>
              </a:rPr>
              <a:t>Each entity is a profile that evolves week to week, like a medical chart.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350" b="1" i="0">
                <a:solidFill>
                  <a:srgbClr val="22282E"/>
                </a:solidFill>
                <a:latin typeface="Segoe UI"/>
              </a:rPr>
              <a:t>Direction, not size. </a:t>
            </a:r>
            <a:r>
              <a:rPr sz="1350" b="0" i="0">
                <a:solidFill>
                  <a:srgbClr val="22282E"/>
                </a:solidFill>
                <a:latin typeface="Segoe UI"/>
              </a:rPr>
              <a:t>We track which way behavior is trending, not just how big it is.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350" b="1" i="0">
                <a:solidFill>
                  <a:srgbClr val="22282E"/>
                </a:solidFill>
                <a:latin typeface="Segoe UI"/>
              </a:rPr>
              <a:t>Peers, not the crowd. </a:t>
            </a:r>
            <a:r>
              <a:rPr sz="1350" b="0" i="0">
                <a:solidFill>
                  <a:srgbClr val="22282E"/>
                </a:solidFill>
                <a:latin typeface="Segoe UI"/>
              </a:rPr>
              <a:t>Each entity is judged against its true role-group.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350" b="1" i="0">
                <a:solidFill>
                  <a:srgbClr val="22282E"/>
                </a:solidFill>
                <a:latin typeface="Segoe UI"/>
              </a:rPr>
              <a:t>Explanation attached. </a:t>
            </a:r>
            <a:r>
              <a:rPr sz="1350" b="0" i="0">
                <a:solidFill>
                  <a:srgbClr val="22282E"/>
                </a:solidFill>
                <a:latin typeface="Segoe UI"/>
              </a:rPr>
              <a:t>Each finding names what changed and the attacker technique it resembles.</a:t>
            </a:r>
          </a:p>
        </p:txBody>
      </p:sp>
      <p:pic>
        <p:nvPicPr>
          <p:cNvPr id="6" name="Picture 5" descr="chart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783080"/>
            <a:ext cx="5897880" cy="2017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16636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C27A07"/>
                </a:solidFill>
                <a:latin typeface="Segoe UI"/>
              </a:rPr>
              <a:t>The insider example: </a:t>
            </a:r>
            <a:r>
              <a:rPr sz="1400" b="0" i="0">
                <a:solidFill>
                  <a:srgbClr val="22282E"/>
                </a:solidFill>
                <a:latin typeface="Segoe UI"/>
              </a:rPr>
              <a:t>file volume never changes, so every magnitude-based tool stays silent. What changes is the direction, the share of confidential material, which is exactly what behavioral intelligence watches.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HOW IT WORKS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One pipeline, two complementary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2240280" cy="1371600"/>
          </a:xfrm>
          <a:prstGeom prst="roundRect">
            <a:avLst/>
          </a:prstGeom>
          <a:solidFill>
            <a:srgbClr val="EAF2F1"/>
          </a:solidFill>
          <a:ln w="12700">
            <a:solidFill>
              <a:srgbClr val="EA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22282E"/>
                </a:solidFill>
                <a:latin typeface="Segoe UI"/>
              </a:rPr>
              <a:t>Five log sources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22282E"/>
                </a:solidFill>
                <a:latin typeface="Segoe UI"/>
              </a:rPr>
              <a:t>sign-in, file, endpoint,
network, DNS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52928" y="3310128"/>
            <a:ext cx="457200" cy="411480"/>
          </a:xfrm>
          <a:prstGeom prst="rightArrow">
            <a:avLst/>
          </a:prstGeom>
          <a:solidFill>
            <a:srgbClr val="B6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64992" y="2834640"/>
            <a:ext cx="2286000" cy="1371600"/>
          </a:xfrm>
          <a:prstGeom prst="roundRect">
            <a:avLst/>
          </a:prstGeom>
          <a:solidFill>
            <a:srgbClr val="EAF2F1"/>
          </a:solidFill>
          <a:ln w="12700">
            <a:solidFill>
              <a:srgbClr val="EA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22282E"/>
                </a:solidFill>
                <a:latin typeface="Segoe UI"/>
              </a:rPr>
              <a:t>Behavioral profile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22282E"/>
                </a:solidFill>
                <a:latin typeface="Segoe UI"/>
              </a:rPr>
              <a:t>per entity, five zones,
updated weekly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24144" y="3310128"/>
            <a:ext cx="457200" cy="411480"/>
          </a:xfrm>
          <a:prstGeom prst="rightArrow">
            <a:avLst/>
          </a:prstGeom>
          <a:solidFill>
            <a:srgbClr val="B6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1783080"/>
            <a:ext cx="2880360" cy="1371600"/>
          </a:xfrm>
          <a:prstGeom prst="roundRect">
            <a:avLst/>
          </a:prstGeom>
          <a:solidFill>
            <a:srgbClr val="0E6E6B"/>
          </a:solidFill>
          <a:ln w="12700">
            <a:solidFill>
              <a:srgbClr val="0E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Layer 1: Precision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Segoe UI"/>
              </a:rPr>
              <a:t>named fingerprints,
peer-relative, near-zero
false alarms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886200"/>
            <a:ext cx="2880360" cy="1371600"/>
          </a:xfrm>
          <a:prstGeom prst="roundRect">
            <a:avLst/>
          </a:prstGeom>
          <a:solidFill>
            <a:srgbClr val="C27A07"/>
          </a:solidFill>
          <a:ln w="12700">
            <a:solidFill>
              <a:srgbClr val="C27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Layer 2: Discovery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Segoe UI"/>
              </a:rPr>
              <a:t>drift and novelty, names
the direction of 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89720" y="3310128"/>
            <a:ext cx="457200" cy="411480"/>
          </a:xfrm>
          <a:prstGeom prst="rightArrow">
            <a:avLst/>
          </a:prstGeom>
          <a:solidFill>
            <a:srgbClr val="B6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0" y="2834640"/>
            <a:ext cx="2240280" cy="1371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Ranked, explained leads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Segoe UI"/>
              </a:rPr>
              <a:t>with a MITRE ATT&amp;CK
technique, into your SOC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2282E"/>
                </a:solidFill>
                <a:latin typeface="Segoe UI"/>
              </a:rPr>
              <a:t>Layer 1 catches what we can name and keeps false alarms low. Layer 2 is the safety net for novel attacks and explains the direction.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DRIFT IN ACTION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Behavioral drift pulls the attackers clear of normal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5</a:t>
            </a:r>
          </a:p>
        </p:txBody>
      </p:sp>
      <p:pic>
        <p:nvPicPr>
          <p:cNvPr id="5" name="Picture 4" descr="chart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7772400" cy="31326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49640" y="1783080"/>
            <a:ext cx="3154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49640" y="1783080"/>
            <a:ext cx="3154680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50808" y="2020824"/>
            <a:ext cx="2752344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What drift measures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How far an entity has moved from its own normal, accumulated week over week, so a long run of small changes eventually shows.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3794760"/>
            <a:ext cx="3154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3794760"/>
            <a:ext cx="3154680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808" y="4032504"/>
            <a:ext cx="2752344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No single net catches all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Three campaigns separate on drift at different times. The slow APT never does, and is caught by its beacon instead. Layers cover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WHAT WE TESTED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Four long-running campaigns, modeled on real intrusions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6</a:t>
            </a:r>
          </a:p>
        </p:txBody>
      </p:sp>
      <p:pic>
        <p:nvPicPr>
          <p:cNvPr id="5" name="Picture 4" descr="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10469880" cy="3030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8006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  Insider</a:t>
            </a:r>
          </a:p>
          <a:p>
            <a:r>
              <a:rPr sz="1150" b="0" i="0">
                <a:solidFill>
                  <a:srgbClr val="22282E"/>
                </a:solidFill>
                <a:latin typeface="Segoe UI"/>
              </a:rPr>
              <a:t>  drifts toward confidential files while volume stays flat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00600"/>
            <a:ext cx="109728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48006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E67E22"/>
                </a:solidFill>
                <a:latin typeface="Segoe UI"/>
              </a:rPr>
              <a:t>  Slow APT</a:t>
            </a:r>
          </a:p>
          <a:p>
            <a:r>
              <a:rPr sz="1150" b="0" i="0">
                <a:solidFill>
                  <a:srgbClr val="22282E"/>
                </a:solidFill>
                <a:latin typeface="Segoe UI"/>
              </a:rPr>
              <a:t>  implant calls home every few hours in tiny packets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2424" y="4800600"/>
            <a:ext cx="109728" cy="1234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8006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7D3C98"/>
                </a:solidFill>
                <a:latin typeface="Segoe UI"/>
              </a:rPr>
              <a:t>  Volt Typhoon</a:t>
            </a:r>
          </a:p>
          <a:p>
            <a:r>
              <a:rPr sz="1150" b="0" i="0">
                <a:solidFill>
                  <a:srgbClr val="22282E"/>
                </a:solidFill>
                <a:latin typeface="Segoe UI"/>
              </a:rPr>
              <a:t>  critical-infrastructure pre-positioning with built-in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4800600"/>
            <a:ext cx="109728" cy="1234440"/>
          </a:xfrm>
          <a:prstGeom prst="rect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48006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2471A3"/>
                </a:solidFill>
                <a:latin typeface="Segoe UI"/>
              </a:rPr>
              <a:t>  Salt Typhoon</a:t>
            </a:r>
          </a:p>
          <a:p>
            <a:r>
              <a:rPr sz="1150" b="0" i="0">
                <a:solidFill>
                  <a:srgbClr val="22282E"/>
                </a:solidFill>
                <a:latin typeface="Segoe UI"/>
              </a:rPr>
              <a:t>  telecom intrusion fanning out to map and intercept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7112" y="4800600"/>
            <a:ext cx="109728" cy="1234440"/>
          </a:xfrm>
          <a:prstGeom prst="rect">
            <a:avLst/>
          </a:prstGeom>
          <a:solidFill>
            <a:srgbClr val="247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THE PROOF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All four caught, with no false alarms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7</a:t>
            </a:r>
          </a:p>
        </p:txBody>
      </p:sp>
      <p:pic>
        <p:nvPicPr>
          <p:cNvPr id="5" name="Picture 4" descr="chart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680960" cy="2847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291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0E6E6B"/>
                </a:solidFill>
                <a:latin typeface="Segoe UI"/>
              </a:rPr>
              <a:t>4 of 4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22282E"/>
                </a:solidFill>
                <a:latin typeface="Segoe UI"/>
              </a:rPr>
              <a:t>campaigns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383280"/>
            <a:ext cx="3291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0E6E6B"/>
                </a:solidFill>
                <a:latin typeface="Segoe UI"/>
              </a:rPr>
              <a:t>0%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22282E"/>
                </a:solidFill>
                <a:latin typeface="Segoe UI"/>
              </a:rPr>
              <a:t>false alarms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3291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C0392B"/>
                </a:solidFill>
                <a:latin typeface="Segoe UI"/>
              </a:rPr>
              <a:t>1 of 4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22282E"/>
                </a:solidFill>
                <a:latin typeface="Segoe UI"/>
              </a:rPr>
              <a:t>best conventional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556068"/>
                </a:solidFill>
                <a:latin typeface="Segoe UI"/>
              </a:rPr>
              <a:t>250 users  |  485 days (70 weeks)  |  about 14 million events  |  5 log 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WHY THE DETECTIONS HOLD UP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Measurable evidence, not a black-box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8</a:t>
            </a:r>
          </a:p>
        </p:txBody>
      </p:sp>
      <p:pic>
        <p:nvPicPr>
          <p:cNvPr id="5" name="Picture 4" descr="chart_finger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632"/>
            <a:ext cx="6903720" cy="2361799"/>
          </a:xfrm>
          <a:prstGeom prst="rect">
            <a:avLst/>
          </a:prstGeom>
        </p:spPr>
      </p:pic>
      <p:pic>
        <p:nvPicPr>
          <p:cNvPr id="6" name="Picture 5" descr="chart_beacon_rhyth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26280"/>
            <a:ext cx="6903720" cy="16350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783080"/>
            <a:ext cx="4069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783080"/>
            <a:ext cx="4069080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2020824"/>
            <a:ext cx="3666744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Every alert answers three questions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What changed?
The specific behavior and zone.
Compared to whom?
The entity's true role-group peers.
What does it resemble?
A named attacker technique (MITRE ATT&amp;CK).
That is the difference between a score and a lead an analyst can act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WHAT WE PROVED, AND WHAT WE DID NOT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A direct read of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19856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66544"/>
            <a:ext cx="30175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The data is simulated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Results come from a synthetic enterprise calibrated to public advisories. Every figure, including zero false alarms, must be re-measured on real telemetry.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9976" y="182880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828800"/>
            <a:ext cx="3419856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066544"/>
            <a:ext cx="30175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Coverage has limits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The precision layer catches the patterns it is built to catch. The discovery layer is the net for novel attacks, and is noisier by 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82880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828800"/>
            <a:ext cx="3419856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66544"/>
            <a:ext cx="30175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The bar was set in a lab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Thresholds here were tuned knowing the answers. In production they must be set blind and tuned to each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2282E"/>
                </a:solidFill>
                <a:latin typeface="Segoe UI"/>
              </a:rPr>
              <a:t>None of this weakens the finding. The approach sees a class of attack today's tools demonstrably miss, with an explanation attached. That is the result worth validating.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THE PATH FORWARD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A low-risk pilot on your own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6692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It adds, it does not replace.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The behavioral layer runs alongside your existing stack, in advisory mode, with no automated blocking until results are validated.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It uses data you already collect.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Five standard log sources, no new sensors.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It fits your workflow.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Ranked, explained leads with a named technique, into your existing analyst process.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It proves itself on your environment.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Validated by replaying known-bad or historical incidents on your own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920240"/>
            <a:ext cx="5029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920240"/>
            <a:ext cx="5029200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8" y="2157984"/>
            <a:ext cx="462686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The pilot question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Does the behavioral layer surface real, explained threats your current stack misses, at a false-alarm rate your team can live with?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4572000"/>
            <a:ext cx="5029200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4736592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C27A07"/>
                </a:solidFill>
                <a:latin typeface="Segoe UI"/>
              </a:rPr>
              <a:t>Next step: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scope a bounded pilot on a representative slice of live telemetry.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