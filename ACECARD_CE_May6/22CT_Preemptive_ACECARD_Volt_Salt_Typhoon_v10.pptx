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96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26880" y="1097280"/>
            <a:ext cx="2560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 | 27001 | 28000</a:t>
            </a:r>
            <a:br/>
            <a:r>
              <a:t>20000 | 17025 | 14001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B7950B"/>
                </a:solidFill>
                <a:latin typeface="Georgia"/>
              </a:defRPr>
            </a:pPr>
            <a:r>
              <a:t>U.S. ARMY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37160"/>
            <a:ext cx="1554480" cy="1280160"/>
          </a:xfrm>
          <a:prstGeom prst="roundRect">
            <a:avLst/>
          </a:prstGeom>
          <a:solidFill>
            <a:srgbClr val="142434"/>
          </a:solidFill>
          <a:ln w="12700">
            <a:solidFill>
              <a:srgbClr val="B795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8600"/>
            <a:ext cx="1463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Georgia"/>
              </a:defRPr>
            </a:pPr>
            <a:r>
              <a:t>ArCTIC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59436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Georgia"/>
              </a:defRPr>
            </a:pPr>
            <a:r>
              <a:t>CFIC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ArCTIC / CFIC Collaboration Event  |  Behavioral Anomaly Detection (ACECARD)  |  06 MAY 2026  |  Augusta, 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Nation-state adversaries dwelling inside U.S. critical infrastructure — undetected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60020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no existing tool can detect: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10058400" cy="14630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97280" y="3200400"/>
            <a:ext cx="54864" cy="1463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291840"/>
            <a:ext cx="96012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MORNING BREAKOUT INSIGHT — LIMITING FACTORS: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Tools detect known-bad signatures →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Fixed thresholds →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Point-in-time testing → adversary is continuous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mathematically proves that all attack paths are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937760"/>
            <a:ext cx="10058400" cy="128016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4937760"/>
            <a:ext cx="54864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OUR SOLUTION — TWO LAYERS: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1.  Preemptive Verification — Formal Mathematical Model proves configs block all known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2.  Behavioral Intelligence (ACECARD) — Digital Twin of each entity; detects sub-threshold behavioral drift</a:t>
            </a:r>
          </a:p>
          <a:p>
            <a:pPr>
              <a:spcBef>
                <a:spcPts val="800"/>
              </a:spcBef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Together: 95–98%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Threat: Volt Typhoon &amp; Salt Typhoon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Two active PRC campaigns using techniques that bypass every existing security tool.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4846320" cy="25603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Pre-positioned in power, water, telecom, transportation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Living-off-the-Land: only legitimate admin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malware, no signatures, no IOCs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5+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Purpose: future disruption during Taiwan crisis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4846320" cy="25603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3891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9 major U.S. carriers. CALEA wiretap access.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Persistence IS the router configuration itself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Exploits Cisco IOS XE (CVE-2023-20198)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4+ year undetected dwell time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Steady CDR/metadata exfiltration over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206240"/>
            <a:ext cx="1005840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7280" y="4206240"/>
            <a:ext cx="54864" cy="2011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9601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WHY CURRENT DEFENSES CANNOT STOP THEM: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SIEM/EDR: detect known-bad signatures — these adversaries use only known-good tools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UEBA: fixed thresholds — LOTL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Pentest/Red Team: annual point-in-time sampling vs. continuous adversary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gaps never mathematically proven closed — pentests only sample attack paths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309360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Security Devices: What They Do vs. What They Miss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Each device solves one piece — no device verifies that ALL pieces work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21945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35331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25880"/>
            <a:ext cx="3291840" cy="347472"/>
          </a:xfrm>
          <a:prstGeom prst="round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0" y="1353312"/>
            <a:ext cx="3108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WHAT IT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25880"/>
            <a:ext cx="4572000" cy="34747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353312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71907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17556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Next-Gen 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556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Filters traffic by rules, app-aware policies, zones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5564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Rules only as good as config. No tool proves the ruleset covers all attack paths.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22199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22585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IDS / 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2585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Detects/blocks known attack signatures in traffic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5856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Signature-dependent. Volt Typhoon uses no malicious payloads — only legit admin commands.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2491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27614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NAC (802.1X)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7614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Controls which devices connect to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6148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Grants access, not intent. Lateral movement with valid credentials is invisible.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22783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34440" y="32644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32644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Protects web apps from injection, XSS, known exploits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26440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HTTP layer only. Cannot see infrastructure-layer LOTL or router config manipulation.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373075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34440" y="376732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DLP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76732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Detects sensitive data exfiltration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6732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Pattern-based. Slow exfil over months using normal-volume channels bypasses thresholds.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23367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34440" y="427024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PAM / IAM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27024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Manages privileged access, credential vaults, MFA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27024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Enforces policy — cannot detect stolen sessions used within authorized bounds.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3659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34440" y="477316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Email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77316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Blocks phishing, malware attachments, spoofing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77316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Volt/Salt don't rely on phishing — they exploit infrastructure directly.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239512"/>
            <a:ext cx="10058400" cy="484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34440" y="527608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27608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Monitors host processes, detects malicious behavior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27608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Can't deploy on routers/switches. LOTL uses only allowlisted binaries — nothing triggers.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742432"/>
            <a:ext cx="10058400" cy="4846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34440" y="5779008"/>
            <a:ext cx="201168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Vuln Scanner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779008"/>
            <a:ext cx="310896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2C3E50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5779008"/>
            <a:ext cx="438912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0392B"/>
                </a:solidFill>
                <a:latin typeface="Segoe UI"/>
              </a:defRPr>
            </a:pPr>
            <a:r>
              <a:t>Sees what EXISTS, not what is REACHABLE through config. Sampling, not proof.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6263640"/>
            <a:ext cx="1005840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627278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The gap is structural: no device validates total configuration across ALL devices blocks every attack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Solution: Two Layers of Defense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Preemptive eliminates 80% at the network layer. Behavioral catches 15-18% that passes 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210312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417320"/>
            <a:ext cx="228600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14356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80% STOPPED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2024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Formal Mathematical Model that reasons exhaustively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over your entire defensive configuration.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Ingests all threat intel continuously (MITRE attack graphs)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Proves whether ALL attack paths are blocked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Re-verifies hourly + on every config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What it stops: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CVE exploits: proves IPS/threat-feed blocks every exploit path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C2 traffic: 50M+ rule combinations verified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Config drift: unauthorized changes caught within 1 hour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 profiles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GUARANTEE: Zero FP. Zero FN. Mathematical certainty.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passes through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8595360" cy="21031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3794760"/>
            <a:ext cx="859536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103120" y="38404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 (ACECARD)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840480"/>
            <a:ext cx="201168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385876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343400"/>
            <a:ext cx="4114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Digital Twin of each entity instance with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time dimension — behavioral evolution captured.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43400"/>
            <a:ext cx="3840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What it catches: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(behaviorally abnormal)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LOTL: legit binaries in malicious combinations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Zero-day post-exploitation (drift with no signature)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Slow lateral movement (sub-threshold accumulation)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000" b="1">
                <a:solidFill>
                  <a:srgbClr val="0E6B8A"/>
                </a:solidFill>
                <a:latin typeface="Segoe UI"/>
              </a:defRPr>
            </a:pPr>
            <a:r>
              <a:t>DETECTS: what no threshold system can see.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606247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Combined: 95-98% coverage.  2-5% residual risk.  Dwell time: years →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Ingests CVE, advisories, CTI, IOCs, IOAs, PSIRTs continuously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by ML/NLP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 Volt/Salt Typhoon TTP coverage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CISA KEV, NVD, NSA,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Formal model of every defensive control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Every NGFW rule, ACL, IPS, identity policy modeled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Exhaustive reasoning over complete config state space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No sampling — mathematical certainty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+ E-W)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playbooks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(mathematically proven)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negatives (exhaustive reasoning)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90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+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Management Plane: Making All Devices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A new layer ABOVE all security devices — unified verification, gap detection, and remediation.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315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315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THE PROBLEM: Devices are powerful individually but do not coordinate. Gaps emerge BETWEEN devices —</a:t>
            </a:r>
          </a:p>
          <a:p>
            <a:pPr>
              <a:spcBef>
                <a:spcPts val="8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multi-rule, multi-device errors that no single-device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286000"/>
            <a:ext cx="10058400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6304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Pull configs</a:t>
            </a:r>
            <a:br/>
            <a:r>
              <a:t>from all devices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4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Build unified</a:t>
            </a:r>
            <a:br/>
            <a:r>
              <a:t>math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Find multi-device</a:t>
            </a:r>
            <a:br/>
            <a:r>
              <a:t>gaps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03920" y="2743200"/>
            <a:ext cx="2194560" cy="777240"/>
          </a:xfrm>
          <a:prstGeom prst="roundRect">
            <a:avLst/>
          </a:prstGeom>
          <a:solidFill>
            <a:srgbClr val="143D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2788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7950B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4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Push vendor-</a:t>
            </a:r>
            <a:br/>
            <a:r>
              <a:t>specific fixes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017520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370332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▼  Verified configs  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7280" y="3886200"/>
            <a:ext cx="10058400" cy="68580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28016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07792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35424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81144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08776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90688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36408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3931920"/>
            <a:ext cx="15087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64040" y="3959352"/>
            <a:ext cx="1417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4754880"/>
            <a:ext cx="10058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Production findings from Management Plane analysis: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292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097280" y="5029200"/>
            <a:ext cx="54864" cy="34747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371600" y="50749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074920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404104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97280" y="5404104"/>
            <a:ext cx="54864" cy="34747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71600" y="5449824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1840" y="5449824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100+ config errors across multi-vendor NGFW estate — invisible to single-device tools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5779008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97280" y="5779008"/>
            <a:ext cx="54864" cy="34747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24728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824728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on critical segments — no single tool could see it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97280" y="6153912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97280" y="6153912"/>
            <a:ext cx="54864" cy="3474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71600" y="61996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6199632"/>
            <a:ext cx="7680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lateral malware migration (SMBv1.0)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Preemptive eliminates config weakness. ACECARD catches behavioral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Exploits unpatched Fortinet/Ivanti/PAN edge devices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Maps every CVE to control. Proves IPS blocks exploit. Identifies compensating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Web shells. C2 via compromised SOHO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Threat-feed IPs denied. 50M+ rule combos verified. WAF upload inspection proven.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Real finding: 3 shadowed rules exposed SMB. Model closed path no scanner found.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Valid creds — every control says "approved"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Multi-signal: new source + off-hours + unusual targets. Structural shift triggers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ntdsutil + wmic + netsh — all legit binaries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Tool combination + sequence captured. Drift → "LOTL execution." Peer cohort: no match.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Moves 1-2 hosts/week — below every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Eventually crosses alarm boundary.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Network signal: new persistent outbound to unusual destination. Direction: "C2 beaconing."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Volt Typhoon (G1017): PRC state-sponsored. 5+ year dwell. LOTL. Critical infrastructure. Both layers needed.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Both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Preemptive verifies. ACECARD detects abuse.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43560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PREEMPTIVE LAYER — config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7830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Cisco IOS XE web UI (CVE-2023-20198). 1000+ devices.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783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Every exposed mgmt interface flagged. Proves ACL blocks /webui/. Compensating control for unpatched.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3317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80160" y="23774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Config Persistence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3774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Hourly drift comparison to approved AAA baseline. New account or ACL change = immediate finding.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2608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29718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GRE tunnels between routers for C2.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71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GRE peer authorization verified. Unauthorized tunnel endpoints flagged. Egress policy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3611880"/>
            <a:ext cx="100584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63016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ACECARD LAYER — behavioral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93192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39776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7764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 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977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timing. Multi-signal drift alarm.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45720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Modifies router ACLs — looks like routine maintenance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Identity + network signals: config change correlates with new outbound. Diverges from peer cohort.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12064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80160" y="51663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16636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 — normal for some operators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1663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This admin never creates tunnels; this device never had tunnel activity. Direction: "protocol tunneling."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715000"/>
            <a:ext cx="10058400" cy="54864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80160" y="57607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1B2A"/>
                </a:solidFill>
                <a:latin typeface="Segoe UI"/>
              </a:defRPr>
            </a:pPr>
            <a:r>
              <a:t>CDR exfil</a:t>
            </a:r>
            <a:br/>
            <a:r>
              <a:t>(T1041)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57607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760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has this trajectory.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621792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371600" y="623620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Salt Typhoon: 200+ telcos. 4+ year dwell. CALEA access. Config-resident. Both layers stop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73736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3000" y="186537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188366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865376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92807" y="188366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84708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31343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43000" y="24414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24597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44144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92807" y="24597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4231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Gap triggers trust floor reduction. Behavioral sensitivity auto-heightened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88950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3000" y="30175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0358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3017520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892807" y="30358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9992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6557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935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61288" y="36118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593592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92807" y="36118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5753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04164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3000" y="41696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61288" y="41879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1696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92807" y="41879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1513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61772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43000" y="47457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61288" y="47640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7457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92807" y="47640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7274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9379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143000" y="53218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1288" y="53400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321808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92807" y="53400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3035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85216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71600" y="587959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Result: 8-hour dwell (vs. 5+ years).  Preemptive found the gap.  ACECARD caught the exploitation.  Complete defense.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 Hyperscaler Platforms vs. What We Deliver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They provide runtime plumbing. We provide the detection intelligence agents need to act 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What hyperscalers shipped in 2026 — runtime &amp; orchestration: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1600200"/>
            <a:ext cx="3108960" cy="29260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Multi-agent + MicroVM isolation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600200"/>
            <a:ext cx="3108960" cy="2926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Security Copilot + Entra Agent IDs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600200"/>
            <a:ext cx="3108960" cy="1188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0" y="1600200"/>
            <a:ext cx="3108960" cy="29260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1627632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65960"/>
            <a:ext cx="2743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Model Armor + zero-trust per step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ADK multi-agent + SecOps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71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These platforms provide PLUMBING — not intelligence. What WE provide that NO platform ships: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3291840"/>
            <a:ext cx="10058400" cy="3200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0160" y="3319272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192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31927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22CT DELIVERS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365760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80160" y="37033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7033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7033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02336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406908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0690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406908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Change-point on Digital Twin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438912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443484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43484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43484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Drift direction classifier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75488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280160" y="480060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→ one entity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480060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80060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Cross-cloud entity fusion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" y="5120640"/>
            <a:ext cx="1005840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80160" y="516636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1663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516636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Automated closed-loop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486400"/>
            <a:ext cx="100584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0160" y="5532120"/>
            <a:ext cx="4023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Vendor-specific remediation with zero-FP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55321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5321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Prescriptive playbooks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Hyperscalers provide runtime. 22CT provides the domain intelligence that makes agents effective.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 &amp; Gabriel Nimbus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One codebase, multiple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</a:t>
            </a:r>
            <a:br/>
            <a:r>
              <a:t>IL5 / NIPR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AWS GovCloud / Azure Gov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Auto-updated threat intel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Fastest: days to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69748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</a:t>
            </a:r>
            <a:br/>
            <a:r>
              <a:t>IL6 / SIPR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On-site K8s cluster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8 vCPU / 32GB per node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6974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</a:t>
            </a:r>
            <a:br/>
            <a:r>
              <a:t>JWICS / TS-SCI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Local language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69748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69748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81160" y="14173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GABRIEL NIMBUS</a:t>
            </a:r>
            <a:br/>
            <a:r>
              <a:t>Cloud-Native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05740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Containerized microservices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37744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Platform-native stores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69748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Big data analytics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017520"/>
            <a:ext cx="2377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Scales with data volume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343400"/>
            <a:ext cx="1106424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4434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Shared across ALL deployment models: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  •  Helm charts  •  Istio zero-trust service mesh  •  Horizontal pod autoscaling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Same security posture regardless of environment  •  Switch via environment variable — no code forking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cATO pathway: security artifacts auto-generated  •  NIST 800-53 / SP 800-207 compliance built in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Gabriel Nimbus: containerized application designed for cloud-native big data platform. Integration: ingestion connectors,</a:t>
            </a:r>
          </a:p>
          <a:p>
            <a:pPr>
              <a:spcBef>
                <a:spcPts val="800"/>
              </a:spcBef>
              <a:defRPr sz="1100" b="0">
                <a:solidFill>
                  <a:srgbClr val="0E6B8A"/>
                </a:solidFill>
                <a:latin typeface="Segoe UI"/>
              </a:defRPr>
            </a:pPr>
            <a:r>
              <a:t>shared storage, platform IAM, analytics layer. Same Helm charts — deploys with environment configuration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Phases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Value within 90 days. Full capability within 9 months. Expanding coverage through 2027.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  <a:br/>
            <a:r>
              <a:t>0–90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K8s provisioning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Baseline config + model build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First preemptive findings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Entity fusion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First verified gap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79" y="1280160"/>
            <a:ext cx="35661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39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  <a:br/>
            <a:r>
              <a:t>90–180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39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Behavioral baselines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Continuous re-verification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ABAC trust scoring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19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39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two-layer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8" y="1280160"/>
            <a:ext cx="3566160" cy="23774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18" y="1280160"/>
            <a:ext cx="356616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83878" y="132588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  <a:br/>
            <a:r>
              <a:t>180–270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8" y="1828800"/>
            <a:ext cx="3291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endParaRPr/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Kill-chain reconstruction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Cohort tuning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Additional vendors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Compliance automation</a:t>
            </a:r>
          </a:p>
          <a:p>
            <a:pPr>
              <a:spcBef>
                <a:spcPts val="4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SOC handoff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8" y="3246120"/>
            <a:ext cx="3383280" cy="32004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3878" y="326440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→ Full capability + cATO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947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Product Roadmap: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11480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54864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1879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B4F72"/>
                </a:solidFill>
                <a:latin typeface="Segoe UI"/>
              </a:defRPr>
            </a:pPr>
            <a:r>
              <a:t>Q2 2026 — Current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062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PAN/Fortinet/Cisco/CP NGFW • N-S verification • UEBA core (5 signals) • Entity fusion • IL5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1772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617720"/>
            <a:ext cx="54864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6908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Q3 2026 — Next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7091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E-W micro-segmentation • SASE/SD-WAN • More identity sources • 140+ TTPs • IL6 certified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064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54864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193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7950B"/>
                </a:solidFill>
                <a:latin typeface="Segoe UI"/>
              </a:defRPr>
            </a:pPr>
            <a:r>
              <a:t>Q4 2026 — Planned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212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Cloud posture (AWS/Azure/GCP) • WAF/API gateway • Auto-remediation • Kill-chain • JWICS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23560"/>
            <a:ext cx="11064240" cy="457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48640" y="5623560"/>
            <a:ext cx="54864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60" y="56967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2027 —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57150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OT/ICS protocols • Autonomous threat hunting • Cross-org sharing • AI-verified remediation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Company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2560320"/>
          </a:xfrm>
          <a:prstGeom prst="rect">
            <a:avLst/>
          </a:prstGeom>
        </p:spPr>
      </p:pic>
      <p:pic>
        <p:nvPicPr>
          <p:cNvPr id="9" name="Picture 8" descr="slide4_Pictur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103120" cy="36576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0" y="3931920"/>
            <a:ext cx="2103120" cy="36576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3931920"/>
            <a:ext cx="2103120" cy="3657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74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0" y="3931920"/>
            <a:ext cx="21031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60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Cleared Cyber Analysts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3931920"/>
            <a:ext cx="210312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01200" y="3931920"/>
            <a:ext cx="2103120" cy="365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46920" y="402336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3891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0">
                <a:solidFill>
                  <a:srgbClr val="2C3E50"/>
                </a:solidFill>
                <a:latin typeface="Segoe UI"/>
              </a:defRPr>
            </a:pPr>
            <a:r>
              <a:t>Three Enclaves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Key Contracts: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FBI TSC — $56M  •  NAVAIR/USMC — $145M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14/15 Cabinet Agencies  •  300+ Federal  •  50+ Cyber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892040"/>
            <a:ext cx="548640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4937760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Compliance &amp; Certifications: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  •  NIST 800-53/207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cATO pathway  •  Iron Bank certified  •  eMASS/RMF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ISO 9001 | 27001 | 28000 | 20000 | 17025 | 14001</a:t>
            </a:r>
          </a:p>
          <a:p>
            <a:pPr>
              <a:spcBef>
                <a:spcPts val="300"/>
              </a:spcBef>
              <a:defRPr sz="900" b="0">
                <a:solidFill>
                  <a:srgbClr val="2C3E50"/>
                </a:solidFill>
                <a:latin typeface="Segoe UI"/>
              </a:defRPr>
            </a:pPr>
            <a:r>
              <a:t>•  GSA MAS | CIO-SP3 | SEWP V  •  CMMI Level 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6263640"/>
            <a:ext cx="11247120" cy="2286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6281928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 •  CRN Top 10 Cyber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2588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7280" y="1325880"/>
            <a:ext cx="73152" cy="7772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135331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0020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5623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130552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" y="2130552"/>
            <a:ext cx="73152" cy="7772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215798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04872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Living entity model that captures sub-threshold drift and maps direction to MITRE ATT&amp;CK.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60904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935224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97280" y="2935224"/>
            <a:ext cx="73152" cy="7772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296265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209544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Identity stitched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465576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739896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97280" y="3739896"/>
            <a:ext cx="73152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71600" y="3767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Management Plane: Multi-Device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014216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Reasons across ALL devices simultaneously. Finds multi-rule, multi-device gaps no single tool sees.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70248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firewall management platform (Panorama, FortiManager, SecureX)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544568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280" y="4544568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71600" y="457200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18888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Re-proves entire defense posture every hour AND on every config change. Pentests run annually.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349240"/>
            <a:ext cx="10058400" cy="7772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097280" y="5349240"/>
            <a:ext cx="73152" cy="777240"/>
          </a:xfrm>
          <a:prstGeom prst="rect">
            <a:avLst/>
          </a:prstGeom>
          <a:solidFill>
            <a:srgbClr val="4A2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371600" y="537667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A2C8A"/>
                </a:solidFill>
                <a:latin typeface="Segoe UI"/>
              </a:defRPr>
            </a:pPr>
            <a:r>
              <a:t>Hyperscaler Platforms Cannot Replace This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23560"/>
            <a:ext cx="9601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runtime. They do NOT ship detection intelligence or formal models.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879592"/>
            <a:ext cx="9601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17220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71600" y="619048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Not incremental improvement. A fundamentally new class of defense that does not exist elsewhere.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840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5196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74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•  Management Plane: cross-device gap analysis across your entire security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5943600"/>
            <a:ext cx="4114800" cy="127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Ravindra Shukla  |  Head of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8D0"/>
                </a:solidFill>
                <a:latin typeface="Segoe UI"/>
              </a:defRPr>
            </a:pPr>
            <a:r>
              <a:t>ravindra.shukla@tscti.com  |  703-679-0117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655624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  |  ravindra.shukla@tscti.com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</TotalTime>
  <Words>3964</Words>
  <Application>Microsoft Office PowerPoint</Application>
  <PresentationFormat>Widescreen</PresentationFormat>
  <Paragraphs>522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Ravindra Shukla</cp:lastModifiedBy>
  <cp:revision>2</cp:revision>
  <dcterms:created xsi:type="dcterms:W3CDTF">2013-01-27T09:14:16Z</dcterms:created>
  <dcterms:modified xsi:type="dcterms:W3CDTF">2026-05-06T03:08:47Z</dcterms:modified>
  <cp:category/>
</cp:coreProperties>
</file>