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75" r:id="rId26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E877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772400" y="0"/>
            <a:ext cx="4419295" cy="6858000"/>
          </a:xfrm>
          <a:prstGeom prst="rect">
            <a:avLst/>
          </a:prstGeom>
          <a:solidFill>
            <a:srgbClr val="0C20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371600"/>
            <a:ext cx="6766560" cy="1645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300" b="1" i="0">
                <a:solidFill>
                  <a:srgbClr val="102A4C"/>
                </a:solidFill>
                <a:latin typeface="Segoe UI"/>
              </a:rPr>
              <a:t>Behavioral UEBA for the Age of AI-Enabled Threats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063240"/>
            <a:ext cx="67665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0" i="0">
                <a:solidFill>
                  <a:srgbClr val="1F5E9C"/>
                </a:solidFill>
                <a:latin typeface="Segoe UI"/>
              </a:rPr>
              <a:t>Why detect-and-respond no longer defends critical infrastructure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3840480"/>
            <a:ext cx="2194560" cy="38100"/>
          </a:xfrm>
          <a:prstGeom prst="rect">
            <a:avLst/>
          </a:prstGeom>
          <a:solidFill>
            <a:srgbClr val="E877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5212080"/>
            <a:ext cx="67665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 i="1">
                <a:solidFill>
                  <a:srgbClr val="102A4C"/>
                </a:solidFill>
                <a:latin typeface="Segoe UI"/>
              </a:rPr>
              <a:t>V-Intelligence  |  22nd Century Technologies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669280"/>
            <a:ext cx="67665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 i="0">
                <a:solidFill>
                  <a:srgbClr val="5E6A75"/>
                </a:solidFill>
                <a:latin typeface="Segoe UI"/>
              </a:rPr>
              <a:t>Part 1: The Problem  -  why an advanced solution is needed</a:t>
            </a:r>
          </a:p>
        </p:txBody>
      </p:sp>
      <p:sp>
        <p:nvSpPr>
          <p:cNvPr id="10" name="Rectangle 9"/>
          <p:cNvSpPr/>
          <p:nvPr/>
        </p:nvSpPr>
        <p:spPr>
          <a:xfrm>
            <a:off x="8229600" y="2011680"/>
            <a:ext cx="3017520" cy="731520"/>
          </a:xfrm>
          <a:prstGeom prst="rect">
            <a:avLst/>
          </a:prstGeom>
          <a:solidFill>
            <a:srgbClr val="1F5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412480" y="2011680"/>
            <a:ext cx="26517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Segoe UI"/>
              </a:rPr>
              <a:t>Valid-account attacks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29600" y="2971800"/>
            <a:ext cx="3017520" cy="731520"/>
          </a:xfrm>
          <a:prstGeom prst="rect">
            <a:avLst/>
          </a:prstGeom>
          <a:solidFill>
            <a:srgbClr val="1184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12480" y="2971800"/>
            <a:ext cx="26517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Segoe UI"/>
              </a:rPr>
              <a:t>AI-speed adversaries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229600" y="3931920"/>
            <a:ext cx="3017520" cy="731520"/>
          </a:xfrm>
          <a:prstGeom prst="rect">
            <a:avLst/>
          </a:prstGeom>
          <a:solidFill>
            <a:srgbClr val="E877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412480" y="3931920"/>
            <a:ext cx="26517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Segoe UI"/>
              </a:rPr>
              <a:t>Alert-fatigued SOCs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0" y="6702552"/>
            <a:ext cx="12191695" cy="15240"/>
          </a:xfrm>
          <a:prstGeom prst="rect">
            <a:avLst/>
          </a:prstGeom>
          <a:solidFill>
            <a:srgbClr val="D8E0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7200" y="6455664"/>
            <a:ext cx="10058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0">
                <a:solidFill>
                  <a:srgbClr val="5E6A75"/>
                </a:solidFill>
                <a:latin typeface="Segoe UI"/>
              </a:rPr>
              <a:t>CONFIDENTIAL  |  22nd Century Technologies  |  V-Intelligence Behavioral UEBA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338560" y="6455664"/>
            <a:ext cx="6400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 i="0">
                <a:solidFill>
                  <a:srgbClr val="5E6A75"/>
                </a:solidFill>
                <a:latin typeface="Segoe UI"/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8900"/>
          </a:xfrm>
          <a:prstGeom prst="rect">
            <a:avLst/>
          </a:prstGeom>
          <a:solidFill>
            <a:srgbClr val="0624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56032"/>
            <a:ext cx="112471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300" b="1" i="0">
                <a:solidFill>
                  <a:srgbClr val="102A4C"/>
                </a:solidFill>
                <a:latin typeface="Segoe UI"/>
              </a:rPr>
              <a:t>The SOC Runs on SIEM and UEBA Today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96112"/>
            <a:ext cx="11247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 i="0">
                <a:solidFill>
                  <a:srgbClr val="5E6A75"/>
                </a:solidFill>
                <a:latin typeface="Segoe UI"/>
              </a:rPr>
              <a:t>Collect, correlate, alert, triage, respond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80160"/>
            <a:ext cx="2377440" cy="38100"/>
          </a:xfrm>
          <a:prstGeom prst="rect">
            <a:avLst/>
          </a:prstGeom>
          <a:solidFill>
            <a:srgbClr val="E877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828800"/>
            <a:ext cx="1755648" cy="1371600"/>
          </a:xfrm>
          <a:prstGeom prst="rect">
            <a:avLst/>
          </a:prstGeom>
          <a:solidFill>
            <a:srgbClr val="ECF4FC"/>
          </a:solidFill>
          <a:ln w="12700">
            <a:solidFill>
              <a:srgbClr val="1F5E9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30352" y="1965960"/>
            <a:ext cx="1609344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1" i="0">
                <a:solidFill>
                  <a:srgbClr val="102A4C"/>
                </a:solidFill>
                <a:latin typeface="Segoe UI"/>
              </a:rPr>
              <a:t>Collect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0352" y="2514600"/>
            <a:ext cx="1609344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0" i="0">
                <a:solidFill>
                  <a:srgbClr val="1D2430"/>
                </a:solidFill>
                <a:latin typeface="Segoe UI"/>
              </a:rPr>
              <a:t>logs from many sources</a:t>
            </a:r>
          </a:p>
        </p:txBody>
      </p:sp>
      <p:sp>
        <p:nvSpPr>
          <p:cNvPr id="9" name="Rectangle 8"/>
          <p:cNvSpPr/>
          <p:nvPr/>
        </p:nvSpPr>
        <p:spPr>
          <a:xfrm>
            <a:off x="2331719" y="1828800"/>
            <a:ext cx="1755648" cy="1371600"/>
          </a:xfrm>
          <a:prstGeom prst="rect">
            <a:avLst/>
          </a:prstGeom>
          <a:solidFill>
            <a:srgbClr val="ECF4FC"/>
          </a:solidFill>
          <a:ln w="12700">
            <a:solidFill>
              <a:srgbClr val="1F5E9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404871" y="1965960"/>
            <a:ext cx="1609344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1" i="0">
                <a:solidFill>
                  <a:srgbClr val="102A4C"/>
                </a:solidFill>
                <a:latin typeface="Segoe UI"/>
              </a:rPr>
              <a:t>Normalize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404871" y="2514600"/>
            <a:ext cx="1609344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0" i="0">
                <a:solidFill>
                  <a:srgbClr val="1D2430"/>
                </a:solidFill>
                <a:latin typeface="Segoe UI"/>
              </a:rPr>
              <a:t>parse and enrich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206238" y="1828800"/>
            <a:ext cx="1755648" cy="1371600"/>
          </a:xfrm>
          <a:prstGeom prst="rect">
            <a:avLst/>
          </a:prstGeom>
          <a:solidFill>
            <a:srgbClr val="ECF4FC"/>
          </a:solidFill>
          <a:ln w="12700">
            <a:solidFill>
              <a:srgbClr val="1F5E9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279390" y="1965960"/>
            <a:ext cx="1609344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1" i="0">
                <a:solidFill>
                  <a:srgbClr val="102A4C"/>
                </a:solidFill>
                <a:latin typeface="Segoe UI"/>
              </a:rPr>
              <a:t>Correlate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279390" y="2514600"/>
            <a:ext cx="1609344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0" i="0">
                <a:solidFill>
                  <a:srgbClr val="1D2430"/>
                </a:solidFill>
                <a:latin typeface="Segoe UI"/>
              </a:rPr>
              <a:t>rules + statistical baselines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080757" y="1828800"/>
            <a:ext cx="1755648" cy="1371600"/>
          </a:xfrm>
          <a:prstGeom prst="rect">
            <a:avLst/>
          </a:prstGeom>
          <a:solidFill>
            <a:srgbClr val="ECF4FC"/>
          </a:solidFill>
          <a:ln w="12700">
            <a:solidFill>
              <a:srgbClr val="1F5E9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153909" y="1965960"/>
            <a:ext cx="1609344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1" i="0">
                <a:solidFill>
                  <a:srgbClr val="102A4C"/>
                </a:solidFill>
                <a:latin typeface="Segoe UI"/>
              </a:rPr>
              <a:t>Alert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153909" y="2514600"/>
            <a:ext cx="1609344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0" i="0">
                <a:solidFill>
                  <a:srgbClr val="1D2430"/>
                </a:solidFill>
                <a:latin typeface="Segoe UI"/>
              </a:rPr>
              <a:t>threshold or rule fires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955276" y="1828800"/>
            <a:ext cx="1755648" cy="1371600"/>
          </a:xfrm>
          <a:prstGeom prst="rect">
            <a:avLst/>
          </a:prstGeom>
          <a:solidFill>
            <a:srgbClr val="ECF4FC"/>
          </a:solidFill>
          <a:ln w="12700">
            <a:solidFill>
              <a:srgbClr val="1F5E9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028428" y="1965960"/>
            <a:ext cx="1609344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1" i="0">
                <a:solidFill>
                  <a:srgbClr val="102A4C"/>
                </a:solidFill>
                <a:latin typeface="Segoe UI"/>
              </a:rPr>
              <a:t>Triage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028428" y="2514600"/>
            <a:ext cx="1609344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0" i="0">
                <a:solidFill>
                  <a:srgbClr val="1D2430"/>
                </a:solidFill>
                <a:latin typeface="Segoe UI"/>
              </a:rPr>
              <a:t>analyst investigates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829795" y="1828800"/>
            <a:ext cx="1755648" cy="1371600"/>
          </a:xfrm>
          <a:prstGeom prst="rect">
            <a:avLst/>
          </a:prstGeom>
          <a:solidFill>
            <a:srgbClr val="ECF4FC"/>
          </a:solidFill>
          <a:ln w="12700">
            <a:solidFill>
              <a:srgbClr val="1F5E9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902947" y="1965960"/>
            <a:ext cx="1609344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1" i="0">
                <a:solidFill>
                  <a:srgbClr val="102A4C"/>
                </a:solidFill>
                <a:latin typeface="Segoe UI"/>
              </a:rPr>
              <a:t>Respond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902947" y="2514600"/>
            <a:ext cx="1609344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0" i="0">
                <a:solidFill>
                  <a:srgbClr val="1D2430"/>
                </a:solidFill>
                <a:latin typeface="Segoe UI"/>
              </a:rPr>
              <a:t>contain and remediate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3657600"/>
            <a:ext cx="1097280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500" b="1">
                <a:solidFill>
                  <a:srgbClr val="102A4C"/>
                </a:solidFill>
                <a:latin typeface="Segoe UI"/>
              </a:rPr>
              <a:t>•  The model assumes the attack produces a signal that crosses a rule or a threshold.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1D2430"/>
                </a:solidFill>
                <a:latin typeface="Segoe UI"/>
              </a:rPr>
              <a:t>•  It assumes a known signature, or a deviation large enough to stand out from a baseline.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1D2430"/>
                </a:solidFill>
                <a:latin typeface="Segoe UI"/>
              </a:rPr>
              <a:t>•  And it assumes a human analyst has the time to triage what fires.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0" y="6702552"/>
            <a:ext cx="12191695" cy="15240"/>
          </a:xfrm>
          <a:prstGeom prst="rect">
            <a:avLst/>
          </a:prstGeom>
          <a:solidFill>
            <a:srgbClr val="D8E0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57200" y="6455664"/>
            <a:ext cx="10058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0">
                <a:solidFill>
                  <a:srgbClr val="5E6A75"/>
                </a:solidFill>
                <a:latin typeface="Segoe UI"/>
              </a:rPr>
              <a:t>CONFIDENTIAL  |  22nd Century Technologies  |  V-Intelligence Behavioral UEBA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338560" y="6455664"/>
            <a:ext cx="6400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 i="0">
                <a:solidFill>
                  <a:srgbClr val="5E6A75"/>
                </a:solidFill>
                <a:latin typeface="Segoe UI"/>
              </a:rPr>
              <a:t>3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8900"/>
          </a:xfrm>
          <a:prstGeom prst="rect">
            <a:avLst/>
          </a:prstGeom>
          <a:solidFill>
            <a:srgbClr val="0624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56032"/>
            <a:ext cx="112471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300" b="1" i="0">
                <a:solidFill>
                  <a:srgbClr val="102A4C"/>
                </a:solidFill>
                <a:latin typeface="Segoe UI"/>
              </a:rPr>
              <a:t>How Detection Works Today, and Where It Breaks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80160"/>
            <a:ext cx="2377440" cy="38100"/>
          </a:xfrm>
          <a:prstGeom prst="rect">
            <a:avLst/>
          </a:prstGeom>
          <a:solidFill>
            <a:srgbClr val="E877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48640" y="1554480"/>
            <a:ext cx="5394960" cy="4297680"/>
          </a:xfrm>
          <a:prstGeom prst="rect">
            <a:avLst/>
          </a:prstGeom>
          <a:solidFill>
            <a:srgbClr val="ECF4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1554480"/>
            <a:ext cx="5394960" cy="640080"/>
          </a:xfrm>
          <a:prstGeom prst="rect">
            <a:avLst/>
          </a:prstGeom>
          <a:solidFill>
            <a:srgbClr val="1F5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627632"/>
            <a:ext cx="502920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Segoe UI"/>
              </a:rPr>
              <a:t>How it works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377440"/>
            <a:ext cx="493776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400">
                <a:solidFill>
                  <a:srgbClr val="1D2430"/>
                </a:solidFill>
                <a:latin typeface="Segoe UI"/>
              </a:rPr>
              <a:t>•  Signature and correlation rules match known-bad patterns.</a:t>
            </a:r>
          </a:p>
          <a:p>
            <a:pPr>
              <a:spcAft>
                <a:spcPts val="1000"/>
              </a:spcAft>
            </a:pPr>
            <a:r>
              <a:rPr sz="1400">
                <a:solidFill>
                  <a:srgbClr val="1D2430"/>
                </a:solidFill>
                <a:latin typeface="Segoe UI"/>
              </a:rPr>
              <a:t>•  UEBA adds statistical baselines (peer and self) and risk scores.</a:t>
            </a:r>
          </a:p>
          <a:p>
            <a:pPr>
              <a:spcAft>
                <a:spcPts val="1000"/>
              </a:spcAft>
            </a:pPr>
            <a:r>
              <a:rPr sz="1400">
                <a:solidFill>
                  <a:srgbClr val="1D2430"/>
                </a:solidFill>
                <a:latin typeface="Segoe UI"/>
              </a:rPr>
              <a:t>•  Alerts are ranked by severity and pushed to the SOC queue.</a:t>
            </a:r>
          </a:p>
        </p:txBody>
      </p:sp>
      <p:sp>
        <p:nvSpPr>
          <p:cNvPr id="9" name="Rectangle 8"/>
          <p:cNvSpPr/>
          <p:nvPr/>
        </p:nvSpPr>
        <p:spPr>
          <a:xfrm>
            <a:off x="6217920" y="1554480"/>
            <a:ext cx="5394960" cy="4297680"/>
          </a:xfrm>
          <a:prstGeom prst="rect">
            <a:avLst/>
          </a:prstGeom>
          <a:solidFill>
            <a:srgbClr val="FFF5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217920" y="1554480"/>
            <a:ext cx="5394960" cy="640080"/>
          </a:xfrm>
          <a:prstGeom prst="rect">
            <a:avLst/>
          </a:prstGeom>
          <a:solidFill>
            <a:srgbClr val="E877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0" y="1627632"/>
            <a:ext cx="502920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Segoe UI"/>
              </a:rPr>
              <a:t>Where it breaks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46520" y="2377440"/>
            <a:ext cx="493776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400" b="1">
                <a:solidFill>
                  <a:srgbClr val="A61B1B"/>
                </a:solidFill>
                <a:latin typeface="Segoe UI"/>
              </a:rPr>
              <a:t>•  Magnitude, not meaning: 47 files is 47 files, intent is lost.</a:t>
            </a:r>
          </a:p>
          <a:p>
            <a:pPr>
              <a:spcAft>
                <a:spcPts val="900"/>
              </a:spcAft>
            </a:pPr>
            <a:r>
              <a:rPr sz="1400" b="1">
                <a:solidFill>
                  <a:srgbClr val="A61B1B"/>
                </a:solidFill>
                <a:latin typeface="Segoe UI"/>
              </a:rPr>
              <a:t>•  Thresholds miss slow, valid-account, living-off-the-land attacks that never spike.</a:t>
            </a:r>
          </a:p>
          <a:p>
            <a:pPr>
              <a:spcAft>
                <a:spcPts val="900"/>
              </a:spcAft>
            </a:pPr>
            <a:r>
              <a:rPr sz="1400">
                <a:solidFill>
                  <a:srgbClr val="1D2430"/>
                </a:solidFill>
                <a:latin typeface="Segoe UI"/>
              </a:rPr>
              <a:t>•  Per-source silos make one attacker look like ten users.</a:t>
            </a:r>
          </a:p>
          <a:p>
            <a:pPr>
              <a:spcAft>
                <a:spcPts val="900"/>
              </a:spcAft>
            </a:pPr>
            <a:r>
              <a:rPr sz="1400">
                <a:solidFill>
                  <a:srgbClr val="1D2430"/>
                </a:solidFill>
                <a:latin typeface="Segoe UI"/>
              </a:rPr>
              <a:t>•  Alert fatigue: analysts drown; real signal is buried in noise.</a:t>
            </a:r>
          </a:p>
          <a:p>
            <a:pPr>
              <a:spcAft>
                <a:spcPts val="900"/>
              </a:spcAft>
            </a:pPr>
            <a:r>
              <a:rPr sz="1400">
                <a:solidFill>
                  <a:srgbClr val="1D2430"/>
                </a:solidFill>
                <a:latin typeface="Segoe UI"/>
              </a:rPr>
              <a:t>•  Reactive: it detects after the fact, not before.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0" y="6702552"/>
            <a:ext cx="12191695" cy="15240"/>
          </a:xfrm>
          <a:prstGeom prst="rect">
            <a:avLst/>
          </a:prstGeom>
          <a:solidFill>
            <a:srgbClr val="D8E0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6455664"/>
            <a:ext cx="10058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0">
                <a:solidFill>
                  <a:srgbClr val="5E6A75"/>
                </a:solidFill>
                <a:latin typeface="Segoe UI"/>
              </a:rPr>
              <a:t>CONFIDENTIAL  |  22nd Century Technologies  |  V-Intelligence Behavioral UEBA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55664"/>
            <a:ext cx="6400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 i="0">
                <a:solidFill>
                  <a:srgbClr val="5E6A75"/>
                </a:solidFill>
                <a:latin typeface="Segoe UI"/>
              </a:rPr>
              <a:t>4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8900"/>
          </a:xfrm>
          <a:prstGeom prst="rect">
            <a:avLst/>
          </a:prstGeom>
          <a:solidFill>
            <a:srgbClr val="0624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56032"/>
            <a:ext cx="112471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300" b="1" i="0">
                <a:solidFill>
                  <a:srgbClr val="102A4C"/>
                </a:solidFill>
                <a:latin typeface="Segoe UI"/>
              </a:rPr>
              <a:t>The SIEM / UEBA Landscape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96112"/>
            <a:ext cx="11247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 i="0">
                <a:solidFill>
                  <a:srgbClr val="5E6A75"/>
                </a:solidFill>
                <a:latin typeface="Segoe UI"/>
              </a:rPr>
              <a:t>Mature tools, the same structural limits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80160"/>
            <a:ext cx="2377440" cy="38100"/>
          </a:xfrm>
          <a:prstGeom prst="rect">
            <a:avLst/>
          </a:prstGeom>
          <a:solidFill>
            <a:srgbClr val="E877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554480"/>
          <a:ext cx="11247120" cy="329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49040"/>
                <a:gridCol w="3749040"/>
                <a:gridCol w="3749040"/>
              </a:tblGrid>
              <a:tr h="470262">
                <a:tc>
                  <a:txBody>
                    <a:bodyPr/>
                    <a:lstStyle/>
                    <a:p>
                      <a:r>
                        <a:rPr sz="1200" b="1">
                          <a:latin typeface="Segoe UI"/>
                        </a:rPr>
                        <a:t>Tool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1">
                          <a:latin typeface="Segoe UI"/>
                        </a:rPr>
                        <a:t>Category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1">
                          <a:latin typeface="Segoe UI"/>
                        </a:rPr>
                        <a:t>What it does</a:t>
                      </a:r>
                    </a:p>
                  </a:txBody>
                  <a:tcPr/>
                </a:tc>
              </a:tr>
              <a:tr h="470262">
                <a:tc>
                  <a:txBody>
                    <a:bodyPr/>
                    <a:lstStyle/>
                    <a:p>
                      <a:r>
                        <a:rPr sz="1200">
                          <a:latin typeface="Segoe UI"/>
                        </a:rPr>
                        <a:t>Splunk Enterprise Security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Segoe UI"/>
                        </a:rPr>
                        <a:t>SIEM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Segoe UI"/>
                        </a:rPr>
                        <a:t>log search, correlation rules, dashboards</a:t>
                      </a:r>
                    </a:p>
                  </a:txBody>
                  <a:tcPr/>
                </a:tc>
              </a:tr>
              <a:tr h="470262">
                <a:tc>
                  <a:txBody>
                    <a:bodyPr/>
                    <a:lstStyle/>
                    <a:p>
                      <a:r>
                        <a:rPr sz="1200">
                          <a:latin typeface="Segoe UI"/>
                        </a:rPr>
                        <a:t>IBM QRadar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Segoe UI"/>
                        </a:rPr>
                        <a:t>SIEM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Segoe UI"/>
                        </a:rPr>
                        <a:t>flow + log correlation, offense scoring</a:t>
                      </a:r>
                    </a:p>
                  </a:txBody>
                  <a:tcPr/>
                </a:tc>
              </a:tr>
              <a:tr h="470262">
                <a:tc>
                  <a:txBody>
                    <a:bodyPr/>
                    <a:lstStyle/>
                    <a:p>
                      <a:r>
                        <a:rPr sz="1200">
                          <a:latin typeface="Segoe UI"/>
                        </a:rPr>
                        <a:t>Microsoft Sentinel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Segoe UI"/>
                        </a:rPr>
                        <a:t>Cloud SIEM + SOAR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Segoe UI"/>
                        </a:rPr>
                        <a:t>KQL analytics, automation, some UEBA</a:t>
                      </a:r>
                    </a:p>
                  </a:txBody>
                  <a:tcPr/>
                </a:tc>
              </a:tr>
              <a:tr h="470262">
                <a:tc>
                  <a:txBody>
                    <a:bodyPr/>
                    <a:lstStyle/>
                    <a:p>
                      <a:r>
                        <a:rPr sz="1200">
                          <a:latin typeface="Segoe UI"/>
                        </a:rPr>
                        <a:t>Exabeam / Securonix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Segoe UI"/>
                        </a:rPr>
                        <a:t>UEBA-led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Segoe UI"/>
                        </a:rPr>
                        <a:t>behavioral baselining, risk scoring</a:t>
                      </a:r>
                    </a:p>
                  </a:txBody>
                  <a:tcPr/>
                </a:tc>
              </a:tr>
              <a:tr h="470262">
                <a:tc>
                  <a:txBody>
                    <a:bodyPr/>
                    <a:lstStyle/>
                    <a:p>
                      <a:r>
                        <a:rPr sz="1200">
                          <a:latin typeface="Segoe UI"/>
                        </a:rPr>
                        <a:t>Elastic Security / Google SecOps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Segoe UI"/>
                        </a:rPr>
                        <a:t>SIEM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Segoe UI"/>
                        </a:rPr>
                        <a:t>search, detections, pipelines at scale</a:t>
                      </a:r>
                    </a:p>
                  </a:txBody>
                  <a:tcPr/>
                </a:tc>
              </a:tr>
              <a:tr h="470268">
                <a:tc>
                  <a:txBody>
                    <a:bodyPr/>
                    <a:lstStyle/>
                    <a:p>
                      <a:r>
                        <a:rPr sz="1200">
                          <a:latin typeface="Segoe UI"/>
                        </a:rPr>
                        <a:t>LogRhythm / Devo / Sumo Logic / Rapid7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Segoe UI"/>
                        </a:rPr>
                        <a:t>SIEM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Segoe UI"/>
                        </a:rPr>
                        <a:t>log analytics and detections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48640" y="5120640"/>
            <a:ext cx="109728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 i="0">
                <a:solidFill>
                  <a:srgbClr val="102A4C"/>
                </a:solidFill>
                <a:latin typeface="Segoe UI"/>
              </a:rPr>
              <a:t>All are excellent at collecting and searching logs and at matching known patterns. All share the same limit: they alert on magnitude and signatures, not on the meaning and direction of behavior, so the valid-account, slow, AI-speed adversary walks past.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702552"/>
            <a:ext cx="12191695" cy="15240"/>
          </a:xfrm>
          <a:prstGeom prst="rect">
            <a:avLst/>
          </a:prstGeom>
          <a:solidFill>
            <a:srgbClr val="D8E0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6455664"/>
            <a:ext cx="10058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0">
                <a:solidFill>
                  <a:srgbClr val="5E6A75"/>
                </a:solidFill>
                <a:latin typeface="Segoe UI"/>
              </a:rPr>
              <a:t>CONFIDENTIAL  |  22nd Century Technologies  |  V-Intelligence Behavioral UEBA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38560" y="6455664"/>
            <a:ext cx="6400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 i="0">
                <a:solidFill>
                  <a:srgbClr val="5E6A75"/>
                </a:solidFill>
                <a:latin typeface="Segoe UI"/>
              </a:rPr>
              <a:t>5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8900"/>
          </a:xfrm>
          <a:prstGeom prst="rect">
            <a:avLst/>
          </a:prstGeom>
          <a:solidFill>
            <a:srgbClr val="0624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56032"/>
            <a:ext cx="112471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300" b="1" i="0">
                <a:solidFill>
                  <a:srgbClr val="102A4C"/>
                </a:solidFill>
                <a:latin typeface="Segoe UI"/>
              </a:rPr>
              <a:t>The Inflection: AI-Enabled (Mythos-Level) Attackers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96112"/>
            <a:ext cx="11247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 i="0">
                <a:solidFill>
                  <a:srgbClr val="5E6A75"/>
                </a:solidFill>
                <a:latin typeface="Segoe UI"/>
              </a:rPr>
              <a:t>Adversaries now wield AI that finds and exploits vulnerabilities at machine speed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80160"/>
            <a:ext cx="2377440" cy="38100"/>
          </a:xfrm>
          <a:prstGeom prst="rect">
            <a:avLst/>
          </a:prstGeom>
          <a:solidFill>
            <a:srgbClr val="E877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55448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</a:pPr>
            <a:r>
              <a:rPr sz="1600" b="1">
                <a:solidFill>
                  <a:srgbClr val="102A4C"/>
                </a:solidFill>
                <a:latin typeface="Segoe UI"/>
              </a:rPr>
              <a:t>•  Offensive AI (Mythos-level) autonomously discovers vulnerabilities, chains low-severity weaknesses, and exploits them, faster than humans can respond.</a:t>
            </a:r>
          </a:p>
          <a:p>
            <a:pPr>
              <a:spcAft>
                <a:spcPts val="1300"/>
              </a:spcAft>
            </a:pPr>
            <a:r>
              <a:rPr sz="1600">
                <a:solidFill>
                  <a:srgbClr val="1D2430"/>
                </a:solidFill>
                <a:latin typeface="Segoe UI"/>
              </a:rPr>
              <a:t>•  In 2025, an AI-orchestrated espionage campaign (Anthropic GTG-1002) ran largely autonomously against roughly 30 targets at machine speed.</a:t>
            </a:r>
          </a:p>
          <a:p>
            <a:pPr>
              <a:spcAft>
                <a:spcPts val="1300"/>
              </a:spcAft>
            </a:pPr>
            <a:r>
              <a:rPr sz="1600">
                <a:solidFill>
                  <a:srgbClr val="1D2430"/>
                </a:solidFill>
                <a:latin typeface="Segoe UI"/>
              </a:rPr>
              <a:t>•  Threats now evolve faster than vulnerability disclosure and patch cycles; attackers exploit before a CVE or patch exists.</a:t>
            </a:r>
          </a:p>
          <a:p>
            <a:pPr>
              <a:spcAft>
                <a:spcPts val="1300"/>
              </a:spcAft>
            </a:pPr>
            <a:r>
              <a:rPr sz="1600" b="1">
                <a:solidFill>
                  <a:srgbClr val="A61B1B"/>
                </a:solidFill>
                <a:latin typeface="Segoe UI"/>
              </a:rPr>
              <a:t>•  By the time a detect-and-respond pipeline fires, the breach is already complete.</a:t>
            </a:r>
          </a:p>
          <a:p>
            <a:pPr>
              <a:spcAft>
                <a:spcPts val="1300"/>
              </a:spcAft>
            </a:pPr>
            <a:r>
              <a:rPr sz="1600" b="1">
                <a:solidFill>
                  <a:srgbClr val="A61B1B"/>
                </a:solidFill>
                <a:latin typeface="Segoe UI"/>
              </a:rPr>
              <a:t>•  Detect-and-respond, the model every SIEM is built on, cannot defend U.S. infrastructure against this.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702552"/>
            <a:ext cx="12191695" cy="15240"/>
          </a:xfrm>
          <a:prstGeom prst="rect">
            <a:avLst/>
          </a:prstGeom>
          <a:solidFill>
            <a:srgbClr val="D8E0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6455664"/>
            <a:ext cx="10058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0">
                <a:solidFill>
                  <a:srgbClr val="5E6A75"/>
                </a:solidFill>
                <a:latin typeface="Segoe UI"/>
              </a:rPr>
              <a:t>CONFIDENTIAL  |  22nd Century Technologies  |  V-Intelligence Behavioral UEBA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338560" y="6455664"/>
            <a:ext cx="6400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 i="0">
                <a:solidFill>
                  <a:srgbClr val="5E6A75"/>
                </a:solidFill>
                <a:latin typeface="Segoe UI"/>
              </a:rPr>
              <a:t>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8900"/>
          </a:xfrm>
          <a:prstGeom prst="rect">
            <a:avLst/>
          </a:prstGeom>
          <a:solidFill>
            <a:srgbClr val="0624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56032"/>
            <a:ext cx="112471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300" b="1" i="0">
                <a:solidFill>
                  <a:srgbClr val="102A4C"/>
                </a:solidFill>
                <a:latin typeface="Segoe UI"/>
              </a:rPr>
              <a:t>Mythos-Level Attacks Mean Operational Disruption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96112"/>
            <a:ext cx="11247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 i="0">
                <a:solidFill>
                  <a:srgbClr val="5E6A75"/>
                </a:solidFill>
                <a:latin typeface="Segoe UI"/>
              </a:rPr>
              <a:t>Not data loss alone: mission and infrastructure impact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80160"/>
            <a:ext cx="2377440" cy="38100"/>
          </a:xfrm>
          <a:prstGeom prst="rect">
            <a:avLst/>
          </a:prstGeom>
          <a:solidFill>
            <a:srgbClr val="E877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645920"/>
            <a:ext cx="2743200" cy="2926080"/>
          </a:xfrm>
          <a:prstGeom prst="rect">
            <a:avLst/>
          </a:prstGeom>
          <a:solidFill>
            <a:srgbClr val="ECF4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645920"/>
            <a:ext cx="2743200" cy="731520"/>
          </a:xfrm>
          <a:prstGeom prst="rect">
            <a:avLst/>
          </a:prstGeom>
          <a:solidFill>
            <a:srgbClr val="E877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1737360"/>
            <a:ext cx="246888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Segoe UI"/>
              </a:rPr>
              <a:t>Energy / Water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560320"/>
            <a:ext cx="2468880" cy="1828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 i="0">
                <a:solidFill>
                  <a:srgbClr val="1D2430"/>
                </a:solidFill>
                <a:latin typeface="Segoe UI"/>
              </a:rPr>
              <a:t>pre-positioned access enables disruption of power, water, and fuel on demand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64408" y="1645920"/>
            <a:ext cx="2743200" cy="2926080"/>
          </a:xfrm>
          <a:prstGeom prst="rect">
            <a:avLst/>
          </a:prstGeom>
          <a:solidFill>
            <a:srgbClr val="ECF4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264408" y="1645920"/>
            <a:ext cx="2743200" cy="731520"/>
          </a:xfrm>
          <a:prstGeom prst="rect">
            <a:avLst/>
          </a:prstGeom>
          <a:solidFill>
            <a:srgbClr val="1184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401568" y="1737360"/>
            <a:ext cx="246888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Segoe UI"/>
              </a:rPr>
              <a:t>Telecom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01568" y="2560320"/>
            <a:ext cx="2468880" cy="1828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 i="0">
                <a:solidFill>
                  <a:srgbClr val="1D2430"/>
                </a:solidFill>
                <a:latin typeface="Segoe UI"/>
              </a:rPr>
              <a:t>carrier-scale espionage and the ability to degrade communications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071616" y="1645920"/>
            <a:ext cx="2743200" cy="2926080"/>
          </a:xfrm>
          <a:prstGeom prst="rect">
            <a:avLst/>
          </a:prstGeom>
          <a:solidFill>
            <a:srgbClr val="ECF4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071616" y="1645920"/>
            <a:ext cx="2743200" cy="731520"/>
          </a:xfrm>
          <a:prstGeom prst="rect">
            <a:avLst/>
          </a:prstGeom>
          <a:solidFill>
            <a:srgbClr val="1F5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208776" y="1737360"/>
            <a:ext cx="246888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Segoe UI"/>
              </a:rPr>
              <a:t>Transport / Logistics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08776" y="2560320"/>
            <a:ext cx="2468880" cy="1828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 i="0">
                <a:solidFill>
                  <a:srgbClr val="1D2430"/>
                </a:solidFill>
                <a:latin typeface="Segoe UI"/>
              </a:rPr>
              <a:t>route, depot, and fulfillment disruption that stalls mobilization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878824" y="1645920"/>
            <a:ext cx="2743200" cy="2926080"/>
          </a:xfrm>
          <a:prstGeom prst="rect">
            <a:avLst/>
          </a:prstGeom>
          <a:solidFill>
            <a:srgbClr val="ECF4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878824" y="1645920"/>
            <a:ext cx="2743200" cy="731520"/>
          </a:xfrm>
          <a:prstGeom prst="rect">
            <a:avLst/>
          </a:prstGeom>
          <a:solidFill>
            <a:srgbClr val="102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015984" y="1737360"/>
            <a:ext cx="246888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Segoe UI"/>
              </a:rPr>
              <a:t>Defense / Mission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015984" y="2560320"/>
            <a:ext cx="2468880" cy="1828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 i="0">
                <a:solidFill>
                  <a:srgbClr val="1D2430"/>
                </a:solidFill>
                <a:latin typeface="Segoe UI"/>
              </a:rPr>
              <a:t>loss of decision time and readiness when it is needed most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4937760"/>
            <a:ext cx="109728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 i="0">
                <a:solidFill>
                  <a:srgbClr val="102A4C"/>
                </a:solidFill>
                <a:latin typeface="Segoe UI"/>
              </a:rPr>
              <a:t>Adversaries pre-position quietly, on valid credentials, to disrupt critical infrastructure at the moment of their choosing. The cost of a missed warning is operational, not just informational.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0" y="6702552"/>
            <a:ext cx="12191695" cy="15240"/>
          </a:xfrm>
          <a:prstGeom prst="rect">
            <a:avLst/>
          </a:prstGeom>
          <a:solidFill>
            <a:srgbClr val="D8E0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57200" y="6455664"/>
            <a:ext cx="10058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0">
                <a:solidFill>
                  <a:srgbClr val="5E6A75"/>
                </a:solidFill>
                <a:latin typeface="Segoe UI"/>
              </a:rPr>
              <a:t>CONFIDENTIAL  |  22nd Century Technologies  |  V-Intelligence Behavioral UEBA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338560" y="6455664"/>
            <a:ext cx="6400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 i="0">
                <a:solidFill>
                  <a:srgbClr val="5E6A75"/>
                </a:solidFill>
                <a:latin typeface="Segoe UI"/>
              </a:rPr>
              <a:t>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8900"/>
          </a:xfrm>
          <a:prstGeom prst="rect">
            <a:avLst/>
          </a:prstGeom>
          <a:solidFill>
            <a:srgbClr val="0624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56032"/>
            <a:ext cx="112471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300" b="1" i="0">
                <a:solidFill>
                  <a:srgbClr val="102A4C"/>
                </a:solidFill>
                <a:latin typeface="Segoe UI"/>
              </a:rPr>
              <a:t>Recent Attacks Current Tools Could Not Stop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80160"/>
            <a:ext cx="2377440" cy="38100"/>
          </a:xfrm>
          <a:prstGeom prst="rect">
            <a:avLst/>
          </a:prstGeom>
          <a:solidFill>
            <a:srgbClr val="E877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463040"/>
          <a:ext cx="11247120" cy="402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49040"/>
                <a:gridCol w="3749040"/>
                <a:gridCol w="3749040"/>
              </a:tblGrid>
              <a:tr h="574765">
                <a:tc>
                  <a:txBody>
                    <a:bodyPr/>
                    <a:lstStyle/>
                    <a:p>
                      <a:r>
                        <a:rPr sz="1100" b="1">
                          <a:latin typeface="Segoe UI"/>
                        </a:rPr>
                        <a:t>Campaign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1">
                          <a:latin typeface="Segoe UI"/>
                        </a:rPr>
                        <a:t>What it was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1">
                          <a:latin typeface="Segoe UI"/>
                        </a:rPr>
                        <a:t>Why current tools missed it</a:t>
                      </a:r>
                    </a:p>
                  </a:txBody>
                  <a:tcPr/>
                </a:tc>
              </a:tr>
              <a:tr h="574765">
                <a:tc>
                  <a:txBody>
                    <a:bodyPr/>
                    <a:lstStyle/>
                    <a:p>
                      <a:r>
                        <a:rPr sz="1100">
                          <a:latin typeface="Segoe UI"/>
                        </a:rPr>
                        <a:t>Volt Typhoon (2023-24)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latin typeface="Segoe UI"/>
                        </a:rPr>
                        <a:t>living-off-the-land pre-positioning in U.S. critical infrastructure, 5+ year dwell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latin typeface="Segoe UI"/>
                        </a:rPr>
                        <a:t>valid accounts, no malware, no signature, sub-threshold</a:t>
                      </a:r>
                    </a:p>
                  </a:txBody>
                  <a:tcPr/>
                </a:tc>
              </a:tr>
              <a:tr h="574765">
                <a:tc>
                  <a:txBody>
                    <a:bodyPr/>
                    <a:lstStyle/>
                    <a:p>
                      <a:r>
                        <a:rPr sz="1100">
                          <a:latin typeface="Segoe UI"/>
                        </a:rPr>
                        <a:t>Salt Typhoon (2024-25)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latin typeface="Segoe UI"/>
                        </a:rPr>
                        <a:t>telecom espionage at carrier scale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latin typeface="Segoe UI"/>
                        </a:rPr>
                        <a:t>slow, valid-account, below every alert</a:t>
                      </a:r>
                    </a:p>
                  </a:txBody>
                  <a:tcPr/>
                </a:tc>
              </a:tr>
              <a:tr h="574765">
                <a:tc>
                  <a:txBody>
                    <a:bodyPr/>
                    <a:lstStyle/>
                    <a:p>
                      <a:r>
                        <a:rPr sz="1100">
                          <a:latin typeface="Segoe UI"/>
                        </a:rPr>
                        <a:t>SolarWinds (2020)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latin typeface="Segoe UI"/>
                        </a:rPr>
                        <a:t>trojanized signed update pushed to ~18,000 organizations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latin typeface="Segoe UI"/>
                        </a:rPr>
                        <a:t>trusted, signed update, no anomaly to flag</a:t>
                      </a:r>
                    </a:p>
                  </a:txBody>
                  <a:tcPr/>
                </a:tc>
              </a:tr>
              <a:tr h="574765">
                <a:tc>
                  <a:txBody>
                    <a:bodyPr/>
                    <a:lstStyle/>
                    <a:p>
                      <a:r>
                        <a:rPr sz="1100">
                          <a:latin typeface="Segoe UI"/>
                        </a:rPr>
                        <a:t>MOVEit (2023)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latin typeface="Segoe UI"/>
                        </a:rPr>
                        <a:t>mass zero-day exploitation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latin typeface="Segoe UI"/>
                        </a:rPr>
                        <a:t>no CVE or signature at time of exploit</a:t>
                      </a:r>
                    </a:p>
                  </a:txBody>
                  <a:tcPr/>
                </a:tc>
              </a:tr>
              <a:tr h="574765">
                <a:tc>
                  <a:txBody>
                    <a:bodyPr/>
                    <a:lstStyle/>
                    <a:p>
                      <a:r>
                        <a:rPr sz="1100">
                          <a:latin typeface="Segoe UI"/>
                        </a:rPr>
                        <a:t>XZ Utils (2024)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latin typeface="Segoe UI"/>
                        </a:rPr>
                        <a:t>multi-year supply-chain backdoor in a core library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latin typeface="Segoe UI"/>
                        </a:rPr>
                        <a:t>trusted dependency, no known-bad version</a:t>
                      </a:r>
                    </a:p>
                  </a:txBody>
                  <a:tcPr/>
                </a:tc>
              </a:tr>
              <a:tr h="574770">
                <a:tc>
                  <a:txBody>
                    <a:bodyPr/>
                    <a:lstStyle/>
                    <a:p>
                      <a:r>
                        <a:rPr sz="1100">
                          <a:latin typeface="Segoe UI"/>
                        </a:rPr>
                        <a:t>Colonial Pipeline (2021)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latin typeface="Segoe UI"/>
                        </a:rPr>
                        <a:t>ransomware, fuel-supply disruption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latin typeface="Segoe UI"/>
                        </a:rPr>
                        <a:t>credential access, detected too late to prevent impact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48640" y="5669280"/>
            <a:ext cx="109728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 i="0">
                <a:solidFill>
                  <a:srgbClr val="A61B1B"/>
                </a:solidFill>
                <a:latin typeface="Segoe UI"/>
              </a:rPr>
              <a:t>The common thread: valid credentials, no signature, no spike, or a trusted path. Magnitude-and-signature detection had nothing to fire on.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702552"/>
            <a:ext cx="12191695" cy="15240"/>
          </a:xfrm>
          <a:prstGeom prst="rect">
            <a:avLst/>
          </a:prstGeom>
          <a:solidFill>
            <a:srgbClr val="D8E0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6455664"/>
            <a:ext cx="10058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0">
                <a:solidFill>
                  <a:srgbClr val="5E6A75"/>
                </a:solidFill>
                <a:latin typeface="Segoe UI"/>
              </a:rPr>
              <a:t>CONFIDENTIAL  |  22nd Century Technologies  |  V-Intelligence Behavioral UEBA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338560" y="6455664"/>
            <a:ext cx="6400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 i="0">
                <a:solidFill>
                  <a:srgbClr val="5E6A75"/>
                </a:solidFill>
                <a:latin typeface="Segoe UI"/>
              </a:rPr>
              <a:t>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20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286000"/>
            <a:ext cx="12191695" cy="38100"/>
          </a:xfrm>
          <a:prstGeom prst="rect">
            <a:avLst/>
          </a:prstGeom>
          <a:solidFill>
            <a:srgbClr val="E877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097280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 i="0">
                <a:solidFill>
                  <a:srgbClr val="E87722"/>
                </a:solidFill>
                <a:latin typeface="Segoe UI"/>
              </a:rPr>
              <a:t>WHY WE NEED AN ADVANCED SOLUTION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560320"/>
            <a:ext cx="1069848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1700">
                <a:solidFill>
                  <a:srgbClr val="FFFFFF"/>
                </a:solidFill>
                <a:latin typeface="Segoe UI"/>
              </a:rPr>
              <a:t>•  Current SIEM and UEBA detect magnitude and signatures; they miss meaning and direction.</a:t>
            </a:r>
          </a:p>
          <a:p>
            <a:pPr>
              <a:spcAft>
                <a:spcPts val="1400"/>
              </a:spcAft>
            </a:pPr>
            <a:r>
              <a:rPr sz="1700">
                <a:solidFill>
                  <a:srgbClr val="FFFFFF"/>
                </a:solidFill>
                <a:latin typeface="Segoe UI"/>
              </a:rPr>
              <a:t>•  They cannot catch valid-account, living-off-the-land attacks that cross no threshold.</a:t>
            </a:r>
          </a:p>
          <a:p>
            <a:pPr>
              <a:spcAft>
                <a:spcPts val="1400"/>
              </a:spcAft>
            </a:pPr>
            <a:r>
              <a:rPr sz="1700">
                <a:solidFill>
                  <a:srgbClr val="FFFFFF"/>
                </a:solidFill>
                <a:latin typeface="Segoe UI"/>
              </a:rPr>
              <a:t>•  They are reactive, and AI-speed adversaries are gone before detect-and-respond fires.</a:t>
            </a:r>
          </a:p>
          <a:p>
            <a:pPr>
              <a:spcAft>
                <a:spcPts val="1400"/>
              </a:spcAft>
            </a:pPr>
            <a:r>
              <a:rPr sz="1700">
                <a:solidFill>
                  <a:srgbClr val="FFFFFF"/>
                </a:solidFill>
                <a:latin typeface="Segoe UI"/>
              </a:rPr>
              <a:t>•  And they overwhelm the SOC with alerts instead of giving analysts a ranked, explainable verdict.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669280"/>
            <a:ext cx="106984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 i="0">
                <a:solidFill>
                  <a:srgbClr val="E87722"/>
                </a:solidFill>
                <a:latin typeface="Segoe UI"/>
              </a:rPr>
              <a:t>We need behavior read as meaning, detection that is preemptive and precise, and a SOC that is helped, not buried.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702552"/>
            <a:ext cx="12191695" cy="15240"/>
          </a:xfrm>
          <a:prstGeom prst="rect">
            <a:avLst/>
          </a:prstGeom>
          <a:solidFill>
            <a:srgbClr val="D8E0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6455664"/>
            <a:ext cx="10058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0">
                <a:solidFill>
                  <a:srgbClr val="5E6A75"/>
                </a:solidFill>
                <a:latin typeface="Segoe UI"/>
              </a:rPr>
              <a:t>CONFIDENTIAL  |  22nd Century Technologies  |  V-Intelligence Behavioral UEBA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338560" y="6455664"/>
            <a:ext cx="6400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 i="0">
                <a:solidFill>
                  <a:srgbClr val="5E6A75"/>
                </a:solidFill>
                <a:latin typeface="Segoe UI"/>
              </a:rPr>
              <a:t>9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20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E877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28600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 i="0">
                <a:solidFill>
                  <a:srgbClr val="E87722"/>
                </a:solidFill>
                <a:latin typeface="Segoe UI"/>
              </a:rPr>
              <a:t>PART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788920"/>
            <a:ext cx="1051560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  <a:latin typeface="Segoe UI"/>
              </a:rPr>
              <a:t>The Solution: A Behavioral Digital Twin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114800"/>
            <a:ext cx="105156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0" i="0">
                <a:solidFill>
                  <a:srgbClr val="BFD4EA"/>
                </a:solidFill>
                <a:latin typeface="Segoe UI"/>
              </a:rPr>
              <a:t>Read behavior as meaning, track where each entity is heading, hand the SOC a ranked, explainable verdict.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702552"/>
            <a:ext cx="12191695" cy="15240"/>
          </a:xfrm>
          <a:prstGeom prst="rect">
            <a:avLst/>
          </a:prstGeom>
          <a:solidFill>
            <a:srgbClr val="D8E0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6455664"/>
            <a:ext cx="10058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0">
                <a:solidFill>
                  <a:srgbClr val="5E6A75"/>
                </a:solidFill>
                <a:latin typeface="Segoe UI"/>
              </a:rPr>
              <a:t>CONFIDENTIAL  |  22nd Century Technologies  |  V-Intelligence Behavioral UEBA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338560" y="6455664"/>
            <a:ext cx="6400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 i="0">
                <a:solidFill>
                  <a:srgbClr val="5E6A75"/>
                </a:solidFill>
                <a:latin typeface="Segoe UI"/>
              </a:rPr>
              <a:t>10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8900"/>
          </a:xfrm>
          <a:prstGeom prst="rect">
            <a:avLst/>
          </a:prstGeom>
          <a:solidFill>
            <a:srgbClr val="0624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56032"/>
            <a:ext cx="112471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300" b="1" i="0">
                <a:solidFill>
                  <a:srgbClr val="102A4C"/>
                </a:solidFill>
                <a:latin typeface="Segoe UI"/>
              </a:rPr>
              <a:t>Input Data: the Logs the SOC Already Collects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96112"/>
            <a:ext cx="11247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 i="0">
                <a:solidFill>
                  <a:srgbClr val="5E6A75"/>
                </a:solidFill>
                <a:latin typeface="Segoe UI"/>
              </a:rPr>
              <a:t>No new sensors. The twin sits downstream of your existing SIEM.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80160"/>
            <a:ext cx="2377440" cy="38100"/>
          </a:xfrm>
          <a:prstGeom prst="rect">
            <a:avLst/>
          </a:prstGeom>
          <a:solidFill>
            <a:srgbClr val="E877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508760"/>
          <a:ext cx="6766560" cy="2834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383280"/>
                <a:gridCol w="3383280"/>
              </a:tblGrid>
              <a:tr h="472440">
                <a:tc>
                  <a:txBody>
                    <a:bodyPr/>
                    <a:lstStyle/>
                    <a:p>
                      <a:r>
                        <a:rPr sz="1200" b="1">
                          <a:latin typeface="Segoe UI"/>
                        </a:rPr>
                        <a:t>Log source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1">
                          <a:latin typeface="Segoe UI"/>
                        </a:rPr>
                        <a:t>Signal it carries</a:t>
                      </a:r>
                    </a:p>
                  </a:txBody>
                  <a:tcPr/>
                </a:tc>
              </a:tr>
              <a:tr h="472440">
                <a:tc>
                  <a:txBody>
                    <a:bodyPr/>
                    <a:lstStyle/>
                    <a:p>
                      <a:r>
                        <a:rPr sz="1200">
                          <a:latin typeface="Segoe UI"/>
                        </a:rPr>
                        <a:t>Identity / auth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Segoe UI"/>
                        </a:rPr>
                        <a:t>who, when, from where, privilege use</a:t>
                      </a:r>
                    </a:p>
                  </a:txBody>
                  <a:tcPr/>
                </a:tc>
              </a:tr>
              <a:tr h="472440">
                <a:tc>
                  <a:txBody>
                    <a:bodyPr/>
                    <a:lstStyle/>
                    <a:p>
                      <a:r>
                        <a:rPr sz="1200">
                          <a:latin typeface="Segoe UI"/>
                        </a:rPr>
                        <a:t>File / data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Segoe UI"/>
                        </a:rPr>
                        <a:t>access, volume, sensitivity, movement</a:t>
                      </a:r>
                    </a:p>
                  </a:txBody>
                  <a:tcPr/>
                </a:tc>
              </a:tr>
              <a:tr h="472440">
                <a:tc>
                  <a:txBody>
                    <a:bodyPr/>
                    <a:lstStyle/>
                    <a:p>
                      <a:r>
                        <a:rPr sz="1200">
                          <a:latin typeface="Segoe UI"/>
                        </a:rPr>
                        <a:t>Network / flow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Segoe UI"/>
                        </a:rPr>
                        <a:t>destinations, beaconing, data egress</a:t>
                      </a:r>
                    </a:p>
                  </a:txBody>
                  <a:tcPr/>
                </a:tc>
              </a:tr>
              <a:tr h="472440">
                <a:tc>
                  <a:txBody>
                    <a:bodyPr/>
                    <a:lstStyle/>
                    <a:p>
                      <a:r>
                        <a:rPr sz="1200">
                          <a:latin typeface="Segoe UI"/>
                        </a:rPr>
                        <a:t>DNS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Segoe UI"/>
                        </a:rPr>
                        <a:t>resolution patterns, DGA, rare domains</a:t>
                      </a:r>
                    </a:p>
                  </a:txBody>
                  <a:tcPr/>
                </a:tc>
              </a:tr>
              <a:tr h="472440">
                <a:tc>
                  <a:txBody>
                    <a:bodyPr/>
                    <a:lstStyle/>
                    <a:p>
                      <a:r>
                        <a:rPr sz="1200">
                          <a:latin typeface="Segoe UI"/>
                        </a:rPr>
                        <a:t>Endpoint / process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Segoe UI"/>
                        </a:rPr>
                        <a:t>process lineage, living-off-the-land tools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7498079" y="1508760"/>
            <a:ext cx="4206240" cy="2834640"/>
          </a:xfrm>
          <a:prstGeom prst="rect">
            <a:avLst/>
          </a:prstGeom>
          <a:solidFill>
            <a:srgbClr val="ECF4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498079" y="1508760"/>
            <a:ext cx="4206240" cy="548640"/>
          </a:xfrm>
          <a:prstGeom prst="rect">
            <a:avLst/>
          </a:prstGeom>
          <a:solidFill>
            <a:srgbClr val="1184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680960" y="1563624"/>
            <a:ext cx="384048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Segoe UI"/>
              </a:rPr>
              <a:t>Collection stages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80960" y="2194560"/>
            <a:ext cx="384048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250">
                <a:solidFill>
                  <a:srgbClr val="1D2430"/>
                </a:solidFill>
                <a:latin typeface="Segoe UI"/>
              </a:rPr>
              <a:t>•  Ingest from the SIEM / forwarders</a:t>
            </a:r>
          </a:p>
          <a:p>
            <a:pPr>
              <a:spcAft>
                <a:spcPts val="800"/>
              </a:spcAft>
            </a:pPr>
            <a:r>
              <a:rPr sz="1250">
                <a:solidFill>
                  <a:srgbClr val="1D2430"/>
                </a:solidFill>
                <a:latin typeface="Segoe UI"/>
              </a:rPr>
              <a:t>•  Normalize and parse to a common schema</a:t>
            </a:r>
          </a:p>
          <a:p>
            <a:pPr>
              <a:spcAft>
                <a:spcPts val="800"/>
              </a:spcAft>
            </a:pPr>
            <a:r>
              <a:rPr sz="1250">
                <a:solidFill>
                  <a:srgbClr val="1D2430"/>
                </a:solidFill>
                <a:latin typeface="Segoe UI"/>
              </a:rPr>
              <a:t>•  Group events into behavioral dimensions</a:t>
            </a:r>
          </a:p>
          <a:p>
            <a:pPr>
              <a:spcAft>
                <a:spcPts val="800"/>
              </a:spcAft>
            </a:pPr>
            <a:r>
              <a:rPr sz="1250">
                <a:solidFill>
                  <a:srgbClr val="1D2430"/>
                </a:solidFill>
                <a:latin typeface="Segoe UI"/>
              </a:rPr>
              <a:t>•  Serialize and embed; store as vectors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4572000"/>
            <a:ext cx="1115568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50" b="1" i="0">
                <a:solidFill>
                  <a:srgbClr val="102A4C"/>
                </a:solidFill>
                <a:latin typeface="Segoe UI"/>
              </a:rPr>
              <a:t>Scale of the proof-of-concept: 250 entities, 485 days, about 14 million events across five log sources. Behavioral snapshots are stored as 1536-dimension vectors in a PostgreSQL pgvector database, so similarity and drift are queried directly in the database.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6702552"/>
            <a:ext cx="12191695" cy="15240"/>
          </a:xfrm>
          <a:prstGeom prst="rect">
            <a:avLst/>
          </a:prstGeom>
          <a:solidFill>
            <a:srgbClr val="D8E0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" y="6455664"/>
            <a:ext cx="10058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0">
                <a:solidFill>
                  <a:srgbClr val="5E6A75"/>
                </a:solidFill>
                <a:latin typeface="Segoe UI"/>
              </a:rPr>
              <a:t>CONFIDENTIAL  |  22nd Century Technologies  |  V-Intelligence Behavioral UEBA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338560" y="6455664"/>
            <a:ext cx="6400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 i="0">
                <a:solidFill>
                  <a:srgbClr val="5E6A75"/>
                </a:solidFill>
                <a:latin typeface="Segoe UI"/>
              </a:rPr>
              <a:t>11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8900"/>
          </a:xfrm>
          <a:prstGeom prst="rect">
            <a:avLst/>
          </a:prstGeom>
          <a:solidFill>
            <a:srgbClr val="0624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56032"/>
            <a:ext cx="112471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300" b="1" i="0">
                <a:solidFill>
                  <a:srgbClr val="102A4C"/>
                </a:solidFill>
                <a:latin typeface="Segoe UI"/>
              </a:rPr>
              <a:t>The Dimensions We Model, and Why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96112"/>
            <a:ext cx="11247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 i="0">
                <a:solidFill>
                  <a:srgbClr val="5E6A75"/>
                </a:solidFill>
                <a:latin typeface="Segoe UI"/>
              </a:rPr>
              <a:t>Five behavioral zones, 23 features; identity as context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80160"/>
            <a:ext cx="2377440" cy="38100"/>
          </a:xfrm>
          <a:prstGeom prst="rect">
            <a:avLst/>
          </a:prstGeom>
          <a:solidFill>
            <a:srgbClr val="E877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600200"/>
            <a:ext cx="164592" cy="713232"/>
          </a:xfrm>
          <a:prstGeom prst="rect">
            <a:avLst/>
          </a:prstGeom>
          <a:solidFill>
            <a:srgbClr val="5E6A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21792" y="1600200"/>
            <a:ext cx="10607040" cy="713232"/>
          </a:xfrm>
          <a:prstGeom prst="rect">
            <a:avLst/>
          </a:prstGeom>
          <a:solidFill>
            <a:srgbClr val="ECF4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655064"/>
            <a:ext cx="2743200" cy="60350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1" i="0">
                <a:solidFill>
                  <a:srgbClr val="102A4C"/>
                </a:solidFill>
                <a:latin typeface="Segoe UI"/>
              </a:rPr>
              <a:t>Identity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566160" y="1655064"/>
            <a:ext cx="6035040" cy="60350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 i="0">
                <a:solidFill>
                  <a:srgbClr val="1D2430"/>
                </a:solidFill>
                <a:latin typeface="Segoe UI"/>
              </a:rPr>
              <a:t>role, department, clearance, user type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784080" y="1655064"/>
            <a:ext cx="1371600" cy="60350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100" b="1" i="0">
                <a:solidFill>
                  <a:srgbClr val="5E6A75"/>
                </a:solidFill>
                <a:latin typeface="Segoe UI"/>
              </a:rPr>
              <a:t>context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2441448"/>
            <a:ext cx="164592" cy="713232"/>
          </a:xfrm>
          <a:prstGeom prst="rect">
            <a:avLst/>
          </a:prstGeom>
          <a:solidFill>
            <a:srgbClr val="1F5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1792" y="2441448"/>
            <a:ext cx="10607040" cy="713232"/>
          </a:xfrm>
          <a:prstGeom prst="rect">
            <a:avLst/>
          </a:prstGeom>
          <a:solidFill>
            <a:srgbClr val="ECF4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" y="2496312"/>
            <a:ext cx="2743200" cy="60350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1" i="0">
                <a:solidFill>
                  <a:srgbClr val="102A4C"/>
                </a:solidFill>
                <a:latin typeface="Segoe UI"/>
              </a:rPr>
              <a:t>Access pattern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66160" y="2496312"/>
            <a:ext cx="6035040" cy="60350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 i="0">
                <a:solidFill>
                  <a:srgbClr val="1D2430"/>
                </a:solidFill>
                <a:latin typeface="Segoe UI"/>
              </a:rPr>
              <a:t>logins, sources, destinations, off-hours, methods (7 features)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784080" y="2496312"/>
            <a:ext cx="1371600" cy="60350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100" b="1" i="0">
                <a:solidFill>
                  <a:srgbClr val="1F5E9C"/>
                </a:solidFill>
                <a:latin typeface="Segoe UI"/>
              </a:rPr>
              <a:t>action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3282696"/>
            <a:ext cx="164592" cy="713232"/>
          </a:xfrm>
          <a:prstGeom prst="rect">
            <a:avLst/>
          </a:prstGeom>
          <a:solidFill>
            <a:srgbClr val="1184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21792" y="3282696"/>
            <a:ext cx="10607040" cy="713232"/>
          </a:xfrm>
          <a:prstGeom prst="rect">
            <a:avLst/>
          </a:prstGeom>
          <a:solidFill>
            <a:srgbClr val="ECF4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77240" y="3337560"/>
            <a:ext cx="2743200" cy="60350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1" i="0">
                <a:solidFill>
                  <a:srgbClr val="102A4C"/>
                </a:solidFill>
                <a:latin typeface="Segoe UI"/>
              </a:rPr>
              <a:t>Data behavior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566160" y="3337560"/>
            <a:ext cx="6035040" cy="60350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 i="0">
                <a:solidFill>
                  <a:srgbClr val="1D2430"/>
                </a:solidFill>
                <a:latin typeface="Segoe UI"/>
              </a:rPr>
              <a:t>file volume, sensitivity, breadth, writes (6 features)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784080" y="3337560"/>
            <a:ext cx="1371600" cy="60350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100" b="1" i="0">
                <a:solidFill>
                  <a:srgbClr val="118484"/>
                </a:solidFill>
                <a:latin typeface="Segoe UI"/>
              </a:rPr>
              <a:t>action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4123944"/>
            <a:ext cx="164592" cy="713232"/>
          </a:xfrm>
          <a:prstGeom prst="rect">
            <a:avLst/>
          </a:prstGeom>
          <a:solidFill>
            <a:srgbClr val="1A72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21792" y="4123944"/>
            <a:ext cx="10607040" cy="713232"/>
          </a:xfrm>
          <a:prstGeom prst="rect">
            <a:avLst/>
          </a:prstGeom>
          <a:solidFill>
            <a:srgbClr val="ECF4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77240" y="4178808"/>
            <a:ext cx="2743200" cy="60350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1" i="0">
                <a:solidFill>
                  <a:srgbClr val="102A4C"/>
                </a:solidFill>
                <a:latin typeface="Segoe UI"/>
              </a:rPr>
              <a:t>Network footprint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566160" y="4178808"/>
            <a:ext cx="6035040" cy="60350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 i="0">
                <a:solidFill>
                  <a:srgbClr val="1D2430"/>
                </a:solidFill>
                <a:latin typeface="Segoe UI"/>
              </a:rPr>
              <a:t>egress bytes, destinations, DNS patterns (5 features)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784080" y="4178808"/>
            <a:ext cx="1371600" cy="60350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100" b="1" i="0">
                <a:solidFill>
                  <a:srgbClr val="1A724E"/>
                </a:solidFill>
                <a:latin typeface="Segoe UI"/>
              </a:rPr>
              <a:t>action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57200" y="4965192"/>
            <a:ext cx="164592" cy="713232"/>
          </a:xfrm>
          <a:prstGeom prst="rect">
            <a:avLst/>
          </a:prstGeom>
          <a:solidFill>
            <a:srgbClr val="E877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21792" y="4965192"/>
            <a:ext cx="10607040" cy="713232"/>
          </a:xfrm>
          <a:prstGeom prst="rect">
            <a:avLst/>
          </a:prstGeom>
          <a:solidFill>
            <a:srgbClr val="ECF4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77240" y="5020056"/>
            <a:ext cx="2743200" cy="60350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1" i="0">
                <a:solidFill>
                  <a:srgbClr val="102A4C"/>
                </a:solidFill>
                <a:latin typeface="Segoe UI"/>
              </a:rPr>
              <a:t>Risk posture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566160" y="5020056"/>
            <a:ext cx="6035040" cy="60350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 i="0">
                <a:solidFill>
                  <a:srgbClr val="1D2430"/>
                </a:solidFill>
                <a:latin typeface="Segoe UI"/>
              </a:rPr>
              <a:t>endpoint and process risk scores (5 features)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784080" y="5020056"/>
            <a:ext cx="1371600" cy="60350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100" b="1" i="0">
                <a:solidFill>
                  <a:srgbClr val="E87722"/>
                </a:solidFill>
                <a:latin typeface="Segoe UI"/>
              </a:rPr>
              <a:t>action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48640" y="5943600"/>
            <a:ext cx="111556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 i="0">
                <a:solidFill>
                  <a:srgbClr val="102A4C"/>
                </a:solidFill>
                <a:latin typeface="Segoe UI"/>
              </a:rPr>
              <a:t>Why these: an attacker on valid credentials betrays themselves not in one number but across zones at once. Identity sets the peer group; the four action zones carry the behavior we score against it.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0" y="6702552"/>
            <a:ext cx="12191695" cy="15240"/>
          </a:xfrm>
          <a:prstGeom prst="rect">
            <a:avLst/>
          </a:prstGeom>
          <a:solidFill>
            <a:srgbClr val="D8E0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57200" y="6455664"/>
            <a:ext cx="10058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0">
                <a:solidFill>
                  <a:srgbClr val="5E6A75"/>
                </a:solidFill>
                <a:latin typeface="Segoe UI"/>
              </a:rPr>
              <a:t>CONFIDENTIAL  |  22nd Century Technologies  |  V-Intelligence Behavioral UEBA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338560" y="6455664"/>
            <a:ext cx="6400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 i="0">
                <a:solidFill>
                  <a:srgbClr val="5E6A75"/>
                </a:solidFill>
                <a:latin typeface="Segoe UI"/>
              </a:rPr>
              <a:t>12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8900"/>
          </a:xfrm>
          <a:prstGeom prst="rect">
            <a:avLst/>
          </a:prstGeom>
          <a:solidFill>
            <a:srgbClr val="0624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56032"/>
            <a:ext cx="112471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300" b="1" i="0">
                <a:solidFill>
                  <a:srgbClr val="102A4C"/>
                </a:solidFill>
                <a:latin typeface="Segoe UI"/>
              </a:rPr>
              <a:t>Aggregation: from Activity to a Comparable Window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96112"/>
            <a:ext cx="11247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 i="0">
                <a:solidFill>
                  <a:srgbClr val="5E6A75"/>
                </a:solidFill>
                <a:latin typeface="Segoe UI"/>
              </a:rPr>
              <a:t>Windowed so behavior can be compared over time and across peers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80160"/>
            <a:ext cx="2377440" cy="38100"/>
          </a:xfrm>
          <a:prstGeom prst="rect">
            <a:avLst/>
          </a:prstGeom>
          <a:solidFill>
            <a:srgbClr val="E877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1645920"/>
            <a:ext cx="5349240" cy="2743200"/>
          </a:xfrm>
          <a:prstGeom prst="rect">
            <a:avLst/>
          </a:prstGeom>
          <a:solidFill>
            <a:srgbClr val="EAF7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1645920"/>
            <a:ext cx="5349240" cy="594360"/>
          </a:xfrm>
          <a:prstGeom prst="rect">
            <a:avLst/>
          </a:prstGeom>
          <a:solidFill>
            <a:srgbClr val="1184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700784"/>
            <a:ext cx="50292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Segoe UI"/>
              </a:rPr>
              <a:t>Today (proof-of-concept)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423160"/>
            <a:ext cx="49377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350">
                <a:solidFill>
                  <a:srgbClr val="1D2430"/>
                </a:solidFill>
                <a:latin typeface="Segoe UI"/>
              </a:rPr>
              <a:t>•  Weekly aggregation across 485 days</a:t>
            </a:r>
          </a:p>
          <a:p>
            <a:pPr>
              <a:spcAft>
                <a:spcPts val="900"/>
              </a:spcAft>
            </a:pPr>
            <a:r>
              <a:rPr sz="1350">
                <a:solidFill>
                  <a:srgbClr val="1D2430"/>
                </a:solidFill>
                <a:latin typeface="Segoe UI"/>
              </a:rPr>
              <a:t>•  Long horizon proves slow-drift detection</a:t>
            </a:r>
          </a:p>
          <a:p>
            <a:pPr>
              <a:spcAft>
                <a:spcPts val="900"/>
              </a:spcAft>
            </a:pPr>
            <a:r>
              <a:rPr sz="1350">
                <a:solidFill>
                  <a:srgbClr val="1D2430"/>
                </a:solidFill>
                <a:latin typeface="Segoe UI"/>
              </a:rPr>
              <a:t>•  One trajectory point per entity per week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63640" y="1645920"/>
            <a:ext cx="5440680" cy="2743200"/>
          </a:xfrm>
          <a:prstGeom prst="rect">
            <a:avLst/>
          </a:prstGeom>
          <a:solidFill>
            <a:srgbClr val="FFF5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63640" y="1645920"/>
            <a:ext cx="5440680" cy="594360"/>
          </a:xfrm>
          <a:prstGeom prst="rect">
            <a:avLst/>
          </a:prstGeom>
          <a:solidFill>
            <a:srgbClr val="E877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46520" y="1700784"/>
            <a:ext cx="50292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Segoe UI"/>
              </a:rPr>
              <a:t>Design target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92240" y="2423160"/>
            <a:ext cx="5029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350" b="1">
                <a:solidFill>
                  <a:srgbClr val="E87722"/>
                </a:solidFill>
                <a:latin typeface="Segoe UI"/>
              </a:rPr>
              <a:t>•  Hourly aggregation for near-real-time detection</a:t>
            </a:r>
          </a:p>
          <a:p>
            <a:pPr>
              <a:spcAft>
                <a:spcPts val="900"/>
              </a:spcAft>
            </a:pPr>
            <a:r>
              <a:rPr sz="1350">
                <a:solidFill>
                  <a:srgbClr val="1D2430"/>
                </a:solidFill>
                <a:latin typeface="Segoe UI"/>
              </a:rPr>
              <a:t>•  Same pipeline, finer window: faster warning</a:t>
            </a:r>
          </a:p>
          <a:p>
            <a:pPr>
              <a:spcAft>
                <a:spcPts val="900"/>
              </a:spcAft>
            </a:pPr>
            <a:r>
              <a:rPr sz="1350">
                <a:solidFill>
                  <a:srgbClr val="1D2430"/>
                </a:solidFill>
                <a:latin typeface="Segoe UI"/>
              </a:rPr>
              <a:t>•  Shrinks dwell time from weeks toward hours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4663440"/>
            <a:ext cx="1115568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50" b="1" i="0">
                <a:solidFill>
                  <a:srgbClr val="102A4C"/>
                </a:solidFill>
                <a:latin typeface="Segoe UI"/>
              </a:rPr>
              <a:t>The method is window-agnostic. The current build aggregates weekly because the study spans 485 days and targets slow living-off-the-land drift; the same serialize-embed-compose-score pipeline runs at an hourly cadence to move detection closer to real time.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0" y="6702552"/>
            <a:ext cx="12191695" cy="15240"/>
          </a:xfrm>
          <a:prstGeom prst="rect">
            <a:avLst/>
          </a:prstGeom>
          <a:solidFill>
            <a:srgbClr val="D8E0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0" y="6455664"/>
            <a:ext cx="10058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0">
                <a:solidFill>
                  <a:srgbClr val="5E6A75"/>
                </a:solidFill>
                <a:latin typeface="Segoe UI"/>
              </a:rPr>
              <a:t>CONFIDENTIAL  |  22nd Century Technologies  |  V-Intelligence Behavioral UEBA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338560" y="6455664"/>
            <a:ext cx="6400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 i="0">
                <a:solidFill>
                  <a:srgbClr val="5E6A75"/>
                </a:solidFill>
                <a:latin typeface="Segoe UI"/>
              </a:rPr>
              <a:t>13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8900"/>
          </a:xfrm>
          <a:prstGeom prst="rect">
            <a:avLst/>
          </a:prstGeom>
          <a:solidFill>
            <a:srgbClr val="0624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56032"/>
            <a:ext cx="112471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300" b="1" i="0">
                <a:solidFill>
                  <a:srgbClr val="102A4C"/>
                </a:solidFill>
                <a:latin typeface="Segoe UI"/>
              </a:rPr>
              <a:t>End-to-End Flow: Activity to Verdict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80160"/>
            <a:ext cx="2377440" cy="38100"/>
          </a:xfrm>
          <a:prstGeom prst="rect">
            <a:avLst/>
          </a:prstGeom>
          <a:solidFill>
            <a:srgbClr val="E877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65760" y="2377440"/>
            <a:ext cx="1481328" cy="1371600"/>
          </a:xfrm>
          <a:prstGeom prst="rect">
            <a:avLst/>
          </a:prstGeom>
          <a:solidFill>
            <a:srgbClr val="5E6A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2487168"/>
            <a:ext cx="1389888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50" b="1" i="0">
                <a:solidFill>
                  <a:srgbClr val="FFFFFF"/>
                </a:solidFill>
                <a:latin typeface="Segoe UI"/>
              </a:rPr>
              <a:t>Activities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3017520"/>
            <a:ext cx="1389888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50" b="0" i="0">
                <a:solidFill>
                  <a:srgbClr val="FFFFFF"/>
                </a:solidFill>
                <a:latin typeface="Segoe UI"/>
              </a:rPr>
              <a:t>logins, files,</a:t>
            </a:r>
          </a:p>
          <a:p>
            <a:pPr algn="ctr"/>
            <a:r>
              <a:rPr sz="950" b="0" i="0">
                <a:solidFill>
                  <a:srgbClr val="FFFFFF"/>
                </a:solidFill>
                <a:latin typeface="Segoe UI"/>
              </a:rPr>
              <a:t>flows, DNS</a:t>
            </a:r>
          </a:p>
        </p:txBody>
      </p:sp>
      <p:sp>
        <p:nvSpPr>
          <p:cNvPr id="8" name="Right Arrow 7"/>
          <p:cNvSpPr/>
          <p:nvPr/>
        </p:nvSpPr>
        <p:spPr>
          <a:xfrm>
            <a:off x="1847088" y="2880360"/>
            <a:ext cx="123444" cy="365760"/>
          </a:xfrm>
          <a:prstGeom prst="rightArrow">
            <a:avLst/>
          </a:prstGeom>
          <a:solidFill>
            <a:srgbClr val="5E6A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970532" y="2377440"/>
            <a:ext cx="1481328" cy="1371600"/>
          </a:xfrm>
          <a:prstGeom prst="rect">
            <a:avLst/>
          </a:prstGeom>
          <a:solidFill>
            <a:srgbClr val="1F5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016252" y="2487168"/>
            <a:ext cx="1389888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50" b="1" i="0">
                <a:solidFill>
                  <a:srgbClr val="FFFFFF"/>
                </a:solidFill>
                <a:latin typeface="Segoe UI"/>
              </a:rPr>
              <a:t>Input data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016252" y="3017520"/>
            <a:ext cx="1389888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50" b="0" i="0">
                <a:solidFill>
                  <a:srgbClr val="FFFFFF"/>
                </a:solidFill>
                <a:latin typeface="Segoe UI"/>
              </a:rPr>
              <a:t>5 SIEM</a:t>
            </a:r>
          </a:p>
          <a:p>
            <a:pPr algn="ctr"/>
            <a:r>
              <a:rPr sz="950" b="0" i="0">
                <a:solidFill>
                  <a:srgbClr val="FFFFFF"/>
                </a:solidFill>
                <a:latin typeface="Segoe UI"/>
              </a:rPr>
              <a:t>log sources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3451860" y="2880360"/>
            <a:ext cx="123444" cy="365760"/>
          </a:xfrm>
          <a:prstGeom prst="rightArrow">
            <a:avLst/>
          </a:prstGeom>
          <a:solidFill>
            <a:srgbClr val="5E6A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575304" y="2377440"/>
            <a:ext cx="1481328" cy="1371600"/>
          </a:xfrm>
          <a:prstGeom prst="rect">
            <a:avLst/>
          </a:prstGeom>
          <a:solidFill>
            <a:srgbClr val="1184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621024" y="2487168"/>
            <a:ext cx="1389888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50" b="1" i="0">
                <a:solidFill>
                  <a:srgbClr val="FFFFFF"/>
                </a:solidFill>
                <a:latin typeface="Segoe UI"/>
              </a:rPr>
              <a:t>Dimensions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21024" y="3017520"/>
            <a:ext cx="1389888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50" b="0" i="0">
                <a:solidFill>
                  <a:srgbClr val="FFFFFF"/>
                </a:solidFill>
                <a:latin typeface="Segoe UI"/>
              </a:rPr>
              <a:t>grouped into</a:t>
            </a:r>
          </a:p>
          <a:p>
            <a:pPr algn="ctr"/>
            <a:r>
              <a:rPr sz="950" b="0" i="0">
                <a:solidFill>
                  <a:srgbClr val="FFFFFF"/>
                </a:solidFill>
                <a:latin typeface="Segoe UI"/>
              </a:rPr>
              <a:t>5 zones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5056632" y="2880360"/>
            <a:ext cx="123444" cy="365760"/>
          </a:xfrm>
          <a:prstGeom prst="rightArrow">
            <a:avLst/>
          </a:prstGeom>
          <a:solidFill>
            <a:srgbClr val="5E6A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180076" y="2377440"/>
            <a:ext cx="1481328" cy="1371600"/>
          </a:xfrm>
          <a:prstGeom prst="rect">
            <a:avLst/>
          </a:prstGeom>
          <a:solidFill>
            <a:srgbClr val="1A72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225796" y="2487168"/>
            <a:ext cx="1389888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50" b="1" i="0">
                <a:solidFill>
                  <a:srgbClr val="FFFFFF"/>
                </a:solidFill>
                <a:latin typeface="Segoe UI"/>
              </a:rPr>
              <a:t>Entity profile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225796" y="3017520"/>
            <a:ext cx="1389888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50" b="0" i="0">
                <a:solidFill>
                  <a:srgbClr val="FFFFFF"/>
                </a:solidFill>
                <a:latin typeface="Segoe UI"/>
              </a:rPr>
              <a:t>23 features</a:t>
            </a:r>
          </a:p>
          <a:p>
            <a:pPr algn="ctr"/>
            <a:r>
              <a:rPr sz="950" b="0" i="0">
                <a:solidFill>
                  <a:srgbClr val="FFFFFF"/>
                </a:solidFill>
                <a:latin typeface="Segoe UI"/>
              </a:rPr>
              <a:t>per window</a:t>
            </a:r>
          </a:p>
        </p:txBody>
      </p:sp>
      <p:sp>
        <p:nvSpPr>
          <p:cNvPr id="20" name="Right Arrow 19"/>
          <p:cNvSpPr/>
          <p:nvPr/>
        </p:nvSpPr>
        <p:spPr>
          <a:xfrm>
            <a:off x="6661404" y="2880360"/>
            <a:ext cx="123444" cy="365760"/>
          </a:xfrm>
          <a:prstGeom prst="rightArrow">
            <a:avLst/>
          </a:prstGeom>
          <a:solidFill>
            <a:srgbClr val="5E6A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784848" y="2377440"/>
            <a:ext cx="1481328" cy="1371600"/>
          </a:xfrm>
          <a:prstGeom prst="rect">
            <a:avLst/>
          </a:prstGeom>
          <a:solidFill>
            <a:srgbClr val="102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830568" y="2487168"/>
            <a:ext cx="1389888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50" b="1" i="0">
                <a:solidFill>
                  <a:srgbClr val="FFFFFF"/>
                </a:solidFill>
                <a:latin typeface="Segoe UI"/>
              </a:rPr>
              <a:t>Digital twin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30568" y="3017520"/>
            <a:ext cx="1389888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50" b="0" i="0">
                <a:solidFill>
                  <a:srgbClr val="FFFFFF"/>
                </a:solidFill>
                <a:latin typeface="Segoe UI"/>
              </a:rPr>
              <a:t>prose -&gt; vector,</a:t>
            </a:r>
          </a:p>
          <a:p>
            <a:pPr algn="ctr"/>
            <a:r>
              <a:rPr sz="950" b="0" i="0">
                <a:solidFill>
                  <a:srgbClr val="FFFFFF"/>
                </a:solidFill>
                <a:latin typeface="Segoe UI"/>
              </a:rPr>
              <a:t>attention-fused</a:t>
            </a:r>
          </a:p>
        </p:txBody>
      </p:sp>
      <p:sp>
        <p:nvSpPr>
          <p:cNvPr id="24" name="Right Arrow 23"/>
          <p:cNvSpPr/>
          <p:nvPr/>
        </p:nvSpPr>
        <p:spPr>
          <a:xfrm>
            <a:off x="8266176" y="2880360"/>
            <a:ext cx="123444" cy="365760"/>
          </a:xfrm>
          <a:prstGeom prst="rightArrow">
            <a:avLst/>
          </a:prstGeom>
          <a:solidFill>
            <a:srgbClr val="5E6A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389620" y="2377440"/>
            <a:ext cx="1481328" cy="1371600"/>
          </a:xfrm>
          <a:prstGeom prst="rect">
            <a:avLst/>
          </a:prstGeom>
          <a:solidFill>
            <a:srgbClr val="E877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435340" y="2487168"/>
            <a:ext cx="1389888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50" b="1" i="0">
                <a:solidFill>
                  <a:srgbClr val="FFFFFF"/>
                </a:solidFill>
                <a:latin typeface="Segoe UI"/>
              </a:rPr>
              <a:t>Algorithms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435340" y="3017520"/>
            <a:ext cx="1389888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50" b="0" i="0">
                <a:solidFill>
                  <a:srgbClr val="FFFFFF"/>
                </a:solidFill>
                <a:latin typeface="Segoe UI"/>
              </a:rPr>
              <a:t>CUSUM + two-</a:t>
            </a:r>
          </a:p>
          <a:p>
            <a:pPr algn="ctr"/>
            <a:r>
              <a:rPr sz="950" b="0" i="0">
                <a:solidFill>
                  <a:srgbClr val="FFFFFF"/>
                </a:solidFill>
                <a:latin typeface="Segoe UI"/>
              </a:rPr>
              <a:t>layer composite</a:t>
            </a:r>
          </a:p>
        </p:txBody>
      </p:sp>
      <p:sp>
        <p:nvSpPr>
          <p:cNvPr id="28" name="Right Arrow 27"/>
          <p:cNvSpPr/>
          <p:nvPr/>
        </p:nvSpPr>
        <p:spPr>
          <a:xfrm>
            <a:off x="9870948" y="2880360"/>
            <a:ext cx="123444" cy="365760"/>
          </a:xfrm>
          <a:prstGeom prst="rightArrow">
            <a:avLst/>
          </a:prstGeom>
          <a:solidFill>
            <a:srgbClr val="5E6A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9994392" y="2377440"/>
            <a:ext cx="1481328" cy="1371600"/>
          </a:xfrm>
          <a:prstGeom prst="rect">
            <a:avLst/>
          </a:prstGeom>
          <a:solidFill>
            <a:srgbClr val="C96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040112" y="2487168"/>
            <a:ext cx="1389888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50" b="1" i="0">
                <a:solidFill>
                  <a:srgbClr val="FFFFFF"/>
                </a:solidFill>
                <a:latin typeface="Segoe UI"/>
              </a:rPr>
              <a:t>Results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040112" y="3017520"/>
            <a:ext cx="1389888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50" b="0" i="0">
                <a:solidFill>
                  <a:srgbClr val="FFFFFF"/>
                </a:solidFill>
                <a:latin typeface="Segoe UI"/>
              </a:rPr>
              <a:t>ranked,</a:t>
            </a:r>
          </a:p>
          <a:p>
            <a:pPr algn="ctr"/>
            <a:r>
              <a:rPr sz="950" b="0" i="0">
                <a:solidFill>
                  <a:srgbClr val="FFFFFF"/>
                </a:solidFill>
                <a:latin typeface="Segoe UI"/>
              </a:rPr>
              <a:t>explainable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48640" y="4206240"/>
            <a:ext cx="111556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 i="0">
                <a:solidFill>
                  <a:srgbClr val="102A4C"/>
                </a:solidFill>
                <a:latin typeface="Segoe UI"/>
              </a:rPr>
              <a:t>One unbroken path: the raw events the SOC already has become one ranked, explainable verdict, with the reason and the MITRE direction attached.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48640" y="4937760"/>
            <a:ext cx="109728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300">
                <a:solidFill>
                  <a:srgbClr val="1D2430"/>
                </a:solidFill>
                <a:latin typeface="Segoe UI"/>
              </a:rPr>
              <a:t>•  No new collection: it consumes existing logs.</a:t>
            </a:r>
          </a:p>
          <a:p>
            <a:pPr>
              <a:spcAft>
                <a:spcPts val="700"/>
              </a:spcAft>
            </a:pPr>
            <a:r>
              <a:rPr sz="1300">
                <a:solidFill>
                  <a:srgbClr val="1D2430"/>
                </a:solidFill>
                <a:latin typeface="Segoe UI"/>
              </a:rPr>
              <a:t>•  No labels required: the twin is unsupervised.</a:t>
            </a:r>
          </a:p>
          <a:p>
            <a:pPr>
              <a:spcAft>
                <a:spcPts val="700"/>
              </a:spcAft>
            </a:pPr>
            <a:r>
              <a:rPr sz="1300">
                <a:solidFill>
                  <a:srgbClr val="1D2430"/>
                </a:solidFill>
                <a:latin typeface="Segoe UI"/>
              </a:rPr>
              <a:t>•  Every score is traceable back to the behavior that caused it.</a:t>
            </a:r>
          </a:p>
        </p:txBody>
      </p:sp>
      <p:sp>
        <p:nvSpPr>
          <p:cNvPr id="34" name="Rectangle 33"/>
          <p:cNvSpPr/>
          <p:nvPr/>
        </p:nvSpPr>
        <p:spPr>
          <a:xfrm>
            <a:off x="0" y="6702552"/>
            <a:ext cx="12191695" cy="15240"/>
          </a:xfrm>
          <a:prstGeom prst="rect">
            <a:avLst/>
          </a:prstGeom>
          <a:solidFill>
            <a:srgbClr val="D8E0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57200" y="6455664"/>
            <a:ext cx="10058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0">
                <a:solidFill>
                  <a:srgbClr val="5E6A75"/>
                </a:solidFill>
                <a:latin typeface="Segoe UI"/>
              </a:rPr>
              <a:t>CONFIDENTIAL  |  22nd Century Technologies  |  V-Intelligence Behavioral UEBA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1338560" y="6455664"/>
            <a:ext cx="6400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 i="0">
                <a:solidFill>
                  <a:srgbClr val="5E6A75"/>
                </a:solidFill>
                <a:latin typeface="Segoe UI"/>
              </a:rPr>
              <a:t>14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8900"/>
          </a:xfrm>
          <a:prstGeom prst="rect">
            <a:avLst/>
          </a:prstGeom>
          <a:solidFill>
            <a:srgbClr val="0624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56032"/>
            <a:ext cx="112471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300" b="1" i="0">
                <a:solidFill>
                  <a:srgbClr val="102A4C"/>
                </a:solidFill>
                <a:latin typeface="Segoe UI"/>
              </a:rPr>
              <a:t>How the Digital Twin Is Built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96112"/>
            <a:ext cx="11247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 i="0">
                <a:solidFill>
                  <a:srgbClr val="5E6A75"/>
                </a:solidFill>
                <a:latin typeface="Segoe UI"/>
              </a:rPr>
              <a:t>Raw metrics become meaning before they become math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80160"/>
            <a:ext cx="2377440" cy="38100"/>
          </a:xfrm>
          <a:prstGeom prst="rect">
            <a:avLst/>
          </a:prstGeom>
          <a:solidFill>
            <a:srgbClr val="E877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737360"/>
            <a:ext cx="2651760" cy="1554480"/>
          </a:xfrm>
          <a:prstGeom prst="rect">
            <a:avLst/>
          </a:prstGeom>
          <a:solidFill>
            <a:srgbClr val="1184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1874519"/>
            <a:ext cx="2432304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Segoe UI"/>
              </a:rPr>
              <a:t>Serialize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2377440"/>
            <a:ext cx="2432304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50" b="0" i="0">
                <a:solidFill>
                  <a:srgbClr val="FFFFFF"/>
                </a:solidFill>
                <a:latin typeface="Segoe UI"/>
              </a:rPr>
              <a:t>each zone's features</a:t>
            </a:r>
          </a:p>
          <a:p>
            <a:pPr algn="ctr"/>
            <a:r>
              <a:rPr sz="1150" b="0" i="0">
                <a:solidFill>
                  <a:srgbClr val="FFFFFF"/>
                </a:solidFill>
                <a:latin typeface="Segoe UI"/>
              </a:rPr>
              <a:t>become a sentence</a:t>
            </a:r>
          </a:p>
        </p:txBody>
      </p:sp>
      <p:sp>
        <p:nvSpPr>
          <p:cNvPr id="9" name="Right Arrow 8"/>
          <p:cNvSpPr/>
          <p:nvPr/>
        </p:nvSpPr>
        <p:spPr>
          <a:xfrm>
            <a:off x="3108960" y="2331720"/>
            <a:ext cx="146304" cy="365760"/>
          </a:xfrm>
          <a:prstGeom prst="rightArrow">
            <a:avLst/>
          </a:prstGeom>
          <a:solidFill>
            <a:srgbClr val="5E6A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255264" y="1737360"/>
            <a:ext cx="2651760" cy="1554480"/>
          </a:xfrm>
          <a:prstGeom prst="rect">
            <a:avLst/>
          </a:prstGeom>
          <a:solidFill>
            <a:srgbClr val="1F5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364992" y="1874519"/>
            <a:ext cx="2432304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Segoe UI"/>
              </a:rPr>
              <a:t>Embed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64992" y="2377440"/>
            <a:ext cx="2432304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50" b="0" i="0">
                <a:solidFill>
                  <a:srgbClr val="FFFFFF"/>
                </a:solidFill>
                <a:latin typeface="Segoe UI"/>
              </a:rPr>
              <a:t>each sentence -&gt;</a:t>
            </a:r>
          </a:p>
          <a:p>
            <a:pPr algn="ctr"/>
            <a:r>
              <a:rPr sz="1150" b="0" i="0">
                <a:solidFill>
                  <a:srgbClr val="FFFFFF"/>
                </a:solidFill>
                <a:latin typeface="Segoe UI"/>
              </a:rPr>
              <a:t>1536-d vector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5907024" y="2331720"/>
            <a:ext cx="146304" cy="365760"/>
          </a:xfrm>
          <a:prstGeom prst="rightArrow">
            <a:avLst/>
          </a:prstGeom>
          <a:solidFill>
            <a:srgbClr val="5E6A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053328" y="1737360"/>
            <a:ext cx="2651760" cy="1554480"/>
          </a:xfrm>
          <a:prstGeom prst="rect">
            <a:avLst/>
          </a:prstGeom>
          <a:solidFill>
            <a:srgbClr val="102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163056" y="1874519"/>
            <a:ext cx="2432304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Segoe UI"/>
              </a:rPr>
              <a:t>Compose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163056" y="2377440"/>
            <a:ext cx="2432304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50" b="0" i="0">
                <a:solidFill>
                  <a:srgbClr val="FFFFFF"/>
                </a:solidFill>
                <a:latin typeface="Segoe UI"/>
              </a:rPr>
              <a:t>zones fused by</a:t>
            </a:r>
          </a:p>
          <a:p>
            <a:pPr algn="ctr"/>
            <a:r>
              <a:rPr sz="1150" b="0" i="0">
                <a:solidFill>
                  <a:srgbClr val="FFFFFF"/>
                </a:solidFill>
                <a:latin typeface="Segoe UI"/>
              </a:rPr>
              <a:t>attention weight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8705088" y="2331720"/>
            <a:ext cx="146304" cy="365760"/>
          </a:xfrm>
          <a:prstGeom prst="rightArrow">
            <a:avLst/>
          </a:prstGeom>
          <a:solidFill>
            <a:srgbClr val="5E6A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851392" y="1737360"/>
            <a:ext cx="2651760" cy="1554480"/>
          </a:xfrm>
          <a:prstGeom prst="rect">
            <a:avLst/>
          </a:prstGeom>
          <a:solidFill>
            <a:srgbClr val="1A72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961120" y="1874519"/>
            <a:ext cx="2432304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Segoe UI"/>
              </a:rPr>
              <a:t>Trajectory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961120" y="2377440"/>
            <a:ext cx="2432304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50" b="0" i="0">
                <a:solidFill>
                  <a:srgbClr val="FFFFFF"/>
                </a:solidFill>
                <a:latin typeface="Segoe UI"/>
              </a:rPr>
              <a:t>one twin per</a:t>
            </a:r>
          </a:p>
          <a:p>
            <a:pPr algn="ctr"/>
            <a:r>
              <a:rPr sz="1150" b="0" i="0">
                <a:solidFill>
                  <a:srgbClr val="FFFFFF"/>
                </a:solidFill>
                <a:latin typeface="Segoe UI"/>
              </a:rPr>
              <a:t>window, over time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48640" y="3749039"/>
            <a:ext cx="11155680" cy="2103120"/>
          </a:xfrm>
          <a:prstGeom prst="rect">
            <a:avLst/>
          </a:prstGeom>
          <a:solidFill>
            <a:srgbClr val="ECF4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48640" y="3749039"/>
            <a:ext cx="164592" cy="2103120"/>
          </a:xfrm>
          <a:prstGeom prst="rect">
            <a:avLst/>
          </a:prstGeom>
          <a:solidFill>
            <a:srgbClr val="E877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68680" y="3931920"/>
            <a:ext cx="106070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350" b="1">
                <a:solidFill>
                  <a:srgbClr val="102A4C"/>
                </a:solidFill>
                <a:latin typeface="Segoe UI"/>
              </a:rPr>
              <a:t>•  Meaning over magnitude: "47 files" becomes "reaching far more sensitive data than peers, and widening."</a:t>
            </a:r>
          </a:p>
          <a:p>
            <a:pPr>
              <a:spcAft>
                <a:spcPts val="1000"/>
              </a:spcAft>
            </a:pPr>
            <a:r>
              <a:rPr sz="1350">
                <a:solidFill>
                  <a:srgbClr val="1D2430"/>
                </a:solidFill>
                <a:latin typeface="Segoe UI"/>
              </a:rPr>
              <a:t>•  Composition, not concatenation: zones are fused by attention weight, so the signal that matters dominates.</a:t>
            </a:r>
          </a:p>
          <a:p>
            <a:pPr>
              <a:spcAft>
                <a:spcPts val="1000"/>
              </a:spcAft>
            </a:pPr>
            <a:r>
              <a:rPr sz="1350">
                <a:solidFill>
                  <a:srgbClr val="1D2430"/>
                </a:solidFill>
                <a:latin typeface="Segoe UI"/>
              </a:rPr>
              <a:t>•  Drift is direction in meaning-space: the cosine distance between successive twins, tracked over time.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0" y="6702552"/>
            <a:ext cx="12191695" cy="15240"/>
          </a:xfrm>
          <a:prstGeom prst="rect">
            <a:avLst/>
          </a:prstGeom>
          <a:solidFill>
            <a:srgbClr val="D8E0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57200" y="6455664"/>
            <a:ext cx="10058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0">
                <a:solidFill>
                  <a:srgbClr val="5E6A75"/>
                </a:solidFill>
                <a:latin typeface="Segoe UI"/>
              </a:rPr>
              <a:t>CONFIDENTIAL  |  22nd Century Technologies  |  V-Intelligence Behavioral UEBA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338560" y="6455664"/>
            <a:ext cx="6400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 i="0">
                <a:solidFill>
                  <a:srgbClr val="5E6A75"/>
                </a:solidFill>
                <a:latin typeface="Segoe UI"/>
              </a:rPr>
              <a:t>15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8900"/>
          </a:xfrm>
          <a:prstGeom prst="rect">
            <a:avLst/>
          </a:prstGeom>
          <a:solidFill>
            <a:srgbClr val="0624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56032"/>
            <a:ext cx="112471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300" b="1" i="0">
                <a:solidFill>
                  <a:srgbClr val="102A4C"/>
                </a:solidFill>
                <a:latin typeface="Segoe UI"/>
              </a:rPr>
              <a:t>The Algorithms: Two Complementary Layers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96112"/>
            <a:ext cx="11247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 i="0">
                <a:solidFill>
                  <a:srgbClr val="5E6A75"/>
                </a:solidFill>
                <a:latin typeface="Segoe UI"/>
              </a:rPr>
              <a:t>Precision first, discovery alongside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80160"/>
            <a:ext cx="2377440" cy="38100"/>
          </a:xfrm>
          <a:prstGeom prst="rect">
            <a:avLst/>
          </a:prstGeom>
          <a:solidFill>
            <a:srgbClr val="E877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1554480"/>
            <a:ext cx="5394960" cy="4206240"/>
          </a:xfrm>
          <a:prstGeom prst="rect">
            <a:avLst/>
          </a:prstGeom>
          <a:solidFill>
            <a:srgbClr val="FFF5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1554480"/>
            <a:ext cx="5394960" cy="685800"/>
          </a:xfrm>
          <a:prstGeom prst="rect">
            <a:avLst/>
          </a:prstGeom>
          <a:solidFill>
            <a:srgbClr val="E877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627632"/>
            <a:ext cx="502920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Segoe UI"/>
              </a:rPr>
              <a:t>Layer A -- Precision (production)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377440"/>
            <a:ext cx="493776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300" b="1">
                <a:solidFill>
                  <a:srgbClr val="102A4C"/>
                </a:solidFill>
                <a:latin typeface="Segoe UI"/>
              </a:rPr>
              <a:t>•  Multi-front threat-profile detector.</a:t>
            </a:r>
          </a:p>
          <a:p>
            <a:pPr>
              <a:spcAft>
                <a:spcPts val="900"/>
              </a:spcAft>
            </a:pPr>
            <a:r>
              <a:rPr sz="1300">
                <a:solidFill>
                  <a:srgbClr val="1D2430"/>
                </a:solidFill>
                <a:latin typeface="Segoe UI"/>
              </a:rPr>
              <a:t>•  Matches entities to named known-bad fingerprints (mass collection, C2 beacon, DGA, recon fan-out, LOTL).</a:t>
            </a:r>
          </a:p>
          <a:p>
            <a:pPr>
              <a:spcAft>
                <a:spcPts val="900"/>
              </a:spcAft>
            </a:pPr>
            <a:r>
              <a:rPr sz="1300">
                <a:solidFill>
                  <a:srgbClr val="1D2430"/>
                </a:solidFill>
                <a:latin typeface="Segoe UI"/>
              </a:rPr>
              <a:t>•  Scored against role-group peers; fires only on a corroborated match.</a:t>
            </a:r>
          </a:p>
          <a:p>
            <a:pPr>
              <a:spcAft>
                <a:spcPts val="900"/>
              </a:spcAft>
            </a:pPr>
            <a:r>
              <a:rPr sz="1300" b="1">
                <a:solidFill>
                  <a:srgbClr val="E87722"/>
                </a:solidFill>
                <a:latin typeface="Segoe UI"/>
              </a:rPr>
              <a:t>•  Result: 4 of 4 attackers at 0 false positives.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17920" y="1554480"/>
            <a:ext cx="5440680" cy="4206240"/>
          </a:xfrm>
          <a:prstGeom prst="rect">
            <a:avLst/>
          </a:prstGeom>
          <a:solidFill>
            <a:srgbClr val="EAF7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17920" y="1554480"/>
            <a:ext cx="5440680" cy="685800"/>
          </a:xfrm>
          <a:prstGeom prst="rect">
            <a:avLst/>
          </a:prstGeom>
          <a:solidFill>
            <a:srgbClr val="1184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0" y="1627632"/>
            <a:ext cx="502920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Segoe UI"/>
              </a:rPr>
              <a:t>Layer B -- Discovery (the twin)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46520" y="2377440"/>
            <a:ext cx="50292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300" b="1">
                <a:solidFill>
                  <a:srgbClr val="102A4C"/>
                </a:solidFill>
                <a:latin typeface="Segoe UI"/>
              </a:rPr>
              <a:t>•  CUSUM accumulates slow drift that no single week would trip.</a:t>
            </a:r>
          </a:p>
          <a:p>
            <a:pPr>
              <a:spcAft>
                <a:spcPts val="900"/>
              </a:spcAft>
            </a:pPr>
            <a:r>
              <a:rPr sz="1300">
                <a:solidFill>
                  <a:srgbClr val="1D2430"/>
                </a:solidFill>
                <a:latin typeface="Segoe UI"/>
              </a:rPr>
              <a:t>•  Direction projected onto MITRE ATT&amp;CK concepts: names where the entity is heading.</a:t>
            </a:r>
          </a:p>
          <a:p>
            <a:pPr>
              <a:spcAft>
                <a:spcPts val="900"/>
              </a:spcAft>
            </a:pPr>
            <a:r>
              <a:rPr sz="1300">
                <a:solidFill>
                  <a:srgbClr val="1D2430"/>
                </a:solidFill>
                <a:latin typeface="Segoe UI"/>
              </a:rPr>
              <a:t>•  Composite score ranks every entity, no fingerprint needed.</a:t>
            </a:r>
          </a:p>
          <a:p>
            <a:pPr>
              <a:spcAft>
                <a:spcPts val="900"/>
              </a:spcAft>
            </a:pPr>
            <a:r>
              <a:rPr sz="1300" b="1">
                <a:solidFill>
                  <a:srgbClr val="118484"/>
                </a:solidFill>
                <a:latin typeface="Segoe UI"/>
              </a:rPr>
              <a:t>•  Surfaces 4 of 4 by rank where classical methods catch 0 of 4.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0" y="6702552"/>
            <a:ext cx="12191695" cy="15240"/>
          </a:xfrm>
          <a:prstGeom prst="rect">
            <a:avLst/>
          </a:prstGeom>
          <a:solidFill>
            <a:srgbClr val="D8E0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" y="6455664"/>
            <a:ext cx="10058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0">
                <a:solidFill>
                  <a:srgbClr val="5E6A75"/>
                </a:solidFill>
                <a:latin typeface="Segoe UI"/>
              </a:rPr>
              <a:t>CONFIDENTIAL  |  22nd Century Technologies  |  V-Intelligence Behavioral UEBA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338560" y="6455664"/>
            <a:ext cx="6400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 i="0">
                <a:solidFill>
                  <a:srgbClr val="5E6A75"/>
                </a:solidFill>
                <a:latin typeface="Segoe UI"/>
              </a:rPr>
              <a:t>16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8900"/>
          </a:xfrm>
          <a:prstGeom prst="rect">
            <a:avLst/>
          </a:prstGeom>
          <a:solidFill>
            <a:srgbClr val="0624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56032"/>
            <a:ext cx="112471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300" b="1" i="0">
                <a:solidFill>
                  <a:srgbClr val="102A4C"/>
                </a:solidFill>
                <a:latin typeface="Segoe UI"/>
              </a:rPr>
              <a:t>Slow Drift, Made Visible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96112"/>
            <a:ext cx="11247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 i="0">
                <a:solidFill>
                  <a:srgbClr val="5E6A75"/>
                </a:solidFill>
                <a:latin typeface="Segoe UI"/>
              </a:rPr>
              <a:t>Real trajectory: what CUSUM accumulates that a weekly threshold never trips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80160"/>
            <a:ext cx="2377440" cy="38100"/>
          </a:xfrm>
          <a:prstGeom prst="rect">
            <a:avLst/>
          </a:prstGeom>
          <a:solidFill>
            <a:srgbClr val="E877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ueba_cusu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600200"/>
            <a:ext cx="7955279" cy="2921882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8641080" y="1600200"/>
            <a:ext cx="3063240" cy="3017520"/>
          </a:xfrm>
          <a:prstGeom prst="rect">
            <a:avLst/>
          </a:prstGeom>
          <a:solidFill>
            <a:srgbClr val="ECF4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641080" y="1600200"/>
            <a:ext cx="146304" cy="3017520"/>
          </a:xfrm>
          <a:prstGeom prst="rect">
            <a:avLst/>
          </a:prstGeom>
          <a:solidFill>
            <a:srgbClr val="E877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887968" y="1783080"/>
            <a:ext cx="27432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200" b="1">
                <a:solidFill>
                  <a:srgbClr val="102A4C"/>
                </a:solidFill>
                <a:latin typeface="Segoe UI"/>
              </a:rPr>
              <a:t>•  Each week's drift is small, below any alert line.</a:t>
            </a:r>
          </a:p>
          <a:p>
            <a:pPr>
              <a:spcAft>
                <a:spcPts val="1000"/>
              </a:spcAft>
            </a:pPr>
            <a:r>
              <a:rPr sz="1200">
                <a:solidFill>
                  <a:srgbClr val="1D2430"/>
                </a:solidFill>
                <a:latin typeface="Segoe UI"/>
              </a:rPr>
              <a:t>•  CUSUM sums the small, persistent pushes.</a:t>
            </a:r>
          </a:p>
          <a:p>
            <a:pPr>
              <a:spcAft>
                <a:spcPts val="1000"/>
              </a:spcAft>
            </a:pPr>
            <a:r>
              <a:rPr sz="1200" b="1">
                <a:solidFill>
                  <a:srgbClr val="E87722"/>
                </a:solidFill>
                <a:latin typeface="Segoe UI"/>
              </a:rPr>
              <a:t>•  It crosses the fire line and stays, so the slow operator is caught while still inside.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5760720"/>
            <a:ext cx="111556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50" b="1" i="0">
                <a:solidFill>
                  <a:srgbClr val="102A4C"/>
                </a:solidFill>
                <a:latin typeface="Segoe UI"/>
              </a:rPr>
              <a:t>This is the signal classical point-anomaly methods miss: no single week is anomalous, but the direction is, sustained and accumulating.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02552"/>
            <a:ext cx="12191695" cy="15240"/>
          </a:xfrm>
          <a:prstGeom prst="rect">
            <a:avLst/>
          </a:prstGeom>
          <a:solidFill>
            <a:srgbClr val="D8E0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" y="6455664"/>
            <a:ext cx="10058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0">
                <a:solidFill>
                  <a:srgbClr val="5E6A75"/>
                </a:solidFill>
                <a:latin typeface="Segoe UI"/>
              </a:rPr>
              <a:t>CONFIDENTIAL  |  22nd Century Technologies  |  V-Intelligence Behavioral UEBA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338560" y="6455664"/>
            <a:ext cx="6400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 i="0">
                <a:solidFill>
                  <a:srgbClr val="5E6A75"/>
                </a:solidFill>
                <a:latin typeface="Segoe UI"/>
              </a:rPr>
              <a:t>17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8900"/>
          </a:xfrm>
          <a:prstGeom prst="rect">
            <a:avLst/>
          </a:prstGeom>
          <a:solidFill>
            <a:srgbClr val="0624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56032"/>
            <a:ext cx="112471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300" b="1" i="0">
                <a:solidFill>
                  <a:srgbClr val="102A4C"/>
                </a:solidFill>
                <a:latin typeface="Segoe UI"/>
              </a:rPr>
              <a:t>Results: the Blind Test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96112"/>
            <a:ext cx="11247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 i="0">
                <a:solidFill>
                  <a:srgbClr val="5E6A75"/>
                </a:solidFill>
                <a:latin typeface="Segoe UI"/>
              </a:rPr>
              <a:t>Four nation-state-style attackers hidden among 250 entities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80160"/>
            <a:ext cx="2377440" cy="38100"/>
          </a:xfrm>
          <a:prstGeom prst="rect">
            <a:avLst/>
          </a:prstGeom>
          <a:solidFill>
            <a:srgbClr val="E877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508760"/>
          <a:ext cx="11247120" cy="2468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49040"/>
                <a:gridCol w="3749040"/>
                <a:gridCol w="3749040"/>
              </a:tblGrid>
              <a:tr h="493776">
                <a:tc>
                  <a:txBody>
                    <a:bodyPr/>
                    <a:lstStyle/>
                    <a:p>
                      <a:r>
                        <a:rPr sz="1200" b="1">
                          <a:latin typeface="Segoe UI"/>
                        </a:rPr>
                        <a:t>Method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1">
                          <a:latin typeface="Segoe UI"/>
                        </a:rPr>
                        <a:t>Catches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1">
                          <a:latin typeface="Segoe UI"/>
                        </a:rPr>
                        <a:t>Note</a:t>
                      </a:r>
                    </a:p>
                  </a:txBody>
                  <a:tcPr/>
                </a:tc>
              </a:tr>
              <a:tr h="493776">
                <a:tc>
                  <a:txBody>
                    <a:bodyPr/>
                    <a:lstStyle/>
                    <a:p>
                      <a:r>
                        <a:rPr sz="1200">
                          <a:latin typeface="Segoe UI"/>
                        </a:rPr>
                        <a:t>Precision detector (Layer A)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Segoe UI"/>
                        </a:rPr>
                        <a:t>4 of 4 at 0 false positives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Segoe UI"/>
                        </a:rPr>
                        <a:t>named fingerprint per attacker</a:t>
                      </a:r>
                    </a:p>
                  </a:txBody>
                  <a:tcPr/>
                </a:tc>
              </a:tr>
              <a:tr h="493776">
                <a:tc>
                  <a:txBody>
                    <a:bodyPr/>
                    <a:lstStyle/>
                    <a:p>
                      <a:r>
                        <a:rPr sz="1200">
                          <a:latin typeface="Segoe UI"/>
                        </a:rPr>
                        <a:t>Discovery twin (Layer B)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Segoe UI"/>
                        </a:rPr>
                        <a:t>4 of 4 by rank (8.1% operating point)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Segoe UI"/>
                        </a:rPr>
                        <a:t>no fingerprint; names MITRE direction</a:t>
                      </a:r>
                    </a:p>
                  </a:txBody>
                  <a:tcPr/>
                </a:tc>
              </a:tr>
              <a:tr h="493776">
                <a:tc>
                  <a:txBody>
                    <a:bodyPr/>
                    <a:lstStyle/>
                    <a:p>
                      <a:r>
                        <a:rPr sz="1200">
                          <a:latin typeface="Segoe UI"/>
                        </a:rPr>
                        <a:t>Isolation Forest / One-Class SVM / LOF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Segoe UI"/>
                        </a:rPr>
                        <a:t>0 of 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Segoe UI"/>
                        </a:rPr>
                        <a:t>point-anomaly, no behavior over time</a:t>
                      </a:r>
                    </a:p>
                  </a:txBody>
                  <a:tcPr/>
                </a:tc>
              </a:tr>
              <a:tr h="493776">
                <a:tc>
                  <a:txBody>
                    <a:bodyPr/>
                    <a:lstStyle/>
                    <a:p>
                      <a:r>
                        <a:rPr sz="1200">
                          <a:latin typeface="Segoe UI"/>
                        </a:rPr>
                        <a:t>Z-score baseline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Segoe UI"/>
                        </a:rPr>
                        <a:t>1 of 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Segoe UI"/>
                        </a:rPr>
                        <a:t>magnitude only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48640" y="4297680"/>
            <a:ext cx="1115568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300">
                <a:solidFill>
                  <a:srgbClr val="1D2430"/>
                </a:solidFill>
                <a:latin typeface="Segoe UI"/>
              </a:rPr>
              <a:t>•  Insider caught by mass collection + rare destinations; Slow APT by a 386-day C2 beacon + 160 DGA domains.</a:t>
            </a:r>
          </a:p>
          <a:p>
            <a:pPr>
              <a:spcAft>
                <a:spcPts val="900"/>
              </a:spcAft>
            </a:pPr>
            <a:r>
              <a:rPr sz="1300">
                <a:solidFill>
                  <a:srgbClr val="1D2430"/>
                </a:solidFill>
                <a:latin typeface="Segoe UI"/>
              </a:rPr>
              <a:t>•  Living-off-the-land operator caught by anomalous process use; telecom-pivot by reconnaissance fan-out.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5852160"/>
            <a:ext cx="111556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 i="1">
                <a:solidFill>
                  <a:srgbClr val="5E6A75"/>
                </a:solidFill>
                <a:latin typeface="Segoe UI"/>
              </a:rPr>
              <a:t>Controlled, synthetic-data proof-of-concept (250 entities, 485 days). Indicative, not a guarantee of field performance.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702552"/>
            <a:ext cx="12191695" cy="15240"/>
          </a:xfrm>
          <a:prstGeom prst="rect">
            <a:avLst/>
          </a:prstGeom>
          <a:solidFill>
            <a:srgbClr val="D8E0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6455664"/>
            <a:ext cx="10058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0">
                <a:solidFill>
                  <a:srgbClr val="5E6A75"/>
                </a:solidFill>
                <a:latin typeface="Segoe UI"/>
              </a:rPr>
              <a:t>CONFIDENTIAL  |  22nd Century Technologies  |  V-Intelligence Behavioral UEBA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338560" y="6455664"/>
            <a:ext cx="6400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 i="0">
                <a:solidFill>
                  <a:srgbClr val="5E6A75"/>
                </a:solidFill>
                <a:latin typeface="Segoe UI"/>
              </a:rPr>
              <a:t>18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8900"/>
          </a:xfrm>
          <a:prstGeom prst="rect">
            <a:avLst/>
          </a:prstGeom>
          <a:solidFill>
            <a:srgbClr val="0624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56032"/>
            <a:ext cx="112471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300" b="1" i="0">
                <a:solidFill>
                  <a:srgbClr val="102A4C"/>
                </a:solidFill>
                <a:latin typeface="Segoe UI"/>
              </a:rPr>
              <a:t>What This Gives the SOC Analyst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96112"/>
            <a:ext cx="11247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 i="0">
                <a:solidFill>
                  <a:srgbClr val="5E6A75"/>
                </a:solidFill>
                <a:latin typeface="Segoe UI"/>
              </a:rPr>
              <a:t>Less noise, earlier warning, a verdict you can act on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80160"/>
            <a:ext cx="2377440" cy="38100"/>
          </a:xfrm>
          <a:prstGeom prst="rect">
            <a:avLst/>
          </a:prstGeom>
          <a:solidFill>
            <a:srgbClr val="E877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645920"/>
            <a:ext cx="3703320" cy="3108960"/>
          </a:xfrm>
          <a:prstGeom prst="rect">
            <a:avLst/>
          </a:prstGeom>
          <a:solidFill>
            <a:srgbClr val="ECF4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645920"/>
            <a:ext cx="3703320" cy="731520"/>
          </a:xfrm>
          <a:prstGeom prst="rect">
            <a:avLst/>
          </a:prstGeom>
          <a:solidFill>
            <a:srgbClr val="E877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737360"/>
            <a:ext cx="338328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Segoe UI"/>
              </a:rPr>
              <a:t>Workload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606040"/>
            <a:ext cx="3383280" cy="2011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 i="0">
                <a:solidFill>
                  <a:srgbClr val="1D2430"/>
                </a:solidFill>
                <a:latin typeface="Segoe UI"/>
              </a:rPr>
              <a:t>One ranked queue, not a flood. The analyst sees the few entities that matter, each already explained.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24528" y="1645920"/>
            <a:ext cx="3703320" cy="3108960"/>
          </a:xfrm>
          <a:prstGeom prst="rect">
            <a:avLst/>
          </a:prstGeom>
          <a:solidFill>
            <a:srgbClr val="ECF4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224528" y="1645920"/>
            <a:ext cx="3703320" cy="731520"/>
          </a:xfrm>
          <a:prstGeom prst="rect">
            <a:avLst/>
          </a:prstGeom>
          <a:solidFill>
            <a:srgbClr val="1184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07408" y="1737360"/>
            <a:ext cx="338328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Segoe UI"/>
              </a:rPr>
              <a:t>Quick detection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07408" y="2606040"/>
            <a:ext cx="3383280" cy="2011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 i="0">
                <a:solidFill>
                  <a:srgbClr val="1D2430"/>
                </a:solidFill>
                <a:latin typeface="Segoe UI"/>
              </a:rPr>
              <a:t>Slow, valid-account drift is caught while it builds, not after exfiltration. CUSUM warns weeks early.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991856" y="1645920"/>
            <a:ext cx="3703320" cy="3108960"/>
          </a:xfrm>
          <a:prstGeom prst="rect">
            <a:avLst/>
          </a:prstGeom>
          <a:solidFill>
            <a:srgbClr val="ECF4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991856" y="1645920"/>
            <a:ext cx="3703320" cy="731520"/>
          </a:xfrm>
          <a:prstGeom prst="rect">
            <a:avLst/>
          </a:prstGeom>
          <a:solidFill>
            <a:srgbClr val="1F5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174736" y="1737360"/>
            <a:ext cx="338328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Segoe UI"/>
              </a:rPr>
              <a:t>Action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174736" y="2606040"/>
            <a:ext cx="3383280" cy="2011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 i="0">
                <a:solidFill>
                  <a:srgbClr val="1D2430"/>
                </a:solidFill>
                <a:latin typeface="Segoe UI"/>
              </a:rPr>
              <a:t>Every alert carries its reason and a MITRE direction, so triage starts at "what and where," not "is this real?"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5074920"/>
            <a:ext cx="1115568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50" b="1" i="0">
                <a:solidFill>
                  <a:srgbClr val="102A4C"/>
                </a:solidFill>
                <a:latin typeface="Segoe UI"/>
              </a:rPr>
              <a:t>The shift: from chasing thousands of magnitude alerts to acting on a short, ranked, explainable list, so the analyst spends time on response, not triage.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0" y="6702552"/>
            <a:ext cx="12191695" cy="15240"/>
          </a:xfrm>
          <a:prstGeom prst="rect">
            <a:avLst/>
          </a:prstGeom>
          <a:solidFill>
            <a:srgbClr val="D8E0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7200" y="6455664"/>
            <a:ext cx="10058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0">
                <a:solidFill>
                  <a:srgbClr val="5E6A75"/>
                </a:solidFill>
                <a:latin typeface="Segoe UI"/>
              </a:rPr>
              <a:t>CONFIDENTIAL  |  22nd Century Technologies  |  V-Intelligence Behavioral UEBA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338560" y="6455664"/>
            <a:ext cx="6400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 i="0">
                <a:solidFill>
                  <a:srgbClr val="5E6A75"/>
                </a:solidFill>
                <a:latin typeface="Segoe UI"/>
              </a:rPr>
              <a:t>19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20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194560"/>
            <a:ext cx="12191695" cy="38100"/>
          </a:xfrm>
          <a:prstGeom prst="rect">
            <a:avLst/>
          </a:prstGeom>
          <a:solidFill>
            <a:srgbClr val="E877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005840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 i="0">
                <a:solidFill>
                  <a:srgbClr val="E87722"/>
                </a:solidFill>
                <a:latin typeface="Segoe UI"/>
              </a:rPr>
              <a:t>THE BEHAVIORAL ANSWER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468880"/>
            <a:ext cx="1069848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1700">
                <a:solidFill>
                  <a:srgbClr val="FFFFFF"/>
                </a:solidFill>
                <a:latin typeface="Segoe UI"/>
              </a:rPr>
              <a:t>•  Reads behavior as meaning, not magnitude, from the logs you already collect.</a:t>
            </a:r>
          </a:p>
          <a:p>
            <a:pPr>
              <a:spcAft>
                <a:spcPts val="1400"/>
              </a:spcAft>
            </a:pPr>
            <a:r>
              <a:rPr sz="1700">
                <a:solidFill>
                  <a:srgbClr val="FFFFFF"/>
                </a:solidFill>
                <a:latin typeface="Segoe UI"/>
              </a:rPr>
              <a:t>•  Catches the valid-account, living-off-the-land attacker that crosses no threshold.</a:t>
            </a:r>
          </a:p>
          <a:p>
            <a:pPr>
              <a:spcAft>
                <a:spcPts val="1400"/>
              </a:spcAft>
            </a:pPr>
            <a:r>
              <a:rPr sz="1700">
                <a:solidFill>
                  <a:srgbClr val="FFFFFF"/>
                </a:solidFill>
                <a:latin typeface="Segoe UI"/>
              </a:rPr>
              <a:t>•  Precision layer at 0 false positives; discovery twin that needs no prior fingerprint.</a:t>
            </a:r>
          </a:p>
          <a:p>
            <a:pPr>
              <a:spcAft>
                <a:spcPts val="1400"/>
              </a:spcAft>
            </a:pPr>
            <a:r>
              <a:rPr sz="1700">
                <a:solidFill>
                  <a:srgbClr val="FFFFFF"/>
                </a:solidFill>
                <a:latin typeface="Segoe UI"/>
              </a:rPr>
              <a:t>•  Hands the analyst a ranked, explainable verdict with its MITRE direction attached.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577840"/>
            <a:ext cx="106984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 i="0">
                <a:solidFill>
                  <a:srgbClr val="E87722"/>
                </a:solidFill>
                <a:latin typeface="Segoe UI"/>
              </a:rPr>
              <a:t>From detect-and-respond, too late, to read-the-meaning and warn early.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702552"/>
            <a:ext cx="12191695" cy="15240"/>
          </a:xfrm>
          <a:prstGeom prst="rect">
            <a:avLst/>
          </a:prstGeom>
          <a:solidFill>
            <a:srgbClr val="D8E0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6455664"/>
            <a:ext cx="10058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0">
                <a:solidFill>
                  <a:srgbClr val="5E6A75"/>
                </a:solidFill>
                <a:latin typeface="Segoe UI"/>
              </a:rPr>
              <a:t>CONFIDENTIAL  |  22nd Century Technologies  |  V-Intelligence Behavioral UEBA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338560" y="6455664"/>
            <a:ext cx="6400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 i="0">
                <a:solidFill>
                  <a:srgbClr val="5E6A75"/>
                </a:solidFill>
                <a:latin typeface="Segoe UI"/>
              </a:rPr>
              <a:t>20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20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E877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2860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E87722"/>
                </a:solidFill>
                <a:latin typeface="Segoe UI"/>
              </a:rPr>
              <a:t>PART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788920"/>
            <a:ext cx="105156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FFFFFF"/>
                </a:solidFill>
                <a:latin typeface="Segoe UI"/>
              </a:rPr>
              <a:t>The Problem: Why Today’s Detection Breaks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11480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0">
                <a:solidFill>
                  <a:srgbClr val="BFD4EA"/>
                </a:solidFill>
                <a:latin typeface="Segoe UI"/>
              </a:rPr>
              <a:t>SIEM and UEBA read magnitude and signatures — AI-speed, valid-account attacks cross no threshold.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702552"/>
            <a:ext cx="12191695" cy="18288"/>
          </a:xfrm>
          <a:prstGeom prst="rect">
            <a:avLst/>
          </a:prstGeom>
          <a:solidFill>
            <a:srgbClr val="D8E0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6455664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5E6A75"/>
                </a:solidFill>
                <a:latin typeface="Segoe UI"/>
              </a:rPr>
              <a:t>CONFIDENTIAL  |  22nd Century Technologies  |  V-Intelligence Behavioral UEBA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338560" y="6455664"/>
            <a:ext cx="640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BFD4EA"/>
                </a:solidFill>
                <a:latin typeface="Segoe UI"/>
              </a:rPr>
              <a:t>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