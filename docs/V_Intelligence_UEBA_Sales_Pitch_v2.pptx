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Detecting the Undetectable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286000"/>
            <a:ext cx="2743200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A0C8E0"/>
                </a:solidFill>
                <a:latin typeface="Calibri"/>
              </a:defRPr>
            </a:pPr>
            <a:r>
              <a:t>How Nation-State Attackers Operate Undetected for Years</a:t>
            </a:r>
            <a:br/>
            <a:r>
              <a:t>Inside Critical Infrastructure — and How AI Changes the Outcome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7950B"/>
                </a:solidFill>
                <a:latin typeface="Calibri"/>
              </a:defRPr>
            </a:pPr>
            <a:r>
              <a:t>V-Intelligence UEBA: The Behavioral Digital Twin for Cyber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Threat Landscape Has Changed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05050"/>
                </a:solidFill>
                <a:latin typeface="Calibri"/>
              </a:defRPr>
            </a:pPr>
            <a:r>
              <a:t>Nation-state attackers no longer break in — they blend in. They use legitimate credentials, standard protocols, and built-in system tools. They look exactly like your employees.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5603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2011680"/>
            <a:ext cx="246888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0392B"/>
                </a:solidFill>
                <a:latin typeface="Calibri"/>
              </a:defRPr>
            </a:pPr>
            <a:r>
              <a:t>287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3464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05050"/>
                </a:solidFill>
                <a:latin typeface="Calibri"/>
              </a:defRPr>
            </a:pPr>
            <a:r>
              <a:t>Average time to</a:t>
            </a:r>
            <a:br/>
            <a:r>
              <a:t>detect a breach</a:t>
            </a:r>
            <a:br/>
            <a:r>
              <a:t>(IBM 2024)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011680"/>
            <a:ext cx="25603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9000" y="2011680"/>
            <a:ext cx="246888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0392B"/>
                </a:solidFill>
                <a:latin typeface="Calibri"/>
              </a:defRPr>
            </a:pPr>
            <a:r>
              <a:t>$4.88M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283464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05050"/>
                </a:solidFill>
                <a:latin typeface="Calibri"/>
              </a:defRPr>
            </a:pPr>
            <a:r>
              <a:t>Average cost of</a:t>
            </a:r>
            <a:br/>
            <a:r>
              <a:t>a data breach</a:t>
            </a:r>
            <a:br/>
            <a:r>
              <a:t>(IBM 2024)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25603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2011680"/>
            <a:ext cx="2468880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67E22"/>
                </a:solidFill>
                <a:latin typeface="Calibri"/>
              </a:defRPr>
            </a:pPr>
            <a:r>
              <a:t>5+ years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83464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05050"/>
                </a:solidFill>
                <a:latin typeface="Calibri"/>
              </a:defRPr>
            </a:pPr>
            <a:r>
              <a:t>Salt Typhoon in</a:t>
            </a:r>
            <a:br/>
            <a:r>
              <a:t>US telecom before</a:t>
            </a:r>
            <a:br/>
            <a:r>
              <a:t>discovery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560" y="2011680"/>
            <a:ext cx="25603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98280" y="2011680"/>
            <a:ext cx="2468880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972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67E22"/>
                </a:solidFill>
                <a:latin typeface="Calibri"/>
              </a:defRPr>
            </a:pPr>
            <a:r>
              <a:t>5+ years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283464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05050"/>
                </a:solidFill>
                <a:latin typeface="Calibri"/>
              </a:defRPr>
            </a:pPr>
            <a:r>
              <a:t>Volt Typhoon in</a:t>
            </a:r>
            <a:br/>
            <a:r>
              <a:t>US critical infra</a:t>
            </a:r>
            <a:br/>
            <a:r>
              <a:t>before discovery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206240"/>
            <a:ext cx="11064240" cy="2286000"/>
          </a:xfrm>
          <a:prstGeom prst="roundRect">
            <a:avLst/>
          </a:prstGeom>
          <a:solidFill>
            <a:srgbClr val="FDEDEC"/>
          </a:solidFill>
          <a:ln w="254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2976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Calibri"/>
              </a:defRPr>
            </a:pPr>
            <a:r>
              <a:t>The New Reality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754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05050"/>
                </a:solidFill>
                <a:latin typeface="Calibri"/>
              </a:defRPr>
            </a:pPr>
            <a:r>
              <a:t>These are not hypothetical scenarios. In 2024, the US government disclosed that Chinese state-sponsored groups had been operating undetected inside American telecom and critical infrastructure for years.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212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05050"/>
                </a:solidFill>
                <a:latin typeface="Calibri"/>
              </a:defRPr>
            </a:pPr>
            <a:r>
              <a:t>Traditional cybersecurity tools — SIEM rules, anomaly detection algorithms, threshold-based alerts — were deployed at every compromised organization. None of them detected the intrusion.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05050"/>
                </a:solidFill>
                <a:latin typeface="Calibri"/>
              </a:defRPr>
            </a:pPr>
            <a:r>
              <a:t>The attackers were not invisible because they were sophisticated. They were invisible because the detection methods are fundamentally blind to their approach.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Case Study: Salt Typhoon — 5 Years Inside US Telecom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5486400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280160"/>
            <a:ext cx="5394960" cy="54864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980B9"/>
                </a:solidFill>
                <a:latin typeface="Calibri"/>
              </a:defRPr>
            </a:pPr>
            <a:r>
              <a:t>What Happened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980B9"/>
                </a:solidFill>
                <a:latin typeface="Calibri"/>
              </a:defRPr>
            </a:pPr>
            <a:r>
              <a:t>~2019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19202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Reconnaissance begins against US telecom providers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980B9"/>
                </a:solidFill>
                <a:latin typeface="Calibri"/>
              </a:defRPr>
            </a:pPr>
            <a:r>
              <a:t>~2021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24688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Active penetration of telecom infrastructure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17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980B9"/>
                </a:solidFill>
                <a:latin typeface="Calibri"/>
              </a:defRPr>
            </a:pPr>
            <a:r>
              <a:t>2021-2024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30175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Persistent access to AT&amp;T, Verizon, T-Mobile, Lumen, Charter, Windstream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6615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980B9"/>
                </a:solidFill>
                <a:latin typeface="Calibri"/>
              </a:defRPr>
            </a:pPr>
            <a:r>
              <a:t>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3566159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Accessed CALEA lawful intercept / wiretap systems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148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980B9"/>
                </a:solidFill>
                <a:latin typeface="Calibri"/>
              </a:defRPr>
            </a:pPr>
            <a:r>
              <a:t>2024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41148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Harvested call metadata of 1M+ users, including senior US officials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634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980B9"/>
                </a:solidFill>
                <a:latin typeface="Calibri"/>
              </a:defRPr>
            </a:pPr>
            <a:r>
              <a:t>Sept 2024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46634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FBI and CISA discover the breach — not the telecom companies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1207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980B9"/>
                </a:solidFill>
                <a:latin typeface="Calibri"/>
              </a:defRPr>
            </a:pPr>
            <a:r>
              <a:t>Oct 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5212079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Public disclosure; 9 US telecoms confirmed compromised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128016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1280160"/>
            <a:ext cx="521208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1463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0392B"/>
                </a:solidFill>
                <a:latin typeface="Calibri"/>
              </a:defRPr>
            </a:pPr>
            <a:r>
              <a:t>Why Every Detection System Failed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19202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Used legitimate network protocols — no malware signatures to detect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246888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Maintained normal traffic volumes — never spiked bandwidth alerts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301752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Operated with valid credentials — no brute force, no credential stuffing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3566159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Exploited lawful intercept systems — outside standard SIEM monitoring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11480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CALEA systems managed separately from customer-facing security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46634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392B"/>
                </a:solidFill>
                <a:latin typeface="Calibri"/>
              </a:defRPr>
            </a:pPr>
            <a:r>
              <a:t>✗ Every traditional SIEM rule, IDS signature, and anomaly threshold was in place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5212079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392B"/>
                </a:solidFill>
                <a:latin typeface="Calibri"/>
              </a:defRPr>
            </a:pPr>
            <a:r>
              <a:t>✗ None detected the intrusion — for over five years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Case Study: Volt Typhoon — 5 Years in Critical Infrastructure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5486400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280160"/>
            <a:ext cx="5394960" cy="5486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E44AD"/>
                </a:solidFill>
                <a:latin typeface="Calibri"/>
              </a:defRPr>
            </a:pPr>
            <a:r>
              <a:t>What Happened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E44AD"/>
                </a:solidFill>
                <a:latin typeface="Calibri"/>
              </a:defRPr>
            </a:pPr>
            <a:r>
              <a:t>~2019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19202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Initial access to US critical infrastructure networks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E44AD"/>
                </a:solidFill>
                <a:latin typeface="Calibri"/>
              </a:defRPr>
            </a:pPr>
            <a:r>
              <a:t>2019-2023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24688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Persistent presence in energy, water, telecom, transportation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17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E44AD"/>
                </a:solidFill>
                <a:latin typeface="Calibri"/>
              </a:defRPr>
            </a:pPr>
            <a:r>
              <a:t>Ongoing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30175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Pre-positioned for disrupting US-Asia communications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6615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E44AD"/>
                </a:solidFill>
                <a:latin typeface="Calibri"/>
              </a:defRPr>
            </a:pPr>
            <a:r>
              <a:t>May 2023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3566159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Microsoft Threat Intelligence publicly discloses the campaign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148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E44AD"/>
                </a:solidFill>
                <a:latin typeface="Calibri"/>
              </a:defRPr>
            </a:pPr>
            <a:r>
              <a:t>May 2023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41148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CISA/NSA/FBI publish Joint Advisory AA23-144A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634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E44AD"/>
                </a:solidFill>
                <a:latin typeface="Calibri"/>
              </a:defRPr>
            </a:pPr>
            <a:r>
              <a:t>Feb 2024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46634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CISA confirms 5 years of persistent access in some targets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1207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E44AD"/>
                </a:solidFill>
                <a:latin typeface="Calibri"/>
              </a:defRPr>
            </a:pPr>
            <a:r>
              <a:t>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5212079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Follow-up Advisory AA24-038A documents full scope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128016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1280160"/>
            <a:ext cx="521208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1463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0392B"/>
                </a:solidFill>
                <a:latin typeface="Calibri"/>
              </a:defRPr>
            </a:pPr>
            <a:r>
              <a:t>Why "Living Off the Land" Is Undetectable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19202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Zero malware deployed — used only built-in OS tools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246888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PowerShell, WMI, cmd, netsh — tools every admin uses daily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301752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Authenticated with stolen valid credentials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3566159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Lateral movement looked identical to IT maintenance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11480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No anomalous traffic patterns — everything within normal bounds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46634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392B"/>
                </a:solidFill>
                <a:latin typeface="Calibri"/>
              </a:defRPr>
            </a:pPr>
            <a:r>
              <a:t>✗ EDR, SIEM, IDS all deployed — all failed to detect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5212079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392B"/>
                </a:solidFill>
                <a:latin typeface="Calibri"/>
              </a:defRPr>
            </a:pPr>
            <a:r>
              <a:t>✗ Discovered by Microsoft threat researchers, not by deployed tools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486400"/>
            <a:ext cx="11064240" cy="731520"/>
          </a:xfrm>
          <a:prstGeom prst="roundRect">
            <a:avLst/>
          </a:prstGeom>
          <a:solidFill>
            <a:srgbClr val="FFFBEB"/>
          </a:solidFill>
          <a:ln w="25400"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577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505050"/>
                </a:solidFill>
                <a:latin typeface="Calibri"/>
              </a:defRPr>
            </a:pPr>
            <a:r>
              <a:t>Common thread: Both Salt Typhoon and Volt Typhoon were discovered by external researchers — not by any security tool deployed at the compromised organizations. The tools were there. They simply cannot see this type of attack.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Full Threat Spectrum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C8E0"/>
                </a:solidFill>
                <a:latin typeface="Calibri"/>
              </a:defRPr>
            </a:pPr>
            <a:r>
              <a:t>Nation-state actors, insiders, and patient adversaries each exploit a different blind spot. No organization faces just one threat category.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5303520" cy="1828800"/>
          </a:xfrm>
          <a:prstGeom prst="round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2011680"/>
            <a:ext cx="64008" cy="16459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Nation-State Telecom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392B"/>
                </a:solidFill>
                <a:latin typeface="Calibri"/>
              </a:defRPr>
            </a:pPr>
            <a:r>
              <a:t>Salt Typhoon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9748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D2DC"/>
                </a:solidFill>
                <a:latin typeface="Calibri"/>
              </a:defRPr>
            </a:pPr>
            <a:r>
              <a:t>5+ years undetected  |  Wiretap compromise</a:t>
            </a:r>
            <a:br/>
            <a:r>
              <a:t>9 US telecom providers  |  Call metadata of senior officials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920240"/>
            <a:ext cx="5303520" cy="1828800"/>
          </a:xfrm>
          <a:prstGeom prst="round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2011680"/>
            <a:ext cx="64008" cy="16459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05740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Nation-State Infrastructure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37744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7E22"/>
                </a:solidFill>
                <a:latin typeface="Calibri"/>
              </a:defRPr>
            </a:pPr>
            <a:r>
              <a:t>Volt Typhoon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9748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D2DC"/>
                </a:solidFill>
                <a:latin typeface="Calibri"/>
              </a:defRPr>
            </a:pPr>
            <a:r>
              <a:t>5+ years undetected  |  Critical infrastructure</a:t>
            </a:r>
            <a:br/>
            <a:r>
              <a:t>Living Off the Land  |  Pre-positioned for disruption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23360"/>
            <a:ext cx="5303520" cy="1828800"/>
          </a:xfrm>
          <a:prstGeom prst="round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4114800"/>
            <a:ext cx="64008" cy="16459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1605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Insider Threat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48056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392B"/>
                </a:solidFill>
                <a:latin typeface="Calibri"/>
              </a:defRPr>
            </a:pPr>
            <a:r>
              <a:t>Trusted Employee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80060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D2DC"/>
                </a:solidFill>
                <a:latin typeface="Calibri"/>
              </a:defRPr>
            </a:pPr>
            <a:r>
              <a:t>14-month gradual escalation  |  Authorized credentials</a:t>
            </a:r>
            <a:br/>
            <a:r>
              <a:t>All actions individually legitimate  |  Slow data exfiltration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023360"/>
            <a:ext cx="5303520" cy="1828800"/>
          </a:xfrm>
          <a:prstGeom prst="round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4114800"/>
            <a:ext cx="64008" cy="16459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41605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Slow APT Campaign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48056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7E22"/>
                </a:solidFill>
                <a:latin typeface="Calibri"/>
              </a:defRPr>
            </a:pPr>
            <a:r>
              <a:t>Patient Attacker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80060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D2DC"/>
                </a:solidFill>
                <a:latin typeface="Calibri"/>
              </a:defRPr>
            </a:pPr>
            <a:r>
              <a:t>417-day campaign  |  Below every threshold</a:t>
            </a:r>
            <a:br/>
            <a:r>
              <a:t>No single anomalous week  |  Credential harvesting + lateral movement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6035040"/>
            <a:ext cx="11064240" cy="548640"/>
          </a:xfrm>
          <a:prstGeom prst="roundRect">
            <a:avLst/>
          </a:prstGeom>
          <a:solidFill>
            <a:srgbClr val="14283C"/>
          </a:solidFill>
          <a:ln w="25400"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60807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B7950B"/>
                </a:solidFill>
                <a:latin typeface="Calibri"/>
              </a:defRPr>
            </a:pPr>
            <a:r>
              <a:t>Each exploits a different blind spot. No single tool covers all four.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Why Every Traditional Approach Fails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05050"/>
                </a:solidFill>
                <a:latin typeface="Calibri"/>
              </a:defRPr>
            </a:pPr>
            <a:r>
              <a:t>Traditional cybersecurity tools are designed for a threat model that no longer exists.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828800"/>
            <a:ext cx="356616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28800"/>
            <a:ext cx="347472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0116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C0392B"/>
                </a:solidFill>
                <a:latin typeface="Calibri"/>
              </a:defRPr>
            </a:pPr>
            <a:r>
              <a:t>Signature-Based 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69696"/>
                </a:solidFill>
                <a:latin typeface="Calibri"/>
              </a:defRPr>
            </a:pPr>
            <a:r>
              <a:t>IDS / Antivirus / EDR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432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Looks for known malware patterns and attack signatures.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474720"/>
            <a:ext cx="3291840" cy="822960"/>
          </a:xfrm>
          <a:prstGeom prst="round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5204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0392B"/>
                </a:solidFill>
                <a:latin typeface="Calibri"/>
              </a:defRPr>
            </a:pPr>
            <a:r>
              <a:t>Fails when: Attacker uses no malware — only legitimate tools that are already whitelisted.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805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Salt Typhoon and Volt Typhoon deployed zero malware. Every file on disk was legitimate.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1828800"/>
            <a:ext cx="356616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1828800"/>
            <a:ext cx="3474720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20116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67E22"/>
                </a:solidFill>
                <a:latin typeface="Calibri"/>
              </a:defRPr>
            </a:pPr>
            <a:r>
              <a:t>Rule-Based Detection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2331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69696"/>
                </a:solidFill>
                <a:latin typeface="Calibri"/>
              </a:defRPr>
            </a:pPr>
            <a:r>
              <a:t>SIEM Rules / Correlation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7432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Triggers on predefined conditions — failed logins, privilege escalation, data thresholds.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474720"/>
            <a:ext cx="3291840" cy="822960"/>
          </a:xfrm>
          <a:prstGeom prst="round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40" y="35204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0392B"/>
                </a:solidFill>
                <a:latin typeface="Calibri"/>
              </a:defRPr>
            </a:pPr>
            <a:r>
              <a:t>Fails when: Attacker stays below every threshold. 5% more data each week never triggers a rule.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4805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Every rule at AT&amp;T, Verizon, and 7 other telecoms was in place. None fired for 5+ years.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1828800"/>
            <a:ext cx="356616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92440" y="1828800"/>
            <a:ext cx="3474720" cy="5486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3880" y="20116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8E44AD"/>
                </a:solidFill>
                <a:latin typeface="Calibri"/>
              </a:defRPr>
            </a:pPr>
            <a:r>
              <a:t>Statistical Anomaly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80" y="2331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69696"/>
                </a:solidFill>
                <a:latin typeface="Calibri"/>
              </a:defRPr>
            </a:pPr>
            <a:r>
              <a:t>Isolation Forest / SVM / LOF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27432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Flags users whose individual metrics deviate from the statistical mean.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80" y="3474720"/>
            <a:ext cx="3291840" cy="822960"/>
          </a:xfrm>
          <a:prstGeom prst="round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35204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0392B"/>
                </a:solidFill>
                <a:latin typeface="Calibri"/>
              </a:defRPr>
            </a:pPr>
            <a:r>
              <a:t>Fails when: No single metric is abnormal enough. The attack is in the combination, not any one number.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4805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Our testing: 4 simulated nation-state attacks — Isolation Forest, SVM, and LOF detect zero.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760720"/>
            <a:ext cx="11064240" cy="64008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806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7950B"/>
                </a:solidFill>
                <a:latin typeface="Calibri"/>
              </a:defRPr>
            </a:pPr>
            <a:r>
              <a:t>The fundamental problem: These tools ask "is any one number abnormal?" — but modern attackers ensure that no single number ever is. The attack is invisible to every tool that looks at individual metrics.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Innovation: Behavioral Digital Twin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05050"/>
                </a:solidFill>
                <a:latin typeface="Calibri"/>
              </a:defRPr>
            </a:pPr>
            <a:r>
              <a:t>V-Intelligence UEBA creates a behavioral digital twin for every entity in your environment — a rich, multi-dimensional representation of how each user, device, and application behaves. Not what numbers they generate. How they work.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303520" cy="3657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2103120"/>
            <a:ext cx="521208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0392B"/>
                </a:solidFill>
                <a:latin typeface="Calibri"/>
              </a:defRPr>
            </a:pPr>
            <a:r>
              <a:t>Traditional: Raw Metrics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432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✗  Monitors individual numbers: login count, bytes transferred, failed auths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461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✗  Each metric checked independently against static thresholds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490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✗  No understanding of relationships between behaviors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2519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✗  No context: "50 logins" means the same whether you're IT or Finance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7548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✗  Attacker stays below threshold on every metric → invisible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103120"/>
            <a:ext cx="5303520" cy="3657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2103120"/>
            <a:ext cx="521208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2860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V-Intelligence UEBA: Behavioral Digital Twin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7432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✓  Creates a unified behavioral profile capturing all activity dimensions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2461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✓  Understands the meaning of actions — not just the magnitude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7490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✓  Captures cross-dimensional relationships (access + data + network)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2519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✓  Context-aware: knows what "normal" means for each individual role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7548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✓  Detects behavioral change patterns invisible to metric-by-metric analysis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943600"/>
            <a:ext cx="11064240" cy="64008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7950B"/>
                </a:solidFill>
                <a:latin typeface="Calibri"/>
              </a:defRPr>
            </a:pPr>
            <a:r>
              <a:t>The digital twin doesn't ask "is this number abnormal?" — it asks "has this person fundamentally changed how they work?" That is the question Salt Typhoon and Volt Typhoon attackers cannot evade.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Multi-Tier Detection: Progressive Intelligence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05050"/>
                </a:solidFill>
                <a:latin typeface="Calibri"/>
              </a:defRPr>
            </a:pPr>
            <a:r>
              <a:t>V-Intelligence UEBA employs a multi-tier approach — each layer adds detection capability that the previous layer cannot achieve.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828800"/>
            <a:ext cx="3566160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28800"/>
            <a:ext cx="347472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0116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C0392B"/>
                </a:solidFill>
                <a:latin typeface="Calibri"/>
              </a:defRPr>
            </a:pPr>
            <a:r>
              <a:t>Traditional SIEM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Isolation Forest / SVM / LOF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2651760"/>
            <a:ext cx="2103120" cy="54864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  Undirected attacks detected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375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Detects anomalies (LOF: 3/4, Z-Score: 4/4, IForest: 3/4)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03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Flags users as anomalous without explanation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690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No indication of which behavior changed or why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4348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Analyst must manually investigate every alert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892040"/>
            <a:ext cx="3291840" cy="502920"/>
          </a:xfrm>
          <a:prstGeom prst="round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0392B"/>
                </a:solidFill>
                <a:latin typeface="Calibri"/>
              </a:defRPr>
            </a:pPr>
            <a:r>
              <a:t>Result: Detects anomalies but provides zero triage guidance.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0" y="1828800"/>
            <a:ext cx="3566160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1960" y="1828800"/>
            <a:ext cx="3474720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20116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67E22"/>
                </a:solidFill>
                <a:latin typeface="Calibri"/>
              </a:defRPr>
            </a:pPr>
            <a:r>
              <a:t>Intermediate Analysis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233172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Composite Statistical Scoring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37760" y="2651760"/>
            <a:ext cx="2103120" cy="54864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  4 of 4 attacks detected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33375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Composite scoring aggregates multiple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703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Achieves 4/4 detection at 10.6% FP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40690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Still no directional intelligence per detection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44348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Analyst sees a score but not which zone drifted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4892040"/>
            <a:ext cx="3291840" cy="502920"/>
          </a:xfrm>
          <a:prstGeom prst="round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49377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67E22"/>
                </a:solidFill>
                <a:latin typeface="Calibri"/>
              </a:defRPr>
            </a:pPr>
            <a:r>
              <a:t>Result: Detects all 4 but still lacks zone-level explanation.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1828800"/>
            <a:ext cx="3566160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92440" y="1828800"/>
            <a:ext cx="347472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20116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27AE60"/>
                </a:solidFill>
                <a:latin typeface="Calibri"/>
              </a:defRPr>
            </a:pPr>
            <a:r>
              <a:t>V-INTELLIGENCE UEBA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80" y="233172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Full Behavioral Intelligence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778240" y="2651760"/>
            <a:ext cx="2103120" cy="5486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  4 of 4 attacks detected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33375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Behavioral digital twin per entity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3703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Multi-dimensional behavioral profiling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40690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Detects subtle pattern shifts across all contexts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44348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Catches Salt Typhoon, Insider, Slow APT, Volt Typhoon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83880" y="4892040"/>
            <a:ext cx="3291840" cy="502920"/>
          </a:xfrm>
          <a:prstGeom prst="round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49377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7AE60"/>
                </a:solidFill>
                <a:latin typeface="Calibri"/>
              </a:defRPr>
            </a:pPr>
            <a:r>
              <a:t>Result: All 4 attacks detected at 10.6% false positive rate.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806440"/>
            <a:ext cx="11064240" cy="59436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3387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B7950B"/>
                </a:solidFill>
                <a:latin typeface="Calibri"/>
              </a:defRPr>
            </a:pPr>
            <a:r>
              <a:t>Undirected flags  →  4 / 4 (no zones)  →  4 / 4 + Zone Intelligence    |    V-Intelligence adds directional triage to every detection.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How V-Intelligence UEBA Works — High-Level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05050"/>
                </a:solidFill>
                <a:latin typeface="Calibri"/>
              </a:defRPr>
            </a:pPr>
            <a:r>
              <a:t>V-Intelligence UEBA transforms raw security telemetry into behavioral intelligence through a multi-stage pipeline: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457200" cy="457200"/>
          </a:xfrm>
          <a:prstGeom prst="round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84708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E6B8A"/>
                </a:solidFill>
                <a:latin typeface="Calibri"/>
              </a:defRPr>
            </a:pPr>
            <a:r>
              <a:t>INGEST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84708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1B2A"/>
                </a:solidFill>
                <a:latin typeface="Calibri"/>
              </a:defRPr>
            </a:pPr>
            <a:r>
              <a:t>Security Telemetry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828800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Authentication logs, file access, network traffic, endpoint events, DNS queries — the same data your SIEM already collects.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606040"/>
            <a:ext cx="457200" cy="457200"/>
          </a:xfrm>
          <a:prstGeom prst="round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62432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4F72"/>
                </a:solidFill>
                <a:latin typeface="Calibri"/>
              </a:defRPr>
            </a:pPr>
            <a:r>
              <a:t>PROFILE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62432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1B2A"/>
                </a:solidFill>
                <a:latin typeface="Calibri"/>
              </a:defRPr>
            </a:pPr>
            <a:r>
              <a:t>Behavioral Digital Twin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606040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AI creates a multi-dimensional behavioral profile for every user, device, and application. Captures HOW entities behave, not just WHAT numbers they generate.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383280"/>
            <a:ext cx="457200" cy="457200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40156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E44AD"/>
                </a:solidFill>
                <a:latin typeface="Calibri"/>
              </a:defRPr>
            </a:pPr>
            <a:r>
              <a:t>MONITOR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340156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1B2A"/>
                </a:solidFill>
                <a:latin typeface="Calibri"/>
              </a:defRPr>
            </a:pPr>
            <a:r>
              <a:t>Behavioral Change Detection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3383280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Continuously monitors each entity's digital twin for meaningful behavioral changes. Detects when behavior shifts — even when no individual metric is abnormal.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160520"/>
            <a:ext cx="457200" cy="45720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17880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  <a:latin typeface="Calibri"/>
              </a:defRPr>
            </a:pPr>
            <a:r>
              <a:t>SCORE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41788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1B2A"/>
                </a:solidFill>
                <a:latin typeface="Calibri"/>
              </a:defRPr>
            </a:pPr>
            <a:r>
              <a:t>Composite Risk Scoring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4160520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Multi-phase scoring evaluates signal strength, breadth, sustained deviation, and behavioral context to produce a single composite risk score per entity.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937760"/>
            <a:ext cx="457200" cy="457200"/>
          </a:xfrm>
          <a:prstGeom prst="round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95604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7950B"/>
                </a:solidFill>
                <a:latin typeface="Calibri"/>
              </a:defRPr>
            </a:pPr>
            <a:r>
              <a:t>RANK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495604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1B2A"/>
                </a:solidFill>
                <a:latin typeface="Calibri"/>
              </a:defRPr>
            </a:pPr>
            <a:r>
              <a:t>Analyst Priority 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4937760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All entities ranked by composite score. Analysts start at #1 and work down. No threshold tuning. No alert fatigue. No false alarm floods.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943600"/>
            <a:ext cx="11064240" cy="4572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9710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05050"/>
                </a:solidFill>
                <a:latin typeface="Calibri"/>
              </a:defRPr>
            </a:pPr>
            <a:r>
              <a:t>No new data sources required — V-Intelligence UEBA works with the telemetry your environment already produces.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Detection Results: Who Catches What?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05050"/>
                </a:solidFill>
                <a:latin typeface="Calibri"/>
              </a:defRPr>
            </a:pPr>
            <a:r>
              <a:t>250 users, 70 weeks (485 days), 4 attack campaigns — traditional methods vs V-Intelligence UEBA: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08760"/>
            <a:ext cx="502920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0392B"/>
                </a:solidFill>
                <a:latin typeface="Calibri"/>
              </a:defRPr>
            </a:pPr>
            <a:r>
              <a:t>TRADITIONAL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62763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050"/>
                </a:solidFill>
                <a:latin typeface="Calibri"/>
              </a:defRPr>
            </a:pPr>
            <a:r>
              <a:t>Isolation Forest  /  One-Class SVM  /  LOF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202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D1B2A"/>
                </a:solidFill>
                <a:latin typeface="Calibri"/>
              </a:defRPr>
            </a:pPr>
            <a:r>
              <a:t>USR-156</a:t>
            </a:r>
            <a:br/>
            <a:r>
              <a:t>Insider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9202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D1B2A"/>
                </a:solidFill>
                <a:latin typeface="Calibri"/>
              </a:defRPr>
            </a:pPr>
            <a:r>
              <a:t>USR-234</a:t>
            </a:r>
            <a:br/>
            <a:r>
              <a:t>APT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9202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D1B2A"/>
                </a:solidFill>
                <a:latin typeface="Calibri"/>
              </a:defRPr>
            </a:pPr>
            <a:r>
              <a:t>USR-042</a:t>
            </a:r>
            <a:br/>
            <a:r>
              <a:t>Volt Typhoon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9202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D1B2A"/>
                </a:solidFill>
                <a:latin typeface="Calibri"/>
              </a:defRPr>
            </a:pPr>
            <a:r>
              <a:t>USR-118</a:t>
            </a:r>
            <a:br/>
            <a:r>
              <a:t>Salt Typhoon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1965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D1B2A"/>
                </a:solidFill>
                <a:latin typeface="Calibri"/>
              </a:defRPr>
            </a:pPr>
            <a:r>
              <a:t>FP 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3317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D1B2A"/>
                </a:solidFill>
                <a:latin typeface="Calibri"/>
              </a:defRPr>
            </a:pPr>
            <a:r>
              <a:t>Isolation Forest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3317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23317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3317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3317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2331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50"/>
                </a:solidFill>
                <a:latin typeface="Calibri"/>
              </a:defRPr>
            </a:pPr>
            <a:r>
              <a:t>7.3%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6517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D1B2A"/>
                </a:solidFill>
                <a:latin typeface="Calibri"/>
              </a:defRPr>
            </a:pPr>
            <a:r>
              <a:t>One-Class SVM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2651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2651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651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2651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26517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50"/>
                </a:solidFill>
                <a:latin typeface="Calibri"/>
              </a:defRPr>
            </a:pPr>
            <a:r>
              <a:t>29.7%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29718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D1B2A"/>
                </a:solidFill>
                <a:latin typeface="Calibri"/>
              </a:defRPr>
            </a:pPr>
            <a:r>
              <a:t>LOF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29718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29718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29718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29718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2971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50"/>
                </a:solidFill>
                <a:latin typeface="Calibri"/>
              </a:defRPr>
            </a:pPr>
            <a:r>
              <a:t>3.3%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1600200"/>
            <a:ext cx="1645920" cy="32004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04120" y="161848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Undirected flags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383280"/>
            <a:ext cx="5029200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4747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7E22"/>
                </a:solidFill>
                <a:latin typeface="Calibri"/>
              </a:defRPr>
            </a:pPr>
            <a:r>
              <a:t>OUR INTERMEDIATE ANALYSIS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0" y="350215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050"/>
                </a:solidFill>
                <a:latin typeface="Calibri"/>
              </a:defRPr>
            </a:pPr>
            <a:r>
              <a:t>Statistical Pattern Detection (Z-Score |z|&gt;3)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37947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D1B2A"/>
                </a:solidFill>
                <a:latin typeface="Calibri"/>
              </a:defRPr>
            </a:pPr>
            <a:r>
              <a:t>Z-Score (|z| &gt; 3)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0" y="3794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0" y="3794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0" y="3794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3794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37947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50"/>
                </a:solidFill>
                <a:latin typeface="Calibri"/>
              </a:defRPr>
            </a:pPr>
            <a:r>
              <a:t>4.9%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058400" y="3474720"/>
            <a:ext cx="1645920" cy="32004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04120" y="34930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4 of 4 — no zones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411480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67E22"/>
                </a:solidFill>
                <a:latin typeface="Calibri"/>
              </a:defRPr>
            </a:pPr>
            <a:r>
              <a:t>Detects all 4 anomalies but provides no zone-level explanation of which behavior drifted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4572000"/>
            <a:ext cx="502920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46634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V-INTELLIGENCE UEBA + COMPOSITE SCORING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0" y="469087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050"/>
                </a:solidFill>
                <a:latin typeface="Calibri"/>
              </a:defRPr>
            </a:pPr>
            <a:r>
              <a:t>Behavioral Digital Twin → 5-Phase Anomaly Detection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49834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D1B2A"/>
                </a:solidFill>
                <a:latin typeface="Calibri"/>
              </a:defRPr>
            </a:pPr>
            <a:r>
              <a:t>Composite Score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0" y="4983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0" y="4983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0" y="4983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6800" y="4983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15600" y="49834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50"/>
                </a:solidFill>
                <a:latin typeface="Calibri"/>
              </a:defRPr>
            </a:pPr>
            <a:r>
              <a:t>10.6%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058400" y="4663440"/>
            <a:ext cx="164592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104120" y="46817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4 of 4 detected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57200" y="5394960"/>
            <a:ext cx="11247120" cy="50292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080" y="54406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0392B"/>
                </a:solidFill>
                <a:latin typeface="Calibri"/>
              </a:defRPr>
            </a:pPr>
            <a:r>
              <a:t>Traditional: Undirected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40480" y="548640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C8E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80" y="54406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67E22"/>
                </a:solidFill>
                <a:latin typeface="Calibri"/>
              </a:defRPr>
            </a:pPr>
            <a:r>
              <a:t>Composite: 4 / 4 (no zones)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98079" y="548640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C8E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955279" y="5440680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7AE60"/>
                </a:solidFill>
                <a:latin typeface="Calibri"/>
              </a:defRPr>
            </a:pPr>
            <a:r>
              <a:t>V-Intelligence: 4 / 4 + Zones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0080" y="5687568"/>
            <a:ext cx="10698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C8E0"/>
                </a:solidFill>
                <a:latin typeface="Calibri"/>
              </a:defRPr>
            </a:pPr>
            <a:r>
              <a:t>Each tier catches what the previous tier cannot see.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V-Intelligence UEBA Digital Twin: All 4 Attackers Ranked in Top 10%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05050"/>
                </a:solidFill>
                <a:latin typeface="Calibri"/>
              </a:defRPr>
            </a:pPr>
            <a:r>
              <a:t>Same 250 users, same data. V-Intelligence UEBA's behavioral digital twin identifies every attacker:</a:t>
            </a:r>
          </a:p>
        </p:txBody>
      </p:sp>
      <p:pic>
        <p:nvPicPr>
          <p:cNvPr id="5" name="Picture 4" descr="tier3_sec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1069848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How the Digital Twin Separates Attackers from Normal Users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05050"/>
                </a:solidFill>
                <a:latin typeface="Calibri"/>
              </a:defRPr>
            </a:pPr>
            <a:r>
              <a:t>V-Intelligence UEBA's behavioral analysis creates clear separation that traditional algorithms cannot achieve — attackers are visible in the ranked composite score:</a:t>
            </a:r>
          </a:p>
        </p:txBody>
      </p:sp>
      <p:pic>
        <p:nvPicPr>
          <p:cNvPr id="5" name="Picture 4" descr="tier3_sec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1106424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Verdict: Undirected Flags vs. Directed Behavioral Intelligence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05050"/>
                </a:solidFill>
                <a:latin typeface="Calibri"/>
              </a:defRPr>
            </a:pPr>
            <a:r>
              <a:t>Same data, same users — three fundamentally different outcomes: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3520440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342900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64208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0392B"/>
                </a:solidFill>
                <a:latin typeface="Calibri"/>
              </a:defRPr>
            </a:pPr>
            <a:r>
              <a:t>TRADITIONAL 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385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50"/>
                </a:solidFill>
                <a:latin typeface="Calibri"/>
              </a:defRPr>
            </a:pPr>
            <a:r>
              <a:t>Isolation Forest / SVM / LOF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4028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C0392B"/>
                </a:solidFill>
                <a:latin typeface="Calibri"/>
              </a:defRPr>
            </a:pPr>
            <a:r>
              <a:t>Undirected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34640"/>
            <a:ext cx="3246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505050"/>
                </a:solidFill>
                <a:latin typeface="Calibri"/>
              </a:defRPr>
            </a:pPr>
            <a:r>
              <a:t>attacks detected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154680"/>
            <a:ext cx="3154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050"/>
                </a:solidFill>
                <a:latin typeface="Calibri"/>
              </a:defRPr>
            </a:pPr>
            <a:r>
              <a:t>Detects anomalous users (LOF: 3/4 at 3.3% FP, Z-Score: 4/4 at 4.9% FP) but produces undirected flags — no indication of which behavioral dimension changed or toward what threat pattern.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160520"/>
            <a:ext cx="3246120" cy="4114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20624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Flags anomalies but no triage guidance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554480"/>
            <a:ext cx="3520440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554480"/>
            <a:ext cx="3429000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664208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67E22"/>
                </a:solidFill>
                <a:latin typeface="Calibri"/>
              </a:defRPr>
            </a:pPr>
            <a:r>
              <a:t>COMPOSITE SCORING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19385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50"/>
                </a:solidFill>
                <a:latin typeface="Calibri"/>
              </a:defRPr>
            </a:pPr>
            <a:r>
              <a:t>Multi-method statistical ensemble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24028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E67E22"/>
                </a:solidFill>
                <a:latin typeface="Calibri"/>
              </a:defRPr>
            </a:pPr>
            <a:r>
              <a:t>4 of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834640"/>
            <a:ext cx="3246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505050"/>
                </a:solidFill>
                <a:latin typeface="Calibri"/>
              </a:defRPr>
            </a:pPr>
            <a:r>
              <a:t>attacks detected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154680"/>
            <a:ext cx="3154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050"/>
                </a:solidFill>
                <a:latin typeface="Calibri"/>
              </a:defRPr>
            </a:pPr>
            <a:r>
              <a:t>Aggregates LOF, Z-Score, Isolation Forest, and OCSVM into a composite score. Achieves 4/4 detection at 10.6% FP but still produces undirected alerts — no zone-level explanation of which behavior changed.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4160520"/>
            <a:ext cx="3246120" cy="41148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0" y="420624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D1B2A"/>
                </a:solidFill>
                <a:latin typeface="Calibri"/>
              </a:defRPr>
            </a:pPr>
            <a:r>
              <a:t>FP: 10.6% — detects all but no zones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554480"/>
            <a:ext cx="3520440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46720" y="1554480"/>
            <a:ext cx="342900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38160" y="1664208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7AE60"/>
                </a:solidFill>
                <a:latin typeface="Calibri"/>
              </a:defRPr>
            </a:pPr>
            <a:r>
              <a:t>V-INTELLIGENCE UEBA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19385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50"/>
                </a:solidFill>
                <a:latin typeface="Calibri"/>
              </a:defRPr>
            </a:pPr>
            <a:r>
              <a:t>Behavioral Digital Twin + Zone Intelligence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224028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27AE60"/>
                </a:solidFill>
                <a:latin typeface="Calibri"/>
              </a:defRPr>
            </a:pPr>
            <a:r>
              <a:t>4 of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2834640"/>
            <a:ext cx="3246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505050"/>
                </a:solidFill>
                <a:latin typeface="Calibri"/>
              </a:defRPr>
            </a:pPr>
            <a:r>
              <a:t>attacks detected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80" y="3154680"/>
            <a:ext cx="3154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050"/>
                </a:solidFill>
                <a:latin typeface="Calibri"/>
              </a:defRPr>
            </a:pPr>
            <a:r>
              <a:t>Same 4/4 detection PLUS zone-level directional intelligence for each detection. Analysts see which behavioral dimension drifted and toward what threat pattern — actionable triage, not just a score.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8160" y="4160520"/>
            <a:ext cx="3246120" cy="41148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0" y="420624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FP: 10.6% — all 4 + directed triage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029200"/>
            <a:ext cx="11247120" cy="59436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074920"/>
            <a:ext cx="10698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B7950B"/>
                </a:solidFill>
                <a:latin typeface="Calibri"/>
              </a:defRPr>
            </a:pPr>
            <a:r>
              <a:t>V-Intelligence UEBA builds the behavioral digital twin. Composite Scoring detects the anomaly.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321808"/>
            <a:ext cx="10698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A0C8E0"/>
                </a:solidFill>
                <a:latin typeface="Calibri"/>
              </a:defRPr>
            </a:pPr>
            <a:r>
              <a:t>4/4 attacks detected at 10.6% FP — with zone-level directional intelligence for each detection.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5760720"/>
            <a:ext cx="11247120" cy="548640"/>
          </a:xfrm>
          <a:prstGeom prst="round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5779008"/>
            <a:ext cx="10698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7AE60"/>
                </a:solidFill>
                <a:latin typeface="Calibri"/>
              </a:defRPr>
            </a:pPr>
            <a:r>
              <a:t>Real-World Validation: Salt Typhoon (USR-118)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98932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0C8E0"/>
                </a:solidFill>
                <a:latin typeface="Calibri"/>
              </a:defRPr>
            </a:pPr>
            <a:r>
              <a:t>5+ years undetected by every traditional tool. V-Intelligence UEBA ranks it #1 out of 250 users (score: 51.7).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Unique Results: What V-Intelligence UEBA Achieved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05050"/>
                </a:solidFill>
                <a:latin typeface="Calibri"/>
              </a:defRPr>
            </a:pPr>
            <a:r>
              <a:t>Four distinct attack campaigns. Four different evasion strategies. All detected and ranked.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11247120" cy="1005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645920"/>
            <a:ext cx="1115568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USR-118 — Salt Typhoon Telecom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050"/>
                </a:solidFill>
                <a:latin typeface="Calibri"/>
              </a:defRPr>
            </a:pPr>
            <a:r>
              <a:t>Telecom infrastructure pivot — router config exfiltration, call metadata harvesting, DNS tunneling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783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7AE60"/>
                </a:solidFill>
                <a:latin typeface="Calibri"/>
              </a:defRPr>
            </a:pPr>
            <a:r>
              <a:t>51.7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14884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69696"/>
                </a:solidFill>
                <a:latin typeface="Calibri"/>
              </a:defRPr>
            </a:pPr>
            <a:r>
              <a:t>COMPOSITE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830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D1B2A"/>
                </a:solidFill>
                <a:latin typeface="Calibri"/>
              </a:defRPr>
            </a:pPr>
            <a:r>
              <a:t>#1 / 250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488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69696"/>
                </a:solidFill>
                <a:latin typeface="Calibri"/>
              </a:defRPr>
            </a:pPr>
            <a:r>
              <a:t>100th percentile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18288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7AE60"/>
                </a:solidFill>
                <a:latin typeface="Calibri"/>
              </a:defRPr>
            </a:pPr>
            <a:r>
              <a:t>Mirrors real Salt Typhoon — 5+ years undetected worldwide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788920"/>
            <a:ext cx="11247120" cy="1005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788920"/>
            <a:ext cx="11155680" cy="54864"/>
          </a:xfrm>
          <a:prstGeom prst="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880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E6B8A"/>
                </a:solidFill>
                <a:latin typeface="Calibri"/>
              </a:defRPr>
            </a:pPr>
            <a:r>
              <a:t>USR-156 — Insider Threat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200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050"/>
                </a:solidFill>
                <a:latin typeface="Calibri"/>
              </a:defRPr>
            </a:pPr>
            <a:r>
              <a:t>Gradual privilege escalation — restricted file access, off-hours activity, slow data exfiltration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926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E6B8A"/>
                </a:solidFill>
                <a:latin typeface="Calibri"/>
              </a:defRPr>
            </a:pPr>
            <a:r>
              <a:t>46.2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29184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69696"/>
                </a:solidFill>
                <a:latin typeface="Calibri"/>
              </a:defRPr>
            </a:pPr>
            <a:r>
              <a:t>COMPOSITE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9260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D1B2A"/>
                </a:solidFill>
                <a:latin typeface="Calibri"/>
              </a:defRPr>
            </a:pPr>
            <a:r>
              <a:t>#2 / 250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2918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69696"/>
                </a:solidFill>
                <a:latin typeface="Calibri"/>
              </a:defRPr>
            </a:pPr>
            <a:r>
              <a:t>99th percentile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9718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6B8A"/>
                </a:solidFill>
                <a:latin typeface="Calibri"/>
              </a:defRPr>
            </a:pPr>
            <a:r>
              <a:t>Slow 14-month escalation — no single week anomalous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931920"/>
            <a:ext cx="11247120" cy="1005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931920"/>
            <a:ext cx="11155680" cy="54864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023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4F72"/>
                </a:solidFill>
                <a:latin typeface="Calibri"/>
              </a:defRPr>
            </a:pPr>
            <a:r>
              <a:t>USR-234 — Slow APT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343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050"/>
                </a:solidFill>
                <a:latin typeface="Calibri"/>
              </a:defRPr>
            </a:pPr>
            <a:r>
              <a:t>Low-and-slow persistent access — credential harvesting, lateral movement across network segments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4069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B4F72"/>
                </a:solidFill>
                <a:latin typeface="Calibri"/>
              </a:defRPr>
            </a:pPr>
            <a:r>
              <a:t>20.0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443484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69696"/>
                </a:solidFill>
                <a:latin typeface="Calibri"/>
              </a:defRPr>
            </a:pPr>
            <a:r>
              <a:t>COMPOSITE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40690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D1B2A"/>
                </a:solidFill>
                <a:latin typeface="Calibri"/>
              </a:defRPr>
            </a:pPr>
            <a:r>
              <a:t>#7 / 250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4348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69696"/>
                </a:solidFill>
                <a:latin typeface="Calibri"/>
              </a:defRPr>
            </a:pPr>
            <a:r>
              <a:t>97th percentile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41148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4F72"/>
                </a:solidFill>
                <a:latin typeface="Calibri"/>
              </a:defRPr>
            </a:pPr>
            <a:r>
              <a:t>417-day campaign — deliberately stays below every threshold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074920"/>
            <a:ext cx="11247120" cy="1005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74920"/>
            <a:ext cx="11155680" cy="5486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166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E44AD"/>
                </a:solidFill>
                <a:latin typeface="Calibri"/>
              </a:defRPr>
            </a:pPr>
            <a:r>
              <a:t>USR-042 — Volt Typhoon LOTL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486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050"/>
                </a:solidFill>
                <a:latin typeface="Calibri"/>
              </a:defRPr>
            </a:pPr>
            <a:r>
              <a:t>Living-off-the-land — PowerShell, WMI, legitimate tools, no malware deployed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5212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8E44AD"/>
                </a:solidFill>
                <a:latin typeface="Calibri"/>
              </a:defRPr>
            </a:pPr>
            <a:r>
              <a:t>12.9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557784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69696"/>
                </a:solidFill>
                <a:latin typeface="Calibri"/>
              </a:defRPr>
            </a:pPr>
            <a:r>
              <a:t>COMPOSITE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2120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D1B2A"/>
                </a:solidFill>
                <a:latin typeface="Calibri"/>
              </a:defRPr>
            </a:pPr>
            <a:r>
              <a:t>#30 / 250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55778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69696"/>
                </a:solidFill>
                <a:latin typeface="Calibri"/>
              </a:defRPr>
            </a:pPr>
            <a:r>
              <a:t>88th percentile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6720" y="52578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E44AD"/>
                </a:solidFill>
                <a:latin typeface="Calibri"/>
              </a:defRPr>
            </a:pPr>
            <a:r>
              <a:t>Mirrors real Volt Typhoon — only built-in OS tools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6263640"/>
            <a:ext cx="11064240" cy="50292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629107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B7950B"/>
                </a:solidFill>
                <a:latin typeface="Calibri"/>
              </a:defRPr>
            </a:pPr>
            <a:r>
              <a:t>All 4 attackers in top 10%  |  10.6% false positive rate  |  Zero threshold tuning  |  Traditional methods: undirected flags only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Real-World Validation: Salt Typhoon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C8E0"/>
                </a:solidFill>
                <a:latin typeface="Calibri"/>
              </a:defRPr>
            </a:pPr>
            <a:r>
              <a:t>Our simulation replicates Salt Typhoon's exact attack pattern. The results confirm reality.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53035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  <a:latin typeface="Calibri"/>
              </a:defRPr>
            </a:pPr>
            <a:r>
              <a:t>In the Real World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060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Salt Typhoon operated inside US telecom for 5+ years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8036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Accessed wiretap systems of senior government officials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546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9 telecom providers compromised (AT&amp;T, Verizon, T-Mobile...)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28999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Discovered by FBI/CISA — not by any deployed tool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033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Every SIEM rule, IDS, and anomaly algorithm was in place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2011680"/>
            <a:ext cx="53035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1945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  <a:latin typeface="Calibri"/>
              </a:defRPr>
            </a:pPr>
            <a:r>
              <a:t>In Our Simulation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6060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Same attack pattern simulated among 250 users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88036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All traditional algorithms: MISSED (max z-score = 1.71)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1546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7AE60"/>
                </a:solidFill>
                <a:latin typeface="Calibri"/>
              </a:defRPr>
            </a:pPr>
            <a:r>
              <a:t>▸ V-Intelligence UEBA Composite Score: 51.7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428999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7AE60"/>
                </a:solidFill>
                <a:latin typeface="Calibri"/>
              </a:defRPr>
            </a:pPr>
            <a:r>
              <a:t>★ V-Intelligence UEBA Rank: #1 out of 250 users (100th percentile)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7033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7AE60"/>
                </a:solidFill>
                <a:latin typeface="Calibri"/>
              </a:defRPr>
            </a:pPr>
            <a:r>
              <a:t>★ Strongest behavioral anomaly in the entire population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572000"/>
            <a:ext cx="11064240" cy="1097280"/>
          </a:xfrm>
          <a:prstGeom prst="roundRect">
            <a:avLst/>
          </a:prstGeom>
          <a:solidFill>
            <a:srgbClr val="14283C"/>
          </a:solidFill>
          <a:ln w="25400"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663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7950B"/>
                </a:solidFill>
                <a:latin typeface="Calibri"/>
              </a:defRPr>
            </a:pPr>
            <a:r>
              <a:t>The Bottom 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029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The same threshold-based detection that failed for 5+ years in the real world fails identically in our simulation. V-Intelligence UEBA's behavioral digital twin ranks the identical attack pattern as the #1 anomaly — not because any single number is abnormal, but because the digital twin understands that the overall behavior has fundamentally changed.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7150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B7950B"/>
                </a:solidFill>
                <a:latin typeface="Calibri"/>
              </a:defRPr>
            </a:pPr>
            <a:r>
              <a:t>5+ years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035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C8E0"/>
                </a:solidFill>
                <a:latin typeface="Calibri"/>
              </a:defRPr>
            </a:pPr>
            <a:r>
              <a:t>undetected by</a:t>
            </a:r>
            <a:br/>
            <a:r>
              <a:t>traditional tools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57150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B7950B"/>
                </a:solidFill>
                <a:latin typeface="Calibri"/>
              </a:defRPr>
            </a:pPr>
            <a:r>
              <a:t>#1 / 250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6035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C8E0"/>
                </a:solidFill>
                <a:latin typeface="Calibri"/>
              </a:defRPr>
            </a:pPr>
            <a:r>
              <a:t>V-Intelligence UEBA rank</a:t>
            </a:r>
            <a:br/>
            <a:r>
              <a:t>(highest anomaly)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7150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B7950B"/>
                </a:solidFill>
                <a:latin typeface="Calibri"/>
              </a:defRPr>
            </a:pPr>
            <a:r>
              <a:t>51.7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6035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C8E0"/>
                </a:solidFill>
                <a:latin typeface="Calibri"/>
              </a:defRPr>
            </a:pPr>
            <a:r>
              <a:t>composite</a:t>
            </a:r>
            <a:br/>
            <a:r>
              <a:t>behavioral score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57150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B7950B"/>
                </a:solidFill>
                <a:latin typeface="Calibri"/>
              </a:defRPr>
            </a:pPr>
            <a:r>
              <a:t>0 zones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6035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C8E0"/>
                </a:solidFill>
                <a:latin typeface="Calibri"/>
              </a:defRPr>
            </a:pPr>
            <a:r>
              <a:t>directional intelligence</a:t>
            </a:r>
            <a:br/>
            <a:r>
              <a:t>from traditional methods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Why V-Intelligence UEBA Succeeds Where Others Fail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05050"/>
                </a:solidFill>
                <a:latin typeface="Calibri"/>
              </a:defRPr>
            </a:pPr>
            <a:r>
              <a:t>Every existing approach has a structural blind spot. V-Intelligence UEBA's behavioral digital twin eliminates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228600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219456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D1B2A"/>
                </a:solidFill>
                <a:latin typeface="Calibri"/>
              </a:defRPr>
            </a:pPr>
            <a:r>
              <a:t>Traditional SIEM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402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69696"/>
                </a:solidFill>
                <a:latin typeface="Calibri"/>
              </a:defRPr>
            </a:pPr>
            <a:r>
              <a:t>Checks thresholds on individual metrics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6080" y="1828800"/>
            <a:ext cx="3657600" cy="914400"/>
          </a:xfrm>
          <a:prstGeom prst="round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63240" y="1874520"/>
            <a:ext cx="3383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0392B"/>
                </a:solidFill>
                <a:latin typeface="Calibri"/>
              </a:defRPr>
            </a:pPr>
            <a:r>
              <a:t>Blind Spot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210312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Misses attacks where no metric exceeds its threshold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1828800"/>
            <a:ext cx="4937760" cy="914400"/>
          </a:xfrm>
          <a:prstGeom prst="roundRect">
            <a:avLst/>
          </a:prstGeom>
          <a:solidFill>
            <a:srgbClr val="EAFA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03720" y="1874520"/>
            <a:ext cx="4663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7AE60"/>
                </a:solidFill>
                <a:latin typeface="Calibri"/>
              </a:defRPr>
            </a:pPr>
            <a:r>
              <a:t>V-Intelligence UEBA Advantage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2103120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Understands behavior holistically — no threshold to stay below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926080"/>
            <a:ext cx="228600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926080"/>
            <a:ext cx="219456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0632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D1B2A"/>
                </a:solidFill>
                <a:latin typeface="Calibri"/>
              </a:defRPr>
            </a:pPr>
            <a:r>
              <a:t>EDR / XDR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337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69696"/>
                </a:solidFill>
                <a:latin typeface="Calibri"/>
              </a:defRPr>
            </a:pPr>
            <a:r>
              <a:t>Monitors endpoint activity for known patterns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26080" y="2926080"/>
            <a:ext cx="3657600" cy="914400"/>
          </a:xfrm>
          <a:prstGeom prst="round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63240" y="2971800"/>
            <a:ext cx="3383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0392B"/>
                </a:solidFill>
                <a:latin typeface="Calibri"/>
              </a:defRPr>
            </a:pPr>
            <a:r>
              <a:t>Blind Spot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0040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Misses credential-based attacks using legitimate tools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66560" y="2926080"/>
            <a:ext cx="4937760" cy="914400"/>
          </a:xfrm>
          <a:prstGeom prst="roundRect">
            <a:avLst/>
          </a:prstGeom>
          <a:solidFill>
            <a:srgbClr val="EAFA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2971800"/>
            <a:ext cx="4663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7AE60"/>
                </a:solidFill>
                <a:latin typeface="Calibri"/>
              </a:defRPr>
            </a:pPr>
            <a:r>
              <a:t>V-Intelligence UEBA Advantage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3200400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Profiles the entity, not the tool — detects behavioral change regardless of tooling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023360"/>
            <a:ext cx="228600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023360"/>
            <a:ext cx="219456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41605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D1B2A"/>
                </a:solidFill>
                <a:latin typeface="Calibri"/>
              </a:defRPr>
            </a:pPr>
            <a:r>
              <a:t>Network Detection (NDR)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43484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69696"/>
                </a:solidFill>
                <a:latin typeface="Calibri"/>
              </a:defRPr>
            </a:pPr>
            <a:r>
              <a:t>Inspects traffic for signatures and anomalies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926080" y="4023360"/>
            <a:ext cx="3657600" cy="914400"/>
          </a:xfrm>
          <a:prstGeom prst="round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63240" y="4069080"/>
            <a:ext cx="3383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0392B"/>
                </a:solidFill>
                <a:latin typeface="Calibri"/>
              </a:defRPr>
            </a:pPr>
            <a:r>
              <a:t>Blind Spot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63240" y="429768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Misses attacks using legitimate protocols at normal volumes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66560" y="4023360"/>
            <a:ext cx="4937760" cy="914400"/>
          </a:xfrm>
          <a:prstGeom prst="roundRect">
            <a:avLst/>
          </a:prstGeom>
          <a:solidFill>
            <a:srgbClr val="EAFA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03720" y="4069080"/>
            <a:ext cx="4663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7AE60"/>
                </a:solidFill>
                <a:latin typeface="Calibri"/>
              </a:defRPr>
            </a:pPr>
            <a:r>
              <a:t>V-Intelligence UEBA Advantage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3720" y="4297680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Captures network behavior as one dimension of a multi-dimensional behavioral twin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5120639"/>
            <a:ext cx="228600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5120639"/>
            <a:ext cx="219456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257799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D1B2A"/>
                </a:solidFill>
                <a:latin typeface="Calibri"/>
              </a:defRPr>
            </a:pPr>
            <a:r>
              <a:t>Existing UEBA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532119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69696"/>
                </a:solidFill>
                <a:latin typeface="Calibri"/>
              </a:defRPr>
            </a:pPr>
            <a:r>
              <a:t>Statistical deviation on aggregated user metrics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926080" y="5120639"/>
            <a:ext cx="3657600" cy="914400"/>
          </a:xfrm>
          <a:prstGeom prst="round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063240" y="5166359"/>
            <a:ext cx="3383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0392B"/>
                </a:solidFill>
                <a:latin typeface="Calibri"/>
              </a:defRPr>
            </a:pPr>
            <a:r>
              <a:t>Blind Spot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63240" y="5394959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Fails when no single metric deviates enough — the "combination" problem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766560" y="5120639"/>
            <a:ext cx="4937760" cy="914400"/>
          </a:xfrm>
          <a:prstGeom prst="roundRect">
            <a:avLst/>
          </a:prstGeom>
          <a:solidFill>
            <a:srgbClr val="EAFA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03720" y="5166359"/>
            <a:ext cx="4663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7AE60"/>
                </a:solidFill>
                <a:latin typeface="Calibri"/>
              </a:defRPr>
            </a:pPr>
            <a:r>
              <a:t>V-Intelligence UEBA Advantage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03720" y="5394959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Digital twin captures cross-dimensional behavioral patterns that scalar metrics miss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5943600"/>
            <a:ext cx="11064240" cy="64008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B7950B"/>
                </a:solidFill>
                <a:latin typeface="Calibri"/>
              </a:defRPr>
            </a:pPr>
            <a:r>
              <a:t>V-Intelligence UEBA is not an incremental improvement — it is a new class of detection. The behavioral digital twin sees what no threshold-based system can.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Deployment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05050"/>
                </a:solidFill>
                <a:latin typeface="Calibri"/>
              </a:defRPr>
            </a:pPr>
            <a:r>
              <a:t>V-Intelligence UEBA integrates with your existing security infrastructure — no new sensors, no new data collection agents.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20240"/>
            <a:ext cx="3108960" cy="3657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20240"/>
            <a:ext cx="3017520" cy="54864"/>
          </a:xfrm>
          <a:prstGeom prst="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E6B8A"/>
                </a:solidFill>
                <a:latin typeface="Calibri"/>
              </a:defRPr>
            </a:pPr>
            <a:r>
              <a:t>Data Sources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60320"/>
            <a:ext cx="2651760" cy="36576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D1B2A"/>
                </a:solidFill>
                <a:latin typeface="Calibri"/>
              </a:defRPr>
            </a:pPr>
            <a:r>
              <a:t>  Authentication Logs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063240"/>
            <a:ext cx="2651760" cy="36576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D1B2A"/>
                </a:solidFill>
                <a:latin typeface="Calibri"/>
              </a:defRPr>
            </a:pPr>
            <a:r>
              <a:t>  File Access Records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66160"/>
            <a:ext cx="2651760" cy="36576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D1B2A"/>
                </a:solidFill>
                <a:latin typeface="Calibri"/>
              </a:defRPr>
            </a:pPr>
            <a:r>
              <a:t>  Network Traffic Metadata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69080"/>
            <a:ext cx="2651760" cy="36576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D1B2A"/>
                </a:solidFill>
                <a:latin typeface="Calibri"/>
              </a:defRPr>
            </a:pPr>
            <a:r>
              <a:t>  Endpoint Telemetry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572000"/>
            <a:ext cx="2651760" cy="36576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D1B2A"/>
                </a:solidFill>
                <a:latin typeface="Calibri"/>
              </a:defRPr>
            </a:pPr>
            <a:r>
              <a:t>  DNS Query Logs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338328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E6B8A"/>
                </a:solidFill>
                <a:latin typeface="Calibri"/>
              </a:defRPr>
            </a:pPr>
            <a:r>
              <a:t>&gt;&gt;&gt;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0" y="1920240"/>
            <a:ext cx="3840480" cy="3657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51960" y="1920240"/>
            <a:ext cx="374904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21031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7AE60"/>
                </a:solidFill>
                <a:latin typeface="Calibri"/>
              </a:defRPr>
            </a:pPr>
            <a:r>
              <a:t>V-Intelligence UEBA Engine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2606040"/>
            <a:ext cx="3291840" cy="685800"/>
          </a:xfrm>
          <a:prstGeom prst="roundRect">
            <a:avLst/>
          </a:prstGeom>
          <a:solidFill>
            <a:srgbClr val="EAFA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defRPr sz="1300" b="1">
                <a:solidFill>
                  <a:srgbClr val="0D1B2A"/>
                </a:solidFill>
                <a:latin typeface="Calibri"/>
              </a:defRPr>
            </a:pPr>
            <a:r>
              <a:t>  Behavioral Profiling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000" b="0">
                <a:solidFill>
                  <a:srgbClr val="505050"/>
                </a:solidFill>
                <a:latin typeface="Calibri"/>
              </a:defRPr>
            </a:pPr>
            <a:r>
              <a:t>  Digital twin per entity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80560" y="3474720"/>
            <a:ext cx="3291840" cy="685800"/>
          </a:xfrm>
          <a:prstGeom prst="roundRect">
            <a:avLst/>
          </a:prstGeom>
          <a:solidFill>
            <a:srgbClr val="EAFA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defRPr sz="1300" b="1">
                <a:solidFill>
                  <a:srgbClr val="0D1B2A"/>
                </a:solidFill>
                <a:latin typeface="Calibri"/>
              </a:defRPr>
            </a:pPr>
            <a:r>
              <a:t>  Continuous Monitoring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000" b="0">
                <a:solidFill>
                  <a:srgbClr val="505050"/>
                </a:solidFill>
                <a:latin typeface="Calibri"/>
              </a:defRPr>
            </a:pPr>
            <a:r>
              <a:t>  Real-time behavioral change detection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0560" y="4343400"/>
            <a:ext cx="3291840" cy="685800"/>
          </a:xfrm>
          <a:prstGeom prst="roundRect">
            <a:avLst/>
          </a:prstGeom>
          <a:solidFill>
            <a:srgbClr val="EAFA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defRPr sz="1300" b="1">
                <a:solidFill>
                  <a:srgbClr val="0D1B2A"/>
                </a:solidFill>
                <a:latin typeface="Calibri"/>
              </a:defRPr>
            </a:pPr>
            <a:r>
              <a:t>  Composite Scoring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000" b="0">
                <a:solidFill>
                  <a:srgbClr val="505050"/>
                </a:solidFill>
                <a:latin typeface="Calibri"/>
              </a:defRPr>
            </a:pPr>
            <a:r>
              <a:t>  Multi-phase risk assessment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38328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7AE60"/>
                </a:solidFill>
                <a:latin typeface="Calibri"/>
              </a:defRPr>
            </a:pPr>
            <a:r>
              <a:t>&gt;&gt;&gt;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0" y="1920240"/>
            <a:ext cx="3108960" cy="3657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32520" y="1920240"/>
            <a:ext cx="3017520" cy="54864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0" y="21031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B7950B"/>
                </a:solidFill>
                <a:latin typeface="Calibri"/>
              </a:defRPr>
            </a:pPr>
            <a:r>
              <a:t>Analyst Output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20" y="2560320"/>
            <a:ext cx="2651760" cy="365760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D1B2A"/>
                </a:solidFill>
                <a:latin typeface="Calibri"/>
              </a:defRPr>
            </a:pPr>
            <a:r>
              <a:t>  Ranked Priority List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3063240"/>
            <a:ext cx="2651760" cy="365760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D1B2A"/>
                </a:solidFill>
                <a:latin typeface="Calibri"/>
              </a:defRPr>
            </a:pPr>
            <a:r>
              <a:t>  Risk Dashboard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61120" y="3566160"/>
            <a:ext cx="2651760" cy="365760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D1B2A"/>
                </a:solidFill>
                <a:latin typeface="Calibri"/>
              </a:defRPr>
            </a:pPr>
            <a:r>
              <a:t>  Alert Integration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0" y="4069080"/>
            <a:ext cx="2651760" cy="365760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D1B2A"/>
                </a:solidFill>
                <a:latin typeface="Calibri"/>
              </a:defRPr>
            </a:pPr>
            <a:r>
              <a:t>  Investigation Context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61120" y="4572000"/>
            <a:ext cx="2651760" cy="365760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D1B2A"/>
                </a:solidFill>
                <a:latin typeface="Calibri"/>
              </a:defRPr>
            </a:pPr>
            <a:r>
              <a:t>  Compliance Reporting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943600"/>
            <a:ext cx="11064240" cy="54864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9893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B7950B"/>
                </a:solidFill>
                <a:latin typeface="Calibri"/>
              </a:defRPr>
            </a:pPr>
            <a:r>
              <a:t>Cloud or on-premise deployment  |  Works with existing security infrastructure  |  No new sensors required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Federal &amp; Critical Infrastructure Alignment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05050"/>
                </a:solidFill>
                <a:latin typeface="Calibri"/>
              </a:defRPr>
            </a:pPr>
            <a:r>
              <a:t>V-Intelligence UEBA directly addresses the mandates and frameworks that govern federal and critical infrastructure cybersecurity.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5394960" cy="1737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5303520" cy="54864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980B9"/>
                </a:solidFill>
                <a:latin typeface="Calibri"/>
              </a:defRPr>
            </a:pPr>
            <a:r>
              <a:t>Executive Order 14028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69696"/>
                </a:solidFill>
                <a:latin typeface="Calibri"/>
              </a:defRPr>
            </a:pPr>
            <a:r>
              <a:t>Improving the Nation's Cybersecurity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146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Mandates enhanced detection capabilities and continuous monitoring across federal agencies. Requires visibility into advanced persistent threats that evade traditional tools.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828800"/>
            <a:ext cx="5394960" cy="1737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828800"/>
            <a:ext cx="5303520" cy="54864"/>
          </a:xfrm>
          <a:prstGeom prst="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9659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E6B8A"/>
                </a:solidFill>
                <a:latin typeface="Calibri"/>
              </a:defRPr>
            </a:pPr>
            <a:r>
              <a:t>NIST SP 800-53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24028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69696"/>
                </a:solidFill>
                <a:latin typeface="Calibri"/>
              </a:defRPr>
            </a:pPr>
            <a:r>
              <a:t>Continuous Monitoring Controls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5146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Behavioral analytics for insider threat and APT detection. V-Intelligence UEBA provides the continuous behavioral monitoring that AU, SI, and CA control families require.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40480"/>
            <a:ext cx="5394960" cy="1737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840480"/>
            <a:ext cx="5303520" cy="5486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776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E44AD"/>
                </a:solidFill>
                <a:latin typeface="Calibri"/>
              </a:defRPr>
            </a:pPr>
            <a:r>
              <a:t>NIST SP 800-207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25196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69696"/>
                </a:solidFill>
                <a:latin typeface="Calibri"/>
              </a:defRPr>
            </a:pPr>
            <a:r>
              <a:t>Zero Trust Architecture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2628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Continuous behavioral verification beyond initial authentication. The behavioral digital twin provides ongoing trust assessment that Zero Trust demands.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3840480"/>
            <a:ext cx="5394960" cy="1737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840480"/>
            <a:ext cx="5303520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39776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E22"/>
                </a:solidFill>
                <a:latin typeface="Calibri"/>
              </a:defRPr>
            </a:pPr>
            <a:r>
              <a:t>CISA LOTL Guidance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25196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69696"/>
                </a:solidFill>
                <a:latin typeface="Calibri"/>
              </a:defRPr>
            </a:pPr>
            <a:r>
              <a:t>Living Off the Land Mitigation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52628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Directly addresses Salt Typhoon and Volt Typhoon TTPs. V-Intelligence UEBA detects the behavioral patterns of credential-based, tool-free attack campaigns.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943600"/>
            <a:ext cx="11064240" cy="64008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B7950B"/>
                </a:solidFill>
                <a:latin typeface="Calibri"/>
              </a:defRPr>
            </a:pPr>
            <a:r>
              <a:t>V-Intelligence UEBA provides the behavioral intelligence layer that existing perimeter and endpoint tools cannot.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Business Impact: What V-Intelligence UEBA Means for Your Organization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1106424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73152" cy="10972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447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Detect Nation-State Threats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755648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05050"/>
                </a:solidFill>
                <a:latin typeface="Calibri"/>
              </a:defRPr>
            </a:pPr>
            <a:r>
              <a:t>Identify Salt Typhoon-class and Volt Typhoon-class attacks that have operated undetected at major US organizations for years. The behavioral digital twin detects the threats that no existing tool can see.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1645920"/>
            <a:ext cx="3657600" cy="45720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  4 of 4 attack types detected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6424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606040"/>
            <a:ext cx="73152" cy="1097280"/>
          </a:xfrm>
          <a:prstGeom prst="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67919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E6B8A"/>
                </a:solidFill>
                <a:latin typeface="Calibri"/>
              </a:defRPr>
            </a:pPr>
            <a:r>
              <a:t>Eliminate the Detection 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90088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05050"/>
                </a:solidFill>
                <a:latin typeface="Calibri"/>
              </a:defRPr>
            </a:pPr>
            <a:r>
              <a:t>Close the gap between attacker dwell time (287 days industry average) and detection. V-Intelligence UEBA's digital twin identifies behavioral anomalies within weeks, not years.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880360"/>
            <a:ext cx="3657600" cy="457200"/>
          </a:xfrm>
          <a:prstGeom prst="round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  Weeks vs 5-year dwell time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40480"/>
            <a:ext cx="1106424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73152" cy="109728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91363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4F72"/>
                </a:solidFill>
                <a:latin typeface="Calibri"/>
              </a:defRPr>
            </a:pPr>
            <a:r>
              <a:t>Reduce SOC Burden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224528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05050"/>
                </a:solidFill>
                <a:latin typeface="Calibri"/>
              </a:defRPr>
            </a:pPr>
            <a:r>
              <a:t>One ranked list replaces thousands of uncorrelated alerts. Your analysts investigate the highest-risk entities first — not the loudest false alarms.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4114800"/>
            <a:ext cx="3657600" cy="457200"/>
          </a:xfrm>
          <a:prstGeom prst="round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  Single ranked priority list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5074920"/>
            <a:ext cx="73152" cy="1097280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14807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7950B"/>
                </a:solidFill>
                <a:latin typeface="Calibri"/>
              </a:defRPr>
            </a:pPr>
            <a:r>
              <a:t>Future-Proof Detection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458968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05050"/>
                </a:solidFill>
                <a:latin typeface="Calibri"/>
              </a:defRPr>
            </a:pPr>
            <a:r>
              <a:t>The behavioral digital twin adapts as user behavior naturally evolves. No signature updates, no threshold tuning, no rules to maintain.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0" y="5349240"/>
            <a:ext cx="3657600" cy="457200"/>
          </a:xfrm>
          <a:prstGeom prst="round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  Zero manual tuning required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6035040"/>
            <a:ext cx="11064240" cy="54864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080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B7950B"/>
                </a:solidFill>
                <a:latin typeface="Calibri"/>
              </a:defRPr>
            </a:pPr>
            <a:r>
              <a:t>V-Intelligence UEBA detects the threats that made headlines — before they make yours.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A0C8E0"/>
                </a:solidFill>
                <a:latin typeface="Calibri"/>
              </a:defRPr>
            </a:pPr>
            <a:r>
              <a:t>Salt Typhoon: 5 years undetected.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A0C8E0"/>
                </a:solidFill>
                <a:latin typeface="Calibri"/>
              </a:defRPr>
            </a:pPr>
            <a:r>
              <a:t>Volt Typhoon: 5 years undetected.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B7950B"/>
                </a:solidFill>
                <a:latin typeface="Calibri"/>
              </a:defRPr>
            </a:pPr>
            <a:r>
              <a:t>V-Intelligence UEBA: Detected immediately.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566160"/>
            <a:ext cx="2743200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Calibri"/>
              </a:defRPr>
            </a:pPr>
            <a:r>
              <a:t>The Behavioral Digital Twin for Cyber Defense</a:t>
            </a:r>
            <a:br/>
            <a:r>
              <a:t>Multi-front threat-profile detection: 4 of 4 attacks at 0 false positives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7AE60"/>
                </a:solidFill>
                <a:latin typeface="Calibri"/>
              </a:defRPr>
            </a:pPr>
            <a:r>
              <a:t>4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303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C8E0"/>
                </a:solidFill>
                <a:latin typeface="Calibri"/>
              </a:defRPr>
            </a:pPr>
            <a:r>
              <a:t>attack types</a:t>
            </a:r>
            <a:br/>
            <a:r>
              <a:t>detected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4846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7AE60"/>
                </a:solidFill>
                <a:latin typeface="Calibri"/>
              </a:defRPr>
            </a:pPr>
            <a:r>
              <a:t>#1 / 250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5303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C8E0"/>
                </a:solidFill>
                <a:latin typeface="Calibri"/>
              </a:defRPr>
            </a:pPr>
            <a:r>
              <a:t>Salt Typhoon</a:t>
            </a:r>
            <a:br/>
            <a:r>
              <a:t>ranked highest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846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7AE60"/>
                </a:solidFill>
                <a:latin typeface="Calibri"/>
              </a:defRPr>
            </a:pPr>
            <a:r>
              <a:t>10.6%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5303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C8E0"/>
                </a:solidFill>
                <a:latin typeface="Calibri"/>
              </a:defRPr>
            </a:pPr>
            <a:r>
              <a:t>false positive</a:t>
            </a:r>
            <a:br/>
            <a:r>
              <a:t>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0" y="4846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7AE60"/>
                </a:solidFill>
                <a:latin typeface="Calibri"/>
              </a:defRPr>
            </a:pPr>
            <a:r>
              <a:t>Zero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5303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C8E0"/>
                </a:solidFill>
                <a:latin typeface="Calibri"/>
              </a:defRPr>
            </a:pPr>
            <a:r>
              <a:t>threshold tuning</a:t>
            </a:r>
            <a:br/>
            <a:r>
              <a:t>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217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