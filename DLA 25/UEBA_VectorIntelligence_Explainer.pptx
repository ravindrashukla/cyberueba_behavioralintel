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  <p:sldId id="259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Legacy</c:v>
                </c:pt>
              </c:strCache>
            </c:strRef>
          </c:tx>
          <c:spPr>
            <a:solidFill>
              <a:srgbClr val="1F5E9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D2430"/>
                    </a:solidFill>
                    <a:latin typeface="Apto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Routine (P50)</c:v>
                </c:pt>
                <c:pt idx="1">
                  <c:v>Critical (P90)</c:v>
                </c:pt>
                <c:pt idx="2">
                  <c:v>Mean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356</c:v>
                </c:pt>
                <c:pt idx="1">
                  <c:v>540</c:v>
                </c:pt>
                <c:pt idx="2">
                  <c:v>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18-46B6-94B7-1600E80AC4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EDM Vector Intelligence</c:v>
                </c:pt>
              </c:strCache>
            </c:strRef>
          </c:tx>
          <c:spPr>
            <a:solidFill>
              <a:srgbClr val="11848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D2430"/>
                    </a:solidFill>
                    <a:latin typeface="Apto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Routine (P50)</c:v>
                </c:pt>
                <c:pt idx="1">
                  <c:v>Critical (P90)</c:v>
                </c:pt>
                <c:pt idx="2">
                  <c:v>Mean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143</c:v>
                </c:pt>
                <c:pt idx="1">
                  <c:v>228</c:v>
                </c:pt>
                <c:pt idx="2">
                  <c:v>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18-46B6-94B7-1600E80AC4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E6A75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2187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Cyber UEBA: catching what single-user rules miss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Legacy scores one user against a fixed line and misses all four stealth attacks. V-Intelligence reads the same logs as behavioral entities — and catches every 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200400" cy="3520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7393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F5E9C"/>
                </a:solidFill>
                <a:latin typeface="Aptos"/>
              </a:rPr>
              <a:t>LEGACY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665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one user vs a threshold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Single-user history only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008376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0392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0083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Fixed alert thresholds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575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0 of 4 attacks flagged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76472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265676" y="1572768"/>
            <a:ext cx="3566160" cy="35204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94276" y="17739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F5E9C"/>
                </a:solidFill>
                <a:latin typeface="Aptos"/>
              </a:rPr>
              <a:t>BEHAVIORAL TWIN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94276" y="20665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same logs, in context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94276" y="244144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58868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05756" y="2441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Cohort-relative deviation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94276" y="3008376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58868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05756" y="30083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Self-drift over time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94276" y="3575304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58868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05756" y="35753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Known-bad profile match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94276" y="4142232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58868" y="4315968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05756" y="41422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Evidence-backed, explainable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55280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8439912" y="1572768"/>
            <a:ext cx="3294583" cy="3520440"/>
          </a:xfrm>
          <a:prstGeom prst="roundRect">
            <a:avLst>
              <a:gd name="adj" fmla="val 1943"/>
            </a:avLst>
          </a:prstGeom>
          <a:solidFill>
            <a:srgbClr val="102A4C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668512" y="1773936"/>
            <a:ext cx="2837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ptos"/>
              </a:rPr>
              <a:t>RESULT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68512" y="2066544"/>
            <a:ext cx="2837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9DB8D6"/>
                </a:solidFill>
                <a:latin typeface="Aptos"/>
              </a:rPr>
              <a:t>caught, with evidence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68512" y="2487168"/>
            <a:ext cx="28373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DCE6F4"/>
                </a:solidFill>
                <a:latin typeface="Aptos"/>
              </a:rPr>
              <a:t>What a user HAS done</a:t>
            </a:r>
            <a:endParaRPr lang="en-US" sz="1200" dirty="0"/>
          </a:p>
          <a:p>
            <a:pPr/>
            <a:r>
              <a:rPr sz="1200">
                <a:solidFill>
                  <a:srgbClr val="DCE6F4"/>
                </a:solidFill>
                <a:latin typeface="Aptos"/>
              </a:rPr>
              <a:t>plus where they’re HEADING</a:t>
            </a:r>
          </a:p>
        </p:txBody>
      </p:sp>
      <p:sp>
        <p:nvSpPr>
          <p:cNvPr id="38" name="Text 36"/>
          <p:cNvSpPr/>
          <p:nvPr/>
        </p:nvSpPr>
        <p:spPr>
          <a:xfrm>
            <a:off x="8668512" y="4453128"/>
            <a:ext cx="28373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 i="1">
                <a:solidFill>
                  <a:srgbClr val="F36C21"/>
                </a:solidFill>
                <a:latin typeface="Aptos"/>
              </a:rPr>
              <a:t>4 of 4 caught · 0 false positives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321808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FBEDE6"/>
          </a:solidFill>
          <a:ln w="12700">
            <a:solidFill>
              <a:srgbClr val="F36C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5800" y="5394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1F5E9C"/>
                </a:solidFill>
                <a:latin typeface="Aptos"/>
              </a:rPr>
              <a:t>Why it matters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" y="5705856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1D2430"/>
                </a:solidFill>
                <a:latin typeface="Aptos"/>
              </a:rPr>
              <a:t>Point-anomaly tools saw normal employees; the behavioral twin named each attack by the behavior that gave it away.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EDM Vector Intelligence — Cyber UEBA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Signal separation: two lenses, different attacks caught first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Over the same 70-week campaign, the raw-numbers lens flags the noisy volume attack earliest; the AI “meaning” lens flags the subtle insider &amp; stealth-hacker ~30 weeks sooner. Neither catches the slow APT alone.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EDM Vector Intelligence — Cyber UEBA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2</a:t>
            </a:r>
            <a:endParaRPr lang="en-US" sz="1000" dirty="0"/>
          </a:p>
        </p:txBody>
      </p:sp>
      <p:pic>
        <p:nvPicPr>
          <p:cNvPr id="50" name="Picture 49" descr="feature_cus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72768"/>
            <a:ext cx="5440680" cy="3400425"/>
          </a:xfrm>
          <a:prstGeom prst="rect">
            <a:avLst/>
          </a:prstGeom>
        </p:spPr>
      </p:pic>
      <p:pic>
        <p:nvPicPr>
          <p:cNvPr id="51" name="Picture 50" descr="embedding_cus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572768"/>
            <a:ext cx="5440680" cy="340042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11480" y="50292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02A4C"/>
                </a:solidFill>
              </a:rPr>
              <a:t>First sustained detection (★):    156 → feature wk 39 / AI wk 4      ·      042 → wk 47 / wk 15      ·      118 → wk 36 / wk 60      ·      234 → not flagged by drift alone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541324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D2430"/>
                </a:solidFill>
              </a:rPr>
              <a:t>Each lens has a blind spot — so V-Intelligence runs both and fuses them with the cohort and known-bad fronts.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No normal user is extreme on every front at once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Each attacker pushes past the normal cluster on a different phase — that multi-phase extremity is the fingerprint a single threshold can’t see.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598932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/ representative demo data — to be revalidated on DLA data before production claims.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EDM Vector Intelligence — Cyber UEBA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3</a:t>
            </a:r>
            <a:endParaRPr lang="en-US" sz="1000" dirty="0"/>
          </a:p>
        </p:txBody>
      </p:sp>
      <p:pic>
        <p:nvPicPr>
          <p:cNvPr id="26" name="Picture 25" descr="ra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63040"/>
            <a:ext cx="4754880" cy="41709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77840" y="1600200"/>
            <a:ext cx="6126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D2430"/>
                </a:solidFill>
              </a:rPr>
              <a:t>Grey = normal users (median &amp; 75th percentile): a tight cluster near the center.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102A4C"/>
                </a:solidFill>
              </a:rPr>
              <a:t>The five phases, in plain terms: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D2430"/>
                </a:solidFill>
              </a:rPr>
              <a:t>•  Signal Strength — how far behavior departs from peers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D2430"/>
                </a:solidFill>
              </a:rPr>
              <a:t>•  Breadth — how many behaviors shifted at once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D2430"/>
                </a:solidFill>
              </a:rPr>
              <a:t>•  Sustained Deviation — how long the shift persisted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D2430"/>
                </a:solidFill>
              </a:rPr>
              <a:t>•  Context Divergence — how unlike its role-group it became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D2430"/>
                </a:solidFill>
              </a:rPr>
              <a:t>•  Novelty Persistence — new connections (e.g., C2) that keep recurring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02A4C"/>
                </a:solidFill>
              </a:rPr>
              <a:t>USR-156 dominates Signal Strength &amp; Breadth; USR-234 spikes on Novelty Persistence (its C2 beacon); USR-118 stretches Context Divergence. No normal user reaches these extremes on multiple phases at once.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Fused into one score: 4 of 4, at 8% false positives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The five phases combine into a single composite — every attacker rises above the line that catches all four, surfacing the two stealth movers legacy scored as normal.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598932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/ representative demo data — to be revalidated on DLA data before production claims.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EDM Vector Intelligence — Cyber UEBA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4</a:t>
            </a:r>
            <a:endParaRPr lang="en-US" sz="1000" dirty="0"/>
          </a:p>
        </p:txBody>
      </p:sp>
      <p:pic>
        <p:nvPicPr>
          <p:cNvPr id="26" name="Picture 25" descr="composite_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91640"/>
            <a:ext cx="6126480" cy="367588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12280" y="17373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4000" b="1">
                <a:solidFill>
                  <a:srgbClr val="F36C21"/>
                </a:solidFill>
              </a:rPr>
              <a:t>0 → 4 of 4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D2430"/>
                </a:solidFill>
              </a:rPr>
              <a:t>stealth attacks caught that legacy scored as normal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3832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02A4C"/>
                </a:solidFill>
              </a:rPr>
              <a:t>•  39 legacy false alarms → 0 on the threat-profile match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02A4C"/>
                </a:solidFill>
              </a:rPr>
              <a:t>•  Subtle attacks flagged up to ~30 weeks earlier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02A4C"/>
                </a:solidFill>
              </a:rPr>
              <a:t>•  Every alert names the behavior that fired — auditable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348</Words>
  <Application>Microsoft Office PowerPoint</Application>
  <PresentationFormat>Widescreen</PresentationFormat>
  <Paragraphs>69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Legacy vs EDM Demand Forecast</dc:title>
  <dc:subject>PptxGenJS Presentation</dc:subject>
  <dc:creator>22nd Century Technologies</dc:creator>
  <cp:lastModifiedBy>Ravindra Shukla</cp:lastModifiedBy>
  <cp:revision>1</cp:revision>
  <dcterms:created xsi:type="dcterms:W3CDTF">2026-06-13T21:16:26Z</dcterms:created>
  <dcterms:modified xsi:type="dcterms:W3CDTF">2026-06-14T02:18:13Z</dcterms:modified>
</cp:coreProperties>
</file>