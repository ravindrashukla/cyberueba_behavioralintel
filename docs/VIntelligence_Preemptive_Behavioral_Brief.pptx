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C0C8"/>
                </a:solidFill>
                <a:latin typeface="Georgia"/>
              </a:defRPr>
            </a:pPr>
            <a:r>
              <a:t>V-INTELLIGENCE 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Preemptive Cyber Defense + Behavioral Trajectory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 Two-Layer Answer for Critical-Infrastructure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LAYER 1 — PREEMPTIVE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Mathematically prove every known attack path</a:t>
            </a:r>
            <a:br/>
            <a:r>
              <a:t>is closed — before any traffic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C0C8"/>
                </a:solidFill>
                <a:latin typeface="Calibri"/>
              </a:defRPr>
            </a:pPr>
            <a:r>
              <a:t>LAYER 2 — 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Continuous 1536-d behavioral trajectories</a:t>
            </a:r>
            <a:br/>
            <a:r>
              <a:t>with MITRE-mapped drift direction.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0B0"/>
                </a:solidFill>
                <a:latin typeface="Calibri"/>
              </a:defRPr>
            </a:pPr>
            <a:r>
              <a:t>Prepared for discussion with Brandon Pugh  ·  R Street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22nd Century Technologies Inc. (TSCTI)  ·  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Apex Adversaries Are Already Inside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PRC state actors walked past every commercial defense — and stayed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88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VOLT TYPHOON  ·  CISA AA24-038A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pre-position in U.S. energy, water, transport and comms for sabotage during crisis.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Living-off-the-Land — wmic, ntdsutil, netsh, rundll32. No malware, no signatures, no IOCs.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Every tool used is a legitimate Windows binary.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5+ YEARS undetected dwell in U.S. critical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788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SALT TYPHOON  ·  CISA AA25-239A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espionage at carrier scale across U.S. and allied telecom.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200+ telcos in 80+ countries; 9 U.S. carriers confirmed (AT&amp;T, Verizon, T-Mobile).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Accessed CALEA lawful-intercept systems used for senior U.S. officials.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4+ YEARS undetected. Slow, sub-threshold, patient.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11247120" cy="1783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91440" cy="17830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THE POLICY INFLECTION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Defense is shifting from reactive to preemptive. Gartner projects preemptive cybersecurity will grow from &lt;5% of security spending in 2024 to 50% by 2030. Yet 99% of firewall breaches are still misconfiguration, and threshold-based detection never fires on slow, credential-borne intrusions.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The structural lesson of Volt + Salt Typhoon: we must prove the door is closed — and watch the room for what slips through. Neither layer alone is sufficient.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Years of undetected access vs. immediate identification — the gap is operational, not theoretical.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Tooling Cannot Close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— one in prevention, one in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PREVENTION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Pentests sample; they never prove. Point-in-time and incomplete.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ASM sees what exists, not what is reachable.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Config review is manual — stale within hours.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rule state space is too large to sample adequately.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Threshold UEBA: LoTL never crosses a fixed line.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Sigma rules: adversaries retool faster than rules ship.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Per-source silos: one attacker looks like 10 users.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"87% anomalous" — anomalous HOW? No direction.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Only point-in-time snapshots — no trajectory.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2194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91440" cy="2194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4106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WHAT THE ADVERSARY EXPLOITS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Configuration gaps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Both Typhoons enter via unpatched / 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Valid credentials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54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Living-off-the-Land tools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wmic / ntdsutil / netsh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Slow drift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tooling that could have detected either campaign before public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Two Layers, One Shared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shrinks the attack surface mathematically. V-Intelligence detects what remains.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2461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2461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Georgia"/>
              </a:defRPr>
            </a:pPr>
            <a:r>
              <a:t>LAYER 1 — PREEMPTIVE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firewall, IdP, IPS, SASE and WAF and reasons exhaustively over the full configuration state space — no sampling.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Proves every known CVE path is blocked or compensated.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Catches config drift within the hour.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 — not probabilistic. Zero telemetry, zero agents.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F26B1F"/>
                </a:solidFill>
                <a:latin typeface="Calibri"/>
              </a:defRPr>
            </a:pPr>
            <a:r>
              <a:t>"Close the door before they knock."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2461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246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Georgia"/>
              </a:defRPr>
            </a:pPr>
            <a:r>
              <a:t>LAYER 2 — V-INTELLIGENCE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(auth, process, network, file, identity) into a unified 1536-d vector per entity, per window — and tracks the trajectory.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change-point catches slow, sub-threshold drift.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projects onto 8 MITRE ATT&amp;CK concepts — not "anomalous," but "drifting toward lateral_movement (T1021)."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 unifies 10+ identity systems into one behavioral entity.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"Watch the room for what slips through."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00600"/>
            <a:ext cx="112471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91440" cy="128016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5546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VALIDATION — BLIND DETECTION TEST, 250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Against four stealth campaigns (insider, slow APT, Volt Typhoon LoTL, Salt Typhoon telecom): traditional SIEM caught 0 of 4; z-score caught 1 of 4; V-Intelligence + composite scoring caught 4 of 4 at 10.6% false-positive (cleanly separating 2 of 4); the multi-front threat-profile detector caught 4 of 4 at 0% false-positive. Salt Typhoon (max z-score 1.71 — invisible to thresholds) ranked #1 of 250.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Shared MITRE vocabulary + single entity model = a system, not a bundle. Zero gaps between prevention and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Preemptive Defense Closes the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Prove every known attack path is blocked — before any traffic flows. Three intelligence pillars, one formal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606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6B1F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Ingests terabytes of CVE, CTI, IOC/IOA feeds and advisories. ML + NLP + LLMs build deep, MITRE ATT&amp;CK-enriched attack graphs of every campaign that matters — auto-updating on each new advisory.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2606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891B2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symbolic model of computation of every firewall, IdP, IPS, SASE and WAF. Reasons exhaustively over the full configuration state space — no sampling. Pinpoints shadows, conflicts, weak rules and intent errors across vendors.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2606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19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guardrailed agentic-AI reasoner, grounded in each vendor's behavior, prescribes precise, risk-prioritized fixes — no new errors, no business disruption. Findings reviewed, then applied and continuously re-verified.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146304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245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WHY A MODEL — NOT A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multi-vendor firewall path spans an astronomically large configuration state space (≫2^8000). Sampling a billion paths per second for a year covers effectively 0%. A formal model instead PROVES, for every threat: does any rule combination allow this traffic? Complete coverage — no false positives, no false negatives.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telemetry  ·  No agents  ·  Config-only pull  ·  Time-to-value &lt; 2 weeks  ·  SaaS / on-prem / air-gapped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Gartner: 99% of firewall breaches are misconfiguration. Preemptive verification eliminates that surface mathematically.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Coverage, Proof, and Federal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formal model answers many questions — and finds what sampling tools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WHAT FORMAL VERIFICATION FINDS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SMB lateral-movement path shadowed by three interspersed rules — IPS / AntiVirus silently bypassed.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Two-vendor blind spot: PAN and Fortinet both allowed update traffic with no IPS inspection — an open RCE path.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Unsanctioned-app rule partially shadowed and built on an incomplete object — credential and IP exposure.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~25% of internet-facing rules carried weak or no threat inspection — proven reachable into trusted zones.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SMTP trusted→untrusted with no inspection profile — a NIST 800-53 SC-7 compliance gap, remediated same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ONE FORMAL MODEL → NINE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105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Security posture — segmentation &amp; inspection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214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External attack surface — ASM compliance, formally extended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3230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Change management — does the change meet its intent?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Configuration drift — vs. an approved golden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5409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Vendor migration — pre/post security posture equivalence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649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Business / regulatory / infosec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758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Complete preemptive defense — full TTP coverage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8678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Third-party / supply-chain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Precision cyber insurance — exact risk, not heuristics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47120" cy="118872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9C0C8"/>
                </a:solidFill>
                <a:latin typeface="Calibri"/>
              </a:defRPr>
            </a:pPr>
            <a:r>
              <a:t>FEDERAL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Maps to NIST CSF pre-attack functions (Govern · Identify · Protect), supports CISA CDM continuous assurance, and enables Policy-as-Code. Gartner projects preemptive cyber rising from &lt;5% of security spend in 2024 to 50% by 2030.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Preemptive shrinks the attack surface to what is provably reachable. V-Intelligence then watches what remains.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Behavioral Meaning Beats Scalar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same number can mean two completely different things. Embeddings see the difference; counters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4160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4160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TRADITIONAL TOOLS COUNT — THEY DO NOT COMPREHEND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Two users each touch 47 files this week. One reads their own team's documents; the other scans 12 departments at 2 a.m. A scalar feature sees the same number — 47. The attacker is invisible.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EVERY TRADITIONAL METHOD HAS A FATAL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401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misses slow drift within normal ranges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85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One-Class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785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high false positives in high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Local Outlier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169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sensitive to feature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Z-Score (|z|&gt;3)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only catches single-feature spikes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Feature CUSUM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flags everyone; no semantic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371600"/>
            <a:ext cx="5349240" cy="4160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371600"/>
            <a:ext cx="91440" cy="4160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V-INTELLIGENCE READS BEHAVIOR AS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47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1.  Serialize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396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Raw metrics become prose: "USR-042 accessed 47 restricted files across 12 departments, 68% outside normal hours."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779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2.  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07238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Text → a 1,536-dimensional vector that captures behavioral semantics, not just counts.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3.  Five behavioral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0507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Identity · Access Pattern · Data Behavior · Network Footprint · Risk Posture.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4. 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377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Cosine distance between consecutive weekly embeddings = the direction of behavioral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Scalar features see the same number. Embeddings see different meaning — that is the whole difference between 0/4 and 4/4.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No Other UEBA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technique is well-known. The innovation is the integration — and seven pieces exist nowhere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1.  Behavioral embedding in a unified 1536-d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Industry scores features and rules. We embed behavior into vectors — meaning, not just magnitude.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2.  Per-signal drift decomposition (6 vectors / 9,216-d)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Five signals embedded individually + one composite. Tells you "AUTH drove 72% of the change."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3.  CUSUM change-point on embedding trajectories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Sequential detection on vectors — minimax-optimal (Lorden 1971). Dwell of years collapses to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1460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4.  Drift direction projected onto MITRE ATT&amp;CK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0.82." Actionable,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5.  Entity fusion across 10+ identity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AD, Entra, Okta, AWS, K8s, EDR, VPN, PKI, TACACS+ → one entity. An attacker stops looking like 10 users.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0332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70332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6.  HMAC-chained forensic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Tamper-evident behavioral history — altering any past snapshot breaks the chain.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469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7.  ABAC trust loop with behavioral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Detection and proportional enforcement in one system — step-up MFA to lockout in under 5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349240" cy="1133856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94690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WHY IT COMPOUNDS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492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 normal user can score high on one dimension by chance. An attacker scores high across many — embedding + trajectory + direction + fusion reinforce into one defensible signal.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combines all seven. Most have zero. This is the differentiation, not an increment.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Inside the Engine: From Telemetry to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Dual embedding builds the entity; composite scoring decides who is anomalous.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063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063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BEHAVIORAL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A.  Embed — 5 signal summaries → text-embedding-3-small → 1536-d behavioral state per window.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B.  Drift — drift(t) = 1 − cos(V_t, V_baseline).  Healthy ~0.02–0.05; compromised 0.06–0.15.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C.  CUSUM — S(t) = max(0, S(t−1) + drift − μ − k).  Alarm at 4σ. Accumulates sub-threshold drift.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D.  Direction — proj(c) = cos(V_t − V_baseline, concept_c) over 8 MITRE concepts → top-3 + technique IDs.</a:t>
            </a:r>
          </a:p>
          <a:p>
            <a:pPr algn="l">
              <a:spcBef>
                <a:spcPts val="9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Dual embedding: 5 individual + 1 composite = 6 × 1,536 = 9,216 dims per entity, per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40680" cy="306324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3063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26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5-PHASE COMPOSITE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Signal strength — </a:t>
            </a:r>
            <a:r>
              <a:rPr sz="1050">
                <a:solidFill>
                  <a:srgbClr val="2D3748"/>
                </a:solidFill>
              </a:rPr>
              <a:t>How far the drift exceeds the entity's own baseline.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Breadth — </a:t>
            </a:r>
            <a:r>
              <a:rPr sz="1050">
                <a:solidFill>
                  <a:srgbClr val="2D3748"/>
                </a:solidFill>
              </a:rPr>
              <a:t>How many of the behavioral features moved at once.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Sustained deviation — </a:t>
            </a:r>
            <a:r>
              <a:rPr sz="1050">
                <a:solidFill>
                  <a:srgbClr val="2D3748"/>
                </a:solidFill>
              </a:rPr>
              <a:t>Whether the shift persists window over window.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Context divergence — </a:t>
            </a:r>
            <a:r>
              <a:rPr sz="1050">
                <a:solidFill>
                  <a:srgbClr val="2D3748"/>
                </a:solidFill>
              </a:rPr>
              <a:t>Whether it appears under multiple analytical lenses.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Novelty persistence — </a:t>
            </a:r>
            <a:r>
              <a:rPr sz="1050">
                <a:solidFill>
                  <a:srgbClr val="2D3748"/>
                </a:solidFill>
              </a:rPr>
              <a:t>Whether genuinely new behaviors keep recurring.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26B1F"/>
                </a:solidFill>
                <a:latin typeface="Calibri"/>
              </a:defRPr>
            </a:pPr>
            <a:r>
              <a:t>Fused into one ranked list. No single phase catches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24712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91440" cy="1463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725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THE PAYOFF — SEMANTIC SPACE SEPARATES WHAT FEATURE SPACE HIDES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 feature space the four stealth attackers sit inside the normal band — undetectable. In V-Intelligence's semantic embedding space, all four separate from the population. Composite scoring then ranks them: insider #2, slow APT #7, Volt Typhoon LoTL #30, Salt Typhoon #1 — all at 10.6% false-positive, where traditional methods caught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V-Intelligence builds the digital entity. Composite scoring detects the anomaly. Direction makes it actionable.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Stealth Campaigns, Four Different Tells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 single method catches them all. Composite scoring catches each on the phase that exposes it — 250 entities,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14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Insider Threat · 8-month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Rank #2 / 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Signal Strength 30 + Breadth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Strong, broad, sustained escalation across many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91440" cy="2514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Slow APT · 180-day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Rank #7 / 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Novelty Persistence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Low magnitude, but novel C2 destinations recur week after week.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1371600"/>
            <a:ext cx="91440" cy="25146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Volt Typhoon LoTL · 115-day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2A"/>
                </a:solidFill>
                <a:latin typeface="Calibri"/>
              </a:defRPr>
            </a:pPr>
            <a:r>
              <a:t>Rank #30 / 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Breadth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creates breadth, not magnitude.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5984" y="1371600"/>
            <a:ext cx="91440" cy="2514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Salt Typhoon Telecom · 100-day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Rank #1 / 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Sustained 9.6 + Context 8.1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Max z-score 1.71 — invisible to thresholds — ranked #1 of 250.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69080"/>
            <a:ext cx="5486400" cy="14173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91440" cy="1417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1239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7A44"/>
                </a:solidFill>
                <a:latin typeface="Calibri"/>
              </a:defRPr>
            </a:pPr>
            <a:r>
              <a:t>THE DISCRIMINATION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46227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Normal users — average composite 6.6, max 21.5.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Attackers — lowest 12.9, average 32.7.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gap between the strongest normal user and the weakest attacker is clean separation no single method achieves.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069080"/>
            <a:ext cx="5577840" cy="1417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4069080"/>
            <a:ext cx="91440" cy="1417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123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TIME-TO-DETECT — INSIDER (USR-156)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462272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Isolation Forest / SVM / LOF / Z-Score:  NEVER ALERT.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1E7A44"/>
                </a:solidFill>
                <a:latin typeface="Calibri"/>
              </a:defRPr>
            </a:pPr>
            <a:r>
              <a:t>V-Intelligence + composite:  flags in Week 8 — before data-access escalation.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Direction tracked: baseline → off-hours access → cross-dept scope creep → data staging + exfiltration.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4 / 4 detected at 10.6% false-positive (threat-profile detector: 0% FP) — versus 0 / 4 traditional and 1 / 4 z-score. Earlier detection = smaller blast radius.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Proven Foundation, National Relevance, Open to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capability built on a fielded model — and a conversation worth having.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Behavioral trajectory engine fielded at DLA on the Entity Digital Model (500+ entities, CUSUM, 5 signals).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Same architecture, retargeted to cyber UEBA.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4 / 4 stealth campaigns detected at 10.6% FP (threat-profile detector: 0% FP) in blind test.</a:t>
            </a:r>
          </a:p>
          <a:p>
            <a:pPr algn="l">
              <a:spcBef>
                <a:spcPts val="8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Explainable: WHAT is happening, WHERE it lives, WHO else is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NATIONAL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Directly counters the Volt + Salt Typhoon playbook the nation is now contending with.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Aligns with the preemptive-defense shift (Gartner: 50% by 2030).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Deployable across IL5 / IL6 / JWICS; local model option for air-gapped enclaves.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PII in embeddings — privacy-preserving by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338328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WHERE R STREET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Independent perspective on the preemptive + behavioral framing for critical-infrastructure policy.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Thought-leadership on closing the LoTL / valid-account detection gap.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grounded reference case for the reactive-to-preemptive transition.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Explore: briefing, joint commentary, or validation dialogue.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114300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Preemptive closes the door. V-Intelligence watches the room. Together: detect behavioral shifts hours before IOCs fire — explain what is happening, act proportionally.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A8C0"/>
                </a:solidFill>
                <a:latin typeface="Calibri"/>
              </a:defRPr>
            </a:pPr>
            <a:r>
              <a:t>22nd Century Technologies Inc.  ·  Contact: ravindra.shukla@gmail.com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