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10"/>
  </p:normalViewPr>
  <p:slideViewPr>
    <p:cSldViewPr snapToGrid="0" snapToObjects="1">
      <p:cViewPr varScale="1">
        <p:scale>
          <a:sx n="99" d="100"/>
          <a:sy n="99" d="100"/>
        </p:scale>
        <p:origin x="8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741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Threat: Two Apex Predators in U.S. Critical Infrastructure</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groups are PRC state-sponsored. Both prepare for disruption. Both walked past commercial defenses for years.</a:t>
            </a:r>
            <a:endParaRPr lang="en-US" sz="1300" dirty="0"/>
          </a:p>
        </p:txBody>
      </p:sp>
      <p:sp>
        <p:nvSpPr>
          <p:cNvPr id="4" name="Shape 2"/>
          <p:cNvSpPr/>
          <p:nvPr/>
        </p:nvSpPr>
        <p:spPr>
          <a:xfrm>
            <a:off x="45720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457200" y="1371600"/>
            <a:ext cx="5486400" cy="548640"/>
          </a:xfrm>
          <a:prstGeom prst="rect">
            <a:avLst/>
          </a:prstGeom>
          <a:solidFill>
            <a:srgbClr val="0B1F3A"/>
          </a:solidFill>
          <a:ln/>
        </p:spPr>
        <p:txBody>
          <a:bodyPr/>
          <a:lstStyle/>
          <a:p>
            <a:endParaRPr lang="en-US"/>
          </a:p>
        </p:txBody>
      </p:sp>
      <p:sp>
        <p:nvSpPr>
          <p:cNvPr id="6" name="Text 4"/>
          <p:cNvSpPr/>
          <p:nvPr/>
        </p:nvSpPr>
        <p:spPr>
          <a:xfrm>
            <a:off x="64008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VOLT TYPHOON  (CISA AA24-038A)</a:t>
            </a:r>
            <a:endParaRPr lang="en-US" sz="1600" dirty="0"/>
          </a:p>
        </p:txBody>
      </p:sp>
      <p:sp>
        <p:nvSpPr>
          <p:cNvPr id="7" name="Text 5"/>
          <p:cNvSpPr/>
          <p:nvPr/>
        </p:nvSpPr>
        <p:spPr>
          <a:xfrm>
            <a:off x="68580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8" name="Text 6"/>
          <p:cNvSpPr/>
          <p:nvPr/>
        </p:nvSpPr>
        <p:spPr>
          <a:xfrm>
            <a:off x="68580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Pre-position in U.S. critical infrastructure (energy, water, transport, comms) for sabotage during a future crisis. ≥5-year undetected dwell.</a:t>
            </a:r>
            <a:endParaRPr lang="en-US" sz="1250" dirty="0"/>
          </a:p>
        </p:txBody>
      </p:sp>
      <p:sp>
        <p:nvSpPr>
          <p:cNvPr id="9" name="Text 7"/>
          <p:cNvSpPr/>
          <p:nvPr/>
        </p:nvSpPr>
        <p:spPr>
          <a:xfrm>
            <a:off x="68580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0" name="Text 8"/>
          <p:cNvSpPr/>
          <p:nvPr/>
        </p:nvSpPr>
        <p:spPr>
          <a:xfrm>
            <a:off x="68580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Initial access via unpatched edge devices (Fortinet, Versa, Ivanti, PAN)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 wmic, ntdsutil, netsh, rundll32, vssadmin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C2 proxied through compromised SOHO routers (KV botnet)</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Credential theft, valid-account abuse, lateral movement (SMB, RDP, WinRM)</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In-memory execution, log clearing, multi-year persistence</a:t>
            </a:r>
            <a:endParaRPr lang="en-US" sz="1150" dirty="0"/>
          </a:p>
        </p:txBody>
      </p:sp>
      <p:sp>
        <p:nvSpPr>
          <p:cNvPr id="11" name="Shape 9"/>
          <p:cNvSpPr/>
          <p:nvPr/>
        </p:nvSpPr>
        <p:spPr>
          <a:xfrm>
            <a:off x="621792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6217920" y="1371600"/>
            <a:ext cx="5486400" cy="548640"/>
          </a:xfrm>
          <a:prstGeom prst="rect">
            <a:avLst/>
          </a:prstGeom>
          <a:solidFill>
            <a:srgbClr val="1C7293"/>
          </a:solidFill>
          <a:ln/>
        </p:spPr>
        <p:txBody>
          <a:bodyPr/>
          <a:lstStyle/>
          <a:p>
            <a:endParaRPr lang="en-US"/>
          </a:p>
        </p:txBody>
      </p:sp>
      <p:sp>
        <p:nvSpPr>
          <p:cNvPr id="13" name="Text 11"/>
          <p:cNvSpPr/>
          <p:nvPr/>
        </p:nvSpPr>
        <p:spPr>
          <a:xfrm>
            <a:off x="640080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SALT TYPHOON  (CISA AA25-239A)</a:t>
            </a:r>
            <a:endParaRPr lang="en-US" sz="1600" dirty="0"/>
          </a:p>
        </p:txBody>
      </p:sp>
      <p:sp>
        <p:nvSpPr>
          <p:cNvPr id="14" name="Text 12"/>
          <p:cNvSpPr/>
          <p:nvPr/>
        </p:nvSpPr>
        <p:spPr>
          <a:xfrm>
            <a:off x="644652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15" name="Text 13"/>
          <p:cNvSpPr/>
          <p:nvPr/>
        </p:nvSpPr>
        <p:spPr>
          <a:xfrm>
            <a:off x="644652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Espionage at carrier scale. Compromised 200+ telcos in 80+ countries — including U.S. CALEA lawful-intercept systems.</a:t>
            </a:r>
            <a:endParaRPr lang="en-US" sz="1250" dirty="0"/>
          </a:p>
        </p:txBody>
      </p:sp>
      <p:sp>
        <p:nvSpPr>
          <p:cNvPr id="16" name="Text 14"/>
          <p:cNvSpPr/>
          <p:nvPr/>
        </p:nvSpPr>
        <p:spPr>
          <a:xfrm>
            <a:off x="644652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7" name="Text 15"/>
          <p:cNvSpPr/>
          <p:nvPr/>
        </p:nvSpPr>
        <p:spPr>
          <a:xfrm>
            <a:off x="644652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Exploits known CVEs in Cisco IOS XE, Ivanti, PAN, Citrix NetScaler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Modifies router ACLs, AAA configs to grant persistent access</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GhostSpider / Demodex / SnappyBee implants on network gear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Pivots from carrier infra into enterprise tenants via shared identity</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GRE tunnels + encrypted C2; CDR/metadata exfil over months</a:t>
            </a:r>
            <a:endParaRPr lang="en-US" sz="1150" dirty="0"/>
          </a:p>
        </p:txBody>
      </p:sp>
      <p:sp>
        <p:nvSpPr>
          <p:cNvPr id="18" name="Text 16"/>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Sources: CISA AA24-038A; CISA AA25-239A; FBI/NSA/Five-Eyes Joint Advisory Aug 2025; MITRE ATT&amp;CK G1017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AI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txBody>
          <a:bodyPr/>
          <a:lstStyle/>
          <a:p>
            <a:endParaRPr lang="en-US"/>
          </a:p>
        </p:txBody>
      </p:sp>
      <p:sp>
        <p:nvSpPr>
          <p:cNvPr id="5" name="Shape 3"/>
          <p:cNvSpPr/>
          <p:nvPr/>
        </p:nvSpPr>
        <p:spPr>
          <a:xfrm>
            <a:off x="457200" y="1371600"/>
            <a:ext cx="5394960" cy="640080"/>
          </a:xfrm>
          <a:prstGeom prst="rect">
            <a:avLst/>
          </a:prstGeom>
          <a:solidFill>
            <a:srgbClr val="F26B1F"/>
          </a:solidFill>
          <a:ln/>
        </p:spPr>
        <p:txBody>
          <a:bodyPr/>
          <a:lstStyle/>
          <a:p>
            <a:endParaRPr lang="en-US"/>
          </a:p>
        </p:txBody>
      </p:sp>
      <p:sp>
        <p:nvSpPr>
          <p:cNvPr id="6" name="Text 4"/>
          <p:cNvSpPr/>
          <p:nvPr/>
        </p:nvSpPr>
        <p:spPr>
          <a:xfrm>
            <a:off x="640080" y="1417320"/>
            <a:ext cx="502920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1 — RIGOR AI</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5400000">
            <a:off x="5943600" y="3520440"/>
            <a:ext cx="365760" cy="365760"/>
          </a:xfrm>
          <a:prstGeom prst="rtTriangle">
            <a:avLst/>
          </a:prstGeom>
          <a:solidFill>
            <a:srgbClr val="0B1F3A"/>
          </a:solidFill>
          <a:ln/>
        </p:spPr>
        <p:txBody>
          <a:bodyPr/>
          <a:lstStyle/>
          <a:p>
            <a:endParaRPr lang="en-US"/>
          </a:p>
        </p:txBody>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txBody>
          <a:bodyPr/>
          <a:lstStyle/>
          <a:p>
            <a:endParaRPr lang="en-US"/>
          </a:p>
        </p:txBody>
      </p:sp>
      <p:sp>
        <p:nvSpPr>
          <p:cNvPr id="14" name="Shape 12"/>
          <p:cNvSpPr/>
          <p:nvPr/>
        </p:nvSpPr>
        <p:spPr>
          <a:xfrm>
            <a:off x="6400800" y="1371600"/>
            <a:ext cx="5303520" cy="640080"/>
          </a:xfrm>
          <a:prstGeom prst="rect">
            <a:avLst/>
          </a:prstGeom>
          <a:solidFill>
            <a:srgbClr val="0891B2"/>
          </a:solidFill>
          <a:ln/>
        </p:spPr>
        <p:txBody>
          <a:bodyPr/>
          <a:lstStyle/>
          <a:p>
            <a:endParaRPr lang="en-US"/>
          </a:p>
        </p:txBody>
      </p:sp>
      <p:sp>
        <p:nvSpPr>
          <p:cNvPr id="15" name="Text 13"/>
          <p:cNvSpPr/>
          <p:nvPr/>
        </p:nvSpPr>
        <p:spPr>
          <a:xfrm>
            <a:off x="6583680" y="1417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Encodes every entity as a 1536-d behavioral embedding per hour. Computes cosine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txBody>
          <a:bodyPr/>
          <a:lstStyle/>
          <a:p>
            <a:endParaRPr lang="en-US"/>
          </a:p>
        </p:txBody>
      </p:sp>
      <p:sp>
        <p:nvSpPr>
          <p:cNvPr id="22" name="Text 20"/>
          <p:cNvSpPr/>
          <p:nvPr/>
        </p:nvSpPr>
        <p:spPr>
          <a:xfrm>
            <a:off x="640080" y="6126480"/>
            <a:ext cx="1097280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LAYER  —  RIGOR AI</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Rigor AI Approach: Close the Door Before They Knock</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Mathematically rigorous, preemptive cyber defense — Complete, Continuous, Verifiable</a:t>
            </a:r>
            <a:endParaRPr lang="en-US" sz="1300" dirty="0"/>
          </a:p>
        </p:txBody>
      </p:sp>
      <p:sp>
        <p:nvSpPr>
          <p:cNvPr id="6" name="Shape 4"/>
          <p:cNvSpPr/>
          <p:nvPr/>
        </p:nvSpPr>
        <p:spPr>
          <a:xfrm>
            <a:off x="45720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54480"/>
            <a:ext cx="91440" cy="1737360"/>
          </a:xfrm>
          <a:prstGeom prst="rect">
            <a:avLst/>
          </a:prstGeom>
          <a:solidFill>
            <a:srgbClr val="C0392B"/>
          </a:solidFill>
          <a:ln/>
        </p:spPr>
        <p:txBody>
          <a:bodyPr/>
          <a:lstStyle/>
          <a:p>
            <a:endParaRPr lang="en-US"/>
          </a:p>
        </p:txBody>
      </p:sp>
      <p:sp>
        <p:nvSpPr>
          <p:cNvPr id="8" name="Text 6"/>
          <p:cNvSpPr/>
          <p:nvPr/>
        </p:nvSpPr>
        <p:spPr>
          <a:xfrm>
            <a:off x="68580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p:nvPr/>
        </p:nvSpPr>
        <p:spPr>
          <a:xfrm>
            <a:off x="68580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Analyze All Known Threat Intelligence</a:t>
            </a:r>
            <a:endParaRPr lang="en-US" sz="1400" dirty="0"/>
          </a:p>
        </p:txBody>
      </p:sp>
      <p:sp>
        <p:nvSpPr>
          <p:cNvPr id="10" name="Text 8"/>
          <p:cNvSpPr/>
          <p:nvPr/>
        </p:nvSpPr>
        <p:spPr>
          <a:xfrm>
            <a:off x="68580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Terabytes of CVE, advisories, CTI, IOCs, IOAs, PSIRTs</a:t>
            </a:r>
            <a:endParaRPr lang="en-US" sz="1100" dirty="0"/>
          </a:p>
        </p:txBody>
      </p:sp>
      <p:sp>
        <p:nvSpPr>
          <p:cNvPr id="11" name="Shape 9"/>
          <p:cNvSpPr/>
          <p:nvPr/>
        </p:nvSpPr>
        <p:spPr>
          <a:xfrm rot="10800000">
            <a:off x="2148840" y="3429000"/>
            <a:ext cx="274320" cy="228600"/>
          </a:xfrm>
          <a:prstGeom prst="rtTriangle">
            <a:avLst/>
          </a:prstGeom>
          <a:solidFill>
            <a:srgbClr val="F26B1F"/>
          </a:solidFill>
          <a:ln/>
        </p:spPr>
        <p:txBody>
          <a:bodyPr/>
          <a:lstStyle/>
          <a:p>
            <a:endParaRPr lang="en-US"/>
          </a:p>
        </p:txBody>
      </p:sp>
      <p:sp>
        <p:nvSpPr>
          <p:cNvPr id="12" name="Shape 10"/>
          <p:cNvSpPr/>
          <p:nvPr/>
        </p:nvSpPr>
        <p:spPr>
          <a:xfrm>
            <a:off x="45720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13" name="Shape 11"/>
          <p:cNvSpPr/>
          <p:nvPr/>
        </p:nvSpPr>
        <p:spPr>
          <a:xfrm>
            <a:off x="457200" y="3794760"/>
            <a:ext cx="91440" cy="2194560"/>
          </a:xfrm>
          <a:prstGeom prst="rect">
            <a:avLst/>
          </a:prstGeom>
          <a:solidFill>
            <a:srgbClr val="F26B1F"/>
          </a:solidFill>
          <a:ln/>
        </p:spPr>
        <p:txBody>
          <a:bodyPr/>
          <a:lstStyle/>
          <a:p>
            <a:endParaRPr lang="en-US"/>
          </a:p>
        </p:txBody>
      </p:sp>
      <p:sp>
        <p:nvSpPr>
          <p:cNvPr id="14" name="Text 12"/>
          <p:cNvSpPr/>
          <p:nvPr/>
        </p:nvSpPr>
        <p:spPr>
          <a:xfrm>
            <a:off x="68580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15" name="Text 13"/>
          <p:cNvSpPr/>
          <p:nvPr/>
        </p:nvSpPr>
        <p:spPr>
          <a:xfrm>
            <a:off x="68580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Attack Intelligence</a:t>
            </a:r>
            <a:endParaRPr lang="en-US" sz="1400" dirty="0"/>
          </a:p>
        </p:txBody>
      </p:sp>
      <p:sp>
        <p:nvSpPr>
          <p:cNvPr id="16" name="Text 14"/>
          <p:cNvSpPr/>
          <p:nvPr/>
        </p:nvSpPr>
        <p:spPr>
          <a:xfrm>
            <a:off x="68580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MITRE-enriched attack graphs built by ML/NLP/LLM pipeline. Full TTP coverage of Volt Typhoon (G1017) and Salt Typhoon.</a:t>
            </a:r>
            <a:endParaRPr lang="en-US" sz="1150" dirty="0"/>
          </a:p>
        </p:txBody>
      </p:sp>
      <p:sp>
        <p:nvSpPr>
          <p:cNvPr id="17" name="Shape 15"/>
          <p:cNvSpPr/>
          <p:nvPr/>
        </p:nvSpPr>
        <p:spPr>
          <a:xfrm>
            <a:off x="438912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4389120" y="1554480"/>
            <a:ext cx="91440" cy="1737360"/>
          </a:xfrm>
          <a:prstGeom prst="rect">
            <a:avLst/>
          </a:prstGeom>
          <a:solidFill>
            <a:srgbClr val="C0392B"/>
          </a:solidFill>
          <a:ln/>
        </p:spPr>
        <p:txBody>
          <a:bodyPr/>
          <a:lstStyle/>
          <a:p>
            <a:endParaRPr lang="en-US"/>
          </a:p>
        </p:txBody>
      </p:sp>
      <p:sp>
        <p:nvSpPr>
          <p:cNvPr id="19" name="Text 17"/>
          <p:cNvSpPr/>
          <p:nvPr/>
        </p:nvSpPr>
        <p:spPr>
          <a:xfrm>
            <a:off x="461772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20" name="Text 18"/>
          <p:cNvSpPr/>
          <p:nvPr/>
        </p:nvSpPr>
        <p:spPr>
          <a:xfrm>
            <a:off x="461772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Identify Every Defensive Control Gap</a:t>
            </a:r>
            <a:endParaRPr lang="en-US" sz="1400" dirty="0"/>
          </a:p>
        </p:txBody>
      </p:sp>
      <p:sp>
        <p:nvSpPr>
          <p:cNvPr id="21" name="Text 19"/>
          <p:cNvSpPr/>
          <p:nvPr/>
        </p:nvSpPr>
        <p:spPr>
          <a:xfrm>
            <a:off x="461772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Exponential combination of NGFW, IdP, IPS, SASE, WAF configs</a:t>
            </a:r>
            <a:endParaRPr lang="en-US" sz="1100" dirty="0"/>
          </a:p>
        </p:txBody>
      </p:sp>
      <p:sp>
        <p:nvSpPr>
          <p:cNvPr id="22" name="Shape 20"/>
          <p:cNvSpPr/>
          <p:nvPr/>
        </p:nvSpPr>
        <p:spPr>
          <a:xfrm rot="10800000">
            <a:off x="6080760" y="3429000"/>
            <a:ext cx="274320" cy="228600"/>
          </a:xfrm>
          <a:prstGeom prst="rtTriangle">
            <a:avLst/>
          </a:prstGeom>
          <a:solidFill>
            <a:srgbClr val="F26B1F"/>
          </a:solidFill>
          <a:ln/>
        </p:spPr>
        <p:txBody>
          <a:bodyPr/>
          <a:lstStyle/>
          <a:p>
            <a:endParaRPr lang="en-US"/>
          </a:p>
        </p:txBody>
      </p:sp>
      <p:sp>
        <p:nvSpPr>
          <p:cNvPr id="23" name="Shape 21"/>
          <p:cNvSpPr/>
          <p:nvPr/>
        </p:nvSpPr>
        <p:spPr>
          <a:xfrm>
            <a:off x="438912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24" name="Shape 22"/>
          <p:cNvSpPr/>
          <p:nvPr/>
        </p:nvSpPr>
        <p:spPr>
          <a:xfrm>
            <a:off x="4389120" y="3794760"/>
            <a:ext cx="91440" cy="2194560"/>
          </a:xfrm>
          <a:prstGeom prst="rect">
            <a:avLst/>
          </a:prstGeom>
          <a:solidFill>
            <a:srgbClr val="F26B1F"/>
          </a:solidFill>
          <a:ln/>
        </p:spPr>
        <p:txBody>
          <a:bodyPr/>
          <a:lstStyle/>
          <a:p>
            <a:endParaRPr lang="en-US"/>
          </a:p>
        </p:txBody>
      </p:sp>
      <p:sp>
        <p:nvSpPr>
          <p:cNvPr id="25" name="Text 23"/>
          <p:cNvSpPr/>
          <p:nvPr/>
        </p:nvSpPr>
        <p:spPr>
          <a:xfrm>
            <a:off x="461772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26" name="Text 24"/>
          <p:cNvSpPr/>
          <p:nvPr/>
        </p:nvSpPr>
        <p:spPr>
          <a:xfrm>
            <a:off x="461772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Defense Intelligence</a:t>
            </a:r>
            <a:endParaRPr lang="en-US" sz="1400" dirty="0"/>
          </a:p>
        </p:txBody>
      </p:sp>
      <p:sp>
        <p:nvSpPr>
          <p:cNvPr id="27" name="Text 25"/>
          <p:cNvSpPr/>
          <p:nvPr/>
        </p:nvSpPr>
        <p:spPr>
          <a:xfrm>
            <a:off x="461772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Symbolic Model of Computation. Formal mathematical model — exhaustively reasons over the 2^8000 state space. No sampling.</a:t>
            </a:r>
            <a:endParaRPr lang="en-US" sz="1150" dirty="0"/>
          </a:p>
        </p:txBody>
      </p:sp>
      <p:sp>
        <p:nvSpPr>
          <p:cNvPr id="28" name="Shape 26"/>
          <p:cNvSpPr/>
          <p:nvPr/>
        </p:nvSpPr>
        <p:spPr>
          <a:xfrm>
            <a:off x="832104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29" name="Shape 27"/>
          <p:cNvSpPr/>
          <p:nvPr/>
        </p:nvSpPr>
        <p:spPr>
          <a:xfrm>
            <a:off x="8321040" y="1554480"/>
            <a:ext cx="91440" cy="1737360"/>
          </a:xfrm>
          <a:prstGeom prst="rect">
            <a:avLst/>
          </a:prstGeom>
          <a:solidFill>
            <a:srgbClr val="C0392B"/>
          </a:solidFill>
          <a:ln/>
        </p:spPr>
        <p:txBody>
          <a:bodyPr/>
          <a:lstStyle/>
          <a:p>
            <a:endParaRPr lang="en-US"/>
          </a:p>
        </p:txBody>
      </p:sp>
      <p:sp>
        <p:nvSpPr>
          <p:cNvPr id="30" name="Text 28"/>
          <p:cNvSpPr/>
          <p:nvPr/>
        </p:nvSpPr>
        <p:spPr>
          <a:xfrm>
            <a:off x="854964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31" name="Text 29"/>
          <p:cNvSpPr/>
          <p:nvPr/>
        </p:nvSpPr>
        <p:spPr>
          <a:xfrm>
            <a:off x="854964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Prescribe Correct Configurations</a:t>
            </a:r>
            <a:endParaRPr lang="en-US" sz="1400" dirty="0"/>
          </a:p>
        </p:txBody>
      </p:sp>
      <p:sp>
        <p:nvSpPr>
          <p:cNvPr id="32" name="Text 30"/>
          <p:cNvSpPr/>
          <p:nvPr/>
        </p:nvSpPr>
        <p:spPr>
          <a:xfrm>
            <a:off x="854964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Without creating new errors or business disruption</a:t>
            </a:r>
            <a:endParaRPr lang="en-US" sz="1100" dirty="0"/>
          </a:p>
        </p:txBody>
      </p:sp>
      <p:sp>
        <p:nvSpPr>
          <p:cNvPr id="33" name="Shape 31"/>
          <p:cNvSpPr/>
          <p:nvPr/>
        </p:nvSpPr>
        <p:spPr>
          <a:xfrm rot="10800000">
            <a:off x="10012680" y="3429000"/>
            <a:ext cx="274320" cy="228600"/>
          </a:xfrm>
          <a:prstGeom prst="rtTriangle">
            <a:avLst/>
          </a:prstGeom>
          <a:solidFill>
            <a:srgbClr val="F26B1F"/>
          </a:solidFill>
          <a:ln/>
        </p:spPr>
        <p:txBody>
          <a:bodyPr/>
          <a:lstStyle/>
          <a:p>
            <a:endParaRPr lang="en-US"/>
          </a:p>
        </p:txBody>
      </p:sp>
      <p:sp>
        <p:nvSpPr>
          <p:cNvPr id="34" name="Shape 32"/>
          <p:cNvSpPr/>
          <p:nvPr/>
        </p:nvSpPr>
        <p:spPr>
          <a:xfrm>
            <a:off x="832104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35" name="Shape 33"/>
          <p:cNvSpPr/>
          <p:nvPr/>
        </p:nvSpPr>
        <p:spPr>
          <a:xfrm>
            <a:off x="8321040" y="3794760"/>
            <a:ext cx="91440" cy="2194560"/>
          </a:xfrm>
          <a:prstGeom prst="rect">
            <a:avLst/>
          </a:prstGeom>
          <a:solidFill>
            <a:srgbClr val="F26B1F"/>
          </a:solidFill>
          <a:ln/>
        </p:spPr>
        <p:txBody>
          <a:bodyPr/>
          <a:lstStyle/>
          <a:p>
            <a:endParaRPr lang="en-US"/>
          </a:p>
        </p:txBody>
      </p:sp>
      <p:sp>
        <p:nvSpPr>
          <p:cNvPr id="36" name="Text 34"/>
          <p:cNvSpPr/>
          <p:nvPr/>
        </p:nvSpPr>
        <p:spPr>
          <a:xfrm>
            <a:off x="854964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37" name="Text 35"/>
          <p:cNvSpPr/>
          <p:nvPr/>
        </p:nvSpPr>
        <p:spPr>
          <a:xfrm>
            <a:off x="854964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Remediation Intelligence</a:t>
            </a:r>
            <a:endParaRPr lang="en-US" sz="1400" dirty="0"/>
          </a:p>
        </p:txBody>
      </p:sp>
      <p:sp>
        <p:nvSpPr>
          <p:cNvPr id="38" name="Text 36"/>
          <p:cNvSpPr/>
          <p:nvPr/>
        </p:nvSpPr>
        <p:spPr>
          <a:xfrm>
            <a:off x="854964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Grounded agentic-AI reasoners. Risk-prioritized, vendor-specific fixes. No false positives. No false negatives.</a:t>
            </a:r>
            <a:endParaRPr lang="en-US" sz="1150" dirty="0"/>
          </a:p>
        </p:txBody>
      </p:sp>
      <p:sp>
        <p:nvSpPr>
          <p:cNvPr id="39" name="Shape 37"/>
          <p:cNvSpPr/>
          <p:nvPr/>
        </p:nvSpPr>
        <p:spPr>
          <a:xfrm>
            <a:off x="457200" y="6172200"/>
            <a:ext cx="11247120" cy="457200"/>
          </a:xfrm>
          <a:prstGeom prst="rect">
            <a:avLst/>
          </a:prstGeom>
          <a:solidFill>
            <a:srgbClr val="0B1F3A"/>
          </a:solidFill>
          <a:ln/>
        </p:spPr>
        <p:txBody>
          <a:bodyPr/>
          <a:lstStyle/>
          <a:p>
            <a:endParaRPr lang="en-US"/>
          </a:p>
        </p:txBody>
      </p:sp>
      <p:sp>
        <p:nvSpPr>
          <p:cNvPr id="40" name="Text 38"/>
          <p:cNvSpPr/>
          <p:nvPr/>
        </p:nvSpPr>
        <p:spPr>
          <a:xfrm>
            <a:off x="640080" y="6172200"/>
            <a:ext cx="10972800"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The world's first Mathematically Rigorous — Complete, Preemptive, Continuous, Verifiable — Cyber Defense Management Platform.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RigorOS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08760"/>
            <a:ext cx="2377440" cy="457200"/>
          </a:xfrm>
          <a:prstGeom prst="rect">
            <a:avLst/>
          </a:prstGeom>
          <a:solidFill>
            <a:srgbClr val="2D3748"/>
          </a:solidFill>
          <a:ln/>
        </p:spPr>
        <p:txBody>
          <a:bodyPr/>
          <a:lstStyle/>
          <a:p>
            <a:endParaRPr lang="en-US"/>
          </a:p>
        </p:txBody>
      </p:sp>
      <p:sp>
        <p:nvSpPr>
          <p:cNvPr id="8" name="Text 6"/>
          <p:cNvSpPr/>
          <p:nvPr/>
        </p:nvSpPr>
        <p:spPr>
          <a:xfrm>
            <a:off x="457200" y="1508760"/>
            <a:ext cx="23774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5400000">
            <a:off x="2926080" y="3794760"/>
            <a:ext cx="274320" cy="274320"/>
          </a:xfrm>
          <a:prstGeom prst="rtTriangle">
            <a:avLst/>
          </a:prstGeom>
          <a:solidFill>
            <a:srgbClr val="F26B1F"/>
          </a:solidFill>
          <a:ln/>
        </p:spPr>
        <p:txBody>
          <a:bodyPr/>
          <a:lstStyle/>
          <a:p>
            <a:endParaRPr lang="en-US"/>
          </a:p>
        </p:txBody>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txBody>
          <a:bodyPr/>
          <a:lstStyle/>
          <a:p>
            <a:endParaRPr lang="en-US"/>
          </a:p>
        </p:txBody>
      </p:sp>
      <p:sp>
        <p:nvSpPr>
          <p:cNvPr id="17" name="Shape 15"/>
          <p:cNvSpPr/>
          <p:nvPr/>
        </p:nvSpPr>
        <p:spPr>
          <a:xfrm>
            <a:off x="3337560" y="1508760"/>
            <a:ext cx="3749040" cy="457200"/>
          </a:xfrm>
          <a:prstGeom prst="rect">
            <a:avLst/>
          </a:prstGeom>
          <a:solidFill>
            <a:srgbClr val="F26B1F"/>
          </a:solidFill>
          <a:ln/>
        </p:spPr>
        <p:txBody>
          <a:bodyPr/>
          <a:lstStyle/>
          <a:p>
            <a:endParaRPr lang="en-US"/>
          </a:p>
        </p:txBody>
      </p:sp>
      <p:sp>
        <p:nvSpPr>
          <p:cNvPr id="18" name="Text 16"/>
          <p:cNvSpPr/>
          <p:nvPr/>
        </p:nvSpPr>
        <p:spPr>
          <a:xfrm>
            <a:off x="3337560" y="1508760"/>
            <a:ext cx="37490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RIGOR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txBody>
          <a:bodyPr/>
          <a:lstStyle/>
          <a:p>
            <a:endParaRPr lang="en-US"/>
          </a:p>
        </p:txBody>
      </p:sp>
      <p:sp>
        <p:nvSpPr>
          <p:cNvPr id="20" name="Text 18"/>
          <p:cNvSpPr/>
          <p:nvPr/>
        </p:nvSpPr>
        <p:spPr>
          <a:xfrm>
            <a:off x="3611880" y="21945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txBody>
          <a:bodyPr/>
          <a:lstStyle/>
          <a:p>
            <a:endParaRPr lang="en-US"/>
          </a:p>
        </p:txBody>
      </p:sp>
      <p:sp>
        <p:nvSpPr>
          <p:cNvPr id="23" name="Text 21"/>
          <p:cNvSpPr/>
          <p:nvPr/>
        </p:nvSpPr>
        <p:spPr>
          <a:xfrm>
            <a:off x="3611880" y="365760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txBody>
          <a:bodyPr/>
          <a:lstStyle/>
          <a:p>
            <a:endParaRPr lang="en-US"/>
          </a:p>
        </p:txBody>
      </p:sp>
      <p:sp>
        <p:nvSpPr>
          <p:cNvPr id="26" name="Text 24"/>
          <p:cNvSpPr/>
          <p:nvPr/>
        </p:nvSpPr>
        <p:spPr>
          <a:xfrm>
            <a:off x="3611880" y="49377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5400000">
            <a:off x="7178040" y="3794760"/>
            <a:ext cx="274320" cy="274320"/>
          </a:xfrm>
          <a:prstGeom prst="rtTriangle">
            <a:avLst/>
          </a:prstGeom>
          <a:solidFill>
            <a:srgbClr val="F26B1F"/>
          </a:solidFill>
          <a:ln/>
        </p:spPr>
        <p:txBody>
          <a:bodyPr/>
          <a:lstStyle/>
          <a:p>
            <a:endParaRPr lang="en-US"/>
          </a:p>
        </p:txBody>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7589520" y="1508760"/>
            <a:ext cx="4114800" cy="457200"/>
          </a:xfrm>
          <a:prstGeom prst="rect">
            <a:avLst/>
          </a:prstGeom>
          <a:solidFill>
            <a:srgbClr val="0B1F3A"/>
          </a:solidFill>
          <a:ln/>
        </p:spPr>
        <p:txBody>
          <a:bodyPr/>
          <a:lstStyle/>
          <a:p>
            <a:endParaRPr lang="en-US"/>
          </a:p>
        </p:txBody>
      </p:sp>
      <p:sp>
        <p:nvSpPr>
          <p:cNvPr id="31" name="Text 29"/>
          <p:cNvSpPr/>
          <p:nvPr/>
        </p:nvSpPr>
        <p:spPr>
          <a:xfrm>
            <a:off x="7589520" y="1508760"/>
            <a:ext cx="411480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Rigor AI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Rigor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Attack Intel ingests CISA / NSA / vendor PSIRT advisories the moment they publish. Defense Intel formally proves every exposed NGFW, VPN, SASE has the corresponding IPS signature, threat-feed deny rule, or version-blocking policy enforced. If patch is unavailable, Rigor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domain, ASN, and known-bad SOHO device fingerprint as a denied destination. Symbolic Model of Computation proves the 50M+ rule combinations across N-S and E-W firewalls all block these flows. Web shell upload paths are blocked at the WAF — Rigor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verifies the EDR/EPP coverage is enabled on every domain controller and that the script-control profile blocks ntdsutil execution by non-admin contexts. Verifies egress filtering blocks credential exfil to known C2 ranges. Where coverage is missing, Rigor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Real customer case: Rigor exposed an SMB inspection profile shadowed by 3 higher-priority firewall rules — allowed unprotected SMBv1 between branches. Rigor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Configuration Drift Management use case continuously verifies live config against approved baseline. Any unauthorized change to logging, audit, or segmentation rules is flagged the moment it deviates. Rigor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Rigor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Rigor AI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Rigor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CVE-to-control mapping is automatic. Every device exposing IOS XE web UI to the internet → flagged as a coverage gap before exploitation. Rigor proves the WAF / management-plane ACL blocks public access to /webui/. For each unpatched CVE, Rigor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Configuration Drift Management use case: Rigor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preemptive verification is continuous — re-verified on every config change, every threat-feed update, every CVE publication. Every "new normal" requires explicit authorization in the baseline. Salt Typhoon's persistence depends on a config that drifts from the approved baseline; Rigor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Rigor's continuous baseline verification is the antidote.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512064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475488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943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Nine Rigor AI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RigorOS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7" name="Shape 5"/>
          <p:cNvSpPr/>
          <p:nvPr/>
        </p:nvSpPr>
        <p:spPr>
          <a:xfrm>
            <a:off x="457200" y="1371600"/>
            <a:ext cx="3703320" cy="292608"/>
          </a:xfrm>
          <a:prstGeom prst="rect">
            <a:avLst/>
          </a:prstGeom>
          <a:solidFill>
            <a:srgbClr val="F26B1F"/>
          </a:solidFill>
          <a:ln/>
        </p:spPr>
        <p:txBody>
          <a:bodyPr/>
          <a:lstStyle/>
          <a:p>
            <a:endParaRPr lang="en-US"/>
          </a:p>
        </p:txBody>
      </p:sp>
      <p:sp>
        <p:nvSpPr>
          <p:cNvPr id="8" name="Text 6"/>
          <p:cNvSpPr/>
          <p:nvPr/>
        </p:nvSpPr>
        <p:spPr>
          <a:xfrm>
            <a:off x="56692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2" name="Shape 10"/>
          <p:cNvSpPr/>
          <p:nvPr/>
        </p:nvSpPr>
        <p:spPr>
          <a:xfrm>
            <a:off x="4297680" y="1371600"/>
            <a:ext cx="3703320" cy="292608"/>
          </a:xfrm>
          <a:prstGeom prst="rect">
            <a:avLst/>
          </a:prstGeom>
          <a:solidFill>
            <a:srgbClr val="F26B1F"/>
          </a:solidFill>
          <a:ln/>
        </p:spPr>
        <p:txBody>
          <a:bodyPr/>
          <a:lstStyle/>
          <a:p>
            <a:endParaRPr lang="en-US"/>
          </a:p>
        </p:txBody>
      </p:sp>
      <p:sp>
        <p:nvSpPr>
          <p:cNvPr id="13" name="Text 11"/>
          <p:cNvSpPr/>
          <p:nvPr/>
        </p:nvSpPr>
        <p:spPr>
          <a:xfrm>
            <a:off x="440740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7" name="Shape 15"/>
          <p:cNvSpPr/>
          <p:nvPr/>
        </p:nvSpPr>
        <p:spPr>
          <a:xfrm>
            <a:off x="8138160" y="1371600"/>
            <a:ext cx="3703320" cy="292608"/>
          </a:xfrm>
          <a:prstGeom prst="rect">
            <a:avLst/>
          </a:prstGeom>
          <a:solidFill>
            <a:srgbClr val="F26B1F"/>
          </a:solidFill>
          <a:ln/>
        </p:spPr>
        <p:txBody>
          <a:bodyPr/>
          <a:lstStyle/>
          <a:p>
            <a:endParaRPr lang="en-US"/>
          </a:p>
        </p:txBody>
      </p:sp>
      <p:sp>
        <p:nvSpPr>
          <p:cNvPr id="18" name="Text 16"/>
          <p:cNvSpPr/>
          <p:nvPr/>
        </p:nvSpPr>
        <p:spPr>
          <a:xfrm>
            <a:off x="824788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457200" y="2880360"/>
            <a:ext cx="3703320" cy="292608"/>
          </a:xfrm>
          <a:prstGeom prst="rect">
            <a:avLst/>
          </a:prstGeom>
          <a:solidFill>
            <a:srgbClr val="F26B1F"/>
          </a:solidFill>
          <a:ln/>
        </p:spPr>
        <p:txBody>
          <a:bodyPr/>
          <a:lstStyle/>
          <a:p>
            <a:endParaRPr lang="en-US"/>
          </a:p>
        </p:txBody>
      </p:sp>
      <p:sp>
        <p:nvSpPr>
          <p:cNvPr id="23" name="Text 21"/>
          <p:cNvSpPr/>
          <p:nvPr/>
        </p:nvSpPr>
        <p:spPr>
          <a:xfrm>
            <a:off x="56692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7" name="Shape 25"/>
          <p:cNvSpPr/>
          <p:nvPr/>
        </p:nvSpPr>
        <p:spPr>
          <a:xfrm>
            <a:off x="4297680" y="2880360"/>
            <a:ext cx="3703320" cy="292608"/>
          </a:xfrm>
          <a:prstGeom prst="rect">
            <a:avLst/>
          </a:prstGeom>
          <a:solidFill>
            <a:srgbClr val="F26B1F"/>
          </a:solidFill>
          <a:ln/>
        </p:spPr>
        <p:txBody>
          <a:bodyPr/>
          <a:lstStyle/>
          <a:p>
            <a:endParaRPr lang="en-US"/>
          </a:p>
        </p:txBody>
      </p:sp>
      <p:sp>
        <p:nvSpPr>
          <p:cNvPr id="28" name="Text 26"/>
          <p:cNvSpPr/>
          <p:nvPr/>
        </p:nvSpPr>
        <p:spPr>
          <a:xfrm>
            <a:off x="440740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8138160" y="2880360"/>
            <a:ext cx="3703320" cy="292608"/>
          </a:xfrm>
          <a:prstGeom prst="rect">
            <a:avLst/>
          </a:prstGeom>
          <a:solidFill>
            <a:srgbClr val="1C7293"/>
          </a:solidFill>
          <a:ln/>
        </p:spPr>
        <p:txBody>
          <a:bodyPr/>
          <a:lstStyle/>
          <a:p>
            <a:endParaRPr lang="en-US"/>
          </a:p>
        </p:txBody>
      </p:sp>
      <p:sp>
        <p:nvSpPr>
          <p:cNvPr id="33" name="Text 31"/>
          <p:cNvSpPr/>
          <p:nvPr/>
        </p:nvSpPr>
        <p:spPr>
          <a:xfrm>
            <a:off x="824788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37" name="Shape 35"/>
          <p:cNvSpPr/>
          <p:nvPr/>
        </p:nvSpPr>
        <p:spPr>
          <a:xfrm>
            <a:off x="457200" y="4389120"/>
            <a:ext cx="3703320" cy="292608"/>
          </a:xfrm>
          <a:prstGeom prst="rect">
            <a:avLst/>
          </a:prstGeom>
          <a:solidFill>
            <a:srgbClr val="1C7293"/>
          </a:solidFill>
          <a:ln/>
        </p:spPr>
        <p:txBody>
          <a:bodyPr/>
          <a:lstStyle/>
          <a:p>
            <a:endParaRPr lang="en-US"/>
          </a:p>
        </p:txBody>
      </p:sp>
      <p:sp>
        <p:nvSpPr>
          <p:cNvPr id="38" name="Text 36"/>
          <p:cNvSpPr/>
          <p:nvPr/>
        </p:nvSpPr>
        <p:spPr>
          <a:xfrm>
            <a:off x="56692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2" name="Shape 40"/>
          <p:cNvSpPr/>
          <p:nvPr/>
        </p:nvSpPr>
        <p:spPr>
          <a:xfrm>
            <a:off x="4297680" y="4389120"/>
            <a:ext cx="3703320" cy="292608"/>
          </a:xfrm>
          <a:prstGeom prst="rect">
            <a:avLst/>
          </a:prstGeom>
          <a:solidFill>
            <a:srgbClr val="1C7293"/>
          </a:solidFill>
          <a:ln/>
        </p:spPr>
        <p:txBody>
          <a:bodyPr/>
          <a:lstStyle/>
          <a:p>
            <a:endParaRPr lang="en-US"/>
          </a:p>
        </p:txBody>
      </p:sp>
      <p:sp>
        <p:nvSpPr>
          <p:cNvPr id="43" name="Text 41"/>
          <p:cNvSpPr/>
          <p:nvPr/>
        </p:nvSpPr>
        <p:spPr>
          <a:xfrm>
            <a:off x="440740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7" name="Shape 45"/>
          <p:cNvSpPr/>
          <p:nvPr/>
        </p:nvSpPr>
        <p:spPr>
          <a:xfrm>
            <a:off x="8138160" y="4389120"/>
            <a:ext cx="3703320" cy="292608"/>
          </a:xfrm>
          <a:prstGeom prst="rect">
            <a:avLst/>
          </a:prstGeom>
          <a:solidFill>
            <a:srgbClr val="1C7293"/>
          </a:solidFill>
          <a:ln/>
        </p:spPr>
        <p:txBody>
          <a:bodyPr/>
          <a:lstStyle/>
          <a:p>
            <a:endParaRPr lang="en-US"/>
          </a:p>
        </p:txBody>
      </p:sp>
      <p:sp>
        <p:nvSpPr>
          <p:cNvPr id="48" name="Text 46"/>
          <p:cNvSpPr/>
          <p:nvPr/>
        </p:nvSpPr>
        <p:spPr>
          <a:xfrm>
            <a:off x="824788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Rigor's value across the broader cyber operating model.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Where Rigor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txBody>
          <a:bodyPr/>
          <a:lstStyle/>
          <a:p>
            <a:endParaRPr lang="en-US"/>
          </a:p>
        </p:txBody>
      </p:sp>
      <p:sp>
        <p:nvSpPr>
          <p:cNvPr id="7" name="Shape 5"/>
          <p:cNvSpPr/>
          <p:nvPr/>
        </p:nvSpPr>
        <p:spPr>
          <a:xfrm>
            <a:off x="457200" y="1371600"/>
            <a:ext cx="73152" cy="1645920"/>
          </a:xfrm>
          <a:prstGeom prst="rect">
            <a:avLst/>
          </a:prstGeom>
          <a:solidFill>
            <a:srgbClr val="F26B1F"/>
          </a:solidFill>
          <a:ln/>
        </p:spPr>
        <p:txBody>
          <a:bodyPr/>
          <a:lstStyle/>
          <a:p>
            <a:endParaRPr lang="en-US"/>
          </a:p>
        </p:txBody>
      </p:sp>
      <p:sp>
        <p:nvSpPr>
          <p:cNvPr id="8" name="Text 6"/>
          <p:cNvSpPr/>
          <p:nvPr/>
        </p:nvSpPr>
        <p:spPr>
          <a:xfrm>
            <a:off x="640080" y="146304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preempts every TTP that's been mapped to MITRE ATT&amp;CK. A genuine zero-day with no signature, no IOC, no MITRE mapping yet has nothing for Rigor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Rigor's threat-intel sync. Rigor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txBody>
          <a:bodyPr/>
          <a:lstStyle/>
          <a:p>
            <a:endParaRPr lang="en-US"/>
          </a:p>
        </p:txBody>
      </p:sp>
      <p:sp>
        <p:nvSpPr>
          <p:cNvPr id="12" name="Text 10"/>
          <p:cNvSpPr/>
          <p:nvPr/>
        </p:nvSpPr>
        <p:spPr>
          <a:xfrm>
            <a:off x="6995160" y="155448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457200" y="3063240"/>
            <a:ext cx="73152" cy="1645920"/>
          </a:xfrm>
          <a:prstGeom prst="rect">
            <a:avLst/>
          </a:prstGeom>
          <a:solidFill>
            <a:srgbClr val="F26B1F"/>
          </a:solidFill>
          <a:ln/>
        </p:spPr>
        <p:txBody>
          <a:bodyPr/>
          <a:lstStyle/>
          <a:p>
            <a:endParaRPr lang="en-US"/>
          </a:p>
        </p:txBody>
      </p:sp>
      <p:sp>
        <p:nvSpPr>
          <p:cNvPr id="16" name="Text 14"/>
          <p:cNvSpPr/>
          <p:nvPr/>
        </p:nvSpPr>
        <p:spPr>
          <a:xfrm>
            <a:off x="640080" y="315468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Rigor-verified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txBody>
          <a:bodyPr/>
          <a:lstStyle/>
          <a:p>
            <a:endParaRPr lang="en-US"/>
          </a:p>
        </p:txBody>
      </p:sp>
      <p:sp>
        <p:nvSpPr>
          <p:cNvPr id="20" name="Text 18"/>
          <p:cNvSpPr/>
          <p:nvPr/>
        </p:nvSpPr>
        <p:spPr>
          <a:xfrm>
            <a:off x="6995160" y="324612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txBody>
          <a:bodyPr/>
          <a:lstStyle/>
          <a:p>
            <a:endParaRPr lang="en-US"/>
          </a:p>
        </p:txBody>
      </p:sp>
      <p:sp>
        <p:nvSpPr>
          <p:cNvPr id="23" name="Shape 21"/>
          <p:cNvSpPr/>
          <p:nvPr/>
        </p:nvSpPr>
        <p:spPr>
          <a:xfrm>
            <a:off x="457200" y="4754880"/>
            <a:ext cx="73152" cy="1645920"/>
          </a:xfrm>
          <a:prstGeom prst="rect">
            <a:avLst/>
          </a:prstGeom>
          <a:solidFill>
            <a:srgbClr val="F26B1F"/>
          </a:solidFill>
          <a:ln/>
        </p:spPr>
        <p:txBody>
          <a:bodyPr/>
          <a:lstStyle/>
          <a:p>
            <a:endParaRPr lang="en-US"/>
          </a:p>
        </p:txBody>
      </p:sp>
      <p:sp>
        <p:nvSpPr>
          <p:cNvPr id="24" name="Text 22"/>
          <p:cNvSpPr/>
          <p:nvPr/>
        </p:nvSpPr>
        <p:spPr>
          <a:xfrm>
            <a:off x="640080" y="484632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Rigor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Rigor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txBody>
          <a:bodyPr/>
          <a:lstStyle/>
          <a:p>
            <a:endParaRPr lang="en-US"/>
          </a:p>
        </p:txBody>
      </p:sp>
      <p:sp>
        <p:nvSpPr>
          <p:cNvPr id="28" name="Text 26"/>
          <p:cNvSpPr/>
          <p:nvPr/>
        </p:nvSpPr>
        <p:spPr>
          <a:xfrm>
            <a:off x="6995160" y="493776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Rigor produces.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PROOF POINTS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Rigor in Production: Real Customer Findings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Selected findings from financial services, telecom, government, and critical infrastructure customers</a:t>
            </a:r>
            <a:endParaRPr lang="en-US" sz="1200" dirty="0"/>
          </a:p>
        </p:txBody>
      </p:sp>
      <p:sp>
        <p:nvSpPr>
          <p:cNvPr id="6" name="Shape 4"/>
          <p:cNvSpPr/>
          <p:nvPr/>
        </p:nvSpPr>
        <p:spPr>
          <a:xfrm>
            <a:off x="457200"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508760"/>
            <a:ext cx="3703320" cy="320040"/>
          </a:xfrm>
          <a:prstGeom prst="rect">
            <a:avLst/>
          </a:prstGeom>
          <a:solidFill>
            <a:srgbClr val="0B1F3A"/>
          </a:solidFill>
          <a:ln/>
        </p:spPr>
        <p:txBody>
          <a:bodyPr/>
          <a:lstStyle/>
          <a:p>
            <a:endParaRPr lang="en-US"/>
          </a:p>
        </p:txBody>
      </p:sp>
      <p:sp>
        <p:nvSpPr>
          <p:cNvPr id="8" name="Text 6"/>
          <p:cNvSpPr/>
          <p:nvPr/>
        </p:nvSpPr>
        <p:spPr>
          <a:xfrm>
            <a:off x="594360"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FinTech | Asia</a:t>
            </a:r>
            <a:endParaRPr lang="en-US" sz="1000" dirty="0"/>
          </a:p>
        </p:txBody>
      </p:sp>
      <p:sp>
        <p:nvSpPr>
          <p:cNvPr id="9" name="Text 7"/>
          <p:cNvSpPr/>
          <p:nvPr/>
        </p:nvSpPr>
        <p:spPr>
          <a:xfrm>
            <a:off x="640080"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SMB Lateral Movement Path</a:t>
            </a:r>
            <a:endParaRPr lang="en-US" sz="1300" dirty="0"/>
          </a:p>
        </p:txBody>
      </p:sp>
      <p:sp>
        <p:nvSpPr>
          <p:cNvPr id="10" name="Text 8"/>
          <p:cNvSpPr/>
          <p:nvPr/>
        </p:nvSpPr>
        <p:spPr>
          <a:xfrm>
            <a:off x="640080"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SMB app-control profiles completely shadowed by 3 higher-priority rules — allowed unprotected SMBv1 between branches. Rigor formal model exposed the multi-rule shadow.</a:t>
            </a:r>
            <a:endParaRPr lang="en-US" sz="1100" dirty="0"/>
          </a:p>
        </p:txBody>
      </p:sp>
      <p:sp>
        <p:nvSpPr>
          <p:cNvPr id="11" name="Shape 9"/>
          <p:cNvSpPr/>
          <p:nvPr/>
        </p:nvSpPr>
        <p:spPr>
          <a:xfrm>
            <a:off x="4361688"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4361688" y="1508760"/>
            <a:ext cx="3703320" cy="320040"/>
          </a:xfrm>
          <a:prstGeom prst="rect">
            <a:avLst/>
          </a:prstGeom>
          <a:solidFill>
            <a:srgbClr val="0B1F3A"/>
          </a:solidFill>
          <a:ln/>
        </p:spPr>
        <p:txBody>
          <a:bodyPr/>
          <a:lstStyle/>
          <a:p>
            <a:endParaRPr lang="en-US"/>
          </a:p>
        </p:txBody>
      </p:sp>
      <p:sp>
        <p:nvSpPr>
          <p:cNvPr id="13" name="Text 11"/>
          <p:cNvSpPr/>
          <p:nvPr/>
        </p:nvSpPr>
        <p:spPr>
          <a:xfrm>
            <a:off x="4498848"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Communications | NA</a:t>
            </a:r>
            <a:endParaRPr lang="en-US" sz="1000" dirty="0"/>
          </a:p>
        </p:txBody>
      </p:sp>
      <p:sp>
        <p:nvSpPr>
          <p:cNvPr id="14" name="Text 12"/>
          <p:cNvSpPr/>
          <p:nvPr/>
        </p:nvSpPr>
        <p:spPr>
          <a:xfrm>
            <a:off x="4544568"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Eliminated Known CVE Exposure</a:t>
            </a:r>
            <a:endParaRPr lang="en-US" sz="1300" dirty="0"/>
          </a:p>
        </p:txBody>
      </p:sp>
      <p:sp>
        <p:nvSpPr>
          <p:cNvPr id="15" name="Text 13"/>
          <p:cNvSpPr/>
          <p:nvPr/>
        </p:nvSpPr>
        <p:spPr>
          <a:xfrm>
            <a:off x="4544568"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IPS filters were missing on rsync traffic to backup servers. Exposed enterprise to lateral malware movement and remote code execution against critical infra.</a:t>
            </a:r>
            <a:endParaRPr lang="en-US" sz="1100" dirty="0"/>
          </a:p>
        </p:txBody>
      </p:sp>
      <p:sp>
        <p:nvSpPr>
          <p:cNvPr id="16" name="Shape 14"/>
          <p:cNvSpPr/>
          <p:nvPr/>
        </p:nvSpPr>
        <p:spPr>
          <a:xfrm>
            <a:off x="8266176"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5"/>
          <p:cNvSpPr/>
          <p:nvPr/>
        </p:nvSpPr>
        <p:spPr>
          <a:xfrm>
            <a:off x="8266176" y="1508760"/>
            <a:ext cx="3703320" cy="320040"/>
          </a:xfrm>
          <a:prstGeom prst="rect">
            <a:avLst/>
          </a:prstGeom>
          <a:solidFill>
            <a:srgbClr val="0B1F3A"/>
          </a:solidFill>
          <a:ln/>
        </p:spPr>
        <p:txBody>
          <a:bodyPr/>
          <a:lstStyle/>
          <a:p>
            <a:endParaRPr lang="en-US"/>
          </a:p>
        </p:txBody>
      </p:sp>
      <p:sp>
        <p:nvSpPr>
          <p:cNvPr id="18" name="Text 16"/>
          <p:cNvSpPr/>
          <p:nvPr/>
        </p:nvSpPr>
        <p:spPr>
          <a:xfrm>
            <a:off x="8403336"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Regional Bank | E. Asia</a:t>
            </a:r>
            <a:endParaRPr lang="en-US" sz="1000" dirty="0"/>
          </a:p>
        </p:txBody>
      </p:sp>
      <p:sp>
        <p:nvSpPr>
          <p:cNvPr id="19" name="Text 17"/>
          <p:cNvSpPr/>
          <p:nvPr/>
        </p:nvSpPr>
        <p:spPr>
          <a:xfrm>
            <a:off x="8449056"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RCE Attack Paths</a:t>
            </a:r>
            <a:endParaRPr lang="en-US" sz="1300" dirty="0"/>
          </a:p>
        </p:txBody>
      </p:sp>
      <p:sp>
        <p:nvSpPr>
          <p:cNvPr id="20" name="Text 18"/>
          <p:cNvSpPr/>
          <p:nvPr/>
        </p:nvSpPr>
        <p:spPr>
          <a:xfrm>
            <a:off x="8449056"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Both PANW and Fortinet NGFWs allowed Windows Update service traffic from trusted zones with no IPS — exposed bank to RCE on critical multi-vendor infra.</a:t>
            </a:r>
            <a:endParaRPr lang="en-US" sz="1100" dirty="0"/>
          </a:p>
        </p:txBody>
      </p:sp>
      <p:sp>
        <p:nvSpPr>
          <p:cNvPr id="21" name="Shape 19"/>
          <p:cNvSpPr/>
          <p:nvPr/>
        </p:nvSpPr>
        <p:spPr>
          <a:xfrm>
            <a:off x="457200"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20"/>
          <p:cNvSpPr/>
          <p:nvPr/>
        </p:nvSpPr>
        <p:spPr>
          <a:xfrm>
            <a:off x="457200" y="3931920"/>
            <a:ext cx="3703320" cy="320040"/>
          </a:xfrm>
          <a:prstGeom prst="rect">
            <a:avLst/>
          </a:prstGeom>
          <a:solidFill>
            <a:srgbClr val="0B1F3A"/>
          </a:solidFill>
          <a:ln/>
        </p:spPr>
        <p:txBody>
          <a:bodyPr/>
          <a:lstStyle/>
          <a:p>
            <a:endParaRPr lang="en-US"/>
          </a:p>
        </p:txBody>
      </p:sp>
      <p:sp>
        <p:nvSpPr>
          <p:cNvPr id="23" name="Text 21"/>
          <p:cNvSpPr/>
          <p:nvPr/>
        </p:nvSpPr>
        <p:spPr>
          <a:xfrm>
            <a:off x="594360"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Critical Infra | SE Asia</a:t>
            </a:r>
            <a:endParaRPr lang="en-US" sz="1000" dirty="0"/>
          </a:p>
        </p:txBody>
      </p:sp>
      <p:sp>
        <p:nvSpPr>
          <p:cNvPr id="24" name="Text 22"/>
          <p:cNvSpPr/>
          <p:nvPr/>
        </p:nvSpPr>
        <p:spPr>
          <a:xfrm>
            <a:off x="640080"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Application Obfuscation Paths</a:t>
            </a:r>
            <a:endParaRPr lang="en-US" sz="1300" dirty="0"/>
          </a:p>
        </p:txBody>
      </p:sp>
      <p:sp>
        <p:nvSpPr>
          <p:cNvPr id="25" name="Text 23"/>
          <p:cNvSpPr/>
          <p:nvPr/>
        </p:nvSpPr>
        <p:spPr>
          <a:xfrm>
            <a:off x="640080"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Incorrectly configured vendor capabilities on DMZ rules — not all applications on the DMZ were blocked as intended. Susceptible to port-hopping evasion.</a:t>
            </a:r>
            <a:endParaRPr lang="en-US" sz="1100" dirty="0"/>
          </a:p>
        </p:txBody>
      </p:sp>
      <p:sp>
        <p:nvSpPr>
          <p:cNvPr id="26" name="Shape 24"/>
          <p:cNvSpPr/>
          <p:nvPr/>
        </p:nvSpPr>
        <p:spPr>
          <a:xfrm>
            <a:off x="4361688"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7" name="Shape 25"/>
          <p:cNvSpPr/>
          <p:nvPr/>
        </p:nvSpPr>
        <p:spPr>
          <a:xfrm>
            <a:off x="4361688" y="3931920"/>
            <a:ext cx="3703320" cy="320040"/>
          </a:xfrm>
          <a:prstGeom prst="rect">
            <a:avLst/>
          </a:prstGeom>
          <a:solidFill>
            <a:srgbClr val="0B1F3A"/>
          </a:solidFill>
          <a:ln/>
        </p:spPr>
        <p:txBody>
          <a:bodyPr/>
          <a:lstStyle/>
          <a:p>
            <a:endParaRPr lang="en-US"/>
          </a:p>
        </p:txBody>
      </p:sp>
      <p:sp>
        <p:nvSpPr>
          <p:cNvPr id="28" name="Text 26"/>
          <p:cNvSpPr/>
          <p:nvPr/>
        </p:nvSpPr>
        <p:spPr>
          <a:xfrm>
            <a:off x="4498848"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Finance | E. Asia</a:t>
            </a:r>
            <a:endParaRPr lang="en-US" sz="1000" dirty="0"/>
          </a:p>
        </p:txBody>
      </p:sp>
      <p:sp>
        <p:nvSpPr>
          <p:cNvPr id="29" name="Text 27"/>
          <p:cNvSpPr/>
          <p:nvPr/>
        </p:nvSpPr>
        <p:spPr>
          <a:xfrm>
            <a:off x="4544568"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NIST 800-53 SMTP Compliance</a:t>
            </a:r>
            <a:endParaRPr lang="en-US" sz="1300" dirty="0"/>
          </a:p>
        </p:txBody>
      </p:sp>
      <p:sp>
        <p:nvSpPr>
          <p:cNvPr id="30" name="Text 28"/>
          <p:cNvSpPr/>
          <p:nvPr/>
        </p:nvSpPr>
        <p:spPr>
          <a:xfrm>
            <a:off x="4544568"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SMTP traffic from trusted to untrusted zones had no threat inspection enabled, despite the NGFW's built-in capability — exposed customer to phishing &amp; credential harvest.</a:t>
            </a:r>
            <a:endParaRPr lang="en-US" sz="1100" dirty="0"/>
          </a:p>
        </p:txBody>
      </p:sp>
      <p:sp>
        <p:nvSpPr>
          <p:cNvPr id="31" name="Shape 29"/>
          <p:cNvSpPr/>
          <p:nvPr/>
        </p:nvSpPr>
        <p:spPr>
          <a:xfrm>
            <a:off x="8266176"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32" name="Shape 30"/>
          <p:cNvSpPr/>
          <p:nvPr/>
        </p:nvSpPr>
        <p:spPr>
          <a:xfrm>
            <a:off x="8266176" y="3931920"/>
            <a:ext cx="3703320" cy="320040"/>
          </a:xfrm>
          <a:prstGeom prst="rect">
            <a:avLst/>
          </a:prstGeom>
          <a:solidFill>
            <a:srgbClr val="0B1F3A"/>
          </a:solidFill>
          <a:ln/>
        </p:spPr>
        <p:txBody>
          <a:bodyPr/>
          <a:lstStyle/>
          <a:p>
            <a:endParaRPr lang="en-US"/>
          </a:p>
        </p:txBody>
      </p:sp>
      <p:sp>
        <p:nvSpPr>
          <p:cNvPr id="33" name="Text 31"/>
          <p:cNvSpPr/>
          <p:nvPr/>
        </p:nvSpPr>
        <p:spPr>
          <a:xfrm>
            <a:off x="8403336"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EU Sov. Govt</a:t>
            </a:r>
            <a:endParaRPr lang="en-US" sz="1000" dirty="0"/>
          </a:p>
        </p:txBody>
      </p:sp>
      <p:sp>
        <p:nvSpPr>
          <p:cNvPr id="34" name="Text 32"/>
          <p:cNvSpPr/>
          <p:nvPr/>
        </p:nvSpPr>
        <p:spPr>
          <a:xfrm>
            <a:off x="8449056"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Preemptive ASM for National Agency</a:t>
            </a:r>
            <a:endParaRPr lang="en-US" sz="1300" dirty="0"/>
          </a:p>
        </p:txBody>
      </p:sp>
      <p:sp>
        <p:nvSpPr>
          <p:cNvPr id="35" name="Text 33"/>
          <p:cNvSpPr/>
          <p:nvPr/>
        </p:nvSpPr>
        <p:spPr>
          <a:xfrm>
            <a:off x="8449056"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EU country's cyber defense umbrella — Rigor formally extended EASM scan coverage and proved compliance of external attack surface across 12 government agencies.</a:t>
            </a:r>
            <a:endParaRPr lang="en-US" sz="1100" dirty="0"/>
          </a:p>
        </p:txBody>
      </p:sp>
      <p:sp>
        <p:nvSpPr>
          <p:cNvPr id="36" name="Text 3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20+ design partners across F500, federal, critical infrastructure, MSSPs, nation states. Engagements in NA, EU, ME, Asia, Pacific.</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End-to-End Architecture: Rigor AI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Rigor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txBody>
          <a:bodyPr/>
          <a:lstStyle/>
          <a:p>
            <a:endParaRPr lang="en-US"/>
          </a:p>
        </p:txBody>
      </p:sp>
      <p:sp>
        <p:nvSpPr>
          <p:cNvPr id="8" name="Shape 6"/>
          <p:cNvSpPr/>
          <p:nvPr/>
        </p:nvSpPr>
        <p:spPr>
          <a:xfrm>
            <a:off x="457200" y="1463040"/>
            <a:ext cx="2011680" cy="457200"/>
          </a:xfrm>
          <a:prstGeom prst="rect">
            <a:avLst/>
          </a:prstGeom>
          <a:solidFill>
            <a:srgbClr val="2D3748"/>
          </a:solidFill>
          <a:ln/>
        </p:spPr>
        <p:txBody>
          <a:bodyPr/>
          <a:lstStyle/>
          <a:p>
            <a:endParaRPr lang="en-US"/>
          </a:p>
        </p:txBody>
      </p:sp>
      <p:sp>
        <p:nvSpPr>
          <p:cNvPr id="9" name="Text 7"/>
          <p:cNvSpPr/>
          <p:nvPr/>
        </p:nvSpPr>
        <p:spPr>
          <a:xfrm>
            <a:off x="457200" y="1463040"/>
            <a:ext cx="201168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txBody>
          <a:bodyPr/>
          <a:lstStyle/>
          <a:p>
            <a:endParaRPr lang="en-US"/>
          </a:p>
        </p:txBody>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txBody>
          <a:bodyPr/>
          <a:lstStyle/>
          <a:p>
            <a:endParaRPr lang="en-US"/>
          </a:p>
        </p:txBody>
      </p:sp>
      <p:sp>
        <p:nvSpPr>
          <p:cNvPr id="20" name="Shape 18"/>
          <p:cNvSpPr/>
          <p:nvPr/>
        </p:nvSpPr>
        <p:spPr>
          <a:xfrm>
            <a:off x="2926080" y="1463040"/>
            <a:ext cx="4023360" cy="457200"/>
          </a:xfrm>
          <a:prstGeom prst="rect">
            <a:avLst/>
          </a:prstGeom>
          <a:solidFill>
            <a:srgbClr val="F26B1F"/>
          </a:solidFill>
          <a:ln/>
        </p:spPr>
        <p:txBody>
          <a:bodyPr/>
          <a:lstStyle/>
          <a:p>
            <a:endParaRPr lang="en-US"/>
          </a:p>
        </p:txBody>
      </p:sp>
      <p:sp>
        <p:nvSpPr>
          <p:cNvPr id="21" name="Text 19"/>
          <p:cNvSpPr/>
          <p:nvPr/>
        </p:nvSpPr>
        <p:spPr>
          <a:xfrm>
            <a:off x="2926080" y="1463040"/>
            <a:ext cx="402336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1 — RIGOR AI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txBody>
          <a:bodyPr/>
          <a:lstStyle/>
          <a:p>
            <a:endParaRPr lang="en-US"/>
          </a:p>
        </p:txBody>
      </p:sp>
      <p:sp>
        <p:nvSpPr>
          <p:cNvPr id="29" name="Text 27"/>
          <p:cNvSpPr/>
          <p:nvPr/>
        </p:nvSpPr>
        <p:spPr>
          <a:xfrm>
            <a:off x="3200400" y="4160520"/>
            <a:ext cx="3474720" cy="274320"/>
          </a:xfrm>
          <a:prstGeom prst="rect">
            <a:avLst/>
          </a:prstGeom>
          <a:noFill/>
          <a:ln/>
        </p:spPr>
        <p:txBody>
          <a:bodyPr wrap="square" lIns="0" tIns="0" rIns="0" bIns="0" rtlCol="0" anchor="ctr"/>
          <a:lstStyle/>
          <a:p>
            <a:pPr marL="0" indent="0">
              <a:buNone/>
            </a:pPr>
            <a:r>
              <a:rPr lang="en-US" sz="1000" b="1" kern="0" spc="30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marL="0" indent="0" algn="ctr">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marL="0" indent="0" algn="ctr">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txBody>
          <a:bodyPr/>
          <a:lstStyle/>
          <a:p>
            <a:endParaRPr lang="en-US"/>
          </a:p>
        </p:txBody>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txBody>
          <a:bodyPr/>
          <a:lstStyle/>
          <a:p>
            <a:endParaRPr lang="en-US"/>
          </a:p>
        </p:txBody>
      </p:sp>
      <p:sp>
        <p:nvSpPr>
          <p:cNvPr id="35" name="Shape 33"/>
          <p:cNvSpPr/>
          <p:nvPr/>
        </p:nvSpPr>
        <p:spPr>
          <a:xfrm>
            <a:off x="7406640" y="1463040"/>
            <a:ext cx="4297680" cy="457200"/>
          </a:xfrm>
          <a:prstGeom prst="rect">
            <a:avLst/>
          </a:prstGeom>
          <a:solidFill>
            <a:srgbClr val="0891B2"/>
          </a:solidFill>
          <a:ln/>
        </p:spPr>
        <p:txBody>
          <a:bodyPr/>
          <a:lstStyle/>
          <a:p>
            <a:endParaRPr lang="en-US"/>
          </a:p>
        </p:txBody>
      </p:sp>
      <p:sp>
        <p:nvSpPr>
          <p:cNvPr id="36" name="Text 34"/>
          <p:cNvSpPr/>
          <p:nvPr/>
        </p:nvSpPr>
        <p:spPr>
          <a:xfrm>
            <a:off x="7406640" y="1463040"/>
            <a:ext cx="429768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txBody>
          <a:bodyPr/>
          <a:lstStyle/>
          <a:p>
            <a:endParaRPr lang="en-US"/>
          </a:p>
        </p:txBody>
      </p:sp>
      <p:sp>
        <p:nvSpPr>
          <p:cNvPr id="44" name="Text 42"/>
          <p:cNvSpPr/>
          <p:nvPr/>
        </p:nvSpPr>
        <p:spPr>
          <a:xfrm>
            <a:off x="7680960" y="4160520"/>
            <a:ext cx="374904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marL="0" indent="0" algn="ctr">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Rigor AI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txBody>
          <a:bodyPr/>
          <a:lstStyle/>
          <a:p>
            <a:endParaRPr lang="en-US"/>
          </a:p>
        </p:txBody>
      </p:sp>
      <p:sp>
        <p:nvSpPr>
          <p:cNvPr id="8" name="Shape 6"/>
          <p:cNvSpPr/>
          <p:nvPr/>
        </p:nvSpPr>
        <p:spPr>
          <a:xfrm>
            <a:off x="640080" y="1691640"/>
            <a:ext cx="594360" cy="594360"/>
          </a:xfrm>
          <a:prstGeom prst="ellipse">
            <a:avLst/>
          </a:prstGeom>
          <a:solidFill>
            <a:srgbClr val="0B1F3A"/>
          </a:solidFill>
          <a:ln/>
        </p:spPr>
        <p:txBody>
          <a:bodyPr/>
          <a:lstStyle/>
          <a:p>
            <a:endParaRPr lang="en-US"/>
          </a:p>
        </p:txBody>
      </p:sp>
      <p:sp>
        <p:nvSpPr>
          <p:cNvPr id="9" name="Text 7"/>
          <p:cNvSpPr/>
          <p:nvPr/>
        </p:nvSpPr>
        <p:spPr>
          <a:xfrm>
            <a:off x="640080" y="16916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txBody>
          <a:bodyPr/>
          <a:lstStyle/>
          <a:p>
            <a:endParaRPr lang="en-US"/>
          </a:p>
        </p:txBody>
      </p:sp>
      <p:sp>
        <p:nvSpPr>
          <p:cNvPr id="13" name="Text 11"/>
          <p:cNvSpPr/>
          <p:nvPr/>
        </p:nvSpPr>
        <p:spPr>
          <a:xfrm>
            <a:off x="1508760" y="225856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640080" y="2971800"/>
            <a:ext cx="594360" cy="594360"/>
          </a:xfrm>
          <a:prstGeom prst="ellipse">
            <a:avLst/>
          </a:prstGeom>
          <a:solidFill>
            <a:srgbClr val="0B1F3A"/>
          </a:solidFill>
          <a:ln/>
        </p:spPr>
        <p:txBody>
          <a:bodyPr/>
          <a:lstStyle/>
          <a:p>
            <a:endParaRPr lang="en-US"/>
          </a:p>
        </p:txBody>
      </p:sp>
      <p:sp>
        <p:nvSpPr>
          <p:cNvPr id="16" name="Text 14"/>
          <p:cNvSpPr/>
          <p:nvPr/>
        </p:nvSpPr>
        <p:spPr>
          <a:xfrm>
            <a:off x="640080" y="29718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Rigor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txBody>
          <a:bodyPr/>
          <a:lstStyle/>
          <a:p>
            <a:endParaRPr lang="en-US"/>
          </a:p>
        </p:txBody>
      </p:sp>
      <p:sp>
        <p:nvSpPr>
          <p:cNvPr id="20" name="Text 18"/>
          <p:cNvSpPr/>
          <p:nvPr/>
        </p:nvSpPr>
        <p:spPr>
          <a:xfrm>
            <a:off x="1508760" y="353872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txBody>
          <a:bodyPr/>
          <a:lstStyle/>
          <a:p>
            <a:endParaRPr lang="en-US"/>
          </a:p>
        </p:txBody>
      </p:sp>
      <p:sp>
        <p:nvSpPr>
          <p:cNvPr id="22" name="Shape 20"/>
          <p:cNvSpPr/>
          <p:nvPr/>
        </p:nvSpPr>
        <p:spPr>
          <a:xfrm>
            <a:off x="640080" y="4251960"/>
            <a:ext cx="594360" cy="594360"/>
          </a:xfrm>
          <a:prstGeom prst="ellipse">
            <a:avLst/>
          </a:prstGeom>
          <a:solidFill>
            <a:srgbClr val="0B1F3A"/>
          </a:solidFill>
          <a:ln/>
        </p:spPr>
        <p:txBody>
          <a:bodyPr/>
          <a:lstStyle/>
          <a:p>
            <a:endParaRPr lang="en-US"/>
          </a:p>
        </p:txBody>
      </p:sp>
      <p:sp>
        <p:nvSpPr>
          <p:cNvPr id="23" name="Text 21"/>
          <p:cNvSpPr/>
          <p:nvPr/>
        </p:nvSpPr>
        <p:spPr>
          <a:xfrm>
            <a:off x="640080" y="42519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ACECARD's Confirmed TPs → Rigor's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Rigor's Attack Intel. New IOCs / behavioral patterns become inputs to Rigor's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txBody>
          <a:bodyPr/>
          <a:lstStyle/>
          <a:p>
            <a:endParaRPr lang="en-US"/>
          </a:p>
        </p:txBody>
      </p:sp>
      <p:sp>
        <p:nvSpPr>
          <p:cNvPr id="27" name="Text 25"/>
          <p:cNvSpPr/>
          <p:nvPr/>
        </p:nvSpPr>
        <p:spPr>
          <a:xfrm>
            <a:off x="1508760" y="481888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640080" y="5532120"/>
            <a:ext cx="594360" cy="594360"/>
          </a:xfrm>
          <a:prstGeom prst="ellipse">
            <a:avLst/>
          </a:prstGeom>
          <a:solidFill>
            <a:srgbClr val="0B1F3A"/>
          </a:solidFill>
          <a:ln/>
        </p:spPr>
        <p:txBody>
          <a:bodyPr/>
          <a:lstStyle/>
          <a:p>
            <a:endParaRPr lang="en-US"/>
          </a:p>
        </p:txBody>
      </p:sp>
      <p:sp>
        <p:nvSpPr>
          <p:cNvPr id="30" name="Text 28"/>
          <p:cNvSpPr/>
          <p:nvPr/>
        </p:nvSpPr>
        <p:spPr>
          <a:xfrm>
            <a:off x="640080" y="5532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Rigor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txBody>
          <a:bodyPr/>
          <a:lstStyle/>
          <a:p>
            <a:endParaRPr lang="en-US"/>
          </a:p>
        </p:txBody>
      </p:sp>
      <p:sp>
        <p:nvSpPr>
          <p:cNvPr id="34" name="Text 32"/>
          <p:cNvSpPr/>
          <p:nvPr/>
        </p:nvSpPr>
        <p:spPr>
          <a:xfrm>
            <a:off x="1508760" y="609904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four flows are why Rigor + ACECARD is a system, not a bundle.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txBody>
          <a:bodyPr/>
          <a:lstStyle/>
          <a:p>
            <a:endParaRPr lang="en-US"/>
          </a:p>
        </p:txBody>
      </p:sp>
      <p:sp>
        <p:nvSpPr>
          <p:cNvPr id="8" name="Text 6"/>
          <p:cNvSpPr/>
          <p:nvPr/>
        </p:nvSpPr>
        <p:spPr>
          <a:xfrm>
            <a:off x="548640" y="1417320"/>
            <a:ext cx="21945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txBody>
          <a:bodyPr/>
          <a:lstStyle/>
          <a:p>
            <a:endParaRPr lang="en-US"/>
          </a:p>
        </p:txBody>
      </p:sp>
      <p:sp>
        <p:nvSpPr>
          <p:cNvPr id="10" name="Text 8"/>
          <p:cNvSpPr/>
          <p:nvPr/>
        </p:nvSpPr>
        <p:spPr>
          <a:xfrm>
            <a:off x="2880360" y="1417320"/>
            <a:ext cx="26517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txBody>
          <a:bodyPr/>
          <a:lstStyle/>
          <a:p>
            <a:endParaRPr lang="en-US"/>
          </a:p>
        </p:txBody>
      </p:sp>
      <p:sp>
        <p:nvSpPr>
          <p:cNvPr id="12" name="Text 10"/>
          <p:cNvSpPr/>
          <p:nvPr/>
        </p:nvSpPr>
        <p:spPr>
          <a:xfrm>
            <a:off x="5669280" y="1417320"/>
            <a:ext cx="31089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txBody>
          <a:bodyPr/>
          <a:lstStyle/>
          <a:p>
            <a:endParaRPr lang="en-US"/>
          </a:p>
        </p:txBody>
      </p:sp>
      <p:sp>
        <p:nvSpPr>
          <p:cNvPr id="14" name="Text 12"/>
          <p:cNvSpPr/>
          <p:nvPr/>
        </p:nvSpPr>
        <p:spPr>
          <a:xfrm>
            <a:off x="8915400" y="1417320"/>
            <a:ext cx="278892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548640" y="19202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txBody>
          <a:bodyPr/>
          <a:lstStyle/>
          <a:p>
            <a:endParaRPr lang="en-US"/>
          </a:p>
        </p:txBody>
      </p:sp>
      <p:sp>
        <p:nvSpPr>
          <p:cNvPr id="20" name="Text 18"/>
          <p:cNvSpPr/>
          <p:nvPr/>
        </p:nvSpPr>
        <p:spPr>
          <a:xfrm>
            <a:off x="5715000" y="19659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txBody>
          <a:bodyPr/>
          <a:lstStyle/>
          <a:p>
            <a:endParaRPr lang="en-US"/>
          </a:p>
        </p:txBody>
      </p:sp>
      <p:sp>
        <p:nvSpPr>
          <p:cNvPr id="22" name="Text 20"/>
          <p:cNvSpPr/>
          <p:nvPr/>
        </p:nvSpPr>
        <p:spPr>
          <a:xfrm>
            <a:off x="8961120" y="19659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txBody>
          <a:bodyPr/>
          <a:lstStyle/>
          <a:p>
            <a:endParaRPr lang="en-US"/>
          </a:p>
        </p:txBody>
      </p:sp>
      <p:sp>
        <p:nvSpPr>
          <p:cNvPr id="24" name="Text 22"/>
          <p:cNvSpPr/>
          <p:nvPr/>
        </p:nvSpPr>
        <p:spPr>
          <a:xfrm>
            <a:off x="548640" y="28346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txBody>
          <a:bodyPr/>
          <a:lstStyle/>
          <a:p>
            <a:endParaRPr lang="en-US"/>
          </a:p>
        </p:txBody>
      </p:sp>
      <p:sp>
        <p:nvSpPr>
          <p:cNvPr id="28" name="Text 26"/>
          <p:cNvSpPr/>
          <p:nvPr/>
        </p:nvSpPr>
        <p:spPr>
          <a:xfrm>
            <a:off x="5715000" y="28803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txBody>
          <a:bodyPr/>
          <a:lstStyle/>
          <a:p>
            <a:endParaRPr lang="en-US"/>
          </a:p>
        </p:txBody>
      </p:sp>
      <p:sp>
        <p:nvSpPr>
          <p:cNvPr id="30" name="Text 28"/>
          <p:cNvSpPr/>
          <p:nvPr/>
        </p:nvSpPr>
        <p:spPr>
          <a:xfrm>
            <a:off x="8961120" y="28803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txBody>
          <a:bodyPr/>
          <a:lstStyle/>
          <a:p>
            <a:endParaRPr lang="en-US"/>
          </a:p>
        </p:txBody>
      </p:sp>
      <p:sp>
        <p:nvSpPr>
          <p:cNvPr id="32" name="Text 30"/>
          <p:cNvSpPr/>
          <p:nvPr/>
        </p:nvSpPr>
        <p:spPr>
          <a:xfrm>
            <a:off x="548640" y="37490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txBody>
          <a:bodyPr/>
          <a:lstStyle/>
          <a:p>
            <a:endParaRPr lang="en-US"/>
          </a:p>
        </p:txBody>
      </p:sp>
      <p:sp>
        <p:nvSpPr>
          <p:cNvPr id="36" name="Text 34"/>
          <p:cNvSpPr/>
          <p:nvPr/>
        </p:nvSpPr>
        <p:spPr>
          <a:xfrm>
            <a:off x="5715000" y="37947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txBody>
          <a:bodyPr/>
          <a:lstStyle/>
          <a:p>
            <a:endParaRPr lang="en-US"/>
          </a:p>
        </p:txBody>
      </p:sp>
      <p:sp>
        <p:nvSpPr>
          <p:cNvPr id="38" name="Text 36"/>
          <p:cNvSpPr/>
          <p:nvPr/>
        </p:nvSpPr>
        <p:spPr>
          <a:xfrm>
            <a:off x="8961120" y="37947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txBody>
          <a:bodyPr/>
          <a:lstStyle/>
          <a:p>
            <a:endParaRPr lang="en-US"/>
          </a:p>
        </p:txBody>
      </p:sp>
      <p:sp>
        <p:nvSpPr>
          <p:cNvPr id="40" name="Text 38"/>
          <p:cNvSpPr/>
          <p:nvPr/>
        </p:nvSpPr>
        <p:spPr>
          <a:xfrm>
            <a:off x="548640" y="46634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txBody>
          <a:bodyPr/>
          <a:lstStyle/>
          <a:p>
            <a:endParaRPr lang="en-US"/>
          </a:p>
        </p:txBody>
      </p:sp>
      <p:sp>
        <p:nvSpPr>
          <p:cNvPr id="44" name="Text 42"/>
          <p:cNvSpPr/>
          <p:nvPr/>
        </p:nvSpPr>
        <p:spPr>
          <a:xfrm>
            <a:off x="5715000" y="47091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txBody>
          <a:bodyPr/>
          <a:lstStyle/>
          <a:p>
            <a:endParaRPr lang="en-US"/>
          </a:p>
        </p:txBody>
      </p:sp>
      <p:sp>
        <p:nvSpPr>
          <p:cNvPr id="46" name="Text 44"/>
          <p:cNvSpPr/>
          <p:nvPr/>
        </p:nvSpPr>
        <p:spPr>
          <a:xfrm>
            <a:off x="8961120" y="47091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548640" y="55778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txBody>
          <a:bodyPr/>
          <a:lstStyle/>
          <a:p>
            <a:endParaRPr lang="en-US"/>
          </a:p>
        </p:txBody>
      </p:sp>
      <p:sp>
        <p:nvSpPr>
          <p:cNvPr id="52" name="Text 50"/>
          <p:cNvSpPr/>
          <p:nvPr/>
        </p:nvSpPr>
        <p:spPr>
          <a:xfrm>
            <a:off x="5715000" y="56235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txBody>
          <a:bodyPr/>
          <a:lstStyle/>
          <a:p>
            <a:endParaRPr lang="en-US"/>
          </a:p>
        </p:txBody>
      </p:sp>
      <p:sp>
        <p:nvSpPr>
          <p:cNvPr id="54" name="Text 52"/>
          <p:cNvSpPr/>
          <p:nvPr/>
        </p:nvSpPr>
        <p:spPr>
          <a:xfrm>
            <a:off x="8961120" y="56235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txBody>
          <a:bodyPr/>
          <a:lstStyle/>
          <a:p>
            <a:endParaRPr lang="en-US"/>
          </a:p>
        </p:txBody>
      </p:sp>
      <p:sp>
        <p:nvSpPr>
          <p:cNvPr id="56" name="Text 54"/>
          <p:cNvSpPr/>
          <p:nvPr/>
        </p:nvSpPr>
        <p:spPr>
          <a:xfrm>
            <a:off x="640080" y="6446520"/>
            <a:ext cx="109728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txBody>
          <a:bodyPr/>
          <a:lstStyle/>
          <a:p>
            <a:endParaRPr lang="en-US"/>
          </a:p>
        </p:txBody>
      </p:sp>
      <p:sp>
        <p:nvSpPr>
          <p:cNvPr id="8" name="Text 6"/>
          <p:cNvSpPr/>
          <p:nvPr/>
        </p:nvSpPr>
        <p:spPr>
          <a:xfrm>
            <a:off x="548640" y="1325880"/>
            <a:ext cx="201168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txBody>
          <a:bodyPr/>
          <a:lstStyle/>
          <a:p>
            <a:endParaRPr lang="en-US"/>
          </a:p>
        </p:txBody>
      </p:sp>
      <p:sp>
        <p:nvSpPr>
          <p:cNvPr id="10" name="Text 8"/>
          <p:cNvSpPr/>
          <p:nvPr/>
        </p:nvSpPr>
        <p:spPr>
          <a:xfrm>
            <a:off x="2651760" y="1325880"/>
            <a:ext cx="31089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txBody>
          <a:bodyPr/>
          <a:lstStyle/>
          <a:p>
            <a:endParaRPr lang="en-US"/>
          </a:p>
        </p:txBody>
      </p:sp>
      <p:sp>
        <p:nvSpPr>
          <p:cNvPr id="12" name="Text 10"/>
          <p:cNvSpPr/>
          <p:nvPr/>
        </p:nvSpPr>
        <p:spPr>
          <a:xfrm>
            <a:off x="5852160" y="1325880"/>
            <a:ext cx="30175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txBody>
          <a:bodyPr/>
          <a:lstStyle/>
          <a:p>
            <a:endParaRPr lang="en-US"/>
          </a:p>
        </p:txBody>
      </p:sp>
      <p:sp>
        <p:nvSpPr>
          <p:cNvPr id="14" name="Text 12"/>
          <p:cNvSpPr/>
          <p:nvPr/>
        </p:nvSpPr>
        <p:spPr>
          <a:xfrm>
            <a:off x="8961120" y="1325880"/>
            <a:ext cx="27432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6" name="Text 14"/>
          <p:cNvSpPr/>
          <p:nvPr/>
        </p:nvSpPr>
        <p:spPr>
          <a:xfrm>
            <a:off x="548640" y="178308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1 — Edge CVE Exploit
</a:t>
            </a: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txBody>
          <a:bodyPr/>
          <a:lstStyle/>
          <a:p>
            <a:endParaRPr lang="en-US"/>
          </a:p>
        </p:txBody>
      </p:sp>
      <p:sp>
        <p:nvSpPr>
          <p:cNvPr id="18" name="Shape 16"/>
          <p:cNvSpPr/>
          <p:nvPr/>
        </p:nvSpPr>
        <p:spPr>
          <a:xfrm>
            <a:off x="8778240" y="1755648"/>
            <a:ext cx="54864" cy="832104"/>
          </a:xfrm>
          <a:prstGeom prst="rect">
            <a:avLst/>
          </a:prstGeom>
          <a:solidFill>
            <a:srgbClr val="0891B2"/>
          </a:solidFill>
          <a:ln/>
        </p:spPr>
        <p:txBody>
          <a:bodyPr/>
          <a:lstStyle/>
          <a:p>
            <a:endParaRPr lang="en-US"/>
          </a:p>
        </p:txBody>
      </p:sp>
      <p:sp>
        <p:nvSpPr>
          <p:cNvPr id="19" name="Text 17"/>
          <p:cNvSpPr/>
          <p:nvPr/>
        </p:nvSpPr>
        <p:spPr>
          <a:xfrm>
            <a:off x="2651760" y="178308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T1190: Rigor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3" name="Text 21"/>
          <p:cNvSpPr/>
          <p:nvPr/>
        </p:nvSpPr>
        <p:spPr>
          <a:xfrm>
            <a:off x="548640" y="274320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2 — Account Creation
</a:t>
            </a: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txBody>
          <a:bodyPr/>
          <a:lstStyle/>
          <a:p>
            <a:endParaRPr lang="en-US"/>
          </a:p>
        </p:txBody>
      </p:sp>
      <p:sp>
        <p:nvSpPr>
          <p:cNvPr id="25" name="Shape 23"/>
          <p:cNvSpPr/>
          <p:nvPr/>
        </p:nvSpPr>
        <p:spPr>
          <a:xfrm>
            <a:off x="8778240" y="2715768"/>
            <a:ext cx="54864" cy="832104"/>
          </a:xfrm>
          <a:prstGeom prst="rect">
            <a:avLst/>
          </a:prstGeom>
          <a:solidFill>
            <a:srgbClr val="0891B2"/>
          </a:solidFill>
          <a:ln/>
        </p:spPr>
        <p:txBody>
          <a:bodyPr/>
          <a:lstStyle/>
          <a:p>
            <a:endParaRPr lang="en-US"/>
          </a:p>
        </p:txBody>
      </p:sp>
      <p:sp>
        <p:nvSpPr>
          <p:cNvPr id="26" name="Text 24"/>
          <p:cNvSpPr/>
          <p:nvPr/>
        </p:nvSpPr>
        <p:spPr>
          <a:xfrm>
            <a:off x="2651760" y="274320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30" name="Text 28"/>
          <p:cNvSpPr/>
          <p:nvPr/>
        </p:nvSpPr>
        <p:spPr>
          <a:xfrm>
            <a:off x="548640" y="370332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3 — TACACS+ Capture
</a:t>
            </a: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txBody>
          <a:bodyPr/>
          <a:lstStyle/>
          <a:p>
            <a:endParaRPr lang="en-US"/>
          </a:p>
        </p:txBody>
      </p:sp>
      <p:sp>
        <p:nvSpPr>
          <p:cNvPr id="32" name="Shape 30"/>
          <p:cNvSpPr/>
          <p:nvPr/>
        </p:nvSpPr>
        <p:spPr>
          <a:xfrm>
            <a:off x="8778240" y="3675888"/>
            <a:ext cx="54864" cy="832104"/>
          </a:xfrm>
          <a:prstGeom prst="rect">
            <a:avLst/>
          </a:prstGeom>
          <a:solidFill>
            <a:srgbClr val="0891B2"/>
          </a:solidFill>
          <a:ln/>
        </p:spPr>
        <p:txBody>
          <a:bodyPr/>
          <a:lstStyle/>
          <a:p>
            <a:endParaRPr lang="en-US"/>
          </a:p>
        </p:txBody>
      </p:sp>
      <p:sp>
        <p:nvSpPr>
          <p:cNvPr id="33" name="Text 31"/>
          <p:cNvSpPr/>
          <p:nvPr/>
        </p:nvSpPr>
        <p:spPr>
          <a:xfrm>
            <a:off x="2651760" y="370332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548640" y="466344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4 — JumbledPath Pivot
</a:t>
            </a: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txBody>
          <a:bodyPr/>
          <a:lstStyle/>
          <a:p>
            <a:endParaRPr lang="en-US"/>
          </a:p>
        </p:txBody>
      </p:sp>
      <p:sp>
        <p:nvSpPr>
          <p:cNvPr id="39" name="Shape 37"/>
          <p:cNvSpPr/>
          <p:nvPr/>
        </p:nvSpPr>
        <p:spPr>
          <a:xfrm>
            <a:off x="8778240" y="4636008"/>
            <a:ext cx="54864" cy="832104"/>
          </a:xfrm>
          <a:prstGeom prst="rect">
            <a:avLst/>
          </a:prstGeom>
          <a:solidFill>
            <a:srgbClr val="0891B2"/>
          </a:solidFill>
          <a:ln/>
        </p:spPr>
        <p:txBody>
          <a:bodyPr/>
          <a:lstStyle/>
          <a:p>
            <a:endParaRPr lang="en-US"/>
          </a:p>
        </p:txBody>
      </p:sp>
      <p:sp>
        <p:nvSpPr>
          <p:cNvPr id="40" name="Text 38"/>
          <p:cNvSpPr/>
          <p:nvPr/>
        </p:nvSpPr>
        <p:spPr>
          <a:xfrm>
            <a:off x="2651760" y="466344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4" name="Text 42"/>
          <p:cNvSpPr/>
          <p:nvPr/>
        </p:nvSpPr>
        <p:spPr>
          <a:xfrm>
            <a:off x="548640" y="562356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5 — GRE Tunnel + Exfil
</a:t>
            </a: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txBody>
          <a:bodyPr/>
          <a:lstStyle/>
          <a:p>
            <a:endParaRPr lang="en-US"/>
          </a:p>
        </p:txBody>
      </p:sp>
      <p:sp>
        <p:nvSpPr>
          <p:cNvPr id="46" name="Shape 44"/>
          <p:cNvSpPr/>
          <p:nvPr/>
        </p:nvSpPr>
        <p:spPr>
          <a:xfrm>
            <a:off x="8778240" y="5596128"/>
            <a:ext cx="54864" cy="832104"/>
          </a:xfrm>
          <a:prstGeom prst="rect">
            <a:avLst/>
          </a:prstGeom>
          <a:solidFill>
            <a:srgbClr val="0891B2"/>
          </a:solidFill>
          <a:ln/>
        </p:spPr>
        <p:txBody>
          <a:bodyPr/>
          <a:lstStyle/>
          <a:p>
            <a:endParaRPr lang="en-US"/>
          </a:p>
        </p:txBody>
      </p:sp>
      <p:sp>
        <p:nvSpPr>
          <p:cNvPr id="47" name="Text 45"/>
          <p:cNvSpPr/>
          <p:nvPr/>
        </p:nvSpPr>
        <p:spPr>
          <a:xfrm>
            <a:off x="2651760" y="562356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Rigor's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Rigor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Rigor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Rigor's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Rigor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Rigor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Rigor's Attack Intel. Threat-actor TTP graphs become formal model inputs. ACECARD pre-loads campaign replay scenarios.</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Five layers. Every layer has a job. Rigor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txBody>
          <a:bodyPr/>
          <a:lstStyle/>
          <a:p>
            <a:endParaRPr lang="en-US"/>
          </a:p>
        </p:txBody>
      </p:sp>
      <p:sp>
        <p:nvSpPr>
          <p:cNvPr id="8" name="Shape 6"/>
          <p:cNvSpPr/>
          <p:nvPr/>
        </p:nvSpPr>
        <p:spPr>
          <a:xfrm>
            <a:off x="457200" y="1325880"/>
            <a:ext cx="2194560" cy="777240"/>
          </a:xfrm>
          <a:prstGeom prst="rect">
            <a:avLst/>
          </a:prstGeom>
          <a:solidFill>
            <a:srgbClr val="5E2E8C"/>
          </a:solidFill>
          <a:ln/>
        </p:spPr>
        <p:txBody>
          <a:bodyPr/>
          <a:lstStyle/>
          <a:p>
            <a:endParaRPr lang="en-US"/>
          </a:p>
        </p:txBody>
      </p:sp>
      <p:sp>
        <p:nvSpPr>
          <p:cNvPr id="9" name="Text 7"/>
          <p:cNvSpPr/>
          <p:nvPr/>
        </p:nvSpPr>
        <p:spPr>
          <a:xfrm>
            <a:off x="548640" y="132588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1" name="Text 9"/>
          <p:cNvSpPr/>
          <p:nvPr/>
        </p:nvSpPr>
        <p:spPr>
          <a:xfrm>
            <a:off x="274320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3" name="Text 11"/>
          <p:cNvSpPr/>
          <p:nvPr/>
        </p:nvSpPr>
        <p:spPr>
          <a:xfrm>
            <a:off x="496062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5" name="Text 13"/>
          <p:cNvSpPr/>
          <p:nvPr/>
        </p:nvSpPr>
        <p:spPr>
          <a:xfrm>
            <a:off x="717804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939546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txBody>
          <a:bodyPr/>
          <a:lstStyle/>
          <a:p>
            <a:endParaRPr lang="en-US"/>
          </a:p>
        </p:txBody>
      </p:sp>
      <p:sp>
        <p:nvSpPr>
          <p:cNvPr id="19" name="Shape 17"/>
          <p:cNvSpPr/>
          <p:nvPr/>
        </p:nvSpPr>
        <p:spPr>
          <a:xfrm>
            <a:off x="457200" y="2148840"/>
            <a:ext cx="2194560" cy="777240"/>
          </a:xfrm>
          <a:prstGeom prst="rect">
            <a:avLst/>
          </a:prstGeom>
          <a:solidFill>
            <a:srgbClr val="F26B1F"/>
          </a:solidFill>
          <a:ln/>
        </p:spPr>
        <p:txBody>
          <a:bodyPr/>
          <a:lstStyle/>
          <a:p>
            <a:endParaRPr lang="en-US"/>
          </a:p>
        </p:txBody>
      </p:sp>
      <p:sp>
        <p:nvSpPr>
          <p:cNvPr id="20" name="Text 18"/>
          <p:cNvSpPr/>
          <p:nvPr/>
        </p:nvSpPr>
        <p:spPr>
          <a:xfrm>
            <a:off x="548640" y="214884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2 · PREEMPTIVE LAYER (RIGOR AI)</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2" name="Text 20"/>
          <p:cNvSpPr/>
          <p:nvPr/>
        </p:nvSpPr>
        <p:spPr>
          <a:xfrm>
            <a:off x="274320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4" name="Text 22"/>
          <p:cNvSpPr/>
          <p:nvPr/>
        </p:nvSpPr>
        <p:spPr>
          <a:xfrm>
            <a:off x="496062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6" name="Text 24"/>
          <p:cNvSpPr/>
          <p:nvPr/>
        </p:nvSpPr>
        <p:spPr>
          <a:xfrm>
            <a:off x="717804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8" name="Text 26"/>
          <p:cNvSpPr/>
          <p:nvPr/>
        </p:nvSpPr>
        <p:spPr>
          <a:xfrm>
            <a:off x="939546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txBody>
          <a:bodyPr/>
          <a:lstStyle/>
          <a:p>
            <a:endParaRPr lang="en-US"/>
          </a:p>
        </p:txBody>
      </p:sp>
      <p:sp>
        <p:nvSpPr>
          <p:cNvPr id="30" name="Shape 28"/>
          <p:cNvSpPr/>
          <p:nvPr/>
        </p:nvSpPr>
        <p:spPr>
          <a:xfrm>
            <a:off x="457200" y="2971800"/>
            <a:ext cx="2194560" cy="777240"/>
          </a:xfrm>
          <a:prstGeom prst="rect">
            <a:avLst/>
          </a:prstGeom>
          <a:solidFill>
            <a:srgbClr val="1C7293"/>
          </a:solidFill>
          <a:ln/>
        </p:spPr>
        <p:txBody>
          <a:bodyPr/>
          <a:lstStyle/>
          <a:p>
            <a:endParaRPr lang="en-US"/>
          </a:p>
        </p:txBody>
      </p:sp>
      <p:sp>
        <p:nvSpPr>
          <p:cNvPr id="31" name="Text 29"/>
          <p:cNvSpPr/>
          <p:nvPr/>
        </p:nvSpPr>
        <p:spPr>
          <a:xfrm>
            <a:off x="548640" y="297180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3" name="Text 31"/>
          <p:cNvSpPr/>
          <p:nvPr/>
        </p:nvSpPr>
        <p:spPr>
          <a:xfrm>
            <a:off x="274320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5" name="Text 33"/>
          <p:cNvSpPr/>
          <p:nvPr/>
        </p:nvSpPr>
        <p:spPr>
          <a:xfrm>
            <a:off x="496062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717804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EDR · XDR
</a:t>
            </a: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9" name="Text 37"/>
          <p:cNvSpPr/>
          <p:nvPr/>
        </p:nvSpPr>
        <p:spPr>
          <a:xfrm>
            <a:off x="939546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txBody>
          <a:bodyPr/>
          <a:lstStyle/>
          <a:p>
            <a:endParaRPr lang="en-US"/>
          </a:p>
        </p:txBody>
      </p:sp>
      <p:sp>
        <p:nvSpPr>
          <p:cNvPr id="41" name="Shape 39"/>
          <p:cNvSpPr/>
          <p:nvPr/>
        </p:nvSpPr>
        <p:spPr>
          <a:xfrm>
            <a:off x="457200" y="3794760"/>
            <a:ext cx="2194560" cy="777240"/>
          </a:xfrm>
          <a:prstGeom prst="rect">
            <a:avLst/>
          </a:prstGeom>
          <a:solidFill>
            <a:srgbClr val="0891B2"/>
          </a:solidFill>
          <a:ln/>
        </p:spPr>
        <p:txBody>
          <a:bodyPr/>
          <a:lstStyle/>
          <a:p>
            <a:endParaRPr lang="en-US"/>
          </a:p>
        </p:txBody>
      </p:sp>
      <p:sp>
        <p:nvSpPr>
          <p:cNvPr id="42" name="Text 40"/>
          <p:cNvSpPr/>
          <p:nvPr/>
        </p:nvSpPr>
        <p:spPr>
          <a:xfrm>
            <a:off x="548640" y="379476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4" name="Text 42"/>
          <p:cNvSpPr/>
          <p:nvPr/>
        </p:nvSpPr>
        <p:spPr>
          <a:xfrm>
            <a:off x="274320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6" name="Text 44"/>
          <p:cNvSpPr/>
          <p:nvPr/>
        </p:nvSpPr>
        <p:spPr>
          <a:xfrm>
            <a:off x="496062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717804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50" name="Text 48"/>
          <p:cNvSpPr/>
          <p:nvPr/>
        </p:nvSpPr>
        <p:spPr>
          <a:xfrm>
            <a:off x="939546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txBody>
          <a:bodyPr/>
          <a:lstStyle/>
          <a:p>
            <a:endParaRPr lang="en-US"/>
          </a:p>
        </p:txBody>
      </p:sp>
      <p:sp>
        <p:nvSpPr>
          <p:cNvPr id="52" name="Shape 50"/>
          <p:cNvSpPr/>
          <p:nvPr/>
        </p:nvSpPr>
        <p:spPr>
          <a:xfrm>
            <a:off x="457200" y="4617720"/>
            <a:ext cx="2194560" cy="777240"/>
          </a:xfrm>
          <a:prstGeom prst="rect">
            <a:avLst/>
          </a:prstGeom>
          <a:solidFill>
            <a:srgbClr val="0B1F3A"/>
          </a:solidFill>
          <a:ln/>
        </p:spPr>
        <p:txBody>
          <a:bodyPr/>
          <a:lstStyle/>
          <a:p>
            <a:endParaRPr lang="en-US"/>
          </a:p>
        </p:txBody>
      </p:sp>
      <p:sp>
        <p:nvSpPr>
          <p:cNvPr id="53" name="Text 51"/>
          <p:cNvSpPr/>
          <p:nvPr/>
        </p:nvSpPr>
        <p:spPr>
          <a:xfrm>
            <a:off x="548640" y="461772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5" name="Text 53"/>
          <p:cNvSpPr/>
          <p:nvPr/>
        </p:nvSpPr>
        <p:spPr>
          <a:xfrm>
            <a:off x="274320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7" name="Text 55"/>
          <p:cNvSpPr/>
          <p:nvPr/>
        </p:nvSpPr>
        <p:spPr>
          <a:xfrm>
            <a:off x="496062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9" name="Text 57"/>
          <p:cNvSpPr/>
          <p:nvPr/>
        </p:nvSpPr>
        <p:spPr>
          <a:xfrm>
            <a:off x="717804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61" name="Text 59"/>
          <p:cNvSpPr/>
          <p:nvPr/>
        </p:nvSpPr>
        <p:spPr>
          <a:xfrm>
            <a:off x="939546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Rigor governs layers 2-3 (config-resident). ACECARD governs layer 4 (behavior-resident). MITRE ATT&amp;CK is the shared vocabulary across all five.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Rigor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714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914400"/>
            <a:ext cx="10972800" cy="41148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marL="0" indent="0">
              <a:buNone/>
            </a:pPr>
            <a:r>
              <a:rPr lang="en-US" sz="1300" i="1" dirty="0">
                <a:solidFill>
                  <a:srgbClr val="C8D2DC"/>
                </a:solidFill>
                <a:latin typeface="Calibri" pitchFamily="34" charset="0"/>
                <a:ea typeface="Calibri" pitchFamily="34" charset="-122"/>
                <a:cs typeface="Calibri" pitchFamily="34" charset="-120"/>
              </a:rPr>
              <a:t>Rigor AI is engaged with 20+ design partners across F500, federal, critical infrastructure, MSSPs, and nation states.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114800"/>
            <a:ext cx="10058400" cy="36576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Pilot Rigor AI</a:t>
            </a: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Pilot ACECARD UEBA</a:t>
            </a: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Integrate</a:t>
            </a:r>
            <a:r>
              <a:rPr lang="en-US" sz="1250" dirty="0">
                <a:solidFill>
                  <a:srgbClr val="FFFFFF"/>
                </a:solidFill>
                <a:latin typeface="Calibri" pitchFamily="34" charset="0"/>
                <a:ea typeface="Calibri" pitchFamily="34" charset="-122"/>
                <a:cs typeface="Calibri" pitchFamily="34" charset="-120"/>
              </a:rPr>
              <a:t> — Rigor's verified findings raise ACECARD's trust floor on entities traversing closed gaps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Operationalize</a:t>
            </a: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txBody>
          <a:bodyPr/>
          <a:lstStyle/>
          <a:p>
            <a:endParaRPr lang="en-US"/>
          </a:p>
        </p:txBody>
      </p:sp>
      <p:sp>
        <p:nvSpPr>
          <p:cNvPr id="10" name="Text 8"/>
          <p:cNvSpPr/>
          <p:nvPr/>
        </p:nvSpPr>
        <p:spPr>
          <a:xfrm>
            <a:off x="822960" y="617220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Rigor AI:  sales-ext@rigor.ai   ·   Sundar Iyer, CEO   ·   Navneet Yadav, CPO</a:t>
            </a:r>
            <a:endParaRPr lang="en-US" sz="1100" dirty="0"/>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5045</TotalTime>
  <Words>10079</Words>
  <Application>Microsoft Office PowerPoint</Application>
  <PresentationFormat>Widescreen</PresentationFormat>
  <Paragraphs>968</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Rigor AI + ACECARD UEBA: Comprehensive Defense vs. Volt &amp; Salt Typhoon</dc:title>
  <dc:subject>PptxGenJS Presentation</dc:subject>
  <dc:creator>Rigor AI / 22nd Century Technologies</dc:creator>
  <cp:lastModifiedBy>Ravindra Shukla</cp:lastModifiedBy>
  <cp:revision>2</cp:revision>
  <cp:lastPrinted>2026-05-04T21:11:04Z</cp:lastPrinted>
  <dcterms:created xsi:type="dcterms:W3CDTF">2026-05-03T04:52:43Z</dcterms:created>
  <dcterms:modified xsi:type="dcterms:W3CDTF">2026-05-12T17:18:41Z</dcterms:modified>
</cp:coreProperties>
</file>