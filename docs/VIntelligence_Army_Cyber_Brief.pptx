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    The most dangerous threats stay inside “normal”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i="1">
                <a:solidFill>
                  <a:srgbClr val="555555"/>
                </a:solidFill>
              </a:rPr>
              <a:t>The intrusions and insiders that do the most damage keep every individual signal inside its normal range. The damage is in the DIRECTION and accumulation of behavioral change — what an entity is becoming — not in any threshold being crossed.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Insider: </a:t>
            </a:r>
            <a:r>
              <a:rPr sz="1700">
                <a:solidFill>
                  <a:srgbClr val="2D3748"/>
                </a:solidFill>
              </a:rPr>
              <a:t>logs in to different things, not more — shifts public→restricted content at the same volume.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Nation-state: </a:t>
            </a:r>
            <a:r>
              <a:rPr sz="1700">
                <a:solidFill>
                  <a:srgbClr val="2D3748"/>
                </a:solidFill>
              </a:rPr>
              <a:t>beacons a few times a day for months with valid tools and credentials — no malware, nothing loud.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Per-metric tools </a:t>
            </a:r>
            <a:r>
              <a:rPr sz="1700">
                <a:solidFill>
                  <a:srgbClr val="2D3748"/>
                </a:solidFill>
              </a:rPr>
              <a:t>score each signal on its own axis, so a change of KIND at constant volume is invisible.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The result: </a:t>
            </a:r>
            <a:r>
              <a:rPr sz="1700">
                <a:solidFill>
                  <a:srgbClr val="2D3748"/>
                </a:solidFill>
              </a:rPr>
              <a:t>the threat is missed, or it's an undifferentiated “anomalous” alert with no direction — alert fatigue, manual triage.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806440"/>
            <a:ext cx="11155680" cy="77724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400" b="1">
                <a:solidFill>
                  <a:srgbClr val="0D1B2A"/>
                </a:solidFill>
              </a:rPr>
              <a:t>Defenders ask “is any single metric abnormal?”  The right question is “what is this entity becoming?”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    Why Salt &amp; Volt Typhoon are so hard to detect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i="1">
                <a:solidFill>
                  <a:srgbClr val="555555"/>
                </a:solidFill>
              </a:rPr>
              <a:t>These PRC state-sponsored campaigns are the defining example — and exactly what V-Intelligence is built to surface.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Volt Typhoon: </a:t>
            </a:r>
            <a:r>
              <a:rPr sz="1700">
                <a:solidFill>
                  <a:srgbClr val="2D3748"/>
                </a:solidFill>
              </a:rPr>
              <a:t>living-off-the-land in U.S. critical infrastructure — UNDETECTED for at least 5 years (CISA AA24-038A).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Salt Typhoon: </a:t>
            </a:r>
            <a:r>
              <a:rPr sz="1700">
                <a:solidFill>
                  <a:srgbClr val="2D3748"/>
                </a:solidFill>
              </a:rPr>
              <a:t>deep, persistent compromise of U.S. telecommunications infrastructure (U.S. Government reporting, 2024–25).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No signature: </a:t>
            </a:r>
            <a:r>
              <a:rPr sz="1700">
                <a:solidFill>
                  <a:srgbClr val="2D3748"/>
                </a:solidFill>
              </a:rPr>
              <a:t>living-off-the-land — built-in tools, valid accounts, constant volume; nothing breaches a threshold.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The only signal </a:t>
            </a:r>
            <a:r>
              <a:rPr sz="1700">
                <a:solidFill>
                  <a:srgbClr val="2D3748"/>
                </a:solidFill>
              </a:rPr>
              <a:t>is a slow change in behavioral DIRECTION over months — which per-metric tools never compute.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806440"/>
            <a:ext cx="11155680" cy="77724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A five-year dwell time is the predictable result of watching magnitude instead of direction.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    Why current tools are not good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Commercial UEBA </a:t>
            </a:r>
            <a:r>
              <a:rPr sz="1700">
                <a:solidFill>
                  <a:srgbClr val="2D3748"/>
                </a:solidFill>
              </a:rPr>
              <a:t>(Exabeam, Securonix, Microsoft Sentinel): statistical / p-value baselining, rarity- &amp; magnitude-based scores, count/TF-IDF peer grouping.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Their GenAI </a:t>
            </a:r>
            <a:r>
              <a:rPr sz="1700">
                <a:solidFill>
                  <a:srgbClr val="2D3748"/>
                </a:solidFill>
              </a:rPr>
              <a:t>features are SOC copilots and conversational layers — assistants, not the detection engine.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Detection gap: </a:t>
            </a:r>
            <a:r>
              <a:rPr sz="1700">
                <a:solidFill>
                  <a:srgbClr val="2D3748"/>
                </a:solidFill>
              </a:rPr>
              <a:t>on a controlled benchmark of 4 advanced campaigns, magnitude-based detectors caught at most 1 of 4.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Intelligence gap: </a:t>
            </a:r>
            <a:r>
              <a:rPr sz="1700">
                <a:solidFill>
                  <a:srgbClr val="2D3748"/>
                </a:solidFill>
              </a:rPr>
              <a:t>even when one fires, the alert says only “anomalous” — no zone, no direction, no MITRE mapping.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806440"/>
            <a:ext cx="11155680" cy="77724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400" b="1">
                <a:solidFill>
                  <a:srgbClr val="0D1B2A"/>
                </a:solidFill>
              </a:rPr>
              <a:t>Two gaps, one root cause: they miss the stealthy threats AND can't explain the rare hit.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4    How we solved it — a digital twin of every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Digital twin: </a:t>
            </a:r>
            <a:r>
              <a:rPr sz="1700">
                <a:solidFill>
                  <a:srgbClr val="2D3748"/>
                </a:solidFill>
              </a:rPr>
              <a:t>every entity (user, device, application, segment, session) is a behavioral profile tracked as a trajectory over time.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Behavior-as-language: </a:t>
            </a:r>
            <a:r>
              <a:rPr sz="1700">
                <a:solidFill>
                  <a:srgbClr val="2D3748"/>
                </a:solidFill>
              </a:rPr>
              <a:t>serialize behavior to text and embed it into one unified semantic space — LLM representational power, coupled with rigorous math.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Magnitude AND direction: </a:t>
            </a:r>
            <a:r>
              <a:rPr sz="1700">
                <a:solidFill>
                  <a:srgbClr val="2D3748"/>
                </a:solidFill>
              </a:rPr>
              <a:t>detect the DIRECTION of drift and project it onto named threat concepts mapped to MITRE ATT&amp;CK — explainable.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Fused &amp; evasion-resistant: </a:t>
            </a:r>
            <a:r>
              <a:rPr sz="1700">
                <a:solidFill>
                  <a:srgbClr val="2D3748"/>
                </a:solidFill>
              </a:rPr>
              <a:t>peer-cohort comparison + multi-phase fusion → one ranked, explained verdict.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806440"/>
            <a:ext cx="11155680" cy="77724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8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400" b="1">
                <a:solidFill>
                  <a:srgbClr val="1E8A49"/>
                </a:solidFill>
              </a:rPr>
              <a:t>An LLM uses that space to understand language; V-Intelligence uses it to understand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5    Results (controlled synthetic evaluation)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Evaluation: 250 entities over ~485 days, with 4 embedded advanced campaigns — a patient insider, a slow C2 intrusion, and Volt- and Salt-Typhoon-class nation-state campaigns.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05740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Campaigns caught (of 4)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False-positive rate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Directional explanation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</a:rPr>
                        <a:t>Traditional magnitude-based</a:t>
                      </a:r>
                    </a:p>
                    <a:p>
                      <a:r>
                        <a:t>(LOF, IForest, OCSVM, Z-Score)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</a:rPr>
                        <a:t>0 – 1 of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</a:rPr>
                        <a:t>4.5% – 14.6%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</a:rPr>
                        <a:t>None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1B2A"/>
                          </a:solidFill>
                        </a:rPr>
                        <a:t>V-Intelligence composite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8A49"/>
                          </a:solidFill>
                        </a:rPr>
                        <a:t>4 of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8A49"/>
                          </a:solidFill>
                        </a:rPr>
                        <a:t>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8A49"/>
                          </a:solidFill>
                        </a:rPr>
                        <a:t>Zone + direction + MITRE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1B2A"/>
                          </a:solidFill>
                        </a:rPr>
                        <a:t>V-Intelligence threat-profile detector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8A49"/>
                          </a:solidFill>
                        </a:rPr>
                        <a:t>4 of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8A49"/>
                          </a:solidFill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8A49"/>
                          </a:solidFill>
                        </a:rPr>
                        <a:t>Named technique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29768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B4F72"/>
                </a:solidFill>
              </a:rPr>
              <a:t>▪  </a:t>
            </a:r>
            <a:r>
              <a:rPr sz="1600" b="1">
                <a:solidFill>
                  <a:srgbClr val="0D1B2A"/>
                </a:solidFill>
              </a:rPr>
              <a:t>Primary detection: </a:t>
            </a:r>
            <a:r>
              <a:rPr sz="1600">
                <a:solidFill>
                  <a:srgbClr val="2D3748"/>
                </a:solidFill>
              </a:rPr>
              <a:t>the multi-front threat-profile detector caught all four by named technique (C2-beacon, DGA, LOTL-process, cohort-rare access, recon-fanout, insider-collection) at ZERO false positives.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B4F72"/>
                </a:solidFill>
              </a:rPr>
              <a:t>▪  </a:t>
            </a:r>
            <a:r>
              <a:rPr sz="1600" b="1">
                <a:solidFill>
                  <a:srgbClr val="0D1B2A"/>
                </a:solidFill>
              </a:rPr>
              <a:t>Composite: </a:t>
            </a:r>
            <a:r>
              <a:rPr sz="1600">
                <a:solidFill>
                  <a:srgbClr val="2D3748"/>
                </a:solidFill>
              </a:rPr>
              <a:t>embedding composite also caught all four — including BOTH Volt and Salt Typhoon — at 10.6% FP, though it cleanly separates only two of the four (USR-118, USR-156); AUC ≈ 0.98.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B4F72"/>
                </a:solidFill>
              </a:rPr>
              <a:t>▪  </a:t>
            </a:r>
            <a:r>
              <a:rPr sz="1600" b="1">
                <a:solidFill>
                  <a:srgbClr val="0D1B2A"/>
                </a:solidFill>
              </a:rPr>
              <a:t>The contrast: </a:t>
            </a:r>
            <a:r>
              <a:rPr sz="1600">
                <a:solidFill>
                  <a:srgbClr val="2D3748"/>
                </a:solidFill>
              </a:rPr>
              <a:t>traditional detectors caught at most one and ranked the stealthy campaigns among ordinary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All figures are from synthetic data and must be re-validated on operational telemetry — a scoped pilot is the recommended next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6    Preemptive cybersecurity &amp; advanced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Preemptive (get left of impact): </a:t>
            </a:r>
            <a:r>
              <a:rPr sz="1700">
                <a:solidFill>
                  <a:srgbClr val="2D3748"/>
                </a:solidFill>
              </a:rPr>
              <a:t>the signal is a directional drift that builds over weeks/months — an EARLY-warning capability that closes the Volt-Typhoon dwell window.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Cyber early warning: </a:t>
            </a:r>
            <a:r>
              <a:rPr sz="1700">
                <a:solidFill>
                  <a:srgbClr val="2D3748"/>
                </a:solidFill>
              </a:rPr>
              <a:t>insider / account-takeover before exfiltration; configuration-drift; continuous monitoring for RMF / ATO.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One architecture, many missions: </a:t>
            </a:r>
            <a:r>
              <a:rPr sz="1700">
                <a:solidFill>
                  <a:srgbClr val="2D3748"/>
                </a:solidFill>
              </a:rPr>
              <a:t>supplier &amp; supply-chain risk, DLA demand forecasting, prescriptive maintenance, fraud / improper-payments, counter-intelligence.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B4F72"/>
                </a:solidFill>
              </a:rPr>
              <a:t>▪  </a:t>
            </a:r>
            <a:r>
              <a:rPr sz="1700" b="1">
                <a:solidFill>
                  <a:srgbClr val="0D1B2A"/>
                </a:solidFill>
              </a:rPr>
              <a:t>Deployable: </a:t>
            </a:r>
            <a:r>
              <a:rPr sz="1700">
                <a:solidFill>
                  <a:srgbClr val="2D3748"/>
                </a:solidFill>
              </a:rPr>
              <a:t>model- and cloud-agnostic, air-gap capable, US-developed and patent-pending — complements existing tools, no vendor lock-in.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806440"/>
            <a:ext cx="11155680" cy="77724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8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400" b="1">
                <a:solidFill>
                  <a:srgbClr val="1E8A49"/>
                </a:solidFill>
              </a:rPr>
              <a:t>Same engine, many missions — detect what an entity is becoming, and act before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