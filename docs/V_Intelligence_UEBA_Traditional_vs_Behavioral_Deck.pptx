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828800" cy="4572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Traditional vs Behavioral: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E6B8A"/>
                </a:solidFill>
                <a:latin typeface="Calibri"/>
              </a:defRPr>
            </a:pPr>
            <a:r>
              <a:t>Why Standard Anomaly Detection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7950B"/>
                </a:solidFill>
                <a:latin typeface="Calibri"/>
              </a:defRPr>
            </a:pPr>
            <a:r>
              <a:t>Empirical Analysis Across 130 Days of Cyber Telemetry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572000"/>
            <a:ext cx="3657600" cy="27432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B4B4"/>
                </a:solidFill>
                <a:latin typeface="Calibri"/>
              </a:defRPr>
            </a:pPr>
            <a:r>
              <a:t>22nd Century Technologies, Inc.  |  May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4B4B4"/>
                </a:solidFill>
                <a:latin typeface="Calibri"/>
              </a:defRPr>
            </a:pPr>
            <a:r>
              <a:t>DISTRIBUTION STATEMENT: For Official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B2A"/>
                </a:solidFill>
                <a:latin typeface="Calibri"/>
              </a:defRPr>
            </a:pPr>
            <a:r>
              <a:t>Your SIEM Sees Volume. Attackers Change Direction.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359152"/>
            <a:ext cx="109728" cy="109728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05050"/>
                </a:solidFill>
                <a:latin typeface="Calibri"/>
              </a:defRPr>
            </a:pPr>
            <a:r>
              <a:t>Traditional anomaly detection looks for statistical outliers — unusual volumes, frequency spikes, or deviation from baselines. Sophisticated attackers stay within normal ranges.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364992"/>
            <a:ext cx="109728" cy="109728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05050"/>
                </a:solidFill>
                <a:latin typeface="Calibri"/>
              </a:defRPr>
            </a:pPr>
            <a:r>
              <a:t>Nation-state APTs and insider threats operate for months within established behavioral norms, gradually shifting their patterns rather than spiking activity.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370832"/>
            <a:ext cx="109728" cy="109728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97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05050"/>
                </a:solidFill>
                <a:latin typeface="Calibri"/>
              </a:defRPr>
            </a:pPr>
            <a:r>
              <a:t>The most dangerous cyber threats are designed specifically to evade the detection methods most organizations rely on today.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5303520"/>
            <a:ext cx="6400800" cy="731520"/>
          </a:xfrm>
          <a:prstGeom prst="roundRect">
            <a:avLst/>
          </a:prstGeom>
          <a:solidFill>
            <a:srgbClr val="FFFBEB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2000" b="1">
                <a:solidFill>
                  <a:srgbClr val="B7950B"/>
                </a:solidFill>
                <a:latin typeface="Calibri"/>
              </a:defRPr>
            </a:pPr>
            <a:r>
              <a:t>No single method detects all 4 attack campaigns — behavioral analysis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We Tested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E6B8A"/>
                </a:solidFill>
                <a:latin typeface="Calibri"/>
              </a:defRPr>
            </a:pPr>
            <a:r>
              <a:t>130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Synthetic Telemetry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2468880"/>
            <a:ext cx="1280160" cy="27432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05050"/>
                </a:solidFill>
                <a:latin typeface="Calibri"/>
              </a:defRPr>
            </a:pPr>
            <a:r>
              <a:t>50 users across 7 log types</a:t>
            </a:r>
            <a:br/>
            <a:r>
              <a:t>23 behavioral features per user</a:t>
            </a:r>
            <a:br/>
            <a:r>
              <a:t>950 weekly feature vectors</a:t>
            </a:r>
            <a:br/>
            <a:r>
              <a:t>19 weeks of observation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E6B8A"/>
                </a:solidFill>
                <a:latin typeface="Calibri"/>
              </a:defRPr>
            </a:pPr>
            <a:r>
              <a:t>17 Methods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Three-Tier Comparison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468880"/>
            <a:ext cx="1280160" cy="27432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05050"/>
                </a:solidFill>
                <a:latin typeface="Calibri"/>
              </a:defRPr>
            </a:pPr>
            <a:r>
              <a:t>Tier 1: Isolation Forest, SVM, LOF, Z-Score</a:t>
            </a:r>
            <a:br/>
            <a:r>
              <a:t>Temporal Z-Score, Feature Trajectory</a:t>
            </a:r>
            <a:br/>
            <a:r>
              <a:t>Tier 2: Behavioral Direction Analysis</a:t>
            </a:r>
            <a:br/>
            <a:r>
              <a:t>Tier 3: Digital Entity Analysis</a:t>
            </a:r>
            <a:br/>
            <a:r>
              <a:t>(9 zone/trajectory/relationship methods)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3716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E6B8A"/>
                </a:solidFill>
                <a:latin typeface="Calibri"/>
              </a:defRPr>
            </a:pPr>
            <a:r>
              <a:t>4 Campaigns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011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Injected Attack Patterns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59" y="2468880"/>
            <a:ext cx="1280160" cy="27432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2651760"/>
            <a:ext cx="3108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05050"/>
                </a:solidFill>
                <a:latin typeface="Calibri"/>
              </a:defRPr>
            </a:pPr>
            <a:r>
              <a:t>14-month insider threat escalation</a:t>
            </a:r>
            <a:br/>
            <a:r>
              <a:t>417-day slow APT with C2 beaconing</a:t>
            </a:r>
            <a:br/>
            <a:r>
              <a:t>412-day Volt Typhoon living-off-the-land</a:t>
            </a:r>
            <a:br/>
            <a:r>
              <a:t>412-day Salt Typhoon telecom interception</a:t>
            </a:r>
            <a:br/>
            <a:r>
              <a:t>Only 0.05% of events are attack-injected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1371600"/>
            <a:ext cx="18288" cy="4114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18288" cy="4114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Attack Spectrum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AE60"/>
                </a:solidFill>
                <a:latin typeface="Calibri"/>
              </a:defRPr>
            </a:pPr>
            <a:r>
              <a:t>FAST (Hours)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7950B"/>
                </a:solidFill>
                <a:latin typeface="Calibri"/>
              </a:defRPr>
            </a:pPr>
            <a:r>
              <a:t>MEDIUM (Days)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Calibri"/>
              </a:defRPr>
            </a:pPr>
            <a:r>
              <a:t>SLOW (Months)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2286000" cy="137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34640" y="1737360"/>
            <a:ext cx="2743200" cy="13716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1737360"/>
            <a:ext cx="6126480" cy="137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1645920" cy="2011680"/>
          </a:xfrm>
          <a:prstGeom prst="roundRect">
            <a:avLst/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6459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Brute Force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4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  <a:latin typeface="Calibri"/>
              </a:defRPr>
            </a:pPr>
            <a:r>
              <a:t>Volume spike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45920" y="2103120"/>
            <a:ext cx="1645920" cy="2011680"/>
          </a:xfrm>
          <a:prstGeom prst="roundRect">
            <a:avLst/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45920" y="2103120"/>
            <a:ext cx="16459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9164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Ransomware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6 hours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  <a:latin typeface="Calibri"/>
              </a:defRPr>
            </a:pPr>
            <a:r>
              <a:t>File encryption burst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2103120"/>
            <a:ext cx="1645920" cy="2011680"/>
          </a:xfrm>
          <a:prstGeom prst="roundRect">
            <a:avLst/>
          </a:prstGeom>
          <a:noFill/>
          <a:ln w="254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2103120"/>
            <a:ext cx="1645920" cy="54864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Credential Theft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B7950B"/>
                </a:solidFill>
                <a:latin typeface="Calibri"/>
              </a:defRPr>
            </a:pPr>
            <a:r>
              <a:t>5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  <a:latin typeface="Calibri"/>
              </a:defRPr>
            </a:pPr>
            <a:r>
              <a:t>Phishing + lateral move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103120"/>
            <a:ext cx="1645920" cy="2011680"/>
          </a:xfrm>
          <a:prstGeom prst="roundRect">
            <a:avLst/>
          </a:prstGeom>
          <a:noFill/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2103120"/>
            <a:ext cx="16459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90 days dormant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  <a:latin typeface="Calibri"/>
              </a:defRPr>
            </a:pPr>
            <a:r>
              <a:t>Implant activation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103120"/>
            <a:ext cx="1645920" cy="2011680"/>
          </a:xfrm>
          <a:prstGeom prst="roundRect">
            <a:avLst/>
          </a:prstGeom>
          <a:noFill/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2103120"/>
            <a:ext cx="16459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APT C2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417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  <a:latin typeface="Calibri"/>
              </a:defRPr>
            </a:pPr>
            <a:r>
              <a:t>~4 beacons/day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2103120"/>
            <a:ext cx="1645920" cy="2011680"/>
          </a:xfrm>
          <a:prstGeom prst="roundRect">
            <a:avLst/>
          </a:prstGeom>
          <a:noFill/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58400" y="2103120"/>
            <a:ext cx="16459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04120" y="22860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D1B2A"/>
                </a:solidFill>
                <a:latin typeface="Calibri"/>
              </a:defRPr>
            </a:pPr>
            <a:r>
              <a:t>Insider Threat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2743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  <a:latin typeface="Calibri"/>
              </a:defRPr>
            </a:pPr>
            <a:r>
              <a:t>14 months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04120" y="32004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05050"/>
                </a:solidFill>
                <a:latin typeface="Calibri"/>
              </a:defRPr>
            </a:pPr>
            <a:r>
              <a:t>4-phase escalation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286000" y="4754880"/>
            <a:ext cx="7589520" cy="640080"/>
          </a:xfrm>
          <a:prstGeom prst="roundRect">
            <a:avLst/>
          </a:prstGeom>
          <a:solidFill>
            <a:srgbClr val="FFFBEB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2000" b="1">
                <a:solidFill>
                  <a:srgbClr val="B7950B"/>
                </a:solidFill>
                <a:latin typeface="Calibri"/>
              </a:defRPr>
            </a:pPr>
            <a:r>
              <a:t>Traditional SIEM catches the fast. Misses the slow.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577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SIEM Detection Zone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577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392B"/>
                </a:solidFill>
                <a:latin typeface="Calibri"/>
              </a:defRPr>
            </a:pPr>
            <a:r>
              <a:t>Behavioral Detection Required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Meet the Attackers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5486400" cy="1920240"/>
          </a:xfrm>
          <a:prstGeom prst="roundRect">
            <a:avLst/>
          </a:prstGeom>
          <a:noFill/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4864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0392B"/>
                </a:solidFill>
                <a:latin typeface="Calibri"/>
              </a:defRPr>
            </a:pPr>
            <a:r>
              <a:t>USR-156: Insider 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14-Month, 4-Phase Escalation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493776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Subtle mood shifts → curiosity browsing →</a:t>
            </a:r>
            <a:br/>
            <a:r>
              <a:t>restricted access → trickle exfiltration</a:t>
            </a:r>
            <a:br/>
            <a:r>
              <a:t>Activity volumes stay within normal ranges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486400" cy="1920240"/>
          </a:xfrm>
          <a:prstGeom prst="roundRect">
            <a:avLst/>
          </a:prstGeom>
          <a:noFill/>
          <a:ln w="254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0" y="1280160"/>
            <a:ext cx="5486400" cy="54864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7950B"/>
                </a:solidFill>
                <a:latin typeface="Calibri"/>
              </a:defRPr>
            </a:pPr>
            <a:r>
              <a:t>USR-234: Slow APT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373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417-Day Persistent Campaign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493776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05740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~4 C2 beacons/day at 6-hour intervals</a:t>
            </a:r>
            <a:br/>
            <a:r>
              <a:t>DGA DNS queries blend with normal traffic</a:t>
            </a:r>
            <a:br/>
            <a:r>
              <a:t>Progressive data staging over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474720"/>
            <a:ext cx="5486400" cy="1920240"/>
          </a:xfrm>
          <a:prstGeom prst="roundRect">
            <a:avLst/>
          </a:prstGeom>
          <a:noFill/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54864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E44AD"/>
                </a:solidFill>
                <a:latin typeface="Calibri"/>
              </a:defRPr>
            </a:pPr>
            <a:r>
              <a:t>USR-042: Volt Typhoon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31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412-Day LOTL Pre-Positioning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06240"/>
            <a:ext cx="493776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2519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Living-off-the-land with RDP, WMI, PsExec</a:t>
            </a:r>
            <a:br/>
            <a:r>
              <a:t>Credential harvesting via legitimate tools</a:t>
            </a:r>
            <a:br/>
            <a:r>
              <a:t>Lateral movement mimics admin activity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474720"/>
            <a:ext cx="5486400" cy="1920240"/>
          </a:xfrm>
          <a:prstGeom prst="roundRect">
            <a:avLst/>
          </a:prstGeom>
          <a:noFill/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474720"/>
            <a:ext cx="5486400" cy="548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3611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4F72"/>
                </a:solidFill>
                <a:latin typeface="Calibri"/>
              </a:defRPr>
            </a:pPr>
            <a:r>
              <a:t>USR-118: Salt Typhoon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9319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Calibri"/>
              </a:defRPr>
            </a:pPr>
            <a:r>
              <a:t>412-Day Telecom Interception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06240"/>
            <a:ext cx="493776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251960"/>
            <a:ext cx="5212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DNS tunneling for covert C2 channel</a:t>
            </a:r>
            <a:br/>
            <a:r>
              <a:t>CDR/lawful intercept data access</a:t>
            </a:r>
            <a:br/>
            <a:r>
              <a:t>Staged exfiltration mimics normal ops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286000" y="5669280"/>
            <a:ext cx="7589520" cy="594360"/>
          </a:xfrm>
          <a:prstGeom prst="roundRect">
            <a:avLst/>
          </a:prstGeom>
          <a:solidFill>
            <a:srgbClr val="FFFBEB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800" b="1">
                <a:solidFill>
                  <a:srgbClr val="B7950B"/>
                </a:solidFill>
                <a:latin typeface="Calibri"/>
              </a:defRPr>
            </a:pPr>
            <a:r>
              <a:t>All 4 campaigns designed to stay within normal volume ranges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Traditional Algorithm #1 — Isolation Forest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D1B2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05050"/>
                </a:solidFill>
                <a:latin typeface="Calibri"/>
              </a:defRPr>
            </a:pPr>
            <a:r>
              <a:t>Randomly partitions feature space to isolate observations. Points that require fewer partitions to isolate are flagged as anomalies — they are statistically "easy to separate" from the bulk of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5029200" cy="2743200"/>
          </a:xfrm>
          <a:prstGeom prst="roundRect">
            <a:avLst/>
          </a:prstGeom>
          <a:solidFill>
            <a:srgbClr val="FDF5F5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392B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USR-156 (Insider, 14mo):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393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USR-234 (APT, 417d):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639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867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USR-042 (Volt Typhoon):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9867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342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USR-118 (Salt Typhoon):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3342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81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Calibri"/>
              </a:defRPr>
            </a:pPr>
            <a:r>
              <a:t>False Positive Rate: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6817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05050"/>
                </a:solidFill>
                <a:latin typeface="Calibri"/>
              </a:defRPr>
            </a:pPr>
            <a:r>
              <a:t>2.2% (1 normal user flagged)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303520" cy="42976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l">
              <a:defRPr sz="2200" b="1">
                <a:solidFill>
                  <a:srgbClr val="B7950B"/>
                </a:solidFill>
                <a:latin typeface="Calibri"/>
              </a:defRPr>
            </a:pPr>
            <a:r>
              <a:t>Why It Fails</a:t>
            </a:r>
          </a:p>
          <a:p>
            <a:pPr algn="l">
              <a:spcBef>
                <a:spcPts val="120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Catches Volt/Salt Typhoon — nation-state footprints create feature-space outliers</a:t>
            </a:r>
          </a:p>
          <a:p>
            <a:pPr algn="l">
              <a:spcBef>
                <a:spcPts val="120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Misses USR-156 insider — behavioral changes are directional, not magnitude-based</a:t>
            </a:r>
          </a:p>
          <a:p>
            <a:pPr algn="l">
              <a:spcBef>
                <a:spcPts val="120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Misses USR-234 slow APT — C2 beacons too subtle for random partitioning</a:t>
            </a:r>
          </a:p>
          <a:p>
            <a:pPr algn="l">
              <a:spcBef>
                <a:spcPts val="1200"/>
              </a:spcBef>
              <a:spcAft>
                <a:spcPts val="3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 Cannot detect gradual drift — only sudden jumps in feature 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Traditional Algorithms #2–4 — SVM, LOF, Z-Score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560320"/>
                <a:gridCol w="1371600"/>
                <a:gridCol w="1371600"/>
                <a:gridCol w="1371600"/>
                <a:gridCol w="1371600"/>
                <a:gridCol w="1280160"/>
              </a:tblGrid>
              <a:tr h="640080"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Works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USR-156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Insider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USR-234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USR-042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USR-118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 Rate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64008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One-Class</a:t>
                      </a:r>
                    </a:p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Learns boundary around</a:t>
                      </a:r>
                    </a:p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normal feature space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19.6%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</a:tr>
              <a:tr h="64008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Local Outlier</a:t>
                      </a:r>
                    </a:p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Factor (LOF)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Compares local density</a:t>
                      </a:r>
                    </a:p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of each point to neighbors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64008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Z-Score</a:t>
                      </a:r>
                    </a:p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Anomaly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Flags features &gt; 3σ</a:t>
                      </a:r>
                    </a:p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from global mean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389120"/>
            <a:ext cx="10332720" cy="1645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l">
              <a:defRPr sz="2200" b="1">
                <a:solidFill>
                  <a:srgbClr val="B7950B"/>
                </a:solidFill>
                <a:latin typeface="Calibri"/>
              </a:defRPr>
            </a:pPr>
            <a:r>
              <a:t>Key Insight</a:t>
            </a:r>
          </a:p>
          <a:p>
            <a:pPr algn="l">
              <a:spcBef>
                <a:spcPts val="1000"/>
              </a:spcBef>
              <a:spcAft>
                <a:spcPts val="3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LOF is the best traditional method: 3/4 attacks detected at 0% FP. But it completely misses USR-156 (insider threat).</a:t>
            </a:r>
          </a:p>
          <a:p>
            <a:pPr algn="l">
              <a:spcBef>
                <a:spcPts val="800"/>
              </a:spcBef>
              <a:spcAft>
                <a:spcPts val="3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USR-156 is invisible to 3 of 4 methods — behavioral-direction attacks don't create magnitude anomalies. Only behavioral analysis can find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Temporal Upgrade — Still Not Enough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3657600"/>
          </a:xfrm>
          <a:prstGeom prst="roundRect">
            <a:avLst/>
          </a:prstGeom>
          <a:noFill/>
          <a:ln w="254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54864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E6B8A"/>
                </a:solidFill>
                <a:latin typeface="Calibri"/>
              </a:defRPr>
            </a:pPr>
            <a:r>
              <a:t>Temporal Z-Score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Train on first half of data, test on second half. Flag any feature that deviates &gt; 2σ from the training period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All 4 attacks: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05050"/>
                </a:solidFill>
                <a:latin typeface="Calibri"/>
              </a:defRPr>
            </a:pPr>
            <a:r>
              <a:t>(USR-156, USR-234, USR-042, USR-118)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4754880" cy="640080"/>
          </a:xfrm>
          <a:prstGeom prst="roundRect">
            <a:avLst/>
          </a:prstGeom>
          <a:solidFill>
            <a:srgbClr val="FDF5F5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C0392B"/>
                </a:solidFill>
                <a:latin typeface="Calibri"/>
              </a:defRPr>
            </a:pPr>
            <a:r>
              <a:t>False Positive Rate: 100%  —  Every user flagged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5303520" cy="3657600"/>
          </a:xfrm>
          <a:prstGeom prst="roundRect">
            <a:avLst/>
          </a:prstGeom>
          <a:noFill/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5303520" cy="548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4F72"/>
                </a:solidFill>
                <a:latin typeface="Calibri"/>
              </a:defRPr>
            </a:pPr>
            <a:r>
              <a:t>Feature Trajectory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Change-point detection on raw feature trajectories. Tracks sustained shifts in individual feature values over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651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USR-042, USR-118: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1B2A"/>
                </a:solidFill>
                <a:latin typeface="Calibri"/>
              </a:defRPr>
            </a:pPr>
            <a:r>
              <a:t>USR-156, USR-234: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0392B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3931920"/>
            <a:ext cx="4754880" cy="640080"/>
          </a:xfrm>
          <a:prstGeom prst="roundRect">
            <a:avLst/>
          </a:prstGeom>
          <a:solidFill>
            <a:srgbClr val="FDF5F5"/>
          </a:solidFill>
          <a:ln w="190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B7950B"/>
                </a:solidFill>
                <a:latin typeface="Calibri"/>
              </a:defRPr>
            </a:pPr>
            <a:r>
              <a:t>False Positive Rate: 6.5%  —  But only 2/4 detected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5486400"/>
            <a:ext cx="7589520" cy="640080"/>
          </a:xfrm>
          <a:prstGeom prst="roundRect">
            <a:avLst/>
          </a:prstGeom>
          <a:solidFill>
            <a:srgbClr val="FFFBEB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2200" b="1">
                <a:solidFill>
                  <a:srgbClr val="B7950B"/>
                </a:solidFill>
                <a:latin typeface="Calibri"/>
              </a:defRPr>
            </a:pPr>
            <a:r>
              <a:t>Detection without precision is just noise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Detection-Precision Tradeoff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182880"/>
            <a:ext cx="2103120" cy="502920"/>
          </a:xfrm>
          <a:prstGeom prst="round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SLIDE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07899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731520"/>
                <a:gridCol w="1645920"/>
                <a:gridCol w="1645920"/>
                <a:gridCol w="1645920"/>
                <a:gridCol w="1645920"/>
                <a:gridCol w="1463040"/>
              </a:tblGrid>
              <a:tr h="480060"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USR-156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Insider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USR-234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USR-042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Volt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USR-118</a:t>
                      </a:r>
                    </a:p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Salt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 Rate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One-Class SVM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19.6%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LOF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Z-Score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T3 Zone Diverge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MISS</a:t>
                      </a:r>
                    </a:p>
                  </a:txBody>
                  <a:tcPr anchor="ctr">
                    <a:solidFill>
                      <a:srgbClr val="C0392B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T3 Combined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T3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8.7%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4800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LOF + Zone Div</a:t>
                      </a:r>
                    </a:p>
                  </a:txBody>
                  <a:tcPr anchor="ctr">
                    <a:solidFill>
                      <a:srgbClr val="0E6B8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</a:t>
                      </a:r>
                    </a:p>
                  </a:txBody>
                  <a:tcPr anchor="ctr">
                    <a:solidFill>
                      <a:srgbClr val="0E6B8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27AE6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371600" y="5303520"/>
            <a:ext cx="9418320" cy="777240"/>
          </a:xfrm>
          <a:prstGeom prst="roundRect">
            <a:avLst/>
          </a:prstGeom>
          <a:solidFill>
            <a:srgbClr val="FFFBEB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900" b="1">
                <a:solidFill>
                  <a:srgbClr val="B7950B"/>
                </a:solidFill>
                <a:latin typeface="Calibri"/>
              </a:defRPr>
            </a:pPr>
            <a:r>
              <a:t>LOF + Zone Divergence: ALL 4 attacks detected at 6.5% FP — the optimal 2-method ensemble across all 17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Traditional Methods Fail — The Core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2743200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0E6B8A"/>
                </a:solidFill>
                <a:latin typeface="Calibri"/>
              </a:defRPr>
            </a:pPr>
            <a:r>
              <a:t>Feature distributions of attack users overlap completely with normal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77440"/>
            <a:ext cx="3474720" cy="201168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USR-156 logs in 45 times/week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Calibri"/>
              </a:defRPr>
            </a:pPr>
            <a:r>
              <a:t>Normal range: 30–60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✓  Within normal bounds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377440"/>
            <a:ext cx="3474720" cy="201168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USR-234 resolves 15 unique domains/day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Calibri"/>
              </a:defRPr>
            </a:pPr>
            <a:r>
              <a:t>Normal range: 8–25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✓  Within normal bounds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377440"/>
            <a:ext cx="3474720" cy="2011680"/>
          </a:xfrm>
          <a:prstGeom prst="roundRect">
            <a:avLst/>
          </a:prstGeom>
          <a:solidFill>
            <a:srgbClr val="14283C"/>
          </a:solidFill>
          <a:ln w="1905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2514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USR-156 accesses 8 files/day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4B4B4"/>
                </a:solidFill>
                <a:latin typeface="Calibri"/>
              </a:defRPr>
            </a:pPr>
            <a:r>
              <a:t>Normal range: 3–15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✓  Within normal bounds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828032"/>
            <a:ext cx="91440" cy="9144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7548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LOF catches 3/4 attacks at 0% FP — but is completely blind to insider threats.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239512"/>
            <a:ext cx="91440" cy="9144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1663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No single traditional method detects all 4 campaigns.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650992"/>
            <a:ext cx="91440" cy="9144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5778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The direction changes, not the magnitude — invisible to traditional detection.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6062472"/>
            <a:ext cx="91440" cy="91440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9893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Zone-specific behavioral analysis fills the gap traditional methods cannot.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4655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V-Intelligence UEBA’s Approach — Behavioral Drift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1463040"/>
            <a:ext cx="502920" cy="502920"/>
          </a:xfrm>
          <a:prstGeom prst="ellipse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103120"/>
            <a:ext cx="210312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Behavioral</a:t>
            </a:r>
            <a:br/>
            <a:r>
              <a:t>Serialization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834640"/>
            <a:ext cx="2103120" cy="1828800"/>
          </a:xfrm>
          <a:prstGeom prst="roundRect">
            <a:avLst/>
          </a:prstGeom>
          <a:noFill/>
          <a:ln w="127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0">
                <a:solidFill>
                  <a:srgbClr val="505050"/>
                </a:solidFill>
                <a:latin typeface="Calibri"/>
              </a:defRPr>
            </a:pPr>
            <a:r>
              <a:t>Raw cyber telemetry is</a:t>
            </a:r>
            <a:br/>
            <a:r>
              <a:t>transformed into natural</a:t>
            </a:r>
            <a:br/>
            <a:r>
              <a:t>language descriptions of</a:t>
            </a:r>
            <a:br/>
            <a:r>
              <a:t>user behavior patterns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77440" y="2240280"/>
            <a:ext cx="228600" cy="228600"/>
          </a:xfrm>
          <a:prstGeom prst="rightArrow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83280" y="1463040"/>
            <a:ext cx="502920" cy="502920"/>
          </a:xfrm>
          <a:prstGeom prst="ellipse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2103120"/>
            <a:ext cx="210312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Semantic</a:t>
            </a:r>
            <a:br/>
            <a:r>
              <a:t>Embedding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834640"/>
            <a:ext cx="2103120" cy="1828800"/>
          </a:xfrm>
          <a:prstGeom prst="roundRect">
            <a:avLst/>
          </a:prstGeom>
          <a:noFill/>
          <a:ln w="127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0">
                <a:solidFill>
                  <a:srgbClr val="505050"/>
                </a:solidFill>
                <a:latin typeface="Calibri"/>
              </a:defRPr>
            </a:pPr>
            <a:r>
              <a:t>Behavioral descriptions are</a:t>
            </a:r>
            <a:br/>
            <a:r>
              <a:t>encoded into high-dimensional</a:t>
            </a:r>
            <a:br/>
            <a:r>
              <a:t>semantic space where meaning—</a:t>
            </a:r>
            <a:br/>
            <a:r>
              <a:t>not magnitude—is preserved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709160" y="2240280"/>
            <a:ext cx="228600" cy="228600"/>
          </a:xfrm>
          <a:prstGeom prst="rightArrow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5000" y="1463040"/>
            <a:ext cx="502920" cy="502920"/>
          </a:xfrm>
          <a:prstGeom prst="ellipse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2103120"/>
            <a:ext cx="210312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Directional</a:t>
            </a:r>
            <a:br/>
            <a:r>
              <a:t>Drift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834640"/>
            <a:ext cx="2103120" cy="1828800"/>
          </a:xfrm>
          <a:prstGeom prst="roundRect">
            <a:avLst/>
          </a:prstGeom>
          <a:noFill/>
          <a:ln w="127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0">
                <a:solidFill>
                  <a:srgbClr val="505050"/>
                </a:solidFill>
                <a:latin typeface="Calibri"/>
              </a:defRPr>
            </a:pPr>
            <a:r>
              <a:t>Continuous monitoring of</a:t>
            </a:r>
            <a:br/>
            <a:r>
              <a:t>how each user's behavioral</a:t>
            </a:r>
            <a:br/>
            <a:r>
              <a:t>vector moves through</a:t>
            </a:r>
            <a:br/>
            <a:r>
              <a:t>semantic space over time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40880" y="2240280"/>
            <a:ext cx="228600" cy="228600"/>
          </a:xfrm>
          <a:prstGeom prst="rightArrow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0" y="1463040"/>
            <a:ext cx="502920" cy="502920"/>
          </a:xfrm>
          <a:prstGeom prst="ellipse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2103120"/>
            <a:ext cx="210312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Change-Point</a:t>
            </a:r>
            <a:br/>
            <a:r>
              <a:t>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834640"/>
            <a:ext cx="2103120" cy="1828800"/>
          </a:xfrm>
          <a:prstGeom prst="roundRect">
            <a:avLst/>
          </a:prstGeom>
          <a:noFill/>
          <a:ln w="127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0">
                <a:solidFill>
                  <a:srgbClr val="505050"/>
                </a:solidFill>
                <a:latin typeface="Calibri"/>
              </a:defRPr>
            </a:pPr>
            <a:r>
              <a:t>Cumulative behavioral drift</a:t>
            </a:r>
            <a:br/>
            <a:r>
              <a:t>is analyzed to identify</a:t>
            </a:r>
            <a:br/>
            <a:r>
              <a:t>statistically significant</a:t>
            </a:r>
            <a:br/>
            <a:r>
              <a:t>shifts in trajectory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72600" y="2240280"/>
            <a:ext cx="228600" cy="228600"/>
          </a:xfrm>
          <a:prstGeom prst="rightArrow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378440" y="1463040"/>
            <a:ext cx="502920" cy="502920"/>
          </a:xfrm>
          <a:prstGeom prst="ellipse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103120"/>
            <a:ext cx="210312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Threat Pattern</a:t>
            </a:r>
            <a:br/>
            <a:r>
              <a:t>Classification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834640"/>
            <a:ext cx="2103120" cy="1828800"/>
          </a:xfrm>
          <a:prstGeom prst="roundRect">
            <a:avLst/>
          </a:prstGeom>
          <a:noFill/>
          <a:ln w="127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200" b="0">
                <a:solidFill>
                  <a:srgbClr val="505050"/>
                </a:solidFill>
                <a:latin typeface="Calibri"/>
              </a:defRPr>
            </a:pPr>
            <a:r>
              <a:t>Drift direction is compared</a:t>
            </a:r>
            <a:br/>
            <a:r>
              <a:t>against known threat behavioral</a:t>
            </a:r>
            <a:br/>
            <a:r>
              <a:t>patterns to classify the</a:t>
            </a:r>
            <a:br/>
            <a:r>
              <a:t>nature of the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120640"/>
            <a:ext cx="9418320" cy="10058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400" b="1">
                <a:solidFill>
                  <a:srgbClr val="B7950B"/>
                </a:solidFill>
                <a:latin typeface="Calibri"/>
              </a:defRPr>
            </a:pPr>
            <a:r>
              <a:t>Catches the pattern shift, not the volume spike</a:t>
            </a:r>
          </a:p>
          <a:p>
            <a:pPr algn="ctr">
              <a:spcBef>
                <a:spcPts val="800"/>
              </a:spcBef>
              <a:spcAft>
                <a:spcPts val="3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Traditional methods ask "how much?"  —  V-Intelligence UEBA asks "in what direction?"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Complementary Detection — Why Both Are Needed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05050"/>
                </a:solidFill>
                <a:latin typeface="Calibri"/>
              </a:defRPr>
            </a:pPr>
            <a:r>
              <a:t>No single method catches all 4 threats. The optimal ensemble combines two.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5303520" cy="2926080"/>
          </a:xfrm>
          <a:prstGeom prst="roundRect">
            <a:avLst/>
          </a:prstGeom>
          <a:noFill/>
          <a:ln w="254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303520" cy="54864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6B8A"/>
                </a:solidFill>
                <a:latin typeface="Calibri"/>
              </a:defRPr>
            </a:pPr>
            <a:r>
              <a:t>LOF (Traditional — Tier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USR-156 (Insider):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560320"/>
            <a:ext cx="18288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USR-234 (APT):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880360"/>
            <a:ext cx="18288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USR-042 (Volt Typhoon):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200400"/>
            <a:ext cx="18288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USR-118 (Salt Typhoon):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3520440"/>
            <a:ext cx="18288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475488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7950B"/>
                </a:solidFill>
                <a:latin typeface="Calibri"/>
              </a:defRPr>
            </a:pPr>
            <a:r>
              <a:t>0% FP — but blind to insider threats</a:t>
            </a:r>
            <a:br/>
            <a:r>
              <a:t>that stay within volume norms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20240"/>
            <a:ext cx="5303520" cy="2926080"/>
          </a:xfrm>
          <a:prstGeom prst="roundRect">
            <a:avLst/>
          </a:prstGeom>
          <a:noFill/>
          <a:ln w="254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20240"/>
            <a:ext cx="5303520" cy="54864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057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B7950B"/>
                </a:solidFill>
                <a:latin typeface="Calibri"/>
              </a:defRPr>
            </a:pPr>
            <a:r>
              <a:t>Zone Divergence (Behavioral — Tier 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560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USR-156 (Insider):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2560320"/>
            <a:ext cx="18288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803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USR-234 (APT):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2880360"/>
            <a:ext cx="182880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DETECTED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200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USR-042 (Volt Typhoon):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3200400"/>
            <a:ext cx="18288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5204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Calibri"/>
              </a:defRPr>
            </a:pPr>
            <a:r>
              <a:t>USR-118 (Salt Typhoon):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3520440"/>
            <a:ext cx="182880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MISSED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931920"/>
            <a:ext cx="4754880" cy="6400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7950B"/>
                </a:solidFill>
                <a:latin typeface="Calibri"/>
              </a:defRPr>
            </a:pPr>
            <a:r>
              <a:t>6.5% FP — catches behavioral drift</a:t>
            </a:r>
            <a:br/>
            <a:r>
              <a:t>invisible to volume-based methods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5029200"/>
            <a:ext cx="8503920" cy="109728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2200" b="1">
                <a:solidFill>
                  <a:srgbClr val="B7950B"/>
                </a:solidFill>
                <a:latin typeface="Calibri"/>
              </a:defRPr>
            </a:pPr>
            <a:r>
              <a:t>LOF + Zone Divergence:  ALL 4 DETECTED  |  6.5% FP</a:t>
            </a:r>
          </a:p>
          <a:p>
            <a:pPr algn="ctr">
              <a:spcBef>
                <a:spcPts val="600"/>
              </a:spcBef>
              <a:spcAft>
                <a:spcPts val="3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LOF catches nation-state footprints. Zone Divergence catches behavioral drift. Together: complete coverage at operational FP rates.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Per-Threat Detection Cost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05050"/>
                </a:solidFill>
                <a:latin typeface="Calibri"/>
              </a:defRPr>
            </a:pPr>
            <a:r>
              <a:t>What does it actually cost (in false positives) to detect each specific threat?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5486400" cy="1828800"/>
          </a:xfrm>
          <a:prstGeom prst="roundRect">
            <a:avLst/>
          </a:prstGeom>
          <a:noFill/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54864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USR-156: Insider Threat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920240"/>
            <a:ext cx="1645920" cy="32004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HARDEST TO 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317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Zone Divergence: 6.5% FP</a:t>
            </a:r>
            <a:br/>
            <a:r>
              <a:t>One-Class SVM: 19.6% FP</a:t>
            </a:r>
            <a:br/>
            <a:br/>
            <a:r>
              <a:t>No other viable method detects this threat.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3172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Only behavioral analysis</a:t>
            </a:r>
            <a:br/>
            <a:r>
              <a:t>finds this attack.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486400" cy="1828800"/>
          </a:xfrm>
          <a:prstGeom prst="roundRect">
            <a:avLst/>
          </a:prstGeom>
          <a:noFill/>
          <a:ln w="254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5486400" cy="54864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920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7950B"/>
                </a:solidFill>
                <a:latin typeface="Calibri"/>
              </a:defRPr>
            </a:pPr>
            <a:r>
              <a:t>USR-234: Slow APT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784080" y="1920240"/>
            <a:ext cx="1645920" cy="320040"/>
          </a:xfrm>
          <a:prstGeom prst="round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3172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LOF: 0.0% FP (best)</a:t>
            </a:r>
            <a:br/>
            <a:r>
              <a:t>Z-Score: 2.2% FP</a:t>
            </a:r>
            <a:br/>
            <a:r>
              <a:t>Zone Divergence: 6.5% FP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33172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Multiple methods work.</a:t>
            </a:r>
            <a:br/>
            <a:r>
              <a:t>LOF is optimal.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931920"/>
            <a:ext cx="5486400" cy="1828800"/>
          </a:xfrm>
          <a:prstGeom prst="roundRect">
            <a:avLst/>
          </a:prstGeom>
          <a:noFill/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31920"/>
            <a:ext cx="54864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023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USR-042: Volt Typhoon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4023360"/>
            <a:ext cx="1645920" cy="3200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DETECTABLE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348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LOF: 0.0% FP (best)</a:t>
            </a:r>
            <a:br/>
            <a:r>
              <a:t>Isolation Forest: 2.2% FP</a:t>
            </a:r>
            <a:br/>
            <a:r>
              <a:t>Z-Score: 2.2% FP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43484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Traditional methods</a:t>
            </a:r>
            <a:br/>
            <a:r>
              <a:t>suffice for LOTL.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931920"/>
            <a:ext cx="5486400" cy="1828800"/>
          </a:xfrm>
          <a:prstGeom prst="roundRect">
            <a:avLst/>
          </a:prstGeom>
          <a:noFill/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931920"/>
            <a:ext cx="5486400" cy="548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023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4F72"/>
                </a:solidFill>
                <a:latin typeface="Calibri"/>
              </a:defRPr>
            </a:pPr>
            <a:r>
              <a:t>USR-118: Salt Typhoon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84080" y="4023360"/>
            <a:ext cx="1645920" cy="32004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DETECTABLE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43484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LOF: 0.0% FP (best)</a:t>
            </a:r>
            <a:br/>
            <a:r>
              <a:t>Isolation Forest: 2.2% FP</a:t>
            </a:r>
            <a:br/>
            <a:r>
              <a:t>Z-Score: 2.2% FP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43484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Calibri"/>
              </a:defRPr>
            </a:pPr>
            <a:r>
              <a:t>Traditional methods</a:t>
            </a:r>
            <a:br/>
            <a:r>
              <a:t>suffice for telecom.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0" y="5943600"/>
            <a:ext cx="7589520" cy="594360"/>
          </a:xfrm>
          <a:prstGeom prst="roundRect">
            <a:avLst/>
          </a:prstGeom>
          <a:solidFill>
            <a:srgbClr val="FFFBEB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800" b="1">
                <a:solidFill>
                  <a:srgbClr val="B7950B"/>
                </a:solidFill>
                <a:latin typeface="Calibri"/>
              </a:defRPr>
            </a:pPr>
            <a:r>
              <a:t>USR-156 is the acid test — only behavioral analysis can find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Results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463040"/>
            <a:ext cx="3566160" cy="4389120"/>
          </a:xfrm>
          <a:prstGeom prst="roundRect">
            <a:avLst/>
          </a:prstGeom>
          <a:solidFill>
            <a:srgbClr val="14283C"/>
          </a:solidFill>
          <a:ln w="3175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566160" cy="64008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Traditional (Tier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Calibri"/>
              </a:defRPr>
            </a:pPr>
            <a:r>
              <a:t>Best: LOF — 3/4 detected, 0% FP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2834640" cy="18288"/>
          </a:xfrm>
          <a:prstGeom prst="rect">
            <a:avLst/>
          </a:prstGeom>
          <a:solidFill>
            <a:srgbClr val="32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  <a:latin typeface="Calibri"/>
              </a:defRPr>
            </a:pPr>
            <a:r>
              <a:t>✓  Excellent for nation-state attacks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392B"/>
                </a:solidFill>
                <a:latin typeface="Calibri"/>
              </a:defRPr>
            </a:pPr>
            <a:r>
              <a:t>✗  Blind to insider threat (USR-156)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Calibri"/>
              </a:defRPr>
            </a:pPr>
            <a:r>
              <a:t>LOF catches USR-234, USR-042, USR-118</a:t>
            </a:r>
            <a:br/>
            <a:r>
              <a:t>at 0% false positive rate. But completely</a:t>
            </a:r>
            <a:br/>
            <a:r>
              <a:t>misses the insider threat campaign.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029200"/>
            <a:ext cx="2103120" cy="548640"/>
          </a:xfrm>
          <a:prstGeom prst="round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0" y="1463040"/>
            <a:ext cx="3566160" cy="4389120"/>
          </a:xfrm>
          <a:prstGeom prst="roundRect">
            <a:avLst/>
          </a:prstGeom>
          <a:solidFill>
            <a:srgbClr val="14283C"/>
          </a:solidFill>
          <a:ln w="3175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463040"/>
            <a:ext cx="3566160" cy="64008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Behavioral (Tier 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Calibri"/>
              </a:defRPr>
            </a:pPr>
            <a:r>
              <a:t>Zone Divergence — 2/4 detected, 6.5% FP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468880"/>
            <a:ext cx="2834640" cy="18288"/>
          </a:xfrm>
          <a:prstGeom prst="rect">
            <a:avLst/>
          </a:prstGeom>
          <a:solidFill>
            <a:srgbClr val="32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6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B4B4"/>
                </a:solidFill>
                <a:latin typeface="Calibri"/>
              </a:defRPr>
            </a:pPr>
            <a:r>
              <a:t>✓  Detects behavioral drift attacks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392B"/>
                </a:solidFill>
                <a:latin typeface="Calibri"/>
              </a:defRPr>
            </a:pPr>
            <a:r>
              <a:t>✗  Misses network-footprint attacks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4747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Calibri"/>
              </a:defRPr>
            </a:pPr>
            <a:r>
              <a:t>Catches USR-156 (insider) and USR-234</a:t>
            </a:r>
            <a:br/>
            <a:r>
              <a:t>(slow APT) by analyzing zone-specific</a:t>
            </a:r>
            <a:br/>
            <a:r>
              <a:t>behavioral drift patterns.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5029200"/>
            <a:ext cx="2103120" cy="548640"/>
          </a:xfrm>
          <a:prstGeom prst="round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TARGETED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1463040"/>
            <a:ext cx="3566160" cy="4389120"/>
          </a:xfrm>
          <a:prstGeom prst="roundRect">
            <a:avLst/>
          </a:prstGeom>
          <a:solidFill>
            <a:srgbClr val="14283C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1463040"/>
            <a:ext cx="356616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LOF + Zone Divergence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Calibri"/>
              </a:defRPr>
            </a:pPr>
            <a:r>
              <a:t>Optimal 2-Method Ensemble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468880"/>
            <a:ext cx="2834640" cy="18288"/>
          </a:xfrm>
          <a:prstGeom prst="rect">
            <a:avLst/>
          </a:prstGeom>
          <a:solidFill>
            <a:srgbClr val="324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606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7AE60"/>
                </a:solidFill>
                <a:latin typeface="Calibri"/>
              </a:defRPr>
            </a:pPr>
            <a:r>
              <a:t>✓  All 4 Attacks Detected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9718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7AE60"/>
                </a:solidFill>
                <a:latin typeface="Calibri"/>
              </a:defRPr>
            </a:pPr>
            <a:r>
              <a:t>✓  6.5% False Positive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47472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B4B4"/>
                </a:solidFill>
                <a:latin typeface="Calibri"/>
              </a:defRPr>
            </a:pPr>
            <a:r>
              <a:t>Traditional catches network footprints.</a:t>
            </a:r>
            <a:br/>
            <a:r>
              <a:t>Behavioral catches direction changes.</a:t>
            </a:r>
            <a:br/>
            <a:r>
              <a:t>Together: 100% detection at 6.5% FP.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5029200"/>
            <a:ext cx="2103120" cy="54864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ACTIONABLE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7950B"/>
                </a:solidFill>
                <a:latin typeface="Calibri"/>
              </a:defRPr>
            </a:pPr>
            <a:r>
              <a:t>LOF + Zone Divergence: all 4 campaigns detected at 6.5% FP — optimal ensemble.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C4655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This Means for Your Agency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73152" cy="1051560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Current SIEM/UEBA tools are blind to the most dangerous threats.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Traditional anomaly detection relies on statistical outliers. Slow, sophisticated attackers operate within normal statistical ranges by design. Your current tools cannot see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06040"/>
            <a:ext cx="73152" cy="10515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Nation-state APTs and insider threats are designed to evade.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Volt Typhoon, Salt Typhoon, and similar campaigns specifically model normal user behavior to avoid triggering volume-based alerts. The threat model has evolved; detection must evolve with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73152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Behavioral drift analysis is the only proven approach.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Our empirical analysis across 130 days demonstrates that only semantic behavioral drift detection achieves both high detection rates and actionable false positive rates for slow, stealthy attacks.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074920"/>
            <a:ext cx="73152" cy="10515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Calibri"/>
              </a:defRPr>
            </a:pPr>
            <a:r>
              <a:t>Every day without behavioral detection is exposure.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486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If a 14-month insider threat campaign is running in your environment today, your current tools will not detect it until data has already been exfiltrated.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669280"/>
            <a:ext cx="8503920" cy="7315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B7950B"/>
                </a:solidFill>
                <a:latin typeface="Calibri"/>
              </a:defRPr>
            </a:pPr>
            <a:r>
              <a:t>The threats you can’t see are the ones that matter most.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Next Steps — Prove It On Your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371600"/>
            <a:ext cx="2011680" cy="457200"/>
          </a:xfrm>
          <a:prstGeom prst="round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 1–2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474720" cy="2926080"/>
          </a:xfrm>
          <a:prstGeom prst="roundRect">
            <a:avLst/>
          </a:prstGeom>
          <a:noFill/>
          <a:ln w="254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3474720" cy="54864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Integration &amp; Baseline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51760"/>
            <a:ext cx="27432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Connect to existing SIEM/log feeds</a:t>
            </a:r>
            <a:br/>
            <a:r>
              <a:t>Establish behavioral baselines</a:t>
            </a:r>
            <a:br/>
            <a:r>
              <a:t>No new agents or data collection</a:t>
            </a:r>
            <a:br/>
            <a:r>
              <a:t>Zero operational disruption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23360" y="3200400"/>
            <a:ext cx="457200" cy="228600"/>
          </a:xfrm>
          <a:prstGeom prst="rightArrow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46320" y="1371600"/>
            <a:ext cx="2011680" cy="457200"/>
          </a:xfrm>
          <a:prstGeom prst="round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011680"/>
            <a:ext cx="3474720" cy="2926080"/>
          </a:xfrm>
          <a:prstGeom prst="roundRect">
            <a:avLst/>
          </a:prstGeom>
          <a:noFill/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2011680"/>
            <a:ext cx="3474720" cy="548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Detection Calibration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2651760"/>
            <a:ext cx="27432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788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Tune detection thresholds</a:t>
            </a:r>
            <a:br/>
            <a:r>
              <a:t>Validate against known incidents</a:t>
            </a:r>
            <a:br/>
            <a:r>
              <a:t>Measure false positive rate</a:t>
            </a:r>
            <a:br/>
            <a:r>
              <a:t>Compare to current SIEM alerts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80960" y="3200400"/>
            <a:ext cx="457200" cy="228600"/>
          </a:xfrm>
          <a:prstGeom prst="rightArrow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03920" y="1371600"/>
            <a:ext cx="2011680" cy="457200"/>
          </a:xfrm>
          <a:prstGeom prst="round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011680"/>
            <a:ext cx="3474720" cy="2926080"/>
          </a:xfrm>
          <a:prstGeom prst="roundRect">
            <a:avLst/>
          </a:prstGeom>
          <a:noFill/>
          <a:ln w="25400"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2011680"/>
            <a:ext cx="3474720" cy="54864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Calibri"/>
              </a:defRPr>
            </a:pPr>
            <a:r>
              <a:t>Results &amp; Assessment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651760"/>
            <a:ext cx="2743200" cy="18288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0" y="278892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Full detection report</a:t>
            </a:r>
            <a:br/>
            <a:r>
              <a:t>FP rate comparison</a:t>
            </a:r>
            <a:br/>
            <a:r>
              <a:t>Mean time to detect analysis</a:t>
            </a:r>
            <a:br/>
            <a:r>
              <a:t>Go/no-go recommendation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212080"/>
            <a:ext cx="11247120" cy="10058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B7950B"/>
                </a:solidFill>
                <a:latin typeface="Calibri"/>
              </a:defRPr>
            </a:pPr>
            <a:r>
              <a:t>No new agents.  No new data collection.  Works with existing SIEM feeds.</a:t>
            </a:r>
          </a:p>
          <a:p>
            <a:pPr algn="ctr">
              <a:spcBef>
                <a:spcPts val="800"/>
              </a:spcBef>
              <a:spcAft>
                <a:spcPts val="3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Measurable success criteria: detection rate, false positive rate, mean time to detect.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Detection Playbook: Match the Threat to the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05050"/>
                </a:solidFill>
                <a:latin typeface="Calibri"/>
              </a:defRPr>
            </a:pPr>
            <a:r>
              <a:t>UEBA detects threats by behavioral drift, not attack signatures. Each threat type requires a different detection method.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783080"/>
            <a:ext cx="2011680" cy="98755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Insider Threat</a:t>
            </a:r>
          </a:p>
          <a:p>
            <a:pPr algn="ctr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USR-156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783080"/>
            <a:ext cx="1828800" cy="987552"/>
          </a:xfrm>
          <a:prstGeom prst="roundRect">
            <a:avLst/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Zone Divergence</a:t>
            </a:r>
          </a:p>
          <a:p>
            <a:pPr algn="ctr">
              <a:spcBef>
                <a:spcPts val="600"/>
              </a:spcBef>
              <a:spcAft>
                <a:spcPts val="300"/>
              </a:spcAft>
              <a:defRPr sz="1200" b="0">
                <a:solidFill>
                  <a:srgbClr val="505050"/>
                </a:solidFill>
                <a:latin typeface="Calibri"/>
              </a:defRPr>
            </a:pPr>
            <a:r>
              <a:t>FP: 6.5%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Same person, different data.</a:t>
            </a:r>
            <a:br/>
            <a:r>
              <a:t>Identity stable + data zone drifting.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8288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Calibri"/>
              </a:defRPr>
            </a:pPr>
            <a:r>
              <a:t>LOF, IForest blind</a:t>
            </a:r>
            <a:br/>
            <a:r>
              <a:t>(measure magnitude only)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953512"/>
            <a:ext cx="2011680" cy="987552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Slow APT / C2</a:t>
            </a:r>
          </a:p>
          <a:p>
            <a:pPr algn="ctr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USR-234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953512"/>
            <a:ext cx="1828800" cy="987552"/>
          </a:xfrm>
          <a:prstGeom prst="roundRect">
            <a:avLst/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LOF + Zone Div</a:t>
            </a:r>
          </a:p>
          <a:p>
            <a:pPr algn="ctr">
              <a:spcBef>
                <a:spcPts val="600"/>
              </a:spcBef>
              <a:spcAft>
                <a:spcPts val="300"/>
              </a:spcAft>
              <a:defRPr sz="1200" b="0">
                <a:solidFill>
                  <a:srgbClr val="505050"/>
                </a:solidFill>
                <a:latin typeface="Calibri"/>
              </a:defRPr>
            </a:pPr>
            <a:r>
              <a:t>FP: 0%* / 6.5%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999232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Network outlier + identity stable</a:t>
            </a:r>
            <a:br/>
            <a:r>
              <a:t>+ network zone drifting.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999232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Calibri"/>
              </a:defRPr>
            </a:pPr>
            <a:r>
              <a:t>IForest misses</a:t>
            </a:r>
            <a:br/>
            <a:r>
              <a:t>slow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123944"/>
            <a:ext cx="2011680" cy="987552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Nation-State LOTL</a:t>
            </a:r>
          </a:p>
          <a:p>
            <a:pPr algn="ctr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USR-042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4123944"/>
            <a:ext cx="1828800" cy="987552"/>
          </a:xfrm>
          <a:prstGeom prst="roundRect">
            <a:avLst/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LOF + Regime Shift</a:t>
            </a:r>
          </a:p>
          <a:p>
            <a:pPr algn="ctr">
              <a:spcBef>
                <a:spcPts val="600"/>
              </a:spcBef>
              <a:spcAft>
                <a:spcPts val="300"/>
              </a:spcAft>
              <a:defRPr sz="1200" b="0">
                <a:solidFill>
                  <a:srgbClr val="505050"/>
                </a:solidFill>
                <a:latin typeface="Calibri"/>
              </a:defRPr>
            </a:pPr>
            <a:r>
              <a:t>FP: 0%* / 6.5%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169664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Strong endpoint anomaly +</a:t>
            </a:r>
            <a:br/>
            <a:r>
              <a:t>clear before/after phase break.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69664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Calibri"/>
              </a:defRPr>
            </a:pPr>
            <a:r>
              <a:t>Zone Divergence misses</a:t>
            </a:r>
            <a:br/>
            <a:r>
              <a:t>(uniform change)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294376"/>
            <a:ext cx="2011680" cy="987552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Telecom Pivot</a:t>
            </a:r>
          </a:p>
          <a:p>
            <a:pPr algn="ctr">
              <a:spcBef>
                <a:spcPts val="40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USR-118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5294376"/>
            <a:ext cx="1828800" cy="987552"/>
          </a:xfrm>
          <a:prstGeom prst="roundRect">
            <a:avLst/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500" b="1">
                <a:solidFill>
                  <a:srgbClr val="27AE60"/>
                </a:solidFill>
                <a:latin typeface="Calibri"/>
              </a:defRPr>
            </a:pPr>
            <a:r>
              <a:t>LOF + Embed CUSUM</a:t>
            </a:r>
          </a:p>
          <a:p>
            <a:pPr algn="ctr">
              <a:spcBef>
                <a:spcPts val="600"/>
              </a:spcBef>
              <a:spcAft>
                <a:spcPts val="300"/>
              </a:spcAft>
              <a:defRPr sz="1200" b="0">
                <a:solidFill>
                  <a:srgbClr val="505050"/>
                </a:solidFill>
                <a:latin typeface="Calibri"/>
              </a:defRPr>
            </a:pPr>
            <a:r>
              <a:t>FP: 0%* / 6.5%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340096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05050"/>
                </a:solidFill>
                <a:latin typeface="Calibri"/>
              </a:defRPr>
            </a:pPr>
            <a:r>
              <a:t>Network footprint +</a:t>
            </a:r>
            <a:br/>
            <a:r>
              <a:t>persistent 412-day drift.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340096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Calibri"/>
              </a:defRPr>
            </a:pPr>
            <a:r>
              <a:t>Zone Divergence misses</a:t>
            </a:r>
            <a:br/>
            <a:r>
              <a:t>(broad multi-zone)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15544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B4B4"/>
                </a:solidFill>
                <a:latin typeface="Calibri"/>
              </a:defRPr>
            </a:pPr>
            <a:r>
              <a:t>THREAT 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B4B4"/>
                </a:solidFill>
                <a:latin typeface="Calibri"/>
              </a:defRPr>
            </a:pPr>
            <a:r>
              <a:t>BEST 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B4B4"/>
                </a:solidFill>
                <a:latin typeface="Calibri"/>
              </a:defRPr>
            </a:pPr>
            <a:r>
              <a:t>WHY IT WORKS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55448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4B4B4"/>
                </a:solidFill>
                <a:latin typeface="Calibri"/>
              </a:defRPr>
            </a:pPr>
            <a:r>
              <a:t>WHAT FAILS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5760720"/>
            <a:ext cx="11612880" cy="50292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B7950B"/>
                </a:solidFill>
                <a:latin typeface="Calibri"/>
              </a:defRPr>
            </a:pPr>
            <a:r>
              <a:t>The threat type determines the algorithm. Traditional = how much changed. Behavioral = what kind of change. Deploy both layers.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spcBef>
                <a:spcPts val="12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Algorithm Parameters &amp; Input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05050"/>
                </a:solidFill>
                <a:latin typeface="Calibri"/>
              </a:defRPr>
            </a:pPr>
            <a:r>
              <a:t>All algorithms draw from the same 23 behavioral features across 5 log sources. The detection approach determines what gets caught.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Tier 1: Traditional Detection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965960"/>
          <a:ext cx="56692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2011680"/>
              </a:tblGrid>
              <a:tr h="339634"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Parameters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Detection Rule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39634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200 trees, 5% budget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Isolation outliers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One-Class SVM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RBF kernel, 5% nu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Outside boundary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39634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LOF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20 neighbors, 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Low local density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Z-Score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3-sigma threshold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Any feature &gt; 3σ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39634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Temporal Z-Score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50/50 train/test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Deviation from 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Feature Trajectory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Cumulative drift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Top 10% accumulated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1600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Tier 3: Behavioral Detection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1965960"/>
          <a:ext cx="57607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2103120"/>
              </a:tblGrid>
              <a:tr h="314960"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Signal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Parameter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Velocity/Accel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Composite trajectory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Acceleration &gt; 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Regime Shift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Weekly embeddings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Similarity &lt; 0.7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Zone Divergence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5 zone drifts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Identity &lt; 0.02, zone &gt; 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Relationship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User-Device vector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Drift &gt; 0.05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Contextual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4 context weights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Consistency &gt; 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Drift Accum.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Baseline distance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Cumulative excess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Progression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Threat alignment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Increasing trend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 lIns="73152" rIns="73152" tIns="36576" bIns="36576"/>
                    <a:lstStyle/>
                    <a:p>
                      <a:pPr algn="l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Combined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All 6 core scores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  <a:tc>
                  <a:txBody>
                    <a:bodyPr lIns="73152" rIns="73152" tIns="36576" bIns="36576"/>
                    <a:lstStyle/>
                    <a:p>
                      <a:pPr algn="ctr">
                        <a:defRPr sz="1300" b="0">
                          <a:solidFill>
                            <a:srgbClr val="0D1B2A"/>
                          </a:solidFill>
                          <a:latin typeface="Calibri"/>
                        </a:defRPr>
                      </a:pPr>
                      <a:r>
                        <a:t>Zone Div OR ≥ 2 agree</a:t>
                      </a:r>
                    </a:p>
                  </a:txBody>
                  <a:tcPr anchor="ctr"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B2A"/>
                </a:solidFill>
                <a:latin typeface="Calibri"/>
              </a:defRPr>
            </a:pPr>
            <a:r>
              <a:t>23 Input Features by Log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937760"/>
            <a:ext cx="2743200" cy="1280160"/>
          </a:xfrm>
          <a:prstGeom prst="roundRect">
            <a:avLst/>
          </a:prstGeom>
          <a:noFill/>
          <a:ln w="254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4937760"/>
            <a:ext cx="2743200" cy="54864"/>
          </a:xfrm>
          <a:prstGeom prst="rect">
            <a:avLst/>
          </a:prstGeom>
          <a:solidFill>
            <a:srgbClr val="0E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E6B8A"/>
                </a:solidFill>
                <a:latin typeface="Calibri"/>
              </a:defRPr>
            </a:pPr>
            <a:r>
              <a:t>Authentication (7)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349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auth_total, failures, fail_rate,</a:t>
            </a:r>
            <a:br/>
            <a:r>
              <a:t>off_hours, sources, dests, methods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4937760"/>
            <a:ext cx="2743200" cy="1280160"/>
          </a:xfrm>
          <a:prstGeom prst="roundRect">
            <a:avLst/>
          </a:prstGeom>
          <a:noFill/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4937760"/>
            <a:ext cx="2743200" cy="5486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B4F72"/>
                </a:solidFill>
                <a:latin typeface="Calibri"/>
              </a:defRPr>
            </a:pPr>
            <a:r>
              <a:t>File Access (6)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5349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file_total, restricted, confidential,</a:t>
            </a:r>
            <a:br/>
            <a:r>
              <a:t>write_ratio, paths, bytes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937760"/>
            <a:ext cx="2743200" cy="1280160"/>
          </a:xfrm>
          <a:prstGeom prst="roundRect">
            <a:avLst/>
          </a:prstGeom>
          <a:noFill/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937760"/>
            <a:ext cx="274320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E44AD"/>
                </a:solidFill>
                <a:latin typeface="Calibri"/>
              </a:defRPr>
            </a:pPr>
            <a:r>
              <a:t>Endpoint (5)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5349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total, suspicious_ratio,</a:t>
            </a:r>
            <a:br/>
            <a:r>
              <a:t>max_risk, mean_risk, processes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9720" y="4937760"/>
            <a:ext cx="2743200" cy="1280160"/>
          </a:xfrm>
          <a:prstGeom prst="roundRect">
            <a:avLst/>
          </a:prstGeom>
          <a:noFill/>
          <a:ln w="254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89720" y="4937760"/>
            <a:ext cx="2743200" cy="54864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5029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D1B2A"/>
                </a:solidFill>
                <a:latin typeface="Calibri"/>
              </a:defRPr>
            </a:pPr>
            <a:r>
              <a:t>Network (5)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53492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05050"/>
                </a:solidFill>
                <a:latin typeface="Calibri"/>
              </a:defRPr>
            </a:pPr>
            <a:r>
              <a:t>bytes_out, unique_dsts,</a:t>
            </a:r>
            <a:br/>
            <a:r>
              <a:t>external_ratio, dns_domains, nxdomain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4B4B4"/>
                </a:solidFill>
                <a:latin typeface="Calibri"/>
              </a:defRPr>
            </a:pPr>
            <a:r>
              <a:t>22nd Century Technologies, Inc. |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17520" cy="36576"/>
          </a:xfrm>
          <a:prstGeom prst="rect">
            <a:avLst/>
          </a:prstGeom>
          <a:solidFill>
            <a:srgbClr val="B795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22nd Century Technologies,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E6B8A"/>
                </a:solidFill>
                <a:latin typeface="Calibri"/>
              </a:defRPr>
            </a:pPr>
            <a:r>
              <a:t>Behavioral Intelligence for Federal Cybersecurity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572000"/>
            <a:ext cx="5760720" cy="1371600"/>
          </a:xfrm>
          <a:prstGeom prst="roundRect">
            <a:avLst/>
          </a:prstGeom>
          <a:solidFill>
            <a:srgbClr val="14283C"/>
          </a:solidFill>
          <a:ln w="12700">
            <a:solidFill>
              <a:srgbClr val="0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B7950B"/>
                </a:solidFill>
                <a:latin typeface="Calibri"/>
              </a:defRPr>
            </a:pPr>
            <a:r>
              <a:t>V-Intelligence UEBA — User and Entity Behavior Analytics</a:t>
            </a:r>
          </a:p>
          <a:p>
            <a:pPr algn="ctr">
              <a:spcBef>
                <a:spcPts val="1000"/>
              </a:spcBef>
              <a:spcAft>
                <a:spcPts val="300"/>
              </a:spcAft>
              <a:defRPr sz="1300" b="0">
                <a:solidFill>
                  <a:srgbClr val="B4B4B4"/>
                </a:solidFill>
                <a:latin typeface="Calibri"/>
              </a:defRPr>
            </a:pPr>
            <a:r>
              <a:t>Proven behavioral drift detection for the threats</a:t>
            </a:r>
            <a:br/>
            <a:r>
              <a:t>your current tools cannot see.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7950B"/>
                </a:solidFill>
                <a:latin typeface="Calibri"/>
              </a:defRPr>
            </a:pPr>
            <a:r>
              <a:t>We proved it on synthetic data. Let us prove it on yours.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