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1371600"/>
            <a:ext cx="10515600" cy="1097280"/>
          </a:xfrm>
          <a:prstGeom prst="rect">
            <a:avLst/>
          </a:prstGeom>
          <a:noFill/>
        </p:spPr>
        <p:txBody>
          <a:bodyPr wrap="square">
            <a:spAutoFit/>
          </a:bodyPr>
          <a:lstStyle/>
          <a:p>
            <a:pPr algn="l">
              <a:defRPr sz="4400" b="1">
                <a:solidFill>
                  <a:srgbClr val="FFFFFF"/>
                </a:solidFill>
                <a:latin typeface="Calibri"/>
              </a:defRPr>
            </a:pPr>
            <a:r>
              <a:t>Detection Comparison</a:t>
            </a:r>
          </a:p>
        </p:txBody>
      </p:sp>
      <p:sp>
        <p:nvSpPr>
          <p:cNvPr id="3" name="Rectangle 2"/>
          <p:cNvSpPr/>
          <p:nvPr/>
        </p:nvSpPr>
        <p:spPr>
          <a:xfrm>
            <a:off x="731520" y="2560320"/>
            <a:ext cx="2743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834640"/>
            <a:ext cx="10515600" cy="731520"/>
          </a:xfrm>
          <a:prstGeom prst="rect">
            <a:avLst/>
          </a:prstGeom>
          <a:noFill/>
        </p:spPr>
        <p:txBody>
          <a:bodyPr wrap="square">
            <a:spAutoFit/>
          </a:bodyPr>
          <a:lstStyle/>
          <a:p>
            <a:pPr algn="l">
              <a:defRPr sz="2200" b="0">
                <a:solidFill>
                  <a:srgbClr val="A0C8E0"/>
                </a:solidFill>
                <a:latin typeface="Calibri"/>
              </a:defRPr>
            </a:pPr>
            <a:r>
              <a:t>Why Traditional Cyber Detection Fails Against Modern Threats —</a:t>
            </a:r>
            <a:br/>
            <a:r>
              <a:t>and How Behavioral Analysis Changes the Game</a:t>
            </a:r>
          </a:p>
        </p:txBody>
      </p:sp>
      <p:sp>
        <p:nvSpPr>
          <p:cNvPr id="5" name="TextBox 4"/>
          <p:cNvSpPr txBox="1"/>
          <p:nvPr/>
        </p:nvSpPr>
        <p:spPr>
          <a:xfrm>
            <a:off x="731520" y="4114800"/>
            <a:ext cx="10515600" cy="457200"/>
          </a:xfrm>
          <a:prstGeom prst="rect">
            <a:avLst/>
          </a:prstGeom>
          <a:noFill/>
        </p:spPr>
        <p:txBody>
          <a:bodyPr wrap="square">
            <a:spAutoFit/>
          </a:bodyPr>
          <a:lstStyle/>
          <a:p>
            <a:pPr algn="l">
              <a:defRPr sz="1800" b="1">
                <a:solidFill>
                  <a:srgbClr val="B7950B"/>
                </a:solidFill>
                <a:latin typeface="Calibri"/>
              </a:defRPr>
            </a:pPr>
            <a:r>
              <a:t>V-Intelligence UEBA + Composite Scoring  |  Business Overview</a:t>
            </a:r>
          </a:p>
        </p:txBody>
      </p:sp>
      <p:sp>
        <p:nvSpPr>
          <p:cNvPr id="6" name="TextBox 5"/>
          <p:cNvSpPr txBox="1"/>
          <p:nvPr/>
        </p:nvSpPr>
        <p:spPr>
          <a:xfrm>
            <a:off x="731520" y="5669280"/>
            <a:ext cx="10515600" cy="457200"/>
          </a:xfrm>
          <a:prstGeom prst="rect">
            <a:avLst/>
          </a:prstGeom>
          <a:noFill/>
        </p:spPr>
        <p:txBody>
          <a:bodyPr wrap="square">
            <a:spAutoFit/>
          </a:bodyPr>
          <a:lstStyle/>
          <a:p>
            <a:pPr algn="l">
              <a:defRPr sz="1400" b="0">
                <a:solidFill>
                  <a:srgbClr val="969696"/>
                </a:solidFill>
                <a:latin typeface="Calibri"/>
              </a:defRPr>
            </a:pPr>
            <a:r>
              <a:t>22nd Century Technologies, Inc.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Agenda</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1</a:t>
            </a:r>
          </a:p>
        </p:txBody>
      </p:sp>
      <p:sp>
        <p:nvSpPr>
          <p:cNvPr id="5" name="TextBox 4"/>
          <p:cNvSpPr txBox="1"/>
          <p:nvPr/>
        </p:nvSpPr>
        <p:spPr>
          <a:xfrm>
            <a:off x="1371600" y="1371600"/>
            <a:ext cx="3200400" cy="365760"/>
          </a:xfrm>
          <a:prstGeom prst="rect">
            <a:avLst/>
          </a:prstGeom>
          <a:noFill/>
        </p:spPr>
        <p:txBody>
          <a:bodyPr wrap="square">
            <a:spAutoFit/>
          </a:bodyPr>
          <a:lstStyle/>
          <a:p>
            <a:pPr algn="l">
              <a:defRPr sz="1800" b="1">
                <a:solidFill>
                  <a:srgbClr val="0D1B2A"/>
                </a:solidFill>
                <a:latin typeface="Calibri"/>
              </a:defRPr>
            </a:pPr>
            <a:r>
              <a:t>The Problem</a:t>
            </a:r>
          </a:p>
        </p:txBody>
      </p:sp>
      <p:sp>
        <p:nvSpPr>
          <p:cNvPr id="6" name="TextBox 5"/>
          <p:cNvSpPr txBox="1"/>
          <p:nvPr/>
        </p:nvSpPr>
        <p:spPr>
          <a:xfrm>
            <a:off x="4754880" y="1389888"/>
            <a:ext cx="6858000" cy="365760"/>
          </a:xfrm>
          <a:prstGeom prst="rect">
            <a:avLst/>
          </a:prstGeom>
          <a:noFill/>
        </p:spPr>
        <p:txBody>
          <a:bodyPr wrap="square">
            <a:spAutoFit/>
          </a:bodyPr>
          <a:lstStyle/>
          <a:p>
            <a:pPr algn="l">
              <a:defRPr sz="1500" b="0">
                <a:solidFill>
                  <a:srgbClr val="505050"/>
                </a:solidFill>
                <a:latin typeface="Calibri"/>
              </a:defRPr>
            </a:pPr>
            <a:r>
              <a:t>Why do sophisticated attackers evade your current SIEM?</a:t>
            </a:r>
          </a:p>
        </p:txBody>
      </p:sp>
      <p:sp>
        <p:nvSpPr>
          <p:cNvPr id="7" name="Rounded Rectangle 6"/>
          <p:cNvSpPr/>
          <p:nvPr/>
        </p:nvSpPr>
        <p:spPr>
          <a:xfrm>
            <a:off x="731520" y="201168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2</a:t>
            </a:r>
          </a:p>
        </p:txBody>
      </p:sp>
      <p:sp>
        <p:nvSpPr>
          <p:cNvPr id="8" name="TextBox 7"/>
          <p:cNvSpPr txBox="1"/>
          <p:nvPr/>
        </p:nvSpPr>
        <p:spPr>
          <a:xfrm>
            <a:off x="1371600" y="2011680"/>
            <a:ext cx="3200400" cy="365760"/>
          </a:xfrm>
          <a:prstGeom prst="rect">
            <a:avLst/>
          </a:prstGeom>
          <a:noFill/>
        </p:spPr>
        <p:txBody>
          <a:bodyPr wrap="square">
            <a:spAutoFit/>
          </a:bodyPr>
          <a:lstStyle/>
          <a:p>
            <a:pPr algn="l">
              <a:defRPr sz="1800" b="1">
                <a:solidFill>
                  <a:srgbClr val="0D1B2A"/>
                </a:solidFill>
                <a:latin typeface="Calibri"/>
              </a:defRPr>
            </a:pPr>
            <a:r>
              <a:t>How Traditional Detection Works</a:t>
            </a:r>
          </a:p>
        </p:txBody>
      </p:sp>
      <p:sp>
        <p:nvSpPr>
          <p:cNvPr id="9" name="TextBox 8"/>
          <p:cNvSpPr txBox="1"/>
          <p:nvPr/>
        </p:nvSpPr>
        <p:spPr>
          <a:xfrm>
            <a:off x="4754880" y="2029968"/>
            <a:ext cx="6858000" cy="365760"/>
          </a:xfrm>
          <a:prstGeom prst="rect">
            <a:avLst/>
          </a:prstGeom>
          <a:noFill/>
        </p:spPr>
        <p:txBody>
          <a:bodyPr wrap="square">
            <a:spAutoFit/>
          </a:bodyPr>
          <a:lstStyle/>
          <a:p>
            <a:pPr algn="l">
              <a:defRPr sz="1500" b="0">
                <a:solidFill>
                  <a:srgbClr val="505050"/>
                </a:solidFill>
                <a:latin typeface="Calibri"/>
              </a:defRPr>
            </a:pPr>
            <a:r>
              <a:t>Thresholds, rules, and statistical algorithms</a:t>
            </a:r>
          </a:p>
        </p:txBody>
      </p:sp>
      <p:sp>
        <p:nvSpPr>
          <p:cNvPr id="10" name="Rounded Rectangle 9"/>
          <p:cNvSpPr/>
          <p:nvPr/>
        </p:nvSpPr>
        <p:spPr>
          <a:xfrm>
            <a:off x="731520" y="265176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3</a:t>
            </a:r>
          </a:p>
        </p:txBody>
      </p:sp>
      <p:sp>
        <p:nvSpPr>
          <p:cNvPr id="11" name="TextBox 10"/>
          <p:cNvSpPr txBox="1"/>
          <p:nvPr/>
        </p:nvSpPr>
        <p:spPr>
          <a:xfrm>
            <a:off x="1371600" y="2651760"/>
            <a:ext cx="3200400" cy="365760"/>
          </a:xfrm>
          <a:prstGeom prst="rect">
            <a:avLst/>
          </a:prstGeom>
          <a:noFill/>
        </p:spPr>
        <p:txBody>
          <a:bodyPr wrap="square">
            <a:spAutoFit/>
          </a:bodyPr>
          <a:lstStyle/>
          <a:p>
            <a:pPr algn="l">
              <a:defRPr sz="1800" b="1">
                <a:solidFill>
                  <a:srgbClr val="0D1B2A"/>
                </a:solidFill>
                <a:latin typeface="Calibri"/>
              </a:defRPr>
            </a:pPr>
            <a:r>
              <a:t>What Traditional Detection Lacks</a:t>
            </a:r>
          </a:p>
        </p:txBody>
      </p:sp>
      <p:sp>
        <p:nvSpPr>
          <p:cNvPr id="12" name="TextBox 11"/>
          <p:cNvSpPr txBox="1"/>
          <p:nvPr/>
        </p:nvSpPr>
        <p:spPr>
          <a:xfrm>
            <a:off x="4754880" y="2670048"/>
            <a:ext cx="6858000" cy="365760"/>
          </a:xfrm>
          <a:prstGeom prst="rect">
            <a:avLst/>
          </a:prstGeom>
          <a:noFill/>
        </p:spPr>
        <p:txBody>
          <a:bodyPr wrap="square">
            <a:spAutoFit/>
          </a:bodyPr>
          <a:lstStyle/>
          <a:p>
            <a:pPr algn="l">
              <a:defRPr sz="1500" b="0">
                <a:solidFill>
                  <a:srgbClr val="505050"/>
                </a:solidFill>
                <a:latin typeface="Calibri"/>
              </a:defRPr>
            </a:pPr>
            <a:r>
              <a:t>Flagged as anomalous — but with no actionable direction</a:t>
            </a:r>
          </a:p>
        </p:txBody>
      </p:sp>
      <p:sp>
        <p:nvSpPr>
          <p:cNvPr id="13" name="Rounded Rectangle 12"/>
          <p:cNvSpPr/>
          <p:nvPr/>
        </p:nvSpPr>
        <p:spPr>
          <a:xfrm>
            <a:off x="731520" y="3291839"/>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4</a:t>
            </a:r>
          </a:p>
        </p:txBody>
      </p:sp>
      <p:sp>
        <p:nvSpPr>
          <p:cNvPr id="14" name="TextBox 13"/>
          <p:cNvSpPr txBox="1"/>
          <p:nvPr/>
        </p:nvSpPr>
        <p:spPr>
          <a:xfrm>
            <a:off x="1371600" y="3291839"/>
            <a:ext cx="3200400" cy="365760"/>
          </a:xfrm>
          <a:prstGeom prst="rect">
            <a:avLst/>
          </a:prstGeom>
          <a:noFill/>
        </p:spPr>
        <p:txBody>
          <a:bodyPr wrap="square">
            <a:spAutoFit/>
          </a:bodyPr>
          <a:lstStyle/>
          <a:p>
            <a:pPr algn="l">
              <a:defRPr sz="1800" b="1">
                <a:solidFill>
                  <a:srgbClr val="0D1B2A"/>
                </a:solidFill>
                <a:latin typeface="Calibri"/>
              </a:defRPr>
            </a:pPr>
            <a:r>
              <a:t>How V-Intelligence UEBA Changes Detection</a:t>
            </a:r>
          </a:p>
        </p:txBody>
      </p:sp>
      <p:sp>
        <p:nvSpPr>
          <p:cNvPr id="15" name="TextBox 14"/>
          <p:cNvSpPr txBox="1"/>
          <p:nvPr/>
        </p:nvSpPr>
        <p:spPr>
          <a:xfrm>
            <a:off x="4754880" y="3310127"/>
            <a:ext cx="6858000" cy="365760"/>
          </a:xfrm>
          <a:prstGeom prst="rect">
            <a:avLst/>
          </a:prstGeom>
          <a:noFill/>
        </p:spPr>
        <p:txBody>
          <a:bodyPr wrap="square">
            <a:spAutoFit/>
          </a:bodyPr>
          <a:lstStyle/>
          <a:p>
            <a:pPr algn="l">
              <a:defRPr sz="1500" b="0">
                <a:solidFill>
                  <a:srgbClr val="505050"/>
                </a:solidFill>
                <a:latin typeface="Calibri"/>
              </a:defRPr>
            </a:pPr>
            <a:r>
              <a:t>Building a behavioral digital entity for every user</a:t>
            </a:r>
          </a:p>
        </p:txBody>
      </p:sp>
      <p:sp>
        <p:nvSpPr>
          <p:cNvPr id="16" name="Rounded Rectangle 15"/>
          <p:cNvSpPr/>
          <p:nvPr/>
        </p:nvSpPr>
        <p:spPr>
          <a:xfrm>
            <a:off x="731520" y="393192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5</a:t>
            </a:r>
          </a:p>
        </p:txBody>
      </p:sp>
      <p:sp>
        <p:nvSpPr>
          <p:cNvPr id="17" name="TextBox 16"/>
          <p:cNvSpPr txBox="1"/>
          <p:nvPr/>
        </p:nvSpPr>
        <p:spPr>
          <a:xfrm>
            <a:off x="1371600" y="3931920"/>
            <a:ext cx="3200400" cy="365760"/>
          </a:xfrm>
          <a:prstGeom prst="rect">
            <a:avLst/>
          </a:prstGeom>
          <a:noFill/>
        </p:spPr>
        <p:txBody>
          <a:bodyPr wrap="square">
            <a:spAutoFit/>
          </a:bodyPr>
          <a:lstStyle/>
          <a:p>
            <a:pPr algn="l">
              <a:defRPr sz="1800" b="1">
                <a:solidFill>
                  <a:srgbClr val="0D1B2A"/>
                </a:solidFill>
                <a:latin typeface="Calibri"/>
              </a:defRPr>
            </a:pPr>
            <a:r>
              <a:t>Composite Scoring: 5-Phase Detection</a:t>
            </a:r>
          </a:p>
        </p:txBody>
      </p:sp>
      <p:sp>
        <p:nvSpPr>
          <p:cNvPr id="18" name="TextBox 17"/>
          <p:cNvSpPr txBox="1"/>
          <p:nvPr/>
        </p:nvSpPr>
        <p:spPr>
          <a:xfrm>
            <a:off x="4754880" y="3950208"/>
            <a:ext cx="6858000" cy="365760"/>
          </a:xfrm>
          <a:prstGeom prst="rect">
            <a:avLst/>
          </a:prstGeom>
          <a:noFill/>
        </p:spPr>
        <p:txBody>
          <a:bodyPr wrap="square">
            <a:spAutoFit/>
          </a:bodyPr>
          <a:lstStyle/>
          <a:p>
            <a:pPr algn="l">
              <a:defRPr sz="1500" b="0">
                <a:solidFill>
                  <a:srgbClr val="505050"/>
                </a:solidFill>
                <a:latin typeface="Calibri"/>
              </a:defRPr>
            </a:pPr>
            <a:r>
              <a:t>The scoring engine that separates attackers from noise</a:t>
            </a:r>
          </a:p>
        </p:txBody>
      </p:sp>
      <p:sp>
        <p:nvSpPr>
          <p:cNvPr id="19" name="Rounded Rectangle 18"/>
          <p:cNvSpPr/>
          <p:nvPr/>
        </p:nvSpPr>
        <p:spPr>
          <a:xfrm>
            <a:off x="731520" y="457200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6</a:t>
            </a:r>
          </a:p>
        </p:txBody>
      </p:sp>
      <p:sp>
        <p:nvSpPr>
          <p:cNvPr id="20" name="TextBox 19"/>
          <p:cNvSpPr txBox="1"/>
          <p:nvPr/>
        </p:nvSpPr>
        <p:spPr>
          <a:xfrm>
            <a:off x="1371600" y="4572000"/>
            <a:ext cx="3200400" cy="365760"/>
          </a:xfrm>
          <a:prstGeom prst="rect">
            <a:avLst/>
          </a:prstGeom>
          <a:noFill/>
        </p:spPr>
        <p:txBody>
          <a:bodyPr wrap="square">
            <a:spAutoFit/>
          </a:bodyPr>
          <a:lstStyle/>
          <a:p>
            <a:pPr algn="l">
              <a:defRPr sz="1800" b="1">
                <a:solidFill>
                  <a:srgbClr val="0D1B2A"/>
                </a:solidFill>
                <a:latin typeface="Calibri"/>
              </a:defRPr>
            </a:pPr>
            <a:r>
              <a:t>Head-to-Head Results</a:t>
            </a:r>
          </a:p>
        </p:txBody>
      </p:sp>
      <p:sp>
        <p:nvSpPr>
          <p:cNvPr id="21" name="TextBox 20"/>
          <p:cNvSpPr txBox="1"/>
          <p:nvPr/>
        </p:nvSpPr>
        <p:spPr>
          <a:xfrm>
            <a:off x="4754880" y="4590288"/>
            <a:ext cx="6858000" cy="365760"/>
          </a:xfrm>
          <a:prstGeom prst="rect">
            <a:avLst/>
          </a:prstGeom>
          <a:noFill/>
        </p:spPr>
        <p:txBody>
          <a:bodyPr wrap="square">
            <a:spAutoFit/>
          </a:bodyPr>
          <a:lstStyle/>
          <a:p>
            <a:pPr algn="l">
              <a:defRPr sz="1500" b="0">
                <a:solidFill>
                  <a:srgbClr val="505050"/>
                </a:solidFill>
                <a:latin typeface="Calibri"/>
              </a:defRPr>
            </a:pPr>
            <a:r>
              <a:t>Same data, same users — completely different outcomes</a:t>
            </a:r>
          </a:p>
        </p:txBody>
      </p:sp>
      <p:sp>
        <p:nvSpPr>
          <p:cNvPr id="22" name="Rounded Rectangle 21"/>
          <p:cNvSpPr/>
          <p:nvPr/>
        </p:nvSpPr>
        <p:spPr>
          <a:xfrm>
            <a:off x="731520" y="5212079"/>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7</a:t>
            </a:r>
          </a:p>
        </p:txBody>
      </p:sp>
      <p:sp>
        <p:nvSpPr>
          <p:cNvPr id="23" name="TextBox 22"/>
          <p:cNvSpPr txBox="1"/>
          <p:nvPr/>
        </p:nvSpPr>
        <p:spPr>
          <a:xfrm>
            <a:off x="1371600" y="5212079"/>
            <a:ext cx="3200400" cy="365760"/>
          </a:xfrm>
          <a:prstGeom prst="rect">
            <a:avLst/>
          </a:prstGeom>
          <a:noFill/>
        </p:spPr>
        <p:txBody>
          <a:bodyPr wrap="square">
            <a:spAutoFit/>
          </a:bodyPr>
          <a:lstStyle/>
          <a:p>
            <a:pPr algn="l">
              <a:defRPr sz="1800" b="1">
                <a:solidFill>
                  <a:srgbClr val="0D1B2A"/>
                </a:solidFill>
                <a:latin typeface="Calibri"/>
              </a:defRPr>
            </a:pPr>
            <a:r>
              <a:t>Per-Attacker Analysis</a:t>
            </a:r>
          </a:p>
        </p:txBody>
      </p:sp>
      <p:sp>
        <p:nvSpPr>
          <p:cNvPr id="24" name="TextBox 23"/>
          <p:cNvSpPr txBox="1"/>
          <p:nvPr/>
        </p:nvSpPr>
        <p:spPr>
          <a:xfrm>
            <a:off x="4754880" y="5230367"/>
            <a:ext cx="6858000" cy="365760"/>
          </a:xfrm>
          <a:prstGeom prst="rect">
            <a:avLst/>
          </a:prstGeom>
          <a:noFill/>
        </p:spPr>
        <p:txBody>
          <a:bodyPr wrap="square">
            <a:spAutoFit/>
          </a:bodyPr>
          <a:lstStyle/>
          <a:p>
            <a:pPr algn="l">
              <a:defRPr sz="1500" b="0">
                <a:solidFill>
                  <a:srgbClr val="505050"/>
                </a:solidFill>
                <a:latin typeface="Calibri"/>
              </a:defRPr>
            </a:pPr>
            <a:r>
              <a:t>Why each attack type requires a different detection phase</a:t>
            </a:r>
          </a:p>
        </p:txBody>
      </p:sp>
      <p:sp>
        <p:nvSpPr>
          <p:cNvPr id="25" name="Rounded Rectangle 24"/>
          <p:cNvSpPr/>
          <p:nvPr/>
        </p:nvSpPr>
        <p:spPr>
          <a:xfrm>
            <a:off x="731520" y="5852159"/>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8</a:t>
            </a:r>
          </a:p>
        </p:txBody>
      </p:sp>
      <p:sp>
        <p:nvSpPr>
          <p:cNvPr id="26" name="TextBox 25"/>
          <p:cNvSpPr txBox="1"/>
          <p:nvPr/>
        </p:nvSpPr>
        <p:spPr>
          <a:xfrm>
            <a:off x="1371600" y="5852159"/>
            <a:ext cx="3200400" cy="365760"/>
          </a:xfrm>
          <a:prstGeom prst="rect">
            <a:avLst/>
          </a:prstGeom>
          <a:noFill/>
        </p:spPr>
        <p:txBody>
          <a:bodyPr wrap="square">
            <a:spAutoFit/>
          </a:bodyPr>
          <a:lstStyle/>
          <a:p>
            <a:pPr algn="l">
              <a:defRPr sz="1800" b="1">
                <a:solidFill>
                  <a:srgbClr val="0D1B2A"/>
                </a:solidFill>
                <a:latin typeface="Calibri"/>
              </a:defRPr>
            </a:pPr>
            <a:r>
              <a:t>Real-World Validation: Salt Typhoon</a:t>
            </a:r>
          </a:p>
        </p:txBody>
      </p:sp>
      <p:sp>
        <p:nvSpPr>
          <p:cNvPr id="27" name="TextBox 26"/>
          <p:cNvSpPr txBox="1"/>
          <p:nvPr/>
        </p:nvSpPr>
        <p:spPr>
          <a:xfrm>
            <a:off x="4754880" y="5870447"/>
            <a:ext cx="6858000" cy="365760"/>
          </a:xfrm>
          <a:prstGeom prst="rect">
            <a:avLst/>
          </a:prstGeom>
          <a:noFill/>
        </p:spPr>
        <p:txBody>
          <a:bodyPr wrap="square">
            <a:spAutoFit/>
          </a:bodyPr>
          <a:lstStyle/>
          <a:p>
            <a:pPr algn="l">
              <a:defRPr sz="1500" b="0">
                <a:solidFill>
                  <a:srgbClr val="505050"/>
                </a:solidFill>
                <a:latin typeface="Calibri"/>
              </a:defRPr>
            </a:pPr>
            <a:r>
              <a:t>5 years undetected — and why V-Intelligence UEBA catches it</a:t>
            </a:r>
          </a:p>
        </p:txBody>
      </p:sp>
      <p:sp>
        <p:nvSpPr>
          <p:cNvPr id="28" name="Rounded Rectangle 27"/>
          <p:cNvSpPr/>
          <p:nvPr/>
        </p:nvSpPr>
        <p:spPr>
          <a:xfrm>
            <a:off x="731520" y="6492240"/>
            <a:ext cx="411480" cy="4114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9</a:t>
            </a:r>
          </a:p>
        </p:txBody>
      </p:sp>
      <p:sp>
        <p:nvSpPr>
          <p:cNvPr id="29" name="TextBox 28"/>
          <p:cNvSpPr txBox="1"/>
          <p:nvPr/>
        </p:nvSpPr>
        <p:spPr>
          <a:xfrm>
            <a:off x="1371600" y="6492240"/>
            <a:ext cx="3200400" cy="365760"/>
          </a:xfrm>
          <a:prstGeom prst="rect">
            <a:avLst/>
          </a:prstGeom>
          <a:noFill/>
        </p:spPr>
        <p:txBody>
          <a:bodyPr wrap="square">
            <a:spAutoFit/>
          </a:bodyPr>
          <a:lstStyle/>
          <a:p>
            <a:pPr algn="l">
              <a:defRPr sz="1800" b="1">
                <a:solidFill>
                  <a:srgbClr val="0D1B2A"/>
                </a:solidFill>
                <a:latin typeface="Calibri"/>
              </a:defRPr>
            </a:pPr>
            <a:r>
              <a:t>Business Impact</a:t>
            </a:r>
          </a:p>
        </p:txBody>
      </p:sp>
      <p:sp>
        <p:nvSpPr>
          <p:cNvPr id="30" name="TextBox 29"/>
          <p:cNvSpPr txBox="1"/>
          <p:nvPr/>
        </p:nvSpPr>
        <p:spPr>
          <a:xfrm>
            <a:off x="4754880" y="6510528"/>
            <a:ext cx="6858000" cy="365760"/>
          </a:xfrm>
          <a:prstGeom prst="rect">
            <a:avLst/>
          </a:prstGeom>
          <a:noFill/>
        </p:spPr>
        <p:txBody>
          <a:bodyPr wrap="square">
            <a:spAutoFit/>
          </a:bodyPr>
          <a:lstStyle/>
          <a:p>
            <a:pPr algn="l">
              <a:defRPr sz="1500" b="0">
                <a:solidFill>
                  <a:srgbClr val="505050"/>
                </a:solidFill>
                <a:latin typeface="Calibri"/>
              </a:defRPr>
            </a:pPr>
            <a:r>
              <a:t>What this means for your SOC, your analysts, and your risk posture</a:t>
            </a:r>
          </a:p>
        </p:txBody>
      </p:sp>
      <p:sp>
        <p:nvSpPr>
          <p:cNvPr id="31" name="TextBox 30"/>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The Problem: Modern Attacks Are Invisible to Traditional Detection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256032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71600"/>
            <a:ext cx="24688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2286000" cy="457200"/>
          </a:xfrm>
          <a:prstGeom prst="rect">
            <a:avLst/>
          </a:prstGeom>
          <a:noFill/>
        </p:spPr>
        <p:txBody>
          <a:bodyPr wrap="square">
            <a:spAutoFit/>
          </a:bodyPr>
          <a:lstStyle/>
          <a:p>
            <a:pPr algn="ctr">
              <a:defRPr sz="3200" b="1">
                <a:solidFill>
                  <a:srgbClr val="C0392B"/>
                </a:solidFill>
                <a:latin typeface="Calibri"/>
              </a:defRPr>
            </a:pPr>
            <a:r>
              <a:t>287 days</a:t>
            </a:r>
          </a:p>
        </p:txBody>
      </p:sp>
      <p:sp>
        <p:nvSpPr>
          <p:cNvPr id="7" name="TextBox 6"/>
          <p:cNvSpPr txBox="1"/>
          <p:nvPr/>
        </p:nvSpPr>
        <p:spPr>
          <a:xfrm>
            <a:off x="685800" y="2103120"/>
            <a:ext cx="2286000" cy="640080"/>
          </a:xfrm>
          <a:prstGeom prst="rect">
            <a:avLst/>
          </a:prstGeom>
          <a:noFill/>
        </p:spPr>
        <p:txBody>
          <a:bodyPr wrap="square">
            <a:spAutoFit/>
          </a:bodyPr>
          <a:lstStyle/>
          <a:p>
            <a:pPr algn="ctr">
              <a:defRPr sz="1300" b="0">
                <a:solidFill>
                  <a:srgbClr val="505050"/>
                </a:solidFill>
                <a:latin typeface="Calibri"/>
              </a:defRPr>
            </a:pPr>
            <a:r>
              <a:t>Average time to detect</a:t>
            </a:r>
            <a:br/>
            <a:r>
              <a:t>a breach (IBM 2024)</a:t>
            </a:r>
          </a:p>
        </p:txBody>
      </p:sp>
      <p:sp>
        <p:nvSpPr>
          <p:cNvPr id="8" name="Rounded Rectangle 7"/>
          <p:cNvSpPr/>
          <p:nvPr/>
        </p:nvSpPr>
        <p:spPr>
          <a:xfrm>
            <a:off x="3383280" y="1371600"/>
            <a:ext cx="256032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29000" y="1371600"/>
            <a:ext cx="24688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554480"/>
            <a:ext cx="2286000" cy="457200"/>
          </a:xfrm>
          <a:prstGeom prst="rect">
            <a:avLst/>
          </a:prstGeom>
          <a:noFill/>
        </p:spPr>
        <p:txBody>
          <a:bodyPr wrap="square">
            <a:spAutoFit/>
          </a:bodyPr>
          <a:lstStyle/>
          <a:p>
            <a:pPr algn="ctr">
              <a:defRPr sz="3200" b="1">
                <a:solidFill>
                  <a:srgbClr val="C0392B"/>
                </a:solidFill>
                <a:latin typeface="Calibri"/>
              </a:defRPr>
            </a:pPr>
            <a:r>
              <a:t>68%</a:t>
            </a:r>
          </a:p>
        </p:txBody>
      </p:sp>
      <p:sp>
        <p:nvSpPr>
          <p:cNvPr id="11" name="TextBox 10"/>
          <p:cNvSpPr txBox="1"/>
          <p:nvPr/>
        </p:nvSpPr>
        <p:spPr>
          <a:xfrm>
            <a:off x="3520440" y="2103120"/>
            <a:ext cx="2286000" cy="640080"/>
          </a:xfrm>
          <a:prstGeom prst="rect">
            <a:avLst/>
          </a:prstGeom>
          <a:noFill/>
        </p:spPr>
        <p:txBody>
          <a:bodyPr wrap="square">
            <a:spAutoFit/>
          </a:bodyPr>
          <a:lstStyle/>
          <a:p>
            <a:pPr algn="ctr">
              <a:defRPr sz="1300" b="0">
                <a:solidFill>
                  <a:srgbClr val="505050"/>
                </a:solidFill>
                <a:latin typeface="Calibri"/>
              </a:defRPr>
            </a:pPr>
            <a:r>
              <a:t>Of breaches involve</a:t>
            </a:r>
            <a:br/>
            <a:r>
              <a:t>human element (Verizon DBIR)</a:t>
            </a:r>
          </a:p>
        </p:txBody>
      </p:sp>
      <p:sp>
        <p:nvSpPr>
          <p:cNvPr id="12" name="Rounded Rectangle 11"/>
          <p:cNvSpPr/>
          <p:nvPr/>
        </p:nvSpPr>
        <p:spPr>
          <a:xfrm>
            <a:off x="6217920" y="1371600"/>
            <a:ext cx="256032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71600"/>
            <a:ext cx="24688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554480"/>
            <a:ext cx="2286000" cy="457200"/>
          </a:xfrm>
          <a:prstGeom prst="rect">
            <a:avLst/>
          </a:prstGeom>
          <a:noFill/>
        </p:spPr>
        <p:txBody>
          <a:bodyPr wrap="square">
            <a:spAutoFit/>
          </a:bodyPr>
          <a:lstStyle/>
          <a:p>
            <a:pPr algn="ctr">
              <a:defRPr sz="3200" b="1">
                <a:solidFill>
                  <a:srgbClr val="C0392B"/>
                </a:solidFill>
                <a:latin typeface="Calibri"/>
              </a:defRPr>
            </a:pPr>
            <a:r>
              <a:t>$4.88M</a:t>
            </a:r>
          </a:p>
        </p:txBody>
      </p:sp>
      <p:sp>
        <p:nvSpPr>
          <p:cNvPr id="15" name="TextBox 14"/>
          <p:cNvSpPr txBox="1"/>
          <p:nvPr/>
        </p:nvSpPr>
        <p:spPr>
          <a:xfrm>
            <a:off x="6355080" y="2103120"/>
            <a:ext cx="2286000" cy="640080"/>
          </a:xfrm>
          <a:prstGeom prst="rect">
            <a:avLst/>
          </a:prstGeom>
          <a:noFill/>
        </p:spPr>
        <p:txBody>
          <a:bodyPr wrap="square">
            <a:spAutoFit/>
          </a:bodyPr>
          <a:lstStyle/>
          <a:p>
            <a:pPr algn="ctr">
              <a:defRPr sz="1300" b="0">
                <a:solidFill>
                  <a:srgbClr val="505050"/>
                </a:solidFill>
                <a:latin typeface="Calibri"/>
              </a:defRPr>
            </a:pPr>
            <a:r>
              <a:t>Average cost of</a:t>
            </a:r>
            <a:br/>
            <a:r>
              <a:t>a data breach (IBM 2024)</a:t>
            </a:r>
          </a:p>
        </p:txBody>
      </p:sp>
      <p:sp>
        <p:nvSpPr>
          <p:cNvPr id="16" name="Rounded Rectangle 15"/>
          <p:cNvSpPr/>
          <p:nvPr/>
        </p:nvSpPr>
        <p:spPr>
          <a:xfrm>
            <a:off x="9052560" y="1371600"/>
            <a:ext cx="256032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98280" y="1371600"/>
            <a:ext cx="24688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1554480"/>
            <a:ext cx="2286000" cy="457200"/>
          </a:xfrm>
          <a:prstGeom prst="rect">
            <a:avLst/>
          </a:prstGeom>
          <a:noFill/>
        </p:spPr>
        <p:txBody>
          <a:bodyPr wrap="square">
            <a:spAutoFit/>
          </a:bodyPr>
          <a:lstStyle/>
          <a:p>
            <a:pPr algn="ctr">
              <a:defRPr sz="3200" b="1">
                <a:solidFill>
                  <a:srgbClr val="C0392B"/>
                </a:solidFill>
                <a:latin typeface="Calibri"/>
              </a:defRPr>
            </a:pPr>
            <a:r>
              <a:t>80%</a:t>
            </a:r>
          </a:p>
        </p:txBody>
      </p:sp>
      <p:sp>
        <p:nvSpPr>
          <p:cNvPr id="19" name="TextBox 18"/>
          <p:cNvSpPr txBox="1"/>
          <p:nvPr/>
        </p:nvSpPr>
        <p:spPr>
          <a:xfrm>
            <a:off x="9189720" y="2103120"/>
            <a:ext cx="2286000" cy="640080"/>
          </a:xfrm>
          <a:prstGeom prst="rect">
            <a:avLst/>
          </a:prstGeom>
          <a:noFill/>
        </p:spPr>
        <p:txBody>
          <a:bodyPr wrap="square">
            <a:spAutoFit/>
          </a:bodyPr>
          <a:lstStyle/>
          <a:p>
            <a:pPr algn="ctr">
              <a:defRPr sz="1300" b="0">
                <a:solidFill>
                  <a:srgbClr val="505050"/>
                </a:solidFill>
                <a:latin typeface="Calibri"/>
              </a:defRPr>
            </a:pPr>
            <a:r>
              <a:t>Of insider threats go</a:t>
            </a:r>
            <a:br/>
            <a:r>
              <a:t>undetected by SIEM rules</a:t>
            </a:r>
          </a:p>
        </p:txBody>
      </p:sp>
      <p:sp>
        <p:nvSpPr>
          <p:cNvPr id="20" name="Rounded Rectangle 19"/>
          <p:cNvSpPr/>
          <p:nvPr/>
        </p:nvSpPr>
        <p:spPr>
          <a:xfrm>
            <a:off x="548640" y="3200400"/>
            <a:ext cx="11064240" cy="1097280"/>
          </a:xfrm>
          <a:prstGeom prst="roundRect">
            <a:avLst/>
          </a:prstGeom>
          <a:solidFill>
            <a:srgbClr val="FFFBEB"/>
          </a:solid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291840"/>
            <a:ext cx="10515600" cy="365760"/>
          </a:xfrm>
          <a:prstGeom prst="rect">
            <a:avLst/>
          </a:prstGeom>
          <a:noFill/>
        </p:spPr>
        <p:txBody>
          <a:bodyPr wrap="square">
            <a:spAutoFit/>
          </a:bodyPr>
          <a:lstStyle/>
          <a:p>
            <a:pPr algn="l">
              <a:defRPr sz="1800" b="1">
                <a:solidFill>
                  <a:srgbClr val="B7950B"/>
                </a:solidFill>
                <a:latin typeface="Calibri"/>
              </a:defRPr>
            </a:pPr>
            <a:r>
              <a:t>The Core Challenge</a:t>
            </a:r>
          </a:p>
        </p:txBody>
      </p:sp>
      <p:sp>
        <p:nvSpPr>
          <p:cNvPr id="22" name="TextBox 21"/>
          <p:cNvSpPr txBox="1"/>
          <p:nvPr/>
        </p:nvSpPr>
        <p:spPr>
          <a:xfrm>
            <a:off x="822960" y="3657600"/>
            <a:ext cx="10515600" cy="548640"/>
          </a:xfrm>
          <a:prstGeom prst="rect">
            <a:avLst/>
          </a:prstGeom>
          <a:noFill/>
        </p:spPr>
        <p:txBody>
          <a:bodyPr wrap="square">
            <a:spAutoFit/>
          </a:bodyPr>
          <a:lstStyle/>
          <a:p>
            <a:pPr algn="l">
              <a:defRPr sz="1500" b="0">
                <a:solidFill>
                  <a:srgbClr val="505050"/>
                </a:solidFill>
                <a:latin typeface="Calibri"/>
              </a:defRPr>
            </a:pPr>
            <a:r>
              <a:t>Today's sophisticated attackers — nation-state APTs, patient insiders, living-off-the-land operators — don't trigger alarms because they deliberately stay within normal statistical boundaries. No single metric is abnormal. The attack is in the pattern, not the threshold.</a:t>
            </a:r>
          </a:p>
        </p:txBody>
      </p:sp>
      <p:sp>
        <p:nvSpPr>
          <p:cNvPr id="23" name="Rounded Rectangle 22"/>
          <p:cNvSpPr/>
          <p:nvPr/>
        </p:nvSpPr>
        <p:spPr>
          <a:xfrm>
            <a:off x="548640" y="4663440"/>
            <a:ext cx="347472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663440"/>
            <a:ext cx="33832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846320"/>
            <a:ext cx="3200400" cy="320040"/>
          </a:xfrm>
          <a:prstGeom prst="rect">
            <a:avLst/>
          </a:prstGeom>
          <a:noFill/>
        </p:spPr>
        <p:txBody>
          <a:bodyPr wrap="square">
            <a:spAutoFit/>
          </a:bodyPr>
          <a:lstStyle/>
          <a:p>
            <a:pPr algn="l">
              <a:defRPr sz="1600" b="1">
                <a:solidFill>
                  <a:srgbClr val="C0392B"/>
                </a:solidFill>
                <a:latin typeface="Calibri"/>
              </a:defRPr>
            </a:pPr>
            <a:r>
              <a:t>Insider Threat</a:t>
            </a:r>
          </a:p>
        </p:txBody>
      </p:sp>
      <p:sp>
        <p:nvSpPr>
          <p:cNvPr id="26" name="TextBox 25"/>
          <p:cNvSpPr txBox="1"/>
          <p:nvPr/>
        </p:nvSpPr>
        <p:spPr>
          <a:xfrm>
            <a:off x="685800" y="5120640"/>
            <a:ext cx="3200400" cy="274320"/>
          </a:xfrm>
          <a:prstGeom prst="rect">
            <a:avLst/>
          </a:prstGeom>
          <a:noFill/>
        </p:spPr>
        <p:txBody>
          <a:bodyPr wrap="square">
            <a:spAutoFit/>
          </a:bodyPr>
          <a:lstStyle/>
          <a:p>
            <a:pPr algn="l">
              <a:defRPr sz="1200" b="0">
                <a:solidFill>
                  <a:srgbClr val="969696"/>
                </a:solidFill>
                <a:latin typeface="Calibri"/>
              </a:defRPr>
            </a:pPr>
            <a:r>
              <a:t>14-month slow escalation</a:t>
            </a:r>
          </a:p>
        </p:txBody>
      </p:sp>
      <p:sp>
        <p:nvSpPr>
          <p:cNvPr id="27" name="TextBox 26"/>
          <p:cNvSpPr txBox="1"/>
          <p:nvPr/>
        </p:nvSpPr>
        <p:spPr>
          <a:xfrm>
            <a:off x="685800" y="5440680"/>
            <a:ext cx="3200400" cy="640080"/>
          </a:xfrm>
          <a:prstGeom prst="rect">
            <a:avLst/>
          </a:prstGeom>
          <a:noFill/>
        </p:spPr>
        <p:txBody>
          <a:bodyPr wrap="square">
            <a:spAutoFit/>
          </a:bodyPr>
          <a:lstStyle/>
          <a:p>
            <a:pPr algn="l">
              <a:defRPr sz="1300" b="0">
                <a:solidFill>
                  <a:srgbClr val="505050"/>
                </a:solidFill>
                <a:latin typeface="Calibri"/>
              </a:defRPr>
            </a:pPr>
            <a:r>
              <a:t>Accesses 5% more files per week.</a:t>
            </a:r>
            <a:br/>
            <a:r>
              <a:t>Never crosses a threshold.</a:t>
            </a:r>
          </a:p>
        </p:txBody>
      </p:sp>
      <p:sp>
        <p:nvSpPr>
          <p:cNvPr id="28" name="Rounded Rectangle 27"/>
          <p:cNvSpPr/>
          <p:nvPr/>
        </p:nvSpPr>
        <p:spPr>
          <a:xfrm>
            <a:off x="4297679" y="4663440"/>
            <a:ext cx="347472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43399" y="4663440"/>
            <a:ext cx="338328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39" y="4846320"/>
            <a:ext cx="3200400" cy="320040"/>
          </a:xfrm>
          <a:prstGeom prst="rect">
            <a:avLst/>
          </a:prstGeom>
          <a:noFill/>
        </p:spPr>
        <p:txBody>
          <a:bodyPr wrap="square">
            <a:spAutoFit/>
          </a:bodyPr>
          <a:lstStyle/>
          <a:p>
            <a:pPr algn="l">
              <a:defRPr sz="1600" b="1">
                <a:solidFill>
                  <a:srgbClr val="E67E22"/>
                </a:solidFill>
                <a:latin typeface="Calibri"/>
              </a:defRPr>
            </a:pPr>
            <a:r>
              <a:t>Nation-State APT</a:t>
            </a:r>
          </a:p>
        </p:txBody>
      </p:sp>
      <p:sp>
        <p:nvSpPr>
          <p:cNvPr id="31" name="TextBox 30"/>
          <p:cNvSpPr txBox="1"/>
          <p:nvPr/>
        </p:nvSpPr>
        <p:spPr>
          <a:xfrm>
            <a:off x="4434839" y="5120640"/>
            <a:ext cx="3200400" cy="274320"/>
          </a:xfrm>
          <a:prstGeom prst="rect">
            <a:avLst/>
          </a:prstGeom>
          <a:noFill/>
        </p:spPr>
        <p:txBody>
          <a:bodyPr wrap="square">
            <a:spAutoFit/>
          </a:bodyPr>
          <a:lstStyle/>
          <a:p>
            <a:pPr algn="l">
              <a:defRPr sz="1200" b="0">
                <a:solidFill>
                  <a:srgbClr val="969696"/>
                </a:solidFill>
                <a:latin typeface="Calibri"/>
              </a:defRPr>
            </a:pPr>
            <a:r>
              <a:t>417-day persistent access</a:t>
            </a:r>
          </a:p>
        </p:txBody>
      </p:sp>
      <p:sp>
        <p:nvSpPr>
          <p:cNvPr id="32" name="TextBox 31"/>
          <p:cNvSpPr txBox="1"/>
          <p:nvPr/>
        </p:nvSpPr>
        <p:spPr>
          <a:xfrm>
            <a:off x="4434839" y="5440680"/>
            <a:ext cx="3200400" cy="640080"/>
          </a:xfrm>
          <a:prstGeom prst="rect">
            <a:avLst/>
          </a:prstGeom>
          <a:noFill/>
        </p:spPr>
        <p:txBody>
          <a:bodyPr wrap="square">
            <a:spAutoFit/>
          </a:bodyPr>
          <a:lstStyle/>
          <a:p>
            <a:pPr algn="l">
              <a:defRPr sz="1300" b="0">
                <a:solidFill>
                  <a:srgbClr val="505050"/>
                </a:solidFill>
                <a:latin typeface="Calibri"/>
              </a:defRPr>
            </a:pPr>
            <a:r>
              <a:t>Uses legitimate tools and protocols.</a:t>
            </a:r>
            <a:br/>
            <a:r>
              <a:t>Blends with normal traffic.</a:t>
            </a:r>
          </a:p>
        </p:txBody>
      </p:sp>
      <p:sp>
        <p:nvSpPr>
          <p:cNvPr id="33" name="Rounded Rectangle 32"/>
          <p:cNvSpPr/>
          <p:nvPr/>
        </p:nvSpPr>
        <p:spPr>
          <a:xfrm>
            <a:off x="8046719" y="4663440"/>
            <a:ext cx="347472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92439" y="4663440"/>
            <a:ext cx="338328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79" y="4846320"/>
            <a:ext cx="3200400" cy="320040"/>
          </a:xfrm>
          <a:prstGeom prst="rect">
            <a:avLst/>
          </a:prstGeom>
          <a:noFill/>
        </p:spPr>
        <p:txBody>
          <a:bodyPr wrap="square">
            <a:spAutoFit/>
          </a:bodyPr>
          <a:lstStyle/>
          <a:p>
            <a:pPr algn="l">
              <a:defRPr sz="1600" b="1">
                <a:solidFill>
                  <a:srgbClr val="8E44AD"/>
                </a:solidFill>
                <a:latin typeface="Calibri"/>
              </a:defRPr>
            </a:pPr>
            <a:r>
              <a:t>Living-off-the-Land</a:t>
            </a:r>
          </a:p>
        </p:txBody>
      </p:sp>
      <p:sp>
        <p:nvSpPr>
          <p:cNvPr id="36" name="TextBox 35"/>
          <p:cNvSpPr txBox="1"/>
          <p:nvPr/>
        </p:nvSpPr>
        <p:spPr>
          <a:xfrm>
            <a:off x="8183879" y="5120640"/>
            <a:ext cx="3200400" cy="274320"/>
          </a:xfrm>
          <a:prstGeom prst="rect">
            <a:avLst/>
          </a:prstGeom>
          <a:noFill/>
        </p:spPr>
        <p:txBody>
          <a:bodyPr wrap="square">
            <a:spAutoFit/>
          </a:bodyPr>
          <a:lstStyle/>
          <a:p>
            <a:pPr algn="l">
              <a:defRPr sz="1200" b="0">
                <a:solidFill>
                  <a:srgbClr val="969696"/>
                </a:solidFill>
                <a:latin typeface="Calibri"/>
              </a:defRPr>
            </a:pPr>
            <a:r>
              <a:t>Uses built-in system tools</a:t>
            </a:r>
          </a:p>
        </p:txBody>
      </p:sp>
      <p:sp>
        <p:nvSpPr>
          <p:cNvPr id="37" name="TextBox 36"/>
          <p:cNvSpPr txBox="1"/>
          <p:nvPr/>
        </p:nvSpPr>
        <p:spPr>
          <a:xfrm>
            <a:off x="8183879" y="5440680"/>
            <a:ext cx="3200400" cy="640080"/>
          </a:xfrm>
          <a:prstGeom prst="rect">
            <a:avLst/>
          </a:prstGeom>
          <a:noFill/>
        </p:spPr>
        <p:txBody>
          <a:bodyPr wrap="square">
            <a:spAutoFit/>
          </a:bodyPr>
          <a:lstStyle/>
          <a:p>
            <a:pPr algn="l">
              <a:defRPr sz="1300" b="0">
                <a:solidFill>
                  <a:srgbClr val="505050"/>
                </a:solidFill>
                <a:latin typeface="Calibri"/>
              </a:defRPr>
            </a:pPr>
            <a:r>
              <a:t>No malware to detect. Appears as</a:t>
            </a:r>
            <a:br/>
            <a:r>
              <a:t>normal admin activity.</a:t>
            </a:r>
          </a:p>
        </p:txBody>
      </p:sp>
      <p:sp>
        <p:nvSpPr>
          <p:cNvPr id="38" name="TextBox 37"/>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How Traditional Detection Works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457200"/>
          </a:xfrm>
          <a:prstGeom prst="rect">
            <a:avLst/>
          </a:prstGeom>
          <a:noFill/>
        </p:spPr>
        <p:txBody>
          <a:bodyPr wrap="square">
            <a:spAutoFit/>
          </a:bodyPr>
          <a:lstStyle/>
          <a:p>
            <a:pPr algn="l">
              <a:defRPr sz="1600" b="0">
                <a:solidFill>
                  <a:srgbClr val="505050"/>
                </a:solidFill>
                <a:latin typeface="Calibri"/>
              </a:defRPr>
            </a:pPr>
            <a:r>
              <a:t>Traditional SIEM and anomaly detection tools rely on statistical thresholds applied to individual metrics.</a:t>
            </a:r>
          </a:p>
        </p:txBody>
      </p:sp>
      <p:sp>
        <p:nvSpPr>
          <p:cNvPr id="5" name="Rounded Rectangle 4"/>
          <p:cNvSpPr/>
          <p:nvPr/>
        </p:nvSpPr>
        <p:spPr>
          <a:xfrm>
            <a:off x="548640" y="1737360"/>
            <a:ext cx="2560320" cy="1371600"/>
          </a:xfrm>
          <a:prstGeom prst="roundRect">
            <a:avLst/>
          </a:prstGeom>
          <a:solidFill>
            <a:srgbClr val="D6EAF8"/>
          </a:solid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2286000" cy="365760"/>
          </a:xfrm>
          <a:prstGeom prst="rect">
            <a:avLst/>
          </a:prstGeom>
          <a:noFill/>
        </p:spPr>
        <p:txBody>
          <a:bodyPr wrap="square">
            <a:spAutoFit/>
          </a:bodyPr>
          <a:lstStyle/>
          <a:p>
            <a:pPr algn="ctr">
              <a:defRPr sz="1500" b="1">
                <a:solidFill>
                  <a:srgbClr val="1B4F72"/>
                </a:solidFill>
                <a:latin typeface="Calibri"/>
              </a:defRPr>
            </a:pPr>
            <a:r>
              <a:t>Authentication</a:t>
            </a:r>
          </a:p>
        </p:txBody>
      </p:sp>
      <p:sp>
        <p:nvSpPr>
          <p:cNvPr id="7" name="TextBox 6"/>
          <p:cNvSpPr txBox="1"/>
          <p:nvPr/>
        </p:nvSpPr>
        <p:spPr>
          <a:xfrm>
            <a:off x="685800" y="2194560"/>
            <a:ext cx="2286000" cy="731520"/>
          </a:xfrm>
          <a:prstGeom prst="rect">
            <a:avLst/>
          </a:prstGeom>
          <a:noFill/>
        </p:spPr>
        <p:txBody>
          <a:bodyPr wrap="square">
            <a:spAutoFit/>
          </a:bodyPr>
          <a:lstStyle/>
          <a:p>
            <a:pPr algn="ctr">
              <a:defRPr sz="1200" b="0">
                <a:solidFill>
                  <a:srgbClr val="505050"/>
                </a:solidFill>
                <a:latin typeface="Calibri"/>
              </a:defRPr>
            </a:pPr>
            <a:r>
              <a:t>Login counts, failure rates,</a:t>
            </a:r>
            <a:br/>
            <a:r>
              <a:t>off-hours access ratios</a:t>
            </a:r>
          </a:p>
        </p:txBody>
      </p:sp>
      <p:sp>
        <p:nvSpPr>
          <p:cNvPr id="8" name="Rounded Rectangle 7"/>
          <p:cNvSpPr/>
          <p:nvPr/>
        </p:nvSpPr>
        <p:spPr>
          <a:xfrm>
            <a:off x="3383280" y="1737360"/>
            <a:ext cx="2560320" cy="1371600"/>
          </a:xfrm>
          <a:prstGeom prst="roundRect">
            <a:avLst/>
          </a:prstGeom>
          <a:solidFill>
            <a:srgbClr val="D6EAF8"/>
          </a:solid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828800"/>
            <a:ext cx="2286000" cy="365760"/>
          </a:xfrm>
          <a:prstGeom prst="rect">
            <a:avLst/>
          </a:prstGeom>
          <a:noFill/>
        </p:spPr>
        <p:txBody>
          <a:bodyPr wrap="square">
            <a:spAutoFit/>
          </a:bodyPr>
          <a:lstStyle/>
          <a:p>
            <a:pPr algn="ctr">
              <a:defRPr sz="1500" b="1">
                <a:solidFill>
                  <a:srgbClr val="1B4F72"/>
                </a:solidFill>
                <a:latin typeface="Calibri"/>
              </a:defRPr>
            </a:pPr>
            <a:r>
              <a:t>File Access</a:t>
            </a:r>
          </a:p>
        </p:txBody>
      </p:sp>
      <p:sp>
        <p:nvSpPr>
          <p:cNvPr id="10" name="TextBox 9"/>
          <p:cNvSpPr txBox="1"/>
          <p:nvPr/>
        </p:nvSpPr>
        <p:spPr>
          <a:xfrm>
            <a:off x="3520440" y="2194560"/>
            <a:ext cx="2286000" cy="731520"/>
          </a:xfrm>
          <a:prstGeom prst="rect">
            <a:avLst/>
          </a:prstGeom>
          <a:noFill/>
        </p:spPr>
        <p:txBody>
          <a:bodyPr wrap="square">
            <a:spAutoFit/>
          </a:bodyPr>
          <a:lstStyle/>
          <a:p>
            <a:pPr algn="ctr">
              <a:defRPr sz="1200" b="0">
                <a:solidFill>
                  <a:srgbClr val="505050"/>
                </a:solidFill>
                <a:latin typeface="Calibri"/>
              </a:defRPr>
            </a:pPr>
            <a:r>
              <a:t>Files opened, sensitive file ratios,</a:t>
            </a:r>
            <a:br/>
            <a:r>
              <a:t>write operations, bytes transferred</a:t>
            </a:r>
          </a:p>
        </p:txBody>
      </p:sp>
      <p:sp>
        <p:nvSpPr>
          <p:cNvPr id="11" name="Rounded Rectangle 10"/>
          <p:cNvSpPr/>
          <p:nvPr/>
        </p:nvSpPr>
        <p:spPr>
          <a:xfrm>
            <a:off x="6217920" y="1737360"/>
            <a:ext cx="2560320" cy="1371600"/>
          </a:xfrm>
          <a:prstGeom prst="roundRect">
            <a:avLst/>
          </a:prstGeom>
          <a:solidFill>
            <a:srgbClr val="D6EAF8"/>
          </a:solid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28800"/>
            <a:ext cx="2286000" cy="365760"/>
          </a:xfrm>
          <a:prstGeom prst="rect">
            <a:avLst/>
          </a:prstGeom>
          <a:noFill/>
        </p:spPr>
        <p:txBody>
          <a:bodyPr wrap="square">
            <a:spAutoFit/>
          </a:bodyPr>
          <a:lstStyle/>
          <a:p>
            <a:pPr algn="ctr">
              <a:defRPr sz="1500" b="1">
                <a:solidFill>
                  <a:srgbClr val="1B4F72"/>
                </a:solidFill>
                <a:latin typeface="Calibri"/>
              </a:defRPr>
            </a:pPr>
            <a:r>
              <a:t>Network</a:t>
            </a:r>
          </a:p>
        </p:txBody>
      </p:sp>
      <p:sp>
        <p:nvSpPr>
          <p:cNvPr id="13" name="TextBox 12"/>
          <p:cNvSpPr txBox="1"/>
          <p:nvPr/>
        </p:nvSpPr>
        <p:spPr>
          <a:xfrm>
            <a:off x="6355080" y="2194560"/>
            <a:ext cx="2286000" cy="731520"/>
          </a:xfrm>
          <a:prstGeom prst="rect">
            <a:avLst/>
          </a:prstGeom>
          <a:noFill/>
        </p:spPr>
        <p:txBody>
          <a:bodyPr wrap="square">
            <a:spAutoFit/>
          </a:bodyPr>
          <a:lstStyle/>
          <a:p>
            <a:pPr algn="ctr">
              <a:defRPr sz="1200" b="0">
                <a:solidFill>
                  <a:srgbClr val="505050"/>
                </a:solidFill>
                <a:latin typeface="Calibri"/>
              </a:defRPr>
            </a:pPr>
            <a:r>
              <a:t>Bytes sent, unique destinations,</a:t>
            </a:r>
            <a:br/>
            <a:r>
              <a:t>external connection ratios</a:t>
            </a:r>
          </a:p>
        </p:txBody>
      </p:sp>
      <p:sp>
        <p:nvSpPr>
          <p:cNvPr id="14" name="Rounded Rectangle 13"/>
          <p:cNvSpPr/>
          <p:nvPr/>
        </p:nvSpPr>
        <p:spPr>
          <a:xfrm>
            <a:off x="9052560" y="1737360"/>
            <a:ext cx="2560320" cy="1371600"/>
          </a:xfrm>
          <a:prstGeom prst="roundRect">
            <a:avLst/>
          </a:prstGeom>
          <a:solidFill>
            <a:srgbClr val="D6EAF8"/>
          </a:solid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1828800"/>
            <a:ext cx="2286000" cy="365760"/>
          </a:xfrm>
          <a:prstGeom prst="rect">
            <a:avLst/>
          </a:prstGeom>
          <a:noFill/>
        </p:spPr>
        <p:txBody>
          <a:bodyPr wrap="square">
            <a:spAutoFit/>
          </a:bodyPr>
          <a:lstStyle/>
          <a:p>
            <a:pPr algn="ctr">
              <a:defRPr sz="1500" b="1">
                <a:solidFill>
                  <a:srgbClr val="1B4F72"/>
                </a:solidFill>
                <a:latin typeface="Calibri"/>
              </a:defRPr>
            </a:pPr>
            <a:r>
              <a:t>Endpoint</a:t>
            </a:r>
          </a:p>
        </p:txBody>
      </p:sp>
      <p:sp>
        <p:nvSpPr>
          <p:cNvPr id="16" name="TextBox 15"/>
          <p:cNvSpPr txBox="1"/>
          <p:nvPr/>
        </p:nvSpPr>
        <p:spPr>
          <a:xfrm>
            <a:off x="9189720" y="2194560"/>
            <a:ext cx="2286000" cy="731520"/>
          </a:xfrm>
          <a:prstGeom prst="rect">
            <a:avLst/>
          </a:prstGeom>
          <a:noFill/>
        </p:spPr>
        <p:txBody>
          <a:bodyPr wrap="square">
            <a:spAutoFit/>
          </a:bodyPr>
          <a:lstStyle/>
          <a:p>
            <a:pPr algn="ctr">
              <a:defRPr sz="1200" b="0">
                <a:solidFill>
                  <a:srgbClr val="505050"/>
                </a:solidFill>
                <a:latin typeface="Calibri"/>
              </a:defRPr>
            </a:pPr>
            <a:r>
              <a:t>Process risk scores, suspicious</a:t>
            </a:r>
            <a:br/>
            <a:r>
              <a:t>process ratios, unique processes</a:t>
            </a:r>
          </a:p>
        </p:txBody>
      </p:sp>
      <p:sp>
        <p:nvSpPr>
          <p:cNvPr id="17" name="TextBox 16"/>
          <p:cNvSpPr txBox="1"/>
          <p:nvPr/>
        </p:nvSpPr>
        <p:spPr>
          <a:xfrm>
            <a:off x="548640" y="3383280"/>
            <a:ext cx="10972800" cy="365760"/>
          </a:xfrm>
          <a:prstGeom prst="rect">
            <a:avLst/>
          </a:prstGeom>
          <a:noFill/>
        </p:spPr>
        <p:txBody>
          <a:bodyPr wrap="square">
            <a:spAutoFit/>
          </a:bodyPr>
          <a:lstStyle/>
          <a:p>
            <a:pPr algn="l">
              <a:defRPr sz="1600" b="1">
                <a:solidFill>
                  <a:srgbClr val="0D1B2A"/>
                </a:solidFill>
                <a:latin typeface="Calibri"/>
              </a:defRPr>
            </a:pPr>
            <a:r>
              <a:t>Algorithms Applied to These Features:</a:t>
            </a:r>
          </a:p>
        </p:txBody>
      </p:sp>
      <p:sp>
        <p:nvSpPr>
          <p:cNvPr id="18" name="TextBox 17"/>
          <p:cNvSpPr txBox="1"/>
          <p:nvPr/>
        </p:nvSpPr>
        <p:spPr>
          <a:xfrm>
            <a:off x="731520" y="3840480"/>
            <a:ext cx="2743200" cy="411480"/>
          </a:xfrm>
          <a:prstGeom prst="rect">
            <a:avLst/>
          </a:prstGeom>
          <a:noFill/>
        </p:spPr>
        <p:txBody>
          <a:bodyPr wrap="square">
            <a:spAutoFit/>
          </a:bodyPr>
          <a:lstStyle/>
          <a:p>
            <a:pPr algn="l">
              <a:defRPr sz="1400" b="1">
                <a:solidFill>
                  <a:srgbClr val="0D1B2A"/>
                </a:solidFill>
                <a:latin typeface="Calibri"/>
              </a:defRPr>
            </a:pPr>
            <a:r>
              <a:t>  Isolation Forest</a:t>
            </a:r>
          </a:p>
        </p:txBody>
      </p:sp>
      <p:sp>
        <p:nvSpPr>
          <p:cNvPr id="19" name="TextBox 18"/>
          <p:cNvSpPr txBox="1"/>
          <p:nvPr/>
        </p:nvSpPr>
        <p:spPr>
          <a:xfrm>
            <a:off x="3474720" y="3840480"/>
            <a:ext cx="7772400" cy="411480"/>
          </a:xfrm>
          <a:prstGeom prst="rect">
            <a:avLst/>
          </a:prstGeom>
          <a:noFill/>
        </p:spPr>
        <p:txBody>
          <a:bodyPr wrap="square">
            <a:spAutoFit/>
          </a:bodyPr>
          <a:lstStyle/>
          <a:p>
            <a:pPr algn="l">
              <a:defRPr sz="1300" b="0">
                <a:solidFill>
                  <a:srgbClr val="505050"/>
                </a:solidFill>
                <a:latin typeface="Calibri"/>
              </a:defRPr>
            </a:pPr>
            <a:r>
              <a:t>Randomly partitions data; anomalies are points that isolate quickly</a:t>
            </a:r>
          </a:p>
        </p:txBody>
      </p:sp>
      <p:sp>
        <p:nvSpPr>
          <p:cNvPr id="20" name="TextBox 19"/>
          <p:cNvSpPr txBox="1"/>
          <p:nvPr/>
        </p:nvSpPr>
        <p:spPr>
          <a:xfrm>
            <a:off x="731520" y="4297680"/>
            <a:ext cx="2743200" cy="411480"/>
          </a:xfrm>
          <a:prstGeom prst="rect">
            <a:avLst/>
          </a:prstGeom>
          <a:noFill/>
        </p:spPr>
        <p:txBody>
          <a:bodyPr wrap="square">
            <a:spAutoFit/>
          </a:bodyPr>
          <a:lstStyle/>
          <a:p>
            <a:pPr algn="l">
              <a:defRPr sz="1400" b="1">
                <a:solidFill>
                  <a:srgbClr val="0D1B2A"/>
                </a:solidFill>
                <a:latin typeface="Calibri"/>
              </a:defRPr>
            </a:pPr>
            <a:r>
              <a:t>  One-Class SVM</a:t>
            </a:r>
          </a:p>
        </p:txBody>
      </p:sp>
      <p:sp>
        <p:nvSpPr>
          <p:cNvPr id="21" name="TextBox 20"/>
          <p:cNvSpPr txBox="1"/>
          <p:nvPr/>
        </p:nvSpPr>
        <p:spPr>
          <a:xfrm>
            <a:off x="3474720" y="4297680"/>
            <a:ext cx="7772400" cy="411480"/>
          </a:xfrm>
          <a:prstGeom prst="rect">
            <a:avLst/>
          </a:prstGeom>
          <a:noFill/>
        </p:spPr>
        <p:txBody>
          <a:bodyPr wrap="square">
            <a:spAutoFit/>
          </a:bodyPr>
          <a:lstStyle/>
          <a:p>
            <a:pPr algn="l">
              <a:defRPr sz="1300" b="0">
                <a:solidFill>
                  <a:srgbClr val="505050"/>
                </a:solidFill>
                <a:latin typeface="Calibri"/>
              </a:defRPr>
            </a:pPr>
            <a:r>
              <a:t>Draws a boundary around "normal" data; flags points outside the boundary</a:t>
            </a:r>
          </a:p>
        </p:txBody>
      </p:sp>
      <p:sp>
        <p:nvSpPr>
          <p:cNvPr id="22" name="TextBox 21"/>
          <p:cNvSpPr txBox="1"/>
          <p:nvPr/>
        </p:nvSpPr>
        <p:spPr>
          <a:xfrm>
            <a:off x="731520" y="4754880"/>
            <a:ext cx="2743200" cy="411480"/>
          </a:xfrm>
          <a:prstGeom prst="rect">
            <a:avLst/>
          </a:prstGeom>
          <a:noFill/>
        </p:spPr>
        <p:txBody>
          <a:bodyPr wrap="square">
            <a:spAutoFit/>
          </a:bodyPr>
          <a:lstStyle/>
          <a:p>
            <a:pPr algn="l">
              <a:defRPr sz="1400" b="1">
                <a:solidFill>
                  <a:srgbClr val="0D1B2A"/>
                </a:solidFill>
                <a:latin typeface="Calibri"/>
              </a:defRPr>
            </a:pPr>
            <a:r>
              <a:t>  Local Outlier Factor</a:t>
            </a:r>
          </a:p>
        </p:txBody>
      </p:sp>
      <p:sp>
        <p:nvSpPr>
          <p:cNvPr id="23" name="TextBox 22"/>
          <p:cNvSpPr txBox="1"/>
          <p:nvPr/>
        </p:nvSpPr>
        <p:spPr>
          <a:xfrm>
            <a:off x="3474720" y="4754880"/>
            <a:ext cx="7772400" cy="411480"/>
          </a:xfrm>
          <a:prstGeom prst="rect">
            <a:avLst/>
          </a:prstGeom>
          <a:noFill/>
        </p:spPr>
        <p:txBody>
          <a:bodyPr wrap="square">
            <a:spAutoFit/>
          </a:bodyPr>
          <a:lstStyle/>
          <a:p>
            <a:pPr algn="l">
              <a:defRPr sz="1300" b="0">
                <a:solidFill>
                  <a:srgbClr val="505050"/>
                </a:solidFill>
                <a:latin typeface="Calibri"/>
              </a:defRPr>
            </a:pPr>
            <a:r>
              <a:t>Compares each user's density to their neighbors</a:t>
            </a:r>
          </a:p>
        </p:txBody>
      </p:sp>
      <p:sp>
        <p:nvSpPr>
          <p:cNvPr id="24" name="TextBox 23"/>
          <p:cNvSpPr txBox="1"/>
          <p:nvPr/>
        </p:nvSpPr>
        <p:spPr>
          <a:xfrm>
            <a:off x="731520" y="5212080"/>
            <a:ext cx="2743200" cy="411480"/>
          </a:xfrm>
          <a:prstGeom prst="rect">
            <a:avLst/>
          </a:prstGeom>
          <a:noFill/>
        </p:spPr>
        <p:txBody>
          <a:bodyPr wrap="square">
            <a:spAutoFit/>
          </a:bodyPr>
          <a:lstStyle/>
          <a:p>
            <a:pPr algn="l">
              <a:defRPr sz="1400" b="1">
                <a:solidFill>
                  <a:srgbClr val="0D1B2A"/>
                </a:solidFill>
                <a:latin typeface="Calibri"/>
              </a:defRPr>
            </a:pPr>
            <a:r>
              <a:t>  Z-Score Analysis</a:t>
            </a:r>
          </a:p>
        </p:txBody>
      </p:sp>
      <p:sp>
        <p:nvSpPr>
          <p:cNvPr id="25" name="TextBox 24"/>
          <p:cNvSpPr txBox="1"/>
          <p:nvPr/>
        </p:nvSpPr>
        <p:spPr>
          <a:xfrm>
            <a:off x="3474720" y="5212080"/>
            <a:ext cx="7772400" cy="411480"/>
          </a:xfrm>
          <a:prstGeom prst="rect">
            <a:avLst/>
          </a:prstGeom>
          <a:noFill/>
        </p:spPr>
        <p:txBody>
          <a:bodyPr wrap="square">
            <a:spAutoFit/>
          </a:bodyPr>
          <a:lstStyle/>
          <a:p>
            <a:pPr algn="l">
              <a:defRPr sz="1300" b="0">
                <a:solidFill>
                  <a:srgbClr val="505050"/>
                </a:solidFill>
                <a:latin typeface="Calibri"/>
              </a:defRPr>
            </a:pPr>
            <a:r>
              <a:t>Flags any metric more than 3 standard deviations from the mean</a:t>
            </a:r>
          </a:p>
        </p:txBody>
      </p:sp>
      <p:sp>
        <p:nvSpPr>
          <p:cNvPr id="26" name="Rounded Rectangle 25"/>
          <p:cNvSpPr/>
          <p:nvPr/>
        </p:nvSpPr>
        <p:spPr>
          <a:xfrm>
            <a:off x="548640" y="5760720"/>
            <a:ext cx="11064240" cy="548640"/>
          </a:xfrm>
          <a:prstGeom prst="round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806440"/>
            <a:ext cx="10515600" cy="457200"/>
          </a:xfrm>
          <a:prstGeom prst="rect">
            <a:avLst/>
          </a:prstGeom>
          <a:noFill/>
        </p:spPr>
        <p:txBody>
          <a:bodyPr wrap="square">
            <a:spAutoFit/>
          </a:bodyPr>
          <a:lstStyle/>
          <a:p>
            <a:pPr algn="l">
              <a:defRPr sz="1400" b="1">
                <a:solidFill>
                  <a:srgbClr val="C0392B"/>
                </a:solidFill>
                <a:latin typeface="Calibri"/>
              </a:defRPr>
            </a:pPr>
            <a:r>
              <a:t>Fundamental limitation: These algorithms can flag anomalous users, but provide NO directional intelligence. They say "anomalous" without telling the analyst WHICH behavioral zone changed or TOWARD WHAT threat pattern.</a:t>
            </a:r>
          </a:p>
        </p:txBody>
      </p:sp>
      <p:sp>
        <p:nvSpPr>
          <p:cNvPr id="28" name="TextBox 27"/>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What Your SOC Analyst Sees: Four Real Attack Profiles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457200"/>
          </a:xfrm>
          <a:prstGeom prst="rect">
            <a:avLst/>
          </a:prstGeom>
          <a:noFill/>
        </p:spPr>
        <p:txBody>
          <a:bodyPr wrap="square">
            <a:spAutoFit/>
          </a:bodyPr>
          <a:lstStyle/>
          <a:p>
            <a:pPr algn="l">
              <a:defRPr sz="1600" b="0">
                <a:solidFill>
                  <a:srgbClr val="505050"/>
                </a:solidFill>
                <a:latin typeface="Calibri"/>
              </a:defRPr>
            </a:pPr>
            <a:r>
              <a:t>Same telemetry data, same time period, same users. Traditional methods flag anomalies but give no directional intelligence.</a:t>
            </a:r>
          </a:p>
        </p:txBody>
      </p:sp>
      <p:sp>
        <p:nvSpPr>
          <p:cNvPr id="5" name="Rounded Rectangle 4"/>
          <p:cNvSpPr/>
          <p:nvPr/>
        </p:nvSpPr>
        <p:spPr>
          <a:xfrm>
            <a:off x="548640" y="1737360"/>
            <a:ext cx="11064240" cy="91440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10512"/>
            <a:ext cx="1828800" cy="320040"/>
          </a:xfrm>
          <a:prstGeom prst="rect">
            <a:avLst/>
          </a:prstGeom>
          <a:noFill/>
        </p:spPr>
        <p:txBody>
          <a:bodyPr wrap="square">
            <a:spAutoFit/>
          </a:bodyPr>
          <a:lstStyle/>
          <a:p>
            <a:pPr algn="l">
              <a:defRPr sz="1800" b="1">
                <a:solidFill>
                  <a:srgbClr val="0D1B2A"/>
                </a:solidFill>
                <a:latin typeface="Calibri"/>
              </a:defRPr>
            </a:pPr>
            <a:r>
              <a:t>USR-156</a:t>
            </a:r>
          </a:p>
        </p:txBody>
      </p:sp>
      <p:sp>
        <p:nvSpPr>
          <p:cNvPr id="7" name="TextBox 6"/>
          <p:cNvSpPr txBox="1"/>
          <p:nvPr/>
        </p:nvSpPr>
        <p:spPr>
          <a:xfrm>
            <a:off x="822960" y="2103120"/>
            <a:ext cx="2286000" cy="457200"/>
          </a:xfrm>
          <a:prstGeom prst="rect">
            <a:avLst/>
          </a:prstGeom>
          <a:noFill/>
        </p:spPr>
        <p:txBody>
          <a:bodyPr wrap="square">
            <a:spAutoFit/>
          </a:bodyPr>
          <a:lstStyle/>
          <a:p>
            <a:pPr algn="l">
              <a:defRPr sz="1200" b="0">
                <a:solidFill>
                  <a:srgbClr val="969696"/>
                </a:solidFill>
                <a:latin typeface="Calibri"/>
              </a:defRPr>
            </a:pPr>
            <a:r>
              <a:t>Insider Threat — 14-month slow escalation</a:t>
            </a:r>
          </a:p>
        </p:txBody>
      </p:sp>
      <p:sp>
        <p:nvSpPr>
          <p:cNvPr id="8" name="TextBox 7"/>
          <p:cNvSpPr txBox="1"/>
          <p:nvPr/>
        </p:nvSpPr>
        <p:spPr>
          <a:xfrm>
            <a:off x="3474720" y="1874520"/>
            <a:ext cx="5029200" cy="640080"/>
          </a:xfrm>
          <a:prstGeom prst="rect">
            <a:avLst/>
          </a:prstGeom>
          <a:noFill/>
        </p:spPr>
        <p:txBody>
          <a:bodyPr wrap="square">
            <a:spAutoFit/>
          </a:bodyPr>
          <a:lstStyle/>
          <a:p>
            <a:pPr algn="l">
              <a:defRPr sz="1300" b="0">
                <a:solidFill>
                  <a:srgbClr val="505050"/>
                </a:solidFill>
                <a:latin typeface="Calibri"/>
              </a:defRPr>
            </a:pPr>
            <a:r>
              <a:t>Flagged as anomalous, but no indication</a:t>
            </a:r>
            <a:br/>
            <a:r>
              <a:t>of WHICH behavior zone changed.</a:t>
            </a:r>
          </a:p>
        </p:txBody>
      </p:sp>
      <p:sp>
        <p:nvSpPr>
          <p:cNvPr id="9" name="Rounded Rectangle 8"/>
          <p:cNvSpPr/>
          <p:nvPr/>
        </p:nvSpPr>
        <p:spPr>
          <a:xfrm>
            <a:off x="9326880" y="1965960"/>
            <a:ext cx="201168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  FLAGGED</a:t>
            </a:r>
          </a:p>
        </p:txBody>
      </p:sp>
      <p:sp>
        <p:nvSpPr>
          <p:cNvPr id="10" name="Rounded Rectangle 9"/>
          <p:cNvSpPr/>
          <p:nvPr/>
        </p:nvSpPr>
        <p:spPr>
          <a:xfrm>
            <a:off x="548640" y="2788920"/>
            <a:ext cx="11064240" cy="91440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62072"/>
            <a:ext cx="1828800" cy="320040"/>
          </a:xfrm>
          <a:prstGeom prst="rect">
            <a:avLst/>
          </a:prstGeom>
          <a:noFill/>
        </p:spPr>
        <p:txBody>
          <a:bodyPr wrap="square">
            <a:spAutoFit/>
          </a:bodyPr>
          <a:lstStyle/>
          <a:p>
            <a:pPr algn="l">
              <a:defRPr sz="1800" b="1">
                <a:solidFill>
                  <a:srgbClr val="0D1B2A"/>
                </a:solidFill>
                <a:latin typeface="Calibri"/>
              </a:defRPr>
            </a:pPr>
            <a:r>
              <a:t>USR-234</a:t>
            </a:r>
          </a:p>
        </p:txBody>
      </p:sp>
      <p:sp>
        <p:nvSpPr>
          <p:cNvPr id="12" name="TextBox 11"/>
          <p:cNvSpPr txBox="1"/>
          <p:nvPr/>
        </p:nvSpPr>
        <p:spPr>
          <a:xfrm>
            <a:off x="822960" y="3154680"/>
            <a:ext cx="2286000" cy="457200"/>
          </a:xfrm>
          <a:prstGeom prst="rect">
            <a:avLst/>
          </a:prstGeom>
          <a:noFill/>
        </p:spPr>
        <p:txBody>
          <a:bodyPr wrap="square">
            <a:spAutoFit/>
          </a:bodyPr>
          <a:lstStyle/>
          <a:p>
            <a:pPr algn="l">
              <a:defRPr sz="1200" b="0">
                <a:solidFill>
                  <a:srgbClr val="969696"/>
                </a:solidFill>
                <a:latin typeface="Calibri"/>
              </a:defRPr>
            </a:pPr>
            <a:r>
              <a:t>Slow APT — 417-day persistent access</a:t>
            </a:r>
          </a:p>
        </p:txBody>
      </p:sp>
      <p:sp>
        <p:nvSpPr>
          <p:cNvPr id="13" name="TextBox 12"/>
          <p:cNvSpPr txBox="1"/>
          <p:nvPr/>
        </p:nvSpPr>
        <p:spPr>
          <a:xfrm>
            <a:off x="3474720" y="2926080"/>
            <a:ext cx="5029200" cy="640080"/>
          </a:xfrm>
          <a:prstGeom prst="rect">
            <a:avLst/>
          </a:prstGeom>
          <a:noFill/>
        </p:spPr>
        <p:txBody>
          <a:bodyPr wrap="square">
            <a:spAutoFit/>
          </a:bodyPr>
          <a:lstStyle/>
          <a:p>
            <a:pPr algn="l">
              <a:defRPr sz="1300" b="0">
                <a:solidFill>
                  <a:srgbClr val="505050"/>
                </a:solidFill>
                <a:latin typeface="Calibri"/>
              </a:defRPr>
            </a:pPr>
            <a:r>
              <a:t>Only attack missed by LOF and Isolation</a:t>
            </a:r>
            <a:br/>
            <a:r>
              <a:t>Forest — too slow to trigger.</a:t>
            </a:r>
          </a:p>
        </p:txBody>
      </p:sp>
      <p:sp>
        <p:nvSpPr>
          <p:cNvPr id="14" name="Rounded Rectangle 13"/>
          <p:cNvSpPr/>
          <p:nvPr/>
        </p:nvSpPr>
        <p:spPr>
          <a:xfrm>
            <a:off x="9326880" y="3017520"/>
            <a:ext cx="201168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  MISSED</a:t>
            </a:r>
          </a:p>
        </p:txBody>
      </p:sp>
      <p:sp>
        <p:nvSpPr>
          <p:cNvPr id="15" name="Rounded Rectangle 14"/>
          <p:cNvSpPr/>
          <p:nvPr/>
        </p:nvSpPr>
        <p:spPr>
          <a:xfrm>
            <a:off x="548640" y="3840480"/>
            <a:ext cx="11064240" cy="91440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913632"/>
            <a:ext cx="1828800" cy="320040"/>
          </a:xfrm>
          <a:prstGeom prst="rect">
            <a:avLst/>
          </a:prstGeom>
          <a:noFill/>
        </p:spPr>
        <p:txBody>
          <a:bodyPr wrap="square">
            <a:spAutoFit/>
          </a:bodyPr>
          <a:lstStyle/>
          <a:p>
            <a:pPr algn="l">
              <a:defRPr sz="1800" b="1">
                <a:solidFill>
                  <a:srgbClr val="0D1B2A"/>
                </a:solidFill>
                <a:latin typeface="Calibri"/>
              </a:defRPr>
            </a:pPr>
            <a:r>
              <a:t>USR-042</a:t>
            </a:r>
          </a:p>
        </p:txBody>
      </p:sp>
      <p:sp>
        <p:nvSpPr>
          <p:cNvPr id="17" name="TextBox 16"/>
          <p:cNvSpPr txBox="1"/>
          <p:nvPr/>
        </p:nvSpPr>
        <p:spPr>
          <a:xfrm>
            <a:off x="822960" y="4206240"/>
            <a:ext cx="2286000" cy="457200"/>
          </a:xfrm>
          <a:prstGeom prst="rect">
            <a:avLst/>
          </a:prstGeom>
          <a:noFill/>
        </p:spPr>
        <p:txBody>
          <a:bodyPr wrap="square">
            <a:spAutoFit/>
          </a:bodyPr>
          <a:lstStyle/>
          <a:p>
            <a:pPr algn="l">
              <a:defRPr sz="1200" b="0">
                <a:solidFill>
                  <a:srgbClr val="969696"/>
                </a:solidFill>
                <a:latin typeface="Calibri"/>
              </a:defRPr>
            </a:pPr>
            <a:r>
              <a:t>Volt Typhoon (LOTL) — 412-day campaign</a:t>
            </a:r>
          </a:p>
        </p:txBody>
      </p:sp>
      <p:sp>
        <p:nvSpPr>
          <p:cNvPr id="18" name="TextBox 17"/>
          <p:cNvSpPr txBox="1"/>
          <p:nvPr/>
        </p:nvSpPr>
        <p:spPr>
          <a:xfrm>
            <a:off x="3474720" y="3977640"/>
            <a:ext cx="5029200" cy="640080"/>
          </a:xfrm>
          <a:prstGeom prst="rect">
            <a:avLst/>
          </a:prstGeom>
          <a:noFill/>
        </p:spPr>
        <p:txBody>
          <a:bodyPr wrap="square">
            <a:spAutoFit/>
          </a:bodyPr>
          <a:lstStyle/>
          <a:p>
            <a:pPr algn="l">
              <a:defRPr sz="1300" b="0">
                <a:solidFill>
                  <a:srgbClr val="505050"/>
                </a:solidFill>
                <a:latin typeface="Calibri"/>
              </a:defRPr>
            </a:pPr>
            <a:r>
              <a:t>Flagged as anomalous, but no directional</a:t>
            </a:r>
            <a:br/>
            <a:r>
              <a:t>intelligence on threat pattern.</a:t>
            </a:r>
          </a:p>
        </p:txBody>
      </p:sp>
      <p:sp>
        <p:nvSpPr>
          <p:cNvPr id="19" name="Rounded Rectangle 18"/>
          <p:cNvSpPr/>
          <p:nvPr/>
        </p:nvSpPr>
        <p:spPr>
          <a:xfrm>
            <a:off x="9326880" y="4069080"/>
            <a:ext cx="201168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  FLAGGED</a:t>
            </a:r>
          </a:p>
        </p:txBody>
      </p:sp>
      <p:sp>
        <p:nvSpPr>
          <p:cNvPr id="20" name="Rounded Rectangle 19"/>
          <p:cNvSpPr/>
          <p:nvPr/>
        </p:nvSpPr>
        <p:spPr>
          <a:xfrm>
            <a:off x="548640" y="4892039"/>
            <a:ext cx="11064240" cy="91440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965191"/>
            <a:ext cx="1828800" cy="320040"/>
          </a:xfrm>
          <a:prstGeom prst="rect">
            <a:avLst/>
          </a:prstGeom>
          <a:noFill/>
        </p:spPr>
        <p:txBody>
          <a:bodyPr wrap="square">
            <a:spAutoFit/>
          </a:bodyPr>
          <a:lstStyle/>
          <a:p>
            <a:pPr algn="l">
              <a:defRPr sz="1800" b="1">
                <a:solidFill>
                  <a:srgbClr val="0D1B2A"/>
                </a:solidFill>
                <a:latin typeface="Calibri"/>
              </a:defRPr>
            </a:pPr>
            <a:r>
              <a:t>USR-118</a:t>
            </a:r>
          </a:p>
        </p:txBody>
      </p:sp>
      <p:sp>
        <p:nvSpPr>
          <p:cNvPr id="22" name="TextBox 21"/>
          <p:cNvSpPr txBox="1"/>
          <p:nvPr/>
        </p:nvSpPr>
        <p:spPr>
          <a:xfrm>
            <a:off x="822960" y="5257799"/>
            <a:ext cx="2286000" cy="457200"/>
          </a:xfrm>
          <a:prstGeom prst="rect">
            <a:avLst/>
          </a:prstGeom>
          <a:noFill/>
        </p:spPr>
        <p:txBody>
          <a:bodyPr wrap="square">
            <a:spAutoFit/>
          </a:bodyPr>
          <a:lstStyle/>
          <a:p>
            <a:pPr algn="l">
              <a:defRPr sz="1200" b="0">
                <a:solidFill>
                  <a:srgbClr val="969696"/>
                </a:solidFill>
                <a:latin typeface="Calibri"/>
              </a:defRPr>
            </a:pPr>
            <a:r>
              <a:t>Salt Typhoon — 412-day telecom intrusion</a:t>
            </a:r>
          </a:p>
        </p:txBody>
      </p:sp>
      <p:sp>
        <p:nvSpPr>
          <p:cNvPr id="23" name="TextBox 22"/>
          <p:cNvSpPr txBox="1"/>
          <p:nvPr/>
        </p:nvSpPr>
        <p:spPr>
          <a:xfrm>
            <a:off x="3474720" y="5029199"/>
            <a:ext cx="5029200" cy="640080"/>
          </a:xfrm>
          <a:prstGeom prst="rect">
            <a:avLst/>
          </a:prstGeom>
          <a:noFill/>
        </p:spPr>
        <p:txBody>
          <a:bodyPr wrap="square">
            <a:spAutoFit/>
          </a:bodyPr>
          <a:lstStyle/>
          <a:p>
            <a:pPr algn="l">
              <a:defRPr sz="1300" b="0">
                <a:solidFill>
                  <a:srgbClr val="505050"/>
                </a:solidFill>
                <a:latin typeface="Calibri"/>
              </a:defRPr>
            </a:pPr>
            <a:r>
              <a:t>Flagged by Z-Score/OCSVM, but buried</a:t>
            </a:r>
            <a:br/>
            <a:r>
              <a:t>in false positives with no ranking.</a:t>
            </a:r>
          </a:p>
        </p:txBody>
      </p:sp>
      <p:sp>
        <p:nvSpPr>
          <p:cNvPr id="24" name="Rounded Rectangle 23"/>
          <p:cNvSpPr/>
          <p:nvPr/>
        </p:nvSpPr>
        <p:spPr>
          <a:xfrm>
            <a:off x="9326880" y="5120639"/>
            <a:ext cx="201168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  FLAGGED</a:t>
            </a:r>
          </a:p>
        </p:txBody>
      </p:sp>
      <p:sp>
        <p:nvSpPr>
          <p:cNvPr id="25" name="Rounded Rectangle 24"/>
          <p:cNvSpPr/>
          <p:nvPr/>
        </p:nvSpPr>
        <p:spPr>
          <a:xfrm>
            <a:off x="548640" y="5943600"/>
            <a:ext cx="11064240" cy="548640"/>
          </a:xfrm>
          <a:prstGeom prst="roundRect">
            <a:avLst/>
          </a:prstGeom>
          <a:solidFill>
            <a:srgbClr val="FDEDEC"/>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989320"/>
            <a:ext cx="10515600" cy="457200"/>
          </a:xfrm>
          <a:prstGeom prst="rect">
            <a:avLst/>
          </a:prstGeom>
          <a:noFill/>
        </p:spPr>
        <p:txBody>
          <a:bodyPr wrap="square">
            <a:spAutoFit/>
          </a:bodyPr>
          <a:lstStyle/>
          <a:p>
            <a:pPr algn="l">
              <a:defRPr sz="1500" b="1">
                <a:solidFill>
                  <a:srgbClr val="C0392B"/>
                </a:solidFill>
                <a:latin typeface="Calibri"/>
              </a:defRPr>
            </a:pPr>
            <a:r>
              <a:t>Result: 3 of 4 flagged as anomalous, but with NO directional intelligence.  Your SOC analyst sees "anomalous" without knowing WHICH behavioral zone changed or TOWARD WHAT threat pattern — and the slow APT is missed entirely.</a:t>
            </a:r>
          </a:p>
        </p:txBody>
      </p:sp>
      <p:sp>
        <p:nvSpPr>
          <p:cNvPr id="27" name="TextBox 26"/>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How V-Intelligence UEBA Changes Detection: Building a Digital Entity</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731520"/>
          </a:xfrm>
          <a:prstGeom prst="rect">
            <a:avLst/>
          </a:prstGeom>
          <a:noFill/>
        </p:spPr>
        <p:txBody>
          <a:bodyPr wrap="square">
            <a:spAutoFit/>
          </a:bodyPr>
          <a:lstStyle/>
          <a:p>
            <a:pPr algn="l">
              <a:defRPr sz="1600" b="0">
                <a:solidFill>
                  <a:srgbClr val="505050"/>
                </a:solidFill>
                <a:latin typeface="Calibri"/>
              </a:defRPr>
            </a:pPr>
            <a:r>
              <a:t>Instead of checking individual numbers against thresholds, V-Intelligence UEBA builds a complete behavioral profile — a "digital entity" — for every user. It captures what users are doing, not just how much.</a:t>
            </a:r>
          </a:p>
        </p:txBody>
      </p:sp>
      <p:sp>
        <p:nvSpPr>
          <p:cNvPr id="5" name="Rounded Rectangle 4"/>
          <p:cNvSpPr/>
          <p:nvPr/>
        </p:nvSpPr>
        <p:spPr>
          <a:xfrm>
            <a:off x="548640" y="2103120"/>
            <a:ext cx="5303520" cy="3657600"/>
          </a:xfrm>
          <a:prstGeom prst="roundRect">
            <a:avLst/>
          </a:prstGeom>
          <a:solidFill>
            <a:srgbClr val="D6EAF8"/>
          </a:solid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754880" cy="365760"/>
          </a:xfrm>
          <a:prstGeom prst="rect">
            <a:avLst/>
          </a:prstGeom>
          <a:noFill/>
        </p:spPr>
        <p:txBody>
          <a:bodyPr wrap="square">
            <a:spAutoFit/>
          </a:bodyPr>
          <a:lstStyle/>
          <a:p>
            <a:pPr algn="l">
              <a:defRPr sz="1800" b="1">
                <a:solidFill>
                  <a:srgbClr val="1B4F72"/>
                </a:solidFill>
                <a:latin typeface="Calibri"/>
              </a:defRPr>
            </a:pPr>
            <a:r>
              <a:t>Layer 1: V-Intelligence UEBA — Digital Entity Engine</a:t>
            </a:r>
          </a:p>
        </p:txBody>
      </p:sp>
      <p:sp>
        <p:nvSpPr>
          <p:cNvPr id="7" name="TextBox 6"/>
          <p:cNvSpPr txBox="1"/>
          <p:nvPr/>
        </p:nvSpPr>
        <p:spPr>
          <a:xfrm>
            <a:off x="914400" y="2606040"/>
            <a:ext cx="4572000" cy="292608"/>
          </a:xfrm>
          <a:prstGeom prst="rect">
            <a:avLst/>
          </a:prstGeom>
          <a:noFill/>
        </p:spPr>
        <p:txBody>
          <a:bodyPr wrap="square">
            <a:spAutoFit/>
          </a:bodyPr>
          <a:lstStyle/>
          <a:p>
            <a:pPr algn="l">
              <a:defRPr sz="1300" b="0">
                <a:solidFill>
                  <a:srgbClr val="505050"/>
                </a:solidFill>
                <a:latin typeface="Calibri"/>
              </a:defRPr>
            </a:pPr>
            <a:r>
              <a:t>▸ Converts raw log data into a behavioral description of each user</a:t>
            </a:r>
          </a:p>
        </p:txBody>
      </p:sp>
      <p:sp>
        <p:nvSpPr>
          <p:cNvPr id="8" name="TextBox 7"/>
          <p:cNvSpPr txBox="1"/>
          <p:nvPr/>
        </p:nvSpPr>
        <p:spPr>
          <a:xfrm>
            <a:off x="914400" y="2898648"/>
            <a:ext cx="4572000" cy="292608"/>
          </a:xfrm>
          <a:prstGeom prst="rect">
            <a:avLst/>
          </a:prstGeom>
          <a:noFill/>
        </p:spPr>
        <p:txBody>
          <a:bodyPr wrap="square">
            <a:spAutoFit/>
          </a:bodyPr>
          <a:lstStyle/>
          <a:p>
            <a:pPr algn="l">
              <a:defRPr sz="1300" b="0">
                <a:solidFill>
                  <a:srgbClr val="505050"/>
                </a:solidFill>
                <a:latin typeface="Calibri"/>
              </a:defRPr>
            </a:pPr>
            <a:r>
              <a:t>▸ Captures the meaning of actions, not just the count</a:t>
            </a:r>
          </a:p>
        </p:txBody>
      </p:sp>
      <p:sp>
        <p:nvSpPr>
          <p:cNvPr id="9" name="TextBox 8"/>
          <p:cNvSpPr txBox="1"/>
          <p:nvPr/>
        </p:nvSpPr>
        <p:spPr>
          <a:xfrm>
            <a:off x="914400" y="3191256"/>
            <a:ext cx="4572000" cy="292608"/>
          </a:xfrm>
          <a:prstGeom prst="rect">
            <a:avLst/>
          </a:prstGeom>
          <a:noFill/>
        </p:spPr>
        <p:txBody>
          <a:bodyPr wrap="square">
            <a:spAutoFit/>
          </a:bodyPr>
          <a:lstStyle/>
          <a:p>
            <a:pPr algn="l">
              <a:defRPr sz="1300" b="0">
                <a:solidFill>
                  <a:srgbClr val="505050"/>
                </a:solidFill>
                <a:latin typeface="Calibri"/>
              </a:defRPr>
            </a:pPr>
            <a:r>
              <a:t>▸ Example: "USR-042 accessed 47 restricted files across 12 departments, 68% outside normal hours"</a:t>
            </a:r>
          </a:p>
        </p:txBody>
      </p:sp>
      <p:sp>
        <p:nvSpPr>
          <p:cNvPr id="10" name="TextBox 9"/>
          <p:cNvSpPr txBox="1"/>
          <p:nvPr/>
        </p:nvSpPr>
        <p:spPr>
          <a:xfrm>
            <a:off x="914400" y="3483864"/>
            <a:ext cx="4572000" cy="292608"/>
          </a:xfrm>
          <a:prstGeom prst="rect">
            <a:avLst/>
          </a:prstGeom>
          <a:noFill/>
        </p:spPr>
        <p:txBody>
          <a:bodyPr wrap="square">
            <a:spAutoFit/>
          </a:bodyPr>
          <a:lstStyle/>
          <a:p>
            <a:pPr algn="l">
              <a:defRPr sz="1300" b="0">
                <a:solidFill>
                  <a:srgbClr val="505050"/>
                </a:solidFill>
                <a:latin typeface="Calibri"/>
              </a:defRPr>
            </a:pPr>
            <a:r>
              <a:t>▸ Tracks 5 behavioral zones per user:</a:t>
            </a:r>
          </a:p>
        </p:txBody>
      </p:sp>
      <p:sp>
        <p:nvSpPr>
          <p:cNvPr id="11" name="TextBox 10"/>
          <p:cNvSpPr txBox="1"/>
          <p:nvPr/>
        </p:nvSpPr>
        <p:spPr>
          <a:xfrm>
            <a:off x="1188720" y="3776472"/>
            <a:ext cx="4297680" cy="292608"/>
          </a:xfrm>
          <a:prstGeom prst="rect">
            <a:avLst/>
          </a:prstGeom>
          <a:noFill/>
        </p:spPr>
        <p:txBody>
          <a:bodyPr wrap="square">
            <a:spAutoFit/>
          </a:bodyPr>
          <a:lstStyle/>
          <a:p>
            <a:pPr algn="l">
              <a:defRPr sz="1200" b="0">
                <a:solidFill>
                  <a:srgbClr val="505050"/>
                </a:solidFill>
                <a:latin typeface="Calibri"/>
              </a:defRPr>
            </a:pPr>
            <a:r>
              <a:t>– Identity — role, department, clearance level</a:t>
            </a:r>
          </a:p>
        </p:txBody>
      </p:sp>
      <p:sp>
        <p:nvSpPr>
          <p:cNvPr id="12" name="TextBox 11"/>
          <p:cNvSpPr txBox="1"/>
          <p:nvPr/>
        </p:nvSpPr>
        <p:spPr>
          <a:xfrm>
            <a:off x="1188720" y="4069080"/>
            <a:ext cx="4297680" cy="292608"/>
          </a:xfrm>
          <a:prstGeom prst="rect">
            <a:avLst/>
          </a:prstGeom>
          <a:noFill/>
        </p:spPr>
        <p:txBody>
          <a:bodyPr wrap="square">
            <a:spAutoFit/>
          </a:bodyPr>
          <a:lstStyle/>
          <a:p>
            <a:pPr algn="l">
              <a:defRPr sz="1200" b="0">
                <a:solidFill>
                  <a:srgbClr val="505050"/>
                </a:solidFill>
                <a:latin typeface="Calibri"/>
              </a:defRPr>
            </a:pPr>
            <a:r>
              <a:t>– Access Pattern — when and how they authenticate</a:t>
            </a:r>
          </a:p>
        </p:txBody>
      </p:sp>
      <p:sp>
        <p:nvSpPr>
          <p:cNvPr id="13" name="TextBox 12"/>
          <p:cNvSpPr txBox="1"/>
          <p:nvPr/>
        </p:nvSpPr>
        <p:spPr>
          <a:xfrm>
            <a:off x="1188720" y="4361688"/>
            <a:ext cx="4297680" cy="292608"/>
          </a:xfrm>
          <a:prstGeom prst="rect">
            <a:avLst/>
          </a:prstGeom>
          <a:noFill/>
        </p:spPr>
        <p:txBody>
          <a:bodyPr wrap="square">
            <a:spAutoFit/>
          </a:bodyPr>
          <a:lstStyle/>
          <a:p>
            <a:pPr algn="l">
              <a:defRPr sz="1200" b="0">
                <a:solidFill>
                  <a:srgbClr val="505050"/>
                </a:solidFill>
                <a:latin typeface="Calibri"/>
              </a:defRPr>
            </a:pPr>
            <a:r>
              <a:t>– Data Behavior — what files they touch and how</a:t>
            </a:r>
          </a:p>
        </p:txBody>
      </p:sp>
      <p:sp>
        <p:nvSpPr>
          <p:cNvPr id="14" name="TextBox 13"/>
          <p:cNvSpPr txBox="1"/>
          <p:nvPr/>
        </p:nvSpPr>
        <p:spPr>
          <a:xfrm>
            <a:off x="1188720" y="4654296"/>
            <a:ext cx="4297680" cy="292608"/>
          </a:xfrm>
          <a:prstGeom prst="rect">
            <a:avLst/>
          </a:prstGeom>
          <a:noFill/>
        </p:spPr>
        <p:txBody>
          <a:bodyPr wrap="square">
            <a:spAutoFit/>
          </a:bodyPr>
          <a:lstStyle/>
          <a:p>
            <a:pPr algn="l">
              <a:defRPr sz="1200" b="0">
                <a:solidFill>
                  <a:srgbClr val="505050"/>
                </a:solidFill>
                <a:latin typeface="Calibri"/>
              </a:defRPr>
            </a:pPr>
            <a:r>
              <a:t>– Network Footprint — where their traffic goes</a:t>
            </a:r>
          </a:p>
        </p:txBody>
      </p:sp>
      <p:sp>
        <p:nvSpPr>
          <p:cNvPr id="15" name="TextBox 14"/>
          <p:cNvSpPr txBox="1"/>
          <p:nvPr/>
        </p:nvSpPr>
        <p:spPr>
          <a:xfrm>
            <a:off x="1188720" y="4946904"/>
            <a:ext cx="4297680" cy="292608"/>
          </a:xfrm>
          <a:prstGeom prst="rect">
            <a:avLst/>
          </a:prstGeom>
          <a:noFill/>
        </p:spPr>
        <p:txBody>
          <a:bodyPr wrap="square">
            <a:spAutoFit/>
          </a:bodyPr>
          <a:lstStyle/>
          <a:p>
            <a:pPr algn="l">
              <a:defRPr sz="1200" b="0">
                <a:solidFill>
                  <a:srgbClr val="505050"/>
                </a:solidFill>
                <a:latin typeface="Calibri"/>
              </a:defRPr>
            </a:pPr>
            <a:r>
              <a:t>– Risk Posture — endpoint and process activity</a:t>
            </a:r>
          </a:p>
        </p:txBody>
      </p:sp>
      <p:sp>
        <p:nvSpPr>
          <p:cNvPr id="16" name="TextBox 15"/>
          <p:cNvSpPr txBox="1"/>
          <p:nvPr/>
        </p:nvSpPr>
        <p:spPr>
          <a:xfrm>
            <a:off x="914400" y="5239512"/>
            <a:ext cx="4572000" cy="292608"/>
          </a:xfrm>
          <a:prstGeom prst="rect">
            <a:avLst/>
          </a:prstGeom>
          <a:noFill/>
        </p:spPr>
        <p:txBody>
          <a:bodyPr wrap="square">
            <a:spAutoFit/>
          </a:bodyPr>
          <a:lstStyle/>
          <a:p>
            <a:pPr algn="l">
              <a:defRPr sz="1300" b="0">
                <a:solidFill>
                  <a:srgbClr val="505050"/>
                </a:solidFill>
                <a:latin typeface="Calibri"/>
              </a:defRPr>
            </a:pPr>
            <a:r>
              <a:t>▸ Measures behavioral drift — direction of change over time</a:t>
            </a:r>
          </a:p>
        </p:txBody>
      </p:sp>
      <p:sp>
        <p:nvSpPr>
          <p:cNvPr id="17" name="TextBox 16"/>
          <p:cNvSpPr txBox="1"/>
          <p:nvPr/>
        </p:nvSpPr>
        <p:spPr>
          <a:xfrm>
            <a:off x="5989320" y="3474720"/>
            <a:ext cx="548640" cy="457200"/>
          </a:xfrm>
          <a:prstGeom prst="rect">
            <a:avLst/>
          </a:prstGeom>
          <a:noFill/>
        </p:spPr>
        <p:txBody>
          <a:bodyPr wrap="square">
            <a:spAutoFit/>
          </a:bodyPr>
          <a:lstStyle/>
          <a:p>
            <a:pPr algn="ctr">
              <a:defRPr sz="3600" b="1">
                <a:solidFill>
                  <a:srgbClr val="B7950B"/>
                </a:solidFill>
                <a:latin typeface="Calibri"/>
              </a:defRPr>
            </a:pPr>
            <a:r>
              <a:t>→</a:t>
            </a:r>
          </a:p>
        </p:txBody>
      </p:sp>
      <p:sp>
        <p:nvSpPr>
          <p:cNvPr id="18" name="Rounded Rectangle 17"/>
          <p:cNvSpPr/>
          <p:nvPr/>
        </p:nvSpPr>
        <p:spPr>
          <a:xfrm>
            <a:off x="6400800" y="2103120"/>
            <a:ext cx="5303520" cy="3657600"/>
          </a:xfrm>
          <a:prstGeom prst="roundRect">
            <a:avLst/>
          </a:prstGeom>
          <a:solidFill>
            <a:srgbClr val="EAFAF1"/>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2194560"/>
            <a:ext cx="4754880" cy="365760"/>
          </a:xfrm>
          <a:prstGeom prst="rect">
            <a:avLst/>
          </a:prstGeom>
          <a:noFill/>
        </p:spPr>
        <p:txBody>
          <a:bodyPr wrap="square">
            <a:spAutoFit/>
          </a:bodyPr>
          <a:lstStyle/>
          <a:p>
            <a:pPr algn="l">
              <a:defRPr sz="1800" b="1">
                <a:solidFill>
                  <a:srgbClr val="27AE60"/>
                </a:solidFill>
                <a:latin typeface="Calibri"/>
              </a:defRPr>
            </a:pPr>
            <a:r>
              <a:t>Layer 2: Composite Scoring — Anomaly Detector</a:t>
            </a:r>
          </a:p>
        </p:txBody>
      </p:sp>
      <p:sp>
        <p:nvSpPr>
          <p:cNvPr id="20" name="TextBox 19"/>
          <p:cNvSpPr txBox="1"/>
          <p:nvPr/>
        </p:nvSpPr>
        <p:spPr>
          <a:xfrm>
            <a:off x="6675120" y="2606040"/>
            <a:ext cx="4572000" cy="292608"/>
          </a:xfrm>
          <a:prstGeom prst="rect">
            <a:avLst/>
          </a:prstGeom>
          <a:noFill/>
        </p:spPr>
        <p:txBody>
          <a:bodyPr wrap="square">
            <a:spAutoFit/>
          </a:bodyPr>
          <a:lstStyle/>
          <a:p>
            <a:pPr algn="l">
              <a:defRPr sz="1300" b="0">
                <a:solidFill>
                  <a:srgbClr val="505050"/>
                </a:solidFill>
                <a:latin typeface="Calibri"/>
              </a:defRPr>
            </a:pPr>
            <a:r>
              <a:t>▸ Uses V-Intelligence UEBA's behavioral profiles to determine which users are truly anomalous</a:t>
            </a:r>
          </a:p>
        </p:txBody>
      </p:sp>
      <p:sp>
        <p:nvSpPr>
          <p:cNvPr id="21" name="TextBox 20"/>
          <p:cNvSpPr txBox="1"/>
          <p:nvPr/>
        </p:nvSpPr>
        <p:spPr>
          <a:xfrm>
            <a:off x="6675120" y="2898648"/>
            <a:ext cx="4572000" cy="292608"/>
          </a:xfrm>
          <a:prstGeom prst="rect">
            <a:avLst/>
          </a:prstGeom>
          <a:noFill/>
        </p:spPr>
        <p:txBody>
          <a:bodyPr wrap="square">
            <a:spAutoFit/>
          </a:bodyPr>
          <a:lstStyle/>
          <a:p>
            <a:pPr algn="l">
              <a:defRPr sz="1300" b="0">
                <a:solidFill>
                  <a:srgbClr val="505050"/>
                </a:solidFill>
                <a:latin typeface="Calibri"/>
              </a:defRPr>
            </a:pPr>
            <a:r>
              <a:t>▸ Applies 5 scoring phases simultaneously:</a:t>
            </a:r>
          </a:p>
        </p:txBody>
      </p:sp>
      <p:sp>
        <p:nvSpPr>
          <p:cNvPr id="22" name="TextBox 21"/>
          <p:cNvSpPr txBox="1"/>
          <p:nvPr/>
        </p:nvSpPr>
        <p:spPr>
          <a:xfrm>
            <a:off x="6949440" y="3191256"/>
            <a:ext cx="4297680" cy="292608"/>
          </a:xfrm>
          <a:prstGeom prst="rect">
            <a:avLst/>
          </a:prstGeom>
          <a:noFill/>
        </p:spPr>
        <p:txBody>
          <a:bodyPr wrap="square">
            <a:spAutoFit/>
          </a:bodyPr>
          <a:lstStyle/>
          <a:p>
            <a:pPr algn="l">
              <a:defRPr sz="1200" b="0">
                <a:solidFill>
                  <a:srgbClr val="505050"/>
                </a:solidFill>
                <a:latin typeface="Calibri"/>
              </a:defRPr>
            </a:pPr>
            <a:r>
              <a:t>– Signal Strength — Is the drift larger than peers?</a:t>
            </a:r>
          </a:p>
        </p:txBody>
      </p:sp>
      <p:sp>
        <p:nvSpPr>
          <p:cNvPr id="23" name="TextBox 22"/>
          <p:cNvSpPr txBox="1"/>
          <p:nvPr/>
        </p:nvSpPr>
        <p:spPr>
          <a:xfrm>
            <a:off x="6949440" y="3483864"/>
            <a:ext cx="4297680" cy="292608"/>
          </a:xfrm>
          <a:prstGeom prst="rect">
            <a:avLst/>
          </a:prstGeom>
          <a:noFill/>
        </p:spPr>
        <p:txBody>
          <a:bodyPr wrap="square">
            <a:spAutoFit/>
          </a:bodyPr>
          <a:lstStyle/>
          <a:p>
            <a:pPr algn="l">
              <a:defRPr sz="1200" b="0">
                <a:solidFill>
                  <a:srgbClr val="505050"/>
                </a:solidFill>
                <a:latin typeface="Calibri"/>
              </a:defRPr>
            </a:pPr>
            <a:r>
              <a:t>– Breadth — Are many behaviors anomalous at once?</a:t>
            </a:r>
          </a:p>
        </p:txBody>
      </p:sp>
      <p:sp>
        <p:nvSpPr>
          <p:cNvPr id="24" name="TextBox 23"/>
          <p:cNvSpPr txBox="1"/>
          <p:nvPr/>
        </p:nvSpPr>
        <p:spPr>
          <a:xfrm>
            <a:off x="6949440" y="3776472"/>
            <a:ext cx="4297680" cy="292608"/>
          </a:xfrm>
          <a:prstGeom prst="rect">
            <a:avLst/>
          </a:prstGeom>
          <a:noFill/>
        </p:spPr>
        <p:txBody>
          <a:bodyPr wrap="square">
            <a:spAutoFit/>
          </a:bodyPr>
          <a:lstStyle/>
          <a:p>
            <a:pPr algn="l">
              <a:defRPr sz="1200" b="0">
                <a:solidFill>
                  <a:srgbClr val="505050"/>
                </a:solidFill>
                <a:latin typeface="Calibri"/>
              </a:defRPr>
            </a:pPr>
            <a:r>
              <a:t>– Sustained Deviation — Does it persist over weeks?</a:t>
            </a:r>
          </a:p>
        </p:txBody>
      </p:sp>
      <p:sp>
        <p:nvSpPr>
          <p:cNvPr id="25" name="TextBox 24"/>
          <p:cNvSpPr txBox="1"/>
          <p:nvPr/>
        </p:nvSpPr>
        <p:spPr>
          <a:xfrm>
            <a:off x="6949440" y="4069080"/>
            <a:ext cx="4297680" cy="292608"/>
          </a:xfrm>
          <a:prstGeom prst="rect">
            <a:avLst/>
          </a:prstGeom>
          <a:noFill/>
        </p:spPr>
        <p:txBody>
          <a:bodyPr wrap="square">
            <a:spAutoFit/>
          </a:bodyPr>
          <a:lstStyle/>
          <a:p>
            <a:pPr algn="l">
              <a:defRPr sz="1200" b="0">
                <a:solidFill>
                  <a:srgbClr val="505050"/>
                </a:solidFill>
                <a:latin typeface="Calibri"/>
              </a:defRPr>
            </a:pPr>
            <a:r>
              <a:t>– Context Divergence — Anomalous under different analytical lenses?</a:t>
            </a:r>
          </a:p>
        </p:txBody>
      </p:sp>
      <p:sp>
        <p:nvSpPr>
          <p:cNvPr id="26" name="TextBox 25"/>
          <p:cNvSpPr txBox="1"/>
          <p:nvPr/>
        </p:nvSpPr>
        <p:spPr>
          <a:xfrm>
            <a:off x="6949440" y="4361688"/>
            <a:ext cx="4297680" cy="292608"/>
          </a:xfrm>
          <a:prstGeom prst="rect">
            <a:avLst/>
          </a:prstGeom>
          <a:noFill/>
        </p:spPr>
        <p:txBody>
          <a:bodyPr wrap="square">
            <a:spAutoFit/>
          </a:bodyPr>
          <a:lstStyle/>
          <a:p>
            <a:pPr algn="l">
              <a:defRPr sz="1200" b="0">
                <a:solidFill>
                  <a:srgbClr val="505050"/>
                </a:solidFill>
                <a:latin typeface="Calibri"/>
              </a:defRPr>
            </a:pPr>
            <a:r>
              <a:t>– Novelty Persistence — Are new behaviors recurring?</a:t>
            </a:r>
          </a:p>
        </p:txBody>
      </p:sp>
      <p:sp>
        <p:nvSpPr>
          <p:cNvPr id="27" name="TextBox 26"/>
          <p:cNvSpPr txBox="1"/>
          <p:nvPr/>
        </p:nvSpPr>
        <p:spPr>
          <a:xfrm>
            <a:off x="6675120" y="4654296"/>
            <a:ext cx="4572000" cy="292608"/>
          </a:xfrm>
          <a:prstGeom prst="rect">
            <a:avLst/>
          </a:prstGeom>
          <a:noFill/>
        </p:spPr>
        <p:txBody>
          <a:bodyPr wrap="square">
            <a:spAutoFit/>
          </a:bodyPr>
          <a:lstStyle/>
          <a:p>
            <a:pPr algn="l">
              <a:defRPr sz="1300" b="0">
                <a:solidFill>
                  <a:srgbClr val="505050"/>
                </a:solidFill>
                <a:latin typeface="Calibri"/>
              </a:defRPr>
            </a:pPr>
            <a:r>
              <a:t>▸ Normal users may score high on 1 phase by chance</a:t>
            </a:r>
          </a:p>
        </p:txBody>
      </p:sp>
      <p:sp>
        <p:nvSpPr>
          <p:cNvPr id="28" name="TextBox 27"/>
          <p:cNvSpPr txBox="1"/>
          <p:nvPr/>
        </p:nvSpPr>
        <p:spPr>
          <a:xfrm>
            <a:off x="6675120" y="4946904"/>
            <a:ext cx="4572000" cy="292608"/>
          </a:xfrm>
          <a:prstGeom prst="rect">
            <a:avLst/>
          </a:prstGeom>
          <a:noFill/>
        </p:spPr>
        <p:txBody>
          <a:bodyPr wrap="square">
            <a:spAutoFit/>
          </a:bodyPr>
          <a:lstStyle/>
          <a:p>
            <a:pPr algn="l">
              <a:defRPr sz="1300" b="0">
                <a:solidFill>
                  <a:srgbClr val="505050"/>
                </a:solidFill>
                <a:latin typeface="Calibri"/>
              </a:defRPr>
            </a:pPr>
            <a:r>
              <a:t>▸ Attackers score high on multiple phases simultaneously</a:t>
            </a:r>
          </a:p>
        </p:txBody>
      </p:sp>
      <p:sp>
        <p:nvSpPr>
          <p:cNvPr id="29" name="TextBox 28"/>
          <p:cNvSpPr txBox="1"/>
          <p:nvPr/>
        </p:nvSpPr>
        <p:spPr>
          <a:xfrm>
            <a:off x="6675120" y="5239512"/>
            <a:ext cx="4572000" cy="292608"/>
          </a:xfrm>
          <a:prstGeom prst="rect">
            <a:avLst/>
          </a:prstGeom>
          <a:noFill/>
        </p:spPr>
        <p:txBody>
          <a:bodyPr wrap="square">
            <a:spAutoFit/>
          </a:bodyPr>
          <a:lstStyle/>
          <a:p>
            <a:pPr algn="l">
              <a:defRPr sz="1300" b="0">
                <a:solidFill>
                  <a:srgbClr val="505050"/>
                </a:solidFill>
                <a:latin typeface="Calibri"/>
              </a:defRPr>
            </a:pPr>
            <a:r>
              <a:t>▸ Output: One ranked list — no threshold tuning needed</a:t>
            </a:r>
          </a:p>
        </p:txBody>
      </p:sp>
      <p:sp>
        <p:nvSpPr>
          <p:cNvPr id="30" name="Rounded Rectangle 29"/>
          <p:cNvSpPr/>
          <p:nvPr/>
        </p:nvSpPr>
        <p:spPr>
          <a:xfrm>
            <a:off x="548640" y="5943600"/>
            <a:ext cx="11064240" cy="5486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989320"/>
            <a:ext cx="10515600" cy="457200"/>
          </a:xfrm>
          <a:prstGeom prst="rect">
            <a:avLst/>
          </a:prstGeom>
          <a:noFill/>
        </p:spPr>
        <p:txBody>
          <a:bodyPr wrap="square">
            <a:spAutoFit/>
          </a:bodyPr>
          <a:lstStyle/>
          <a:p>
            <a:pPr algn="l">
              <a:defRPr sz="1500" b="1">
                <a:solidFill>
                  <a:srgbClr val="B7950B"/>
                </a:solidFill>
                <a:latin typeface="Calibri"/>
              </a:defRPr>
            </a:pPr>
            <a:r>
              <a:t>Key difference: Traditional detection asks "is any one number abnormal?"  V-Intelligence UEBA + Composite asks "has the overall behavior pattern changed in a meaningful, persistent way?"</a:t>
            </a:r>
          </a:p>
        </p:txBody>
      </p:sp>
      <p:sp>
        <p:nvSpPr>
          <p:cNvPr id="32" name="TextBox 31"/>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Why Composite Scoring Catches What Single Methods Can't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457200"/>
          </a:xfrm>
          <a:prstGeom prst="rect">
            <a:avLst/>
          </a:prstGeom>
          <a:noFill/>
        </p:spPr>
        <p:txBody>
          <a:bodyPr wrap="square">
            <a:spAutoFit/>
          </a:bodyPr>
          <a:lstStyle/>
          <a:p>
            <a:pPr algn="l">
              <a:defRPr sz="1600" b="0">
                <a:solidFill>
                  <a:srgbClr val="505050"/>
                </a:solidFill>
                <a:latin typeface="Calibri"/>
              </a:defRPr>
            </a:pPr>
            <a:r>
              <a:t>A single detection method can only check one dimension. Composite scoring checks five simultaneously.</a:t>
            </a:r>
          </a:p>
        </p:txBody>
      </p:sp>
      <p:sp>
        <p:nvSpPr>
          <p:cNvPr id="5" name="Rounded Rectangle 4"/>
          <p:cNvSpPr/>
          <p:nvPr/>
        </p:nvSpPr>
        <p:spPr>
          <a:xfrm>
            <a:off x="548640" y="1828800"/>
            <a:ext cx="50292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828800"/>
            <a:ext cx="493776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4572000" cy="365760"/>
          </a:xfrm>
          <a:prstGeom prst="rect">
            <a:avLst/>
          </a:prstGeom>
          <a:noFill/>
        </p:spPr>
        <p:txBody>
          <a:bodyPr wrap="square">
            <a:spAutoFit/>
          </a:bodyPr>
          <a:lstStyle/>
          <a:p>
            <a:pPr algn="l">
              <a:defRPr sz="1600" b="1">
                <a:solidFill>
                  <a:srgbClr val="C0392B"/>
                </a:solidFill>
                <a:latin typeface="Calibri"/>
              </a:defRPr>
            </a:pPr>
            <a:r>
              <a:t>Single Method (e.g., Isolation Forest)</a:t>
            </a:r>
          </a:p>
        </p:txBody>
      </p:sp>
      <p:sp>
        <p:nvSpPr>
          <p:cNvPr id="8" name="TextBox 7"/>
          <p:cNvSpPr txBox="1"/>
          <p:nvPr/>
        </p:nvSpPr>
        <p:spPr>
          <a:xfrm>
            <a:off x="822960" y="2423160"/>
            <a:ext cx="4572000" cy="310896"/>
          </a:xfrm>
          <a:prstGeom prst="rect">
            <a:avLst/>
          </a:prstGeom>
          <a:noFill/>
        </p:spPr>
        <p:txBody>
          <a:bodyPr wrap="square">
            <a:spAutoFit/>
          </a:bodyPr>
          <a:lstStyle/>
          <a:p>
            <a:pPr algn="l">
              <a:defRPr sz="1300" b="0">
                <a:solidFill>
                  <a:srgbClr val="505050"/>
                </a:solidFill>
                <a:latin typeface="Calibri"/>
              </a:defRPr>
            </a:pPr>
            <a:r>
              <a:t>  Checks: Is this user a statistical outlier?</a:t>
            </a:r>
          </a:p>
        </p:txBody>
      </p:sp>
      <p:sp>
        <p:nvSpPr>
          <p:cNvPr id="9" name="TextBox 8"/>
          <p:cNvSpPr txBox="1"/>
          <p:nvPr/>
        </p:nvSpPr>
        <p:spPr>
          <a:xfrm>
            <a:off x="822960" y="2734056"/>
            <a:ext cx="4572000" cy="310896"/>
          </a:xfrm>
          <a:prstGeom prst="rect">
            <a:avLst/>
          </a:prstGeom>
          <a:noFill/>
        </p:spPr>
        <p:txBody>
          <a:bodyPr wrap="square">
            <a:spAutoFit/>
          </a:bodyPr>
          <a:lstStyle/>
          <a:p>
            <a:pPr algn="l">
              <a:defRPr sz="1300" b="0">
                <a:solidFill>
                  <a:srgbClr val="505050"/>
                </a:solidFill>
                <a:latin typeface="Calibri"/>
              </a:defRPr>
            </a:pPr>
            <a:r>
              <a:t>  Measures: Distance from center of data cluster</a:t>
            </a:r>
          </a:p>
        </p:txBody>
      </p:sp>
      <p:sp>
        <p:nvSpPr>
          <p:cNvPr id="10" name="TextBox 9"/>
          <p:cNvSpPr txBox="1"/>
          <p:nvPr/>
        </p:nvSpPr>
        <p:spPr>
          <a:xfrm>
            <a:off x="822960" y="3044952"/>
            <a:ext cx="4572000" cy="310896"/>
          </a:xfrm>
          <a:prstGeom prst="rect">
            <a:avLst/>
          </a:prstGeom>
          <a:noFill/>
        </p:spPr>
        <p:txBody>
          <a:bodyPr wrap="square">
            <a:spAutoFit/>
          </a:bodyPr>
          <a:lstStyle/>
          <a:p>
            <a:pPr algn="l">
              <a:defRPr sz="1300" b="0">
                <a:solidFill>
                  <a:srgbClr val="505050"/>
                </a:solidFill>
                <a:latin typeface="Calibri"/>
              </a:defRPr>
            </a:pPr>
            <a:r>
              <a:t>  Fails when: Attacker stays near the center</a:t>
            </a:r>
          </a:p>
        </p:txBody>
      </p:sp>
      <p:sp>
        <p:nvSpPr>
          <p:cNvPr id="11" name="TextBox 10"/>
          <p:cNvSpPr txBox="1"/>
          <p:nvPr/>
        </p:nvSpPr>
        <p:spPr>
          <a:xfrm>
            <a:off x="822960" y="3355848"/>
            <a:ext cx="4572000" cy="310896"/>
          </a:xfrm>
          <a:prstGeom prst="rect">
            <a:avLst/>
          </a:prstGeom>
          <a:noFill/>
        </p:spPr>
        <p:txBody>
          <a:bodyPr wrap="square">
            <a:spAutoFit/>
          </a:bodyPr>
          <a:lstStyle/>
          <a:p>
            <a:pPr algn="l">
              <a:defRPr sz="1300" b="0">
                <a:solidFill>
                  <a:srgbClr val="505050"/>
                </a:solidFill>
                <a:latin typeface="Calibri"/>
              </a:defRPr>
            </a:pPr>
            <a:r>
              <a:t>  Result: Attacker classified as NORMAL</a:t>
            </a:r>
          </a:p>
        </p:txBody>
      </p:sp>
      <p:sp>
        <p:nvSpPr>
          <p:cNvPr id="12" name="TextBox 11"/>
          <p:cNvSpPr txBox="1"/>
          <p:nvPr/>
        </p:nvSpPr>
        <p:spPr>
          <a:xfrm>
            <a:off x="822960" y="3977640"/>
            <a:ext cx="4572000" cy="310896"/>
          </a:xfrm>
          <a:prstGeom prst="rect">
            <a:avLst/>
          </a:prstGeom>
          <a:noFill/>
        </p:spPr>
        <p:txBody>
          <a:bodyPr wrap="square">
            <a:spAutoFit/>
          </a:bodyPr>
          <a:lstStyle/>
          <a:p>
            <a:pPr algn="l">
              <a:defRPr sz="1300" b="1">
                <a:solidFill>
                  <a:srgbClr val="C0392B"/>
                </a:solidFill>
                <a:latin typeface="Calibri"/>
              </a:defRPr>
            </a:pPr>
            <a:r>
              <a:t>Why it fails:</a:t>
            </a:r>
          </a:p>
        </p:txBody>
      </p:sp>
      <p:sp>
        <p:nvSpPr>
          <p:cNvPr id="13" name="TextBox 12"/>
          <p:cNvSpPr txBox="1"/>
          <p:nvPr/>
        </p:nvSpPr>
        <p:spPr>
          <a:xfrm>
            <a:off x="822960" y="4288536"/>
            <a:ext cx="4572000" cy="310896"/>
          </a:xfrm>
          <a:prstGeom prst="rect">
            <a:avLst/>
          </a:prstGeom>
          <a:noFill/>
        </p:spPr>
        <p:txBody>
          <a:bodyPr wrap="square">
            <a:spAutoFit/>
          </a:bodyPr>
          <a:lstStyle/>
          <a:p>
            <a:pPr algn="l">
              <a:defRPr sz="1300" b="0">
                <a:solidFill>
                  <a:srgbClr val="C0392B"/>
                </a:solidFill>
                <a:latin typeface="Calibri"/>
              </a:defRPr>
            </a:pPr>
            <a:r>
              <a:t>  An insider who increases file access by 5% each week</a:t>
            </a:r>
          </a:p>
        </p:txBody>
      </p:sp>
      <p:sp>
        <p:nvSpPr>
          <p:cNvPr id="14" name="TextBox 13"/>
          <p:cNvSpPr txBox="1"/>
          <p:nvPr/>
        </p:nvSpPr>
        <p:spPr>
          <a:xfrm>
            <a:off x="822960" y="4599432"/>
            <a:ext cx="4572000" cy="310896"/>
          </a:xfrm>
          <a:prstGeom prst="rect">
            <a:avLst/>
          </a:prstGeom>
          <a:noFill/>
        </p:spPr>
        <p:txBody>
          <a:bodyPr wrap="square">
            <a:spAutoFit/>
          </a:bodyPr>
          <a:lstStyle/>
          <a:p>
            <a:pPr algn="l">
              <a:defRPr sz="1300" b="0">
                <a:solidFill>
                  <a:srgbClr val="C0392B"/>
                </a:solidFill>
                <a:latin typeface="Calibri"/>
              </a:defRPr>
            </a:pPr>
            <a:r>
              <a:t>  is never far enough from the mean to trigger an alert.</a:t>
            </a:r>
          </a:p>
        </p:txBody>
      </p:sp>
      <p:sp>
        <p:nvSpPr>
          <p:cNvPr id="15" name="TextBox 14"/>
          <p:cNvSpPr txBox="1"/>
          <p:nvPr/>
        </p:nvSpPr>
        <p:spPr>
          <a:xfrm>
            <a:off x="822960" y="4910328"/>
            <a:ext cx="4572000" cy="310896"/>
          </a:xfrm>
          <a:prstGeom prst="rect">
            <a:avLst/>
          </a:prstGeom>
          <a:noFill/>
        </p:spPr>
        <p:txBody>
          <a:bodyPr wrap="square">
            <a:spAutoFit/>
          </a:bodyPr>
          <a:lstStyle/>
          <a:p>
            <a:pPr algn="l">
              <a:defRPr sz="1300" b="0">
                <a:solidFill>
                  <a:srgbClr val="C0392B"/>
                </a:solidFill>
                <a:latin typeface="Calibri"/>
              </a:defRPr>
            </a:pPr>
            <a:r>
              <a:t>  Each individual metric looks normal.</a:t>
            </a:r>
          </a:p>
        </p:txBody>
      </p:sp>
      <p:sp>
        <p:nvSpPr>
          <p:cNvPr id="16" name="Rounded Rectangle 15"/>
          <p:cNvSpPr/>
          <p:nvPr/>
        </p:nvSpPr>
        <p:spPr>
          <a:xfrm>
            <a:off x="6217920" y="1828800"/>
            <a:ext cx="539496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828800"/>
            <a:ext cx="530352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11680"/>
            <a:ext cx="5029200" cy="365760"/>
          </a:xfrm>
          <a:prstGeom prst="rect">
            <a:avLst/>
          </a:prstGeom>
          <a:noFill/>
        </p:spPr>
        <p:txBody>
          <a:bodyPr wrap="square">
            <a:spAutoFit/>
          </a:bodyPr>
          <a:lstStyle/>
          <a:p>
            <a:pPr algn="l">
              <a:defRPr sz="1600" b="1">
                <a:solidFill>
                  <a:srgbClr val="27AE60"/>
                </a:solidFill>
                <a:latin typeface="Calibri"/>
              </a:defRPr>
            </a:pPr>
            <a:r>
              <a:t>Composite Scoring (5 Phases)</a:t>
            </a:r>
          </a:p>
        </p:txBody>
      </p:sp>
      <p:sp>
        <p:nvSpPr>
          <p:cNvPr id="19" name="Rounded Rectangle 18"/>
          <p:cNvSpPr/>
          <p:nvPr/>
        </p:nvSpPr>
        <p:spPr>
          <a:xfrm>
            <a:off x="6492240" y="2468880"/>
            <a:ext cx="164592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Signal Strength</a:t>
            </a:r>
          </a:p>
        </p:txBody>
      </p:sp>
      <p:sp>
        <p:nvSpPr>
          <p:cNvPr id="20" name="TextBox 19"/>
          <p:cNvSpPr txBox="1"/>
          <p:nvPr/>
        </p:nvSpPr>
        <p:spPr>
          <a:xfrm>
            <a:off x="8321040" y="2468880"/>
            <a:ext cx="3200400" cy="320040"/>
          </a:xfrm>
          <a:prstGeom prst="rect">
            <a:avLst/>
          </a:prstGeom>
          <a:noFill/>
        </p:spPr>
        <p:txBody>
          <a:bodyPr wrap="square">
            <a:spAutoFit/>
          </a:bodyPr>
          <a:lstStyle/>
          <a:p>
            <a:pPr algn="l">
              <a:defRPr sz="1200" b="0">
                <a:solidFill>
                  <a:srgbClr val="505050"/>
                </a:solidFill>
                <a:latin typeface="Calibri"/>
              </a:defRPr>
            </a:pPr>
            <a:r>
              <a:t>Is the drift larger than their peer group?</a:t>
            </a:r>
          </a:p>
        </p:txBody>
      </p:sp>
      <p:sp>
        <p:nvSpPr>
          <p:cNvPr id="21" name="Rounded Rectangle 20"/>
          <p:cNvSpPr/>
          <p:nvPr/>
        </p:nvSpPr>
        <p:spPr>
          <a:xfrm>
            <a:off x="6492240" y="3017520"/>
            <a:ext cx="164592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Breadth</a:t>
            </a:r>
          </a:p>
        </p:txBody>
      </p:sp>
      <p:sp>
        <p:nvSpPr>
          <p:cNvPr id="22" name="TextBox 21"/>
          <p:cNvSpPr txBox="1"/>
          <p:nvPr/>
        </p:nvSpPr>
        <p:spPr>
          <a:xfrm>
            <a:off x="8321040" y="3017520"/>
            <a:ext cx="3200400" cy="320040"/>
          </a:xfrm>
          <a:prstGeom prst="rect">
            <a:avLst/>
          </a:prstGeom>
          <a:noFill/>
        </p:spPr>
        <p:txBody>
          <a:bodyPr wrap="square">
            <a:spAutoFit/>
          </a:bodyPr>
          <a:lstStyle/>
          <a:p>
            <a:pPr algn="l">
              <a:defRPr sz="1200" b="0">
                <a:solidFill>
                  <a:srgbClr val="505050"/>
                </a:solidFill>
                <a:latin typeface="Calibri"/>
              </a:defRPr>
            </a:pPr>
            <a:r>
              <a:t>Are multiple behaviors anomalous at once?</a:t>
            </a:r>
          </a:p>
        </p:txBody>
      </p:sp>
      <p:sp>
        <p:nvSpPr>
          <p:cNvPr id="23" name="Rounded Rectangle 22"/>
          <p:cNvSpPr/>
          <p:nvPr/>
        </p:nvSpPr>
        <p:spPr>
          <a:xfrm>
            <a:off x="6492240" y="3566160"/>
            <a:ext cx="164592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Sustained</a:t>
            </a:r>
          </a:p>
        </p:txBody>
      </p:sp>
      <p:sp>
        <p:nvSpPr>
          <p:cNvPr id="24" name="TextBox 23"/>
          <p:cNvSpPr txBox="1"/>
          <p:nvPr/>
        </p:nvSpPr>
        <p:spPr>
          <a:xfrm>
            <a:off x="8321040" y="3566160"/>
            <a:ext cx="3200400" cy="320040"/>
          </a:xfrm>
          <a:prstGeom prst="rect">
            <a:avLst/>
          </a:prstGeom>
          <a:noFill/>
        </p:spPr>
        <p:txBody>
          <a:bodyPr wrap="square">
            <a:spAutoFit/>
          </a:bodyPr>
          <a:lstStyle/>
          <a:p>
            <a:pPr algn="l">
              <a:defRPr sz="1200" b="0">
                <a:solidFill>
                  <a:srgbClr val="505050"/>
                </a:solidFill>
                <a:latin typeface="Calibri"/>
              </a:defRPr>
            </a:pPr>
            <a:r>
              <a:t>Does the anomaly persist across weeks?</a:t>
            </a:r>
          </a:p>
        </p:txBody>
      </p:sp>
      <p:sp>
        <p:nvSpPr>
          <p:cNvPr id="25" name="Rounded Rectangle 24"/>
          <p:cNvSpPr/>
          <p:nvPr/>
        </p:nvSpPr>
        <p:spPr>
          <a:xfrm>
            <a:off x="6492240" y="4114799"/>
            <a:ext cx="164592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Context</a:t>
            </a:r>
          </a:p>
        </p:txBody>
      </p:sp>
      <p:sp>
        <p:nvSpPr>
          <p:cNvPr id="26" name="TextBox 25"/>
          <p:cNvSpPr txBox="1"/>
          <p:nvPr/>
        </p:nvSpPr>
        <p:spPr>
          <a:xfrm>
            <a:off x="8321040" y="4114799"/>
            <a:ext cx="3200400" cy="320040"/>
          </a:xfrm>
          <a:prstGeom prst="rect">
            <a:avLst/>
          </a:prstGeom>
          <a:noFill/>
        </p:spPr>
        <p:txBody>
          <a:bodyPr wrap="square">
            <a:spAutoFit/>
          </a:bodyPr>
          <a:lstStyle/>
          <a:p>
            <a:pPr algn="l">
              <a:defRPr sz="1200" b="0">
                <a:solidFill>
                  <a:srgbClr val="505050"/>
                </a:solidFill>
                <a:latin typeface="Calibri"/>
              </a:defRPr>
            </a:pPr>
            <a:r>
              <a:t>Is it anomalous from multiple analytical angles?</a:t>
            </a:r>
          </a:p>
        </p:txBody>
      </p:sp>
      <p:sp>
        <p:nvSpPr>
          <p:cNvPr id="27" name="Rounded Rectangle 26"/>
          <p:cNvSpPr/>
          <p:nvPr/>
        </p:nvSpPr>
        <p:spPr>
          <a:xfrm>
            <a:off x="6492240" y="4663440"/>
            <a:ext cx="1645920" cy="3200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Novelty</a:t>
            </a:r>
          </a:p>
        </p:txBody>
      </p:sp>
      <p:sp>
        <p:nvSpPr>
          <p:cNvPr id="28" name="TextBox 27"/>
          <p:cNvSpPr txBox="1"/>
          <p:nvPr/>
        </p:nvSpPr>
        <p:spPr>
          <a:xfrm>
            <a:off x="8321040" y="4663440"/>
            <a:ext cx="3200400" cy="320040"/>
          </a:xfrm>
          <a:prstGeom prst="rect">
            <a:avLst/>
          </a:prstGeom>
          <a:noFill/>
        </p:spPr>
        <p:txBody>
          <a:bodyPr wrap="square">
            <a:spAutoFit/>
          </a:bodyPr>
          <a:lstStyle/>
          <a:p>
            <a:pPr algn="l">
              <a:defRPr sz="1200" b="0">
                <a:solidFill>
                  <a:srgbClr val="505050"/>
                </a:solidFill>
                <a:latin typeface="Calibri"/>
              </a:defRPr>
            </a:pPr>
            <a:r>
              <a:t>Are new behaviors (new destinations, new files) recurring?</a:t>
            </a:r>
          </a:p>
        </p:txBody>
      </p:sp>
      <p:sp>
        <p:nvSpPr>
          <p:cNvPr id="29" name="TextBox 28"/>
          <p:cNvSpPr txBox="1"/>
          <p:nvPr/>
        </p:nvSpPr>
        <p:spPr>
          <a:xfrm>
            <a:off x="6492240" y="4846320"/>
            <a:ext cx="5029200" cy="365760"/>
          </a:xfrm>
          <a:prstGeom prst="rect">
            <a:avLst/>
          </a:prstGeom>
          <a:noFill/>
        </p:spPr>
        <p:txBody>
          <a:bodyPr wrap="square">
            <a:spAutoFit/>
          </a:bodyPr>
          <a:lstStyle/>
          <a:p>
            <a:pPr algn="l">
              <a:defRPr sz="1300" b="1">
                <a:solidFill>
                  <a:srgbClr val="27AE60"/>
                </a:solidFill>
                <a:latin typeface="Calibri"/>
              </a:defRPr>
            </a:pPr>
            <a:r>
              <a:t>A normal user may score high on 1 phase by chance.</a:t>
            </a:r>
            <a:br/>
            <a:r>
              <a:t>An attacker scores high on multiple phases — that's the signal.</a:t>
            </a:r>
          </a:p>
        </p:txBody>
      </p:sp>
      <p:sp>
        <p:nvSpPr>
          <p:cNvPr id="30" name="Rounded Rectangle 29"/>
          <p:cNvSpPr/>
          <p:nvPr/>
        </p:nvSpPr>
        <p:spPr>
          <a:xfrm>
            <a:off x="548640" y="5669280"/>
            <a:ext cx="11064240" cy="731520"/>
          </a:xfrm>
          <a:prstGeom prst="roundRect">
            <a:avLst/>
          </a:prstGeom>
          <a:solidFill>
            <a:srgbClr val="FFFBEB"/>
          </a:solid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15000"/>
            <a:ext cx="10515600" cy="320040"/>
          </a:xfrm>
          <a:prstGeom prst="rect">
            <a:avLst/>
          </a:prstGeom>
          <a:noFill/>
        </p:spPr>
        <p:txBody>
          <a:bodyPr wrap="square">
            <a:spAutoFit/>
          </a:bodyPr>
          <a:lstStyle/>
          <a:p>
            <a:pPr algn="l">
              <a:defRPr sz="1500" b="1">
                <a:solidFill>
                  <a:srgbClr val="B7950B"/>
                </a:solidFill>
                <a:latin typeface="Calibri"/>
              </a:defRPr>
            </a:pPr>
            <a:r>
              <a:t>The Analogy:</a:t>
            </a:r>
          </a:p>
        </p:txBody>
      </p:sp>
      <p:sp>
        <p:nvSpPr>
          <p:cNvPr id="32" name="TextBox 31"/>
          <p:cNvSpPr txBox="1"/>
          <p:nvPr/>
        </p:nvSpPr>
        <p:spPr>
          <a:xfrm>
            <a:off x="822960" y="6035040"/>
            <a:ext cx="10515600" cy="320040"/>
          </a:xfrm>
          <a:prstGeom prst="rect">
            <a:avLst/>
          </a:prstGeom>
          <a:noFill/>
        </p:spPr>
        <p:txBody>
          <a:bodyPr wrap="square">
            <a:spAutoFit/>
          </a:bodyPr>
          <a:lstStyle/>
          <a:p>
            <a:pPr algn="l">
              <a:defRPr sz="1400" b="0">
                <a:solidFill>
                  <a:srgbClr val="505050"/>
                </a:solidFill>
                <a:latin typeface="Calibri"/>
              </a:defRPr>
            </a:pPr>
            <a:r>
              <a:t>Traditional detection is like checking if someone is too tall or too heavy. Composite scoring is like noticing they're walking differently, going to new places, keeping different hours, and talking to different people — all at once, over weeks.</a:t>
            </a:r>
          </a:p>
        </p:txBody>
      </p:sp>
      <p:sp>
        <p:nvSpPr>
          <p:cNvPr id="33" name="TextBox 32"/>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Head-to-Head Results: Same Data, Different Outcomes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457200"/>
          </a:xfrm>
          <a:prstGeom prst="rect">
            <a:avLst/>
          </a:prstGeom>
          <a:noFill/>
        </p:spPr>
        <p:txBody>
          <a:bodyPr wrap="square">
            <a:spAutoFit/>
          </a:bodyPr>
          <a:lstStyle/>
          <a:p>
            <a:pPr algn="l">
              <a:defRPr sz="1600" b="0">
                <a:solidFill>
                  <a:srgbClr val="505050"/>
                </a:solidFill>
                <a:latin typeface="Calibri"/>
              </a:defRPr>
            </a:pPr>
            <a:r>
              <a:t>250 users monitored over 70 weeks (485 days). 4 known attack campaigns embedded in the population.</a:t>
            </a:r>
          </a:p>
        </p:txBody>
      </p:sp>
      <p:sp>
        <p:nvSpPr>
          <p:cNvPr id="5" name="Rounded Rectangle 4"/>
          <p:cNvSpPr/>
          <p:nvPr/>
        </p:nvSpPr>
        <p:spPr>
          <a:xfrm>
            <a:off x="548640" y="1828800"/>
            <a:ext cx="530352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828800"/>
            <a:ext cx="52120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4754880" cy="365760"/>
          </a:xfrm>
          <a:prstGeom prst="rect">
            <a:avLst/>
          </a:prstGeom>
          <a:noFill/>
        </p:spPr>
        <p:txBody>
          <a:bodyPr wrap="square">
            <a:spAutoFit/>
          </a:bodyPr>
          <a:lstStyle/>
          <a:p>
            <a:pPr algn="ctr">
              <a:defRPr sz="2000" b="1">
                <a:solidFill>
                  <a:srgbClr val="C0392B"/>
                </a:solidFill>
                <a:latin typeface="Calibri"/>
              </a:defRPr>
            </a:pPr>
            <a:r>
              <a:t>TRADITIONAL DETECTION</a:t>
            </a:r>
          </a:p>
        </p:txBody>
      </p:sp>
      <p:sp>
        <p:nvSpPr>
          <p:cNvPr id="8" name="TextBox 7"/>
          <p:cNvSpPr txBox="1"/>
          <p:nvPr/>
        </p:nvSpPr>
        <p:spPr>
          <a:xfrm>
            <a:off x="822960" y="2423160"/>
            <a:ext cx="4754880" cy="274320"/>
          </a:xfrm>
          <a:prstGeom prst="rect">
            <a:avLst/>
          </a:prstGeom>
          <a:noFill/>
        </p:spPr>
        <p:txBody>
          <a:bodyPr wrap="square">
            <a:spAutoFit/>
          </a:bodyPr>
          <a:lstStyle/>
          <a:p>
            <a:pPr algn="ctr">
              <a:defRPr sz="1300" b="0">
                <a:solidFill>
                  <a:srgbClr val="969696"/>
                </a:solidFill>
                <a:latin typeface="Calibri"/>
              </a:defRPr>
            </a:pPr>
            <a:r>
              <a:t>Isolation Forest, SVM, LOF, Z-Score</a:t>
            </a:r>
          </a:p>
        </p:txBody>
      </p:sp>
      <p:sp>
        <p:nvSpPr>
          <p:cNvPr id="9" name="TextBox 8"/>
          <p:cNvSpPr txBox="1"/>
          <p:nvPr/>
        </p:nvSpPr>
        <p:spPr>
          <a:xfrm>
            <a:off x="822960" y="2926080"/>
            <a:ext cx="4754880" cy="731520"/>
          </a:xfrm>
          <a:prstGeom prst="rect">
            <a:avLst/>
          </a:prstGeom>
          <a:noFill/>
        </p:spPr>
        <p:txBody>
          <a:bodyPr wrap="square">
            <a:spAutoFit/>
          </a:bodyPr>
          <a:lstStyle/>
          <a:p>
            <a:pPr algn="ctr">
              <a:defRPr sz="5600" b="1">
                <a:solidFill>
                  <a:srgbClr val="E67E22"/>
                </a:solidFill>
                <a:latin typeface="Calibri"/>
              </a:defRPr>
            </a:pPr>
            <a:r>
              <a:t>3–4 of 4</a:t>
            </a:r>
          </a:p>
        </p:txBody>
      </p:sp>
      <p:sp>
        <p:nvSpPr>
          <p:cNvPr id="10" name="TextBox 9"/>
          <p:cNvSpPr txBox="1"/>
          <p:nvPr/>
        </p:nvSpPr>
        <p:spPr>
          <a:xfrm>
            <a:off x="822960" y="3749039"/>
            <a:ext cx="4754880" cy="365760"/>
          </a:xfrm>
          <a:prstGeom prst="rect">
            <a:avLst/>
          </a:prstGeom>
          <a:noFill/>
        </p:spPr>
        <p:txBody>
          <a:bodyPr wrap="square">
            <a:spAutoFit/>
          </a:bodyPr>
          <a:lstStyle/>
          <a:p>
            <a:pPr algn="ctr">
              <a:defRPr sz="1800" b="0">
                <a:solidFill>
                  <a:srgbClr val="0D1B2A"/>
                </a:solidFill>
                <a:latin typeface="Calibri"/>
              </a:defRPr>
            </a:pPr>
            <a:r>
              <a:t>flagged as anomalous — but no direction</a:t>
            </a:r>
          </a:p>
        </p:txBody>
      </p:sp>
      <p:sp>
        <p:nvSpPr>
          <p:cNvPr id="11" name="TextBox 10"/>
          <p:cNvSpPr txBox="1"/>
          <p:nvPr/>
        </p:nvSpPr>
        <p:spPr>
          <a:xfrm>
            <a:off x="822960" y="4297680"/>
            <a:ext cx="4754880" cy="365760"/>
          </a:xfrm>
          <a:prstGeom prst="rect">
            <a:avLst/>
          </a:prstGeom>
          <a:noFill/>
        </p:spPr>
        <p:txBody>
          <a:bodyPr wrap="square">
            <a:spAutoFit/>
          </a:bodyPr>
          <a:lstStyle/>
          <a:p>
            <a:pPr algn="ctr">
              <a:defRPr sz="1400" b="1">
                <a:solidFill>
                  <a:srgbClr val="0D1B2A"/>
                </a:solidFill>
                <a:latin typeface="Calibri"/>
              </a:defRPr>
            </a:pPr>
            <a:r>
              <a:t>Z-Score and OCSVM flag 4/4; LOF and IF miss the slow APT</a:t>
            </a:r>
          </a:p>
        </p:txBody>
      </p:sp>
      <p:sp>
        <p:nvSpPr>
          <p:cNvPr id="12" name="TextBox 11"/>
          <p:cNvSpPr txBox="1"/>
          <p:nvPr/>
        </p:nvSpPr>
        <p:spPr>
          <a:xfrm>
            <a:off x="822960" y="4846320"/>
            <a:ext cx="4754880" cy="731520"/>
          </a:xfrm>
          <a:prstGeom prst="rect">
            <a:avLst/>
          </a:prstGeom>
          <a:noFill/>
        </p:spPr>
        <p:txBody>
          <a:bodyPr wrap="square">
            <a:spAutoFit/>
          </a:bodyPr>
          <a:lstStyle/>
          <a:p>
            <a:pPr algn="ctr">
              <a:defRPr sz="1300" b="0">
                <a:solidFill>
                  <a:srgbClr val="505050"/>
                </a:solidFill>
                <a:latin typeface="Calibri"/>
              </a:defRPr>
            </a:pPr>
            <a:r>
              <a:t>Traditional methods say "anomalous" but cannot tell the analyst WHICH behavioral zone shifted or TOWARD WHAT threat pattern. FP rates range from 3.3% to 29.7%.</a:t>
            </a:r>
          </a:p>
        </p:txBody>
      </p:sp>
      <p:sp>
        <p:nvSpPr>
          <p:cNvPr id="13" name="Rounded Rectangle 12"/>
          <p:cNvSpPr/>
          <p:nvPr/>
        </p:nvSpPr>
        <p:spPr>
          <a:xfrm>
            <a:off x="6309360" y="1828800"/>
            <a:ext cx="530352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828800"/>
            <a:ext cx="521208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011680"/>
            <a:ext cx="4754880" cy="365760"/>
          </a:xfrm>
          <a:prstGeom prst="rect">
            <a:avLst/>
          </a:prstGeom>
          <a:noFill/>
        </p:spPr>
        <p:txBody>
          <a:bodyPr wrap="square">
            <a:spAutoFit/>
          </a:bodyPr>
          <a:lstStyle/>
          <a:p>
            <a:pPr algn="ctr">
              <a:defRPr sz="2000" b="1">
                <a:solidFill>
                  <a:srgbClr val="27AE60"/>
                </a:solidFill>
                <a:latin typeface="Calibri"/>
              </a:defRPr>
            </a:pPr>
            <a:r>
              <a:t>V-INTELLIGENCE UEBA + COMPOSITE SCORING</a:t>
            </a:r>
          </a:p>
        </p:txBody>
      </p:sp>
      <p:sp>
        <p:nvSpPr>
          <p:cNvPr id="16" name="TextBox 15"/>
          <p:cNvSpPr txBox="1"/>
          <p:nvPr/>
        </p:nvSpPr>
        <p:spPr>
          <a:xfrm>
            <a:off x="6583680" y="2423160"/>
            <a:ext cx="4754880" cy="274320"/>
          </a:xfrm>
          <a:prstGeom prst="rect">
            <a:avLst/>
          </a:prstGeom>
          <a:noFill/>
        </p:spPr>
        <p:txBody>
          <a:bodyPr wrap="square">
            <a:spAutoFit/>
          </a:bodyPr>
          <a:lstStyle/>
          <a:p>
            <a:pPr algn="ctr">
              <a:defRPr sz="1300" b="0">
                <a:solidFill>
                  <a:srgbClr val="969696"/>
                </a:solidFill>
                <a:latin typeface="Calibri"/>
              </a:defRPr>
            </a:pPr>
            <a:r>
              <a:t>Digital Entity Features → 5-Phase Anomaly Detection</a:t>
            </a:r>
          </a:p>
        </p:txBody>
      </p:sp>
      <p:sp>
        <p:nvSpPr>
          <p:cNvPr id="17" name="TextBox 16"/>
          <p:cNvSpPr txBox="1"/>
          <p:nvPr/>
        </p:nvSpPr>
        <p:spPr>
          <a:xfrm>
            <a:off x="6583680" y="2926080"/>
            <a:ext cx="4754880" cy="731520"/>
          </a:xfrm>
          <a:prstGeom prst="rect">
            <a:avLst/>
          </a:prstGeom>
          <a:noFill/>
        </p:spPr>
        <p:txBody>
          <a:bodyPr wrap="square">
            <a:spAutoFit/>
          </a:bodyPr>
          <a:lstStyle/>
          <a:p>
            <a:pPr algn="ctr">
              <a:defRPr sz="5600" b="1">
                <a:solidFill>
                  <a:srgbClr val="27AE60"/>
                </a:solidFill>
                <a:latin typeface="Calibri"/>
              </a:defRPr>
            </a:pPr>
            <a:r>
              <a:t>4 of 4</a:t>
            </a:r>
          </a:p>
        </p:txBody>
      </p:sp>
      <p:sp>
        <p:nvSpPr>
          <p:cNvPr id="18" name="TextBox 17"/>
          <p:cNvSpPr txBox="1"/>
          <p:nvPr/>
        </p:nvSpPr>
        <p:spPr>
          <a:xfrm>
            <a:off x="6583680" y="3749039"/>
            <a:ext cx="4754880" cy="365760"/>
          </a:xfrm>
          <a:prstGeom prst="rect">
            <a:avLst/>
          </a:prstGeom>
          <a:noFill/>
        </p:spPr>
        <p:txBody>
          <a:bodyPr wrap="square">
            <a:spAutoFit/>
          </a:bodyPr>
          <a:lstStyle/>
          <a:p>
            <a:pPr algn="ctr">
              <a:defRPr sz="1800" b="0">
                <a:solidFill>
                  <a:srgbClr val="0D1B2A"/>
                </a:solidFill>
                <a:latin typeface="Calibri"/>
              </a:defRPr>
            </a:pPr>
            <a:r>
              <a:t>attacks detected</a:t>
            </a:r>
          </a:p>
        </p:txBody>
      </p:sp>
      <p:sp>
        <p:nvSpPr>
          <p:cNvPr id="19" name="TextBox 18"/>
          <p:cNvSpPr txBox="1"/>
          <p:nvPr/>
        </p:nvSpPr>
        <p:spPr>
          <a:xfrm>
            <a:off x="6583680" y="4297680"/>
            <a:ext cx="4754880" cy="365760"/>
          </a:xfrm>
          <a:prstGeom prst="rect">
            <a:avLst/>
          </a:prstGeom>
          <a:noFill/>
        </p:spPr>
        <p:txBody>
          <a:bodyPr wrap="square">
            <a:spAutoFit/>
          </a:bodyPr>
          <a:lstStyle/>
          <a:p>
            <a:pPr algn="ctr">
              <a:defRPr sz="1400" b="1">
                <a:solidFill>
                  <a:srgbClr val="0D1B2A"/>
                </a:solidFill>
                <a:latin typeface="Calibri"/>
              </a:defRPr>
            </a:pPr>
            <a:r>
              <a:t>10.6% FP rate + directional intelligence</a:t>
            </a:r>
          </a:p>
        </p:txBody>
      </p:sp>
      <p:sp>
        <p:nvSpPr>
          <p:cNvPr id="20" name="TextBox 19"/>
          <p:cNvSpPr txBox="1"/>
          <p:nvPr/>
        </p:nvSpPr>
        <p:spPr>
          <a:xfrm>
            <a:off x="6583680" y="4846320"/>
            <a:ext cx="4754880" cy="731520"/>
          </a:xfrm>
          <a:prstGeom prst="rect">
            <a:avLst/>
          </a:prstGeom>
          <a:noFill/>
        </p:spPr>
        <p:txBody>
          <a:bodyPr wrap="square">
            <a:spAutoFit/>
          </a:bodyPr>
          <a:lstStyle/>
          <a:p>
            <a:pPr algn="ctr">
              <a:defRPr sz="1300" b="0">
                <a:solidFill>
                  <a:srgbClr val="505050"/>
                </a:solidFill>
                <a:latin typeface="Calibri"/>
              </a:defRPr>
            </a:pPr>
            <a:r>
              <a:t>All 4 detected with actionable direction: tells the analyst WHICH behavioral zone changed and TOWARD WHAT threat pattern. Ranked list, no threshold tuning.</a:t>
            </a:r>
          </a:p>
        </p:txBody>
      </p:sp>
      <p:sp>
        <p:nvSpPr>
          <p:cNvPr id="21" name="Rounded Rectangle 20"/>
          <p:cNvSpPr/>
          <p:nvPr/>
        </p:nvSpPr>
        <p:spPr>
          <a:xfrm>
            <a:off x="548640" y="6126480"/>
            <a:ext cx="11064240" cy="4572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153912"/>
            <a:ext cx="10515600" cy="365760"/>
          </a:xfrm>
          <a:prstGeom prst="rect">
            <a:avLst/>
          </a:prstGeom>
          <a:noFill/>
        </p:spPr>
        <p:txBody>
          <a:bodyPr wrap="square">
            <a:spAutoFit/>
          </a:bodyPr>
          <a:lstStyle/>
          <a:p>
            <a:pPr algn="ctr">
              <a:defRPr sz="1400" b="1">
                <a:solidFill>
                  <a:srgbClr val="B7950B"/>
                </a:solidFill>
                <a:latin typeface="Calibri"/>
              </a:defRPr>
            </a:pPr>
            <a:r>
              <a:t>Same 250 users. Same 70 weeks. Same telemetry. The difference is what the system understands about behavior.</a:t>
            </a:r>
          </a:p>
        </p:txBody>
      </p:sp>
      <p:sp>
        <p:nvSpPr>
          <p:cNvPr id="23" name="TextBox 22"/>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Why Each Attacker Gets Caught: Different Phases, Different Signals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457200"/>
          </a:xfrm>
          <a:prstGeom prst="rect">
            <a:avLst/>
          </a:prstGeom>
          <a:noFill/>
        </p:spPr>
        <p:txBody>
          <a:bodyPr wrap="square">
            <a:spAutoFit/>
          </a:bodyPr>
          <a:lstStyle/>
          <a:p>
            <a:pPr algn="l">
              <a:defRPr sz="1600" b="0">
                <a:solidFill>
                  <a:srgbClr val="505050"/>
                </a:solidFill>
                <a:latin typeface="Calibri"/>
              </a:defRPr>
            </a:pPr>
            <a:r>
              <a:t>No single detection phase catches everyone. Each attack type leaves a distinct behavioral fingerprint.</a:t>
            </a:r>
          </a:p>
        </p:txBody>
      </p:sp>
      <p:sp>
        <p:nvSpPr>
          <p:cNvPr id="5" name="Rounded Rectangle 4"/>
          <p:cNvSpPr/>
          <p:nvPr/>
        </p:nvSpPr>
        <p:spPr>
          <a:xfrm>
            <a:off x="548640" y="1737360"/>
            <a:ext cx="11064240" cy="105156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73152" cy="10515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1188720" cy="274320"/>
          </a:xfrm>
          <a:prstGeom prst="rect">
            <a:avLst/>
          </a:prstGeom>
          <a:noFill/>
        </p:spPr>
        <p:txBody>
          <a:bodyPr wrap="square">
            <a:spAutoFit/>
          </a:bodyPr>
          <a:lstStyle/>
          <a:p>
            <a:pPr algn="l">
              <a:defRPr sz="1700" b="1">
                <a:solidFill>
                  <a:srgbClr val="0D1B2A"/>
                </a:solidFill>
                <a:latin typeface="Calibri"/>
              </a:defRPr>
            </a:pPr>
            <a:r>
              <a:t>USR-118</a:t>
            </a:r>
          </a:p>
        </p:txBody>
      </p:sp>
      <p:sp>
        <p:nvSpPr>
          <p:cNvPr id="8" name="TextBox 7"/>
          <p:cNvSpPr txBox="1"/>
          <p:nvPr/>
        </p:nvSpPr>
        <p:spPr>
          <a:xfrm>
            <a:off x="822960" y="2057400"/>
            <a:ext cx="1828800" cy="274320"/>
          </a:xfrm>
          <a:prstGeom prst="rect">
            <a:avLst/>
          </a:prstGeom>
          <a:noFill/>
        </p:spPr>
        <p:txBody>
          <a:bodyPr wrap="square">
            <a:spAutoFit/>
          </a:bodyPr>
          <a:lstStyle/>
          <a:p>
            <a:pPr algn="l">
              <a:defRPr sz="1100" b="0">
                <a:solidFill>
                  <a:srgbClr val="969696"/>
                </a:solidFill>
                <a:latin typeface="Calibri"/>
              </a:defRPr>
            </a:pPr>
            <a:r>
              <a:t>Salt Typhoon — 412-Day Telecom Intrusion</a:t>
            </a:r>
          </a:p>
        </p:txBody>
      </p:sp>
      <p:sp>
        <p:nvSpPr>
          <p:cNvPr id="9" name="TextBox 8"/>
          <p:cNvSpPr txBox="1"/>
          <p:nvPr/>
        </p:nvSpPr>
        <p:spPr>
          <a:xfrm>
            <a:off x="822960" y="2331720"/>
            <a:ext cx="1828800" cy="274320"/>
          </a:xfrm>
          <a:prstGeom prst="rect">
            <a:avLst/>
          </a:prstGeom>
          <a:noFill/>
        </p:spPr>
        <p:txBody>
          <a:bodyPr wrap="square">
            <a:spAutoFit/>
          </a:bodyPr>
          <a:lstStyle/>
          <a:p>
            <a:pPr algn="l">
              <a:defRPr sz="1200" b="1">
                <a:solidFill>
                  <a:srgbClr val="2980B9"/>
                </a:solidFill>
                <a:latin typeface="Calibri"/>
              </a:defRPr>
            </a:pPr>
            <a:r>
              <a:t>Rank #1 / 250  •  Score 51.7</a:t>
            </a:r>
          </a:p>
        </p:txBody>
      </p:sp>
      <p:sp>
        <p:nvSpPr>
          <p:cNvPr id="10" name="Rounded Rectangle 9"/>
          <p:cNvSpPr/>
          <p:nvPr/>
        </p:nvSpPr>
        <p:spPr>
          <a:xfrm>
            <a:off x="2926080" y="1828800"/>
            <a:ext cx="2743200" cy="32004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Signal Strength + Sustained Deviation</a:t>
            </a:r>
          </a:p>
        </p:txBody>
      </p:sp>
      <p:sp>
        <p:nvSpPr>
          <p:cNvPr id="11" name="TextBox 10"/>
          <p:cNvSpPr txBox="1"/>
          <p:nvPr/>
        </p:nvSpPr>
        <p:spPr>
          <a:xfrm>
            <a:off x="2926080" y="2194560"/>
            <a:ext cx="8503920" cy="548640"/>
          </a:xfrm>
          <a:prstGeom prst="rect">
            <a:avLst/>
          </a:prstGeom>
          <a:noFill/>
        </p:spPr>
        <p:txBody>
          <a:bodyPr wrap="square">
            <a:spAutoFit/>
          </a:bodyPr>
          <a:lstStyle/>
          <a:p>
            <a:pPr algn="l">
              <a:defRPr sz="1200" b="0">
                <a:solidFill>
                  <a:srgbClr val="505050"/>
                </a:solidFill>
                <a:latin typeface="Calibri"/>
              </a:defRPr>
            </a:pPr>
            <a:r>
              <a:t>Flagged by Z-Score and OCSVM but buried in false positives with no directional context. Composite scoring ranks it #1 with actionable intelligence: WHICH zones shifted and TOWARD WHAT pattern.</a:t>
            </a:r>
          </a:p>
        </p:txBody>
      </p:sp>
      <p:sp>
        <p:nvSpPr>
          <p:cNvPr id="12" name="Rounded Rectangle 11"/>
          <p:cNvSpPr/>
          <p:nvPr/>
        </p:nvSpPr>
        <p:spPr>
          <a:xfrm>
            <a:off x="548640" y="2926080"/>
            <a:ext cx="11064240" cy="105156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926080"/>
            <a:ext cx="73152" cy="10515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71800"/>
            <a:ext cx="1188720" cy="274320"/>
          </a:xfrm>
          <a:prstGeom prst="rect">
            <a:avLst/>
          </a:prstGeom>
          <a:noFill/>
        </p:spPr>
        <p:txBody>
          <a:bodyPr wrap="square">
            <a:spAutoFit/>
          </a:bodyPr>
          <a:lstStyle/>
          <a:p>
            <a:pPr algn="l">
              <a:defRPr sz="1700" b="1">
                <a:solidFill>
                  <a:srgbClr val="0D1B2A"/>
                </a:solidFill>
                <a:latin typeface="Calibri"/>
              </a:defRPr>
            </a:pPr>
            <a:r>
              <a:t>USR-156</a:t>
            </a:r>
          </a:p>
        </p:txBody>
      </p:sp>
      <p:sp>
        <p:nvSpPr>
          <p:cNvPr id="15" name="TextBox 14"/>
          <p:cNvSpPr txBox="1"/>
          <p:nvPr/>
        </p:nvSpPr>
        <p:spPr>
          <a:xfrm>
            <a:off x="822960" y="3246120"/>
            <a:ext cx="1828800" cy="274320"/>
          </a:xfrm>
          <a:prstGeom prst="rect">
            <a:avLst/>
          </a:prstGeom>
          <a:noFill/>
        </p:spPr>
        <p:txBody>
          <a:bodyPr wrap="square">
            <a:spAutoFit/>
          </a:bodyPr>
          <a:lstStyle/>
          <a:p>
            <a:pPr algn="l">
              <a:defRPr sz="1100" b="0">
                <a:solidFill>
                  <a:srgbClr val="969696"/>
                </a:solidFill>
                <a:latin typeface="Calibri"/>
              </a:defRPr>
            </a:pPr>
            <a:r>
              <a:t>Insider Threat — 14-Month Escalation</a:t>
            </a:r>
          </a:p>
        </p:txBody>
      </p:sp>
      <p:sp>
        <p:nvSpPr>
          <p:cNvPr id="16" name="TextBox 15"/>
          <p:cNvSpPr txBox="1"/>
          <p:nvPr/>
        </p:nvSpPr>
        <p:spPr>
          <a:xfrm>
            <a:off x="822960" y="3520440"/>
            <a:ext cx="1828800" cy="274320"/>
          </a:xfrm>
          <a:prstGeom prst="rect">
            <a:avLst/>
          </a:prstGeom>
          <a:noFill/>
        </p:spPr>
        <p:txBody>
          <a:bodyPr wrap="square">
            <a:spAutoFit/>
          </a:bodyPr>
          <a:lstStyle/>
          <a:p>
            <a:pPr algn="l">
              <a:defRPr sz="1200" b="1">
                <a:solidFill>
                  <a:srgbClr val="C0392B"/>
                </a:solidFill>
                <a:latin typeface="Calibri"/>
              </a:defRPr>
            </a:pPr>
            <a:r>
              <a:t>Rank #2 / 250  •  Score 46.2</a:t>
            </a:r>
          </a:p>
        </p:txBody>
      </p:sp>
      <p:sp>
        <p:nvSpPr>
          <p:cNvPr id="17" name="Rounded Rectangle 16"/>
          <p:cNvSpPr/>
          <p:nvPr/>
        </p:nvSpPr>
        <p:spPr>
          <a:xfrm>
            <a:off x="2926080" y="3017520"/>
            <a:ext cx="2743200" cy="32004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Signal Strength + Breadth</a:t>
            </a:r>
          </a:p>
        </p:txBody>
      </p:sp>
      <p:sp>
        <p:nvSpPr>
          <p:cNvPr id="18" name="TextBox 17"/>
          <p:cNvSpPr txBox="1"/>
          <p:nvPr/>
        </p:nvSpPr>
        <p:spPr>
          <a:xfrm>
            <a:off x="2926080" y="3383280"/>
            <a:ext cx="8503920" cy="548640"/>
          </a:xfrm>
          <a:prstGeom prst="rect">
            <a:avLst/>
          </a:prstGeom>
          <a:noFill/>
        </p:spPr>
        <p:txBody>
          <a:bodyPr wrap="square">
            <a:spAutoFit/>
          </a:bodyPr>
          <a:lstStyle/>
          <a:p>
            <a:pPr algn="l">
              <a:defRPr sz="1200" b="0">
                <a:solidFill>
                  <a:srgbClr val="505050"/>
                </a:solidFill>
                <a:latin typeface="Calibri"/>
              </a:defRPr>
            </a:pPr>
            <a:r>
              <a:t>Flagged as anomalous by LOF/Z-Score/OCSVM but with no direction. Composite provides actionable intelligence: gradual scope creep across departments, off-hours access, data staging — broad and persistent.</a:t>
            </a:r>
          </a:p>
        </p:txBody>
      </p:sp>
      <p:sp>
        <p:nvSpPr>
          <p:cNvPr id="19" name="Rounded Rectangle 18"/>
          <p:cNvSpPr/>
          <p:nvPr/>
        </p:nvSpPr>
        <p:spPr>
          <a:xfrm>
            <a:off x="548640" y="4114800"/>
            <a:ext cx="11064240" cy="105156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114800"/>
            <a:ext cx="73152" cy="10515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60520"/>
            <a:ext cx="1188720" cy="274320"/>
          </a:xfrm>
          <a:prstGeom prst="rect">
            <a:avLst/>
          </a:prstGeom>
          <a:noFill/>
        </p:spPr>
        <p:txBody>
          <a:bodyPr wrap="square">
            <a:spAutoFit/>
          </a:bodyPr>
          <a:lstStyle/>
          <a:p>
            <a:pPr algn="l">
              <a:defRPr sz="1700" b="1">
                <a:solidFill>
                  <a:srgbClr val="0D1B2A"/>
                </a:solidFill>
                <a:latin typeface="Calibri"/>
              </a:defRPr>
            </a:pPr>
            <a:r>
              <a:t>USR-042</a:t>
            </a:r>
          </a:p>
        </p:txBody>
      </p:sp>
      <p:sp>
        <p:nvSpPr>
          <p:cNvPr id="22" name="TextBox 21"/>
          <p:cNvSpPr txBox="1"/>
          <p:nvPr/>
        </p:nvSpPr>
        <p:spPr>
          <a:xfrm>
            <a:off x="822960" y="4434840"/>
            <a:ext cx="1828800" cy="274320"/>
          </a:xfrm>
          <a:prstGeom prst="rect">
            <a:avLst/>
          </a:prstGeom>
          <a:noFill/>
        </p:spPr>
        <p:txBody>
          <a:bodyPr wrap="square">
            <a:spAutoFit/>
          </a:bodyPr>
          <a:lstStyle/>
          <a:p>
            <a:pPr algn="l">
              <a:defRPr sz="1100" b="0">
                <a:solidFill>
                  <a:srgbClr val="969696"/>
                </a:solidFill>
                <a:latin typeface="Calibri"/>
              </a:defRPr>
            </a:pPr>
            <a:r>
              <a:t>Volt Typhoon — 412-Day LOTL Campaign</a:t>
            </a:r>
          </a:p>
        </p:txBody>
      </p:sp>
      <p:sp>
        <p:nvSpPr>
          <p:cNvPr id="23" name="TextBox 22"/>
          <p:cNvSpPr txBox="1"/>
          <p:nvPr/>
        </p:nvSpPr>
        <p:spPr>
          <a:xfrm>
            <a:off x="822960" y="4709160"/>
            <a:ext cx="1828800" cy="274320"/>
          </a:xfrm>
          <a:prstGeom prst="rect">
            <a:avLst/>
          </a:prstGeom>
          <a:noFill/>
        </p:spPr>
        <p:txBody>
          <a:bodyPr wrap="square">
            <a:spAutoFit/>
          </a:bodyPr>
          <a:lstStyle/>
          <a:p>
            <a:pPr algn="l">
              <a:defRPr sz="1200" b="1">
                <a:solidFill>
                  <a:srgbClr val="8E44AD"/>
                </a:solidFill>
                <a:latin typeface="Calibri"/>
              </a:defRPr>
            </a:pPr>
            <a:r>
              <a:t>Rank #30 / 250  •  Score 12.9</a:t>
            </a:r>
          </a:p>
        </p:txBody>
      </p:sp>
      <p:sp>
        <p:nvSpPr>
          <p:cNvPr id="24" name="Rounded Rectangle 23"/>
          <p:cNvSpPr/>
          <p:nvPr/>
        </p:nvSpPr>
        <p:spPr>
          <a:xfrm>
            <a:off x="2926080" y="4206240"/>
            <a:ext cx="2743200" cy="32004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Breadth + Sustained Deviation</a:t>
            </a:r>
          </a:p>
        </p:txBody>
      </p:sp>
      <p:sp>
        <p:nvSpPr>
          <p:cNvPr id="25" name="TextBox 24"/>
          <p:cNvSpPr txBox="1"/>
          <p:nvPr/>
        </p:nvSpPr>
        <p:spPr>
          <a:xfrm>
            <a:off x="2926080" y="4572000"/>
            <a:ext cx="8503920" cy="548640"/>
          </a:xfrm>
          <a:prstGeom prst="rect">
            <a:avLst/>
          </a:prstGeom>
          <a:noFill/>
        </p:spPr>
        <p:txBody>
          <a:bodyPr wrap="square">
            <a:spAutoFit/>
          </a:bodyPr>
          <a:lstStyle/>
          <a:p>
            <a:pPr algn="l">
              <a:defRPr sz="1200" b="0">
                <a:solidFill>
                  <a:srgbClr val="505050"/>
                </a:solidFill>
                <a:latin typeface="Calibri"/>
              </a:defRPr>
            </a:pPr>
            <a:r>
              <a:t>Traditional methods flag it but cannot explain WHY. Composite reveals the anomaly is in the breadth of unusual behavior across zones — uses legitimate tools, so direction matters more than detection.</a:t>
            </a:r>
          </a:p>
        </p:txBody>
      </p:sp>
      <p:sp>
        <p:nvSpPr>
          <p:cNvPr id="26" name="Rounded Rectangle 25"/>
          <p:cNvSpPr/>
          <p:nvPr/>
        </p:nvSpPr>
        <p:spPr>
          <a:xfrm>
            <a:off x="548640" y="5303520"/>
            <a:ext cx="11064240" cy="105156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303520"/>
            <a:ext cx="73152" cy="10515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49240"/>
            <a:ext cx="1188720" cy="274320"/>
          </a:xfrm>
          <a:prstGeom prst="rect">
            <a:avLst/>
          </a:prstGeom>
          <a:noFill/>
        </p:spPr>
        <p:txBody>
          <a:bodyPr wrap="square">
            <a:spAutoFit/>
          </a:bodyPr>
          <a:lstStyle/>
          <a:p>
            <a:pPr algn="l">
              <a:defRPr sz="1700" b="1">
                <a:solidFill>
                  <a:srgbClr val="0D1B2A"/>
                </a:solidFill>
                <a:latin typeface="Calibri"/>
              </a:defRPr>
            </a:pPr>
            <a:r>
              <a:t>USR-234</a:t>
            </a:r>
          </a:p>
        </p:txBody>
      </p:sp>
      <p:sp>
        <p:nvSpPr>
          <p:cNvPr id="29" name="TextBox 28"/>
          <p:cNvSpPr txBox="1"/>
          <p:nvPr/>
        </p:nvSpPr>
        <p:spPr>
          <a:xfrm>
            <a:off x="822960" y="5623560"/>
            <a:ext cx="1828800" cy="274320"/>
          </a:xfrm>
          <a:prstGeom prst="rect">
            <a:avLst/>
          </a:prstGeom>
          <a:noFill/>
        </p:spPr>
        <p:txBody>
          <a:bodyPr wrap="square">
            <a:spAutoFit/>
          </a:bodyPr>
          <a:lstStyle/>
          <a:p>
            <a:pPr algn="l">
              <a:defRPr sz="1100" b="0">
                <a:solidFill>
                  <a:srgbClr val="969696"/>
                </a:solidFill>
                <a:latin typeface="Calibri"/>
              </a:defRPr>
            </a:pPr>
            <a:r>
              <a:t>Slow APT — 417-Day Campaign</a:t>
            </a:r>
          </a:p>
        </p:txBody>
      </p:sp>
      <p:sp>
        <p:nvSpPr>
          <p:cNvPr id="30" name="TextBox 29"/>
          <p:cNvSpPr txBox="1"/>
          <p:nvPr/>
        </p:nvSpPr>
        <p:spPr>
          <a:xfrm>
            <a:off x="822960" y="5897880"/>
            <a:ext cx="1828800" cy="274320"/>
          </a:xfrm>
          <a:prstGeom prst="rect">
            <a:avLst/>
          </a:prstGeom>
          <a:noFill/>
        </p:spPr>
        <p:txBody>
          <a:bodyPr wrap="square">
            <a:spAutoFit/>
          </a:bodyPr>
          <a:lstStyle/>
          <a:p>
            <a:pPr algn="l">
              <a:defRPr sz="1200" b="1">
                <a:solidFill>
                  <a:srgbClr val="E67E22"/>
                </a:solidFill>
                <a:latin typeface="Calibri"/>
              </a:defRPr>
            </a:pPr>
            <a:r>
              <a:t>Rank #7 / 250  •  Score 20.0</a:t>
            </a:r>
          </a:p>
        </p:txBody>
      </p:sp>
      <p:sp>
        <p:nvSpPr>
          <p:cNvPr id="31" name="Rounded Rectangle 30"/>
          <p:cNvSpPr/>
          <p:nvPr/>
        </p:nvSpPr>
        <p:spPr>
          <a:xfrm>
            <a:off x="2926080" y="5394960"/>
            <a:ext cx="2743200" cy="3200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Novelty Persistence</a:t>
            </a:r>
          </a:p>
        </p:txBody>
      </p:sp>
      <p:sp>
        <p:nvSpPr>
          <p:cNvPr id="32" name="TextBox 31"/>
          <p:cNvSpPr txBox="1"/>
          <p:nvPr/>
        </p:nvSpPr>
        <p:spPr>
          <a:xfrm>
            <a:off x="2926080" y="5760720"/>
            <a:ext cx="8503920" cy="548640"/>
          </a:xfrm>
          <a:prstGeom prst="rect">
            <a:avLst/>
          </a:prstGeom>
          <a:noFill/>
        </p:spPr>
        <p:txBody>
          <a:bodyPr wrap="square">
            <a:spAutoFit/>
          </a:bodyPr>
          <a:lstStyle/>
          <a:p>
            <a:pPr algn="l">
              <a:defRPr sz="1200" b="0">
                <a:solidFill>
                  <a:srgbClr val="505050"/>
                </a:solidFill>
                <a:latin typeface="Calibri"/>
              </a:defRPr>
            </a:pPr>
            <a:r>
              <a:t>The only attacker missed by LOF and Isolation Forest. Z-Score and OCSVM flag it but without direction. Composite uniquely identifies persistent novel network destinations — the hallmark of C2 beacons.</a:t>
            </a:r>
          </a:p>
        </p:txBody>
      </p:sp>
      <p:sp>
        <p:nvSpPr>
          <p:cNvPr id="33" name="TextBox 32"/>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Deep Dive: How Composite Scoring Catches a 417-Day APT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548640"/>
          </a:xfrm>
          <a:prstGeom prst="rect">
            <a:avLst/>
          </a:prstGeom>
          <a:noFill/>
        </p:spPr>
        <p:txBody>
          <a:bodyPr wrap="square">
            <a:spAutoFit/>
          </a:bodyPr>
          <a:lstStyle/>
          <a:p>
            <a:pPr algn="l">
              <a:defRPr sz="1600" b="0">
                <a:solidFill>
                  <a:srgbClr val="505050"/>
                </a:solidFill>
                <a:latin typeface="Calibri"/>
              </a:defRPr>
            </a:pPr>
            <a:r>
              <a:t>USR-234 is the hardest attacker to detect. Every traditional metric looks normal. Even basic behavioral drift analysis barely separates this user from the crowd.</a:t>
            </a:r>
          </a:p>
        </p:txBody>
      </p:sp>
      <p:sp>
        <p:nvSpPr>
          <p:cNvPr id="5" name="Rounded Rectangle 4"/>
          <p:cNvSpPr/>
          <p:nvPr/>
        </p:nvSpPr>
        <p:spPr>
          <a:xfrm>
            <a:off x="548640" y="1920240"/>
            <a:ext cx="53035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920240"/>
            <a:ext cx="52120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4754880" cy="320040"/>
          </a:xfrm>
          <a:prstGeom prst="rect">
            <a:avLst/>
          </a:prstGeom>
          <a:noFill/>
        </p:spPr>
        <p:txBody>
          <a:bodyPr wrap="square">
            <a:spAutoFit/>
          </a:bodyPr>
          <a:lstStyle/>
          <a:p>
            <a:pPr algn="l">
              <a:defRPr sz="1600" b="1">
                <a:solidFill>
                  <a:srgbClr val="C0392B"/>
                </a:solidFill>
                <a:latin typeface="Calibri"/>
              </a:defRPr>
            </a:pPr>
            <a:r>
              <a:t>What Traditional Detection Sees</a:t>
            </a:r>
          </a:p>
        </p:txBody>
      </p:sp>
      <p:sp>
        <p:nvSpPr>
          <p:cNvPr id="8" name="TextBox 7"/>
          <p:cNvSpPr txBox="1"/>
          <p:nvPr/>
        </p:nvSpPr>
        <p:spPr>
          <a:xfrm>
            <a:off x="822960" y="2514600"/>
            <a:ext cx="4754880" cy="301752"/>
          </a:xfrm>
          <a:prstGeom prst="rect">
            <a:avLst/>
          </a:prstGeom>
          <a:noFill/>
        </p:spPr>
        <p:txBody>
          <a:bodyPr wrap="square">
            <a:spAutoFit/>
          </a:bodyPr>
          <a:lstStyle/>
          <a:p>
            <a:pPr algn="l">
              <a:defRPr sz="1200" b="0">
                <a:solidFill>
                  <a:srgbClr val="505050"/>
                </a:solidFill>
                <a:latin typeface="Calibri"/>
              </a:defRPr>
            </a:pPr>
            <a:r>
              <a:t>▸ Authentication: Normal login patterns, normal failure rate</a:t>
            </a:r>
          </a:p>
        </p:txBody>
      </p:sp>
      <p:sp>
        <p:nvSpPr>
          <p:cNvPr id="9" name="TextBox 8"/>
          <p:cNvSpPr txBox="1"/>
          <p:nvPr/>
        </p:nvSpPr>
        <p:spPr>
          <a:xfrm>
            <a:off x="822960" y="2816352"/>
            <a:ext cx="4754880" cy="301752"/>
          </a:xfrm>
          <a:prstGeom prst="rect">
            <a:avLst/>
          </a:prstGeom>
          <a:noFill/>
        </p:spPr>
        <p:txBody>
          <a:bodyPr wrap="square">
            <a:spAutoFit/>
          </a:bodyPr>
          <a:lstStyle/>
          <a:p>
            <a:pPr algn="l">
              <a:defRPr sz="1200" b="0">
                <a:solidFill>
                  <a:srgbClr val="505050"/>
                </a:solidFill>
                <a:latin typeface="Calibri"/>
              </a:defRPr>
            </a:pPr>
            <a:r>
              <a:t>▸ File Access: Within expected volume ranges</a:t>
            </a:r>
          </a:p>
        </p:txBody>
      </p:sp>
      <p:sp>
        <p:nvSpPr>
          <p:cNvPr id="10" name="TextBox 9"/>
          <p:cNvSpPr txBox="1"/>
          <p:nvPr/>
        </p:nvSpPr>
        <p:spPr>
          <a:xfrm>
            <a:off x="822960" y="3118104"/>
            <a:ext cx="4754880" cy="301752"/>
          </a:xfrm>
          <a:prstGeom prst="rect">
            <a:avLst/>
          </a:prstGeom>
          <a:noFill/>
        </p:spPr>
        <p:txBody>
          <a:bodyPr wrap="square">
            <a:spAutoFit/>
          </a:bodyPr>
          <a:lstStyle/>
          <a:p>
            <a:pPr algn="l">
              <a:defRPr sz="1200" b="0">
                <a:solidFill>
                  <a:srgbClr val="505050"/>
                </a:solidFill>
                <a:latin typeface="Calibri"/>
              </a:defRPr>
            </a:pPr>
            <a:r>
              <a:t>▸ Network: Bytes out within 1 standard deviation of mean</a:t>
            </a:r>
          </a:p>
        </p:txBody>
      </p:sp>
      <p:sp>
        <p:nvSpPr>
          <p:cNvPr id="11" name="TextBox 10"/>
          <p:cNvSpPr txBox="1"/>
          <p:nvPr/>
        </p:nvSpPr>
        <p:spPr>
          <a:xfrm>
            <a:off x="822960" y="3419856"/>
            <a:ext cx="4754880" cy="301752"/>
          </a:xfrm>
          <a:prstGeom prst="rect">
            <a:avLst/>
          </a:prstGeom>
          <a:noFill/>
        </p:spPr>
        <p:txBody>
          <a:bodyPr wrap="square">
            <a:spAutoFit/>
          </a:bodyPr>
          <a:lstStyle/>
          <a:p>
            <a:pPr algn="l">
              <a:defRPr sz="1200" b="0">
                <a:solidFill>
                  <a:srgbClr val="505050"/>
                </a:solidFill>
                <a:latin typeface="Calibri"/>
              </a:defRPr>
            </a:pPr>
            <a:r>
              <a:t>▸ Endpoint: No suspicious processes detected</a:t>
            </a:r>
          </a:p>
        </p:txBody>
      </p:sp>
      <p:sp>
        <p:nvSpPr>
          <p:cNvPr id="12" name="TextBox 11"/>
          <p:cNvSpPr txBox="1"/>
          <p:nvPr/>
        </p:nvSpPr>
        <p:spPr>
          <a:xfrm>
            <a:off x="822960" y="3721608"/>
            <a:ext cx="4754880" cy="301752"/>
          </a:xfrm>
          <a:prstGeom prst="rect">
            <a:avLst/>
          </a:prstGeom>
          <a:noFill/>
        </p:spPr>
        <p:txBody>
          <a:bodyPr wrap="square">
            <a:spAutoFit/>
          </a:bodyPr>
          <a:lstStyle/>
          <a:p>
            <a:pPr algn="l">
              <a:defRPr sz="1200" b="1">
                <a:solidFill>
                  <a:srgbClr val="C0392B"/>
                </a:solidFill>
                <a:latin typeface="Calibri"/>
              </a:defRPr>
            </a:pPr>
            <a:r>
              <a:t>✗ Verdict: NORMAL — No alerts generated</a:t>
            </a:r>
          </a:p>
        </p:txBody>
      </p:sp>
      <p:sp>
        <p:nvSpPr>
          <p:cNvPr id="13" name="Rounded Rectangle 12"/>
          <p:cNvSpPr/>
          <p:nvPr/>
        </p:nvSpPr>
        <p:spPr>
          <a:xfrm>
            <a:off x="6309360" y="1920240"/>
            <a:ext cx="53035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920240"/>
            <a:ext cx="521208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103120"/>
            <a:ext cx="4754880" cy="320040"/>
          </a:xfrm>
          <a:prstGeom prst="rect">
            <a:avLst/>
          </a:prstGeom>
          <a:noFill/>
        </p:spPr>
        <p:txBody>
          <a:bodyPr wrap="square">
            <a:spAutoFit/>
          </a:bodyPr>
          <a:lstStyle/>
          <a:p>
            <a:pPr algn="l">
              <a:defRPr sz="1600" b="1">
                <a:solidFill>
                  <a:srgbClr val="27AE60"/>
                </a:solidFill>
                <a:latin typeface="Calibri"/>
              </a:defRPr>
            </a:pPr>
            <a:r>
              <a:t>What Composite Scoring Sees</a:t>
            </a:r>
          </a:p>
        </p:txBody>
      </p:sp>
      <p:sp>
        <p:nvSpPr>
          <p:cNvPr id="16" name="TextBox 15"/>
          <p:cNvSpPr txBox="1"/>
          <p:nvPr/>
        </p:nvSpPr>
        <p:spPr>
          <a:xfrm>
            <a:off x="6583680" y="2514600"/>
            <a:ext cx="1645920" cy="301752"/>
          </a:xfrm>
          <a:prstGeom prst="rect">
            <a:avLst/>
          </a:prstGeom>
          <a:noFill/>
        </p:spPr>
        <p:txBody>
          <a:bodyPr wrap="square">
            <a:spAutoFit/>
          </a:bodyPr>
          <a:lstStyle/>
          <a:p>
            <a:pPr algn="l">
              <a:defRPr sz="1100" b="1">
                <a:solidFill>
                  <a:srgbClr val="0D1B2A"/>
                </a:solidFill>
                <a:latin typeface="Calibri"/>
              </a:defRPr>
            </a:pPr>
            <a:r>
              <a:t>  Signal Strength:</a:t>
            </a:r>
          </a:p>
        </p:txBody>
      </p:sp>
      <p:sp>
        <p:nvSpPr>
          <p:cNvPr id="17" name="TextBox 16"/>
          <p:cNvSpPr txBox="1"/>
          <p:nvPr/>
        </p:nvSpPr>
        <p:spPr>
          <a:xfrm>
            <a:off x="8229600" y="2514600"/>
            <a:ext cx="3200400" cy="301752"/>
          </a:xfrm>
          <a:prstGeom prst="rect">
            <a:avLst/>
          </a:prstGeom>
          <a:noFill/>
        </p:spPr>
        <p:txBody>
          <a:bodyPr wrap="square">
            <a:spAutoFit/>
          </a:bodyPr>
          <a:lstStyle/>
          <a:p>
            <a:pPr algn="l">
              <a:defRPr sz="1100" b="0">
                <a:solidFill>
                  <a:srgbClr val="969696"/>
                </a:solidFill>
                <a:latin typeface="Calibri"/>
              </a:defRPr>
            </a:pPr>
            <a:r>
              <a:t>Low (14th percentile) — drift magnitude is small</a:t>
            </a:r>
          </a:p>
        </p:txBody>
      </p:sp>
      <p:sp>
        <p:nvSpPr>
          <p:cNvPr id="18" name="TextBox 17"/>
          <p:cNvSpPr txBox="1"/>
          <p:nvPr/>
        </p:nvSpPr>
        <p:spPr>
          <a:xfrm>
            <a:off x="6583680" y="2816352"/>
            <a:ext cx="1645920" cy="301752"/>
          </a:xfrm>
          <a:prstGeom prst="rect">
            <a:avLst/>
          </a:prstGeom>
          <a:noFill/>
        </p:spPr>
        <p:txBody>
          <a:bodyPr wrap="square">
            <a:spAutoFit/>
          </a:bodyPr>
          <a:lstStyle/>
          <a:p>
            <a:pPr algn="l">
              <a:defRPr sz="1100" b="1">
                <a:solidFill>
                  <a:srgbClr val="0D1B2A"/>
                </a:solidFill>
                <a:latin typeface="Calibri"/>
              </a:defRPr>
            </a:pPr>
            <a:r>
              <a:t>  Breadth:</a:t>
            </a:r>
          </a:p>
        </p:txBody>
      </p:sp>
      <p:sp>
        <p:nvSpPr>
          <p:cNvPr id="19" name="TextBox 18"/>
          <p:cNvSpPr txBox="1"/>
          <p:nvPr/>
        </p:nvSpPr>
        <p:spPr>
          <a:xfrm>
            <a:off x="8229600" y="2816352"/>
            <a:ext cx="3200400" cy="301752"/>
          </a:xfrm>
          <a:prstGeom prst="rect">
            <a:avLst/>
          </a:prstGeom>
          <a:noFill/>
        </p:spPr>
        <p:txBody>
          <a:bodyPr wrap="square">
            <a:spAutoFit/>
          </a:bodyPr>
          <a:lstStyle/>
          <a:p>
            <a:pPr algn="l">
              <a:defRPr sz="1100" b="0">
                <a:solidFill>
                  <a:srgbClr val="969696"/>
                </a:solidFill>
                <a:latin typeface="Calibri"/>
              </a:defRPr>
            </a:pPr>
            <a:r>
              <a:t>Low (5th percentile) — only 1 feature mildly anomalous</a:t>
            </a:r>
          </a:p>
        </p:txBody>
      </p:sp>
      <p:sp>
        <p:nvSpPr>
          <p:cNvPr id="20" name="TextBox 19"/>
          <p:cNvSpPr txBox="1"/>
          <p:nvPr/>
        </p:nvSpPr>
        <p:spPr>
          <a:xfrm>
            <a:off x="6583680" y="3118104"/>
            <a:ext cx="1645920" cy="301752"/>
          </a:xfrm>
          <a:prstGeom prst="rect">
            <a:avLst/>
          </a:prstGeom>
          <a:noFill/>
        </p:spPr>
        <p:txBody>
          <a:bodyPr wrap="square">
            <a:spAutoFit/>
          </a:bodyPr>
          <a:lstStyle/>
          <a:p>
            <a:pPr algn="l">
              <a:defRPr sz="1100" b="1">
                <a:solidFill>
                  <a:srgbClr val="0D1B2A"/>
                </a:solidFill>
                <a:latin typeface="Calibri"/>
              </a:defRPr>
            </a:pPr>
            <a:r>
              <a:t>  Sustained:</a:t>
            </a:r>
          </a:p>
        </p:txBody>
      </p:sp>
      <p:sp>
        <p:nvSpPr>
          <p:cNvPr id="21" name="TextBox 20"/>
          <p:cNvSpPr txBox="1"/>
          <p:nvPr/>
        </p:nvSpPr>
        <p:spPr>
          <a:xfrm>
            <a:off x="8229600" y="3118104"/>
            <a:ext cx="3200400" cy="301752"/>
          </a:xfrm>
          <a:prstGeom prst="rect">
            <a:avLst/>
          </a:prstGeom>
          <a:noFill/>
        </p:spPr>
        <p:txBody>
          <a:bodyPr wrap="square">
            <a:spAutoFit/>
          </a:bodyPr>
          <a:lstStyle/>
          <a:p>
            <a:pPr algn="l">
              <a:defRPr sz="1100" b="0">
                <a:solidFill>
                  <a:srgbClr val="969696"/>
                </a:solidFill>
                <a:latin typeface="Calibri"/>
              </a:defRPr>
            </a:pPr>
            <a:r>
              <a:t>Low (31st percentile) — not persistently high</a:t>
            </a:r>
          </a:p>
        </p:txBody>
      </p:sp>
      <p:sp>
        <p:nvSpPr>
          <p:cNvPr id="22" name="TextBox 21"/>
          <p:cNvSpPr txBox="1"/>
          <p:nvPr/>
        </p:nvSpPr>
        <p:spPr>
          <a:xfrm>
            <a:off x="6583680" y="3419856"/>
            <a:ext cx="1645920" cy="301752"/>
          </a:xfrm>
          <a:prstGeom prst="rect">
            <a:avLst/>
          </a:prstGeom>
          <a:noFill/>
        </p:spPr>
        <p:txBody>
          <a:bodyPr wrap="square">
            <a:spAutoFit/>
          </a:bodyPr>
          <a:lstStyle/>
          <a:p>
            <a:pPr algn="l">
              <a:defRPr sz="1100" b="1">
                <a:solidFill>
                  <a:srgbClr val="0D1B2A"/>
                </a:solidFill>
                <a:latin typeface="Calibri"/>
              </a:defRPr>
            </a:pPr>
            <a:r>
              <a:t>  Context Divergence:</a:t>
            </a:r>
          </a:p>
        </p:txBody>
      </p:sp>
      <p:sp>
        <p:nvSpPr>
          <p:cNvPr id="23" name="TextBox 22"/>
          <p:cNvSpPr txBox="1"/>
          <p:nvPr/>
        </p:nvSpPr>
        <p:spPr>
          <a:xfrm>
            <a:off x="8229600" y="3419856"/>
            <a:ext cx="3200400" cy="301752"/>
          </a:xfrm>
          <a:prstGeom prst="rect">
            <a:avLst/>
          </a:prstGeom>
          <a:noFill/>
        </p:spPr>
        <p:txBody>
          <a:bodyPr wrap="square">
            <a:spAutoFit/>
          </a:bodyPr>
          <a:lstStyle/>
          <a:p>
            <a:pPr algn="l">
              <a:defRPr sz="1100" b="0">
                <a:solidFill>
                  <a:srgbClr val="E67E22"/>
                </a:solidFill>
                <a:latin typeface="Calibri"/>
              </a:defRPr>
            </a:pPr>
            <a:r>
              <a:t>Moderate (29th percentile) — starting to show</a:t>
            </a:r>
          </a:p>
        </p:txBody>
      </p:sp>
      <p:sp>
        <p:nvSpPr>
          <p:cNvPr id="24" name="TextBox 23"/>
          <p:cNvSpPr txBox="1"/>
          <p:nvPr/>
        </p:nvSpPr>
        <p:spPr>
          <a:xfrm>
            <a:off x="6583680" y="3721608"/>
            <a:ext cx="1645920" cy="301752"/>
          </a:xfrm>
          <a:prstGeom prst="rect">
            <a:avLst/>
          </a:prstGeom>
          <a:noFill/>
        </p:spPr>
        <p:txBody>
          <a:bodyPr wrap="square">
            <a:spAutoFit/>
          </a:bodyPr>
          <a:lstStyle/>
          <a:p>
            <a:pPr algn="l">
              <a:defRPr sz="1100" b="1">
                <a:solidFill>
                  <a:srgbClr val="0D1B2A"/>
                </a:solidFill>
                <a:latin typeface="Calibri"/>
              </a:defRPr>
            </a:pPr>
            <a:r>
              <a:t>  Novelty Persistence:</a:t>
            </a:r>
          </a:p>
        </p:txBody>
      </p:sp>
      <p:sp>
        <p:nvSpPr>
          <p:cNvPr id="25" name="TextBox 24"/>
          <p:cNvSpPr txBox="1"/>
          <p:nvPr/>
        </p:nvSpPr>
        <p:spPr>
          <a:xfrm>
            <a:off x="8229600" y="3721608"/>
            <a:ext cx="3200400" cy="301752"/>
          </a:xfrm>
          <a:prstGeom prst="rect">
            <a:avLst/>
          </a:prstGeom>
          <a:noFill/>
        </p:spPr>
        <p:txBody>
          <a:bodyPr wrap="square">
            <a:spAutoFit/>
          </a:bodyPr>
          <a:lstStyle/>
          <a:p>
            <a:pPr algn="l">
              <a:defRPr sz="1100" b="0">
                <a:solidFill>
                  <a:srgbClr val="27AE60"/>
                </a:solidFill>
                <a:latin typeface="Calibri"/>
              </a:defRPr>
            </a:pPr>
            <a:r>
              <a:t>MAXIMUM (100th percentile) — novel network destinations persist every week</a:t>
            </a:r>
          </a:p>
        </p:txBody>
      </p:sp>
      <p:sp>
        <p:nvSpPr>
          <p:cNvPr id="26" name="Rounded Rectangle 25"/>
          <p:cNvSpPr/>
          <p:nvPr/>
        </p:nvSpPr>
        <p:spPr>
          <a:xfrm>
            <a:off x="548640" y="4480560"/>
            <a:ext cx="11064240" cy="1645920"/>
          </a:xfrm>
          <a:prstGeom prst="roundRect">
            <a:avLst/>
          </a:prstGeom>
          <a:solidFill>
            <a:srgbClr val="FFFBEB"/>
          </a:solid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572000"/>
            <a:ext cx="10515600" cy="320040"/>
          </a:xfrm>
          <a:prstGeom prst="rect">
            <a:avLst/>
          </a:prstGeom>
          <a:noFill/>
        </p:spPr>
        <p:txBody>
          <a:bodyPr wrap="square">
            <a:spAutoFit/>
          </a:bodyPr>
          <a:lstStyle/>
          <a:p>
            <a:pPr algn="l">
              <a:defRPr sz="1600" b="1">
                <a:solidFill>
                  <a:srgbClr val="B7950B"/>
                </a:solidFill>
                <a:latin typeface="Calibri"/>
              </a:defRPr>
            </a:pPr>
            <a:r>
              <a:t>Why Novelty Persistence Catches APTs</a:t>
            </a:r>
          </a:p>
        </p:txBody>
      </p:sp>
      <p:sp>
        <p:nvSpPr>
          <p:cNvPr id="28" name="TextBox 27"/>
          <p:cNvSpPr txBox="1"/>
          <p:nvPr/>
        </p:nvSpPr>
        <p:spPr>
          <a:xfrm>
            <a:off x="822960" y="4937760"/>
            <a:ext cx="10515600" cy="365760"/>
          </a:xfrm>
          <a:prstGeom prst="rect">
            <a:avLst/>
          </a:prstGeom>
          <a:noFill/>
        </p:spPr>
        <p:txBody>
          <a:bodyPr wrap="square">
            <a:spAutoFit/>
          </a:bodyPr>
          <a:lstStyle/>
          <a:p>
            <a:pPr algn="l">
              <a:defRPr sz="1200" b="0">
                <a:solidFill>
                  <a:srgbClr val="505050"/>
                </a:solidFill>
                <a:latin typeface="Calibri"/>
              </a:defRPr>
            </a:pPr>
            <a:r>
              <a:t>An APT (Advanced Persistent Threat) establishes hidden communication channels called "C2 beacons" — periodic connections to attacker-controlled servers.</a:t>
            </a:r>
          </a:p>
        </p:txBody>
      </p:sp>
      <p:sp>
        <p:nvSpPr>
          <p:cNvPr id="29" name="TextBox 28"/>
          <p:cNvSpPr txBox="1"/>
          <p:nvPr/>
        </p:nvSpPr>
        <p:spPr>
          <a:xfrm>
            <a:off x="822960" y="5303520"/>
            <a:ext cx="10515600" cy="365760"/>
          </a:xfrm>
          <a:prstGeom prst="rect">
            <a:avLst/>
          </a:prstGeom>
          <a:noFill/>
        </p:spPr>
        <p:txBody>
          <a:bodyPr wrap="square">
            <a:spAutoFit/>
          </a:bodyPr>
          <a:lstStyle/>
          <a:p>
            <a:pPr algn="l">
              <a:defRPr sz="1200" b="0">
                <a:solidFill>
                  <a:srgbClr val="505050"/>
                </a:solidFill>
                <a:latin typeface="Calibri"/>
              </a:defRPr>
            </a:pPr>
            <a:r>
              <a:t>These destinations are new to the user's normal network profile. A one-time new destination could be anything — a new vendor, a new service. But when the same new destinations keep appearing week after week, that's the fingerprint of persistent attacker infrastructure.</a:t>
            </a:r>
          </a:p>
        </p:txBody>
      </p:sp>
      <p:sp>
        <p:nvSpPr>
          <p:cNvPr id="30" name="TextBox 29"/>
          <p:cNvSpPr txBox="1"/>
          <p:nvPr/>
        </p:nvSpPr>
        <p:spPr>
          <a:xfrm>
            <a:off x="822960" y="5669280"/>
            <a:ext cx="10515600" cy="365760"/>
          </a:xfrm>
          <a:prstGeom prst="rect">
            <a:avLst/>
          </a:prstGeom>
          <a:noFill/>
        </p:spPr>
        <p:txBody>
          <a:bodyPr wrap="square">
            <a:spAutoFit/>
          </a:bodyPr>
          <a:lstStyle/>
          <a:p>
            <a:pPr algn="l">
              <a:defRPr sz="1200" b="0">
                <a:solidFill>
                  <a:srgbClr val="505050"/>
                </a:solidFill>
                <a:latin typeface="Calibri"/>
              </a:defRPr>
            </a:pPr>
            <a:r>
              <a:t>USR-234's network volume, byte counts, and connection rates all look normal. But the destinations are new, and they persist. Composite Scoring's Novelty Persistence phase catches exactly this pattern — ranking USR-234 at #7 out of 250 users despite every other metric looking clean.</a:t>
            </a:r>
          </a:p>
        </p:txBody>
      </p:sp>
      <p:sp>
        <p:nvSpPr>
          <p:cNvPr id="31" name="TextBox 30"/>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Real-World Validation: Salt Typhoon — 5 Years Undetected</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548640"/>
          </a:xfrm>
          <a:prstGeom prst="rect">
            <a:avLst/>
          </a:prstGeom>
          <a:noFill/>
        </p:spPr>
        <p:txBody>
          <a:bodyPr wrap="square">
            <a:spAutoFit/>
          </a:bodyPr>
          <a:lstStyle/>
          <a:p>
            <a:pPr algn="l">
              <a:defRPr sz="1600" b="0">
                <a:solidFill>
                  <a:srgbClr val="505050"/>
                </a:solidFill>
                <a:latin typeface="Calibri"/>
              </a:defRPr>
            </a:pPr>
            <a:r>
              <a:t>Salt Typhoon (a Chinese state-sponsored APT group) operated inside US telecom infrastructure for over 5 years before discovery. Our simulation confirms why — and demonstrates how behavioral analysis changes the outcome.</a:t>
            </a:r>
          </a:p>
        </p:txBody>
      </p:sp>
      <p:sp>
        <p:nvSpPr>
          <p:cNvPr id="5" name="Rounded Rectangle 4"/>
          <p:cNvSpPr/>
          <p:nvPr/>
        </p:nvSpPr>
        <p:spPr>
          <a:xfrm>
            <a:off x="548640" y="1920240"/>
            <a:ext cx="530352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920240"/>
            <a:ext cx="52120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4754880" cy="320040"/>
          </a:xfrm>
          <a:prstGeom prst="rect">
            <a:avLst/>
          </a:prstGeom>
          <a:noFill/>
        </p:spPr>
        <p:txBody>
          <a:bodyPr wrap="square">
            <a:spAutoFit/>
          </a:bodyPr>
          <a:lstStyle/>
          <a:p>
            <a:pPr algn="l">
              <a:defRPr sz="1600" b="1">
                <a:solidFill>
                  <a:srgbClr val="C0392B"/>
                </a:solidFill>
                <a:latin typeface="Calibri"/>
              </a:defRPr>
            </a:pPr>
            <a:r>
              <a:t>Why Traditional Detection Failed — For 5 Years</a:t>
            </a:r>
          </a:p>
        </p:txBody>
      </p:sp>
      <p:sp>
        <p:nvSpPr>
          <p:cNvPr id="8" name="TextBox 7"/>
          <p:cNvSpPr txBox="1"/>
          <p:nvPr/>
        </p:nvSpPr>
        <p:spPr>
          <a:xfrm>
            <a:off x="822960" y="2468880"/>
            <a:ext cx="4754880" cy="256032"/>
          </a:xfrm>
          <a:prstGeom prst="rect">
            <a:avLst/>
          </a:prstGeom>
          <a:noFill/>
        </p:spPr>
        <p:txBody>
          <a:bodyPr wrap="square">
            <a:spAutoFit/>
          </a:bodyPr>
          <a:lstStyle/>
          <a:p>
            <a:pPr algn="l">
              <a:defRPr sz="1200" b="0">
                <a:solidFill>
                  <a:srgbClr val="505050"/>
                </a:solidFill>
                <a:latin typeface="Calibri"/>
              </a:defRPr>
            </a:pPr>
            <a:r>
              <a:t>▸ Used legitimate network protocols and tools — no malware signatures</a:t>
            </a:r>
          </a:p>
        </p:txBody>
      </p:sp>
      <p:sp>
        <p:nvSpPr>
          <p:cNvPr id="9" name="TextBox 8"/>
          <p:cNvSpPr txBox="1"/>
          <p:nvPr/>
        </p:nvSpPr>
        <p:spPr>
          <a:xfrm>
            <a:off x="822960" y="2724912"/>
            <a:ext cx="4754880" cy="256032"/>
          </a:xfrm>
          <a:prstGeom prst="rect">
            <a:avLst/>
          </a:prstGeom>
          <a:noFill/>
        </p:spPr>
        <p:txBody>
          <a:bodyPr wrap="square">
            <a:spAutoFit/>
          </a:bodyPr>
          <a:lstStyle/>
          <a:p>
            <a:pPr algn="l">
              <a:defRPr sz="1200" b="0">
                <a:solidFill>
                  <a:srgbClr val="505050"/>
                </a:solidFill>
                <a:latin typeface="Calibri"/>
              </a:defRPr>
            </a:pPr>
            <a:r>
              <a:t>▸ Maintained normal traffic volumes — never spiked bandwidth</a:t>
            </a:r>
          </a:p>
        </p:txBody>
      </p:sp>
      <p:sp>
        <p:nvSpPr>
          <p:cNvPr id="10" name="TextBox 9"/>
          <p:cNvSpPr txBox="1"/>
          <p:nvPr/>
        </p:nvSpPr>
        <p:spPr>
          <a:xfrm>
            <a:off x="822960" y="2980944"/>
            <a:ext cx="4754880" cy="256032"/>
          </a:xfrm>
          <a:prstGeom prst="rect">
            <a:avLst/>
          </a:prstGeom>
          <a:noFill/>
        </p:spPr>
        <p:txBody>
          <a:bodyPr wrap="square">
            <a:spAutoFit/>
          </a:bodyPr>
          <a:lstStyle/>
          <a:p>
            <a:pPr algn="l">
              <a:defRPr sz="1200" b="0">
                <a:solidFill>
                  <a:srgbClr val="505050"/>
                </a:solidFill>
                <a:latin typeface="Calibri"/>
              </a:defRPr>
            </a:pPr>
            <a:r>
              <a:t>▸ Operated within authorized access boundaries — valid credentials</a:t>
            </a:r>
          </a:p>
        </p:txBody>
      </p:sp>
      <p:sp>
        <p:nvSpPr>
          <p:cNvPr id="11" name="TextBox 10"/>
          <p:cNvSpPr txBox="1"/>
          <p:nvPr/>
        </p:nvSpPr>
        <p:spPr>
          <a:xfrm>
            <a:off x="822960" y="3236976"/>
            <a:ext cx="4754880" cy="256032"/>
          </a:xfrm>
          <a:prstGeom prst="rect">
            <a:avLst/>
          </a:prstGeom>
          <a:noFill/>
        </p:spPr>
        <p:txBody>
          <a:bodyPr wrap="square">
            <a:spAutoFit/>
          </a:bodyPr>
          <a:lstStyle/>
          <a:p>
            <a:pPr algn="l">
              <a:defRPr sz="1200" b="0">
                <a:solidFill>
                  <a:srgbClr val="505050"/>
                </a:solidFill>
                <a:latin typeface="Calibri"/>
              </a:defRPr>
            </a:pPr>
            <a:r>
              <a:t>▸ Blended with routine telecom operations — low-and-slow pattern</a:t>
            </a:r>
          </a:p>
        </p:txBody>
      </p:sp>
      <p:sp>
        <p:nvSpPr>
          <p:cNvPr id="12" name="TextBox 11"/>
          <p:cNvSpPr txBox="1"/>
          <p:nvPr/>
        </p:nvSpPr>
        <p:spPr>
          <a:xfrm>
            <a:off x="822960" y="3493008"/>
            <a:ext cx="4754880" cy="256032"/>
          </a:xfrm>
          <a:prstGeom prst="rect">
            <a:avLst/>
          </a:prstGeom>
          <a:noFill/>
        </p:spPr>
        <p:txBody>
          <a:bodyPr wrap="square">
            <a:spAutoFit/>
          </a:bodyPr>
          <a:lstStyle/>
          <a:p>
            <a:pPr algn="l">
              <a:defRPr sz="1200" b="0">
                <a:solidFill>
                  <a:srgbClr val="505050"/>
                </a:solidFill>
                <a:latin typeface="Calibri"/>
              </a:defRPr>
            </a:pPr>
            <a:r>
              <a:t>▸ No single metric exceeded any statistical threshold</a:t>
            </a:r>
          </a:p>
        </p:txBody>
      </p:sp>
      <p:sp>
        <p:nvSpPr>
          <p:cNvPr id="13" name="TextBox 12"/>
          <p:cNvSpPr txBox="1"/>
          <p:nvPr/>
        </p:nvSpPr>
        <p:spPr>
          <a:xfrm>
            <a:off x="822960" y="4005072"/>
            <a:ext cx="4754880" cy="256032"/>
          </a:xfrm>
          <a:prstGeom prst="rect">
            <a:avLst/>
          </a:prstGeom>
          <a:noFill/>
        </p:spPr>
        <p:txBody>
          <a:bodyPr wrap="square">
            <a:spAutoFit/>
          </a:bodyPr>
          <a:lstStyle/>
          <a:p>
            <a:pPr algn="l">
              <a:defRPr sz="1300" b="1">
                <a:solidFill>
                  <a:srgbClr val="0D1B2A"/>
                </a:solidFill>
                <a:latin typeface="Calibri"/>
              </a:defRPr>
            </a:pPr>
            <a:r>
              <a:t>   Our Simulation Results:</a:t>
            </a:r>
          </a:p>
        </p:txBody>
      </p:sp>
      <p:sp>
        <p:nvSpPr>
          <p:cNvPr id="14" name="TextBox 13"/>
          <p:cNvSpPr txBox="1"/>
          <p:nvPr/>
        </p:nvSpPr>
        <p:spPr>
          <a:xfrm>
            <a:off x="822960" y="4261104"/>
            <a:ext cx="4754880" cy="256032"/>
          </a:xfrm>
          <a:prstGeom prst="rect">
            <a:avLst/>
          </a:prstGeom>
          <a:noFill/>
        </p:spPr>
        <p:txBody>
          <a:bodyPr wrap="square">
            <a:spAutoFit/>
          </a:bodyPr>
          <a:lstStyle/>
          <a:p>
            <a:pPr algn="l">
              <a:defRPr sz="1200" b="0">
                <a:solidFill>
                  <a:srgbClr val="E67E22"/>
                </a:solidFill>
                <a:latin typeface="Calibri"/>
              </a:defRPr>
            </a:pPr>
            <a:r>
              <a:t>   LOF:  3/4 detected at 3.3% FP — flags Salt Typhoon, no direction</a:t>
            </a:r>
          </a:p>
        </p:txBody>
      </p:sp>
      <p:sp>
        <p:nvSpPr>
          <p:cNvPr id="15" name="TextBox 14"/>
          <p:cNvSpPr txBox="1"/>
          <p:nvPr/>
        </p:nvSpPr>
        <p:spPr>
          <a:xfrm>
            <a:off x="822960" y="4517136"/>
            <a:ext cx="4754880" cy="256032"/>
          </a:xfrm>
          <a:prstGeom prst="rect">
            <a:avLst/>
          </a:prstGeom>
          <a:noFill/>
        </p:spPr>
        <p:txBody>
          <a:bodyPr wrap="square">
            <a:spAutoFit/>
          </a:bodyPr>
          <a:lstStyle/>
          <a:p>
            <a:pPr algn="l">
              <a:defRPr sz="1200" b="0">
                <a:solidFill>
                  <a:srgbClr val="E67E22"/>
                </a:solidFill>
                <a:latin typeface="Calibri"/>
              </a:defRPr>
            </a:pPr>
            <a:r>
              <a:t>   Z-Score:  4/4 detected at 4.9% FP — flags it, but no direction</a:t>
            </a:r>
          </a:p>
        </p:txBody>
      </p:sp>
      <p:sp>
        <p:nvSpPr>
          <p:cNvPr id="16" name="TextBox 15"/>
          <p:cNvSpPr txBox="1"/>
          <p:nvPr/>
        </p:nvSpPr>
        <p:spPr>
          <a:xfrm>
            <a:off x="822960" y="4773168"/>
            <a:ext cx="4754880" cy="256032"/>
          </a:xfrm>
          <a:prstGeom prst="rect">
            <a:avLst/>
          </a:prstGeom>
          <a:noFill/>
        </p:spPr>
        <p:txBody>
          <a:bodyPr wrap="square">
            <a:spAutoFit/>
          </a:bodyPr>
          <a:lstStyle/>
          <a:p>
            <a:pPr algn="l">
              <a:defRPr sz="1200" b="0">
                <a:solidFill>
                  <a:srgbClr val="E67E22"/>
                </a:solidFill>
                <a:latin typeface="Calibri"/>
              </a:defRPr>
            </a:pPr>
            <a:r>
              <a:t>   Isolation Forest:  3/4 detected at 7.3% FP — flags it, no direction</a:t>
            </a:r>
          </a:p>
        </p:txBody>
      </p:sp>
      <p:sp>
        <p:nvSpPr>
          <p:cNvPr id="17" name="TextBox 16"/>
          <p:cNvSpPr txBox="1"/>
          <p:nvPr/>
        </p:nvSpPr>
        <p:spPr>
          <a:xfrm>
            <a:off x="822960" y="5029200"/>
            <a:ext cx="4754880" cy="256032"/>
          </a:xfrm>
          <a:prstGeom prst="rect">
            <a:avLst/>
          </a:prstGeom>
          <a:noFill/>
        </p:spPr>
        <p:txBody>
          <a:bodyPr wrap="square">
            <a:spAutoFit/>
          </a:bodyPr>
          <a:lstStyle/>
          <a:p>
            <a:pPr algn="l">
              <a:defRPr sz="1200" b="0">
                <a:solidFill>
                  <a:srgbClr val="E67E22"/>
                </a:solidFill>
                <a:latin typeface="Calibri"/>
              </a:defRPr>
            </a:pPr>
            <a:r>
              <a:t>   OCSVM:  4/4 detected at 29.7% FP — flags it, buried in noise</a:t>
            </a:r>
          </a:p>
        </p:txBody>
      </p:sp>
      <p:sp>
        <p:nvSpPr>
          <p:cNvPr id="18" name="Rounded Rectangle 17"/>
          <p:cNvSpPr/>
          <p:nvPr/>
        </p:nvSpPr>
        <p:spPr>
          <a:xfrm>
            <a:off x="6309360" y="1920240"/>
            <a:ext cx="530352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55080" y="1920240"/>
            <a:ext cx="521208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103120"/>
            <a:ext cx="4754880" cy="320040"/>
          </a:xfrm>
          <a:prstGeom prst="rect">
            <a:avLst/>
          </a:prstGeom>
          <a:noFill/>
        </p:spPr>
        <p:txBody>
          <a:bodyPr wrap="square">
            <a:spAutoFit/>
          </a:bodyPr>
          <a:lstStyle/>
          <a:p>
            <a:pPr algn="l">
              <a:defRPr sz="1600" b="1">
                <a:solidFill>
                  <a:srgbClr val="27AE60"/>
                </a:solidFill>
                <a:latin typeface="Calibri"/>
              </a:defRPr>
            </a:pPr>
            <a:r>
              <a:t>Why V-Intelligence UEBA + Composite Catches It — Immediately</a:t>
            </a:r>
          </a:p>
        </p:txBody>
      </p:sp>
      <p:sp>
        <p:nvSpPr>
          <p:cNvPr id="21" name="Rounded Rectangle 20"/>
          <p:cNvSpPr/>
          <p:nvPr/>
        </p:nvSpPr>
        <p:spPr>
          <a:xfrm>
            <a:off x="6583680" y="2514600"/>
            <a:ext cx="2011680" cy="2926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Behavioral Profile</a:t>
            </a:r>
          </a:p>
        </p:txBody>
      </p:sp>
      <p:sp>
        <p:nvSpPr>
          <p:cNvPr id="22" name="TextBox 21"/>
          <p:cNvSpPr txBox="1"/>
          <p:nvPr/>
        </p:nvSpPr>
        <p:spPr>
          <a:xfrm>
            <a:off x="8778240" y="2514600"/>
            <a:ext cx="2743200" cy="292608"/>
          </a:xfrm>
          <a:prstGeom prst="rect">
            <a:avLst/>
          </a:prstGeom>
          <a:noFill/>
        </p:spPr>
        <p:txBody>
          <a:bodyPr wrap="square">
            <a:spAutoFit/>
          </a:bodyPr>
          <a:lstStyle/>
          <a:p>
            <a:pPr algn="l">
              <a:defRPr sz="1200" b="0">
                <a:solidFill>
                  <a:srgbClr val="505050"/>
                </a:solidFill>
                <a:latin typeface="Calibri"/>
              </a:defRPr>
            </a:pPr>
            <a:r>
              <a:t>Tracks the meaning of actions, not just counts</a:t>
            </a:r>
          </a:p>
        </p:txBody>
      </p:sp>
      <p:sp>
        <p:nvSpPr>
          <p:cNvPr id="23" name="Rounded Rectangle 22"/>
          <p:cNvSpPr/>
          <p:nvPr/>
        </p:nvSpPr>
        <p:spPr>
          <a:xfrm>
            <a:off x="6583680" y="3017520"/>
            <a:ext cx="2011680" cy="2926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Multi-Zone Analysis</a:t>
            </a:r>
          </a:p>
        </p:txBody>
      </p:sp>
      <p:sp>
        <p:nvSpPr>
          <p:cNvPr id="24" name="TextBox 23"/>
          <p:cNvSpPr txBox="1"/>
          <p:nvPr/>
        </p:nvSpPr>
        <p:spPr>
          <a:xfrm>
            <a:off x="8778240" y="3017520"/>
            <a:ext cx="2743200" cy="292608"/>
          </a:xfrm>
          <a:prstGeom prst="rect">
            <a:avLst/>
          </a:prstGeom>
          <a:noFill/>
        </p:spPr>
        <p:txBody>
          <a:bodyPr wrap="square">
            <a:spAutoFit/>
          </a:bodyPr>
          <a:lstStyle/>
          <a:p>
            <a:pPr algn="l">
              <a:defRPr sz="1200" b="0">
                <a:solidFill>
                  <a:srgbClr val="505050"/>
                </a:solidFill>
                <a:latin typeface="Calibri"/>
              </a:defRPr>
            </a:pPr>
            <a:r>
              <a:t>Identity stable, but network footprint drifting</a:t>
            </a:r>
          </a:p>
        </p:txBody>
      </p:sp>
      <p:sp>
        <p:nvSpPr>
          <p:cNvPr id="25" name="Rounded Rectangle 24"/>
          <p:cNvSpPr/>
          <p:nvPr/>
        </p:nvSpPr>
        <p:spPr>
          <a:xfrm>
            <a:off x="6583680" y="3520440"/>
            <a:ext cx="2011680" cy="2926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Sustained Signal</a:t>
            </a:r>
          </a:p>
        </p:txBody>
      </p:sp>
      <p:sp>
        <p:nvSpPr>
          <p:cNvPr id="26" name="TextBox 25"/>
          <p:cNvSpPr txBox="1"/>
          <p:nvPr/>
        </p:nvSpPr>
        <p:spPr>
          <a:xfrm>
            <a:off x="8778240" y="3520440"/>
            <a:ext cx="2743200" cy="292608"/>
          </a:xfrm>
          <a:prstGeom prst="rect">
            <a:avLst/>
          </a:prstGeom>
          <a:noFill/>
        </p:spPr>
        <p:txBody>
          <a:bodyPr wrap="square">
            <a:spAutoFit/>
          </a:bodyPr>
          <a:lstStyle/>
          <a:p>
            <a:pPr algn="l">
              <a:defRPr sz="1200" b="0">
                <a:solidFill>
                  <a:srgbClr val="505050"/>
                </a:solidFill>
                <a:latin typeface="Calibri"/>
              </a:defRPr>
            </a:pPr>
            <a:r>
              <a:t>Behavioral deviation persists across every week</a:t>
            </a:r>
          </a:p>
        </p:txBody>
      </p:sp>
      <p:sp>
        <p:nvSpPr>
          <p:cNvPr id="27" name="Rounded Rectangle 26"/>
          <p:cNvSpPr/>
          <p:nvPr/>
        </p:nvSpPr>
        <p:spPr>
          <a:xfrm>
            <a:off x="6583680" y="4023360"/>
            <a:ext cx="2011680" cy="2926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Context Divergence</a:t>
            </a:r>
          </a:p>
        </p:txBody>
      </p:sp>
      <p:sp>
        <p:nvSpPr>
          <p:cNvPr id="28" name="TextBox 27"/>
          <p:cNvSpPr txBox="1"/>
          <p:nvPr/>
        </p:nvSpPr>
        <p:spPr>
          <a:xfrm>
            <a:off x="8778240" y="4023360"/>
            <a:ext cx="2743200" cy="292608"/>
          </a:xfrm>
          <a:prstGeom prst="rect">
            <a:avLst/>
          </a:prstGeom>
          <a:noFill/>
        </p:spPr>
        <p:txBody>
          <a:bodyPr wrap="square">
            <a:spAutoFit/>
          </a:bodyPr>
          <a:lstStyle/>
          <a:p>
            <a:pPr algn="l">
              <a:defRPr sz="1200" b="0">
                <a:solidFill>
                  <a:srgbClr val="505050"/>
                </a:solidFill>
                <a:latin typeface="Calibri"/>
              </a:defRPr>
            </a:pPr>
            <a:r>
              <a:t>Anomalous from multiple analytical perspectives</a:t>
            </a:r>
          </a:p>
        </p:txBody>
      </p:sp>
      <p:sp>
        <p:nvSpPr>
          <p:cNvPr id="29" name="Rounded Rectangle 28"/>
          <p:cNvSpPr/>
          <p:nvPr/>
        </p:nvSpPr>
        <p:spPr>
          <a:xfrm>
            <a:off x="6583680" y="4526280"/>
            <a:ext cx="2011680" cy="2926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  Signal Strength</a:t>
            </a:r>
          </a:p>
        </p:txBody>
      </p:sp>
      <p:sp>
        <p:nvSpPr>
          <p:cNvPr id="30" name="TextBox 29"/>
          <p:cNvSpPr txBox="1"/>
          <p:nvPr/>
        </p:nvSpPr>
        <p:spPr>
          <a:xfrm>
            <a:off x="8778240" y="4526280"/>
            <a:ext cx="2743200" cy="292608"/>
          </a:xfrm>
          <a:prstGeom prst="rect">
            <a:avLst/>
          </a:prstGeom>
          <a:noFill/>
        </p:spPr>
        <p:txBody>
          <a:bodyPr wrap="square">
            <a:spAutoFit/>
          </a:bodyPr>
          <a:lstStyle/>
          <a:p>
            <a:pPr algn="l">
              <a:defRPr sz="1200" b="0">
                <a:solidFill>
                  <a:srgbClr val="505050"/>
                </a:solidFill>
                <a:latin typeface="Calibri"/>
              </a:defRPr>
            </a:pPr>
            <a:r>
              <a:t>29.9 — strongest drift in the entire population</a:t>
            </a:r>
          </a:p>
        </p:txBody>
      </p:sp>
      <p:sp>
        <p:nvSpPr>
          <p:cNvPr id="31" name="TextBox 30"/>
          <p:cNvSpPr txBox="1"/>
          <p:nvPr/>
        </p:nvSpPr>
        <p:spPr>
          <a:xfrm>
            <a:off x="6583680" y="4754880"/>
            <a:ext cx="4754880" cy="320040"/>
          </a:xfrm>
          <a:prstGeom prst="rect">
            <a:avLst/>
          </a:prstGeom>
          <a:noFill/>
        </p:spPr>
        <p:txBody>
          <a:bodyPr wrap="square">
            <a:spAutoFit/>
          </a:bodyPr>
          <a:lstStyle/>
          <a:p>
            <a:pPr algn="ctr">
              <a:defRPr sz="1500" b="1">
                <a:solidFill>
                  <a:srgbClr val="27AE60"/>
                </a:solidFill>
                <a:latin typeface="Calibri"/>
              </a:defRPr>
            </a:pPr>
            <a:r>
              <a:t>Composite Score: 51.7 — Rank #1 out of 250 users</a:t>
            </a:r>
          </a:p>
        </p:txBody>
      </p:sp>
      <p:sp>
        <p:nvSpPr>
          <p:cNvPr id="32" name="Rounded Rectangle 31"/>
          <p:cNvSpPr/>
          <p:nvPr/>
        </p:nvSpPr>
        <p:spPr>
          <a:xfrm>
            <a:off x="548640" y="5394960"/>
            <a:ext cx="11064240" cy="118872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486400"/>
            <a:ext cx="10515600" cy="320040"/>
          </a:xfrm>
          <a:prstGeom prst="rect">
            <a:avLst/>
          </a:prstGeom>
          <a:noFill/>
        </p:spPr>
        <p:txBody>
          <a:bodyPr wrap="square">
            <a:spAutoFit/>
          </a:bodyPr>
          <a:lstStyle/>
          <a:p>
            <a:pPr algn="l">
              <a:defRPr sz="1600" b="1">
                <a:solidFill>
                  <a:srgbClr val="B7950B"/>
                </a:solidFill>
                <a:latin typeface="Calibri"/>
              </a:defRPr>
            </a:pPr>
            <a:r>
              <a:t>The Critical Insight</a:t>
            </a:r>
          </a:p>
        </p:txBody>
      </p:sp>
      <p:sp>
        <p:nvSpPr>
          <p:cNvPr id="34" name="TextBox 33"/>
          <p:cNvSpPr txBox="1"/>
          <p:nvPr/>
        </p:nvSpPr>
        <p:spPr>
          <a:xfrm>
            <a:off x="822960" y="5806440"/>
            <a:ext cx="10515600" cy="731520"/>
          </a:xfrm>
          <a:prstGeom prst="rect">
            <a:avLst/>
          </a:prstGeom>
          <a:noFill/>
        </p:spPr>
        <p:txBody>
          <a:bodyPr wrap="square">
            <a:spAutoFit/>
          </a:bodyPr>
          <a:lstStyle/>
          <a:p>
            <a:pPr algn="l">
              <a:defRPr sz="1300" b="0">
                <a:solidFill>
                  <a:srgbClr val="FFFFFF"/>
                </a:solidFill>
                <a:latin typeface="Calibri"/>
              </a:defRPr>
            </a:pPr>
            <a:r>
              <a:t>Salt Typhoon evaded meaningful detection for 5 years because traditional tools flagged anomalies without directional intelligence — analysts saw "anomalous" but not WHICH zone shifted or TOWARD WHAT threat. V-Intelligence UEBA ranks this pattern as #1 out of 250 AND tells the analyst exactly which behavioral zones drifted, in what direction, and toward what known threat pattern — turning a vague flag into actionable response.</a:t>
            </a:r>
          </a:p>
        </p:txBody>
      </p:sp>
      <p:sp>
        <p:nvSpPr>
          <p:cNvPr id="35" name="TextBox 34"/>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False Positive Rate: Why Precision Matters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731520"/>
          </a:xfrm>
          <a:prstGeom prst="rect">
            <a:avLst/>
          </a:prstGeom>
          <a:noFill/>
        </p:spPr>
        <p:txBody>
          <a:bodyPr wrap="square">
            <a:spAutoFit/>
          </a:bodyPr>
          <a:lstStyle/>
          <a:p>
            <a:pPr algn="l">
              <a:defRPr sz="1600" b="0">
                <a:solidFill>
                  <a:srgbClr val="505050"/>
                </a:solidFill>
                <a:latin typeface="Calibri"/>
              </a:defRPr>
            </a:pPr>
            <a:r>
              <a:t>A detection method that flags every user is useless — even if it catches all attackers. False positive rate measures what percentage of normal users are incorrectly flagged as threats. Lower is better.</a:t>
            </a:r>
          </a:p>
        </p:txBody>
      </p:sp>
      <p:sp>
        <p:nvSpPr>
          <p:cNvPr id="5" name="Rounded Rectangle 4"/>
          <p:cNvSpPr/>
          <p:nvPr/>
        </p:nvSpPr>
        <p:spPr>
          <a:xfrm>
            <a:off x="365760" y="2286000"/>
            <a:ext cx="1828800" cy="292608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2286000"/>
            <a:ext cx="17373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68880"/>
            <a:ext cx="1645920" cy="365760"/>
          </a:xfrm>
          <a:prstGeom prst="rect">
            <a:avLst/>
          </a:prstGeom>
          <a:noFill/>
        </p:spPr>
        <p:txBody>
          <a:bodyPr wrap="square">
            <a:spAutoFit/>
          </a:bodyPr>
          <a:lstStyle/>
          <a:p>
            <a:pPr algn="ctr">
              <a:defRPr sz="1200" b="1">
                <a:solidFill>
                  <a:srgbClr val="E67E22"/>
                </a:solidFill>
                <a:latin typeface="Calibri"/>
              </a:defRPr>
            </a:pPr>
            <a:r>
              <a:t>Local Outlier Factor</a:t>
            </a:r>
          </a:p>
        </p:txBody>
      </p:sp>
      <p:sp>
        <p:nvSpPr>
          <p:cNvPr id="8" name="TextBox 7"/>
          <p:cNvSpPr txBox="1"/>
          <p:nvPr/>
        </p:nvSpPr>
        <p:spPr>
          <a:xfrm>
            <a:off x="457200" y="2926080"/>
            <a:ext cx="1645920" cy="457200"/>
          </a:xfrm>
          <a:prstGeom prst="rect">
            <a:avLst/>
          </a:prstGeom>
          <a:noFill/>
        </p:spPr>
        <p:txBody>
          <a:bodyPr wrap="square">
            <a:spAutoFit/>
          </a:bodyPr>
          <a:lstStyle/>
          <a:p>
            <a:pPr algn="ctr">
              <a:defRPr sz="2600" b="1">
                <a:solidFill>
                  <a:srgbClr val="E67E22"/>
                </a:solidFill>
                <a:latin typeface="Calibri"/>
              </a:defRPr>
            </a:pPr>
            <a:r>
              <a:t>3 of 4</a:t>
            </a:r>
          </a:p>
        </p:txBody>
      </p:sp>
      <p:sp>
        <p:nvSpPr>
          <p:cNvPr id="9" name="TextBox 8"/>
          <p:cNvSpPr txBox="1"/>
          <p:nvPr/>
        </p:nvSpPr>
        <p:spPr>
          <a:xfrm>
            <a:off x="457200"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10" name="TextBox 9"/>
          <p:cNvSpPr txBox="1"/>
          <p:nvPr/>
        </p:nvSpPr>
        <p:spPr>
          <a:xfrm>
            <a:off x="457200" y="3794760"/>
            <a:ext cx="1645920" cy="365760"/>
          </a:xfrm>
          <a:prstGeom prst="rect">
            <a:avLst/>
          </a:prstGeom>
          <a:noFill/>
        </p:spPr>
        <p:txBody>
          <a:bodyPr wrap="square">
            <a:spAutoFit/>
          </a:bodyPr>
          <a:lstStyle/>
          <a:p>
            <a:pPr algn="ctr">
              <a:defRPr sz="1500" b="1">
                <a:solidFill>
                  <a:srgbClr val="0D1B2A"/>
                </a:solidFill>
                <a:latin typeface="Calibri"/>
              </a:defRPr>
            </a:pPr>
            <a:r>
              <a:t>FP Rate: 3.3%</a:t>
            </a:r>
          </a:p>
        </p:txBody>
      </p:sp>
      <p:sp>
        <p:nvSpPr>
          <p:cNvPr id="11" name="TextBox 10"/>
          <p:cNvSpPr txBox="1"/>
          <p:nvPr/>
        </p:nvSpPr>
        <p:spPr>
          <a:xfrm>
            <a:off x="457200" y="4206240"/>
            <a:ext cx="1645920" cy="731520"/>
          </a:xfrm>
          <a:prstGeom prst="rect">
            <a:avLst/>
          </a:prstGeom>
          <a:noFill/>
        </p:spPr>
        <p:txBody>
          <a:bodyPr wrap="square">
            <a:spAutoFit/>
          </a:bodyPr>
          <a:lstStyle/>
          <a:p>
            <a:pPr algn="ctr">
              <a:defRPr sz="1000" b="0">
                <a:solidFill>
                  <a:srgbClr val="505050"/>
                </a:solidFill>
                <a:latin typeface="Calibri"/>
              </a:defRPr>
            </a:pPr>
            <a:r>
              <a:t>Flags 3 as anomalous, misses slow</a:t>
            </a:r>
            <a:br/>
            <a:r>
              <a:t>APT. No directional intelligence.</a:t>
            </a:r>
          </a:p>
        </p:txBody>
      </p:sp>
      <p:sp>
        <p:nvSpPr>
          <p:cNvPr id="12" name="Rounded Rectangle 11"/>
          <p:cNvSpPr/>
          <p:nvPr/>
        </p:nvSpPr>
        <p:spPr>
          <a:xfrm>
            <a:off x="2359152" y="2286000"/>
            <a:ext cx="1828800" cy="292608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04872" y="2286000"/>
            <a:ext cx="17373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0592" y="2468880"/>
            <a:ext cx="1645920" cy="365760"/>
          </a:xfrm>
          <a:prstGeom prst="rect">
            <a:avLst/>
          </a:prstGeom>
          <a:noFill/>
        </p:spPr>
        <p:txBody>
          <a:bodyPr wrap="square">
            <a:spAutoFit/>
          </a:bodyPr>
          <a:lstStyle/>
          <a:p>
            <a:pPr algn="ctr">
              <a:defRPr sz="1200" b="1">
                <a:solidFill>
                  <a:srgbClr val="E67E22"/>
                </a:solidFill>
                <a:latin typeface="Calibri"/>
              </a:defRPr>
            </a:pPr>
            <a:r>
              <a:t>Z-Score (|z|&gt;3)</a:t>
            </a:r>
          </a:p>
        </p:txBody>
      </p:sp>
      <p:sp>
        <p:nvSpPr>
          <p:cNvPr id="15" name="TextBox 14"/>
          <p:cNvSpPr txBox="1"/>
          <p:nvPr/>
        </p:nvSpPr>
        <p:spPr>
          <a:xfrm>
            <a:off x="2450592" y="2926080"/>
            <a:ext cx="1645920" cy="457200"/>
          </a:xfrm>
          <a:prstGeom prst="rect">
            <a:avLst/>
          </a:prstGeom>
          <a:noFill/>
        </p:spPr>
        <p:txBody>
          <a:bodyPr wrap="square">
            <a:spAutoFit/>
          </a:bodyPr>
          <a:lstStyle/>
          <a:p>
            <a:pPr algn="ctr">
              <a:defRPr sz="2600" b="1">
                <a:solidFill>
                  <a:srgbClr val="E67E22"/>
                </a:solidFill>
                <a:latin typeface="Calibri"/>
              </a:defRPr>
            </a:pPr>
            <a:r>
              <a:t>4 of 4</a:t>
            </a:r>
          </a:p>
        </p:txBody>
      </p:sp>
      <p:sp>
        <p:nvSpPr>
          <p:cNvPr id="16" name="TextBox 15"/>
          <p:cNvSpPr txBox="1"/>
          <p:nvPr/>
        </p:nvSpPr>
        <p:spPr>
          <a:xfrm>
            <a:off x="2450592"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17" name="TextBox 16"/>
          <p:cNvSpPr txBox="1"/>
          <p:nvPr/>
        </p:nvSpPr>
        <p:spPr>
          <a:xfrm>
            <a:off x="2450592" y="3794760"/>
            <a:ext cx="1645920" cy="365760"/>
          </a:xfrm>
          <a:prstGeom prst="rect">
            <a:avLst/>
          </a:prstGeom>
          <a:noFill/>
        </p:spPr>
        <p:txBody>
          <a:bodyPr wrap="square">
            <a:spAutoFit/>
          </a:bodyPr>
          <a:lstStyle/>
          <a:p>
            <a:pPr algn="ctr">
              <a:defRPr sz="1500" b="1">
                <a:solidFill>
                  <a:srgbClr val="0D1B2A"/>
                </a:solidFill>
                <a:latin typeface="Calibri"/>
              </a:defRPr>
            </a:pPr>
            <a:r>
              <a:t>FP Rate: 4.9%</a:t>
            </a:r>
          </a:p>
        </p:txBody>
      </p:sp>
      <p:sp>
        <p:nvSpPr>
          <p:cNvPr id="18" name="TextBox 17"/>
          <p:cNvSpPr txBox="1"/>
          <p:nvPr/>
        </p:nvSpPr>
        <p:spPr>
          <a:xfrm>
            <a:off x="2450592" y="4206240"/>
            <a:ext cx="1645920" cy="731520"/>
          </a:xfrm>
          <a:prstGeom prst="rect">
            <a:avLst/>
          </a:prstGeom>
          <a:noFill/>
        </p:spPr>
        <p:txBody>
          <a:bodyPr wrap="square">
            <a:spAutoFit/>
          </a:bodyPr>
          <a:lstStyle/>
          <a:p>
            <a:pPr algn="ctr">
              <a:defRPr sz="1000" b="0">
                <a:solidFill>
                  <a:srgbClr val="505050"/>
                </a:solidFill>
                <a:latin typeface="Calibri"/>
              </a:defRPr>
            </a:pPr>
            <a:r>
              <a:t>Flags all 4 as anomalous but gives</a:t>
            </a:r>
            <a:br/>
            <a:r>
              <a:t>no direction on threat pattern.</a:t>
            </a:r>
          </a:p>
        </p:txBody>
      </p:sp>
      <p:sp>
        <p:nvSpPr>
          <p:cNvPr id="19" name="Rounded Rectangle 18"/>
          <p:cNvSpPr/>
          <p:nvPr/>
        </p:nvSpPr>
        <p:spPr>
          <a:xfrm>
            <a:off x="4352544" y="2286000"/>
            <a:ext cx="1828800" cy="292608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98264" y="2286000"/>
            <a:ext cx="17373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4" y="2468880"/>
            <a:ext cx="1645920" cy="365760"/>
          </a:xfrm>
          <a:prstGeom prst="rect">
            <a:avLst/>
          </a:prstGeom>
          <a:noFill/>
        </p:spPr>
        <p:txBody>
          <a:bodyPr wrap="square">
            <a:spAutoFit/>
          </a:bodyPr>
          <a:lstStyle/>
          <a:p>
            <a:pPr algn="ctr">
              <a:defRPr sz="1200" b="1">
                <a:solidFill>
                  <a:srgbClr val="E67E22"/>
                </a:solidFill>
                <a:latin typeface="Calibri"/>
              </a:defRPr>
            </a:pPr>
            <a:r>
              <a:t>Isolation Forest</a:t>
            </a:r>
          </a:p>
        </p:txBody>
      </p:sp>
      <p:sp>
        <p:nvSpPr>
          <p:cNvPr id="22" name="TextBox 21"/>
          <p:cNvSpPr txBox="1"/>
          <p:nvPr/>
        </p:nvSpPr>
        <p:spPr>
          <a:xfrm>
            <a:off x="4443984" y="2926080"/>
            <a:ext cx="1645920" cy="457200"/>
          </a:xfrm>
          <a:prstGeom prst="rect">
            <a:avLst/>
          </a:prstGeom>
          <a:noFill/>
        </p:spPr>
        <p:txBody>
          <a:bodyPr wrap="square">
            <a:spAutoFit/>
          </a:bodyPr>
          <a:lstStyle/>
          <a:p>
            <a:pPr algn="ctr">
              <a:defRPr sz="2600" b="1">
                <a:solidFill>
                  <a:srgbClr val="E67E22"/>
                </a:solidFill>
                <a:latin typeface="Calibri"/>
              </a:defRPr>
            </a:pPr>
            <a:r>
              <a:t>3 of 4</a:t>
            </a:r>
          </a:p>
        </p:txBody>
      </p:sp>
      <p:sp>
        <p:nvSpPr>
          <p:cNvPr id="23" name="TextBox 22"/>
          <p:cNvSpPr txBox="1"/>
          <p:nvPr/>
        </p:nvSpPr>
        <p:spPr>
          <a:xfrm>
            <a:off x="4443984"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24" name="TextBox 23"/>
          <p:cNvSpPr txBox="1"/>
          <p:nvPr/>
        </p:nvSpPr>
        <p:spPr>
          <a:xfrm>
            <a:off x="4443984" y="3794760"/>
            <a:ext cx="1645920" cy="365760"/>
          </a:xfrm>
          <a:prstGeom prst="rect">
            <a:avLst/>
          </a:prstGeom>
          <a:noFill/>
        </p:spPr>
        <p:txBody>
          <a:bodyPr wrap="square">
            <a:spAutoFit/>
          </a:bodyPr>
          <a:lstStyle/>
          <a:p>
            <a:pPr algn="ctr">
              <a:defRPr sz="1500" b="1">
                <a:solidFill>
                  <a:srgbClr val="0D1B2A"/>
                </a:solidFill>
                <a:latin typeface="Calibri"/>
              </a:defRPr>
            </a:pPr>
            <a:r>
              <a:t>FP Rate: 7.3%</a:t>
            </a:r>
          </a:p>
        </p:txBody>
      </p:sp>
      <p:sp>
        <p:nvSpPr>
          <p:cNvPr id="25" name="TextBox 24"/>
          <p:cNvSpPr txBox="1"/>
          <p:nvPr/>
        </p:nvSpPr>
        <p:spPr>
          <a:xfrm>
            <a:off x="4443984" y="4206240"/>
            <a:ext cx="1645920" cy="731520"/>
          </a:xfrm>
          <a:prstGeom prst="rect">
            <a:avLst/>
          </a:prstGeom>
          <a:noFill/>
        </p:spPr>
        <p:txBody>
          <a:bodyPr wrap="square">
            <a:spAutoFit/>
          </a:bodyPr>
          <a:lstStyle/>
          <a:p>
            <a:pPr algn="ctr">
              <a:defRPr sz="1000" b="0">
                <a:solidFill>
                  <a:srgbClr val="505050"/>
                </a:solidFill>
                <a:latin typeface="Calibri"/>
              </a:defRPr>
            </a:pPr>
            <a:r>
              <a:t>Flags 3 as anomalous, misses slow</a:t>
            </a:r>
            <a:br/>
            <a:r>
              <a:t>APT. No directional intelligence.</a:t>
            </a:r>
          </a:p>
        </p:txBody>
      </p:sp>
      <p:sp>
        <p:nvSpPr>
          <p:cNvPr id="26" name="Rounded Rectangle 25"/>
          <p:cNvSpPr/>
          <p:nvPr/>
        </p:nvSpPr>
        <p:spPr>
          <a:xfrm>
            <a:off x="6345936" y="2286000"/>
            <a:ext cx="1828800" cy="2926080"/>
          </a:xfrm>
          <a:prstGeom prst="roundRect">
            <a:avLst/>
          </a:prstGeom>
          <a:solidFill>
            <a:srgbClr val="FFFFFF"/>
          </a:solidFill>
          <a:ln w="19050">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91656" y="2286000"/>
            <a:ext cx="173736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2468880"/>
            <a:ext cx="1645920" cy="365760"/>
          </a:xfrm>
          <a:prstGeom prst="rect">
            <a:avLst/>
          </a:prstGeom>
          <a:noFill/>
        </p:spPr>
        <p:txBody>
          <a:bodyPr wrap="square">
            <a:spAutoFit/>
          </a:bodyPr>
          <a:lstStyle/>
          <a:p>
            <a:pPr algn="ctr">
              <a:defRPr sz="1200" b="1">
                <a:solidFill>
                  <a:srgbClr val="C0392B"/>
                </a:solidFill>
                <a:latin typeface="Calibri"/>
              </a:defRPr>
            </a:pPr>
            <a:r>
              <a:t>One-Class SVM</a:t>
            </a:r>
          </a:p>
        </p:txBody>
      </p:sp>
      <p:sp>
        <p:nvSpPr>
          <p:cNvPr id="29" name="TextBox 28"/>
          <p:cNvSpPr txBox="1"/>
          <p:nvPr/>
        </p:nvSpPr>
        <p:spPr>
          <a:xfrm>
            <a:off x="6437376" y="2926080"/>
            <a:ext cx="1645920" cy="457200"/>
          </a:xfrm>
          <a:prstGeom prst="rect">
            <a:avLst/>
          </a:prstGeom>
          <a:noFill/>
        </p:spPr>
        <p:txBody>
          <a:bodyPr wrap="square">
            <a:spAutoFit/>
          </a:bodyPr>
          <a:lstStyle/>
          <a:p>
            <a:pPr algn="ctr">
              <a:defRPr sz="2600" b="1">
                <a:solidFill>
                  <a:srgbClr val="C0392B"/>
                </a:solidFill>
                <a:latin typeface="Calibri"/>
              </a:defRPr>
            </a:pPr>
            <a:r>
              <a:t>4 of 4</a:t>
            </a:r>
          </a:p>
        </p:txBody>
      </p:sp>
      <p:sp>
        <p:nvSpPr>
          <p:cNvPr id="30" name="TextBox 29"/>
          <p:cNvSpPr txBox="1"/>
          <p:nvPr/>
        </p:nvSpPr>
        <p:spPr>
          <a:xfrm>
            <a:off x="6437376"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31" name="TextBox 30"/>
          <p:cNvSpPr txBox="1"/>
          <p:nvPr/>
        </p:nvSpPr>
        <p:spPr>
          <a:xfrm>
            <a:off x="6437376" y="3794760"/>
            <a:ext cx="1645920" cy="365760"/>
          </a:xfrm>
          <a:prstGeom prst="rect">
            <a:avLst/>
          </a:prstGeom>
          <a:noFill/>
        </p:spPr>
        <p:txBody>
          <a:bodyPr wrap="square">
            <a:spAutoFit/>
          </a:bodyPr>
          <a:lstStyle/>
          <a:p>
            <a:pPr algn="ctr">
              <a:defRPr sz="1500" b="1">
                <a:solidFill>
                  <a:srgbClr val="0D1B2A"/>
                </a:solidFill>
                <a:latin typeface="Calibri"/>
              </a:defRPr>
            </a:pPr>
            <a:r>
              <a:t>FP Rate: 29.7%</a:t>
            </a:r>
          </a:p>
        </p:txBody>
      </p:sp>
      <p:sp>
        <p:nvSpPr>
          <p:cNvPr id="32" name="TextBox 31"/>
          <p:cNvSpPr txBox="1"/>
          <p:nvPr/>
        </p:nvSpPr>
        <p:spPr>
          <a:xfrm>
            <a:off x="6437376" y="4206240"/>
            <a:ext cx="1645920" cy="731520"/>
          </a:xfrm>
          <a:prstGeom prst="rect">
            <a:avLst/>
          </a:prstGeom>
          <a:noFill/>
        </p:spPr>
        <p:txBody>
          <a:bodyPr wrap="square">
            <a:spAutoFit/>
          </a:bodyPr>
          <a:lstStyle/>
          <a:p>
            <a:pPr algn="ctr">
              <a:defRPr sz="1000" b="0">
                <a:solidFill>
                  <a:srgbClr val="505050"/>
                </a:solidFill>
                <a:latin typeface="Calibri"/>
              </a:defRPr>
            </a:pPr>
            <a:r>
              <a:t>Flags all 4 but buries them in</a:t>
            </a:r>
            <a:br/>
            <a:r>
              <a:t>massive false positive volume.</a:t>
            </a:r>
          </a:p>
        </p:txBody>
      </p:sp>
      <p:sp>
        <p:nvSpPr>
          <p:cNvPr id="33" name="Rounded Rectangle 32"/>
          <p:cNvSpPr/>
          <p:nvPr/>
        </p:nvSpPr>
        <p:spPr>
          <a:xfrm>
            <a:off x="8339328" y="2286000"/>
            <a:ext cx="1828800" cy="2926080"/>
          </a:xfrm>
          <a:prstGeom prst="round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85048" y="228600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8" y="2468880"/>
            <a:ext cx="1645920" cy="365760"/>
          </a:xfrm>
          <a:prstGeom prst="rect">
            <a:avLst/>
          </a:prstGeom>
          <a:noFill/>
        </p:spPr>
        <p:txBody>
          <a:bodyPr wrap="square">
            <a:spAutoFit/>
          </a:bodyPr>
          <a:lstStyle/>
          <a:p>
            <a:pPr algn="ctr">
              <a:defRPr sz="1200" b="1">
                <a:solidFill>
                  <a:srgbClr val="27AE60"/>
                </a:solidFill>
                <a:latin typeface="Calibri"/>
              </a:defRPr>
            </a:pPr>
            <a:r>
              <a:t>V-Intelligence UEBA + Composite</a:t>
            </a:r>
          </a:p>
        </p:txBody>
      </p:sp>
      <p:sp>
        <p:nvSpPr>
          <p:cNvPr id="36" name="TextBox 35"/>
          <p:cNvSpPr txBox="1"/>
          <p:nvPr/>
        </p:nvSpPr>
        <p:spPr>
          <a:xfrm>
            <a:off x="8430768" y="2926080"/>
            <a:ext cx="1645920" cy="457200"/>
          </a:xfrm>
          <a:prstGeom prst="rect">
            <a:avLst/>
          </a:prstGeom>
          <a:noFill/>
        </p:spPr>
        <p:txBody>
          <a:bodyPr wrap="square">
            <a:spAutoFit/>
          </a:bodyPr>
          <a:lstStyle/>
          <a:p>
            <a:pPr algn="ctr">
              <a:defRPr sz="2600" b="1">
                <a:solidFill>
                  <a:srgbClr val="27AE60"/>
                </a:solidFill>
                <a:latin typeface="Calibri"/>
              </a:defRPr>
            </a:pPr>
            <a:r>
              <a:t>4 of 4</a:t>
            </a:r>
          </a:p>
        </p:txBody>
      </p:sp>
      <p:sp>
        <p:nvSpPr>
          <p:cNvPr id="37" name="TextBox 36"/>
          <p:cNvSpPr txBox="1"/>
          <p:nvPr/>
        </p:nvSpPr>
        <p:spPr>
          <a:xfrm>
            <a:off x="8430768"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38" name="TextBox 37"/>
          <p:cNvSpPr txBox="1"/>
          <p:nvPr/>
        </p:nvSpPr>
        <p:spPr>
          <a:xfrm>
            <a:off x="8430768" y="3794760"/>
            <a:ext cx="1645920" cy="365760"/>
          </a:xfrm>
          <a:prstGeom prst="rect">
            <a:avLst/>
          </a:prstGeom>
          <a:noFill/>
        </p:spPr>
        <p:txBody>
          <a:bodyPr wrap="square">
            <a:spAutoFit/>
          </a:bodyPr>
          <a:lstStyle/>
          <a:p>
            <a:pPr algn="ctr">
              <a:defRPr sz="1500" b="1">
                <a:solidFill>
                  <a:srgbClr val="0D1B2A"/>
                </a:solidFill>
                <a:latin typeface="Calibri"/>
              </a:defRPr>
            </a:pPr>
            <a:r>
              <a:t>FP Rate: 10.6%</a:t>
            </a:r>
          </a:p>
        </p:txBody>
      </p:sp>
      <p:sp>
        <p:nvSpPr>
          <p:cNvPr id="39" name="TextBox 38"/>
          <p:cNvSpPr txBox="1"/>
          <p:nvPr/>
        </p:nvSpPr>
        <p:spPr>
          <a:xfrm>
            <a:off x="8430768" y="4206240"/>
            <a:ext cx="1645920" cy="731520"/>
          </a:xfrm>
          <a:prstGeom prst="rect">
            <a:avLst/>
          </a:prstGeom>
          <a:noFill/>
        </p:spPr>
        <p:txBody>
          <a:bodyPr wrap="square">
            <a:spAutoFit/>
          </a:bodyPr>
          <a:lstStyle/>
          <a:p>
            <a:pPr algn="ctr">
              <a:defRPr sz="1000" b="0">
                <a:solidFill>
                  <a:srgbClr val="505050"/>
                </a:solidFill>
                <a:latin typeface="Calibri"/>
              </a:defRPr>
            </a:pPr>
            <a:r>
              <a:t>Detects all 4 WITH directional</a:t>
            </a:r>
            <a:br/>
            <a:r>
              <a:t>intelligence on threat patterns.</a:t>
            </a:r>
          </a:p>
        </p:txBody>
      </p:sp>
      <p:sp>
        <p:nvSpPr>
          <p:cNvPr id="40" name="Rounded Rectangle 39"/>
          <p:cNvSpPr/>
          <p:nvPr/>
        </p:nvSpPr>
        <p:spPr>
          <a:xfrm>
            <a:off x="10332720" y="2286000"/>
            <a:ext cx="1828800" cy="2926080"/>
          </a:xfrm>
          <a:prstGeom prst="round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378440" y="228600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24160" y="2468880"/>
            <a:ext cx="1645920" cy="365760"/>
          </a:xfrm>
          <a:prstGeom prst="rect">
            <a:avLst/>
          </a:prstGeom>
          <a:noFill/>
        </p:spPr>
        <p:txBody>
          <a:bodyPr wrap="square">
            <a:spAutoFit/>
          </a:bodyPr>
          <a:lstStyle/>
          <a:p>
            <a:pPr algn="ctr">
              <a:defRPr sz="1200" b="1">
                <a:solidFill>
                  <a:srgbClr val="27AE60"/>
                </a:solidFill>
                <a:latin typeface="Calibri"/>
              </a:defRPr>
            </a:pPr>
            <a:r>
              <a:t>Multi-Front Threat-Profile</a:t>
            </a:r>
          </a:p>
        </p:txBody>
      </p:sp>
      <p:sp>
        <p:nvSpPr>
          <p:cNvPr id="43" name="TextBox 42"/>
          <p:cNvSpPr txBox="1"/>
          <p:nvPr/>
        </p:nvSpPr>
        <p:spPr>
          <a:xfrm>
            <a:off x="10424160" y="2926080"/>
            <a:ext cx="1645920" cy="457200"/>
          </a:xfrm>
          <a:prstGeom prst="rect">
            <a:avLst/>
          </a:prstGeom>
          <a:noFill/>
        </p:spPr>
        <p:txBody>
          <a:bodyPr wrap="square">
            <a:spAutoFit/>
          </a:bodyPr>
          <a:lstStyle/>
          <a:p>
            <a:pPr algn="ctr">
              <a:defRPr sz="2600" b="1">
                <a:solidFill>
                  <a:srgbClr val="27AE60"/>
                </a:solidFill>
                <a:latin typeface="Calibri"/>
              </a:defRPr>
            </a:pPr>
            <a:r>
              <a:t>4 of 4</a:t>
            </a:r>
          </a:p>
        </p:txBody>
      </p:sp>
      <p:sp>
        <p:nvSpPr>
          <p:cNvPr id="44" name="TextBox 43"/>
          <p:cNvSpPr txBox="1"/>
          <p:nvPr/>
        </p:nvSpPr>
        <p:spPr>
          <a:xfrm>
            <a:off x="10424160" y="3383280"/>
            <a:ext cx="1645920" cy="274320"/>
          </a:xfrm>
          <a:prstGeom prst="rect">
            <a:avLst/>
          </a:prstGeom>
          <a:noFill/>
        </p:spPr>
        <p:txBody>
          <a:bodyPr wrap="square">
            <a:spAutoFit/>
          </a:bodyPr>
          <a:lstStyle/>
          <a:p>
            <a:pPr algn="ctr">
              <a:defRPr sz="1200" b="0">
                <a:solidFill>
                  <a:srgbClr val="969696"/>
                </a:solidFill>
                <a:latin typeface="Calibri"/>
              </a:defRPr>
            </a:pPr>
            <a:r>
              <a:t>detected</a:t>
            </a:r>
          </a:p>
        </p:txBody>
      </p:sp>
      <p:sp>
        <p:nvSpPr>
          <p:cNvPr id="45" name="TextBox 44"/>
          <p:cNvSpPr txBox="1"/>
          <p:nvPr/>
        </p:nvSpPr>
        <p:spPr>
          <a:xfrm>
            <a:off x="10424160" y="3794760"/>
            <a:ext cx="1645920" cy="365760"/>
          </a:xfrm>
          <a:prstGeom prst="rect">
            <a:avLst/>
          </a:prstGeom>
          <a:noFill/>
        </p:spPr>
        <p:txBody>
          <a:bodyPr wrap="square">
            <a:spAutoFit/>
          </a:bodyPr>
          <a:lstStyle/>
          <a:p>
            <a:pPr algn="ctr">
              <a:defRPr sz="1500" b="1">
                <a:solidFill>
                  <a:srgbClr val="0D1B2A"/>
                </a:solidFill>
                <a:latin typeface="Calibri"/>
              </a:defRPr>
            </a:pPr>
            <a:r>
              <a:t>FP Rate: 0%</a:t>
            </a:r>
          </a:p>
        </p:txBody>
      </p:sp>
      <p:sp>
        <p:nvSpPr>
          <p:cNvPr id="46" name="TextBox 45"/>
          <p:cNvSpPr txBox="1"/>
          <p:nvPr/>
        </p:nvSpPr>
        <p:spPr>
          <a:xfrm>
            <a:off x="10424160" y="4206240"/>
            <a:ext cx="1645920" cy="731520"/>
          </a:xfrm>
          <a:prstGeom prst="rect">
            <a:avLst/>
          </a:prstGeom>
          <a:noFill/>
        </p:spPr>
        <p:txBody>
          <a:bodyPr wrap="square">
            <a:spAutoFit/>
          </a:bodyPr>
          <a:lstStyle/>
          <a:p>
            <a:pPr algn="ctr">
              <a:defRPr sz="1000" b="0">
                <a:solidFill>
                  <a:srgbClr val="505050"/>
                </a:solidFill>
                <a:latin typeface="Calibri"/>
              </a:defRPr>
            </a:pPr>
            <a:r>
              <a:t>Primary detector: all 4 matched to</a:t>
            </a:r>
            <a:br/>
            <a:r>
              <a:t>named known-bad fingerprints.</a:t>
            </a:r>
          </a:p>
        </p:txBody>
      </p:sp>
      <p:sp>
        <p:nvSpPr>
          <p:cNvPr id="47" name="Rounded Rectangle 46"/>
          <p:cNvSpPr/>
          <p:nvPr/>
        </p:nvSpPr>
        <p:spPr>
          <a:xfrm>
            <a:off x="548640" y="5486400"/>
            <a:ext cx="11064240" cy="914400"/>
          </a:xfrm>
          <a:prstGeom prst="roundRect">
            <a:avLst/>
          </a:prstGeom>
          <a:solidFill>
            <a:srgbClr val="D6EAF8"/>
          </a:solid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532120"/>
            <a:ext cx="10515600" cy="320040"/>
          </a:xfrm>
          <a:prstGeom prst="rect">
            <a:avLst/>
          </a:prstGeom>
          <a:noFill/>
        </p:spPr>
        <p:txBody>
          <a:bodyPr wrap="square">
            <a:spAutoFit/>
          </a:bodyPr>
          <a:lstStyle/>
          <a:p>
            <a:pPr algn="l">
              <a:defRPr sz="1500" b="1">
                <a:solidFill>
                  <a:srgbClr val="1B4F72"/>
                </a:solidFill>
                <a:latin typeface="Calibri"/>
              </a:defRPr>
            </a:pPr>
            <a:r>
              <a:t>What does 10.6% FP rate mean in practice?</a:t>
            </a:r>
          </a:p>
        </p:txBody>
      </p:sp>
      <p:sp>
        <p:nvSpPr>
          <p:cNvPr id="49" name="TextBox 48"/>
          <p:cNvSpPr txBox="1"/>
          <p:nvPr/>
        </p:nvSpPr>
        <p:spPr>
          <a:xfrm>
            <a:off x="822960" y="5852160"/>
            <a:ext cx="10515600" cy="457200"/>
          </a:xfrm>
          <a:prstGeom prst="rect">
            <a:avLst/>
          </a:prstGeom>
          <a:noFill/>
        </p:spPr>
        <p:txBody>
          <a:bodyPr wrap="square">
            <a:spAutoFit/>
          </a:bodyPr>
          <a:lstStyle/>
          <a:p>
            <a:pPr algn="l">
              <a:defRPr sz="1300" b="0">
                <a:solidFill>
                  <a:srgbClr val="505050"/>
                </a:solidFill>
                <a:latin typeface="Calibri"/>
              </a:defRPr>
            </a:pPr>
            <a:r>
              <a:t>In an organization with 10,000 users, 10.6% FP = ~1,060 users flagged for review. With composite scoring's ranked list AND directional intelligence, analysts start at #1 and know exactly WHICH behavioral zone shifted and TOWARD WHAT threat pattern. Compare Z-Score: 4/4 detected at 4.9% FP, but no ranking and no direction — the analyst only knows "anomalous," not what to investigate.</a:t>
            </a:r>
          </a:p>
        </p:txBody>
      </p:sp>
      <p:sp>
        <p:nvSpPr>
          <p:cNvPr id="50" name="TextBox 49"/>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Business Impact: What This Means for Your Organization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110642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73152" cy="1143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3657600" cy="320040"/>
          </a:xfrm>
          <a:prstGeom prst="rect">
            <a:avLst/>
          </a:prstGeom>
          <a:noFill/>
        </p:spPr>
        <p:txBody>
          <a:bodyPr wrap="square">
            <a:spAutoFit/>
          </a:bodyPr>
          <a:lstStyle/>
          <a:p>
            <a:pPr algn="l">
              <a:defRPr sz="1800" b="1">
                <a:solidFill>
                  <a:srgbClr val="27AE60"/>
                </a:solidFill>
                <a:latin typeface="Calibri"/>
              </a:defRPr>
            </a:pPr>
            <a:r>
              <a:t>Actionable Directional Intelligence</a:t>
            </a:r>
          </a:p>
        </p:txBody>
      </p:sp>
      <p:sp>
        <p:nvSpPr>
          <p:cNvPr id="7" name="TextBox 6"/>
          <p:cNvSpPr txBox="1"/>
          <p:nvPr/>
        </p:nvSpPr>
        <p:spPr>
          <a:xfrm>
            <a:off x="914400" y="1755648"/>
            <a:ext cx="6400800" cy="640080"/>
          </a:xfrm>
          <a:prstGeom prst="rect">
            <a:avLst/>
          </a:prstGeom>
          <a:noFill/>
        </p:spPr>
        <p:txBody>
          <a:bodyPr wrap="square">
            <a:spAutoFit/>
          </a:bodyPr>
          <a:lstStyle/>
          <a:p>
            <a:pPr algn="l">
              <a:defRPr sz="1300" b="0">
                <a:solidFill>
                  <a:srgbClr val="505050"/>
                </a:solidFill>
                <a:latin typeface="Calibri"/>
              </a:defRPr>
            </a:pPr>
            <a:r>
              <a:t>Traditional methods flag anomalies but cannot tell analysts WHICH behavioral zone shifted or TOWARD WHAT threat pattern. V-Intelligence provides the direction to act.</a:t>
            </a:r>
          </a:p>
        </p:txBody>
      </p:sp>
      <p:sp>
        <p:nvSpPr>
          <p:cNvPr id="8" name="Rounded Rectangle 7"/>
          <p:cNvSpPr/>
          <p:nvPr/>
        </p:nvSpPr>
        <p:spPr>
          <a:xfrm>
            <a:off x="7772400" y="1645920"/>
            <a:ext cx="36576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4 of 4 with directional intelligence</a:t>
            </a:r>
          </a:p>
        </p:txBody>
      </p:sp>
      <p:sp>
        <p:nvSpPr>
          <p:cNvPr id="9" name="Rounded Rectangle 8"/>
          <p:cNvSpPr/>
          <p:nvPr/>
        </p:nvSpPr>
        <p:spPr>
          <a:xfrm>
            <a:off x="548640" y="2651760"/>
            <a:ext cx="110642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51760"/>
            <a:ext cx="73152" cy="114300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24912"/>
            <a:ext cx="3657600" cy="320040"/>
          </a:xfrm>
          <a:prstGeom prst="rect">
            <a:avLst/>
          </a:prstGeom>
          <a:noFill/>
        </p:spPr>
        <p:txBody>
          <a:bodyPr wrap="square">
            <a:spAutoFit/>
          </a:bodyPr>
          <a:lstStyle/>
          <a:p>
            <a:pPr algn="l">
              <a:defRPr sz="1800" b="1">
                <a:solidFill>
                  <a:srgbClr val="0E6B8A"/>
                </a:solidFill>
                <a:latin typeface="Calibri"/>
              </a:defRPr>
            </a:pPr>
            <a:r>
              <a:t>Reduce Alert Fatigue</a:t>
            </a:r>
          </a:p>
        </p:txBody>
      </p:sp>
      <p:sp>
        <p:nvSpPr>
          <p:cNvPr id="12" name="TextBox 11"/>
          <p:cNvSpPr txBox="1"/>
          <p:nvPr/>
        </p:nvSpPr>
        <p:spPr>
          <a:xfrm>
            <a:off x="914400" y="3035808"/>
            <a:ext cx="6400800" cy="640080"/>
          </a:xfrm>
          <a:prstGeom prst="rect">
            <a:avLst/>
          </a:prstGeom>
          <a:noFill/>
        </p:spPr>
        <p:txBody>
          <a:bodyPr wrap="square">
            <a:spAutoFit/>
          </a:bodyPr>
          <a:lstStyle/>
          <a:p>
            <a:pPr algn="l">
              <a:defRPr sz="1300" b="0">
                <a:solidFill>
                  <a:srgbClr val="505050"/>
                </a:solidFill>
                <a:latin typeface="Calibri"/>
              </a:defRPr>
            </a:pPr>
            <a:r>
              <a:t>One ranked list replaces hundreds of uncorrelated alerts. Your SOC analysts investigate the highest-risk entities first, not the loudest alarms.</a:t>
            </a:r>
          </a:p>
        </p:txBody>
      </p:sp>
      <p:sp>
        <p:nvSpPr>
          <p:cNvPr id="13" name="Rounded Rectangle 12"/>
          <p:cNvSpPr/>
          <p:nvPr/>
        </p:nvSpPr>
        <p:spPr>
          <a:xfrm>
            <a:off x="7772400" y="2926080"/>
            <a:ext cx="3657600" cy="457200"/>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10.6% false positive rate with ranked prioritization</a:t>
            </a:r>
          </a:p>
        </p:txBody>
      </p:sp>
      <p:sp>
        <p:nvSpPr>
          <p:cNvPr id="14" name="Rounded Rectangle 13"/>
          <p:cNvSpPr/>
          <p:nvPr/>
        </p:nvSpPr>
        <p:spPr>
          <a:xfrm>
            <a:off x="548640" y="3931920"/>
            <a:ext cx="110642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73152" cy="114300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05072"/>
            <a:ext cx="3657600" cy="320040"/>
          </a:xfrm>
          <a:prstGeom prst="rect">
            <a:avLst/>
          </a:prstGeom>
          <a:noFill/>
        </p:spPr>
        <p:txBody>
          <a:bodyPr wrap="square">
            <a:spAutoFit/>
          </a:bodyPr>
          <a:lstStyle/>
          <a:p>
            <a:pPr algn="l">
              <a:defRPr sz="1800" b="1">
                <a:solidFill>
                  <a:srgbClr val="1B4F72"/>
                </a:solidFill>
                <a:latin typeface="Calibri"/>
              </a:defRPr>
            </a:pPr>
            <a:r>
              <a:t>Faster Time-to-Detect</a:t>
            </a:r>
          </a:p>
        </p:txBody>
      </p:sp>
      <p:sp>
        <p:nvSpPr>
          <p:cNvPr id="17" name="TextBox 16"/>
          <p:cNvSpPr txBox="1"/>
          <p:nvPr/>
        </p:nvSpPr>
        <p:spPr>
          <a:xfrm>
            <a:off x="914400" y="4315968"/>
            <a:ext cx="6400800" cy="640080"/>
          </a:xfrm>
          <a:prstGeom prst="rect">
            <a:avLst/>
          </a:prstGeom>
          <a:noFill/>
        </p:spPr>
        <p:txBody>
          <a:bodyPr wrap="square">
            <a:spAutoFit/>
          </a:bodyPr>
          <a:lstStyle/>
          <a:p>
            <a:pPr algn="l">
              <a:defRPr sz="1300" b="0">
                <a:solidFill>
                  <a:srgbClr val="505050"/>
                </a:solidFill>
                <a:latin typeface="Calibri"/>
              </a:defRPr>
            </a:pPr>
            <a:r>
              <a:t>Behavioral drift detection identifies threats within weeks of campaign start — not months after data exfiltration.</a:t>
            </a:r>
          </a:p>
        </p:txBody>
      </p:sp>
      <p:sp>
        <p:nvSpPr>
          <p:cNvPr id="18" name="Rounded Rectangle 17"/>
          <p:cNvSpPr/>
          <p:nvPr/>
        </p:nvSpPr>
        <p:spPr>
          <a:xfrm>
            <a:off x="7772400" y="4206240"/>
            <a:ext cx="3657600" cy="457200"/>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3 weeks into campaign vs 287-day industry average</a:t>
            </a:r>
          </a:p>
        </p:txBody>
      </p:sp>
      <p:sp>
        <p:nvSpPr>
          <p:cNvPr id="19" name="Rounded Rectangle 18"/>
          <p:cNvSpPr/>
          <p:nvPr/>
        </p:nvSpPr>
        <p:spPr>
          <a:xfrm>
            <a:off x="548640" y="5212079"/>
            <a:ext cx="110642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212079"/>
            <a:ext cx="73152" cy="1143000"/>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285231"/>
            <a:ext cx="3657600" cy="320040"/>
          </a:xfrm>
          <a:prstGeom prst="rect">
            <a:avLst/>
          </a:prstGeom>
          <a:noFill/>
        </p:spPr>
        <p:txBody>
          <a:bodyPr wrap="square">
            <a:spAutoFit/>
          </a:bodyPr>
          <a:lstStyle/>
          <a:p>
            <a:pPr algn="l">
              <a:defRPr sz="1800" b="1">
                <a:solidFill>
                  <a:srgbClr val="B7950B"/>
                </a:solidFill>
                <a:latin typeface="Calibri"/>
              </a:defRPr>
            </a:pPr>
            <a:r>
              <a:t>No Threshold Tuning</a:t>
            </a:r>
          </a:p>
        </p:txBody>
      </p:sp>
      <p:sp>
        <p:nvSpPr>
          <p:cNvPr id="22" name="TextBox 21"/>
          <p:cNvSpPr txBox="1"/>
          <p:nvPr/>
        </p:nvSpPr>
        <p:spPr>
          <a:xfrm>
            <a:off x="914400" y="5596127"/>
            <a:ext cx="6400800" cy="640080"/>
          </a:xfrm>
          <a:prstGeom prst="rect">
            <a:avLst/>
          </a:prstGeom>
          <a:noFill/>
        </p:spPr>
        <p:txBody>
          <a:bodyPr wrap="square">
            <a:spAutoFit/>
          </a:bodyPr>
          <a:lstStyle/>
          <a:p>
            <a:pPr algn="l">
              <a:defRPr sz="1300" b="0">
                <a:solidFill>
                  <a:srgbClr val="505050"/>
                </a:solidFill>
                <a:latin typeface="Calibri"/>
              </a:defRPr>
            </a:pPr>
            <a:r>
              <a:t>Composite scoring is relative to the population — no manually-set thresholds that break when user behavior naturally evolves.</a:t>
            </a:r>
          </a:p>
        </p:txBody>
      </p:sp>
      <p:sp>
        <p:nvSpPr>
          <p:cNvPr id="23" name="Rounded Rectangle 22"/>
          <p:cNvSpPr/>
          <p:nvPr/>
        </p:nvSpPr>
        <p:spPr>
          <a:xfrm>
            <a:off x="7772400" y="5486399"/>
            <a:ext cx="3657600" cy="457200"/>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  Zero analyst effort for threshold management</a:t>
            </a:r>
          </a:p>
        </p:txBody>
      </p:sp>
      <p:sp>
        <p:nvSpPr>
          <p:cNvPr id="24" name="Rectangle 23"/>
          <p:cNvSpPr/>
          <p:nvPr/>
        </p:nvSpPr>
        <p:spPr>
          <a:xfrm>
            <a:off x="548640" y="6492240"/>
            <a:ext cx="11064240" cy="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6035040"/>
            <a:ext cx="11064240" cy="5486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6080760"/>
            <a:ext cx="10515600" cy="457200"/>
          </a:xfrm>
          <a:prstGeom prst="rect">
            <a:avLst/>
          </a:prstGeom>
          <a:noFill/>
        </p:spPr>
        <p:txBody>
          <a:bodyPr wrap="square">
            <a:spAutoFit/>
          </a:bodyPr>
          <a:lstStyle/>
          <a:p>
            <a:pPr algn="ctr">
              <a:defRPr sz="1600" b="1">
                <a:solidFill>
                  <a:srgbClr val="B7950B"/>
                </a:solidFill>
                <a:latin typeface="Calibri"/>
              </a:defRPr>
            </a:pPr>
            <a:r>
              <a:t>V-Intelligence UEBA builds the behavioral digital entity. Composite Scoring turns it into actionable intelligence.</a:t>
            </a:r>
          </a:p>
        </p:txBody>
      </p:sp>
      <p:sp>
        <p:nvSpPr>
          <p:cNvPr id="27" name="TextBox 26"/>
          <p:cNvSpPr txBox="1"/>
          <p:nvPr/>
        </p:nvSpPr>
        <p:spPr>
          <a:xfrm>
            <a:off x="457200" y="6446520"/>
            <a:ext cx="11247120" cy="320040"/>
          </a:xfrm>
          <a:prstGeom prst="rect">
            <a:avLst/>
          </a:prstGeom>
          <a:noFill/>
        </p:spPr>
        <p:txBody>
          <a:bodyPr wrap="square">
            <a:spAutoFit/>
          </a:bodyPr>
          <a:lstStyle/>
          <a:p>
            <a:pPr algn="l">
              <a:defRPr sz="1000" b="0">
                <a:solidFill>
                  <a:srgbClr val="969696"/>
                </a:solidFill>
                <a:latin typeface="Calibri"/>
              </a:defRPr>
            </a:pPr>
            <a:r>
              <a:t>22nd Century Technologies, Inc.  |  V-Intelligence UEBA Detection Comparison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1645920"/>
            <a:ext cx="10515600" cy="731520"/>
          </a:xfrm>
          <a:prstGeom prst="rect">
            <a:avLst/>
          </a:prstGeom>
          <a:noFill/>
        </p:spPr>
        <p:txBody>
          <a:bodyPr wrap="square">
            <a:spAutoFit/>
          </a:bodyPr>
          <a:lstStyle/>
          <a:p>
            <a:pPr algn="l">
              <a:defRPr sz="2800" b="0">
                <a:solidFill>
                  <a:srgbClr val="A0C8E0"/>
                </a:solidFill>
                <a:latin typeface="Calibri"/>
              </a:defRPr>
            </a:pPr>
            <a:r>
              <a:t>Traditional detection measures numbers.</a:t>
            </a:r>
          </a:p>
        </p:txBody>
      </p:sp>
      <p:sp>
        <p:nvSpPr>
          <p:cNvPr id="3" name="TextBox 2"/>
          <p:cNvSpPr txBox="1"/>
          <p:nvPr/>
        </p:nvSpPr>
        <p:spPr>
          <a:xfrm>
            <a:off x="731520" y="2377440"/>
            <a:ext cx="10515600" cy="731520"/>
          </a:xfrm>
          <a:prstGeom prst="rect">
            <a:avLst/>
          </a:prstGeom>
          <a:noFill/>
        </p:spPr>
        <p:txBody>
          <a:bodyPr wrap="square">
            <a:spAutoFit/>
          </a:bodyPr>
          <a:lstStyle/>
          <a:p>
            <a:pPr algn="l">
              <a:defRPr sz="3200" b="1">
                <a:solidFill>
                  <a:srgbClr val="B7950B"/>
                </a:solidFill>
                <a:latin typeface="Calibri"/>
              </a:defRPr>
            </a:pPr>
            <a:r>
              <a:t>V-Intelligence UEBA understands behavior.</a:t>
            </a:r>
          </a:p>
        </p:txBody>
      </p:sp>
      <p:sp>
        <p:nvSpPr>
          <p:cNvPr id="4" name="TextBox 3"/>
          <p:cNvSpPr txBox="1"/>
          <p:nvPr/>
        </p:nvSpPr>
        <p:spPr>
          <a:xfrm>
            <a:off x="731520" y="3108960"/>
            <a:ext cx="10515600" cy="731520"/>
          </a:xfrm>
          <a:prstGeom prst="rect">
            <a:avLst/>
          </a:prstGeom>
          <a:noFill/>
        </p:spPr>
        <p:txBody>
          <a:bodyPr wrap="square">
            <a:spAutoFit/>
          </a:bodyPr>
          <a:lstStyle/>
          <a:p>
            <a:pPr algn="l">
              <a:defRPr sz="3200" b="1">
                <a:solidFill>
                  <a:srgbClr val="27AE60"/>
                </a:solidFill>
                <a:latin typeface="Calibri"/>
              </a:defRPr>
            </a:pPr>
            <a:r>
              <a:t>Composite Scoring detects the anomaly.</a:t>
            </a:r>
          </a:p>
        </p:txBody>
      </p:sp>
      <p:sp>
        <p:nvSpPr>
          <p:cNvPr id="5" name="Rectangle 4"/>
          <p:cNvSpPr/>
          <p:nvPr/>
        </p:nvSpPr>
        <p:spPr>
          <a:xfrm>
            <a:off x="731520" y="4114800"/>
            <a:ext cx="2743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480560"/>
            <a:ext cx="2560320" cy="548640"/>
          </a:xfrm>
          <a:prstGeom prst="rect">
            <a:avLst/>
          </a:prstGeom>
          <a:noFill/>
        </p:spPr>
        <p:txBody>
          <a:bodyPr wrap="square">
            <a:spAutoFit/>
          </a:bodyPr>
          <a:lstStyle/>
          <a:p>
            <a:pPr algn="ctr">
              <a:defRPr sz="3600" b="1">
                <a:solidFill>
                  <a:srgbClr val="FFFFFF"/>
                </a:solidFill>
                <a:latin typeface="Calibri"/>
              </a:defRPr>
            </a:pPr>
            <a:r>
              <a:t>4 / 4</a:t>
            </a:r>
          </a:p>
        </p:txBody>
      </p:sp>
      <p:sp>
        <p:nvSpPr>
          <p:cNvPr id="7" name="TextBox 6"/>
          <p:cNvSpPr txBox="1"/>
          <p:nvPr/>
        </p:nvSpPr>
        <p:spPr>
          <a:xfrm>
            <a:off x="731520" y="5029200"/>
            <a:ext cx="2560320" cy="365760"/>
          </a:xfrm>
          <a:prstGeom prst="rect">
            <a:avLst/>
          </a:prstGeom>
          <a:noFill/>
        </p:spPr>
        <p:txBody>
          <a:bodyPr wrap="square">
            <a:spAutoFit/>
          </a:bodyPr>
          <a:lstStyle/>
          <a:p>
            <a:pPr algn="ctr">
              <a:defRPr sz="1400" b="0">
                <a:solidFill>
                  <a:srgbClr val="A0C8E0"/>
                </a:solidFill>
                <a:latin typeface="Calibri"/>
              </a:defRPr>
            </a:pPr>
            <a:r>
              <a:t>attack types detected</a:t>
            </a:r>
          </a:p>
        </p:txBody>
      </p:sp>
      <p:sp>
        <p:nvSpPr>
          <p:cNvPr id="8" name="TextBox 7"/>
          <p:cNvSpPr txBox="1"/>
          <p:nvPr/>
        </p:nvSpPr>
        <p:spPr>
          <a:xfrm>
            <a:off x="3566160" y="4480560"/>
            <a:ext cx="2560320" cy="548640"/>
          </a:xfrm>
          <a:prstGeom prst="rect">
            <a:avLst/>
          </a:prstGeom>
          <a:noFill/>
        </p:spPr>
        <p:txBody>
          <a:bodyPr wrap="square">
            <a:spAutoFit/>
          </a:bodyPr>
          <a:lstStyle/>
          <a:p>
            <a:pPr algn="ctr">
              <a:defRPr sz="3600" b="1">
                <a:solidFill>
                  <a:srgbClr val="FFFFFF"/>
                </a:solidFill>
                <a:latin typeface="Calibri"/>
              </a:defRPr>
            </a:pPr>
            <a:r>
              <a:t>10.6%</a:t>
            </a:r>
          </a:p>
        </p:txBody>
      </p:sp>
      <p:sp>
        <p:nvSpPr>
          <p:cNvPr id="9" name="TextBox 8"/>
          <p:cNvSpPr txBox="1"/>
          <p:nvPr/>
        </p:nvSpPr>
        <p:spPr>
          <a:xfrm>
            <a:off x="3566160" y="5029200"/>
            <a:ext cx="2560320" cy="365760"/>
          </a:xfrm>
          <a:prstGeom prst="rect">
            <a:avLst/>
          </a:prstGeom>
          <a:noFill/>
        </p:spPr>
        <p:txBody>
          <a:bodyPr wrap="square">
            <a:spAutoFit/>
          </a:bodyPr>
          <a:lstStyle/>
          <a:p>
            <a:pPr algn="ctr">
              <a:defRPr sz="1400" b="0">
                <a:solidFill>
                  <a:srgbClr val="A0C8E0"/>
                </a:solidFill>
                <a:latin typeface="Calibri"/>
              </a:defRPr>
            </a:pPr>
            <a:r>
              <a:t>false positive rate</a:t>
            </a:r>
          </a:p>
        </p:txBody>
      </p:sp>
      <p:sp>
        <p:nvSpPr>
          <p:cNvPr id="10" name="TextBox 9"/>
          <p:cNvSpPr txBox="1"/>
          <p:nvPr/>
        </p:nvSpPr>
        <p:spPr>
          <a:xfrm>
            <a:off x="6400800" y="4480560"/>
            <a:ext cx="2560320" cy="548640"/>
          </a:xfrm>
          <a:prstGeom prst="rect">
            <a:avLst/>
          </a:prstGeom>
          <a:noFill/>
        </p:spPr>
        <p:txBody>
          <a:bodyPr wrap="square">
            <a:spAutoFit/>
          </a:bodyPr>
          <a:lstStyle/>
          <a:p>
            <a:pPr algn="ctr">
              <a:defRPr sz="3600" b="1">
                <a:solidFill>
                  <a:srgbClr val="FFFFFF"/>
                </a:solidFill>
                <a:latin typeface="Calibri"/>
              </a:defRPr>
            </a:pPr>
            <a:r>
              <a:t>Ranked</a:t>
            </a:r>
          </a:p>
        </p:txBody>
      </p:sp>
      <p:sp>
        <p:nvSpPr>
          <p:cNvPr id="11" name="TextBox 10"/>
          <p:cNvSpPr txBox="1"/>
          <p:nvPr/>
        </p:nvSpPr>
        <p:spPr>
          <a:xfrm>
            <a:off x="6400800" y="5029200"/>
            <a:ext cx="2560320" cy="365760"/>
          </a:xfrm>
          <a:prstGeom prst="rect">
            <a:avLst/>
          </a:prstGeom>
          <a:noFill/>
        </p:spPr>
        <p:txBody>
          <a:bodyPr wrap="square">
            <a:spAutoFit/>
          </a:bodyPr>
          <a:lstStyle/>
          <a:p>
            <a:pPr algn="ctr">
              <a:defRPr sz="1400" b="0">
                <a:solidFill>
                  <a:srgbClr val="A0C8E0"/>
                </a:solidFill>
                <a:latin typeface="Calibri"/>
              </a:defRPr>
            </a:pPr>
            <a:r>
              <a:t>single prioritized list</a:t>
            </a:r>
          </a:p>
        </p:txBody>
      </p:sp>
      <p:sp>
        <p:nvSpPr>
          <p:cNvPr id="12" name="TextBox 11"/>
          <p:cNvSpPr txBox="1"/>
          <p:nvPr/>
        </p:nvSpPr>
        <p:spPr>
          <a:xfrm>
            <a:off x="9235440" y="4480560"/>
            <a:ext cx="2560320" cy="548640"/>
          </a:xfrm>
          <a:prstGeom prst="rect">
            <a:avLst/>
          </a:prstGeom>
          <a:noFill/>
        </p:spPr>
        <p:txBody>
          <a:bodyPr wrap="square">
            <a:spAutoFit/>
          </a:bodyPr>
          <a:lstStyle/>
          <a:p>
            <a:pPr algn="ctr">
              <a:defRPr sz="3600" b="1">
                <a:solidFill>
                  <a:srgbClr val="FFFFFF"/>
                </a:solidFill>
                <a:latin typeface="Calibri"/>
              </a:defRPr>
            </a:pPr>
            <a:r>
              <a:t>Zero</a:t>
            </a:r>
          </a:p>
        </p:txBody>
      </p:sp>
      <p:sp>
        <p:nvSpPr>
          <p:cNvPr id="13" name="TextBox 12"/>
          <p:cNvSpPr txBox="1"/>
          <p:nvPr/>
        </p:nvSpPr>
        <p:spPr>
          <a:xfrm>
            <a:off x="9235440" y="5029200"/>
            <a:ext cx="2560320" cy="365760"/>
          </a:xfrm>
          <a:prstGeom prst="rect">
            <a:avLst/>
          </a:prstGeom>
          <a:noFill/>
        </p:spPr>
        <p:txBody>
          <a:bodyPr wrap="square">
            <a:spAutoFit/>
          </a:bodyPr>
          <a:lstStyle/>
          <a:p>
            <a:pPr algn="ctr">
              <a:defRPr sz="1400" b="0">
                <a:solidFill>
                  <a:srgbClr val="A0C8E0"/>
                </a:solidFill>
                <a:latin typeface="Calibri"/>
              </a:defRPr>
            </a:pPr>
            <a:r>
              <a:t>threshold tuning required</a:t>
            </a:r>
          </a:p>
        </p:txBody>
      </p:sp>
      <p:sp>
        <p:nvSpPr>
          <p:cNvPr id="14" name="TextBox 13"/>
          <p:cNvSpPr txBox="1"/>
          <p:nvPr/>
        </p:nvSpPr>
        <p:spPr>
          <a:xfrm>
            <a:off x="731520" y="5943600"/>
            <a:ext cx="10515600" cy="457200"/>
          </a:xfrm>
          <a:prstGeom prst="rect">
            <a:avLst/>
          </a:prstGeom>
          <a:noFill/>
        </p:spPr>
        <p:txBody>
          <a:bodyPr wrap="square">
            <a:spAutoFit/>
          </a:bodyPr>
          <a:lstStyle/>
          <a:p>
            <a:pPr algn="l">
              <a:defRPr sz="1400" b="0">
                <a:solidFill>
                  <a:srgbClr val="969696"/>
                </a:solidFill>
                <a:latin typeface="Calibri"/>
              </a:defRPr>
            </a:pPr>
            <a:r>
              <a:t>22nd Century Technologies, Inc.  |  V-Intelligence UEBA Detection Comparison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