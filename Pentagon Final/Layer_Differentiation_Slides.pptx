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Gap-first framing. Every 'how we cover' is bounded to a model or analysis boundary. Verify all vendor claims against current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BOUNDARY: reachability verifiers are the nearest formal analog but model forwarding only. Any probabilistic step inside the proof voids 'provable' - keep the LLM strictly outside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all metrics computed live from PostgreSQL :5438. USR-234 is the acid test - any 'drift catches all 4' claim is wrong. Prose serialization of z-scores + meaning before embedding is intentional design, not circular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BOUNDARY: do not cite the deck's 117M bot-IP / '12+ telcos' figures; state architecture, not unverified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BOUNDARY: do not claim the category (Palo Alto Prisma AIRS, Zscaler AI Broker exist). Have a per-call enforcement latency figure ready - inline checking cost is the obvious objection.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BOUNDARY: state the verification boundary explicitly (backup slide). Never say 'reachability' or 'virtual patching' unqualified - always 'sound' / 'provable' / 'formally verified'.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The gap at each layer, and how we close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Where current tools stop short (technically) and the mechanism that covers it. Formal-methods layers prove a property; semantic layers classify meaning.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7276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B96A12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5727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900" b="1" i="0">
                <a:solidFill>
                  <a:srgbClr val="0E2841"/>
                </a:solidFill>
                <a:latin typeface="Aptos Display"/>
              </a:rPr>
              <a:t>HOW WE COVER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83664"/>
            <a:ext cx="11274552" cy="731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029968"/>
            <a:ext cx="713232" cy="4572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011680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ptos Display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929384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Preemptive Network Defense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21408"/>
            <a:ext cx="5532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1000"/>
              </a:lnSpc>
              <a:spcAft>
                <a:spcPts val="300"/>
              </a:spcAft>
            </a:pPr>
            <a:r>
              <a:rPr sz="900" b="0" i="0">
                <a:solidFill>
                  <a:srgbClr val="242C38"/>
                </a:solidFill>
                <a:latin typeface="Aptos"/>
              </a:rPr>
              <a:t>Verifiers prove packet reachability; BAS only samples a scenario library - none certify control efficacy or a true negative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1956816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1" i="0">
                <a:solidFill>
                  <a:srgbClr val="0E2841"/>
                </a:solidFill>
                <a:latin typeface="Aptos"/>
              </a:rPr>
              <a:t>Symbolic proof the config defeats every modeled technique (soundness over config + corpus)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2"/>
            <a:ext cx="713232" cy="457200"/>
          </a:xfrm>
          <a:prstGeom prst="roundRect">
            <a:avLst/>
          </a:prstGeom>
          <a:solidFill>
            <a:srgbClr val="2F5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798064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ptos Display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71576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Behavioral Twin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907791"/>
            <a:ext cx="5532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1000"/>
              </a:lnSpc>
              <a:spcAft>
                <a:spcPts val="300"/>
              </a:spcAft>
            </a:pPr>
            <a:r>
              <a:rPr sz="900" b="0" i="0">
                <a:solidFill>
                  <a:srgbClr val="242C38"/>
                </a:solidFill>
                <a:latin typeface="Aptos"/>
              </a:rPr>
              <a:t>SIEM / UEBA threshold on magnitude; slow low-magnitude drift and drift DIRECTION go unseen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743200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1" i="0">
                <a:solidFill>
                  <a:srgbClr val="0E2841"/>
                </a:solidFill>
                <a:latin typeface="Aptos"/>
              </a:rPr>
              <a:t>Brings the math that powers LLMs to the security layer; reads what behavior means and where it is heading, not raw numbers  (detail next slide)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56432"/>
            <a:ext cx="11274552" cy="731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602736"/>
            <a:ext cx="713232" cy="457200"/>
          </a:xfrm>
          <a:prstGeom prst="round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84448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ptos Display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502152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App &amp; API Protection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694176"/>
            <a:ext cx="5532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1000"/>
              </a:lnSpc>
              <a:spcAft>
                <a:spcPts val="300"/>
              </a:spcAft>
            </a:pPr>
            <a:r>
              <a:rPr sz="900" b="0" i="0">
                <a:solidFill>
                  <a:srgbClr val="242C38"/>
                </a:solidFill>
                <a:latin typeface="Aptos"/>
              </a:rPr>
              <a:t>WAAP alerts on deviation from a learned normal and enforces at a vendor edge - intent + air-gap unmet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529584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1" i="0">
                <a:solidFill>
                  <a:srgbClr val="0E2841"/>
                </a:solidFill>
                <a:latin typeface="Aptos"/>
              </a:rPr>
              <a:t>Classify request intent; enforce inline in the request path with no traffic egress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89120"/>
            <a:ext cx="713232" cy="457200"/>
          </a:xfrm>
          <a:prstGeom prst="round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370832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ptos Display"/>
              </a:rPr>
              <a:t>L4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288536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Agentic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480560"/>
            <a:ext cx="5532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1000"/>
              </a:lnSpc>
              <a:spcAft>
                <a:spcPts val="300"/>
              </a:spcAft>
            </a:pPr>
            <a:r>
              <a:rPr sz="900" b="0" i="0">
                <a:solidFill>
                  <a:srgbClr val="242C38"/>
                </a:solidFill>
                <a:latin typeface="Aptos"/>
              </a:rPr>
              <a:t>Scopes are hand-authored RBAC; learned baselines need a warm-up; supply-chain caught in scans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4315968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1" i="0">
                <a:solidFill>
                  <a:srgbClr val="0E2841"/>
                </a:solidFill>
                <a:latin typeface="Aptos"/>
              </a:rPr>
              <a:t>Persona compiled to a least-privilege MCP scope; spec is the baseline; registry enforced inline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74552" cy="7315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5175504"/>
            <a:ext cx="713232" cy="457200"/>
          </a:xfrm>
          <a:prstGeom prst="roundRect">
            <a:avLst/>
          </a:prstGeom>
          <a:solidFill>
            <a:srgbClr val="1F5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157216"/>
            <a:ext cx="7132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ptos Display"/>
              </a:rPr>
              <a:t>L5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50749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00" b="1" i="0">
                <a:solidFill>
                  <a:srgbClr val="5E6C7A"/>
                </a:solidFill>
                <a:latin typeface="Aptos"/>
              </a:rPr>
              <a:t>CVE + Containment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266944"/>
            <a:ext cx="55321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1000"/>
              </a:lnSpc>
              <a:spcAft>
                <a:spcPts val="300"/>
              </a:spcAft>
            </a:pPr>
            <a:r>
              <a:rPr sz="900" b="0" i="0">
                <a:solidFill>
                  <a:srgbClr val="242C38"/>
                </a:solidFill>
                <a:latin typeface="Aptos"/>
              </a:rPr>
              <a:t>Reachability is heuristic (no soundness); virtual patch is a signature; host and agent live on separate planes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102352"/>
            <a:ext cx="4617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50" b="1" i="0">
                <a:solidFill>
                  <a:srgbClr val="0E2841"/>
                </a:solidFill>
                <a:latin typeface="Aptos"/>
              </a:rPr>
              <a:t>Sound un-reachability proof; proof-carrying patch; one host + agent containment policy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742432"/>
            <a:ext cx="11274552" cy="402336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742432"/>
            <a:ext cx="82296" cy="402336"/>
          </a:xfrm>
          <a:prstGeom prst="rect">
            <a:avLst/>
          </a:prstGeom>
          <a:solidFill>
            <a:srgbClr val="A5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742432"/>
            <a:ext cx="108813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850" b="1">
                <a:solidFill>
                  <a:srgbClr val="A5342F"/>
                </a:solidFill>
                <a:latin typeface="Aptos"/>
              </a:rPr>
              <a:t>DISCIPLINE    </a:t>
            </a:r>
            <a:r>
              <a:rPr sz="850" b="0" i="1">
                <a:solidFill>
                  <a:srgbClr val="5E6C7A"/>
                </a:solidFill>
                <a:latin typeface="Aptos"/>
              </a:rPr>
              <a:t>Every guarantee is stated with its boundary (config + corpus, TCB, cohort + concept basis); probabilistic AI is kept outside any formal claim; every number comes from a primary source.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217920"/>
            <a:ext cx="11274552" cy="365760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217920"/>
            <a:ext cx="10881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Formal-methods layers (L1, L5) discharge a proof over a bounded model; semantic layers (L2, L3, L4) classify intent and behavior, not surface counts.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Layer 1: control-efficacy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Preemptive network defense - the Layer 1 innovation. Current tools test reachability or sample attacks; none prove the control config defeats the technique.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6172200" cy="35661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82296" cy="3566160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6172200" cy="420624"/>
          </a:xfrm>
          <a:prstGeom prst="roundRect">
            <a:avLst/>
          </a:prstGeom>
          <a:solidFill>
            <a:srgbClr val="5E6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6172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11680"/>
            <a:ext cx="5751576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Reachability verifiers (Forward, Batfish):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SMT-based, but model the packet-forwarding graph (ACLs, routes, NAT) - they answer 'can A reach B:port', not whether the IPS + EPP + WAF policy stops a technique.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Breach-and-attack simulation (SafeBreach, AttackIQ):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executes a finite scenario library against live infra - coverage equals the library, and a blocked result is one observation, not a proof over all paths.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Scanners and CTEM (Tenable, XM Cyber, RedSeal):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enumerate CVEs and build best-effort attack graphs, then simulate - heuristic, no soundness, no true-negative.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Structural gap: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all are positive-evidence methods that find a hit; none can certify a true negative (prove no evasion path exists), which is what 'our controls defeat this technique' requires.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81328"/>
            <a:ext cx="4873752" cy="356616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481328"/>
            <a:ext cx="4873752" cy="420624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73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HOW WE COVER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011680"/>
            <a:ext cx="4453128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1  Symbolic model of the controls.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NGFW / IPS / EPP / WAF / IdP rule-sets are lifted into one policy model of allow / deny / detect semantics; each ATT&amp;CK technique becomes a state transition with pre- and post-conditions.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2  Solve for an evasion path.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An SMT solver searches for any technique chain the composed controls fail to block; a satisfying assignment is a concrete evasion path.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3  Return a proof from config alone.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UNSAT = a soundness certificate (no evasion path in the model); SAT = the counter-path and the failing control. No agents, no live traffic.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74552" cy="548640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82296" cy="548640"/>
          </a:xfrm>
          <a:prstGeom prst="rect">
            <a:avLst/>
          </a:prstGeom>
          <a:solidFill>
            <a:srgbClr val="A5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00" b="1">
                <a:solidFill>
                  <a:srgbClr val="A5342F"/>
                </a:solidFill>
                <a:latin typeface="Aptos"/>
              </a:rPr>
              <a:t>BOUNDARY    </a:t>
            </a:r>
            <a:r>
              <a:rPr sz="900" b="0" i="1">
                <a:solidFill>
                  <a:srgbClr val="5E6C7A"/>
                </a:solidFill>
                <a:latin typeface="Aptos"/>
              </a:rPr>
              <a:t>Soundness holds over the modeled configuration + encoded ATT&amp;CK corpus - you cannot prove absence of a technique you never modeled. The LLM is confined to config ingestion + human-readable remediation, outside the proof 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871E"/>
                </a:solidFill>
                <a:latin typeface="Aptos Display"/>
              </a:rPr>
              <a:t>NET PROPERTY:  </a:t>
            </a:r>
            <a:r>
              <a:rPr sz="1150" b="1">
                <a:solidFill>
                  <a:srgbClr val="FFFFFF"/>
                </a:solidFill>
                <a:latin typeface="Aptos"/>
              </a:rPr>
              <a:t>a soundness certificate that no modeled technique chain evades the controls - bounded to the config and the encoded ATT&amp;CK corpus.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Layer 2: the math behind LLMs, applied to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Behavioral Intelligence - the Layer 2 innovation. We bring the mathematics that gives LLMs their power to read meaning to the security layer - reading what behavior MEANS and where it is heading, not how big any single number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6172200" cy="35661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82296" cy="3566160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6172200" cy="420624"/>
          </a:xfrm>
          <a:prstGeom prst="roundRect">
            <a:avLst/>
          </a:prstGeom>
          <a:solidFill>
            <a:srgbClr val="5E6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6172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11680"/>
            <a:ext cx="5751576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SIEM / UEBA (Splunk, Sentinel, Exabeam):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represent behavior as numeric aggregates and threshold on magnitude - a metric can be normal-sized while the KIND of activity has shifted; they see 'how much', never 'in what direction'.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Network anomaly (Darktrace):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scores deviation on flows and packets - magnitude of deviation, not movement in a semantic model of the entity's role behavior.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Global-baseline ML (Vectra, Gurucul):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compare each entity to a population threshold - a shift abnormal for one role but ordinary population-wide is missed.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Structural gap: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none embed behavior itself as the representation (embeddings elsewhere serve search / RAG), so slow low-magnitude drift stays under every single-window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81328"/>
            <a:ext cx="4873752" cy="356616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481328"/>
            <a:ext cx="4873752" cy="420624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73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HOW WE COVER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011680"/>
            <a:ext cx="4453128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1  Unified semantic space (meaning + context).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5 behavioral zones serialized to prose, embedded to 1536-d, composed by context-adaptive attention into ONE entity vector - the embedding holds meaning and context, not counts.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2  A math model drives the LLM space.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Drift velocity + cosine projection onto 16 named concepts (direction: 'what is it becoming') + feature / embedding-CUSUM (persistence) -&gt; MITRE top-3. The concept alignment IS the detector.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3  The whole exceeds the sum of parts.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Each signal stays below its own threshold for a patient adversary; only the fused multi-phase composite crosses the line - risk is visible only in combination.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4  Two detectors, cohort-relative.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Cumulative composite (discovery) + known-bad profile classifier (precision): C2-beacon, DGA, LOTL, recon fan-out, insider collection - each raw-event corroborated.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74552" cy="548640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82296" cy="548640"/>
          </a:xfrm>
          <a:prstGeom prst="rect">
            <a:avLst/>
          </a:prstGeom>
          <a:solidFill>
            <a:srgbClr val="1F5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00" b="1">
                <a:solidFill>
                  <a:srgbClr val="1F5E7A"/>
                </a:solidFill>
                <a:latin typeface="Aptos"/>
              </a:rPr>
              <a:t>EVIDENCE    </a:t>
            </a:r>
            <a:r>
              <a:rPr sz="900" b="0" i="1">
                <a:solidFill>
                  <a:srgbClr val="5E6C7A"/>
                </a:solidFill>
                <a:latin typeface="Aptos"/>
              </a:rPr>
              <a:t>Live DB, never hardcoded: baselines 0/4  ·  z-score 1/4 (noisy)  ·  composite 4/4 but separates only 2/4 at 10.6% FP  ·  threat-profile 4/4 at 0 FP. Acid test: USR-234 (slow APT) stays inside both drift bands.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871E"/>
                </a:solidFill>
                <a:latin typeface="Aptos Display"/>
              </a:rPr>
              <a:t>IN PLAIN TERMS:  </a:t>
            </a:r>
            <a:r>
              <a:rPr sz="1150" b="1">
                <a:solidFill>
                  <a:srgbClr val="FFFFFF"/>
                </a:solidFill>
                <a:latin typeface="Aptos"/>
              </a:rPr>
              <a:t>no single action looks suspicious on its own. We read a person's whole behavior together and catch the overall direction it is drifting - so a patient attacker who keeps every number in the normal range is still caught.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Layer 3: intent classification, enforced inline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Application &amp; API protection - the Layer 3 innovation. Current WAAP learns 'normal' and enforces at a vendor edge; intent and air-gapped enforcement go unmet.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6172200" cy="35661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82296" cy="3566160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6172200" cy="420624"/>
          </a:xfrm>
          <a:prstGeom prst="roundRect">
            <a:avLst/>
          </a:prstGeom>
          <a:solidFill>
            <a:srgbClr val="5E6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6172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11680"/>
            <a:ext cx="5751576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Anomaly-baseline WAAP (Salt, Imperva, Akamai):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must converge a learned 'normal' per API, then alert on deviation - a warm-up requirement, and an output that is a deviation score, not the request's intent.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Edge / CDN-coupled enforcement (Akamai, Cloudflare, F5):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places the enforcement point in the vendor cloud - traffic must transit it, a non-starter for air-gapped and ATO-bounded enclaves.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Detect-only designs (Salt):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split detection from blocking - they need a downstream WAF or gateway to enforce.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Stateless per-request rules: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miss business-logic abuse that only appears across an API call sequence.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81328"/>
            <a:ext cx="4873752" cy="356616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481328"/>
            <a:ext cx="4873752" cy="420624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73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HOW WE COVER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011680"/>
            <a:ext cx="4453128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1  Classify intent, not deviation.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 cross-tenant global model + a per-endpoint local model classify the request's intent - no 'normal' to converge first.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2  Enforce in the request path.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Block / rate-limit / deceive executed inline with no traffic leaving the boundary - deployable in air-gapped enclaves.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3  Score the sequence; attest the agent.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Requests judged within their session sequence (business-logic abuse); hardware Secure-Enclave attestation a cloud agent cannot virtualize.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74552" cy="548640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82296" cy="548640"/>
          </a:xfrm>
          <a:prstGeom prst="rect">
            <a:avLst/>
          </a:prstGeom>
          <a:solidFill>
            <a:srgbClr val="A5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00" b="1">
                <a:solidFill>
                  <a:srgbClr val="A5342F"/>
                </a:solidFill>
                <a:latin typeface="Aptos"/>
              </a:rPr>
              <a:t>BOUNDARY    </a:t>
            </a:r>
            <a:r>
              <a:rPr sz="900" b="0" i="1">
                <a:solidFill>
                  <a:srgbClr val="5E6C7A"/>
                </a:solidFill>
                <a:latin typeface="Aptos"/>
              </a:rPr>
              <a:t>Layer 3 innovation: keep claims at the mechanism level (dual-model, inline, sequence scoring, enclave attestation). Verify scale figures against the current datasheet; do not cite uncorroborated numbers.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871E"/>
                </a:solidFill>
                <a:latin typeface="Aptos Display"/>
              </a:rPr>
              <a:t>NET PROPERTY:  </a:t>
            </a:r>
            <a:r>
              <a:rPr sz="1150" b="1">
                <a:solidFill>
                  <a:srgbClr val="FFFFFF"/>
                </a:solidFill>
                <a:latin typeface="Aptos"/>
              </a:rPr>
              <a:t>intent is classified and enforced in the data path - no learned baseline to converge, no traffic leaving the enclave.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Layer 4: the persona as the enforcement spec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Agentic AI governance - the Layer 4 innovation. Current tools hand-author agent scopes and learn a baseline; the spec itself is not the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6172200" cy="35661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82296" cy="3566160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6172200" cy="420624"/>
          </a:xfrm>
          <a:prstGeom prst="roundRect">
            <a:avLst/>
          </a:prstGeom>
          <a:solidFill>
            <a:srgbClr val="5E6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6172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11680"/>
            <a:ext cx="5751576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Hand-authored scopes (Entra Agent ID, Zscaler registry, Noma):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write least-privilege manually per agent - the scope does not follow from the agent's declared job, so it drifts from intent and scales poorly.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Learned-baseline monitors: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need a warm-up window to converge 'normal' before they can flag an off-spec action - blind during onboarding.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SASE / transport controls: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inspect the network, not the agent's tool-call semantics - they cannot see which MCP tool was invoked with which parameters.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MCP supply-chain (rug-pull, tool-poisoning):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is caught in a periodic scan, not at the moment of the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81328"/>
            <a:ext cx="4873752" cy="356616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481328"/>
            <a:ext cx="4873752" cy="420624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73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HOW WE COVER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011680"/>
            <a:ext cx="4453128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1  Compile the persona to a scope.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 plain-English job description compiles into a least-privilege MCP tool-scope (tools + parameters) - the allow-list is generated from intent, not hand-written.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2  Make the spec the baseline.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 per-persona virtual MCP endpoint proxies the agent; the first off-spec tool call is a deterministic violation - no warm-up, no probabilistic score.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3  Enforce registry integrity inline.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 crypto-signed, version-pinned MCP registry blocks rug-pull / tool-poisoning at call time, not in a scan report.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74552" cy="548640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82296" cy="548640"/>
          </a:xfrm>
          <a:prstGeom prst="rect">
            <a:avLst/>
          </a:prstGeom>
          <a:solidFill>
            <a:srgbClr val="A5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00" b="1">
                <a:solidFill>
                  <a:srgbClr val="A5342F"/>
                </a:solidFill>
                <a:latin typeface="Aptos"/>
              </a:rPr>
              <a:t>BOUNDARY    </a:t>
            </a:r>
            <a:r>
              <a:rPr sz="900" b="0" i="1">
                <a:solidFill>
                  <a:srgbClr val="5E6C7A"/>
                </a:solidFill>
                <a:latin typeface="Aptos"/>
              </a:rPr>
              <a:t>Durable technical slivers: NL-to-scope compilation and spec-as-baseline (deterministic, zero warm-up). The AI-gateway category is not unique - the depth inside it is the point.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871E"/>
                </a:solidFill>
                <a:latin typeface="Aptos Display"/>
              </a:rPr>
              <a:t>NET PROPERTY:  </a:t>
            </a:r>
            <a:r>
              <a:rPr sz="1150" b="1">
                <a:solidFill>
                  <a:srgbClr val="FFFFFF"/>
                </a:solidFill>
                <a:latin typeface="Aptos"/>
              </a:rPr>
              <a:t>the declared persona is the enforcement spec - a violation is the first tool call outside scope, decided deterministically with no learning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2300" b="1" i="0">
                <a:solidFill>
                  <a:srgbClr val="0E2841"/>
                </a:solidFill>
                <a:latin typeface="Aptos Display"/>
              </a:rPr>
              <a:t>Layer 5: provable un-reachability + unified containment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59536"/>
            <a:ext cx="2377440" cy="64008"/>
          </a:xfrm>
          <a:prstGeom prst="roundRect">
            <a:avLst/>
          </a:prstGeom>
          <a:gradFill rotWithShape="1">
            <a:gsLst>
              <a:gs pos="0">
                <a:srgbClr val="2F5FA0"/>
              </a:gs>
              <a:gs pos="100000">
                <a:srgbClr val="A02B93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300"/>
              </a:spcAft>
            </a:pPr>
            <a:r>
              <a:rPr sz="1200" b="0" i="1">
                <a:solidFill>
                  <a:srgbClr val="156082"/>
                </a:solidFill>
                <a:latin typeface="Aptos"/>
              </a:rPr>
              <a:t>Code / CVE and containment. Current tools estimate reachability and split host from agent; neither yields a proof nor one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56832"/>
            <a:ext cx="112745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800" b="0" i="0">
                <a:solidFill>
                  <a:srgbClr val="5E6C7A"/>
                </a:solidFill>
                <a:latin typeface="Aptos"/>
              </a:rPr>
              <a:t>CONFIDENTIAL   |   22nd Century Technologies   |   Technical deep-dive   ·   UNCLASSIFIED // FOUO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81328"/>
            <a:ext cx="6172200" cy="3566160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81328"/>
            <a:ext cx="82296" cy="3566160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81328"/>
            <a:ext cx="6172200" cy="420624"/>
          </a:xfrm>
          <a:prstGeom prst="roundRect">
            <a:avLst/>
          </a:prstGeom>
          <a:solidFill>
            <a:srgbClr val="5E6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61722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THE GAP IN CURRENT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011680"/>
            <a:ext cx="5751576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SCA reachability (Endor, Snyk, Contrast):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uses heuristic / observed call graphs and markets 'fewer false positives' - it cannot claim zero false negatives, so it cannot justify deferring a patch.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Virtual patching (Trend Micro, Fortinet):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applies a signature block at the perimeter - not a proof the vulnerable code path is closed.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Microsegmentation (Illumio, Guardicore):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contains hosts at the network but cannot revoke a token or tool permission - an agent inside a trusted host never crosses a segment.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950" b="1">
                <a:solidFill>
                  <a:srgbClr val="B96A12"/>
                </a:solidFill>
                <a:latin typeface="Aptos"/>
              </a:rPr>
              <a:t>- Agent-identity tools: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revoke tokens but enforce nothing at the network - two separate control planes for one incident.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481328"/>
            <a:ext cx="4873752" cy="356616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481328"/>
            <a:ext cx="4873752" cy="420624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81328"/>
            <a:ext cx="48737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2000"/>
              </a:lnSpc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Aptos Display"/>
              </a:rPr>
              <a:t>HOW WE COVER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2011680"/>
            <a:ext cx="4453128" cy="2962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1  Prove un-reachability (soundness).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Sound call-graph analysis: UNSAT reachability = no false negatives over the boundary -&gt; a CVE can be deferred defensibly on a mission system.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2  Proof-carrying virtual patch.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A reachable sink is closed by a patch that carries a proof it preserves behavior - not a WAF signature at the perimeter.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50" b="1">
                <a:solidFill>
                  <a:srgbClr val="0E2841"/>
                </a:solidFill>
                <a:latin typeface="Aptos"/>
              </a:rPr>
              <a:t>3  One containment policy.  </a:t>
            </a:r>
            <a:r>
              <a:rPr sz="950" b="0" i="0">
                <a:solidFill>
                  <a:srgbClr val="242C38"/>
                </a:solidFill>
                <a:latin typeface="Aptos"/>
              </a:rPr>
              <a:t>Network microsegmentation + identity / token / tool-permission revocation under one verified policy, sequenced by attack path - host or 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38928"/>
            <a:ext cx="11274552" cy="548640"/>
          </a:xfrm>
          <a:prstGeom prst="roundRect">
            <a:avLst/>
          </a:prstGeom>
          <a:solidFill>
            <a:srgbClr val="EDF0F4"/>
          </a:solidFill>
          <a:ln w="12700">
            <a:solidFill>
              <a:srgbClr val="C4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138928"/>
            <a:ext cx="82296" cy="548640"/>
          </a:xfrm>
          <a:prstGeom prst="rect">
            <a:avLst/>
          </a:prstGeom>
          <a:solidFill>
            <a:srgbClr val="A53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38928"/>
            <a:ext cx="10881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300"/>
              </a:spcAft>
            </a:pPr>
            <a:r>
              <a:rPr sz="900" b="1">
                <a:solidFill>
                  <a:srgbClr val="A5342F"/>
                </a:solidFill>
                <a:latin typeface="Aptos"/>
              </a:rPr>
              <a:t>BOUNDARY    </a:t>
            </a:r>
            <a:r>
              <a:rPr sz="900" b="0" i="1">
                <a:solidFill>
                  <a:srgbClr val="5E6C7A"/>
                </a:solidFill>
                <a:latin typeface="Aptos"/>
              </a:rPr>
              <a:t>'Formally verified' is bounded to a named TCB (seL4-style) - the audience funded HACMS / seL4 and will probe it. Soundness (zero false negatives) is the wedge over heuristic reachability.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815584"/>
            <a:ext cx="11274552" cy="566928"/>
          </a:xfrm>
          <a:prstGeom prst="roundRect">
            <a:avLst/>
          </a:prstGeom>
          <a:gradFill rotWithShape="1">
            <a:gsLst>
              <a:gs pos="0">
                <a:srgbClr val="0E2841"/>
              </a:gs>
              <a:gs pos="100000">
                <a:srgbClr val="1F5E9C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8155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E8871E"/>
                </a:solidFill>
                <a:latin typeface="Aptos Display"/>
              </a:rPr>
              <a:t>NET PROPERTY:  </a:t>
            </a:r>
            <a:r>
              <a:rPr sz="1150" b="1">
                <a:solidFill>
                  <a:srgbClr val="FFFFFF"/>
                </a:solidFill>
                <a:latin typeface="Aptos"/>
              </a:rPr>
              <a:t>provable un-reachability (soundness over the analysis boundary) and one policy that revokes a host segment or an agent's token.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