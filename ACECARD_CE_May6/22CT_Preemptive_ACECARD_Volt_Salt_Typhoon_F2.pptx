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79" r:id="rId5"/>
    <p:sldId id="259" r:id="rId6"/>
    <p:sldId id="280" r:id="rId7"/>
    <p:sldId id="260" r:id="rId8"/>
    <p:sldId id="261" r:id="rId9"/>
    <p:sldId id="263" r:id="rId10"/>
    <p:sldId id="291" r:id="rId11"/>
    <p:sldId id="264" r:id="rId12"/>
    <p:sldId id="292" r:id="rId13"/>
    <p:sldId id="265" r:id="rId14"/>
    <p:sldId id="288" r:id="rId15"/>
    <p:sldId id="289" r:id="rId16"/>
    <p:sldId id="290" r:id="rId17"/>
    <p:sldId id="266" r:id="rId18"/>
    <p:sldId id="270" r:id="rId19"/>
    <p:sldId id="273" r:id="rId20"/>
    <p:sldId id="267" r:id="rId21"/>
    <p:sldId id="276" r:id="rId22"/>
    <p:sldId id="274" r:id="rId23"/>
    <p:sldId id="268" r:id="rId24"/>
    <p:sldId id="281" r:id="rId25"/>
    <p:sldId id="282" r:id="rId26"/>
    <p:sldId id="271" r:id="rId27"/>
    <p:sldId id="283" r:id="rId28"/>
    <p:sldId id="284" r:id="rId29"/>
    <p:sldId id="285" r:id="rId30"/>
    <p:sldId id="275" r:id="rId31"/>
    <p:sldId id="286" r:id="rId32"/>
    <p:sldId id="277" r:id="rId33"/>
    <p:sldId id="287" r:id="rId34"/>
    <p:sldId id="272" r:id="rId35"/>
    <p:sldId id="269" r:id="rId36"/>
    <p:sldId id="27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1" d="100"/>
          <a:sy n="101" d="100"/>
        </p:scale>
        <p:origin x="124" y="1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87128-EF00-4651-9C67-50EE07A71E6C}"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5E079-7AC8-474D-A890-7A78715A5EF6}" type="slidenum">
              <a:rPr lang="en-US" smtClean="0"/>
              <a:t>‹#›</a:t>
            </a:fld>
            <a:endParaRPr lang="en-US"/>
          </a:p>
        </p:txBody>
      </p:sp>
    </p:spTree>
    <p:extLst>
      <p:ext uri="{BB962C8B-B14F-4D97-AF65-F5344CB8AC3E}">
        <p14:creationId xmlns:p14="http://schemas.microsoft.com/office/powerpoint/2010/main" val="2750923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Ravindra Shukla, 22CT, Head of AI. We solve the DODIN defense problem with two innovations and Provable Computing</a:t>
            </a:r>
            <a:endParaRPr lang="en-US" dirty="0"/>
          </a:p>
        </p:txBody>
      </p:sp>
      <p:sp>
        <p:nvSpPr>
          <p:cNvPr id="4" name="Slide Number Placeholder 3"/>
          <p:cNvSpPr>
            <a:spLocks noGrp="1"/>
          </p:cNvSpPr>
          <p:nvPr>
            <p:ph type="sldNum" sz="quarter" idx="5"/>
          </p:nvPr>
        </p:nvSpPr>
        <p:spPr/>
        <p:txBody>
          <a:bodyPr/>
          <a:lstStyle/>
          <a:p>
            <a:fld id="{F075E079-7AC8-474D-A890-7A78715A5EF6}" type="slidenum">
              <a:rPr lang="en-US" smtClean="0"/>
              <a:t>1</a:t>
            </a:fld>
            <a:endParaRPr lang="en-US"/>
          </a:p>
        </p:txBody>
      </p:sp>
    </p:spTree>
    <p:extLst>
      <p:ext uri="{BB962C8B-B14F-4D97-AF65-F5344CB8AC3E}">
        <p14:creationId xmlns:p14="http://schemas.microsoft.com/office/powerpoint/2010/main" val="2337693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Two PRC campaigns — Volt and Salt Typhoon — are inside critical infrastructure undetected 4-5 years. Three reasons nothing catches them: LOTL uses only legit tools, persistence IS the config, and stolen valid creds pass every check. No tool provides formal proof that all attack paths are blocked.</a:t>
            </a:r>
            <a:endParaRPr lang="en-US" dirty="0"/>
          </a:p>
        </p:txBody>
      </p:sp>
      <p:sp>
        <p:nvSpPr>
          <p:cNvPr id="4" name="Slide Number Placeholder 3"/>
          <p:cNvSpPr>
            <a:spLocks noGrp="1"/>
          </p:cNvSpPr>
          <p:nvPr>
            <p:ph type="sldNum" sz="quarter" idx="5"/>
          </p:nvPr>
        </p:nvSpPr>
        <p:spPr/>
        <p:txBody>
          <a:bodyPr/>
          <a:lstStyle/>
          <a:p>
            <a:fld id="{F075E079-7AC8-474D-A890-7A78715A5EF6}" type="slidenum">
              <a:rPr lang="en-US" smtClean="0"/>
              <a:t>2</a:t>
            </a:fld>
            <a:endParaRPr lang="en-US"/>
          </a:p>
        </p:txBody>
      </p:sp>
    </p:spTree>
    <p:extLst>
      <p:ext uri="{BB962C8B-B14F-4D97-AF65-F5344CB8AC3E}">
        <p14:creationId xmlns:p14="http://schemas.microsoft.com/office/powerpoint/2010/main" val="2628881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Layer 1: formal math model that reasons exhaustively over the entire config space. Not sampling — proof. 80% of attack surface eliminated. Layer 2: behavioral Digital Twin that catches the 20% that passes through with valid credentials. Combined: 95-98% coverage, dwell time from years to hours</a:t>
            </a:r>
            <a:endParaRPr lang="en-US" dirty="0"/>
          </a:p>
        </p:txBody>
      </p:sp>
      <p:sp>
        <p:nvSpPr>
          <p:cNvPr id="4" name="Slide Number Placeholder 3"/>
          <p:cNvSpPr>
            <a:spLocks noGrp="1"/>
          </p:cNvSpPr>
          <p:nvPr>
            <p:ph type="sldNum" sz="quarter" idx="5"/>
          </p:nvPr>
        </p:nvSpPr>
        <p:spPr/>
        <p:txBody>
          <a:bodyPr/>
          <a:lstStyle/>
          <a:p>
            <a:fld id="{F075E079-7AC8-474D-A890-7A78715A5EF6}" type="slidenum">
              <a:rPr lang="en-US" smtClean="0"/>
              <a:t>7</a:t>
            </a:fld>
            <a:endParaRPr lang="en-US"/>
          </a:p>
        </p:txBody>
      </p:sp>
    </p:spTree>
    <p:extLst>
      <p:ext uri="{BB962C8B-B14F-4D97-AF65-F5344CB8AC3E}">
        <p14:creationId xmlns:p14="http://schemas.microsoft.com/office/powerpoint/2010/main" val="150321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Preemptive found 3 shadowed rules exposing SMB — no scanner could see it. ACECARD caught credential abuse because the behavior was wrong even though the credentials were right.</a:t>
            </a:r>
            <a:endParaRPr lang="en-US" dirty="0"/>
          </a:p>
        </p:txBody>
      </p:sp>
      <p:sp>
        <p:nvSpPr>
          <p:cNvPr id="4" name="Slide Number Placeholder 3"/>
          <p:cNvSpPr>
            <a:spLocks noGrp="1"/>
          </p:cNvSpPr>
          <p:nvPr>
            <p:ph type="sldNum" sz="quarter" idx="5"/>
          </p:nvPr>
        </p:nvSpPr>
        <p:spPr/>
        <p:txBody>
          <a:bodyPr/>
          <a:lstStyle/>
          <a:p>
            <a:fld id="{F075E079-7AC8-474D-A890-7A78715A5EF6}" type="slidenum">
              <a:rPr lang="en-US" smtClean="0"/>
              <a:t>9</a:t>
            </a:fld>
            <a:endParaRPr lang="en-US"/>
          </a:p>
        </p:txBody>
      </p:sp>
    </p:spTree>
    <p:extLst>
      <p:ext uri="{BB962C8B-B14F-4D97-AF65-F5344CB8AC3E}">
        <p14:creationId xmlns:p14="http://schemas.microsoft.com/office/powerpoint/2010/main" val="2953554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Real scenario: T-30 days we find the gap, T+0 attacker exploits, T+8 hours ACECARD blocks. That's 8-hour dwell vs. 5 years.</a:t>
            </a:r>
            <a:endParaRPr lang="en-US" dirty="0"/>
          </a:p>
        </p:txBody>
      </p:sp>
      <p:sp>
        <p:nvSpPr>
          <p:cNvPr id="4" name="Slide Number Placeholder 3"/>
          <p:cNvSpPr>
            <a:spLocks noGrp="1"/>
          </p:cNvSpPr>
          <p:nvPr>
            <p:ph type="sldNum" sz="quarter" idx="5"/>
          </p:nvPr>
        </p:nvSpPr>
        <p:spPr/>
        <p:txBody>
          <a:bodyPr/>
          <a:lstStyle/>
          <a:p>
            <a:fld id="{F075E079-7AC8-474D-A890-7A78715A5EF6}" type="slidenum">
              <a:rPr lang="en-US" smtClean="0"/>
              <a:t>13</a:t>
            </a:fld>
            <a:endParaRPr lang="en-US"/>
          </a:p>
        </p:txBody>
      </p:sp>
    </p:spTree>
    <p:extLst>
      <p:ext uri="{BB962C8B-B14F-4D97-AF65-F5344CB8AC3E}">
        <p14:creationId xmlns:p14="http://schemas.microsoft.com/office/powerpoint/2010/main" val="3610806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1-5 second pipeline latency — every event processed in real time. Behavioral detection accumulates over hours to catch slow-moving adversaries like Volt Typhoon without generating false positives.</a:t>
            </a:r>
            <a:endParaRPr lang="en-US" dirty="0"/>
          </a:p>
        </p:txBody>
      </p:sp>
      <p:sp>
        <p:nvSpPr>
          <p:cNvPr id="4" name="Slide Number Placeholder 3"/>
          <p:cNvSpPr>
            <a:spLocks noGrp="1"/>
          </p:cNvSpPr>
          <p:nvPr>
            <p:ph type="sldNum" sz="quarter" idx="5"/>
          </p:nvPr>
        </p:nvSpPr>
        <p:spPr/>
        <p:txBody>
          <a:bodyPr/>
          <a:lstStyle/>
          <a:p>
            <a:fld id="{F075E079-7AC8-474D-A890-7A78715A5EF6}" type="slidenum">
              <a:rPr lang="en-US" smtClean="0"/>
              <a:t>21</a:t>
            </a:fld>
            <a:endParaRPr lang="en-US"/>
          </a:p>
        </p:txBody>
      </p:sp>
    </p:spTree>
    <p:extLst>
      <p:ext uri="{BB962C8B-B14F-4D97-AF65-F5344CB8AC3E}">
        <p14:creationId xmlns:p14="http://schemas.microsoft.com/office/powerpoint/2010/main" val="31581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Give us 30 days and a dataset — we'll prove it works on your environment. </a:t>
            </a:r>
            <a:r>
              <a:rPr lang="en-US" sz="1200" b="0" i="0" kern="1200">
                <a:solidFill>
                  <a:schemeClr val="tx1"/>
                </a:solidFill>
                <a:effectLst/>
                <a:latin typeface="+mn-lt"/>
                <a:ea typeface="+mn-ea"/>
                <a:cs typeface="+mn-cs"/>
              </a:rPr>
              <a:t>Real findings, not a demo</a:t>
            </a:r>
            <a:endParaRPr lang="en-US"/>
          </a:p>
        </p:txBody>
      </p:sp>
      <p:sp>
        <p:nvSpPr>
          <p:cNvPr id="4" name="Slide Number Placeholder 3"/>
          <p:cNvSpPr>
            <a:spLocks noGrp="1"/>
          </p:cNvSpPr>
          <p:nvPr>
            <p:ph type="sldNum" sz="quarter" idx="5"/>
          </p:nvPr>
        </p:nvSpPr>
        <p:spPr/>
        <p:txBody>
          <a:bodyPr/>
          <a:lstStyle/>
          <a:p>
            <a:fld id="{F075E079-7AC8-474D-A890-7A78715A5EF6}" type="slidenum">
              <a:rPr lang="en-US" smtClean="0"/>
              <a:t>22</a:t>
            </a:fld>
            <a:endParaRPr lang="en-US"/>
          </a:p>
        </p:txBody>
      </p:sp>
    </p:spTree>
    <p:extLst>
      <p:ext uri="{BB962C8B-B14F-4D97-AF65-F5344CB8AC3E}">
        <p14:creationId xmlns:p14="http://schemas.microsoft.com/office/powerpoint/2010/main" val="2518468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9380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lide1_Picture_4.png"/>
          <p:cNvPicPr>
            <a:picLocks noChangeAspect="1"/>
          </p:cNvPicPr>
          <p:nvPr/>
        </p:nvPicPr>
        <p:blipFill>
          <a:blip r:embed="rId3"/>
          <a:stretch>
            <a:fillRect/>
          </a:stretch>
        </p:blipFill>
        <p:spPr>
          <a:xfrm>
            <a:off x="0" y="91440"/>
            <a:ext cx="5943600" cy="1371600"/>
          </a:xfrm>
          <a:prstGeom prst="rect">
            <a:avLst/>
          </a:prstGeom>
        </p:spPr>
      </p:pic>
      <p:pic>
        <p:nvPicPr>
          <p:cNvPr id="4" name="Picture 3" descr="slide1_Picture_6.png"/>
          <p:cNvPicPr>
            <a:picLocks noChangeAspect="1"/>
          </p:cNvPicPr>
          <p:nvPr/>
        </p:nvPicPr>
        <p:blipFill>
          <a:blip r:embed="rId4"/>
          <a:stretch>
            <a:fillRect/>
          </a:stretch>
        </p:blipFill>
        <p:spPr>
          <a:xfrm>
            <a:off x="10515600" y="182880"/>
            <a:ext cx="731520" cy="731520"/>
          </a:xfrm>
          <a:prstGeom prst="rect">
            <a:avLst/>
          </a:prstGeom>
        </p:spPr>
      </p:pic>
      <p:sp>
        <p:nvSpPr>
          <p:cNvPr id="5" name="TextBox 4"/>
          <p:cNvSpPr txBox="1"/>
          <p:nvPr/>
        </p:nvSpPr>
        <p:spPr>
          <a:xfrm>
            <a:off x="9144000" y="1005840"/>
            <a:ext cx="2743200" cy="274320"/>
          </a:xfrm>
          <a:prstGeom prst="rect">
            <a:avLst/>
          </a:prstGeom>
          <a:noFill/>
        </p:spPr>
        <p:txBody>
          <a:bodyPr wrap="square" anchor="t">
            <a:spAutoFit/>
          </a:bodyPr>
          <a:lstStyle/>
          <a:p>
            <a:pPr algn="r">
              <a:defRPr sz="700" b="0">
                <a:solidFill>
                  <a:srgbClr val="8A9BAE"/>
                </a:solidFill>
                <a:latin typeface="Segoe UI"/>
              </a:defRPr>
            </a:pPr>
            <a:r>
              <a:t>ISO 9001 | 27001 | 28000 | 20000 | 17025 | 14001</a:t>
            </a:r>
          </a:p>
        </p:txBody>
      </p:sp>
      <p:sp>
        <p:nvSpPr>
          <p:cNvPr id="6" name="TextBox 5"/>
          <p:cNvSpPr txBox="1"/>
          <p:nvPr/>
        </p:nvSpPr>
        <p:spPr>
          <a:xfrm>
            <a:off x="6858000" y="182880"/>
            <a:ext cx="3383280" cy="320040"/>
          </a:xfrm>
          <a:prstGeom prst="rect">
            <a:avLst/>
          </a:prstGeom>
          <a:noFill/>
        </p:spPr>
        <p:txBody>
          <a:bodyPr wrap="square" anchor="t">
            <a:spAutoFit/>
          </a:bodyPr>
          <a:lstStyle/>
          <a:p>
            <a:pPr algn="ctr">
              <a:defRPr sz="900" b="1">
                <a:solidFill>
                  <a:srgbClr val="B7950B"/>
                </a:solidFill>
                <a:latin typeface="Georgia"/>
              </a:defRPr>
            </a:pPr>
            <a:r>
              <a:t>U.S. ARMY CYBER COMMAND  |  ArCTIC / CFIC</a:t>
            </a:r>
          </a:p>
        </p:txBody>
      </p:sp>
      <p:sp>
        <p:nvSpPr>
          <p:cNvPr id="7" name="TextBox 6"/>
          <p:cNvSpPr txBox="1"/>
          <p:nvPr/>
        </p:nvSpPr>
        <p:spPr>
          <a:xfrm>
            <a:off x="1645920" y="1645920"/>
            <a:ext cx="9144000" cy="365760"/>
          </a:xfrm>
          <a:prstGeom prst="rect">
            <a:avLst/>
          </a:prstGeom>
          <a:noFill/>
        </p:spPr>
        <p:txBody>
          <a:bodyPr wrap="square" anchor="t">
            <a:spAutoFit/>
          </a:bodyPr>
          <a:lstStyle/>
          <a:p>
            <a:pPr algn="l">
              <a:defRPr sz="1300" b="1">
                <a:solidFill>
                  <a:srgbClr val="B7950B"/>
                </a:solidFill>
                <a:latin typeface="Georgia"/>
              </a:defRPr>
            </a:pPr>
            <a:r>
              <a:t>22nd Century Technologies Inc.</a:t>
            </a:r>
          </a:p>
        </p:txBody>
      </p:sp>
      <p:sp>
        <p:nvSpPr>
          <p:cNvPr id="8" name="TextBox 7"/>
          <p:cNvSpPr txBox="1"/>
          <p:nvPr/>
        </p:nvSpPr>
        <p:spPr>
          <a:xfrm>
            <a:off x="1645920" y="2286000"/>
            <a:ext cx="9144000" cy="1371600"/>
          </a:xfrm>
          <a:prstGeom prst="rect">
            <a:avLst/>
          </a:prstGeom>
          <a:noFill/>
        </p:spPr>
        <p:txBody>
          <a:bodyPr wrap="square" anchor="t">
            <a:spAutoFit/>
          </a:bodyPr>
          <a:lstStyle/>
          <a:p>
            <a:pPr algn="l">
              <a:defRPr sz="3600" b="1">
                <a:solidFill>
                  <a:srgbClr val="FFFFFF"/>
                </a:solidFill>
                <a:latin typeface="Georgia"/>
              </a:defRPr>
            </a:pPr>
            <a:r>
              <a:t>Preemptive Cyber Defense</a:t>
            </a:r>
            <a:br/>
            <a:r>
              <a:t>&amp; Behavioral Intelligence Platform</a:t>
            </a:r>
          </a:p>
        </p:txBody>
      </p:sp>
      <p:sp>
        <p:nvSpPr>
          <p:cNvPr id="9" name="TextBox 8"/>
          <p:cNvSpPr txBox="1"/>
          <p:nvPr/>
        </p:nvSpPr>
        <p:spPr>
          <a:xfrm>
            <a:off x="1645920" y="3931920"/>
            <a:ext cx="9144000" cy="457200"/>
          </a:xfrm>
          <a:prstGeom prst="rect">
            <a:avLst/>
          </a:prstGeom>
          <a:noFill/>
        </p:spPr>
        <p:txBody>
          <a:bodyPr wrap="square" anchor="t">
            <a:spAutoFit/>
          </a:bodyPr>
          <a:lstStyle/>
          <a:p>
            <a:pPr algn="l">
              <a:defRPr sz="1400" b="0">
                <a:solidFill>
                  <a:srgbClr val="A0B8D0"/>
                </a:solidFill>
                <a:latin typeface="Segoe UI"/>
              </a:defRPr>
            </a:pPr>
            <a:r>
              <a:t>Provable Computing  |  DODIN Defense  |  Behavioral Intelligence</a:t>
            </a:r>
          </a:p>
        </p:txBody>
      </p:sp>
      <p:sp>
        <p:nvSpPr>
          <p:cNvPr id="10" name="Rectangle 9"/>
          <p:cNvSpPr/>
          <p:nvPr/>
        </p:nvSpPr>
        <p:spPr>
          <a:xfrm>
            <a:off x="1645920" y="4663440"/>
            <a:ext cx="3200400" cy="254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45920" y="4846320"/>
            <a:ext cx="9144000" cy="365760"/>
          </a:xfrm>
          <a:prstGeom prst="rect">
            <a:avLst/>
          </a:prstGeom>
          <a:noFill/>
        </p:spPr>
        <p:txBody>
          <a:bodyPr wrap="square" anchor="t">
            <a:spAutoFit/>
          </a:bodyPr>
          <a:lstStyle/>
          <a:p>
            <a:pPr algn="l">
              <a:defRPr sz="1300" b="0">
                <a:solidFill>
                  <a:srgbClr val="7A8B9E"/>
                </a:solidFill>
                <a:latin typeface="Segoe UI"/>
              </a:defRPr>
            </a:pPr>
            <a:r>
              <a:t>Formal Proof, Not Sampling — Defending the Warfighter Against Nation-State Adversaries</a:t>
            </a:r>
          </a:p>
        </p:txBody>
      </p:sp>
      <p:sp>
        <p:nvSpPr>
          <p:cNvPr id="13" name="TextBox 12"/>
          <p:cNvSpPr txBox="1"/>
          <p:nvPr/>
        </p:nvSpPr>
        <p:spPr>
          <a:xfrm>
            <a:off x="1645920" y="5234995"/>
            <a:ext cx="9144000" cy="430887"/>
          </a:xfrm>
          <a:prstGeom prst="rect">
            <a:avLst/>
          </a:prstGeom>
          <a:noFill/>
        </p:spPr>
        <p:txBody>
          <a:bodyPr wrap="square" anchor="t">
            <a:spAutoFit/>
          </a:bodyPr>
          <a:lstStyle/>
          <a:p>
            <a:pPr>
              <a:defRPr sz="1100" b="0">
                <a:solidFill>
                  <a:srgbClr val="7A8B9E"/>
                </a:solidFill>
                <a:latin typeface="Segoe UI"/>
              </a:defRPr>
            </a:pPr>
            <a:r>
              <a:rPr dirty="0" err="1"/>
              <a:t>ArCTIC</a:t>
            </a:r>
            <a:r>
              <a:rPr dirty="0"/>
              <a:t> / CFIC Collaboration Event  |  Behavioral Anomaly Detection (ACECARD</a:t>
            </a:r>
            <a:r>
              <a:rPr lang="en-US" dirty="0"/>
              <a:t> - </a:t>
            </a:r>
            <a:r>
              <a:rPr lang="en-US" sz="1100" dirty="0"/>
              <a:t>Adaptive Cybersecurity Engine for Continuous Anomaly and Risk Detection</a:t>
            </a:r>
            <a:r>
              <a:rPr dirty="0"/>
              <a:t>)  |  06 MAY 2026  |  Augusta, GA</a:t>
            </a:r>
          </a:p>
        </p:txBody>
      </p:sp>
      <p:sp>
        <p:nvSpPr>
          <p:cNvPr id="15" name="Rectangle 1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17" name="TextBox 1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Problem Statement</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Nation-state adversaries dwelling inside U.S. critical infrastructure — undetected 4–5+ years.</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2</a:t>
            </a:r>
          </a:p>
        </p:txBody>
      </p:sp>
      <p:sp>
        <p:nvSpPr>
          <p:cNvPr id="8" name="Rounded Rectangle 7"/>
          <p:cNvSpPr/>
          <p:nvPr/>
        </p:nvSpPr>
        <p:spPr>
          <a:xfrm>
            <a:off x="1097280" y="1450514"/>
            <a:ext cx="10058400" cy="1603582"/>
          </a:xfrm>
          <a:prstGeom prst="roundRect">
            <a:avLst/>
          </a:prstGeom>
          <a:solidFill>
            <a:srgbClr val="FDEDEC"/>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463040"/>
            <a:ext cx="100584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1600200"/>
            <a:ext cx="9601200" cy="1456809"/>
          </a:xfrm>
          <a:prstGeom prst="rect">
            <a:avLst/>
          </a:prstGeom>
          <a:noFill/>
        </p:spPr>
        <p:txBody>
          <a:bodyPr wrap="square" anchor="t">
            <a:spAutoFit/>
          </a:bodyPr>
          <a:lstStyle/>
          <a:p>
            <a:pPr algn="l">
              <a:defRPr sz="1300" b="1">
                <a:solidFill>
                  <a:srgbClr val="2C3E50"/>
                </a:solidFill>
                <a:latin typeface="Segoe UI"/>
              </a:defRPr>
            </a:pPr>
            <a:r>
              <a:rPr dirty="0"/>
              <a:t>Two confirmed nation-state campaigns — Volt Typhoon and Salt Typhoon — have compromised</a:t>
            </a:r>
          </a:p>
          <a:p>
            <a:pPr>
              <a:spcBef>
                <a:spcPts val="800"/>
              </a:spcBef>
              <a:defRPr sz="1300" b="1">
                <a:solidFill>
                  <a:srgbClr val="2C3E50"/>
                </a:solidFill>
                <a:latin typeface="Segoe UI"/>
              </a:defRPr>
            </a:pPr>
            <a:r>
              <a:rPr dirty="0"/>
              <a:t>hundreds of critical infrastructure targets using techniques no existing tool can detect:</a:t>
            </a:r>
          </a:p>
          <a:p>
            <a:pPr>
              <a:spcBef>
                <a:spcPts val="800"/>
              </a:spcBef>
              <a:defRPr sz="1200" b="0">
                <a:solidFill>
                  <a:srgbClr val="2C3E50"/>
                </a:solidFill>
                <a:latin typeface="Segoe UI"/>
              </a:defRPr>
            </a:pPr>
            <a:r>
              <a:rPr dirty="0"/>
              <a:t>•  Living-off-the-Land (LOTL): only legitimate admin tools — no malware signatures to find</a:t>
            </a:r>
          </a:p>
          <a:p>
            <a:pPr>
              <a:spcBef>
                <a:spcPts val="800"/>
              </a:spcBef>
              <a:defRPr sz="1200" b="0">
                <a:solidFill>
                  <a:srgbClr val="2C3E50"/>
                </a:solidFill>
                <a:latin typeface="Segoe UI"/>
              </a:defRPr>
            </a:pPr>
            <a:r>
              <a:rPr dirty="0"/>
              <a:t>•  Configuration-resident persistence: the attack IS the network configuration itself</a:t>
            </a:r>
            <a:r>
              <a:rPr lang="en-US" dirty="0"/>
              <a:t> (</a:t>
            </a:r>
            <a:r>
              <a:rPr lang="en-US" sz="1200" dirty="0"/>
              <a:t>embedded in the legitimate operating state)</a:t>
            </a:r>
            <a:endParaRPr dirty="0"/>
          </a:p>
          <a:p>
            <a:pPr>
              <a:spcBef>
                <a:spcPts val="800"/>
              </a:spcBef>
              <a:defRPr sz="1200" b="0">
                <a:solidFill>
                  <a:srgbClr val="2C3E50"/>
                </a:solidFill>
                <a:latin typeface="Segoe UI"/>
              </a:defRPr>
            </a:pPr>
            <a:r>
              <a:rPr dirty="0"/>
              <a:t>•  Stolen valid credentials: every access control says "approved"</a:t>
            </a:r>
          </a:p>
        </p:txBody>
      </p:sp>
      <p:sp>
        <p:nvSpPr>
          <p:cNvPr id="11" name="Rounded Rectangle 10"/>
          <p:cNvSpPr/>
          <p:nvPr/>
        </p:nvSpPr>
        <p:spPr>
          <a:xfrm>
            <a:off x="1097280" y="3200400"/>
            <a:ext cx="10058400" cy="14630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97280" y="3200400"/>
            <a:ext cx="54864" cy="1463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3291840"/>
            <a:ext cx="9601200" cy="1280160"/>
          </a:xfrm>
          <a:prstGeom prst="rect">
            <a:avLst/>
          </a:prstGeom>
          <a:noFill/>
        </p:spPr>
        <p:txBody>
          <a:bodyPr wrap="square" anchor="t">
            <a:spAutoFit/>
          </a:bodyPr>
          <a:lstStyle/>
          <a:p>
            <a:pPr algn="l">
              <a:defRPr sz="1200" b="1">
                <a:solidFill>
                  <a:srgbClr val="0D1B2A"/>
                </a:solidFill>
                <a:latin typeface="Segoe UI"/>
              </a:defRPr>
            </a:pPr>
            <a:r>
              <a:rPr dirty="0"/>
              <a:t>ARCYBER DEFEND-THE-DODIN CHALLENGE — LIMITING FACTORS:</a:t>
            </a:r>
          </a:p>
          <a:p>
            <a:pPr>
              <a:spcBef>
                <a:spcPts val="800"/>
              </a:spcBef>
              <a:defRPr sz="1200" b="0">
                <a:solidFill>
                  <a:srgbClr val="2C3E50"/>
                </a:solidFill>
                <a:latin typeface="Segoe UI"/>
              </a:defRPr>
            </a:pPr>
            <a:r>
              <a:rPr dirty="0"/>
              <a:t>•  Tools detect known-bad signatures → adversaries use only known-good tools</a:t>
            </a:r>
          </a:p>
          <a:p>
            <a:pPr>
              <a:spcBef>
                <a:spcPts val="800"/>
              </a:spcBef>
              <a:defRPr sz="1200" b="0">
                <a:solidFill>
                  <a:srgbClr val="2C3E50"/>
                </a:solidFill>
                <a:latin typeface="Segoe UI"/>
              </a:defRPr>
            </a:pPr>
            <a:r>
              <a:rPr dirty="0"/>
              <a:t>•  Fixed thresholds → LOTL operates below every one</a:t>
            </a:r>
          </a:p>
          <a:p>
            <a:pPr>
              <a:spcBef>
                <a:spcPts val="800"/>
              </a:spcBef>
              <a:defRPr sz="1200" b="0">
                <a:solidFill>
                  <a:srgbClr val="2C3E50"/>
                </a:solidFill>
                <a:latin typeface="Segoe UI"/>
              </a:defRPr>
            </a:pPr>
            <a:r>
              <a:rPr dirty="0"/>
              <a:t>•  Point-in-time testing (annual </a:t>
            </a:r>
            <a:r>
              <a:rPr dirty="0" err="1"/>
              <a:t>pentests</a:t>
            </a:r>
            <a:r>
              <a:rPr dirty="0"/>
              <a:t>) → adversary is continuous</a:t>
            </a:r>
          </a:p>
          <a:p>
            <a:pPr>
              <a:spcBef>
                <a:spcPts val="800"/>
              </a:spcBef>
              <a:defRPr sz="1200" b="1">
                <a:solidFill>
                  <a:srgbClr val="C0392B"/>
                </a:solidFill>
                <a:latin typeface="Segoe UI"/>
              </a:defRPr>
            </a:pPr>
            <a:r>
              <a:rPr dirty="0"/>
              <a:t>•  No tool provides formal proof that all attack paths on the DODIN are blocked</a:t>
            </a:r>
          </a:p>
        </p:txBody>
      </p:sp>
      <p:sp>
        <p:nvSpPr>
          <p:cNvPr id="14" name="Rounded Rectangle 13"/>
          <p:cNvSpPr/>
          <p:nvPr/>
        </p:nvSpPr>
        <p:spPr>
          <a:xfrm>
            <a:off x="1097280" y="4937760"/>
            <a:ext cx="10058400" cy="128016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 y="4937760"/>
            <a:ext cx="54864" cy="128016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5029200"/>
            <a:ext cx="9601200" cy="1138773"/>
          </a:xfrm>
          <a:prstGeom prst="rect">
            <a:avLst/>
          </a:prstGeom>
          <a:noFill/>
        </p:spPr>
        <p:txBody>
          <a:bodyPr wrap="square" anchor="t">
            <a:spAutoFit/>
          </a:bodyPr>
          <a:lstStyle/>
          <a:p>
            <a:pPr algn="l">
              <a:defRPr sz="1200" b="1">
                <a:solidFill>
                  <a:srgbClr val="1B4F72"/>
                </a:solidFill>
                <a:latin typeface="Segoe UI"/>
              </a:defRPr>
            </a:pPr>
            <a:r>
              <a:rPr dirty="0"/>
              <a:t>OUR APPROACH — PROVABLE COMPUTING + BEHAVIORAL INTELLIGENCE:</a:t>
            </a:r>
          </a:p>
          <a:p>
            <a:pPr>
              <a:spcBef>
                <a:spcPts val="800"/>
              </a:spcBef>
              <a:defRPr sz="1200" b="0">
                <a:solidFill>
                  <a:srgbClr val="2C3E50"/>
                </a:solidFill>
                <a:latin typeface="Segoe UI"/>
              </a:defRPr>
            </a:pPr>
            <a:r>
              <a:rPr dirty="0"/>
              <a:t>1.  Preemptive: </a:t>
            </a:r>
            <a:r>
              <a:rPr b="1" dirty="0"/>
              <a:t>Formal proof, not sampling — mathematical verification that configs block all known attack paths</a:t>
            </a:r>
          </a:p>
          <a:p>
            <a:pPr>
              <a:spcBef>
                <a:spcPts val="800"/>
              </a:spcBef>
              <a:defRPr sz="1200" b="0">
                <a:solidFill>
                  <a:srgbClr val="2C3E50"/>
                </a:solidFill>
                <a:latin typeface="Segoe UI"/>
              </a:defRPr>
            </a:pPr>
            <a:r>
              <a:rPr dirty="0"/>
              <a:t>2.  Behavioral (ACECARD): </a:t>
            </a:r>
            <a:r>
              <a:rPr b="1" dirty="0"/>
              <a:t>Digital Twin of each entity — detects sub-threshold drift that no threshold system catches</a:t>
            </a:r>
          </a:p>
          <a:p>
            <a:pPr>
              <a:spcBef>
                <a:spcPts val="800"/>
              </a:spcBef>
              <a:defRPr sz="1200" b="1">
                <a:solidFill>
                  <a:srgbClr val="0D1B2A"/>
                </a:solidFill>
                <a:latin typeface="Segoe UI"/>
              </a:defRPr>
            </a:pPr>
            <a:r>
              <a:rPr dirty="0"/>
              <a:t>Together: 95–98% DODIN coverage. Dwell time: 5 years → hours. Directly enhances ARCYBER DEFEND mission.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The Threat: Volt Typhoon &amp; Salt Typhoon</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Two active PRC campaigns using techniques that bypass every existing security tool.</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3</a:t>
            </a:r>
          </a:p>
        </p:txBody>
      </p:sp>
      <p:sp>
        <p:nvSpPr>
          <p:cNvPr id="8" name="Rounded Rectangle 7"/>
          <p:cNvSpPr/>
          <p:nvPr/>
        </p:nvSpPr>
        <p:spPr>
          <a:xfrm>
            <a:off x="1097280" y="1371600"/>
            <a:ext cx="4846320" cy="2560320"/>
          </a:xfrm>
          <a:prstGeom prst="roundRect">
            <a:avLst/>
          </a:prstGeom>
          <a:solidFill>
            <a:srgbClr val="FDEDEC"/>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371600"/>
            <a:ext cx="484632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1444752"/>
            <a:ext cx="4572000" cy="365760"/>
          </a:xfrm>
          <a:prstGeom prst="rect">
            <a:avLst/>
          </a:prstGeom>
          <a:noFill/>
        </p:spPr>
        <p:txBody>
          <a:bodyPr wrap="square" anchor="t">
            <a:spAutoFit/>
          </a:bodyPr>
          <a:lstStyle/>
          <a:p>
            <a:pPr algn="l">
              <a:defRPr sz="1300" b="1">
                <a:solidFill>
                  <a:srgbClr val="FFFFFF"/>
                </a:solidFill>
                <a:latin typeface="Segoe UI"/>
              </a:defRPr>
            </a:pPr>
            <a:r>
              <a:t>  VOLT TYPHOON (G1017)</a:t>
            </a:r>
          </a:p>
        </p:txBody>
      </p:sp>
      <p:sp>
        <p:nvSpPr>
          <p:cNvPr id="11" name="TextBox 10"/>
          <p:cNvSpPr txBox="1"/>
          <p:nvPr/>
        </p:nvSpPr>
        <p:spPr>
          <a:xfrm>
            <a:off x="1371600" y="1920240"/>
            <a:ext cx="4389120" cy="1713290"/>
          </a:xfrm>
          <a:prstGeom prst="rect">
            <a:avLst/>
          </a:prstGeom>
          <a:noFill/>
        </p:spPr>
        <p:txBody>
          <a:bodyPr wrap="square" anchor="t">
            <a:spAutoFit/>
          </a:bodyPr>
          <a:lstStyle/>
          <a:p>
            <a:pPr algn="l">
              <a:defRPr sz="1200" b="0">
                <a:solidFill>
                  <a:srgbClr val="2C3E50"/>
                </a:solidFill>
                <a:latin typeface="Segoe UI"/>
              </a:defRPr>
            </a:pPr>
            <a:r>
              <a:rPr dirty="0"/>
              <a:t>PRC state-sponsored. Active since mid-2021.</a:t>
            </a:r>
          </a:p>
          <a:p>
            <a:pPr>
              <a:spcBef>
                <a:spcPts val="800"/>
              </a:spcBef>
              <a:defRPr sz="1200" b="0">
                <a:solidFill>
                  <a:srgbClr val="2C3E50"/>
                </a:solidFill>
                <a:latin typeface="Segoe UI"/>
              </a:defRPr>
            </a:pPr>
            <a:r>
              <a:rPr dirty="0"/>
              <a:t>•  Pre-positioned in power, water, telecom, transportation</a:t>
            </a:r>
          </a:p>
          <a:p>
            <a:pPr>
              <a:spcBef>
                <a:spcPts val="800"/>
              </a:spcBef>
              <a:defRPr sz="1200" b="0">
                <a:solidFill>
                  <a:srgbClr val="2C3E50"/>
                </a:solidFill>
                <a:latin typeface="Segoe UI"/>
              </a:defRPr>
            </a:pPr>
            <a:r>
              <a:rPr dirty="0"/>
              <a:t>•  </a:t>
            </a:r>
            <a:r>
              <a:rPr b="1" dirty="0"/>
              <a:t>Living-off-the-Land: only legitimate admin tools</a:t>
            </a:r>
          </a:p>
          <a:p>
            <a:pPr>
              <a:spcBef>
                <a:spcPts val="800"/>
              </a:spcBef>
              <a:defRPr sz="1200" b="0">
                <a:solidFill>
                  <a:srgbClr val="2C3E50"/>
                </a:solidFill>
                <a:latin typeface="Segoe UI"/>
              </a:defRPr>
            </a:pPr>
            <a:r>
              <a:rPr dirty="0"/>
              <a:t>•  No malware, no signatures, no IOCs</a:t>
            </a:r>
          </a:p>
          <a:p>
            <a:pPr>
              <a:spcBef>
                <a:spcPts val="800"/>
              </a:spcBef>
              <a:defRPr sz="1200" b="1">
                <a:solidFill>
                  <a:srgbClr val="C0392B"/>
                </a:solidFill>
                <a:latin typeface="Segoe UI"/>
              </a:defRPr>
            </a:pPr>
            <a:r>
              <a:rPr dirty="0"/>
              <a:t>•  5+ year undetected dwell time</a:t>
            </a:r>
          </a:p>
          <a:p>
            <a:pPr>
              <a:spcBef>
                <a:spcPts val="800"/>
              </a:spcBef>
              <a:defRPr sz="1200" b="0">
                <a:solidFill>
                  <a:srgbClr val="2C3E50"/>
                </a:solidFill>
                <a:latin typeface="Segoe UI"/>
              </a:defRPr>
            </a:pPr>
            <a:r>
              <a:rPr dirty="0"/>
              <a:t>•  Purpose: future disruption during Taiwan crisis</a:t>
            </a:r>
          </a:p>
        </p:txBody>
      </p:sp>
      <p:sp>
        <p:nvSpPr>
          <p:cNvPr id="12" name="Rounded Rectangle 11"/>
          <p:cNvSpPr/>
          <p:nvPr/>
        </p:nvSpPr>
        <p:spPr>
          <a:xfrm>
            <a:off x="6309360" y="1371600"/>
            <a:ext cx="4846320" cy="256032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371600"/>
            <a:ext cx="4846320" cy="4572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444752"/>
            <a:ext cx="4572000" cy="365760"/>
          </a:xfrm>
          <a:prstGeom prst="rect">
            <a:avLst/>
          </a:prstGeom>
          <a:noFill/>
        </p:spPr>
        <p:txBody>
          <a:bodyPr wrap="square" anchor="t">
            <a:spAutoFit/>
          </a:bodyPr>
          <a:lstStyle/>
          <a:p>
            <a:pPr algn="l">
              <a:defRPr sz="1300" b="1">
                <a:solidFill>
                  <a:srgbClr val="FFFFFF"/>
                </a:solidFill>
                <a:latin typeface="Segoe UI"/>
              </a:defRPr>
            </a:pPr>
            <a:r>
              <a:t>  SALT TYPHOON</a:t>
            </a:r>
          </a:p>
        </p:txBody>
      </p:sp>
      <p:sp>
        <p:nvSpPr>
          <p:cNvPr id="15" name="TextBox 14"/>
          <p:cNvSpPr txBox="1"/>
          <p:nvPr/>
        </p:nvSpPr>
        <p:spPr>
          <a:xfrm>
            <a:off x="6583680" y="1920240"/>
            <a:ext cx="4389120" cy="1713290"/>
          </a:xfrm>
          <a:prstGeom prst="rect">
            <a:avLst/>
          </a:prstGeom>
          <a:noFill/>
        </p:spPr>
        <p:txBody>
          <a:bodyPr wrap="square" anchor="t">
            <a:spAutoFit/>
          </a:bodyPr>
          <a:lstStyle/>
          <a:p>
            <a:pPr algn="l">
              <a:defRPr sz="1200" b="0">
                <a:solidFill>
                  <a:srgbClr val="2C3E50"/>
                </a:solidFill>
                <a:latin typeface="Segoe UI"/>
              </a:defRPr>
            </a:pPr>
            <a:r>
              <a:rPr dirty="0"/>
              <a:t>200+ telecoms compromised across 80+ countries.</a:t>
            </a:r>
          </a:p>
          <a:p>
            <a:pPr>
              <a:spcBef>
                <a:spcPts val="800"/>
              </a:spcBef>
              <a:defRPr sz="1200" b="0">
                <a:solidFill>
                  <a:srgbClr val="2C3E50"/>
                </a:solidFill>
                <a:latin typeface="Segoe UI"/>
              </a:defRPr>
            </a:pPr>
            <a:r>
              <a:rPr dirty="0"/>
              <a:t>•  9 major U.S. carriers. CALEA wiretap access.</a:t>
            </a:r>
          </a:p>
          <a:p>
            <a:pPr>
              <a:spcBef>
                <a:spcPts val="800"/>
              </a:spcBef>
              <a:defRPr sz="1200" b="0">
                <a:solidFill>
                  <a:srgbClr val="2C3E50"/>
                </a:solidFill>
                <a:latin typeface="Segoe UI"/>
              </a:defRPr>
            </a:pPr>
            <a:r>
              <a:rPr dirty="0"/>
              <a:t>•  </a:t>
            </a:r>
            <a:r>
              <a:rPr b="1" dirty="0"/>
              <a:t>Persistence IS the router configuration itself</a:t>
            </a:r>
          </a:p>
          <a:p>
            <a:pPr>
              <a:spcBef>
                <a:spcPts val="800"/>
              </a:spcBef>
              <a:defRPr sz="1200" b="0">
                <a:solidFill>
                  <a:srgbClr val="2C3E50"/>
                </a:solidFill>
                <a:latin typeface="Segoe UI"/>
              </a:defRPr>
            </a:pPr>
            <a:r>
              <a:rPr b="1" dirty="0"/>
              <a:t>•  Exploits Cisco IOS XE (CVE-2023-20198)</a:t>
            </a:r>
          </a:p>
          <a:p>
            <a:pPr>
              <a:spcBef>
                <a:spcPts val="800"/>
              </a:spcBef>
              <a:defRPr sz="1200" b="1">
                <a:solidFill>
                  <a:srgbClr val="C0392B"/>
                </a:solidFill>
                <a:latin typeface="Segoe UI"/>
              </a:defRPr>
            </a:pPr>
            <a:r>
              <a:rPr dirty="0"/>
              <a:t>•  4+ year undetected dwell time</a:t>
            </a:r>
          </a:p>
          <a:p>
            <a:pPr>
              <a:spcBef>
                <a:spcPts val="800"/>
              </a:spcBef>
              <a:defRPr sz="1200" b="0">
                <a:solidFill>
                  <a:srgbClr val="2C3E50"/>
                </a:solidFill>
                <a:latin typeface="Segoe UI"/>
              </a:defRPr>
            </a:pPr>
            <a:r>
              <a:rPr dirty="0"/>
              <a:t>•  Steady CDR/metadata exfiltration over months</a:t>
            </a:r>
          </a:p>
        </p:txBody>
      </p:sp>
      <p:sp>
        <p:nvSpPr>
          <p:cNvPr id="16" name="Rounded Rectangle 15"/>
          <p:cNvSpPr/>
          <p:nvPr/>
        </p:nvSpPr>
        <p:spPr>
          <a:xfrm>
            <a:off x="1097280" y="4206240"/>
            <a:ext cx="10058400" cy="201168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97280" y="4206240"/>
            <a:ext cx="54864"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0" y="4297680"/>
            <a:ext cx="9601200" cy="1828800"/>
          </a:xfrm>
          <a:prstGeom prst="rect">
            <a:avLst/>
          </a:prstGeom>
          <a:noFill/>
        </p:spPr>
        <p:txBody>
          <a:bodyPr wrap="square" anchor="t">
            <a:spAutoFit/>
          </a:bodyPr>
          <a:lstStyle/>
          <a:p>
            <a:pPr algn="l">
              <a:defRPr sz="1200" b="1">
                <a:solidFill>
                  <a:srgbClr val="0D1B2A"/>
                </a:solidFill>
                <a:latin typeface="Segoe UI"/>
              </a:defRPr>
            </a:pPr>
            <a:r>
              <a:t>WHY CURRENT DEFENSES CANNOT STOP THEM:</a:t>
            </a:r>
          </a:p>
          <a:p>
            <a:pPr>
              <a:spcBef>
                <a:spcPts val="800"/>
              </a:spcBef>
              <a:defRPr sz="1200" b="0">
                <a:solidFill>
                  <a:srgbClr val="2C3E50"/>
                </a:solidFill>
                <a:latin typeface="Segoe UI"/>
              </a:defRPr>
            </a:pPr>
            <a:r>
              <a:t>•  SIEM/EDR: detect known-bad signatures — these adversaries use only known-good tools</a:t>
            </a:r>
          </a:p>
          <a:p>
            <a:pPr>
              <a:spcBef>
                <a:spcPts val="800"/>
              </a:spcBef>
              <a:defRPr sz="1200" b="0">
                <a:solidFill>
                  <a:srgbClr val="2C3E50"/>
                </a:solidFill>
                <a:latin typeface="Segoe UI"/>
              </a:defRPr>
            </a:pPr>
            <a:r>
              <a:t>•  Commercial UEBA: fixed thresholds — LOTL operates below every one</a:t>
            </a:r>
          </a:p>
          <a:p>
            <a:pPr>
              <a:spcBef>
                <a:spcPts val="800"/>
              </a:spcBef>
              <a:defRPr sz="1200" b="0">
                <a:solidFill>
                  <a:srgbClr val="2C3E50"/>
                </a:solidFill>
                <a:latin typeface="Segoe UI"/>
              </a:defRPr>
            </a:pPr>
            <a:r>
              <a:t>•  Pentest/Red Team: annual point-in-time sampling vs. continuous adversary</a:t>
            </a:r>
          </a:p>
          <a:p>
            <a:pPr>
              <a:spcBef>
                <a:spcPts val="800"/>
              </a:spcBef>
              <a:defRPr sz="1200" b="0">
                <a:solidFill>
                  <a:srgbClr val="2C3E50"/>
                </a:solidFill>
                <a:latin typeface="Segoe UI"/>
              </a:defRPr>
            </a:pPr>
            <a:r>
              <a:t>•  Config gaps never mathematically proven closed — pentests only sample attack paths</a:t>
            </a:r>
          </a:p>
          <a:p>
            <a:pPr>
              <a:spcBef>
                <a:spcPts val="800"/>
              </a:spcBef>
              <a:defRPr sz="1200" b="0">
                <a:solidFill>
                  <a:srgbClr val="2C3E50"/>
                </a:solidFill>
                <a:latin typeface="Segoe UI"/>
              </a:defRPr>
            </a:pPr>
            <a:r>
              <a:t>•  Identity fragmented across 10+ systems — cross-domain movement reads as unrelated signals</a:t>
            </a:r>
          </a:p>
        </p:txBody>
      </p:sp>
      <p:sp>
        <p:nvSpPr>
          <p:cNvPr id="19" name="TextBox 18"/>
          <p:cNvSpPr txBox="1"/>
          <p:nvPr/>
        </p:nvSpPr>
        <p:spPr>
          <a:xfrm>
            <a:off x="1097280" y="6309360"/>
            <a:ext cx="10058400" cy="182880"/>
          </a:xfrm>
          <a:prstGeom prst="rect">
            <a:avLst/>
          </a:prstGeom>
          <a:noFill/>
        </p:spPr>
        <p:txBody>
          <a:bodyPr wrap="square" anchor="t">
            <a:spAutoFit/>
          </a:bodyPr>
          <a:lstStyle/>
          <a:p>
            <a:pPr algn="l">
              <a:defRPr sz="900" b="0">
                <a:solidFill>
                  <a:srgbClr val="6C757D"/>
                </a:solidFill>
                <a:latin typeface="Segoe UI"/>
              </a:defRPr>
            </a:pPr>
            <a:r>
              <a:t>Sources: CISA AA24-038A  |  FBI/NSA/CISA Joint Advisory (Dec 2024)  |  Microsoft Threat Intel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5" name="Shape 3"/>
          <p:cNvSpPr/>
          <p:nvPr/>
        </p:nvSpPr>
        <p:spPr>
          <a:xfrm>
            <a:off x="457200" y="1371600"/>
            <a:ext cx="5486400" cy="502920"/>
          </a:xfrm>
          <a:prstGeom prst="rect">
            <a:avLst/>
          </a:prstGeom>
          <a:solidFill>
            <a:srgbClr val="2D3748"/>
          </a:solidFill>
          <a:ln/>
        </p:spPr>
        <p:txBody>
          <a:bodyPr/>
          <a:lstStyle/>
          <a:p>
            <a:endParaRPr lang="en-US"/>
          </a:p>
        </p:txBody>
      </p:sp>
      <p:sp>
        <p:nvSpPr>
          <p:cNvPr id="6" name="Text 4"/>
          <p:cNvSpPr/>
          <p:nvPr/>
        </p:nvSpPr>
        <p:spPr>
          <a:xfrm>
            <a:off x="64008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txBody>
          <a:bodyPr/>
          <a:lstStyle/>
          <a:p>
            <a:endParaRPr lang="en-US"/>
          </a:p>
        </p:txBody>
      </p:sp>
      <p:sp>
        <p:nvSpPr>
          <p:cNvPr id="8" name="Text 6"/>
          <p:cNvSpPr/>
          <p:nvPr/>
        </p:nvSpPr>
        <p:spPr>
          <a:xfrm>
            <a:off x="82296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txBody>
          <a:bodyPr/>
          <a:lstStyle/>
          <a:p>
            <a:endParaRPr lang="en-US"/>
          </a:p>
        </p:txBody>
      </p:sp>
      <p:sp>
        <p:nvSpPr>
          <p:cNvPr id="11" name="Text 9"/>
          <p:cNvSpPr/>
          <p:nvPr/>
        </p:nvSpPr>
        <p:spPr>
          <a:xfrm>
            <a:off x="82296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txBody>
          <a:bodyPr/>
          <a:lstStyle/>
          <a:p>
            <a:endParaRPr lang="en-US"/>
          </a:p>
        </p:txBody>
      </p:sp>
      <p:sp>
        <p:nvSpPr>
          <p:cNvPr id="14" name="Text 12"/>
          <p:cNvSpPr/>
          <p:nvPr/>
        </p:nvSpPr>
        <p:spPr>
          <a:xfrm>
            <a:off x="82296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txBody>
          <a:bodyPr/>
          <a:lstStyle/>
          <a:p>
            <a:endParaRPr lang="en-US"/>
          </a:p>
        </p:txBody>
      </p:sp>
      <p:sp>
        <p:nvSpPr>
          <p:cNvPr id="17" name="Text 15"/>
          <p:cNvSpPr/>
          <p:nvPr/>
        </p:nvSpPr>
        <p:spPr>
          <a:xfrm>
            <a:off x="82296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20" name="Shape 18"/>
          <p:cNvSpPr/>
          <p:nvPr/>
        </p:nvSpPr>
        <p:spPr>
          <a:xfrm>
            <a:off x="6217920" y="1371600"/>
            <a:ext cx="5486400" cy="502920"/>
          </a:xfrm>
          <a:prstGeom prst="rect">
            <a:avLst/>
          </a:prstGeom>
          <a:solidFill>
            <a:srgbClr val="2D3748"/>
          </a:solidFill>
          <a:ln/>
        </p:spPr>
        <p:txBody>
          <a:bodyPr/>
          <a:lstStyle/>
          <a:p>
            <a:endParaRPr lang="en-US"/>
          </a:p>
        </p:txBody>
      </p:sp>
      <p:sp>
        <p:nvSpPr>
          <p:cNvPr id="21" name="Text 19"/>
          <p:cNvSpPr/>
          <p:nvPr/>
        </p:nvSpPr>
        <p:spPr>
          <a:xfrm>
            <a:off x="640080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txBody>
          <a:bodyPr/>
          <a:lstStyle/>
          <a:p>
            <a:endParaRPr lang="en-US"/>
          </a:p>
        </p:txBody>
      </p:sp>
      <p:sp>
        <p:nvSpPr>
          <p:cNvPr id="23" name="Text 21"/>
          <p:cNvSpPr/>
          <p:nvPr/>
        </p:nvSpPr>
        <p:spPr>
          <a:xfrm>
            <a:off x="658368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txBody>
          <a:bodyPr/>
          <a:lstStyle/>
          <a:p>
            <a:endParaRPr lang="en-US"/>
          </a:p>
        </p:txBody>
      </p:sp>
      <p:sp>
        <p:nvSpPr>
          <p:cNvPr id="26" name="Text 24"/>
          <p:cNvSpPr/>
          <p:nvPr/>
        </p:nvSpPr>
        <p:spPr>
          <a:xfrm>
            <a:off x="658368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txBody>
          <a:bodyPr/>
          <a:lstStyle/>
          <a:p>
            <a:endParaRPr lang="en-US"/>
          </a:p>
        </p:txBody>
      </p:sp>
      <p:sp>
        <p:nvSpPr>
          <p:cNvPr id="29" name="Text 27"/>
          <p:cNvSpPr/>
          <p:nvPr/>
        </p:nvSpPr>
        <p:spPr>
          <a:xfrm>
            <a:off x="658368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txBody>
          <a:bodyPr/>
          <a:lstStyle/>
          <a:p>
            <a:endParaRPr lang="en-US"/>
          </a:p>
        </p:txBody>
      </p:sp>
      <p:sp>
        <p:nvSpPr>
          <p:cNvPr id="32" name="Text 30"/>
          <p:cNvSpPr/>
          <p:nvPr/>
        </p:nvSpPr>
        <p:spPr>
          <a:xfrm>
            <a:off x="658368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Security Devices: What They Do vs. What They Miss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Each device solves one piece — no device verifies that ALL pieces work together.</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4</a:t>
            </a:r>
          </a:p>
        </p:txBody>
      </p:sp>
      <p:sp>
        <p:nvSpPr>
          <p:cNvPr id="8" name="Rounded Rectangle 7"/>
          <p:cNvSpPr/>
          <p:nvPr/>
        </p:nvSpPr>
        <p:spPr>
          <a:xfrm>
            <a:off x="1097280" y="1325880"/>
            <a:ext cx="2194560" cy="347472"/>
          </a:xfrm>
          <a:prstGeom prst="round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353312"/>
            <a:ext cx="2011680" cy="292608"/>
          </a:xfrm>
          <a:prstGeom prst="rect">
            <a:avLst/>
          </a:prstGeom>
          <a:noFill/>
        </p:spPr>
        <p:txBody>
          <a:bodyPr wrap="square" anchor="t">
            <a:spAutoFit/>
          </a:bodyPr>
          <a:lstStyle/>
          <a:p>
            <a:pPr algn="ctr">
              <a:defRPr sz="1000" b="1">
                <a:solidFill>
                  <a:srgbClr val="FFFFFF"/>
                </a:solidFill>
                <a:latin typeface="Segoe UI"/>
              </a:defRPr>
            </a:pPr>
            <a:r>
              <a:t>DEVICE</a:t>
            </a:r>
          </a:p>
        </p:txBody>
      </p:sp>
      <p:sp>
        <p:nvSpPr>
          <p:cNvPr id="10" name="Rounded Rectangle 9"/>
          <p:cNvSpPr/>
          <p:nvPr/>
        </p:nvSpPr>
        <p:spPr>
          <a:xfrm>
            <a:off x="3291840" y="1325880"/>
            <a:ext cx="3291840" cy="347472"/>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0" y="1353312"/>
            <a:ext cx="3108960" cy="292608"/>
          </a:xfrm>
          <a:prstGeom prst="rect">
            <a:avLst/>
          </a:prstGeom>
          <a:noFill/>
        </p:spPr>
        <p:txBody>
          <a:bodyPr wrap="square" anchor="t">
            <a:spAutoFit/>
          </a:bodyPr>
          <a:lstStyle/>
          <a:p>
            <a:pPr algn="ctr">
              <a:defRPr sz="1000" b="1">
                <a:solidFill>
                  <a:srgbClr val="FFFFFF"/>
                </a:solidFill>
                <a:latin typeface="Segoe UI"/>
              </a:defRPr>
            </a:pPr>
            <a:r>
              <a:t>WHAT IT DOES</a:t>
            </a:r>
          </a:p>
        </p:txBody>
      </p:sp>
      <p:sp>
        <p:nvSpPr>
          <p:cNvPr id="12" name="Rounded Rectangle 11"/>
          <p:cNvSpPr/>
          <p:nvPr/>
        </p:nvSpPr>
        <p:spPr>
          <a:xfrm>
            <a:off x="6583680" y="1325880"/>
            <a:ext cx="4572000" cy="347472"/>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0" y="1353312"/>
            <a:ext cx="4389120" cy="292608"/>
          </a:xfrm>
          <a:prstGeom prst="rect">
            <a:avLst/>
          </a:prstGeom>
          <a:noFill/>
        </p:spPr>
        <p:txBody>
          <a:bodyPr wrap="square" anchor="t">
            <a:spAutoFit/>
          </a:bodyPr>
          <a:lstStyle/>
          <a:p>
            <a:pPr algn="ctr">
              <a:defRPr sz="1000" b="1">
                <a:solidFill>
                  <a:srgbClr val="FFFFFF"/>
                </a:solidFill>
                <a:latin typeface="Segoe UI"/>
              </a:defRPr>
            </a:pPr>
            <a:r>
              <a:t>CAPABILITY GAP</a:t>
            </a:r>
          </a:p>
        </p:txBody>
      </p:sp>
      <p:sp>
        <p:nvSpPr>
          <p:cNvPr id="14" name="Rounded Rectangle 13"/>
          <p:cNvSpPr/>
          <p:nvPr/>
        </p:nvSpPr>
        <p:spPr>
          <a:xfrm>
            <a:off x="1097280" y="171907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1755648"/>
            <a:ext cx="2011680" cy="484632"/>
          </a:xfrm>
          <a:prstGeom prst="rect">
            <a:avLst/>
          </a:prstGeom>
          <a:noFill/>
        </p:spPr>
        <p:txBody>
          <a:bodyPr wrap="square" anchor="t">
            <a:spAutoFit/>
          </a:bodyPr>
          <a:lstStyle/>
          <a:p>
            <a:pPr algn="l">
              <a:defRPr sz="1000" b="1">
                <a:solidFill>
                  <a:srgbClr val="0D1B2A"/>
                </a:solidFill>
                <a:latin typeface="Segoe UI"/>
              </a:defRPr>
            </a:pPr>
            <a:r>
              <a:t>Next-Gen Firewall</a:t>
            </a:r>
          </a:p>
        </p:txBody>
      </p:sp>
      <p:sp>
        <p:nvSpPr>
          <p:cNvPr id="16" name="TextBox 15"/>
          <p:cNvSpPr txBox="1"/>
          <p:nvPr/>
        </p:nvSpPr>
        <p:spPr>
          <a:xfrm>
            <a:off x="3383280" y="1755648"/>
            <a:ext cx="3108960" cy="484632"/>
          </a:xfrm>
          <a:prstGeom prst="rect">
            <a:avLst/>
          </a:prstGeom>
          <a:noFill/>
        </p:spPr>
        <p:txBody>
          <a:bodyPr wrap="square" anchor="t">
            <a:spAutoFit/>
          </a:bodyPr>
          <a:lstStyle/>
          <a:p>
            <a:pPr algn="l">
              <a:defRPr sz="950" b="0">
                <a:solidFill>
                  <a:srgbClr val="2C3E50"/>
                </a:solidFill>
                <a:latin typeface="Segoe UI"/>
              </a:defRPr>
            </a:pPr>
            <a:r>
              <a:t>Filters traffic by rules, app-aware policies, zones</a:t>
            </a:r>
          </a:p>
        </p:txBody>
      </p:sp>
      <p:sp>
        <p:nvSpPr>
          <p:cNvPr id="17" name="TextBox 16"/>
          <p:cNvSpPr txBox="1"/>
          <p:nvPr/>
        </p:nvSpPr>
        <p:spPr>
          <a:xfrm>
            <a:off x="6675120" y="1755648"/>
            <a:ext cx="4389120" cy="384721"/>
          </a:xfrm>
          <a:prstGeom prst="rect">
            <a:avLst/>
          </a:prstGeom>
          <a:noFill/>
        </p:spPr>
        <p:txBody>
          <a:bodyPr wrap="square" anchor="t">
            <a:spAutoFit/>
          </a:bodyPr>
          <a:lstStyle/>
          <a:p>
            <a:pPr algn="l">
              <a:defRPr sz="950" b="0">
                <a:solidFill>
                  <a:srgbClr val="C0392B"/>
                </a:solidFill>
                <a:latin typeface="Segoe UI"/>
              </a:defRPr>
            </a:pPr>
            <a:r>
              <a:rPr b="1" dirty="0"/>
              <a:t>Rules only as good as config.</a:t>
            </a:r>
            <a:r>
              <a:rPr dirty="0"/>
              <a:t> No tool proves the ruleset covers all attack paths.</a:t>
            </a:r>
          </a:p>
        </p:txBody>
      </p:sp>
      <p:sp>
        <p:nvSpPr>
          <p:cNvPr id="18" name="Rounded Rectangle 17"/>
          <p:cNvSpPr/>
          <p:nvPr/>
        </p:nvSpPr>
        <p:spPr>
          <a:xfrm>
            <a:off x="1097280" y="222199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2258568"/>
            <a:ext cx="2011680" cy="484632"/>
          </a:xfrm>
          <a:prstGeom prst="rect">
            <a:avLst/>
          </a:prstGeom>
          <a:noFill/>
        </p:spPr>
        <p:txBody>
          <a:bodyPr wrap="square" anchor="t">
            <a:spAutoFit/>
          </a:bodyPr>
          <a:lstStyle/>
          <a:p>
            <a:pPr algn="l">
              <a:defRPr sz="1000" b="1">
                <a:solidFill>
                  <a:srgbClr val="0D1B2A"/>
                </a:solidFill>
                <a:latin typeface="Segoe UI"/>
              </a:defRPr>
            </a:pPr>
            <a:r>
              <a:t>IDS / IPS</a:t>
            </a:r>
          </a:p>
        </p:txBody>
      </p:sp>
      <p:sp>
        <p:nvSpPr>
          <p:cNvPr id="20" name="TextBox 19"/>
          <p:cNvSpPr txBox="1"/>
          <p:nvPr/>
        </p:nvSpPr>
        <p:spPr>
          <a:xfrm>
            <a:off x="3383280" y="2258568"/>
            <a:ext cx="3108960" cy="484632"/>
          </a:xfrm>
          <a:prstGeom prst="rect">
            <a:avLst/>
          </a:prstGeom>
          <a:noFill/>
        </p:spPr>
        <p:txBody>
          <a:bodyPr wrap="square" anchor="t">
            <a:spAutoFit/>
          </a:bodyPr>
          <a:lstStyle/>
          <a:p>
            <a:pPr algn="l">
              <a:defRPr sz="950" b="0">
                <a:solidFill>
                  <a:srgbClr val="2C3E50"/>
                </a:solidFill>
                <a:latin typeface="Segoe UI"/>
              </a:defRPr>
            </a:pPr>
            <a:r>
              <a:t>Detects/blocks known attack signatures in traffic</a:t>
            </a:r>
          </a:p>
        </p:txBody>
      </p:sp>
      <p:sp>
        <p:nvSpPr>
          <p:cNvPr id="21" name="TextBox 20"/>
          <p:cNvSpPr txBox="1"/>
          <p:nvPr/>
        </p:nvSpPr>
        <p:spPr>
          <a:xfrm>
            <a:off x="6675120" y="2258568"/>
            <a:ext cx="4389120" cy="384721"/>
          </a:xfrm>
          <a:prstGeom prst="rect">
            <a:avLst/>
          </a:prstGeom>
          <a:noFill/>
        </p:spPr>
        <p:txBody>
          <a:bodyPr wrap="square" anchor="t">
            <a:spAutoFit/>
          </a:bodyPr>
          <a:lstStyle/>
          <a:p>
            <a:pPr algn="l">
              <a:defRPr sz="950" b="0">
                <a:solidFill>
                  <a:srgbClr val="C0392B"/>
                </a:solidFill>
                <a:latin typeface="Segoe UI"/>
              </a:defRPr>
            </a:pPr>
            <a:r>
              <a:rPr dirty="0"/>
              <a:t>Signature-dependent. </a:t>
            </a:r>
            <a:r>
              <a:rPr b="1" dirty="0"/>
              <a:t>Volt Typhoon uses no malicious payloads </a:t>
            </a:r>
            <a:r>
              <a:rPr dirty="0"/>
              <a:t>— only legit admin commands.</a:t>
            </a:r>
          </a:p>
        </p:txBody>
      </p:sp>
      <p:sp>
        <p:nvSpPr>
          <p:cNvPr id="22" name="Rounded Rectangle 21"/>
          <p:cNvSpPr/>
          <p:nvPr/>
        </p:nvSpPr>
        <p:spPr>
          <a:xfrm>
            <a:off x="1097280" y="272491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34440" y="2761488"/>
            <a:ext cx="2011680" cy="484632"/>
          </a:xfrm>
          <a:prstGeom prst="rect">
            <a:avLst/>
          </a:prstGeom>
          <a:noFill/>
        </p:spPr>
        <p:txBody>
          <a:bodyPr wrap="square" anchor="t">
            <a:spAutoFit/>
          </a:bodyPr>
          <a:lstStyle/>
          <a:p>
            <a:pPr algn="l">
              <a:defRPr sz="1000" b="1">
                <a:solidFill>
                  <a:srgbClr val="0D1B2A"/>
                </a:solidFill>
                <a:latin typeface="Segoe UI"/>
              </a:defRPr>
            </a:pPr>
            <a:r>
              <a:t>NAC (802.1X)</a:t>
            </a:r>
          </a:p>
        </p:txBody>
      </p:sp>
      <p:sp>
        <p:nvSpPr>
          <p:cNvPr id="24" name="TextBox 23"/>
          <p:cNvSpPr txBox="1"/>
          <p:nvPr/>
        </p:nvSpPr>
        <p:spPr>
          <a:xfrm>
            <a:off x="3383280" y="2761488"/>
            <a:ext cx="3108960" cy="484632"/>
          </a:xfrm>
          <a:prstGeom prst="rect">
            <a:avLst/>
          </a:prstGeom>
          <a:noFill/>
        </p:spPr>
        <p:txBody>
          <a:bodyPr wrap="square" anchor="t">
            <a:spAutoFit/>
          </a:bodyPr>
          <a:lstStyle/>
          <a:p>
            <a:pPr algn="l">
              <a:defRPr sz="950" b="0">
                <a:solidFill>
                  <a:srgbClr val="2C3E50"/>
                </a:solidFill>
                <a:latin typeface="Segoe UI"/>
              </a:defRPr>
            </a:pPr>
            <a:r>
              <a:t>Controls which devices connect to the network</a:t>
            </a:r>
          </a:p>
        </p:txBody>
      </p:sp>
      <p:sp>
        <p:nvSpPr>
          <p:cNvPr id="25" name="TextBox 24"/>
          <p:cNvSpPr txBox="1"/>
          <p:nvPr/>
        </p:nvSpPr>
        <p:spPr>
          <a:xfrm>
            <a:off x="6675120" y="2761488"/>
            <a:ext cx="4389120" cy="384721"/>
          </a:xfrm>
          <a:prstGeom prst="rect">
            <a:avLst/>
          </a:prstGeom>
          <a:noFill/>
        </p:spPr>
        <p:txBody>
          <a:bodyPr wrap="square" anchor="t">
            <a:spAutoFit/>
          </a:bodyPr>
          <a:lstStyle/>
          <a:p>
            <a:pPr algn="l">
              <a:defRPr sz="950" b="0">
                <a:solidFill>
                  <a:srgbClr val="C0392B"/>
                </a:solidFill>
                <a:latin typeface="Segoe UI"/>
              </a:defRPr>
            </a:pPr>
            <a:r>
              <a:rPr dirty="0"/>
              <a:t>Grants access, not intent. </a:t>
            </a:r>
            <a:r>
              <a:rPr b="1" dirty="0"/>
              <a:t>Lateral movement with valid credentials is invisible.</a:t>
            </a:r>
          </a:p>
        </p:txBody>
      </p:sp>
      <p:sp>
        <p:nvSpPr>
          <p:cNvPr id="26" name="Rounded Rectangle 25"/>
          <p:cNvSpPr/>
          <p:nvPr/>
        </p:nvSpPr>
        <p:spPr>
          <a:xfrm>
            <a:off x="1097280" y="322783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34440" y="3264408"/>
            <a:ext cx="2011680" cy="484632"/>
          </a:xfrm>
          <a:prstGeom prst="rect">
            <a:avLst/>
          </a:prstGeom>
          <a:noFill/>
        </p:spPr>
        <p:txBody>
          <a:bodyPr wrap="square" anchor="t">
            <a:spAutoFit/>
          </a:bodyPr>
          <a:lstStyle/>
          <a:p>
            <a:pPr algn="l">
              <a:defRPr sz="1000" b="1">
                <a:solidFill>
                  <a:srgbClr val="0D1B2A"/>
                </a:solidFill>
                <a:latin typeface="Segoe UI"/>
              </a:defRPr>
            </a:pPr>
            <a:r>
              <a:t>WAF</a:t>
            </a:r>
          </a:p>
        </p:txBody>
      </p:sp>
      <p:sp>
        <p:nvSpPr>
          <p:cNvPr id="28" name="TextBox 27"/>
          <p:cNvSpPr txBox="1"/>
          <p:nvPr/>
        </p:nvSpPr>
        <p:spPr>
          <a:xfrm>
            <a:off x="3383280" y="3264408"/>
            <a:ext cx="3108960" cy="484632"/>
          </a:xfrm>
          <a:prstGeom prst="rect">
            <a:avLst/>
          </a:prstGeom>
          <a:noFill/>
        </p:spPr>
        <p:txBody>
          <a:bodyPr wrap="square" anchor="t">
            <a:spAutoFit/>
          </a:bodyPr>
          <a:lstStyle/>
          <a:p>
            <a:pPr algn="l">
              <a:defRPr sz="950" b="0">
                <a:solidFill>
                  <a:srgbClr val="2C3E50"/>
                </a:solidFill>
                <a:latin typeface="Segoe UI"/>
              </a:defRPr>
            </a:pPr>
            <a:r>
              <a:t>Protects web apps from injection, XSS, known exploits</a:t>
            </a:r>
          </a:p>
        </p:txBody>
      </p:sp>
      <p:sp>
        <p:nvSpPr>
          <p:cNvPr id="29" name="TextBox 28"/>
          <p:cNvSpPr txBox="1"/>
          <p:nvPr/>
        </p:nvSpPr>
        <p:spPr>
          <a:xfrm>
            <a:off x="6675120" y="3264408"/>
            <a:ext cx="4389120" cy="384721"/>
          </a:xfrm>
          <a:prstGeom prst="rect">
            <a:avLst/>
          </a:prstGeom>
          <a:noFill/>
        </p:spPr>
        <p:txBody>
          <a:bodyPr wrap="square" anchor="t">
            <a:spAutoFit/>
          </a:bodyPr>
          <a:lstStyle/>
          <a:p>
            <a:pPr algn="l">
              <a:defRPr sz="950" b="0">
                <a:solidFill>
                  <a:srgbClr val="C0392B"/>
                </a:solidFill>
                <a:latin typeface="Segoe UI"/>
              </a:defRPr>
            </a:pPr>
            <a:r>
              <a:rPr dirty="0"/>
              <a:t>HTTP layer only. </a:t>
            </a:r>
            <a:r>
              <a:rPr b="1" dirty="0"/>
              <a:t>Cannot see infrastructure-layer LOTL or router config</a:t>
            </a:r>
            <a:r>
              <a:rPr dirty="0"/>
              <a:t> manipulation.</a:t>
            </a:r>
          </a:p>
        </p:txBody>
      </p:sp>
      <p:sp>
        <p:nvSpPr>
          <p:cNvPr id="30" name="Rounded Rectangle 29"/>
          <p:cNvSpPr/>
          <p:nvPr/>
        </p:nvSpPr>
        <p:spPr>
          <a:xfrm>
            <a:off x="1097280" y="373075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34440" y="3767328"/>
            <a:ext cx="2011680" cy="484632"/>
          </a:xfrm>
          <a:prstGeom prst="rect">
            <a:avLst/>
          </a:prstGeom>
          <a:noFill/>
        </p:spPr>
        <p:txBody>
          <a:bodyPr wrap="square" anchor="t">
            <a:spAutoFit/>
          </a:bodyPr>
          <a:lstStyle/>
          <a:p>
            <a:pPr algn="l">
              <a:defRPr sz="1000" b="1">
                <a:solidFill>
                  <a:srgbClr val="0D1B2A"/>
                </a:solidFill>
                <a:latin typeface="Segoe UI"/>
              </a:defRPr>
            </a:pPr>
            <a:r>
              <a:t>DLP</a:t>
            </a:r>
          </a:p>
        </p:txBody>
      </p:sp>
      <p:sp>
        <p:nvSpPr>
          <p:cNvPr id="32" name="TextBox 31"/>
          <p:cNvSpPr txBox="1"/>
          <p:nvPr/>
        </p:nvSpPr>
        <p:spPr>
          <a:xfrm>
            <a:off x="3383280" y="3767328"/>
            <a:ext cx="3108960" cy="484632"/>
          </a:xfrm>
          <a:prstGeom prst="rect">
            <a:avLst/>
          </a:prstGeom>
          <a:noFill/>
        </p:spPr>
        <p:txBody>
          <a:bodyPr wrap="square" anchor="t">
            <a:spAutoFit/>
          </a:bodyPr>
          <a:lstStyle/>
          <a:p>
            <a:pPr algn="l">
              <a:defRPr sz="950" b="0">
                <a:solidFill>
                  <a:srgbClr val="2C3E50"/>
                </a:solidFill>
                <a:latin typeface="Segoe UI"/>
              </a:defRPr>
            </a:pPr>
            <a:r>
              <a:t>Detects sensitive data exfiltration patterns</a:t>
            </a:r>
          </a:p>
        </p:txBody>
      </p:sp>
      <p:sp>
        <p:nvSpPr>
          <p:cNvPr id="33" name="TextBox 32"/>
          <p:cNvSpPr txBox="1"/>
          <p:nvPr/>
        </p:nvSpPr>
        <p:spPr>
          <a:xfrm>
            <a:off x="6675120" y="3767328"/>
            <a:ext cx="4389120" cy="384721"/>
          </a:xfrm>
          <a:prstGeom prst="rect">
            <a:avLst/>
          </a:prstGeom>
          <a:noFill/>
        </p:spPr>
        <p:txBody>
          <a:bodyPr wrap="square" anchor="t">
            <a:spAutoFit/>
          </a:bodyPr>
          <a:lstStyle/>
          <a:p>
            <a:pPr algn="l">
              <a:defRPr sz="950" b="0">
                <a:solidFill>
                  <a:srgbClr val="C0392B"/>
                </a:solidFill>
                <a:latin typeface="Segoe UI"/>
              </a:defRPr>
            </a:pPr>
            <a:r>
              <a:rPr dirty="0"/>
              <a:t>Pattern-based. Slow exfil over months using </a:t>
            </a:r>
            <a:r>
              <a:rPr b="1" dirty="0"/>
              <a:t>normal-volume channels bypasses thresholds.</a:t>
            </a:r>
          </a:p>
        </p:txBody>
      </p:sp>
      <p:sp>
        <p:nvSpPr>
          <p:cNvPr id="34" name="Rounded Rectangle 33"/>
          <p:cNvSpPr/>
          <p:nvPr/>
        </p:nvSpPr>
        <p:spPr>
          <a:xfrm>
            <a:off x="1097280" y="423367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34440" y="4270248"/>
            <a:ext cx="2011680" cy="484632"/>
          </a:xfrm>
          <a:prstGeom prst="rect">
            <a:avLst/>
          </a:prstGeom>
          <a:noFill/>
        </p:spPr>
        <p:txBody>
          <a:bodyPr wrap="square" anchor="t">
            <a:spAutoFit/>
          </a:bodyPr>
          <a:lstStyle/>
          <a:p>
            <a:pPr algn="l">
              <a:defRPr sz="1000" b="1">
                <a:solidFill>
                  <a:srgbClr val="0D1B2A"/>
                </a:solidFill>
                <a:latin typeface="Segoe UI"/>
              </a:defRPr>
            </a:pPr>
            <a:r>
              <a:t>PAM / IAM</a:t>
            </a:r>
          </a:p>
        </p:txBody>
      </p:sp>
      <p:sp>
        <p:nvSpPr>
          <p:cNvPr id="36" name="TextBox 35"/>
          <p:cNvSpPr txBox="1"/>
          <p:nvPr/>
        </p:nvSpPr>
        <p:spPr>
          <a:xfrm>
            <a:off x="3383280" y="4270248"/>
            <a:ext cx="3108960" cy="484632"/>
          </a:xfrm>
          <a:prstGeom prst="rect">
            <a:avLst/>
          </a:prstGeom>
          <a:noFill/>
        </p:spPr>
        <p:txBody>
          <a:bodyPr wrap="square" anchor="t">
            <a:spAutoFit/>
          </a:bodyPr>
          <a:lstStyle/>
          <a:p>
            <a:pPr algn="l">
              <a:defRPr sz="950" b="0">
                <a:solidFill>
                  <a:srgbClr val="2C3E50"/>
                </a:solidFill>
                <a:latin typeface="Segoe UI"/>
              </a:defRPr>
            </a:pPr>
            <a:r>
              <a:t>Manages privileged access, credential vaults, MFA</a:t>
            </a:r>
          </a:p>
        </p:txBody>
      </p:sp>
      <p:sp>
        <p:nvSpPr>
          <p:cNvPr id="37" name="TextBox 36"/>
          <p:cNvSpPr txBox="1"/>
          <p:nvPr/>
        </p:nvSpPr>
        <p:spPr>
          <a:xfrm>
            <a:off x="6675120" y="4270248"/>
            <a:ext cx="4389120" cy="384721"/>
          </a:xfrm>
          <a:prstGeom prst="rect">
            <a:avLst/>
          </a:prstGeom>
          <a:noFill/>
        </p:spPr>
        <p:txBody>
          <a:bodyPr wrap="square" anchor="t">
            <a:spAutoFit/>
          </a:bodyPr>
          <a:lstStyle/>
          <a:p>
            <a:pPr algn="l">
              <a:defRPr sz="950" b="0">
                <a:solidFill>
                  <a:srgbClr val="C0392B"/>
                </a:solidFill>
                <a:latin typeface="Segoe UI"/>
              </a:defRPr>
            </a:pPr>
            <a:r>
              <a:rPr dirty="0"/>
              <a:t>Enforces policy — </a:t>
            </a:r>
            <a:r>
              <a:rPr b="1" dirty="0"/>
              <a:t>cannot detect stolen sessions used within authorized bounds.</a:t>
            </a:r>
          </a:p>
        </p:txBody>
      </p:sp>
      <p:sp>
        <p:nvSpPr>
          <p:cNvPr id="38" name="Rounded Rectangle 37"/>
          <p:cNvSpPr/>
          <p:nvPr/>
        </p:nvSpPr>
        <p:spPr>
          <a:xfrm>
            <a:off x="1097280" y="473659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34440" y="4773168"/>
            <a:ext cx="2011680" cy="484632"/>
          </a:xfrm>
          <a:prstGeom prst="rect">
            <a:avLst/>
          </a:prstGeom>
          <a:noFill/>
        </p:spPr>
        <p:txBody>
          <a:bodyPr wrap="square" anchor="t">
            <a:spAutoFit/>
          </a:bodyPr>
          <a:lstStyle/>
          <a:p>
            <a:pPr algn="l">
              <a:defRPr sz="1000" b="1">
                <a:solidFill>
                  <a:srgbClr val="0D1B2A"/>
                </a:solidFill>
                <a:latin typeface="Segoe UI"/>
              </a:defRPr>
            </a:pPr>
            <a:r>
              <a:t>Email Gateway</a:t>
            </a:r>
          </a:p>
        </p:txBody>
      </p:sp>
      <p:sp>
        <p:nvSpPr>
          <p:cNvPr id="40" name="TextBox 39"/>
          <p:cNvSpPr txBox="1"/>
          <p:nvPr/>
        </p:nvSpPr>
        <p:spPr>
          <a:xfrm>
            <a:off x="3383280" y="4773168"/>
            <a:ext cx="3108960" cy="484632"/>
          </a:xfrm>
          <a:prstGeom prst="rect">
            <a:avLst/>
          </a:prstGeom>
          <a:noFill/>
        </p:spPr>
        <p:txBody>
          <a:bodyPr wrap="square" anchor="t">
            <a:spAutoFit/>
          </a:bodyPr>
          <a:lstStyle/>
          <a:p>
            <a:pPr algn="l">
              <a:defRPr sz="950" b="0">
                <a:solidFill>
                  <a:srgbClr val="2C3E50"/>
                </a:solidFill>
                <a:latin typeface="Segoe UI"/>
              </a:defRPr>
            </a:pPr>
            <a:r>
              <a:t>Blocks phishing, malware attachments, spoofing</a:t>
            </a:r>
          </a:p>
        </p:txBody>
      </p:sp>
      <p:sp>
        <p:nvSpPr>
          <p:cNvPr id="41" name="TextBox 40"/>
          <p:cNvSpPr txBox="1"/>
          <p:nvPr/>
        </p:nvSpPr>
        <p:spPr>
          <a:xfrm>
            <a:off x="6675120" y="4773168"/>
            <a:ext cx="4389120" cy="238527"/>
          </a:xfrm>
          <a:prstGeom prst="rect">
            <a:avLst/>
          </a:prstGeom>
          <a:noFill/>
        </p:spPr>
        <p:txBody>
          <a:bodyPr wrap="square" anchor="t">
            <a:spAutoFit/>
          </a:bodyPr>
          <a:lstStyle/>
          <a:p>
            <a:pPr algn="l">
              <a:defRPr sz="950" b="0">
                <a:solidFill>
                  <a:srgbClr val="C0392B"/>
                </a:solidFill>
                <a:latin typeface="Segoe UI"/>
              </a:defRPr>
            </a:pPr>
            <a:r>
              <a:rPr b="1" dirty="0"/>
              <a:t>Volt/Salt don't rely on phishing — they exploit infrastructure directly.</a:t>
            </a:r>
          </a:p>
        </p:txBody>
      </p:sp>
      <p:sp>
        <p:nvSpPr>
          <p:cNvPr id="42" name="Rounded Rectangle 41"/>
          <p:cNvSpPr/>
          <p:nvPr/>
        </p:nvSpPr>
        <p:spPr>
          <a:xfrm>
            <a:off x="1097280" y="523951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234440" y="5276088"/>
            <a:ext cx="2011680" cy="484632"/>
          </a:xfrm>
          <a:prstGeom prst="rect">
            <a:avLst/>
          </a:prstGeom>
          <a:noFill/>
        </p:spPr>
        <p:txBody>
          <a:bodyPr wrap="square" anchor="t">
            <a:spAutoFit/>
          </a:bodyPr>
          <a:lstStyle/>
          <a:p>
            <a:pPr algn="l">
              <a:defRPr sz="1000" b="1">
                <a:solidFill>
                  <a:srgbClr val="0D1B2A"/>
                </a:solidFill>
                <a:latin typeface="Segoe UI"/>
              </a:defRPr>
            </a:pPr>
            <a:r>
              <a:t>EDR / XDR</a:t>
            </a:r>
          </a:p>
        </p:txBody>
      </p:sp>
      <p:sp>
        <p:nvSpPr>
          <p:cNvPr id="44" name="TextBox 43"/>
          <p:cNvSpPr txBox="1"/>
          <p:nvPr/>
        </p:nvSpPr>
        <p:spPr>
          <a:xfrm>
            <a:off x="3383280" y="5276088"/>
            <a:ext cx="3108960" cy="484632"/>
          </a:xfrm>
          <a:prstGeom prst="rect">
            <a:avLst/>
          </a:prstGeom>
          <a:noFill/>
        </p:spPr>
        <p:txBody>
          <a:bodyPr wrap="square" anchor="t">
            <a:spAutoFit/>
          </a:bodyPr>
          <a:lstStyle/>
          <a:p>
            <a:pPr algn="l">
              <a:defRPr sz="950" b="0">
                <a:solidFill>
                  <a:srgbClr val="2C3E50"/>
                </a:solidFill>
                <a:latin typeface="Segoe UI"/>
              </a:defRPr>
            </a:pPr>
            <a:r>
              <a:t>Monitors host processes, detects malicious behavior</a:t>
            </a:r>
          </a:p>
        </p:txBody>
      </p:sp>
      <p:sp>
        <p:nvSpPr>
          <p:cNvPr id="45" name="TextBox 44"/>
          <p:cNvSpPr txBox="1"/>
          <p:nvPr/>
        </p:nvSpPr>
        <p:spPr>
          <a:xfrm>
            <a:off x="6675120" y="5276088"/>
            <a:ext cx="4389120" cy="384721"/>
          </a:xfrm>
          <a:prstGeom prst="rect">
            <a:avLst/>
          </a:prstGeom>
          <a:noFill/>
        </p:spPr>
        <p:txBody>
          <a:bodyPr wrap="square" anchor="t">
            <a:spAutoFit/>
          </a:bodyPr>
          <a:lstStyle/>
          <a:p>
            <a:pPr algn="l">
              <a:defRPr sz="950" b="0">
                <a:solidFill>
                  <a:srgbClr val="C0392B"/>
                </a:solidFill>
                <a:latin typeface="Segoe UI"/>
              </a:defRPr>
            </a:pPr>
            <a:r>
              <a:rPr dirty="0"/>
              <a:t>Can't deploy on routers/switches. </a:t>
            </a:r>
            <a:r>
              <a:rPr b="1" dirty="0"/>
              <a:t>LOTL uses only allowlisted binaries</a:t>
            </a:r>
            <a:r>
              <a:rPr dirty="0"/>
              <a:t> — nothing triggers.</a:t>
            </a:r>
          </a:p>
        </p:txBody>
      </p:sp>
      <p:sp>
        <p:nvSpPr>
          <p:cNvPr id="46" name="Rounded Rectangle 45"/>
          <p:cNvSpPr/>
          <p:nvPr/>
        </p:nvSpPr>
        <p:spPr>
          <a:xfrm>
            <a:off x="1097280" y="574243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34440" y="5779008"/>
            <a:ext cx="2011680" cy="484632"/>
          </a:xfrm>
          <a:prstGeom prst="rect">
            <a:avLst/>
          </a:prstGeom>
          <a:noFill/>
        </p:spPr>
        <p:txBody>
          <a:bodyPr wrap="square" anchor="t">
            <a:spAutoFit/>
          </a:bodyPr>
          <a:lstStyle/>
          <a:p>
            <a:pPr algn="l">
              <a:defRPr sz="1000" b="1">
                <a:solidFill>
                  <a:srgbClr val="0D1B2A"/>
                </a:solidFill>
                <a:latin typeface="Segoe UI"/>
              </a:defRPr>
            </a:pPr>
            <a:r>
              <a:t>Vuln Scanner</a:t>
            </a:r>
          </a:p>
        </p:txBody>
      </p:sp>
      <p:sp>
        <p:nvSpPr>
          <p:cNvPr id="48" name="TextBox 47"/>
          <p:cNvSpPr txBox="1"/>
          <p:nvPr/>
        </p:nvSpPr>
        <p:spPr>
          <a:xfrm>
            <a:off x="3383280" y="5779008"/>
            <a:ext cx="3108960" cy="484632"/>
          </a:xfrm>
          <a:prstGeom prst="rect">
            <a:avLst/>
          </a:prstGeom>
          <a:noFill/>
        </p:spPr>
        <p:txBody>
          <a:bodyPr wrap="square" anchor="t">
            <a:spAutoFit/>
          </a:bodyPr>
          <a:lstStyle/>
          <a:p>
            <a:pPr algn="l">
              <a:defRPr sz="950" b="0">
                <a:solidFill>
                  <a:srgbClr val="2C3E50"/>
                </a:solidFill>
                <a:latin typeface="Segoe UI"/>
              </a:defRPr>
            </a:pPr>
            <a:r>
              <a:t>Enumerates assets and known CVEs</a:t>
            </a:r>
          </a:p>
        </p:txBody>
      </p:sp>
      <p:sp>
        <p:nvSpPr>
          <p:cNvPr id="49" name="TextBox 48"/>
          <p:cNvSpPr txBox="1"/>
          <p:nvPr/>
        </p:nvSpPr>
        <p:spPr>
          <a:xfrm>
            <a:off x="6675120" y="5779008"/>
            <a:ext cx="4389120" cy="384721"/>
          </a:xfrm>
          <a:prstGeom prst="rect">
            <a:avLst/>
          </a:prstGeom>
          <a:noFill/>
        </p:spPr>
        <p:txBody>
          <a:bodyPr wrap="square" anchor="t">
            <a:spAutoFit/>
          </a:bodyPr>
          <a:lstStyle/>
          <a:p>
            <a:pPr algn="l">
              <a:defRPr sz="950" b="0">
                <a:solidFill>
                  <a:srgbClr val="C0392B"/>
                </a:solidFill>
                <a:latin typeface="Segoe UI"/>
              </a:defRPr>
            </a:pPr>
            <a:r>
              <a:rPr b="1" dirty="0"/>
              <a:t>Sees what EXISTS, not what is REACHABLE through config.</a:t>
            </a:r>
            <a:r>
              <a:rPr dirty="0"/>
              <a:t> Sampling, not proof.</a:t>
            </a:r>
          </a:p>
        </p:txBody>
      </p:sp>
      <p:sp>
        <p:nvSpPr>
          <p:cNvPr id="50" name="Rounded Rectangle 49"/>
          <p:cNvSpPr/>
          <p:nvPr/>
        </p:nvSpPr>
        <p:spPr>
          <a:xfrm>
            <a:off x="1097280" y="6263640"/>
            <a:ext cx="10058400" cy="2286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71600" y="6272784"/>
            <a:ext cx="9601200" cy="201168"/>
          </a:xfrm>
          <a:prstGeom prst="rect">
            <a:avLst/>
          </a:prstGeom>
          <a:noFill/>
        </p:spPr>
        <p:txBody>
          <a:bodyPr wrap="square" anchor="t">
            <a:spAutoFit/>
          </a:bodyPr>
          <a:lstStyle/>
          <a:p>
            <a:pPr algn="ctr">
              <a:defRPr sz="1000" b="1">
                <a:solidFill>
                  <a:srgbClr val="0D1B2A"/>
                </a:solidFill>
                <a:latin typeface="Segoe UI"/>
              </a:defRPr>
            </a:pPr>
            <a:r>
              <a:t>The gap is structural: no device validates total configuration across ALL devices blocks every attack path.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Two-Layer Answer: Preemptive + Behavioral</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AI shrinks the attack surface mathematically. ACECARD detects what behavior remains anomalous inside it.</a:t>
            </a:r>
            <a:endParaRPr lang="en-US" sz="1300" dirty="0"/>
          </a:p>
        </p:txBody>
      </p:sp>
      <p:sp>
        <p:nvSpPr>
          <p:cNvPr id="4" name="Shape 2"/>
          <p:cNvSpPr/>
          <p:nvPr/>
        </p:nvSpPr>
        <p:spPr>
          <a:xfrm>
            <a:off x="457200" y="1371600"/>
            <a:ext cx="5394960" cy="4572000"/>
          </a:xfrm>
          <a:prstGeom prst="rect">
            <a:avLst/>
          </a:prstGeom>
          <a:solidFill>
            <a:srgbClr val="F7F8FA"/>
          </a:solidFill>
          <a:ln w="25400">
            <a:solidFill>
              <a:srgbClr val="F26B1F"/>
            </a:solidFill>
            <a:prstDash val="solid"/>
          </a:ln>
        </p:spPr>
        <p:txBody>
          <a:bodyPr/>
          <a:lstStyle/>
          <a:p>
            <a:endParaRPr lang="en-US"/>
          </a:p>
        </p:txBody>
      </p:sp>
      <p:sp>
        <p:nvSpPr>
          <p:cNvPr id="5" name="Shape 3"/>
          <p:cNvSpPr/>
          <p:nvPr/>
        </p:nvSpPr>
        <p:spPr>
          <a:xfrm>
            <a:off x="457200" y="1371600"/>
            <a:ext cx="5394960" cy="640080"/>
          </a:xfrm>
          <a:prstGeom prst="rect">
            <a:avLst/>
          </a:prstGeom>
          <a:solidFill>
            <a:srgbClr val="F26B1F"/>
          </a:solidFill>
          <a:ln/>
        </p:spPr>
        <p:txBody>
          <a:bodyPr/>
          <a:lstStyle/>
          <a:p>
            <a:endParaRPr lang="en-US"/>
          </a:p>
        </p:txBody>
      </p:sp>
      <p:sp>
        <p:nvSpPr>
          <p:cNvPr id="6" name="Text 4"/>
          <p:cNvSpPr/>
          <p:nvPr/>
        </p:nvSpPr>
        <p:spPr>
          <a:xfrm>
            <a:off x="640080" y="1417320"/>
            <a:ext cx="502920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1 — Preemptive AI</a:t>
            </a:r>
            <a:endParaRPr lang="en-US" sz="1100" dirty="0"/>
          </a:p>
        </p:txBody>
      </p:sp>
      <p:sp>
        <p:nvSpPr>
          <p:cNvPr id="7" name="Text 5"/>
          <p:cNvSpPr/>
          <p:nvPr/>
        </p:nvSpPr>
        <p:spPr>
          <a:xfrm>
            <a:off x="640080" y="1691640"/>
            <a:ext cx="50292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Mathematically Rigorous Preemptive Defense</a:t>
            </a:r>
            <a:endParaRPr lang="en-US" sz="1400" dirty="0"/>
          </a:p>
        </p:txBody>
      </p:sp>
      <p:sp>
        <p:nvSpPr>
          <p:cNvPr id="8" name="Text 6"/>
          <p:cNvSpPr/>
          <p:nvPr/>
        </p:nvSpPr>
        <p:spPr>
          <a:xfrm>
            <a:off x="6858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WHAT IT DOES</a:t>
            </a:r>
            <a:endParaRPr lang="en-US" sz="1000" dirty="0"/>
          </a:p>
        </p:txBody>
      </p:sp>
      <p:sp>
        <p:nvSpPr>
          <p:cNvPr id="9" name="Text 7"/>
          <p:cNvSpPr/>
          <p:nvPr/>
        </p:nvSpPr>
        <p:spPr>
          <a:xfrm>
            <a:off x="685800" y="2468880"/>
            <a:ext cx="502920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Builds a formal mathematical model of every NGFW, IPS, IdP, SASE, and WAF in your estate. Compares it to MITRE-enriched attack graphs for Volt + Salt Typhoon. Generates risk-prioritized remediations to close every known TTP path before exploitation.</a:t>
            </a:r>
            <a:endParaRPr lang="en-US" sz="1200" dirty="0"/>
          </a:p>
        </p:txBody>
      </p:sp>
      <p:sp>
        <p:nvSpPr>
          <p:cNvPr id="10" name="Text 8"/>
          <p:cNvSpPr/>
          <p:nvPr/>
        </p:nvSpPr>
        <p:spPr>
          <a:xfrm>
            <a:off x="6858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PROVES</a:t>
            </a:r>
            <a:endParaRPr lang="en-US" sz="1000" dirty="0"/>
          </a:p>
        </p:txBody>
      </p:sp>
      <p:sp>
        <p:nvSpPr>
          <p:cNvPr id="11" name="Text 9"/>
          <p:cNvSpPr/>
          <p:nvPr/>
        </p:nvSpPr>
        <p:spPr>
          <a:xfrm>
            <a:off x="685800" y="4206240"/>
            <a:ext cx="502920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Edge-device exploit paths are blocked</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Threat-feed C2 IPs/domains are denied across 50M+ rule combinations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Config drift from approved baseline is caught</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Critical segmentation intent holds end-to-end</a:t>
            </a:r>
            <a:endParaRPr lang="en-US" sz="1150" dirty="0"/>
          </a:p>
        </p:txBody>
      </p:sp>
      <p:sp>
        <p:nvSpPr>
          <p:cNvPr id="12" name="Shape 10"/>
          <p:cNvSpPr/>
          <p:nvPr/>
        </p:nvSpPr>
        <p:spPr>
          <a:xfrm rot="13370324">
            <a:off x="5866768" y="3520439"/>
            <a:ext cx="365760" cy="365760"/>
          </a:xfrm>
          <a:prstGeom prst="rtTriangle">
            <a:avLst/>
          </a:prstGeom>
          <a:solidFill>
            <a:srgbClr val="0B1F3A"/>
          </a:solidFill>
          <a:ln/>
        </p:spPr>
        <p:txBody>
          <a:bodyPr/>
          <a:lstStyle/>
          <a:p>
            <a:endParaRPr lang="en-US"/>
          </a:p>
        </p:txBody>
      </p:sp>
      <p:sp>
        <p:nvSpPr>
          <p:cNvPr id="13" name="Shape 11"/>
          <p:cNvSpPr/>
          <p:nvPr/>
        </p:nvSpPr>
        <p:spPr>
          <a:xfrm>
            <a:off x="6400800" y="1371600"/>
            <a:ext cx="5303520" cy="4572000"/>
          </a:xfrm>
          <a:prstGeom prst="rect">
            <a:avLst/>
          </a:prstGeom>
          <a:solidFill>
            <a:srgbClr val="F7F8FA"/>
          </a:solidFill>
          <a:ln w="25400">
            <a:solidFill>
              <a:srgbClr val="0891B2"/>
            </a:solidFill>
            <a:prstDash val="solid"/>
          </a:ln>
        </p:spPr>
        <p:txBody>
          <a:bodyPr/>
          <a:lstStyle/>
          <a:p>
            <a:endParaRPr lang="en-US"/>
          </a:p>
        </p:txBody>
      </p:sp>
      <p:sp>
        <p:nvSpPr>
          <p:cNvPr id="14" name="Shape 12"/>
          <p:cNvSpPr/>
          <p:nvPr/>
        </p:nvSpPr>
        <p:spPr>
          <a:xfrm>
            <a:off x="6400800" y="1371600"/>
            <a:ext cx="5303520" cy="640080"/>
          </a:xfrm>
          <a:prstGeom prst="rect">
            <a:avLst/>
          </a:prstGeom>
          <a:solidFill>
            <a:srgbClr val="0891B2"/>
          </a:solidFill>
          <a:ln/>
        </p:spPr>
        <p:txBody>
          <a:bodyPr/>
          <a:lstStyle/>
          <a:p>
            <a:endParaRPr lang="en-US"/>
          </a:p>
        </p:txBody>
      </p:sp>
      <p:sp>
        <p:nvSpPr>
          <p:cNvPr id="15" name="Text 13"/>
          <p:cNvSpPr/>
          <p:nvPr/>
        </p:nvSpPr>
        <p:spPr>
          <a:xfrm>
            <a:off x="6583680" y="1417320"/>
            <a:ext cx="493776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2 — ACECARD UEBA</a:t>
            </a:r>
            <a:endParaRPr lang="en-US" sz="1100" dirty="0"/>
          </a:p>
        </p:txBody>
      </p:sp>
      <p:sp>
        <p:nvSpPr>
          <p:cNvPr id="16" name="Text 14"/>
          <p:cNvSpPr/>
          <p:nvPr/>
        </p:nvSpPr>
        <p:spPr>
          <a:xfrm>
            <a:off x="6583680" y="1691640"/>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Trajectory Intelligence</a:t>
            </a:r>
            <a:endParaRPr lang="en-US" sz="1400" dirty="0"/>
          </a:p>
        </p:txBody>
      </p:sp>
      <p:sp>
        <p:nvSpPr>
          <p:cNvPr id="17" name="Text 15"/>
          <p:cNvSpPr/>
          <p:nvPr/>
        </p:nvSpPr>
        <p:spPr>
          <a:xfrm>
            <a:off x="66294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WHAT IT DOES</a:t>
            </a:r>
            <a:endParaRPr lang="en-US" sz="1000" dirty="0"/>
          </a:p>
        </p:txBody>
      </p:sp>
      <p:sp>
        <p:nvSpPr>
          <p:cNvPr id="18" name="Text 16"/>
          <p:cNvSpPr/>
          <p:nvPr/>
        </p:nvSpPr>
        <p:spPr>
          <a:xfrm>
            <a:off x="6629400" y="2468880"/>
            <a:ext cx="493776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Encodes every entity into mathematical behavioral model per hour. Computes changes, drift, velocity, acceleration, and CUSUM change-points. Projects the drift vector onto 8 MITRE-mapped threat concepts to produce a directional, explainable hypothesis.</a:t>
            </a:r>
            <a:endParaRPr lang="en-US" sz="1200" dirty="0"/>
          </a:p>
        </p:txBody>
      </p:sp>
      <p:sp>
        <p:nvSpPr>
          <p:cNvPr id="19" name="Text 17"/>
          <p:cNvSpPr/>
          <p:nvPr/>
        </p:nvSpPr>
        <p:spPr>
          <a:xfrm>
            <a:off x="66294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CATCHES</a:t>
            </a:r>
            <a:endParaRPr lang="en-US" sz="1000" dirty="0"/>
          </a:p>
        </p:txBody>
      </p:sp>
      <p:sp>
        <p:nvSpPr>
          <p:cNvPr id="20" name="Text 18"/>
          <p:cNvSpPr/>
          <p:nvPr/>
        </p:nvSpPr>
        <p:spPr>
          <a:xfrm>
            <a:off x="6629400" y="4206240"/>
            <a:ext cx="493776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tradecraft (no threshold breach)</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Cross-domain attack chains (AD → AAD → AWS → K8s)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Compromised valid accounts (drift in shape, not volume)</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Zero-days and unknown TTPs (no MITRE mapping yet)</a:t>
            </a:r>
            <a:endParaRPr lang="en-US" sz="1150" dirty="0"/>
          </a:p>
        </p:txBody>
      </p:sp>
      <p:sp>
        <p:nvSpPr>
          <p:cNvPr id="21" name="Shape 19"/>
          <p:cNvSpPr/>
          <p:nvPr/>
        </p:nvSpPr>
        <p:spPr>
          <a:xfrm>
            <a:off x="457200" y="6126480"/>
            <a:ext cx="11247120" cy="502920"/>
          </a:xfrm>
          <a:prstGeom prst="rect">
            <a:avLst/>
          </a:prstGeom>
          <a:solidFill>
            <a:srgbClr val="0B1F3A"/>
          </a:solidFill>
          <a:ln/>
        </p:spPr>
        <p:txBody>
          <a:bodyPr/>
          <a:lstStyle/>
          <a:p>
            <a:endParaRPr lang="en-US"/>
          </a:p>
        </p:txBody>
      </p:sp>
      <p:sp>
        <p:nvSpPr>
          <p:cNvPr id="22" name="Text 20"/>
          <p:cNvSpPr/>
          <p:nvPr/>
        </p:nvSpPr>
        <p:spPr>
          <a:xfrm>
            <a:off x="640080" y="6126480"/>
            <a:ext cx="10972800" cy="50292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Together: every Volt/Salt TTP is either blocked at the config layer (Rigor) or surfaced as directional drift inside the verified perimeter (ACECARD).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Our Solution: Two Layers of DODIN Defense</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7707" y="820281"/>
            <a:ext cx="9601200" cy="320040"/>
          </a:xfrm>
          <a:prstGeom prst="rect">
            <a:avLst/>
          </a:prstGeom>
          <a:noFill/>
        </p:spPr>
        <p:txBody>
          <a:bodyPr wrap="square" anchor="t">
            <a:spAutoFit/>
          </a:bodyPr>
          <a:lstStyle/>
          <a:p>
            <a:pPr algn="l">
              <a:defRPr sz="1200" b="0">
                <a:solidFill>
                  <a:srgbClr val="1B4F72"/>
                </a:solidFill>
                <a:latin typeface="Segoe UI"/>
              </a:defRPr>
            </a:pPr>
            <a:r>
              <a:rPr dirty="0"/>
              <a:t>Formal proof, not sampling. 80% eliminated at network layer. Behavioral catches 15-18% that passes through.</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5</a:t>
            </a:r>
          </a:p>
        </p:txBody>
      </p:sp>
      <p:sp>
        <p:nvSpPr>
          <p:cNvPr id="8" name="Rectangle 7"/>
          <p:cNvSpPr/>
          <p:nvPr/>
        </p:nvSpPr>
        <p:spPr>
          <a:xfrm>
            <a:off x="1097280" y="1199790"/>
            <a:ext cx="10058400" cy="2274930"/>
          </a:xfrm>
          <a:prstGeom prst="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199790"/>
            <a:ext cx="10058400" cy="41148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1245510"/>
            <a:ext cx="4572000" cy="320040"/>
          </a:xfrm>
          <a:prstGeom prst="rect">
            <a:avLst/>
          </a:prstGeom>
          <a:noFill/>
        </p:spPr>
        <p:txBody>
          <a:bodyPr wrap="square" anchor="t">
            <a:spAutoFit/>
          </a:bodyPr>
          <a:lstStyle/>
          <a:p>
            <a:pPr algn="l">
              <a:defRPr sz="1200" b="1">
                <a:solidFill>
                  <a:srgbClr val="FFFFFF"/>
                </a:solidFill>
                <a:latin typeface="Segoe UI"/>
              </a:defRPr>
            </a:pPr>
            <a:r>
              <a:t>LAYER 1 — PREEMPTIVE VERIFICATION</a:t>
            </a:r>
          </a:p>
        </p:txBody>
      </p:sp>
      <p:sp>
        <p:nvSpPr>
          <p:cNvPr id="11" name="Rectangle 10"/>
          <p:cNvSpPr/>
          <p:nvPr/>
        </p:nvSpPr>
        <p:spPr>
          <a:xfrm>
            <a:off x="8686800" y="1245510"/>
            <a:ext cx="2286000"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32520" y="1263798"/>
            <a:ext cx="2194560" cy="274320"/>
          </a:xfrm>
          <a:prstGeom prst="rect">
            <a:avLst/>
          </a:prstGeom>
          <a:noFill/>
        </p:spPr>
        <p:txBody>
          <a:bodyPr wrap="square" anchor="t">
            <a:spAutoFit/>
          </a:bodyPr>
          <a:lstStyle/>
          <a:p>
            <a:pPr algn="ctr">
              <a:defRPr sz="1000" b="1">
                <a:solidFill>
                  <a:srgbClr val="FFFFFF"/>
                </a:solidFill>
                <a:latin typeface="Segoe UI"/>
              </a:defRPr>
            </a:pPr>
            <a:r>
              <a:t>80% STOPPED HERE</a:t>
            </a:r>
          </a:p>
        </p:txBody>
      </p:sp>
      <p:sp>
        <p:nvSpPr>
          <p:cNvPr id="13" name="TextBox 12"/>
          <p:cNvSpPr txBox="1"/>
          <p:nvPr/>
        </p:nvSpPr>
        <p:spPr>
          <a:xfrm>
            <a:off x="1371600" y="1605911"/>
            <a:ext cx="4572000" cy="1923604"/>
          </a:xfrm>
          <a:prstGeom prst="rect">
            <a:avLst/>
          </a:prstGeom>
          <a:noFill/>
        </p:spPr>
        <p:txBody>
          <a:bodyPr wrap="square" anchor="t">
            <a:spAutoFit/>
          </a:bodyPr>
          <a:lstStyle/>
          <a:p>
            <a:pPr algn="l">
              <a:defRPr sz="1200" b="1">
                <a:solidFill>
                  <a:srgbClr val="2C3E50"/>
                </a:solidFill>
                <a:latin typeface="Segoe UI"/>
              </a:defRPr>
            </a:pPr>
            <a:r>
              <a:rPr dirty="0"/>
              <a:t>Provable Computing: Formal Mathematical Model that</a:t>
            </a:r>
          </a:p>
          <a:p>
            <a:pPr>
              <a:spcBef>
                <a:spcPts val="800"/>
              </a:spcBef>
              <a:defRPr sz="1200" b="0">
                <a:solidFill>
                  <a:srgbClr val="2C3E50"/>
                </a:solidFill>
                <a:latin typeface="Segoe UI"/>
              </a:defRPr>
            </a:pPr>
            <a:r>
              <a:rPr dirty="0"/>
              <a:t>reasons exhaustively over the entire DODIN config space.</a:t>
            </a:r>
          </a:p>
          <a:p>
            <a:pPr>
              <a:spcBef>
                <a:spcPts val="800"/>
              </a:spcBef>
              <a:defRPr sz="1100" b="0">
                <a:solidFill>
                  <a:srgbClr val="2C3E50"/>
                </a:solidFill>
                <a:latin typeface="Segoe UI"/>
              </a:defRPr>
            </a:pPr>
            <a:r>
              <a:rPr dirty="0"/>
              <a:t>•  Ingests all threat intel continuously (MITRE attack graphs)</a:t>
            </a:r>
          </a:p>
          <a:p>
            <a:pPr>
              <a:spcBef>
                <a:spcPts val="800"/>
              </a:spcBef>
              <a:defRPr sz="1100" b="0">
                <a:solidFill>
                  <a:srgbClr val="2C3E50"/>
                </a:solidFill>
                <a:latin typeface="Segoe UI"/>
              </a:defRPr>
            </a:pPr>
            <a:r>
              <a:rPr dirty="0"/>
              <a:t>•  Models every defensive control formally</a:t>
            </a:r>
          </a:p>
          <a:p>
            <a:pPr>
              <a:spcBef>
                <a:spcPts val="800"/>
              </a:spcBef>
              <a:defRPr sz="1100" b="0">
                <a:solidFill>
                  <a:srgbClr val="2C3E50"/>
                </a:solidFill>
                <a:latin typeface="Segoe UI"/>
              </a:defRPr>
            </a:pPr>
            <a:r>
              <a:rPr dirty="0"/>
              <a:t>•  Proves whether ALL attack paths are blocked</a:t>
            </a:r>
          </a:p>
          <a:p>
            <a:pPr>
              <a:spcBef>
                <a:spcPts val="800"/>
              </a:spcBef>
              <a:defRPr sz="1100" b="0">
                <a:solidFill>
                  <a:srgbClr val="2C3E50"/>
                </a:solidFill>
                <a:latin typeface="Segoe UI"/>
              </a:defRPr>
            </a:pPr>
            <a:r>
              <a:rPr dirty="0"/>
              <a:t>•  Prescribes vendor-specific remediations</a:t>
            </a:r>
          </a:p>
          <a:p>
            <a:pPr>
              <a:spcBef>
                <a:spcPts val="800"/>
              </a:spcBef>
              <a:defRPr sz="1100" b="0">
                <a:solidFill>
                  <a:srgbClr val="2C3E50"/>
                </a:solidFill>
                <a:latin typeface="Segoe UI"/>
              </a:defRPr>
            </a:pPr>
            <a:r>
              <a:rPr dirty="0"/>
              <a:t>•  Re-verifies hourly + on every config change</a:t>
            </a:r>
          </a:p>
        </p:txBody>
      </p:sp>
      <p:sp>
        <p:nvSpPr>
          <p:cNvPr id="14" name="TextBox 13"/>
          <p:cNvSpPr txBox="1"/>
          <p:nvPr/>
        </p:nvSpPr>
        <p:spPr>
          <a:xfrm>
            <a:off x="6400800" y="1748430"/>
            <a:ext cx="4572000" cy="1620957"/>
          </a:xfrm>
          <a:prstGeom prst="rect">
            <a:avLst/>
          </a:prstGeom>
          <a:noFill/>
        </p:spPr>
        <p:txBody>
          <a:bodyPr wrap="square" anchor="t">
            <a:spAutoFit/>
          </a:bodyPr>
          <a:lstStyle/>
          <a:p>
            <a:pPr algn="l">
              <a:defRPr sz="1200" b="1">
                <a:solidFill>
                  <a:srgbClr val="1B4F72"/>
                </a:solidFill>
                <a:latin typeface="Segoe UI"/>
              </a:defRPr>
            </a:pPr>
            <a:r>
              <a:rPr dirty="0"/>
              <a:t>What it stops:</a:t>
            </a:r>
          </a:p>
          <a:p>
            <a:pPr>
              <a:spcBef>
                <a:spcPts val="800"/>
              </a:spcBef>
              <a:defRPr sz="1100" b="0">
                <a:solidFill>
                  <a:srgbClr val="2C3E50"/>
                </a:solidFill>
                <a:latin typeface="Segoe UI"/>
              </a:defRPr>
            </a:pPr>
            <a:r>
              <a:rPr dirty="0"/>
              <a:t>•  CVE exploits: proves IPS/threat-feed blocks every exploit path</a:t>
            </a:r>
          </a:p>
          <a:p>
            <a:pPr>
              <a:spcBef>
                <a:spcPts val="800"/>
              </a:spcBef>
              <a:defRPr sz="1100" b="0">
                <a:solidFill>
                  <a:srgbClr val="2C3E50"/>
                </a:solidFill>
                <a:latin typeface="Segoe UI"/>
              </a:defRPr>
            </a:pPr>
            <a:r>
              <a:rPr dirty="0"/>
              <a:t>•  C2 traffic: 50M+ rule combinations verified</a:t>
            </a:r>
          </a:p>
          <a:p>
            <a:pPr>
              <a:spcBef>
                <a:spcPts val="800"/>
              </a:spcBef>
              <a:defRPr sz="1100" b="0">
                <a:solidFill>
                  <a:srgbClr val="2C3E50"/>
                </a:solidFill>
                <a:latin typeface="Segoe UI"/>
              </a:defRPr>
            </a:pPr>
            <a:r>
              <a:rPr dirty="0"/>
              <a:t>•  Config drift: unauthorized changes caught within 1 hour</a:t>
            </a:r>
          </a:p>
          <a:p>
            <a:pPr>
              <a:spcBef>
                <a:spcPts val="800"/>
              </a:spcBef>
              <a:defRPr sz="1100" b="0">
                <a:solidFill>
                  <a:srgbClr val="2C3E50"/>
                </a:solidFill>
                <a:latin typeface="Segoe UI"/>
              </a:defRPr>
            </a:pPr>
            <a:r>
              <a:rPr dirty="0"/>
              <a:t>•  Shadow rules, conflicts, weak inspection profiles</a:t>
            </a:r>
          </a:p>
          <a:p>
            <a:pPr>
              <a:spcBef>
                <a:spcPts val="800"/>
              </a:spcBef>
              <a:defRPr sz="1000" b="1">
                <a:solidFill>
                  <a:srgbClr val="1B4F72"/>
                </a:solidFill>
                <a:latin typeface="Segoe UI"/>
              </a:defRPr>
            </a:pPr>
            <a:r>
              <a:rPr dirty="0"/>
              <a:t>Soundness within model scope. Zero F</a:t>
            </a:r>
            <a:r>
              <a:rPr lang="en-US" dirty="0"/>
              <a:t>alse </a:t>
            </a:r>
            <a:r>
              <a:rPr dirty="0"/>
              <a:t>P</a:t>
            </a:r>
            <a:r>
              <a:rPr lang="en-US" dirty="0"/>
              <a:t>ositive</a:t>
            </a:r>
            <a:r>
              <a:rPr dirty="0"/>
              <a:t>. Zero F</a:t>
            </a:r>
            <a:r>
              <a:rPr lang="en-US" dirty="0"/>
              <a:t>alse </a:t>
            </a:r>
            <a:r>
              <a:rPr dirty="0"/>
              <a:t>N</a:t>
            </a:r>
            <a:r>
              <a:rPr lang="en-US" dirty="0"/>
              <a:t>egative</a:t>
            </a:r>
            <a:r>
              <a:rPr dirty="0"/>
              <a:t>.</a:t>
            </a:r>
          </a:p>
        </p:txBody>
      </p:sp>
      <p:sp>
        <p:nvSpPr>
          <p:cNvPr id="15" name="TextBox 14"/>
          <p:cNvSpPr txBox="1"/>
          <p:nvPr/>
        </p:nvSpPr>
        <p:spPr>
          <a:xfrm>
            <a:off x="5029200" y="3520440"/>
            <a:ext cx="2286000" cy="274320"/>
          </a:xfrm>
          <a:prstGeom prst="rect">
            <a:avLst/>
          </a:prstGeom>
          <a:noFill/>
        </p:spPr>
        <p:txBody>
          <a:bodyPr wrap="square" anchor="t">
            <a:spAutoFit/>
          </a:bodyPr>
          <a:lstStyle/>
          <a:p>
            <a:pPr algn="ctr">
              <a:defRPr sz="1000" b="0">
                <a:solidFill>
                  <a:srgbClr val="6C757D"/>
                </a:solidFill>
                <a:latin typeface="Segoe UI"/>
              </a:defRPr>
            </a:pPr>
            <a:r>
              <a:t>▼  20% passes through  ▼</a:t>
            </a:r>
          </a:p>
        </p:txBody>
      </p:sp>
      <p:sp>
        <p:nvSpPr>
          <p:cNvPr id="16" name="Rectangle 15"/>
          <p:cNvSpPr/>
          <p:nvPr/>
        </p:nvSpPr>
        <p:spPr>
          <a:xfrm>
            <a:off x="1828800" y="3794760"/>
            <a:ext cx="8595360" cy="2432304"/>
          </a:xfrm>
          <a:prstGeom prst="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0" y="3794760"/>
            <a:ext cx="8595360" cy="41148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03120" y="3840480"/>
            <a:ext cx="4572000" cy="320040"/>
          </a:xfrm>
          <a:prstGeom prst="rect">
            <a:avLst/>
          </a:prstGeom>
          <a:noFill/>
        </p:spPr>
        <p:txBody>
          <a:bodyPr wrap="square" anchor="t">
            <a:spAutoFit/>
          </a:bodyPr>
          <a:lstStyle/>
          <a:p>
            <a:pPr algn="l">
              <a:defRPr sz="1200" b="1">
                <a:solidFill>
                  <a:srgbClr val="FFFFFF"/>
                </a:solidFill>
                <a:latin typeface="Segoe UI"/>
              </a:defRPr>
            </a:pPr>
            <a:r>
              <a:t>LAYER 2 — BEHAVIORAL INTELLIGENCE (ACECARD)</a:t>
            </a:r>
          </a:p>
        </p:txBody>
      </p:sp>
      <p:sp>
        <p:nvSpPr>
          <p:cNvPr id="19" name="Rectangle 18"/>
          <p:cNvSpPr/>
          <p:nvPr/>
        </p:nvSpPr>
        <p:spPr>
          <a:xfrm>
            <a:off x="8229600" y="3840480"/>
            <a:ext cx="2011680"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3858768"/>
            <a:ext cx="1920240" cy="274320"/>
          </a:xfrm>
          <a:prstGeom prst="rect">
            <a:avLst/>
          </a:prstGeom>
          <a:noFill/>
        </p:spPr>
        <p:txBody>
          <a:bodyPr wrap="square" anchor="t">
            <a:spAutoFit/>
          </a:bodyPr>
          <a:lstStyle/>
          <a:p>
            <a:pPr algn="ctr">
              <a:defRPr sz="1000" b="1">
                <a:solidFill>
                  <a:srgbClr val="FFFFFF"/>
                </a:solidFill>
                <a:latin typeface="Segoe UI"/>
              </a:defRPr>
            </a:pPr>
            <a:r>
              <a:t>15-18% DETECTED</a:t>
            </a:r>
          </a:p>
        </p:txBody>
      </p:sp>
      <p:sp>
        <p:nvSpPr>
          <p:cNvPr id="21" name="TextBox 20"/>
          <p:cNvSpPr txBox="1"/>
          <p:nvPr/>
        </p:nvSpPr>
        <p:spPr>
          <a:xfrm>
            <a:off x="2103120" y="4343400"/>
            <a:ext cx="4114800" cy="1371600"/>
          </a:xfrm>
          <a:prstGeom prst="rect">
            <a:avLst/>
          </a:prstGeom>
          <a:noFill/>
        </p:spPr>
        <p:txBody>
          <a:bodyPr wrap="square" anchor="t">
            <a:spAutoFit/>
          </a:bodyPr>
          <a:lstStyle/>
          <a:p>
            <a:pPr algn="l">
              <a:defRPr sz="1200" b="1">
                <a:solidFill>
                  <a:srgbClr val="2C3E50"/>
                </a:solidFill>
                <a:latin typeface="Segoe UI"/>
              </a:defRPr>
            </a:pPr>
            <a:r>
              <a:t>Digital Twin of each entity instance with</a:t>
            </a:r>
          </a:p>
          <a:p>
            <a:pPr>
              <a:spcBef>
                <a:spcPts val="800"/>
              </a:spcBef>
              <a:defRPr sz="1200" b="0">
                <a:solidFill>
                  <a:srgbClr val="2C3E50"/>
                </a:solidFill>
                <a:latin typeface="Segoe UI"/>
              </a:defRPr>
            </a:pPr>
            <a:r>
              <a:t>time dimension — behavioral evolution captured.</a:t>
            </a:r>
          </a:p>
          <a:p>
            <a:pPr>
              <a:spcBef>
                <a:spcPts val="800"/>
              </a:spcBef>
              <a:defRPr sz="600" b="0">
                <a:solidFill>
                  <a:srgbClr val="2C3E50"/>
                </a:solidFill>
                <a:latin typeface="Segoe UI"/>
              </a:defRPr>
            </a:pPr>
            <a:endParaRPr/>
          </a:p>
          <a:p>
            <a:pPr>
              <a:spcBef>
                <a:spcPts val="800"/>
              </a:spcBef>
              <a:defRPr sz="1100" b="0">
                <a:solidFill>
                  <a:srgbClr val="2C3E50"/>
                </a:solidFill>
                <a:latin typeface="Segoe UI"/>
              </a:defRPr>
            </a:pPr>
            <a:r>
              <a:t>•  Multi-signal behavioral profiling per entity</a:t>
            </a:r>
          </a:p>
          <a:p>
            <a:pPr>
              <a:spcBef>
                <a:spcPts val="800"/>
              </a:spcBef>
              <a:defRPr sz="1100" b="0">
                <a:solidFill>
                  <a:srgbClr val="2C3E50"/>
                </a:solidFill>
                <a:latin typeface="Segoe UI"/>
              </a:defRPr>
            </a:pPr>
            <a:r>
              <a:t>•  Advanced change-point detection (sub-threshold)</a:t>
            </a:r>
          </a:p>
          <a:p>
            <a:pPr>
              <a:spcBef>
                <a:spcPts val="800"/>
              </a:spcBef>
              <a:defRPr sz="1100" b="0">
                <a:solidFill>
                  <a:srgbClr val="2C3E50"/>
                </a:solidFill>
                <a:latin typeface="Segoe UI"/>
              </a:defRPr>
            </a:pPr>
            <a:r>
              <a:t>•  Drift direction mapped to MITRE ATT&amp;CK</a:t>
            </a:r>
          </a:p>
          <a:p>
            <a:pPr>
              <a:spcBef>
                <a:spcPts val="800"/>
              </a:spcBef>
              <a:defRPr sz="1100" b="0">
                <a:solidFill>
                  <a:srgbClr val="2C3E50"/>
                </a:solidFill>
                <a:latin typeface="Segoe UI"/>
              </a:defRPr>
            </a:pPr>
            <a:r>
              <a:t>•  Cross-system entity fusion (10+ identity sources)</a:t>
            </a:r>
          </a:p>
        </p:txBody>
      </p:sp>
      <p:sp>
        <p:nvSpPr>
          <p:cNvPr id="22" name="TextBox 21"/>
          <p:cNvSpPr txBox="1"/>
          <p:nvPr/>
        </p:nvSpPr>
        <p:spPr>
          <a:xfrm>
            <a:off x="6400800" y="4343400"/>
            <a:ext cx="4114800" cy="1815882"/>
          </a:xfrm>
          <a:prstGeom prst="rect">
            <a:avLst/>
          </a:prstGeom>
          <a:noFill/>
        </p:spPr>
        <p:txBody>
          <a:bodyPr wrap="square" anchor="t">
            <a:spAutoFit/>
          </a:bodyPr>
          <a:lstStyle/>
          <a:p>
            <a:pPr algn="l">
              <a:defRPr sz="1200" b="1">
                <a:solidFill>
                  <a:srgbClr val="0E6B8A"/>
                </a:solidFill>
                <a:latin typeface="Segoe UI"/>
              </a:defRPr>
            </a:pPr>
            <a:r>
              <a:rPr dirty="0"/>
              <a:t>What it catches:</a:t>
            </a:r>
          </a:p>
          <a:p>
            <a:pPr>
              <a:spcBef>
                <a:spcPts val="800"/>
              </a:spcBef>
              <a:defRPr sz="1100" b="0">
                <a:solidFill>
                  <a:srgbClr val="2C3E50"/>
                </a:solidFill>
                <a:latin typeface="Segoe UI"/>
              </a:defRPr>
            </a:pPr>
            <a:r>
              <a:rPr dirty="0"/>
              <a:t>•  Compromised </a:t>
            </a:r>
            <a:r>
              <a:rPr b="1" dirty="0"/>
              <a:t>valid credentials (behaviorally abnormal)</a:t>
            </a:r>
          </a:p>
          <a:p>
            <a:pPr>
              <a:spcBef>
                <a:spcPts val="800"/>
              </a:spcBef>
              <a:defRPr sz="1100" b="0">
                <a:solidFill>
                  <a:srgbClr val="2C3E50"/>
                </a:solidFill>
                <a:latin typeface="Segoe UI"/>
              </a:defRPr>
            </a:pPr>
            <a:r>
              <a:rPr dirty="0"/>
              <a:t>•  LOTL: legit binaries in malicious combinations</a:t>
            </a:r>
          </a:p>
          <a:p>
            <a:pPr>
              <a:spcBef>
                <a:spcPts val="800"/>
              </a:spcBef>
              <a:defRPr sz="1100" b="0">
                <a:solidFill>
                  <a:srgbClr val="2C3E50"/>
                </a:solidFill>
                <a:latin typeface="Segoe UI"/>
              </a:defRPr>
            </a:pPr>
            <a:r>
              <a:rPr dirty="0"/>
              <a:t>•  Zero-day post-exploitation (</a:t>
            </a:r>
            <a:r>
              <a:rPr b="1" dirty="0"/>
              <a:t>drift with no signature</a:t>
            </a:r>
            <a:r>
              <a:rPr dirty="0"/>
              <a:t>)</a:t>
            </a:r>
          </a:p>
          <a:p>
            <a:pPr>
              <a:spcBef>
                <a:spcPts val="800"/>
              </a:spcBef>
              <a:defRPr sz="1100" b="0">
                <a:solidFill>
                  <a:srgbClr val="2C3E50"/>
                </a:solidFill>
                <a:latin typeface="Segoe UI"/>
              </a:defRPr>
            </a:pPr>
            <a:r>
              <a:rPr dirty="0"/>
              <a:t>•  Slow lateral movement (</a:t>
            </a:r>
            <a:r>
              <a:rPr b="1" dirty="0"/>
              <a:t>sub-threshold accumulation</a:t>
            </a:r>
            <a:r>
              <a:rPr dirty="0"/>
              <a:t>)</a:t>
            </a:r>
          </a:p>
          <a:p>
            <a:pPr>
              <a:spcBef>
                <a:spcPts val="800"/>
              </a:spcBef>
              <a:defRPr sz="600" b="0">
                <a:solidFill>
                  <a:srgbClr val="2C3E50"/>
                </a:solidFill>
                <a:latin typeface="Segoe UI"/>
              </a:defRPr>
            </a:pPr>
            <a:endParaRPr dirty="0"/>
          </a:p>
          <a:p>
            <a:pPr>
              <a:spcBef>
                <a:spcPts val="800"/>
              </a:spcBef>
              <a:defRPr sz="1000" b="1">
                <a:solidFill>
                  <a:srgbClr val="0E6B8A"/>
                </a:solidFill>
                <a:latin typeface="Segoe UI"/>
              </a:defRPr>
            </a:pPr>
            <a:r>
              <a:rPr dirty="0"/>
              <a:t>DETECTS: what no threshold system can see.</a:t>
            </a:r>
          </a:p>
        </p:txBody>
      </p:sp>
      <p:sp>
        <p:nvSpPr>
          <p:cNvPr id="23" name="Rounded Rectangle 22"/>
          <p:cNvSpPr/>
          <p:nvPr/>
        </p:nvSpPr>
        <p:spPr>
          <a:xfrm>
            <a:off x="1161163" y="6254496"/>
            <a:ext cx="10058400" cy="32004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17320" y="6254496"/>
            <a:ext cx="9601200" cy="274320"/>
          </a:xfrm>
          <a:prstGeom prst="rect">
            <a:avLst/>
          </a:prstGeom>
          <a:noFill/>
        </p:spPr>
        <p:txBody>
          <a:bodyPr wrap="square" anchor="t">
            <a:spAutoFit/>
          </a:bodyPr>
          <a:lstStyle/>
          <a:p>
            <a:pPr algn="ctr">
              <a:defRPr sz="1100" b="1">
                <a:solidFill>
                  <a:srgbClr val="0D1B2A"/>
                </a:solidFill>
                <a:latin typeface="Segoe UI"/>
              </a:defRPr>
            </a:pPr>
            <a:r>
              <a:t>Combined: 95-98% coverage.  2-5% residual risk.  Dwell time: years → hours.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79" y="320040"/>
            <a:ext cx="10581815" cy="461665"/>
          </a:xfrm>
          <a:prstGeom prst="rect">
            <a:avLst/>
          </a:prstGeom>
          <a:noFill/>
        </p:spPr>
        <p:txBody>
          <a:bodyPr wrap="square" anchor="t">
            <a:spAutoFit/>
          </a:bodyPr>
          <a:lstStyle/>
          <a:p>
            <a:pPr algn="l">
              <a:defRPr sz="2400" b="1">
                <a:solidFill>
                  <a:srgbClr val="0D1B2A"/>
                </a:solidFill>
                <a:latin typeface="Georgia"/>
              </a:defRPr>
            </a:pPr>
            <a:r>
              <a:rPr dirty="0"/>
              <a:t>Preemptive Layer: Three Intelligences (Provable Computing)</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Attack Intelligence → Defense Intelligence → Remediation Intelligence. Continuous closed loop.</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6</a:t>
            </a:r>
          </a:p>
        </p:txBody>
      </p:sp>
      <p:sp>
        <p:nvSpPr>
          <p:cNvPr id="8" name="Rounded Rectangle 7"/>
          <p:cNvSpPr/>
          <p:nvPr/>
        </p:nvSpPr>
        <p:spPr>
          <a:xfrm>
            <a:off x="1097280" y="1463040"/>
            <a:ext cx="3108960" cy="4114800"/>
          </a:xfrm>
          <a:prstGeom prst="roundRect">
            <a:avLst/>
          </a:prstGeom>
          <a:solidFill>
            <a:srgbClr val="FDEDEC"/>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463040"/>
            <a:ext cx="310896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1536192"/>
            <a:ext cx="2743200" cy="276999"/>
          </a:xfrm>
          <a:prstGeom prst="rect">
            <a:avLst/>
          </a:prstGeom>
          <a:noFill/>
        </p:spPr>
        <p:txBody>
          <a:bodyPr wrap="square" anchor="t">
            <a:spAutoFit/>
          </a:bodyPr>
          <a:lstStyle/>
          <a:p>
            <a:pPr algn="l">
              <a:defRPr sz="1200" b="1">
                <a:solidFill>
                  <a:srgbClr val="FFFFFF"/>
                </a:solidFill>
                <a:latin typeface="Segoe UI"/>
              </a:defRPr>
            </a:pPr>
            <a:r>
              <a:rPr dirty="0"/>
              <a:t>  ATTACK INTELLIGENCE</a:t>
            </a:r>
            <a:r>
              <a:rPr lang="en-US" dirty="0"/>
              <a:t> – AI/LLM</a:t>
            </a:r>
            <a:endParaRPr dirty="0"/>
          </a:p>
        </p:txBody>
      </p:sp>
      <p:sp>
        <p:nvSpPr>
          <p:cNvPr id="11" name="TextBox 10"/>
          <p:cNvSpPr txBox="1"/>
          <p:nvPr/>
        </p:nvSpPr>
        <p:spPr>
          <a:xfrm>
            <a:off x="1325880" y="2057400"/>
            <a:ext cx="2651760" cy="3383280"/>
          </a:xfrm>
          <a:prstGeom prst="rect">
            <a:avLst/>
          </a:prstGeom>
          <a:noFill/>
        </p:spPr>
        <p:txBody>
          <a:bodyPr wrap="square" anchor="t">
            <a:spAutoFit/>
          </a:bodyPr>
          <a:lstStyle/>
          <a:p>
            <a:pPr algn="l">
              <a:defRPr sz="1200" b="1">
                <a:solidFill>
                  <a:srgbClr val="2C3E50"/>
                </a:solidFill>
                <a:latin typeface="Segoe UI"/>
              </a:defRPr>
            </a:pPr>
            <a:r>
              <a:t>Analyze all known threat intelligence</a:t>
            </a:r>
          </a:p>
          <a:p>
            <a:pPr>
              <a:spcBef>
                <a:spcPts val="800"/>
              </a:spcBef>
              <a:defRPr sz="600" b="0">
                <a:solidFill>
                  <a:srgbClr val="2C3E50"/>
                </a:solidFill>
                <a:latin typeface="Segoe UI"/>
              </a:defRPr>
            </a:pPr>
            <a:endParaRPr/>
          </a:p>
          <a:p>
            <a:pPr>
              <a:spcBef>
                <a:spcPts val="800"/>
              </a:spcBef>
              <a:defRPr sz="1100" b="0">
                <a:solidFill>
                  <a:srgbClr val="2C3E50"/>
                </a:solidFill>
                <a:latin typeface="Segoe UI"/>
              </a:defRPr>
            </a:pPr>
            <a:r>
              <a:t>•  Ingests CVE, advisories, CTI, IOCs, IOAs, PSIRTs continuously</a:t>
            </a:r>
          </a:p>
          <a:p>
            <a:pPr>
              <a:spcBef>
                <a:spcPts val="800"/>
              </a:spcBef>
              <a:defRPr sz="1100" b="0">
                <a:solidFill>
                  <a:srgbClr val="2C3E50"/>
                </a:solidFill>
                <a:latin typeface="Segoe UI"/>
              </a:defRPr>
            </a:pPr>
            <a:r>
              <a:t>•  MITRE-enriched attack graphs by ML/NLP</a:t>
            </a:r>
          </a:p>
          <a:p>
            <a:pPr>
              <a:spcBef>
                <a:spcPts val="800"/>
              </a:spcBef>
              <a:defRPr sz="1100" b="0">
                <a:solidFill>
                  <a:srgbClr val="2C3E50"/>
                </a:solidFill>
                <a:latin typeface="Segoe UI"/>
              </a:defRPr>
            </a:pPr>
            <a:r>
              <a:t>•  Full Volt/Salt Typhoon TTP coverage</a:t>
            </a:r>
          </a:p>
          <a:p>
            <a:pPr>
              <a:spcBef>
                <a:spcPts val="800"/>
              </a:spcBef>
              <a:defRPr sz="1100" b="0">
                <a:solidFill>
                  <a:srgbClr val="2C3E50"/>
                </a:solidFill>
                <a:latin typeface="Segoe UI"/>
              </a:defRPr>
            </a:pPr>
            <a:r>
              <a:t>•  Auto-updates on every new advisory</a:t>
            </a:r>
          </a:p>
          <a:p>
            <a:pPr>
              <a:spcBef>
                <a:spcPts val="800"/>
              </a:spcBef>
              <a:defRPr sz="600" b="0">
                <a:solidFill>
                  <a:srgbClr val="2C3E50"/>
                </a:solidFill>
                <a:latin typeface="Segoe UI"/>
              </a:defRPr>
            </a:pPr>
            <a:endParaRPr/>
          </a:p>
          <a:p>
            <a:pPr>
              <a:spcBef>
                <a:spcPts val="800"/>
              </a:spcBef>
              <a:defRPr sz="900" b="1">
                <a:solidFill>
                  <a:srgbClr val="6C757D"/>
                </a:solidFill>
                <a:latin typeface="Segoe UI"/>
              </a:defRPr>
            </a:pPr>
            <a:r>
              <a:t>Sources:</a:t>
            </a:r>
          </a:p>
          <a:p>
            <a:pPr>
              <a:spcBef>
                <a:spcPts val="800"/>
              </a:spcBef>
              <a:defRPr sz="900" b="0">
                <a:solidFill>
                  <a:srgbClr val="6C757D"/>
                </a:solidFill>
                <a:latin typeface="Segoe UI"/>
              </a:defRPr>
            </a:pPr>
            <a:r>
              <a:t>CISA KEV, NVD, NSA, vendor PSIRTs, MITRE ATT&amp;CK, classified feeds</a:t>
            </a:r>
          </a:p>
        </p:txBody>
      </p:sp>
      <p:sp>
        <p:nvSpPr>
          <p:cNvPr id="12" name="Rounded Rectangle 11"/>
          <p:cNvSpPr/>
          <p:nvPr/>
        </p:nvSpPr>
        <p:spPr>
          <a:xfrm>
            <a:off x="4434840" y="1463040"/>
            <a:ext cx="3108960" cy="411480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34840" y="1463040"/>
            <a:ext cx="3108960" cy="4572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1536192"/>
            <a:ext cx="3108960" cy="276999"/>
          </a:xfrm>
          <a:prstGeom prst="rect">
            <a:avLst/>
          </a:prstGeom>
          <a:noFill/>
        </p:spPr>
        <p:txBody>
          <a:bodyPr wrap="square" anchor="t">
            <a:spAutoFit/>
          </a:bodyPr>
          <a:lstStyle/>
          <a:p>
            <a:pPr algn="l">
              <a:defRPr sz="1200" b="1">
                <a:solidFill>
                  <a:srgbClr val="FFFFFF"/>
                </a:solidFill>
                <a:latin typeface="Segoe UI"/>
              </a:defRPr>
            </a:pPr>
            <a:r>
              <a:rPr dirty="0"/>
              <a:t>  DEFENSE INTELLIGENCE</a:t>
            </a:r>
            <a:r>
              <a:rPr lang="en-US" dirty="0"/>
              <a:t> – Formal Math</a:t>
            </a:r>
            <a:endParaRPr dirty="0"/>
          </a:p>
        </p:txBody>
      </p:sp>
      <p:sp>
        <p:nvSpPr>
          <p:cNvPr id="15" name="TextBox 14"/>
          <p:cNvSpPr txBox="1"/>
          <p:nvPr/>
        </p:nvSpPr>
        <p:spPr>
          <a:xfrm>
            <a:off x="4663440" y="2057400"/>
            <a:ext cx="2651760" cy="3098284"/>
          </a:xfrm>
          <a:prstGeom prst="rect">
            <a:avLst/>
          </a:prstGeom>
          <a:noFill/>
        </p:spPr>
        <p:txBody>
          <a:bodyPr wrap="square" anchor="t">
            <a:spAutoFit/>
          </a:bodyPr>
          <a:lstStyle/>
          <a:p>
            <a:pPr algn="l">
              <a:defRPr sz="1200" b="1">
                <a:solidFill>
                  <a:srgbClr val="2C3E50"/>
                </a:solidFill>
                <a:latin typeface="Segoe UI"/>
              </a:defRPr>
            </a:pPr>
            <a:r>
              <a:rPr dirty="0"/>
              <a:t>Formal model of every defensive control</a:t>
            </a:r>
          </a:p>
          <a:p>
            <a:pPr>
              <a:spcBef>
                <a:spcPts val="800"/>
              </a:spcBef>
              <a:defRPr sz="600" b="0">
                <a:solidFill>
                  <a:srgbClr val="2C3E50"/>
                </a:solidFill>
                <a:latin typeface="Segoe UI"/>
              </a:defRPr>
            </a:pPr>
            <a:endParaRPr dirty="0"/>
          </a:p>
          <a:p>
            <a:pPr>
              <a:spcBef>
                <a:spcPts val="800"/>
              </a:spcBef>
              <a:defRPr sz="1100" b="0">
                <a:solidFill>
                  <a:srgbClr val="2C3E50"/>
                </a:solidFill>
                <a:latin typeface="Segoe UI"/>
              </a:defRPr>
            </a:pPr>
            <a:r>
              <a:rPr dirty="0"/>
              <a:t>•  Every NGFW rule, ACL, IPS, identity policy modeled</a:t>
            </a:r>
          </a:p>
          <a:p>
            <a:pPr>
              <a:spcBef>
                <a:spcPts val="800"/>
              </a:spcBef>
              <a:defRPr sz="1100" b="0">
                <a:solidFill>
                  <a:srgbClr val="2C3E50"/>
                </a:solidFill>
                <a:latin typeface="Segoe UI"/>
              </a:defRPr>
            </a:pPr>
            <a:r>
              <a:rPr dirty="0"/>
              <a:t>•  Exhaustive reasoning over complete config state space</a:t>
            </a:r>
          </a:p>
          <a:p>
            <a:pPr>
              <a:spcBef>
                <a:spcPts val="800"/>
              </a:spcBef>
              <a:defRPr sz="1100" b="0">
                <a:solidFill>
                  <a:srgbClr val="2C3E50"/>
                </a:solidFill>
                <a:latin typeface="Segoe UI"/>
              </a:defRPr>
            </a:pPr>
            <a:r>
              <a:rPr dirty="0"/>
              <a:t>•  No sampling — mathematical certainty</a:t>
            </a:r>
          </a:p>
          <a:p>
            <a:pPr>
              <a:spcBef>
                <a:spcPts val="800"/>
              </a:spcBef>
              <a:defRPr sz="1100" b="0">
                <a:solidFill>
                  <a:srgbClr val="2C3E50"/>
                </a:solidFill>
                <a:latin typeface="Segoe UI"/>
              </a:defRPr>
            </a:pPr>
            <a:r>
              <a:rPr dirty="0"/>
              <a:t>•  Every path analyzed. Every combination verified.</a:t>
            </a:r>
          </a:p>
          <a:p>
            <a:pPr>
              <a:spcBef>
                <a:spcPts val="800"/>
              </a:spcBef>
              <a:defRPr sz="600" b="0">
                <a:solidFill>
                  <a:srgbClr val="2C3E50"/>
                </a:solidFill>
                <a:latin typeface="Segoe UI"/>
              </a:defRPr>
            </a:pPr>
            <a:endParaRPr dirty="0"/>
          </a:p>
          <a:p>
            <a:pPr>
              <a:spcBef>
                <a:spcPts val="800"/>
              </a:spcBef>
              <a:defRPr sz="900" b="1">
                <a:solidFill>
                  <a:srgbClr val="6C757D"/>
                </a:solidFill>
                <a:latin typeface="Segoe UI"/>
              </a:defRPr>
            </a:pPr>
            <a:r>
              <a:rPr dirty="0"/>
              <a:t>Supports:</a:t>
            </a:r>
          </a:p>
          <a:p>
            <a:pPr>
              <a:spcBef>
                <a:spcPts val="800"/>
              </a:spcBef>
              <a:defRPr sz="900" b="0">
                <a:solidFill>
                  <a:srgbClr val="6C757D"/>
                </a:solidFill>
                <a:latin typeface="Segoe UI"/>
              </a:defRPr>
            </a:pPr>
            <a:r>
              <a:rPr dirty="0"/>
              <a:t>Palo Alto, Fortinet, Cisco, Check Point</a:t>
            </a:r>
          </a:p>
        </p:txBody>
      </p:sp>
      <p:sp>
        <p:nvSpPr>
          <p:cNvPr id="16" name="Rounded Rectangle 15"/>
          <p:cNvSpPr/>
          <p:nvPr/>
        </p:nvSpPr>
        <p:spPr>
          <a:xfrm>
            <a:off x="7772400" y="1463040"/>
            <a:ext cx="3108960" cy="411480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0" y="1463040"/>
            <a:ext cx="3108960" cy="45720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1536192"/>
            <a:ext cx="3108960" cy="276999"/>
          </a:xfrm>
          <a:prstGeom prst="rect">
            <a:avLst/>
          </a:prstGeom>
          <a:noFill/>
        </p:spPr>
        <p:txBody>
          <a:bodyPr wrap="square" anchor="t">
            <a:spAutoFit/>
          </a:bodyPr>
          <a:lstStyle/>
          <a:p>
            <a:pPr algn="l">
              <a:defRPr sz="1200" b="1">
                <a:solidFill>
                  <a:srgbClr val="FFFFFF"/>
                </a:solidFill>
                <a:latin typeface="Segoe UI"/>
              </a:defRPr>
            </a:pPr>
            <a:r>
              <a:rPr dirty="0"/>
              <a:t>  REMEDIATION INTELLIGENCE</a:t>
            </a:r>
            <a:r>
              <a:rPr lang="en-US" dirty="0"/>
              <a:t> – AI/RSN</a:t>
            </a:r>
            <a:endParaRPr dirty="0"/>
          </a:p>
        </p:txBody>
      </p:sp>
      <p:sp>
        <p:nvSpPr>
          <p:cNvPr id="19" name="TextBox 18"/>
          <p:cNvSpPr txBox="1"/>
          <p:nvPr/>
        </p:nvSpPr>
        <p:spPr>
          <a:xfrm>
            <a:off x="8001000" y="2057400"/>
            <a:ext cx="2651760" cy="3383280"/>
          </a:xfrm>
          <a:prstGeom prst="rect">
            <a:avLst/>
          </a:prstGeom>
          <a:noFill/>
        </p:spPr>
        <p:txBody>
          <a:bodyPr wrap="square" anchor="t">
            <a:spAutoFit/>
          </a:bodyPr>
          <a:lstStyle/>
          <a:p>
            <a:pPr algn="l">
              <a:defRPr sz="1200" b="1">
                <a:solidFill>
                  <a:srgbClr val="2C3E50"/>
                </a:solidFill>
                <a:latin typeface="Segoe UI"/>
              </a:defRPr>
            </a:pPr>
            <a:r>
              <a:t>Prescribe correct configurations</a:t>
            </a:r>
          </a:p>
          <a:p>
            <a:pPr>
              <a:spcBef>
                <a:spcPts val="800"/>
              </a:spcBef>
              <a:defRPr sz="600" b="0">
                <a:solidFill>
                  <a:srgbClr val="2C3E50"/>
                </a:solidFill>
                <a:latin typeface="Segoe UI"/>
              </a:defRPr>
            </a:pPr>
            <a:endParaRPr/>
          </a:p>
          <a:p>
            <a:pPr>
              <a:spcBef>
                <a:spcPts val="800"/>
              </a:spcBef>
              <a:defRPr sz="1100" b="0">
                <a:solidFill>
                  <a:srgbClr val="2C3E50"/>
                </a:solidFill>
                <a:latin typeface="Segoe UI"/>
              </a:defRPr>
            </a:pPr>
            <a:r>
              <a:t>•  Risk-prioritized, vendor-specific playbooks</a:t>
            </a:r>
          </a:p>
          <a:p>
            <a:pPr>
              <a:spcBef>
                <a:spcPts val="800"/>
              </a:spcBef>
              <a:defRPr sz="1100" b="0">
                <a:solidFill>
                  <a:srgbClr val="2C3E50"/>
                </a:solidFill>
                <a:latin typeface="Segoe UI"/>
              </a:defRPr>
            </a:pPr>
            <a:r>
              <a:t>•  Zero false positives (mathematically proven)</a:t>
            </a:r>
          </a:p>
          <a:p>
            <a:pPr>
              <a:spcBef>
                <a:spcPts val="800"/>
              </a:spcBef>
              <a:defRPr sz="1100" b="0">
                <a:solidFill>
                  <a:srgbClr val="2C3E50"/>
                </a:solidFill>
                <a:latin typeface="Segoe UI"/>
              </a:defRPr>
            </a:pPr>
            <a:r>
              <a:t>•  Zero false negatives (exhaustive reasoning)</a:t>
            </a:r>
          </a:p>
          <a:p>
            <a:pPr>
              <a:spcBef>
                <a:spcPts val="800"/>
              </a:spcBef>
              <a:defRPr sz="1100" b="0">
                <a:solidFill>
                  <a:srgbClr val="2C3E50"/>
                </a:solidFill>
                <a:latin typeface="Segoe UI"/>
              </a:defRPr>
            </a:pPr>
            <a:r>
              <a:t>•  Auto-push to ServiceNow, JIRA, SOC ticketing</a:t>
            </a:r>
          </a:p>
          <a:p>
            <a:pPr>
              <a:spcBef>
                <a:spcPts val="800"/>
              </a:spcBef>
              <a:defRPr sz="1100" b="0">
                <a:solidFill>
                  <a:srgbClr val="2C3E50"/>
                </a:solidFill>
                <a:latin typeface="Segoe UI"/>
              </a:defRPr>
            </a:pPr>
            <a:r>
              <a:t>•  Optional auto-apply + re-verify</a:t>
            </a:r>
          </a:p>
          <a:p>
            <a:pPr>
              <a:spcBef>
                <a:spcPts val="800"/>
              </a:spcBef>
              <a:defRPr sz="600" b="0">
                <a:solidFill>
                  <a:srgbClr val="2C3E50"/>
                </a:solidFill>
                <a:latin typeface="Segoe UI"/>
              </a:defRPr>
            </a:pPr>
            <a:endParaRPr/>
          </a:p>
          <a:p>
            <a:pPr>
              <a:spcBef>
                <a:spcPts val="800"/>
              </a:spcBef>
              <a:defRPr sz="900" b="1">
                <a:solidFill>
                  <a:srgbClr val="6C757D"/>
                </a:solidFill>
                <a:latin typeface="Segoe UI"/>
              </a:defRPr>
            </a:pPr>
            <a:r>
              <a:t>Guarantees:</a:t>
            </a:r>
          </a:p>
          <a:p>
            <a:pPr>
              <a:spcBef>
                <a:spcPts val="800"/>
              </a:spcBef>
              <a:defRPr sz="900" b="0">
                <a:solidFill>
                  <a:srgbClr val="6C757D"/>
                </a:solidFill>
                <a:latin typeface="Segoe UI"/>
              </a:defRPr>
            </a:pPr>
            <a:r>
              <a:t>No new errors, no broken connectivity, no disruption</a:t>
            </a:r>
          </a:p>
        </p:txBody>
      </p:sp>
      <p:sp>
        <p:nvSpPr>
          <p:cNvPr id="20" name="TextBox 19"/>
          <p:cNvSpPr txBox="1"/>
          <p:nvPr/>
        </p:nvSpPr>
        <p:spPr>
          <a:xfrm>
            <a:off x="4206240" y="3200400"/>
            <a:ext cx="365760" cy="365760"/>
          </a:xfrm>
          <a:prstGeom prst="rect">
            <a:avLst/>
          </a:prstGeom>
          <a:noFill/>
        </p:spPr>
        <p:txBody>
          <a:bodyPr wrap="square" anchor="t">
            <a:spAutoFit/>
          </a:bodyPr>
          <a:lstStyle/>
          <a:p>
            <a:pPr algn="ctr">
              <a:defRPr sz="2000" b="1">
                <a:solidFill>
                  <a:srgbClr val="0D1B2A"/>
                </a:solidFill>
                <a:latin typeface="Segoe UI"/>
              </a:defRPr>
            </a:pPr>
            <a:r>
              <a:t>→</a:t>
            </a:r>
          </a:p>
        </p:txBody>
      </p:sp>
      <p:sp>
        <p:nvSpPr>
          <p:cNvPr id="21" name="TextBox 20"/>
          <p:cNvSpPr txBox="1"/>
          <p:nvPr/>
        </p:nvSpPr>
        <p:spPr>
          <a:xfrm>
            <a:off x="7543800" y="3200400"/>
            <a:ext cx="365760" cy="365760"/>
          </a:xfrm>
          <a:prstGeom prst="rect">
            <a:avLst/>
          </a:prstGeom>
          <a:noFill/>
        </p:spPr>
        <p:txBody>
          <a:bodyPr wrap="square" anchor="t">
            <a:spAutoFit/>
          </a:bodyPr>
          <a:lstStyle/>
          <a:p>
            <a:pPr algn="ctr">
              <a:defRPr sz="2000" b="1">
                <a:solidFill>
                  <a:srgbClr val="0D1B2A"/>
                </a:solidFill>
                <a:latin typeface="Segoe UI"/>
              </a:defRPr>
            </a:pPr>
            <a:r>
              <a:t>→</a:t>
            </a:r>
          </a:p>
        </p:txBody>
      </p:sp>
      <p:sp>
        <p:nvSpPr>
          <p:cNvPr id="22" name="Rounded Rectangle 21"/>
          <p:cNvSpPr/>
          <p:nvPr/>
        </p:nvSpPr>
        <p:spPr>
          <a:xfrm>
            <a:off x="1097280" y="5760720"/>
            <a:ext cx="10058400" cy="4572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71600" y="5788152"/>
            <a:ext cx="9601200" cy="365760"/>
          </a:xfrm>
          <a:prstGeom prst="rect">
            <a:avLst/>
          </a:prstGeom>
          <a:noFill/>
        </p:spPr>
        <p:txBody>
          <a:bodyPr wrap="square" anchor="t">
            <a:spAutoFit/>
          </a:bodyPr>
          <a:lstStyle/>
          <a:p>
            <a:pPr algn="ctr">
              <a:defRPr sz="1000" b="1">
                <a:solidFill>
                  <a:srgbClr val="0D1B2A"/>
                </a:solidFill>
                <a:latin typeface="Segoe UI"/>
              </a:defRPr>
            </a:pPr>
            <a:r>
              <a:t>Continuous loop: new threat → model attack → verify defense → prescribe fix → re-verify. Every hour + on every config change.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Stopping Volt Typhoon: Both Layers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Preemptive eliminates config weakness. ACECARD catches behavioral exploitation.</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8</a:t>
            </a:r>
          </a:p>
        </p:txBody>
      </p:sp>
      <p:sp>
        <p:nvSpPr>
          <p:cNvPr id="8" name="Rectangle 7"/>
          <p:cNvSpPr/>
          <p:nvPr/>
        </p:nvSpPr>
        <p:spPr>
          <a:xfrm>
            <a:off x="1097280" y="1417320"/>
            <a:ext cx="100584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435608"/>
            <a:ext cx="4572000" cy="237744"/>
          </a:xfrm>
          <a:prstGeom prst="rect">
            <a:avLst/>
          </a:prstGeom>
          <a:noFill/>
        </p:spPr>
        <p:txBody>
          <a:bodyPr wrap="square" anchor="t">
            <a:spAutoFit/>
          </a:bodyPr>
          <a:lstStyle/>
          <a:p>
            <a:pPr algn="l">
              <a:defRPr sz="1000" b="1">
                <a:solidFill>
                  <a:srgbClr val="FFFFFF"/>
                </a:solidFill>
                <a:latin typeface="Segoe UI"/>
              </a:defRPr>
            </a:pPr>
            <a:r>
              <a:t>PREEMPTIVE LAYER — config verification</a:t>
            </a:r>
          </a:p>
        </p:txBody>
      </p:sp>
      <p:sp>
        <p:nvSpPr>
          <p:cNvPr id="10" name="Rounded Rectangle 9"/>
          <p:cNvSpPr/>
          <p:nvPr/>
        </p:nvSpPr>
        <p:spPr>
          <a:xfrm>
            <a:off x="1097280" y="173736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1783080"/>
            <a:ext cx="1645920" cy="457200"/>
          </a:xfrm>
          <a:prstGeom prst="rect">
            <a:avLst/>
          </a:prstGeom>
          <a:noFill/>
        </p:spPr>
        <p:txBody>
          <a:bodyPr wrap="square" anchor="t">
            <a:spAutoFit/>
          </a:bodyPr>
          <a:lstStyle/>
          <a:p>
            <a:pPr algn="l">
              <a:defRPr sz="1000" b="1">
                <a:solidFill>
                  <a:srgbClr val="0D1B2A"/>
                </a:solidFill>
                <a:latin typeface="Segoe UI"/>
              </a:defRPr>
            </a:pPr>
            <a:r>
              <a:t>Initial Access</a:t>
            </a:r>
          </a:p>
        </p:txBody>
      </p:sp>
      <p:sp>
        <p:nvSpPr>
          <p:cNvPr id="12" name="TextBox 11"/>
          <p:cNvSpPr txBox="1"/>
          <p:nvPr/>
        </p:nvSpPr>
        <p:spPr>
          <a:xfrm>
            <a:off x="2926080" y="1783080"/>
            <a:ext cx="3017520" cy="400110"/>
          </a:xfrm>
          <a:prstGeom prst="rect">
            <a:avLst/>
          </a:prstGeom>
          <a:noFill/>
        </p:spPr>
        <p:txBody>
          <a:bodyPr wrap="square" anchor="t">
            <a:spAutoFit/>
          </a:bodyPr>
          <a:lstStyle/>
          <a:p>
            <a:pPr algn="l">
              <a:defRPr sz="1000" b="0">
                <a:solidFill>
                  <a:srgbClr val="C0392B"/>
                </a:solidFill>
                <a:latin typeface="Segoe UI"/>
              </a:defRPr>
            </a:pPr>
            <a:r>
              <a:rPr b="1" dirty="0"/>
              <a:t>Exploits unpatched Fortinet/Ivanti/PAN edge devices</a:t>
            </a:r>
          </a:p>
        </p:txBody>
      </p:sp>
      <p:sp>
        <p:nvSpPr>
          <p:cNvPr id="13" name="TextBox 12"/>
          <p:cNvSpPr txBox="1"/>
          <p:nvPr/>
        </p:nvSpPr>
        <p:spPr>
          <a:xfrm>
            <a:off x="6035040" y="1783080"/>
            <a:ext cx="4937760" cy="400110"/>
          </a:xfrm>
          <a:prstGeom prst="rect">
            <a:avLst/>
          </a:prstGeom>
          <a:noFill/>
        </p:spPr>
        <p:txBody>
          <a:bodyPr wrap="square" anchor="t">
            <a:spAutoFit/>
          </a:bodyPr>
          <a:lstStyle/>
          <a:p>
            <a:pPr algn="l">
              <a:defRPr sz="1000" b="0">
                <a:solidFill>
                  <a:srgbClr val="2C3E50"/>
                </a:solidFill>
                <a:latin typeface="Segoe UI"/>
              </a:defRPr>
            </a:pPr>
            <a:r>
              <a:rPr dirty="0"/>
              <a:t>Maps </a:t>
            </a:r>
            <a:r>
              <a:rPr b="1" dirty="0"/>
              <a:t>every CVE to control. Proves IPS blocks exploit</a:t>
            </a:r>
            <a:r>
              <a:rPr dirty="0"/>
              <a:t>. Identifies compensating control.</a:t>
            </a:r>
          </a:p>
        </p:txBody>
      </p:sp>
      <p:sp>
        <p:nvSpPr>
          <p:cNvPr id="14" name="Rounded Rectangle 13"/>
          <p:cNvSpPr/>
          <p:nvPr/>
        </p:nvSpPr>
        <p:spPr>
          <a:xfrm>
            <a:off x="1097280" y="233172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2377440"/>
            <a:ext cx="1645920" cy="457200"/>
          </a:xfrm>
          <a:prstGeom prst="rect">
            <a:avLst/>
          </a:prstGeom>
          <a:noFill/>
        </p:spPr>
        <p:txBody>
          <a:bodyPr wrap="square" anchor="t">
            <a:spAutoFit/>
          </a:bodyPr>
          <a:lstStyle/>
          <a:p>
            <a:pPr algn="l">
              <a:defRPr sz="1000" b="1">
                <a:solidFill>
                  <a:srgbClr val="0D1B2A"/>
                </a:solidFill>
                <a:latin typeface="Segoe UI"/>
              </a:defRPr>
            </a:pPr>
            <a:r>
              <a:t>Persistence</a:t>
            </a:r>
          </a:p>
        </p:txBody>
      </p:sp>
      <p:sp>
        <p:nvSpPr>
          <p:cNvPr id="16" name="TextBox 15"/>
          <p:cNvSpPr txBox="1"/>
          <p:nvPr/>
        </p:nvSpPr>
        <p:spPr>
          <a:xfrm>
            <a:off x="2926080" y="2377440"/>
            <a:ext cx="3017520" cy="457200"/>
          </a:xfrm>
          <a:prstGeom prst="rect">
            <a:avLst/>
          </a:prstGeom>
          <a:noFill/>
        </p:spPr>
        <p:txBody>
          <a:bodyPr wrap="square" anchor="t">
            <a:spAutoFit/>
          </a:bodyPr>
          <a:lstStyle/>
          <a:p>
            <a:pPr algn="l">
              <a:defRPr sz="1000" b="0">
                <a:solidFill>
                  <a:srgbClr val="C0392B"/>
                </a:solidFill>
                <a:latin typeface="Segoe UI"/>
              </a:defRPr>
            </a:pPr>
            <a:r>
              <a:t>Web shells. C2 via compromised SOHO routers</a:t>
            </a:r>
          </a:p>
        </p:txBody>
      </p:sp>
      <p:sp>
        <p:nvSpPr>
          <p:cNvPr id="17" name="TextBox 16"/>
          <p:cNvSpPr txBox="1"/>
          <p:nvPr/>
        </p:nvSpPr>
        <p:spPr>
          <a:xfrm>
            <a:off x="6035040" y="2377440"/>
            <a:ext cx="4937760" cy="246221"/>
          </a:xfrm>
          <a:prstGeom prst="rect">
            <a:avLst/>
          </a:prstGeom>
          <a:noFill/>
        </p:spPr>
        <p:txBody>
          <a:bodyPr wrap="square" anchor="t">
            <a:spAutoFit/>
          </a:bodyPr>
          <a:lstStyle/>
          <a:p>
            <a:pPr algn="l">
              <a:defRPr sz="1000" b="0">
                <a:solidFill>
                  <a:srgbClr val="2C3E50"/>
                </a:solidFill>
                <a:latin typeface="Segoe UI"/>
              </a:defRPr>
            </a:pPr>
            <a:r>
              <a:rPr b="1" dirty="0"/>
              <a:t>Threat-feed IPs denied.</a:t>
            </a:r>
            <a:r>
              <a:rPr dirty="0"/>
              <a:t> 50M+ rule combos verified. WAF upload inspection proven.</a:t>
            </a:r>
          </a:p>
        </p:txBody>
      </p:sp>
      <p:sp>
        <p:nvSpPr>
          <p:cNvPr id="18" name="Rounded Rectangle 17"/>
          <p:cNvSpPr/>
          <p:nvPr/>
        </p:nvSpPr>
        <p:spPr>
          <a:xfrm>
            <a:off x="1097280" y="292608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0160" y="2971800"/>
            <a:ext cx="1645920" cy="457200"/>
          </a:xfrm>
          <a:prstGeom prst="rect">
            <a:avLst/>
          </a:prstGeom>
          <a:noFill/>
        </p:spPr>
        <p:txBody>
          <a:bodyPr wrap="square" anchor="t">
            <a:spAutoFit/>
          </a:bodyPr>
          <a:lstStyle/>
          <a:p>
            <a:pPr algn="l">
              <a:defRPr sz="1000" b="1">
                <a:solidFill>
                  <a:srgbClr val="0D1B2A"/>
                </a:solidFill>
                <a:latin typeface="Segoe UI"/>
              </a:defRPr>
            </a:pPr>
            <a:r>
              <a:t>Lateral Movement</a:t>
            </a:r>
          </a:p>
        </p:txBody>
      </p:sp>
      <p:sp>
        <p:nvSpPr>
          <p:cNvPr id="20" name="TextBox 19"/>
          <p:cNvSpPr txBox="1"/>
          <p:nvPr/>
        </p:nvSpPr>
        <p:spPr>
          <a:xfrm>
            <a:off x="2926080" y="2971800"/>
            <a:ext cx="3017520" cy="246221"/>
          </a:xfrm>
          <a:prstGeom prst="rect">
            <a:avLst/>
          </a:prstGeom>
          <a:noFill/>
        </p:spPr>
        <p:txBody>
          <a:bodyPr wrap="square" anchor="t">
            <a:spAutoFit/>
          </a:bodyPr>
          <a:lstStyle/>
          <a:p>
            <a:pPr algn="l">
              <a:defRPr sz="1000" b="0">
                <a:solidFill>
                  <a:srgbClr val="C0392B"/>
                </a:solidFill>
                <a:latin typeface="Segoe UI"/>
              </a:defRPr>
            </a:pPr>
            <a:r>
              <a:rPr b="1" dirty="0"/>
              <a:t>SMB/RDP/</a:t>
            </a:r>
            <a:r>
              <a:rPr b="1" dirty="0" err="1"/>
              <a:t>WinRM</a:t>
            </a:r>
            <a:r>
              <a:rPr b="1" dirty="0"/>
              <a:t> to DCs and file servers</a:t>
            </a:r>
          </a:p>
        </p:txBody>
      </p:sp>
      <p:sp>
        <p:nvSpPr>
          <p:cNvPr id="21" name="TextBox 20"/>
          <p:cNvSpPr txBox="1"/>
          <p:nvPr/>
        </p:nvSpPr>
        <p:spPr>
          <a:xfrm>
            <a:off x="6035040" y="2971800"/>
            <a:ext cx="4937760" cy="246221"/>
          </a:xfrm>
          <a:prstGeom prst="rect">
            <a:avLst/>
          </a:prstGeom>
          <a:noFill/>
        </p:spPr>
        <p:txBody>
          <a:bodyPr wrap="square" anchor="t">
            <a:spAutoFit/>
          </a:bodyPr>
          <a:lstStyle/>
          <a:p>
            <a:pPr algn="l">
              <a:defRPr sz="1000" b="0">
                <a:solidFill>
                  <a:srgbClr val="2C3E50"/>
                </a:solidFill>
                <a:latin typeface="Segoe UI"/>
              </a:defRPr>
            </a:pPr>
            <a:r>
              <a:rPr dirty="0"/>
              <a:t>Real finding: </a:t>
            </a:r>
            <a:r>
              <a:rPr b="1" dirty="0"/>
              <a:t>3 shadowed rules exposed SMB</a:t>
            </a:r>
            <a:r>
              <a:rPr dirty="0"/>
              <a:t>. Model closed path no scanner found.</a:t>
            </a:r>
          </a:p>
        </p:txBody>
      </p:sp>
      <p:sp>
        <p:nvSpPr>
          <p:cNvPr id="22" name="Rectangle 21"/>
          <p:cNvSpPr/>
          <p:nvPr/>
        </p:nvSpPr>
        <p:spPr>
          <a:xfrm>
            <a:off x="1097280" y="3611880"/>
            <a:ext cx="100584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3630168"/>
            <a:ext cx="4572000" cy="237744"/>
          </a:xfrm>
          <a:prstGeom prst="rect">
            <a:avLst/>
          </a:prstGeom>
          <a:noFill/>
        </p:spPr>
        <p:txBody>
          <a:bodyPr wrap="square" anchor="t">
            <a:spAutoFit/>
          </a:bodyPr>
          <a:lstStyle/>
          <a:p>
            <a:pPr algn="l">
              <a:defRPr sz="1000" b="1">
                <a:solidFill>
                  <a:srgbClr val="FFFFFF"/>
                </a:solidFill>
                <a:latin typeface="Segoe UI"/>
              </a:defRPr>
            </a:pPr>
            <a:r>
              <a:rPr dirty="0"/>
              <a:t>ACECARD LAYER — behavioral detection</a:t>
            </a:r>
          </a:p>
        </p:txBody>
      </p:sp>
      <p:sp>
        <p:nvSpPr>
          <p:cNvPr id="24" name="Rounded Rectangle 23"/>
          <p:cNvSpPr/>
          <p:nvPr/>
        </p:nvSpPr>
        <p:spPr>
          <a:xfrm>
            <a:off x="1097280" y="393192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3977640"/>
            <a:ext cx="1645920" cy="457200"/>
          </a:xfrm>
          <a:prstGeom prst="rect">
            <a:avLst/>
          </a:prstGeom>
          <a:noFill/>
        </p:spPr>
        <p:txBody>
          <a:bodyPr wrap="square" anchor="t">
            <a:spAutoFit/>
          </a:bodyPr>
          <a:lstStyle/>
          <a:p>
            <a:pPr algn="l">
              <a:defRPr sz="950" b="1">
                <a:solidFill>
                  <a:srgbClr val="0D1B2A"/>
                </a:solidFill>
                <a:latin typeface="Segoe UI"/>
              </a:defRPr>
            </a:pPr>
            <a:r>
              <a:t>Credential abuse</a:t>
            </a:r>
            <a:br/>
            <a:r>
              <a:t>(T1078)</a:t>
            </a:r>
          </a:p>
        </p:txBody>
      </p:sp>
      <p:sp>
        <p:nvSpPr>
          <p:cNvPr id="26" name="TextBox 25"/>
          <p:cNvSpPr txBox="1"/>
          <p:nvPr/>
        </p:nvSpPr>
        <p:spPr>
          <a:xfrm>
            <a:off x="2926080" y="3977640"/>
            <a:ext cx="3017520" cy="457200"/>
          </a:xfrm>
          <a:prstGeom prst="rect">
            <a:avLst/>
          </a:prstGeom>
          <a:noFill/>
        </p:spPr>
        <p:txBody>
          <a:bodyPr wrap="square" anchor="t">
            <a:spAutoFit/>
          </a:bodyPr>
          <a:lstStyle/>
          <a:p>
            <a:pPr algn="l">
              <a:defRPr sz="1000" b="0">
                <a:solidFill>
                  <a:srgbClr val="C0392B"/>
                </a:solidFill>
                <a:latin typeface="Segoe UI"/>
              </a:defRPr>
            </a:pPr>
            <a:r>
              <a:t>Valid creds — every control says "approved"</a:t>
            </a:r>
          </a:p>
        </p:txBody>
      </p:sp>
      <p:sp>
        <p:nvSpPr>
          <p:cNvPr id="27" name="TextBox 26"/>
          <p:cNvSpPr txBox="1"/>
          <p:nvPr/>
        </p:nvSpPr>
        <p:spPr>
          <a:xfrm>
            <a:off x="6035040" y="3977640"/>
            <a:ext cx="4937760" cy="400110"/>
          </a:xfrm>
          <a:prstGeom prst="rect">
            <a:avLst/>
          </a:prstGeom>
          <a:noFill/>
        </p:spPr>
        <p:txBody>
          <a:bodyPr wrap="square" anchor="t">
            <a:spAutoFit/>
          </a:bodyPr>
          <a:lstStyle/>
          <a:p>
            <a:pPr algn="l">
              <a:defRPr sz="1000" b="0">
                <a:solidFill>
                  <a:srgbClr val="2C3E50"/>
                </a:solidFill>
                <a:latin typeface="Segoe UI"/>
              </a:defRPr>
            </a:pPr>
            <a:r>
              <a:rPr dirty="0"/>
              <a:t>Multi-signal: </a:t>
            </a:r>
            <a:r>
              <a:rPr b="1" dirty="0"/>
              <a:t>new source + off-hours + unusual targets.</a:t>
            </a:r>
            <a:r>
              <a:rPr dirty="0"/>
              <a:t> Structural shift triggers alarm.</a:t>
            </a:r>
          </a:p>
        </p:txBody>
      </p:sp>
      <p:sp>
        <p:nvSpPr>
          <p:cNvPr id="28" name="Rounded Rectangle 27"/>
          <p:cNvSpPr/>
          <p:nvPr/>
        </p:nvSpPr>
        <p:spPr>
          <a:xfrm>
            <a:off x="1097280" y="452628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80160" y="4572000"/>
            <a:ext cx="1645920" cy="457200"/>
          </a:xfrm>
          <a:prstGeom prst="rect">
            <a:avLst/>
          </a:prstGeom>
          <a:noFill/>
        </p:spPr>
        <p:txBody>
          <a:bodyPr wrap="square" anchor="t">
            <a:spAutoFit/>
          </a:bodyPr>
          <a:lstStyle/>
          <a:p>
            <a:pPr algn="l">
              <a:defRPr sz="950" b="1">
                <a:solidFill>
                  <a:srgbClr val="0D1B2A"/>
                </a:solidFill>
                <a:latin typeface="Segoe UI"/>
              </a:defRPr>
            </a:pPr>
            <a:r>
              <a:t>LOTL execution</a:t>
            </a:r>
            <a:br/>
            <a:r>
              <a:t>(T1059)</a:t>
            </a:r>
          </a:p>
        </p:txBody>
      </p:sp>
      <p:sp>
        <p:nvSpPr>
          <p:cNvPr id="30" name="TextBox 29"/>
          <p:cNvSpPr txBox="1"/>
          <p:nvPr/>
        </p:nvSpPr>
        <p:spPr>
          <a:xfrm>
            <a:off x="2926080" y="4572000"/>
            <a:ext cx="3017520" cy="457200"/>
          </a:xfrm>
          <a:prstGeom prst="rect">
            <a:avLst/>
          </a:prstGeom>
          <a:noFill/>
        </p:spPr>
        <p:txBody>
          <a:bodyPr wrap="square" anchor="t">
            <a:spAutoFit/>
          </a:bodyPr>
          <a:lstStyle/>
          <a:p>
            <a:pPr algn="l">
              <a:defRPr sz="1000" b="0">
                <a:solidFill>
                  <a:srgbClr val="C0392B"/>
                </a:solidFill>
                <a:latin typeface="Segoe UI"/>
              </a:defRPr>
            </a:pPr>
            <a:r>
              <a:t>ntdsutil + wmic + netsh — all legit binaries</a:t>
            </a:r>
          </a:p>
        </p:txBody>
      </p:sp>
      <p:sp>
        <p:nvSpPr>
          <p:cNvPr id="31" name="TextBox 30"/>
          <p:cNvSpPr txBox="1"/>
          <p:nvPr/>
        </p:nvSpPr>
        <p:spPr>
          <a:xfrm>
            <a:off x="6035040" y="4572000"/>
            <a:ext cx="4937760" cy="400110"/>
          </a:xfrm>
          <a:prstGeom prst="rect">
            <a:avLst/>
          </a:prstGeom>
          <a:noFill/>
        </p:spPr>
        <p:txBody>
          <a:bodyPr wrap="square" anchor="t">
            <a:spAutoFit/>
          </a:bodyPr>
          <a:lstStyle/>
          <a:p>
            <a:pPr algn="l">
              <a:defRPr sz="1000" b="0">
                <a:solidFill>
                  <a:srgbClr val="2C3E50"/>
                </a:solidFill>
                <a:latin typeface="Segoe UI"/>
              </a:defRPr>
            </a:pPr>
            <a:r>
              <a:rPr dirty="0"/>
              <a:t>Tool combination + sequence captured. Drift → "LOTL execution." </a:t>
            </a:r>
            <a:r>
              <a:rPr b="1" dirty="0"/>
              <a:t>Peer cohort: no match.</a:t>
            </a:r>
          </a:p>
        </p:txBody>
      </p:sp>
      <p:sp>
        <p:nvSpPr>
          <p:cNvPr id="32" name="Rounded Rectangle 31"/>
          <p:cNvSpPr/>
          <p:nvPr/>
        </p:nvSpPr>
        <p:spPr>
          <a:xfrm>
            <a:off x="1097280" y="512064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80160" y="5166360"/>
            <a:ext cx="1645920" cy="457200"/>
          </a:xfrm>
          <a:prstGeom prst="rect">
            <a:avLst/>
          </a:prstGeom>
          <a:noFill/>
        </p:spPr>
        <p:txBody>
          <a:bodyPr wrap="square" anchor="t">
            <a:spAutoFit/>
          </a:bodyPr>
          <a:lstStyle/>
          <a:p>
            <a:pPr algn="l">
              <a:defRPr sz="950" b="1">
                <a:solidFill>
                  <a:srgbClr val="0D1B2A"/>
                </a:solidFill>
                <a:latin typeface="Segoe UI"/>
              </a:defRPr>
            </a:pPr>
            <a:r>
              <a:t>Slow lateral</a:t>
            </a:r>
            <a:br/>
            <a:r>
              <a:t>(T1021)</a:t>
            </a:r>
          </a:p>
        </p:txBody>
      </p:sp>
      <p:sp>
        <p:nvSpPr>
          <p:cNvPr id="34" name="TextBox 33"/>
          <p:cNvSpPr txBox="1"/>
          <p:nvPr/>
        </p:nvSpPr>
        <p:spPr>
          <a:xfrm>
            <a:off x="2926080" y="5166360"/>
            <a:ext cx="3017520" cy="457200"/>
          </a:xfrm>
          <a:prstGeom prst="rect">
            <a:avLst/>
          </a:prstGeom>
          <a:noFill/>
        </p:spPr>
        <p:txBody>
          <a:bodyPr wrap="square" anchor="t">
            <a:spAutoFit/>
          </a:bodyPr>
          <a:lstStyle/>
          <a:p>
            <a:pPr algn="l">
              <a:defRPr sz="1000" b="0">
                <a:solidFill>
                  <a:srgbClr val="C0392B"/>
                </a:solidFill>
                <a:latin typeface="Segoe UI"/>
              </a:defRPr>
            </a:pPr>
            <a:r>
              <a:t>Moves 1-2 hosts/week — below every threshold</a:t>
            </a:r>
          </a:p>
        </p:txBody>
      </p:sp>
      <p:sp>
        <p:nvSpPr>
          <p:cNvPr id="35" name="TextBox 34"/>
          <p:cNvSpPr txBox="1"/>
          <p:nvPr/>
        </p:nvSpPr>
        <p:spPr>
          <a:xfrm>
            <a:off x="6035040" y="5166360"/>
            <a:ext cx="4937760" cy="400110"/>
          </a:xfrm>
          <a:prstGeom prst="rect">
            <a:avLst/>
          </a:prstGeom>
          <a:noFill/>
        </p:spPr>
        <p:txBody>
          <a:bodyPr wrap="square" anchor="t">
            <a:spAutoFit/>
          </a:bodyPr>
          <a:lstStyle/>
          <a:p>
            <a:pPr algn="l">
              <a:defRPr sz="1000" b="0">
                <a:solidFill>
                  <a:srgbClr val="2C3E50"/>
                </a:solidFill>
                <a:latin typeface="Segoe UI"/>
              </a:defRPr>
            </a:pPr>
            <a:r>
              <a:rPr b="1" dirty="0"/>
              <a:t>Change-point accumulates sub-threshold drift over time.</a:t>
            </a:r>
            <a:r>
              <a:rPr dirty="0"/>
              <a:t> Eventually crosses alarm boundary.</a:t>
            </a:r>
          </a:p>
        </p:txBody>
      </p:sp>
      <p:sp>
        <p:nvSpPr>
          <p:cNvPr id="36" name="Rounded Rectangle 35"/>
          <p:cNvSpPr/>
          <p:nvPr/>
        </p:nvSpPr>
        <p:spPr>
          <a:xfrm>
            <a:off x="1097280" y="571500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280160" y="5760720"/>
            <a:ext cx="1645920" cy="457200"/>
          </a:xfrm>
          <a:prstGeom prst="rect">
            <a:avLst/>
          </a:prstGeom>
          <a:noFill/>
        </p:spPr>
        <p:txBody>
          <a:bodyPr wrap="square" anchor="t">
            <a:spAutoFit/>
          </a:bodyPr>
          <a:lstStyle/>
          <a:p>
            <a:pPr algn="l">
              <a:defRPr sz="950" b="1">
                <a:solidFill>
                  <a:srgbClr val="0D1B2A"/>
                </a:solidFill>
                <a:latin typeface="Segoe UI"/>
              </a:defRPr>
            </a:pPr>
            <a:r>
              <a:t>Unknown C2</a:t>
            </a:r>
          </a:p>
        </p:txBody>
      </p:sp>
      <p:sp>
        <p:nvSpPr>
          <p:cNvPr id="38" name="TextBox 37"/>
          <p:cNvSpPr txBox="1"/>
          <p:nvPr/>
        </p:nvSpPr>
        <p:spPr>
          <a:xfrm>
            <a:off x="2926080" y="5760720"/>
            <a:ext cx="3017520" cy="457200"/>
          </a:xfrm>
          <a:prstGeom prst="rect">
            <a:avLst/>
          </a:prstGeom>
          <a:noFill/>
        </p:spPr>
        <p:txBody>
          <a:bodyPr wrap="square" anchor="t">
            <a:spAutoFit/>
          </a:bodyPr>
          <a:lstStyle/>
          <a:p>
            <a:pPr algn="l">
              <a:defRPr sz="1000" b="0">
                <a:solidFill>
                  <a:srgbClr val="C0392B"/>
                </a:solidFill>
                <a:latin typeface="Segoe UI"/>
              </a:defRPr>
            </a:pPr>
            <a:r>
              <a:t>Routes through newly compromised SOHO routers</a:t>
            </a:r>
          </a:p>
        </p:txBody>
      </p:sp>
      <p:sp>
        <p:nvSpPr>
          <p:cNvPr id="39" name="TextBox 38"/>
          <p:cNvSpPr txBox="1"/>
          <p:nvPr/>
        </p:nvSpPr>
        <p:spPr>
          <a:xfrm>
            <a:off x="6035040" y="5760720"/>
            <a:ext cx="4937760" cy="400110"/>
          </a:xfrm>
          <a:prstGeom prst="rect">
            <a:avLst/>
          </a:prstGeom>
          <a:noFill/>
        </p:spPr>
        <p:txBody>
          <a:bodyPr wrap="square" anchor="t">
            <a:spAutoFit/>
          </a:bodyPr>
          <a:lstStyle/>
          <a:p>
            <a:pPr algn="l">
              <a:defRPr sz="1000" b="0">
                <a:solidFill>
                  <a:srgbClr val="2C3E50"/>
                </a:solidFill>
                <a:latin typeface="Segoe UI"/>
              </a:defRPr>
            </a:pPr>
            <a:r>
              <a:rPr dirty="0"/>
              <a:t>Network signal: </a:t>
            </a:r>
            <a:r>
              <a:rPr b="1" dirty="0"/>
              <a:t>new persistent outbound to unusual destination.</a:t>
            </a:r>
            <a:r>
              <a:rPr dirty="0"/>
              <a:t> Direction: "C2 beaconing."</a:t>
            </a:r>
          </a:p>
        </p:txBody>
      </p:sp>
      <p:sp>
        <p:nvSpPr>
          <p:cNvPr id="40" name="Rounded Rectangle 39"/>
          <p:cNvSpPr/>
          <p:nvPr/>
        </p:nvSpPr>
        <p:spPr>
          <a:xfrm>
            <a:off x="1097280" y="6217920"/>
            <a:ext cx="10058400" cy="27432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71600" y="6236208"/>
            <a:ext cx="9601200" cy="237744"/>
          </a:xfrm>
          <a:prstGeom prst="rect">
            <a:avLst/>
          </a:prstGeom>
          <a:noFill/>
        </p:spPr>
        <p:txBody>
          <a:bodyPr wrap="square" anchor="t">
            <a:spAutoFit/>
          </a:bodyPr>
          <a:lstStyle/>
          <a:p>
            <a:pPr algn="ctr">
              <a:defRPr sz="950" b="1">
                <a:solidFill>
                  <a:srgbClr val="0D1B2A"/>
                </a:solidFill>
                <a:latin typeface="Segoe UI"/>
              </a:defRPr>
            </a:pPr>
            <a:r>
              <a:t>Volt Typhoon (G1017): PRC state-sponsored. 5+ year dwell. LOTL. Critical infrastructure. Both layers needed.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0238B6-F1A8-3DE8-471E-6F6996C56662}"/>
              </a:ext>
            </a:extLst>
          </p:cNvPr>
          <p:cNvSpPr txBox="1"/>
          <p:nvPr/>
        </p:nvSpPr>
        <p:spPr>
          <a:xfrm>
            <a:off x="109307" y="649540"/>
            <a:ext cx="11798913" cy="5262979"/>
          </a:xfrm>
          <a:prstGeom prst="rect">
            <a:avLst/>
          </a:prstGeom>
          <a:noFill/>
        </p:spPr>
        <p:txBody>
          <a:bodyPr wrap="square">
            <a:spAutoFit/>
          </a:bodyPr>
          <a:lstStyle/>
          <a:p>
            <a:pPr algn="l">
              <a:buNone/>
            </a:pPr>
            <a:r>
              <a:rPr lang="en-US" sz="1200" b="1" i="0" dirty="0">
                <a:effectLst/>
                <a:latin typeface="-apple-system"/>
              </a:rPr>
              <a:t>Stopping Volt Typhoon</a:t>
            </a:r>
          </a:p>
          <a:p>
            <a:pPr algn="l">
              <a:buNone/>
            </a:pPr>
            <a:r>
              <a:rPr lang="en-US" sz="1200" b="0" i="0" dirty="0">
                <a:effectLst/>
                <a:latin typeface="-apple-system"/>
              </a:rPr>
              <a:t>Volt Typhoon (MITRE G1017) is PRC state-sponsored, active since mid-2021, pre-positioned inside U.S. power grids, water systems, telecom, and transportation. Their goal: disrupt critical infrastructure during a future Taiwan crisis. They've had </a:t>
            </a:r>
            <a:r>
              <a:rPr lang="en-US" sz="1200" b="1" i="0" dirty="0">
                <a:effectLst/>
                <a:latin typeface="-apple-system"/>
              </a:rPr>
              <a:t>5+ year undetected dwell time</a:t>
            </a:r>
            <a:r>
              <a:rPr lang="en-US" sz="1200" b="0" i="0" dirty="0">
                <a:effectLst/>
                <a:latin typeface="-apple-system"/>
              </a:rPr>
              <a:t>.</a:t>
            </a:r>
          </a:p>
          <a:p>
            <a:pPr algn="l">
              <a:buNone/>
            </a:pPr>
            <a:r>
              <a:rPr lang="en-US" sz="1200" b="1" i="0" dirty="0">
                <a:effectLst/>
                <a:latin typeface="-apple-system"/>
              </a:rPr>
              <a:t>PREEMPTIVE LAYER — what it catches before the attacker even arrives</a:t>
            </a:r>
          </a:p>
          <a:p>
            <a:pPr algn="l">
              <a:buNone/>
            </a:pPr>
            <a:r>
              <a:rPr lang="en-US" sz="1200" b="1" i="0" dirty="0">
                <a:effectLst/>
                <a:latin typeface="-apple-system"/>
              </a:rPr>
              <a:t>Initial Access — Exploits unpatched edge devices</a:t>
            </a:r>
            <a:r>
              <a:rPr lang="en-US" sz="1200" b="0" i="0" dirty="0">
                <a:effectLst/>
                <a:latin typeface="-apple-system"/>
              </a:rPr>
              <a:t> Volt Typhoon gets in through vulnerabilities in Fortinet </a:t>
            </a:r>
            <a:r>
              <a:rPr lang="en-US" sz="1200" b="0" i="0" dirty="0" err="1">
                <a:effectLst/>
                <a:latin typeface="-apple-system"/>
              </a:rPr>
              <a:t>FortiOS</a:t>
            </a:r>
            <a:r>
              <a:rPr lang="en-US" sz="1200" b="0" i="0" dirty="0">
                <a:effectLst/>
                <a:latin typeface="-apple-system"/>
              </a:rPr>
              <a:t>, Ivanti Connect Secure, and Palo Alto PAN-OS VPN concentrators. Example: CVE-2024-21887 on an Ivanti VPN gateway at an Air Force base. Our preemptive engine ingests that CVE from CISA KEV, maps it to the IPS rule that should block it, and mathematically proves whether the IPS signature is active on every path to that device. If the signature is missing or the inspection profile is weak — that's a verified gap finding, pushed to ServiceNow immediately. Not a guess, not a scan — a proof.</a:t>
            </a:r>
          </a:p>
          <a:p>
            <a:pPr algn="l">
              <a:buNone/>
            </a:pPr>
            <a:r>
              <a:rPr lang="en-US" sz="1200" b="1" i="0" dirty="0">
                <a:effectLst/>
                <a:latin typeface="-apple-system"/>
              </a:rPr>
              <a:t>Persistence — Web shells and C2 through SOHO routers</a:t>
            </a:r>
            <a:r>
              <a:rPr lang="en-US" sz="1200" b="0" i="0" dirty="0">
                <a:effectLst/>
                <a:latin typeface="-apple-system"/>
              </a:rPr>
              <a:t> After initial access, Volt Typhoon drops web shells and routes C2 traffic through compromised home routers (TP-Link, </a:t>
            </a:r>
            <a:r>
              <a:rPr lang="en-US" sz="1200" b="0" i="0" dirty="0" err="1">
                <a:effectLst/>
                <a:latin typeface="-apple-system"/>
              </a:rPr>
              <a:t>Netgear</a:t>
            </a:r>
            <a:r>
              <a:rPr lang="en-US" sz="1200" b="0" i="0" dirty="0">
                <a:effectLst/>
                <a:latin typeface="-apple-system"/>
              </a:rPr>
              <a:t>) so traffic looks like normal residential internet. Our engine verifies that every known C2 IP from threat feeds is denied in the firewall ruleset. It checks 50M+ rule combinations across the entire NGFW stack. It also proves that WAF upload inspection is active — so web shell uploads would be blocked. If there's a gap in any of those 50 million combinations, it finds it.</a:t>
            </a:r>
          </a:p>
          <a:p>
            <a:pPr algn="l">
              <a:buNone/>
            </a:pPr>
            <a:r>
              <a:rPr lang="en-US" sz="1200" b="1" i="0" dirty="0">
                <a:effectLst/>
                <a:latin typeface="-apple-system"/>
              </a:rPr>
              <a:t>Lateral Movement — SMB/RDP/</a:t>
            </a:r>
            <a:r>
              <a:rPr lang="en-US" sz="1200" b="1" i="0" dirty="0" err="1">
                <a:effectLst/>
                <a:latin typeface="-apple-system"/>
              </a:rPr>
              <a:t>WinRM</a:t>
            </a:r>
            <a:r>
              <a:rPr lang="en-US" sz="1200" b="1" i="0" dirty="0">
                <a:effectLst/>
                <a:latin typeface="-apple-system"/>
              </a:rPr>
              <a:t> to domain controllers</a:t>
            </a:r>
            <a:r>
              <a:rPr lang="en-US" sz="1200" b="0" i="0" dirty="0">
                <a:effectLst/>
                <a:latin typeface="-apple-system"/>
              </a:rPr>
              <a:t> Once inside, they move laterally using standard Windows protocols. Example: the engine found that 3 shadowed firewall rules (rules that are overridden by higher-priority rules and therefore never fire) were inadvertently allowing SMB traffic between the DMZ and the server VLAN. No vulnerability scanner would find this because the rules </a:t>
            </a:r>
            <a:r>
              <a:rPr lang="en-US" sz="1200" b="0" i="1" dirty="0">
                <a:effectLst/>
                <a:latin typeface="-apple-system"/>
              </a:rPr>
              <a:t>exist</a:t>
            </a:r>
            <a:r>
              <a:rPr lang="en-US" sz="1200" b="0" i="0" dirty="0">
                <a:effectLst/>
                <a:latin typeface="-apple-system"/>
              </a:rPr>
              <a:t> — they just don't </a:t>
            </a:r>
            <a:r>
              <a:rPr lang="en-US" sz="1200" b="0" i="1" dirty="0">
                <a:effectLst/>
                <a:latin typeface="-apple-system"/>
              </a:rPr>
              <a:t>work</a:t>
            </a:r>
            <a:r>
              <a:rPr lang="en-US" sz="1200" b="0" i="0" dirty="0">
                <a:effectLst/>
                <a:latin typeface="-apple-system"/>
              </a:rPr>
              <a:t> due to shadowing. The math model found the path and closed it.</a:t>
            </a:r>
          </a:p>
          <a:p>
            <a:pPr algn="l">
              <a:buNone/>
            </a:pPr>
            <a:r>
              <a:rPr lang="en-US" sz="1200" b="1" i="0" dirty="0">
                <a:effectLst/>
                <a:latin typeface="-apple-system"/>
              </a:rPr>
              <a:t>ACECARD LAYER — what it catches during active exploitation</a:t>
            </a:r>
          </a:p>
          <a:p>
            <a:pPr algn="l">
              <a:buNone/>
            </a:pPr>
            <a:r>
              <a:rPr lang="en-US" sz="1200" b="1" i="0" dirty="0">
                <a:effectLst/>
                <a:latin typeface="-apple-system"/>
              </a:rPr>
              <a:t>Credential abuse (T1078) — Valid creds, every control says "approved"</a:t>
            </a:r>
            <a:r>
              <a:rPr lang="en-US" sz="1200" b="0" i="0" dirty="0">
                <a:effectLst/>
                <a:latin typeface="-apple-system"/>
              </a:rPr>
              <a:t> Volt Typhoon steals legitimate admin credentials. Every access control, every firewall, every identity system says "this is an authorized user." No signature fires. ACECARD catches it because the </a:t>
            </a:r>
            <a:r>
              <a:rPr lang="en-US" sz="1200" b="0" i="1" dirty="0">
                <a:effectLst/>
                <a:latin typeface="-apple-system"/>
              </a:rPr>
              <a:t>behavior</a:t>
            </a:r>
            <a:r>
              <a:rPr lang="en-US" sz="1200" b="0" i="0" dirty="0">
                <a:effectLst/>
                <a:latin typeface="-apple-system"/>
              </a:rPr>
              <a:t> is wrong: the entity is authenticating from a new source IP, at 2 AM (off-hours), targeting systems they've never touched before. Each signal alone is below threshold. But ACECARD's multi-signal Digital Twin sees the structural shift — the combination of new source + off-hours + unusual targets — and triggers the alarm.</a:t>
            </a:r>
          </a:p>
          <a:p>
            <a:pPr algn="l">
              <a:buNone/>
            </a:pPr>
            <a:r>
              <a:rPr lang="en-US" sz="1200" b="1" i="0" dirty="0">
                <a:effectLst/>
                <a:latin typeface="-apple-system"/>
              </a:rPr>
              <a:t>LOTL execution (T1059) — Only legitimate binaries</a:t>
            </a:r>
            <a:r>
              <a:rPr lang="en-US" sz="1200" b="0" i="0" dirty="0">
                <a:effectLst/>
                <a:latin typeface="-apple-system"/>
              </a:rPr>
              <a:t> The attacker runs </a:t>
            </a:r>
            <a:r>
              <a:rPr lang="en-US" sz="1200" b="0" i="0" dirty="0" err="1">
                <a:effectLst/>
                <a:latin typeface="Courier New" panose="02070309020205020404" pitchFamily="49" charset="0"/>
              </a:rPr>
              <a:t>ntdsutil</a:t>
            </a:r>
            <a:r>
              <a:rPr lang="en-US" sz="1200" b="0" i="0" dirty="0">
                <a:effectLst/>
                <a:latin typeface="-apple-system"/>
              </a:rPr>
              <a:t> (to dump Active Directory), </a:t>
            </a:r>
            <a:r>
              <a:rPr lang="en-US" sz="1200" b="0" i="0" dirty="0">
                <a:effectLst/>
                <a:latin typeface="Courier New" panose="02070309020205020404" pitchFamily="49" charset="0"/>
              </a:rPr>
              <a:t>wmic</a:t>
            </a:r>
            <a:r>
              <a:rPr lang="en-US" sz="1200" b="0" i="0" dirty="0">
                <a:effectLst/>
                <a:latin typeface="-apple-system"/>
              </a:rPr>
              <a:t> (for remote execution), and </a:t>
            </a:r>
            <a:r>
              <a:rPr lang="en-US" sz="1200" b="0" i="0" dirty="0" err="1">
                <a:effectLst/>
                <a:latin typeface="Courier New" panose="02070309020205020404" pitchFamily="49" charset="0"/>
              </a:rPr>
              <a:t>netsh</a:t>
            </a:r>
            <a:r>
              <a:rPr lang="en-US" sz="1200" b="0" i="0" dirty="0">
                <a:effectLst/>
                <a:latin typeface="-apple-system"/>
              </a:rPr>
              <a:t> (to modify firewall rules). Every one of these is a legitimate Windows admin tool. No malware. No signature. ACECARD captures the </a:t>
            </a:r>
            <a:r>
              <a:rPr lang="en-US" sz="1200" b="0" i="1" dirty="0">
                <a:effectLst/>
                <a:latin typeface="-apple-system"/>
              </a:rPr>
              <a:t>combination and sequence</a:t>
            </a:r>
            <a:r>
              <a:rPr lang="en-US" sz="1200" b="0" i="0" dirty="0">
                <a:effectLst/>
                <a:latin typeface="-apple-system"/>
              </a:rPr>
              <a:t> — these three tools used together, in this order, by this entity, is not something any peer in their cohort has ever done. The drift direction classifier labels it "LOTL execution." Peer cohort comparison: zero matches.</a:t>
            </a:r>
          </a:p>
          <a:p>
            <a:pPr algn="l">
              <a:buNone/>
            </a:pPr>
            <a:r>
              <a:rPr lang="en-US" sz="1200" b="1" i="0" dirty="0">
                <a:effectLst/>
                <a:latin typeface="-apple-system"/>
              </a:rPr>
              <a:t>Slow lateral (T1021) — Below every threshold</a:t>
            </a:r>
            <a:r>
              <a:rPr lang="en-US" sz="1200" b="0" i="0" dirty="0">
                <a:effectLst/>
                <a:latin typeface="-apple-system"/>
              </a:rPr>
              <a:t> Instead of scanning 100 hosts, Volt Typhoon moves to 1-2 new hosts per week. Every SIEM threshold is set for mass scanning. ACECARD's change-point detection accumulates the sub-threshold drift over weeks. Each individual hop is invisible. But the cumulative behavioral shift eventually crosses the alarm boundary — like a slowly rising water level that finally trips the flood sensor.</a:t>
            </a:r>
          </a:p>
          <a:p>
            <a:pPr algn="l">
              <a:buNone/>
            </a:pPr>
            <a:r>
              <a:rPr lang="en-US" sz="1200" b="1" i="0" dirty="0">
                <a:effectLst/>
                <a:latin typeface="-apple-system"/>
              </a:rPr>
              <a:t>Unknown C2 — Through newly compromised routers</a:t>
            </a:r>
            <a:r>
              <a:rPr lang="en-US" sz="1200" b="0" i="0" dirty="0">
                <a:effectLst/>
                <a:latin typeface="-apple-system"/>
              </a:rPr>
              <a:t> The C2 traffic routes through SOHO routers that were just compromised last week — their IPs aren't on any threat feed yet. ACECARD's network signal detects a new persistent outbound connection to an unusual destination that doesn't match this entity's historical communication pattern. The drift direction classifier labels it "C2 beaconing." No signature needed — the behavior alone is the signal.</a:t>
            </a:r>
          </a:p>
        </p:txBody>
      </p:sp>
    </p:spTree>
    <p:extLst>
      <p:ext uri="{BB962C8B-B14F-4D97-AF65-F5344CB8AC3E}">
        <p14:creationId xmlns:p14="http://schemas.microsoft.com/office/powerpoint/2010/main" val="4083138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Stopping Salt Typhoon: Both Layers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Salt Typhoon lives on misconfigured edge gear. Preemptive verifies. ACECARD detects abuse.</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9</a:t>
            </a:r>
          </a:p>
        </p:txBody>
      </p:sp>
      <p:sp>
        <p:nvSpPr>
          <p:cNvPr id="8" name="Rectangle 7"/>
          <p:cNvSpPr/>
          <p:nvPr/>
        </p:nvSpPr>
        <p:spPr>
          <a:xfrm>
            <a:off x="1097280" y="1417320"/>
            <a:ext cx="100584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435608"/>
            <a:ext cx="4572000" cy="237744"/>
          </a:xfrm>
          <a:prstGeom prst="rect">
            <a:avLst/>
          </a:prstGeom>
          <a:noFill/>
        </p:spPr>
        <p:txBody>
          <a:bodyPr wrap="square" anchor="t">
            <a:spAutoFit/>
          </a:bodyPr>
          <a:lstStyle/>
          <a:p>
            <a:pPr algn="l">
              <a:defRPr sz="1000" b="1">
                <a:solidFill>
                  <a:srgbClr val="FFFFFF"/>
                </a:solidFill>
                <a:latin typeface="Segoe UI"/>
              </a:defRPr>
            </a:pPr>
            <a:r>
              <a:t>PREEMPTIVE LAYER — config verification</a:t>
            </a:r>
          </a:p>
        </p:txBody>
      </p:sp>
      <p:sp>
        <p:nvSpPr>
          <p:cNvPr id="10" name="Rounded Rectangle 9"/>
          <p:cNvSpPr/>
          <p:nvPr/>
        </p:nvSpPr>
        <p:spPr>
          <a:xfrm>
            <a:off x="1097280" y="173736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1783080"/>
            <a:ext cx="1645920" cy="457200"/>
          </a:xfrm>
          <a:prstGeom prst="rect">
            <a:avLst/>
          </a:prstGeom>
          <a:noFill/>
        </p:spPr>
        <p:txBody>
          <a:bodyPr wrap="square" anchor="t">
            <a:spAutoFit/>
          </a:bodyPr>
          <a:lstStyle/>
          <a:p>
            <a:pPr algn="l">
              <a:defRPr sz="1000" b="1">
                <a:solidFill>
                  <a:srgbClr val="0D1B2A"/>
                </a:solidFill>
                <a:latin typeface="Segoe UI"/>
              </a:defRPr>
            </a:pPr>
            <a:r>
              <a:t>Edge CVE Exploit</a:t>
            </a:r>
          </a:p>
        </p:txBody>
      </p:sp>
      <p:sp>
        <p:nvSpPr>
          <p:cNvPr id="12" name="TextBox 11"/>
          <p:cNvSpPr txBox="1"/>
          <p:nvPr/>
        </p:nvSpPr>
        <p:spPr>
          <a:xfrm>
            <a:off x="2926080" y="1783080"/>
            <a:ext cx="3017520" cy="400110"/>
          </a:xfrm>
          <a:prstGeom prst="rect">
            <a:avLst/>
          </a:prstGeom>
          <a:noFill/>
        </p:spPr>
        <p:txBody>
          <a:bodyPr wrap="square" anchor="t">
            <a:spAutoFit/>
          </a:bodyPr>
          <a:lstStyle/>
          <a:p>
            <a:pPr algn="l">
              <a:defRPr sz="1000" b="0">
                <a:solidFill>
                  <a:srgbClr val="C0392B"/>
                </a:solidFill>
                <a:latin typeface="Segoe UI"/>
              </a:defRPr>
            </a:pPr>
            <a:r>
              <a:rPr b="1" dirty="0"/>
              <a:t>Cisco IOS XE web UI (CVE-2023-20198).</a:t>
            </a:r>
            <a:r>
              <a:rPr dirty="0"/>
              <a:t> 1000+ devices.</a:t>
            </a:r>
          </a:p>
        </p:txBody>
      </p:sp>
      <p:sp>
        <p:nvSpPr>
          <p:cNvPr id="13" name="TextBox 12"/>
          <p:cNvSpPr txBox="1"/>
          <p:nvPr/>
        </p:nvSpPr>
        <p:spPr>
          <a:xfrm>
            <a:off x="6035040" y="1783080"/>
            <a:ext cx="4937760" cy="400110"/>
          </a:xfrm>
          <a:prstGeom prst="rect">
            <a:avLst/>
          </a:prstGeom>
          <a:noFill/>
        </p:spPr>
        <p:txBody>
          <a:bodyPr wrap="square" anchor="t">
            <a:spAutoFit/>
          </a:bodyPr>
          <a:lstStyle/>
          <a:p>
            <a:pPr algn="l">
              <a:defRPr sz="1000" b="0">
                <a:solidFill>
                  <a:srgbClr val="2C3E50"/>
                </a:solidFill>
                <a:latin typeface="Segoe UI"/>
              </a:defRPr>
            </a:pPr>
            <a:r>
              <a:rPr b="1" dirty="0"/>
              <a:t>Every exposed </a:t>
            </a:r>
            <a:r>
              <a:rPr b="1" dirty="0" err="1"/>
              <a:t>mgmt</a:t>
            </a:r>
            <a:r>
              <a:rPr b="1" dirty="0"/>
              <a:t> interface flagged.</a:t>
            </a:r>
            <a:r>
              <a:rPr dirty="0"/>
              <a:t> Proves ACL blocks /</a:t>
            </a:r>
            <a:r>
              <a:rPr dirty="0" err="1"/>
              <a:t>webui</a:t>
            </a:r>
            <a:r>
              <a:rPr dirty="0"/>
              <a:t>/. Compensating control for unpatched.</a:t>
            </a:r>
          </a:p>
        </p:txBody>
      </p:sp>
      <p:sp>
        <p:nvSpPr>
          <p:cNvPr id="14" name="Rounded Rectangle 13"/>
          <p:cNvSpPr/>
          <p:nvPr/>
        </p:nvSpPr>
        <p:spPr>
          <a:xfrm>
            <a:off x="1097280" y="233172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2377440"/>
            <a:ext cx="1645920" cy="457200"/>
          </a:xfrm>
          <a:prstGeom prst="rect">
            <a:avLst/>
          </a:prstGeom>
          <a:noFill/>
        </p:spPr>
        <p:txBody>
          <a:bodyPr wrap="square" anchor="t">
            <a:spAutoFit/>
          </a:bodyPr>
          <a:lstStyle/>
          <a:p>
            <a:pPr algn="l">
              <a:defRPr sz="1000" b="1">
                <a:solidFill>
                  <a:srgbClr val="0D1B2A"/>
                </a:solidFill>
                <a:latin typeface="Segoe UI"/>
              </a:defRPr>
            </a:pPr>
            <a:r>
              <a:t>Config Persistence</a:t>
            </a:r>
          </a:p>
        </p:txBody>
      </p:sp>
      <p:sp>
        <p:nvSpPr>
          <p:cNvPr id="16" name="TextBox 15"/>
          <p:cNvSpPr txBox="1"/>
          <p:nvPr/>
        </p:nvSpPr>
        <p:spPr>
          <a:xfrm>
            <a:off x="2926080" y="2377440"/>
            <a:ext cx="3017520" cy="457200"/>
          </a:xfrm>
          <a:prstGeom prst="rect">
            <a:avLst/>
          </a:prstGeom>
          <a:noFill/>
        </p:spPr>
        <p:txBody>
          <a:bodyPr wrap="square" anchor="t">
            <a:spAutoFit/>
          </a:bodyPr>
          <a:lstStyle/>
          <a:p>
            <a:pPr algn="l">
              <a:defRPr sz="1000" b="0">
                <a:solidFill>
                  <a:srgbClr val="C0392B"/>
                </a:solidFill>
                <a:latin typeface="Segoe UI"/>
              </a:defRPr>
            </a:pPr>
            <a:r>
              <a:t>Creates local admin. Modifies router ACLs. Enables Guest Shell.</a:t>
            </a:r>
          </a:p>
        </p:txBody>
      </p:sp>
      <p:sp>
        <p:nvSpPr>
          <p:cNvPr id="17" name="TextBox 16"/>
          <p:cNvSpPr txBox="1"/>
          <p:nvPr/>
        </p:nvSpPr>
        <p:spPr>
          <a:xfrm>
            <a:off x="6035040" y="2377440"/>
            <a:ext cx="4937760" cy="400110"/>
          </a:xfrm>
          <a:prstGeom prst="rect">
            <a:avLst/>
          </a:prstGeom>
          <a:noFill/>
        </p:spPr>
        <p:txBody>
          <a:bodyPr wrap="square" anchor="t">
            <a:spAutoFit/>
          </a:bodyPr>
          <a:lstStyle/>
          <a:p>
            <a:pPr algn="l">
              <a:defRPr sz="1000" b="0">
                <a:solidFill>
                  <a:srgbClr val="2C3E50"/>
                </a:solidFill>
                <a:latin typeface="Segoe UI"/>
              </a:defRPr>
            </a:pPr>
            <a:r>
              <a:rPr b="1" dirty="0"/>
              <a:t>Hourly drift comparison to approved AAA baseline.</a:t>
            </a:r>
            <a:r>
              <a:rPr dirty="0"/>
              <a:t> New account or ACL change = immediate finding.</a:t>
            </a:r>
          </a:p>
        </p:txBody>
      </p:sp>
      <p:sp>
        <p:nvSpPr>
          <p:cNvPr id="18" name="Rounded Rectangle 17"/>
          <p:cNvSpPr/>
          <p:nvPr/>
        </p:nvSpPr>
        <p:spPr>
          <a:xfrm>
            <a:off x="1097280" y="292608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0160" y="2971800"/>
            <a:ext cx="1645920" cy="457200"/>
          </a:xfrm>
          <a:prstGeom prst="rect">
            <a:avLst/>
          </a:prstGeom>
          <a:noFill/>
        </p:spPr>
        <p:txBody>
          <a:bodyPr wrap="square" anchor="t">
            <a:spAutoFit/>
          </a:bodyPr>
          <a:lstStyle/>
          <a:p>
            <a:pPr algn="l">
              <a:defRPr sz="1000" b="1">
                <a:solidFill>
                  <a:srgbClr val="0D1B2A"/>
                </a:solidFill>
                <a:latin typeface="Segoe UI"/>
              </a:defRPr>
            </a:pPr>
            <a:r>
              <a:t>GRE Tunneling</a:t>
            </a:r>
          </a:p>
        </p:txBody>
      </p:sp>
      <p:sp>
        <p:nvSpPr>
          <p:cNvPr id="20" name="TextBox 19"/>
          <p:cNvSpPr txBox="1"/>
          <p:nvPr/>
        </p:nvSpPr>
        <p:spPr>
          <a:xfrm>
            <a:off x="2926080" y="2971800"/>
            <a:ext cx="3017520" cy="457200"/>
          </a:xfrm>
          <a:prstGeom prst="rect">
            <a:avLst/>
          </a:prstGeom>
          <a:noFill/>
        </p:spPr>
        <p:txBody>
          <a:bodyPr wrap="square" anchor="t">
            <a:spAutoFit/>
          </a:bodyPr>
          <a:lstStyle/>
          <a:p>
            <a:pPr algn="l">
              <a:defRPr sz="1000" b="0">
                <a:solidFill>
                  <a:srgbClr val="C0392B"/>
                </a:solidFill>
                <a:latin typeface="Segoe UI"/>
              </a:defRPr>
            </a:pPr>
            <a:r>
              <a:t>Configures GRE tunnels between routers for C2.</a:t>
            </a:r>
          </a:p>
        </p:txBody>
      </p:sp>
      <p:sp>
        <p:nvSpPr>
          <p:cNvPr id="21" name="TextBox 20"/>
          <p:cNvSpPr txBox="1"/>
          <p:nvPr/>
        </p:nvSpPr>
        <p:spPr>
          <a:xfrm>
            <a:off x="6035040" y="2971800"/>
            <a:ext cx="4937760" cy="400110"/>
          </a:xfrm>
          <a:prstGeom prst="rect">
            <a:avLst/>
          </a:prstGeom>
          <a:noFill/>
        </p:spPr>
        <p:txBody>
          <a:bodyPr wrap="square" anchor="t">
            <a:spAutoFit/>
          </a:bodyPr>
          <a:lstStyle/>
          <a:p>
            <a:pPr algn="l">
              <a:defRPr sz="1000" b="0">
                <a:solidFill>
                  <a:srgbClr val="2C3E50"/>
                </a:solidFill>
                <a:latin typeface="Segoe UI"/>
              </a:defRPr>
            </a:pPr>
            <a:r>
              <a:rPr dirty="0"/>
              <a:t>GRE peer authorization verified. </a:t>
            </a:r>
            <a:r>
              <a:rPr b="1" dirty="0"/>
              <a:t>Unauthorized tunnel endpoints flagged.</a:t>
            </a:r>
            <a:r>
              <a:rPr dirty="0"/>
              <a:t> Egress policy proven.</a:t>
            </a:r>
          </a:p>
        </p:txBody>
      </p:sp>
      <p:sp>
        <p:nvSpPr>
          <p:cNvPr id="22" name="Rectangle 21"/>
          <p:cNvSpPr/>
          <p:nvPr/>
        </p:nvSpPr>
        <p:spPr>
          <a:xfrm>
            <a:off x="1097280" y="3611880"/>
            <a:ext cx="100584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3630168"/>
            <a:ext cx="4572000" cy="237744"/>
          </a:xfrm>
          <a:prstGeom prst="rect">
            <a:avLst/>
          </a:prstGeom>
          <a:noFill/>
        </p:spPr>
        <p:txBody>
          <a:bodyPr wrap="square" anchor="t">
            <a:spAutoFit/>
          </a:bodyPr>
          <a:lstStyle/>
          <a:p>
            <a:pPr algn="l">
              <a:defRPr sz="1000" b="1">
                <a:solidFill>
                  <a:srgbClr val="FFFFFF"/>
                </a:solidFill>
                <a:latin typeface="Segoe UI"/>
              </a:defRPr>
            </a:pPr>
            <a:r>
              <a:t>ACECARD LAYER — behavioral detection</a:t>
            </a:r>
          </a:p>
        </p:txBody>
      </p:sp>
      <p:sp>
        <p:nvSpPr>
          <p:cNvPr id="24" name="Rounded Rectangle 23"/>
          <p:cNvSpPr/>
          <p:nvPr/>
        </p:nvSpPr>
        <p:spPr>
          <a:xfrm>
            <a:off x="1097280" y="393192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3977640"/>
            <a:ext cx="1645920" cy="457200"/>
          </a:xfrm>
          <a:prstGeom prst="rect">
            <a:avLst/>
          </a:prstGeom>
          <a:noFill/>
        </p:spPr>
        <p:txBody>
          <a:bodyPr wrap="square" anchor="t">
            <a:spAutoFit/>
          </a:bodyPr>
          <a:lstStyle/>
          <a:p>
            <a:pPr algn="l">
              <a:defRPr sz="950" b="1">
                <a:solidFill>
                  <a:srgbClr val="0D1B2A"/>
                </a:solidFill>
                <a:latin typeface="Segoe UI"/>
              </a:defRPr>
            </a:pPr>
            <a:r>
              <a:t>TACACS+ reuse</a:t>
            </a:r>
            <a:br/>
            <a:r>
              <a:t>(T1078)</a:t>
            </a:r>
          </a:p>
        </p:txBody>
      </p:sp>
      <p:sp>
        <p:nvSpPr>
          <p:cNvPr id="26" name="TextBox 25"/>
          <p:cNvSpPr txBox="1"/>
          <p:nvPr/>
        </p:nvSpPr>
        <p:spPr>
          <a:xfrm>
            <a:off x="2926080" y="3977640"/>
            <a:ext cx="3017520" cy="457200"/>
          </a:xfrm>
          <a:prstGeom prst="rect">
            <a:avLst/>
          </a:prstGeom>
          <a:noFill/>
        </p:spPr>
        <p:txBody>
          <a:bodyPr wrap="square" anchor="t">
            <a:spAutoFit/>
          </a:bodyPr>
          <a:lstStyle/>
          <a:p>
            <a:pPr algn="l">
              <a:defRPr sz="1000" b="0">
                <a:solidFill>
                  <a:srgbClr val="C0392B"/>
                </a:solidFill>
                <a:latin typeface="Segoe UI"/>
              </a:defRPr>
            </a:pPr>
            <a:r>
              <a:t>Harvested admin creds used as legit sessions</a:t>
            </a:r>
          </a:p>
        </p:txBody>
      </p:sp>
      <p:sp>
        <p:nvSpPr>
          <p:cNvPr id="27" name="TextBox 26"/>
          <p:cNvSpPr txBox="1"/>
          <p:nvPr/>
        </p:nvSpPr>
        <p:spPr>
          <a:xfrm>
            <a:off x="6035040" y="3977640"/>
            <a:ext cx="4937760" cy="400110"/>
          </a:xfrm>
          <a:prstGeom prst="rect">
            <a:avLst/>
          </a:prstGeom>
          <a:noFill/>
        </p:spPr>
        <p:txBody>
          <a:bodyPr wrap="square" anchor="t">
            <a:spAutoFit/>
          </a:bodyPr>
          <a:lstStyle/>
          <a:p>
            <a:pPr algn="l">
              <a:defRPr sz="1000" b="0">
                <a:solidFill>
                  <a:srgbClr val="2C3E50"/>
                </a:solidFill>
                <a:latin typeface="Segoe UI"/>
              </a:defRPr>
            </a:pPr>
            <a:r>
              <a:rPr b="1" dirty="0"/>
              <a:t>Same creds, different trajectory:</a:t>
            </a:r>
            <a:r>
              <a:rPr dirty="0"/>
              <a:t> unusual device sequence, off-pattern timing. Multi-signal drift alarm.</a:t>
            </a:r>
          </a:p>
        </p:txBody>
      </p:sp>
      <p:sp>
        <p:nvSpPr>
          <p:cNvPr id="28" name="Rounded Rectangle 27"/>
          <p:cNvSpPr/>
          <p:nvPr/>
        </p:nvSpPr>
        <p:spPr>
          <a:xfrm>
            <a:off x="1097280" y="452628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80160" y="4572000"/>
            <a:ext cx="1645920" cy="457200"/>
          </a:xfrm>
          <a:prstGeom prst="rect">
            <a:avLst/>
          </a:prstGeom>
          <a:noFill/>
        </p:spPr>
        <p:txBody>
          <a:bodyPr wrap="square" anchor="t">
            <a:spAutoFit/>
          </a:bodyPr>
          <a:lstStyle/>
          <a:p>
            <a:pPr algn="l">
              <a:defRPr sz="950" b="1">
                <a:solidFill>
                  <a:srgbClr val="0D1B2A"/>
                </a:solidFill>
                <a:latin typeface="Segoe UI"/>
              </a:defRPr>
            </a:pPr>
            <a:r>
              <a:t>ACL tampering</a:t>
            </a:r>
            <a:br/>
            <a:r>
              <a:t>(T1556)</a:t>
            </a:r>
          </a:p>
        </p:txBody>
      </p:sp>
      <p:sp>
        <p:nvSpPr>
          <p:cNvPr id="30" name="TextBox 29"/>
          <p:cNvSpPr txBox="1"/>
          <p:nvPr/>
        </p:nvSpPr>
        <p:spPr>
          <a:xfrm>
            <a:off x="2926080" y="4572000"/>
            <a:ext cx="3017520" cy="457200"/>
          </a:xfrm>
          <a:prstGeom prst="rect">
            <a:avLst/>
          </a:prstGeom>
          <a:noFill/>
        </p:spPr>
        <p:txBody>
          <a:bodyPr wrap="square" anchor="t">
            <a:spAutoFit/>
          </a:bodyPr>
          <a:lstStyle/>
          <a:p>
            <a:pPr algn="l">
              <a:defRPr sz="1000" b="0">
                <a:solidFill>
                  <a:srgbClr val="C0392B"/>
                </a:solidFill>
                <a:latin typeface="Segoe UI"/>
              </a:defRPr>
            </a:pPr>
            <a:r>
              <a:t>Modifies router ACLs — looks like routine maintenance</a:t>
            </a:r>
          </a:p>
        </p:txBody>
      </p:sp>
      <p:sp>
        <p:nvSpPr>
          <p:cNvPr id="31" name="TextBox 30"/>
          <p:cNvSpPr txBox="1"/>
          <p:nvPr/>
        </p:nvSpPr>
        <p:spPr>
          <a:xfrm>
            <a:off x="6035040" y="4572000"/>
            <a:ext cx="4937760" cy="400110"/>
          </a:xfrm>
          <a:prstGeom prst="rect">
            <a:avLst/>
          </a:prstGeom>
          <a:noFill/>
        </p:spPr>
        <p:txBody>
          <a:bodyPr wrap="square" anchor="t">
            <a:spAutoFit/>
          </a:bodyPr>
          <a:lstStyle/>
          <a:p>
            <a:pPr algn="l">
              <a:defRPr sz="1000" b="0">
                <a:solidFill>
                  <a:srgbClr val="2C3E50"/>
                </a:solidFill>
                <a:latin typeface="Segoe UI"/>
              </a:defRPr>
            </a:pPr>
            <a:r>
              <a:rPr dirty="0"/>
              <a:t>Identity + network signals: config change correlates with new outbound. </a:t>
            </a:r>
            <a:r>
              <a:rPr b="1" dirty="0"/>
              <a:t>Diverges from peer cohort.</a:t>
            </a:r>
          </a:p>
        </p:txBody>
      </p:sp>
      <p:sp>
        <p:nvSpPr>
          <p:cNvPr id="32" name="Rounded Rectangle 31"/>
          <p:cNvSpPr/>
          <p:nvPr/>
        </p:nvSpPr>
        <p:spPr>
          <a:xfrm>
            <a:off x="1097280" y="512064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80160" y="5166360"/>
            <a:ext cx="1645920" cy="457200"/>
          </a:xfrm>
          <a:prstGeom prst="rect">
            <a:avLst/>
          </a:prstGeom>
          <a:noFill/>
        </p:spPr>
        <p:txBody>
          <a:bodyPr wrap="square" anchor="t">
            <a:spAutoFit/>
          </a:bodyPr>
          <a:lstStyle/>
          <a:p>
            <a:pPr algn="l">
              <a:defRPr sz="950" b="1">
                <a:solidFill>
                  <a:srgbClr val="0D1B2A"/>
                </a:solidFill>
                <a:latin typeface="Segoe UI"/>
              </a:defRPr>
            </a:pPr>
            <a:r>
              <a:t>GRE tunnels</a:t>
            </a:r>
            <a:br/>
            <a:r>
              <a:t>(T1572)</a:t>
            </a:r>
          </a:p>
        </p:txBody>
      </p:sp>
      <p:sp>
        <p:nvSpPr>
          <p:cNvPr id="34" name="TextBox 33"/>
          <p:cNvSpPr txBox="1"/>
          <p:nvPr/>
        </p:nvSpPr>
        <p:spPr>
          <a:xfrm>
            <a:off x="2926080" y="5166360"/>
            <a:ext cx="3017520" cy="457200"/>
          </a:xfrm>
          <a:prstGeom prst="rect">
            <a:avLst/>
          </a:prstGeom>
          <a:noFill/>
        </p:spPr>
        <p:txBody>
          <a:bodyPr wrap="square" anchor="t">
            <a:spAutoFit/>
          </a:bodyPr>
          <a:lstStyle/>
          <a:p>
            <a:pPr algn="l">
              <a:defRPr sz="1000" b="0">
                <a:solidFill>
                  <a:srgbClr val="C0392B"/>
                </a:solidFill>
                <a:latin typeface="Segoe UI"/>
              </a:defRPr>
            </a:pPr>
            <a:r>
              <a:t>Configures tunnels between routers — normal for some operators</a:t>
            </a:r>
          </a:p>
        </p:txBody>
      </p:sp>
      <p:sp>
        <p:nvSpPr>
          <p:cNvPr id="35" name="TextBox 34"/>
          <p:cNvSpPr txBox="1"/>
          <p:nvPr/>
        </p:nvSpPr>
        <p:spPr>
          <a:xfrm>
            <a:off x="6035040" y="5166360"/>
            <a:ext cx="4937760" cy="400110"/>
          </a:xfrm>
          <a:prstGeom prst="rect">
            <a:avLst/>
          </a:prstGeom>
          <a:noFill/>
        </p:spPr>
        <p:txBody>
          <a:bodyPr wrap="square" anchor="t">
            <a:spAutoFit/>
          </a:bodyPr>
          <a:lstStyle/>
          <a:p>
            <a:pPr algn="l">
              <a:defRPr sz="1000" b="0">
                <a:solidFill>
                  <a:srgbClr val="2C3E50"/>
                </a:solidFill>
                <a:latin typeface="Segoe UI"/>
              </a:defRPr>
            </a:pPr>
            <a:r>
              <a:rPr dirty="0"/>
              <a:t>This admin never creates tunnels; this device never had tunnel activity. </a:t>
            </a:r>
            <a:r>
              <a:rPr b="1" dirty="0"/>
              <a:t>Direction: "protocol tunneling."</a:t>
            </a:r>
          </a:p>
        </p:txBody>
      </p:sp>
      <p:sp>
        <p:nvSpPr>
          <p:cNvPr id="36" name="Rounded Rectangle 35"/>
          <p:cNvSpPr/>
          <p:nvPr/>
        </p:nvSpPr>
        <p:spPr>
          <a:xfrm>
            <a:off x="1097280" y="571500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280160" y="5760720"/>
            <a:ext cx="1645920" cy="457200"/>
          </a:xfrm>
          <a:prstGeom prst="rect">
            <a:avLst/>
          </a:prstGeom>
          <a:noFill/>
        </p:spPr>
        <p:txBody>
          <a:bodyPr wrap="square" anchor="t">
            <a:spAutoFit/>
          </a:bodyPr>
          <a:lstStyle/>
          <a:p>
            <a:pPr algn="l">
              <a:defRPr sz="950" b="1">
                <a:solidFill>
                  <a:srgbClr val="0D1B2A"/>
                </a:solidFill>
                <a:latin typeface="Segoe UI"/>
              </a:defRPr>
            </a:pPr>
            <a:r>
              <a:t>CDR exfil</a:t>
            </a:r>
            <a:br/>
            <a:r>
              <a:t>(T1041)</a:t>
            </a:r>
          </a:p>
        </p:txBody>
      </p:sp>
      <p:sp>
        <p:nvSpPr>
          <p:cNvPr id="38" name="TextBox 37"/>
          <p:cNvSpPr txBox="1"/>
          <p:nvPr/>
        </p:nvSpPr>
        <p:spPr>
          <a:xfrm>
            <a:off x="2926080" y="5760720"/>
            <a:ext cx="3017520" cy="457200"/>
          </a:xfrm>
          <a:prstGeom prst="rect">
            <a:avLst/>
          </a:prstGeom>
          <a:noFill/>
        </p:spPr>
        <p:txBody>
          <a:bodyPr wrap="square" anchor="t">
            <a:spAutoFit/>
          </a:bodyPr>
          <a:lstStyle/>
          <a:p>
            <a:pPr algn="l">
              <a:defRPr sz="1000" b="0">
                <a:solidFill>
                  <a:srgbClr val="C0392B"/>
                </a:solidFill>
                <a:latin typeface="Segoe UI"/>
              </a:defRPr>
            </a:pPr>
            <a:r>
              <a:t>Slow steady data movement. Under volume thresholds.</a:t>
            </a:r>
          </a:p>
        </p:txBody>
      </p:sp>
      <p:sp>
        <p:nvSpPr>
          <p:cNvPr id="39" name="TextBox 38"/>
          <p:cNvSpPr txBox="1"/>
          <p:nvPr/>
        </p:nvSpPr>
        <p:spPr>
          <a:xfrm>
            <a:off x="6035040" y="5760720"/>
            <a:ext cx="4937760" cy="400110"/>
          </a:xfrm>
          <a:prstGeom prst="rect">
            <a:avLst/>
          </a:prstGeom>
          <a:noFill/>
        </p:spPr>
        <p:txBody>
          <a:bodyPr wrap="square" anchor="t">
            <a:spAutoFit/>
          </a:bodyPr>
          <a:lstStyle/>
          <a:p>
            <a:pPr algn="l">
              <a:defRPr sz="1000" b="0">
                <a:solidFill>
                  <a:srgbClr val="2C3E50"/>
                </a:solidFill>
                <a:latin typeface="Segoe UI"/>
              </a:defRPr>
            </a:pPr>
            <a:r>
              <a:rPr b="1" dirty="0"/>
              <a:t>Change-point accumulates gradual shift in data access. Peer comparison: no other admin has this trajectory.</a:t>
            </a:r>
          </a:p>
        </p:txBody>
      </p:sp>
      <p:sp>
        <p:nvSpPr>
          <p:cNvPr id="40" name="Rounded Rectangle 39"/>
          <p:cNvSpPr/>
          <p:nvPr/>
        </p:nvSpPr>
        <p:spPr>
          <a:xfrm>
            <a:off x="1097280" y="6217920"/>
            <a:ext cx="10058400" cy="27432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71600" y="6236208"/>
            <a:ext cx="9601200" cy="237744"/>
          </a:xfrm>
          <a:prstGeom prst="rect">
            <a:avLst/>
          </a:prstGeom>
          <a:noFill/>
        </p:spPr>
        <p:txBody>
          <a:bodyPr wrap="square" anchor="t">
            <a:spAutoFit/>
          </a:bodyPr>
          <a:lstStyle/>
          <a:p>
            <a:pPr algn="ctr">
              <a:defRPr sz="950" b="1">
                <a:solidFill>
                  <a:srgbClr val="0D1B2A"/>
                </a:solidFill>
                <a:latin typeface="Segoe UI"/>
              </a:defRPr>
            </a:pPr>
            <a:r>
              <a:t>Salt Typhoon: 200+ telcos. 4+ year dwell. CALEA access. Config-resident. Both layers stop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2E12E3-65AB-498E-C57F-D01D533F7888}"/>
              </a:ext>
            </a:extLst>
          </p:cNvPr>
          <p:cNvSpPr txBox="1"/>
          <p:nvPr/>
        </p:nvSpPr>
        <p:spPr>
          <a:xfrm>
            <a:off x="365760" y="927013"/>
            <a:ext cx="11199824" cy="5078313"/>
          </a:xfrm>
          <a:prstGeom prst="rect">
            <a:avLst/>
          </a:prstGeom>
          <a:noFill/>
        </p:spPr>
        <p:txBody>
          <a:bodyPr wrap="square">
            <a:spAutoFit/>
          </a:bodyPr>
          <a:lstStyle/>
          <a:p>
            <a:pPr algn="l">
              <a:buNone/>
            </a:pPr>
            <a:r>
              <a:rPr lang="en-US" sz="1200" b="1" i="0" dirty="0">
                <a:effectLst/>
                <a:latin typeface="-apple-system"/>
              </a:rPr>
              <a:t>Stopping Salt Typhoon</a:t>
            </a:r>
          </a:p>
          <a:p>
            <a:pPr algn="l">
              <a:buNone/>
            </a:pPr>
            <a:r>
              <a:rPr lang="en-US" sz="1200" b="0" i="0" dirty="0">
                <a:effectLst/>
                <a:latin typeface="-apple-system"/>
              </a:rPr>
              <a:t>Salt Typhoon compromised 200+ telecom providers across 80+ countries, including 9 major U.S. carriers. They gained access to CALEA wiretap systems — meaning they could surveil any phone call the government was legally monitoring. </a:t>
            </a:r>
            <a:r>
              <a:rPr lang="en-US" sz="1200" b="1" i="0" dirty="0">
                <a:effectLst/>
                <a:latin typeface="-apple-system"/>
              </a:rPr>
              <a:t>4+ year dwell time</a:t>
            </a:r>
            <a:r>
              <a:rPr lang="en-US" sz="1200" b="0" i="0" dirty="0">
                <a:effectLst/>
                <a:latin typeface="-apple-system"/>
              </a:rPr>
              <a:t>. The attack IS the router configuration itself.</a:t>
            </a:r>
          </a:p>
          <a:p>
            <a:pPr algn="l">
              <a:buNone/>
            </a:pPr>
            <a:r>
              <a:rPr lang="en-US" sz="1200" b="1" i="0" dirty="0">
                <a:effectLst/>
                <a:latin typeface="-apple-system"/>
              </a:rPr>
              <a:t>PREEMPTIVE LAYER</a:t>
            </a:r>
          </a:p>
          <a:p>
            <a:pPr algn="l">
              <a:buNone/>
            </a:pPr>
            <a:r>
              <a:rPr lang="en-US" sz="1200" b="1" i="0" dirty="0">
                <a:effectLst/>
                <a:latin typeface="-apple-system"/>
              </a:rPr>
              <a:t>Edge CVE Exploit — Cisco IOS XE (CVE-2023-20198)</a:t>
            </a:r>
            <a:r>
              <a:rPr lang="en-US" sz="1200" b="0" i="0" dirty="0">
                <a:effectLst/>
                <a:latin typeface="-apple-system"/>
              </a:rPr>
              <a:t> Salt Typhoon exploited the web UI on Cisco IOS XE routers — 1000+ devices hit globally. Our engine flags every router where the management interface (</a:t>
            </a:r>
            <a:r>
              <a:rPr lang="en-US" sz="1200" b="0" i="0" dirty="0">
                <a:effectLst/>
                <a:latin typeface="Courier New" panose="02070309020205020404" pitchFamily="49" charset="0"/>
              </a:rPr>
              <a:t>/</a:t>
            </a:r>
            <a:r>
              <a:rPr lang="en-US" sz="1200" b="0" i="0" dirty="0" err="1">
                <a:effectLst/>
                <a:latin typeface="Courier New" panose="02070309020205020404" pitchFamily="49" charset="0"/>
              </a:rPr>
              <a:t>webui</a:t>
            </a:r>
            <a:r>
              <a:rPr lang="en-US" sz="1200" b="0" i="0" dirty="0">
                <a:effectLst/>
                <a:latin typeface="Courier New" panose="02070309020205020404" pitchFamily="49" charset="0"/>
              </a:rPr>
              <a:t>/</a:t>
            </a:r>
            <a:r>
              <a:rPr lang="en-US" sz="1200" b="0" i="0" dirty="0">
                <a:effectLst/>
                <a:latin typeface="-apple-system"/>
              </a:rPr>
              <a:t>) is exposed. It then proves whether the ACL on that interface actually blocks external access. For unpatched devices, it identifies compensating controls (e.g., restricting management access to a jump box VLAN only) and verifies they're in place.</a:t>
            </a:r>
          </a:p>
          <a:p>
            <a:pPr algn="l">
              <a:buNone/>
            </a:pPr>
            <a:r>
              <a:rPr lang="en-US" sz="1200" b="1" i="0" dirty="0">
                <a:effectLst/>
                <a:latin typeface="-apple-system"/>
              </a:rPr>
              <a:t>Config Persistence — The attack IS the configuration</a:t>
            </a:r>
            <a:r>
              <a:rPr lang="en-US" sz="1200" b="0" i="0" dirty="0">
                <a:effectLst/>
                <a:latin typeface="-apple-system"/>
              </a:rPr>
              <a:t> This is what makes Salt Typhoon unique: they don't drop malware. They create a local admin account on the router, modify ACLs to allow their traffic, and enable Guest Shell for command execution. The persistence mechanism is the configuration itself — there's nothing for EDR to scan. Our engine runs hourly drift comparison against the approved AAA baseline. A new local account or ACL change that wasn't in the approved config = immediate finding. No human has to review — the math model flags the delta automatically.</a:t>
            </a:r>
          </a:p>
          <a:p>
            <a:pPr algn="l">
              <a:buNone/>
            </a:pPr>
            <a:r>
              <a:rPr lang="en-US" sz="1200" b="1" i="0" dirty="0">
                <a:effectLst/>
                <a:latin typeface="-apple-system"/>
              </a:rPr>
              <a:t>GRE Tunneling — C2 through router-to-router tunnels</a:t>
            </a:r>
            <a:r>
              <a:rPr lang="en-US" sz="1200" b="0" i="0" dirty="0">
                <a:effectLst/>
                <a:latin typeface="-apple-system"/>
              </a:rPr>
              <a:t> Salt Typhoon configures GRE tunnels between compromised routers, creating a private C2 network inside the telecom's own infrastructure. Our engine verifies GRE peer authorization — only approved tunnel endpoints should exist. Any unauthorized tunnel endpoint is flagged. Egress policy is proven — the model verifies that tunnel traffic can't reach external destinations without inspection.</a:t>
            </a:r>
          </a:p>
          <a:p>
            <a:pPr algn="l">
              <a:buNone/>
            </a:pPr>
            <a:r>
              <a:rPr lang="en-US" sz="1200" b="1" i="0" dirty="0">
                <a:effectLst/>
                <a:latin typeface="-apple-system"/>
              </a:rPr>
              <a:t>ACECARD LAYER</a:t>
            </a:r>
          </a:p>
          <a:p>
            <a:pPr algn="l">
              <a:buNone/>
            </a:pPr>
            <a:r>
              <a:rPr lang="en-US" sz="1200" b="1" i="0" dirty="0">
                <a:effectLst/>
                <a:latin typeface="-apple-system"/>
              </a:rPr>
              <a:t>TACACS+ reuse (T1078) — Harvested admin credentials</a:t>
            </a:r>
            <a:r>
              <a:rPr lang="en-US" sz="1200" b="0" i="0" dirty="0">
                <a:effectLst/>
                <a:latin typeface="-apple-system"/>
              </a:rPr>
              <a:t> Salt Typhoon harvests TACACS+ credentials from the router itself and reuses them across the network. Every authentication succeeds because the credentials are valid. ACECARD detects that the same credentials are now being used with a completely different trajectory — unusual device sequence (hitting routers they've never managed before), off-pattern timing (config changes at 3 AM when this admin works 9-5). Multi-signal drift alarm fires.</a:t>
            </a:r>
          </a:p>
          <a:p>
            <a:pPr algn="l">
              <a:buNone/>
            </a:pPr>
            <a:r>
              <a:rPr lang="en-US" sz="1200" b="1" i="0" dirty="0">
                <a:effectLst/>
                <a:latin typeface="-apple-system"/>
              </a:rPr>
              <a:t>ACL tampering (T1556) — Looks like routine maintenance</a:t>
            </a:r>
            <a:r>
              <a:rPr lang="en-US" sz="1200" b="0" i="0" dirty="0">
                <a:effectLst/>
                <a:latin typeface="-apple-system"/>
              </a:rPr>
              <a:t> Modifying router ACLs is what network admins do every day. Salt Typhoon's ACL changes look identical to routine maintenance. ACECARD catches it by correlating identity + network signals: the config change happens, and within minutes there's new outbound traffic on the path that was just opened. That correlation diverges from the peer cohort — no other admin's ACL changes are immediately followed by new outbound flows.</a:t>
            </a:r>
          </a:p>
          <a:p>
            <a:pPr algn="l">
              <a:buNone/>
            </a:pPr>
            <a:r>
              <a:rPr lang="en-US" sz="1200" b="1" i="0" dirty="0">
                <a:effectLst/>
                <a:latin typeface="-apple-system"/>
              </a:rPr>
              <a:t>GRE tunnels (T1572) — Normal for some operators</a:t>
            </a:r>
            <a:r>
              <a:rPr lang="en-US" sz="1200" b="0" i="0" dirty="0">
                <a:effectLst/>
                <a:latin typeface="-apple-system"/>
              </a:rPr>
              <a:t> Some network engineers create GRE tunnels as part of their job. But ACECARD knows that </a:t>
            </a:r>
            <a:r>
              <a:rPr lang="en-US" sz="1200" b="0" i="1" dirty="0">
                <a:effectLst/>
                <a:latin typeface="-apple-system"/>
              </a:rPr>
              <a:t>this specific admin</a:t>
            </a:r>
            <a:r>
              <a:rPr lang="en-US" sz="1200" b="0" i="0" dirty="0">
                <a:effectLst/>
                <a:latin typeface="-apple-system"/>
              </a:rPr>
              <a:t> has never created tunnels, and </a:t>
            </a:r>
            <a:r>
              <a:rPr lang="en-US" sz="1200" b="0" i="1" dirty="0">
                <a:effectLst/>
                <a:latin typeface="-apple-system"/>
              </a:rPr>
              <a:t>this specific device</a:t>
            </a:r>
            <a:r>
              <a:rPr lang="en-US" sz="1200" b="0" i="0" dirty="0">
                <a:effectLst/>
                <a:latin typeface="-apple-system"/>
              </a:rPr>
              <a:t> has never had tunnel activity. The behavioral profile for both the user entity and the device entity shows zero tunnel history. The drift direction classifier labels it "protocol tunneling."</a:t>
            </a:r>
          </a:p>
          <a:p>
            <a:pPr algn="l">
              <a:buNone/>
            </a:pPr>
            <a:r>
              <a:rPr lang="en-US" sz="1200" b="1" i="0" dirty="0">
                <a:effectLst/>
                <a:latin typeface="-apple-system"/>
              </a:rPr>
              <a:t>CDR exfiltration (T1041) — Slow and steady</a:t>
            </a:r>
            <a:r>
              <a:rPr lang="en-US" sz="1200" b="0" i="0" dirty="0">
                <a:effectLst/>
                <a:latin typeface="-apple-system"/>
              </a:rPr>
              <a:t> Salt Typhoon exfiltrates call detail records (CDR) and metadata slowly — small volumes over months, well under any DLP threshold. ACECARD's change-point detection accumulates the gradual shift in data access patterns. Peer comparison seals it: no other admin with similar role and access has this data movement trajectory. The drift is real, cumulative, and unique to this entity.</a:t>
            </a:r>
          </a:p>
        </p:txBody>
      </p:sp>
    </p:spTree>
    <p:extLst>
      <p:ext uri="{BB962C8B-B14F-4D97-AF65-F5344CB8AC3E}">
        <p14:creationId xmlns:p14="http://schemas.microsoft.com/office/powerpoint/2010/main" val="721752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Combined Detection Timeline</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Real scenario: Volt Typhoon campaign. Preemptive finds the gap. ACECARD catches the exploitation.</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10</a:t>
            </a:r>
          </a:p>
        </p:txBody>
      </p:sp>
      <p:sp>
        <p:nvSpPr>
          <p:cNvPr id="8" name="Rounded Rectangle 7"/>
          <p:cNvSpPr/>
          <p:nvPr/>
        </p:nvSpPr>
        <p:spPr>
          <a:xfrm>
            <a:off x="1097280" y="1325880"/>
            <a:ext cx="10058400" cy="320040"/>
          </a:xfrm>
          <a:prstGeom prst="round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1344168"/>
            <a:ext cx="9601200" cy="274320"/>
          </a:xfrm>
          <a:prstGeom prst="rect">
            <a:avLst/>
          </a:prstGeom>
          <a:noFill/>
        </p:spPr>
        <p:txBody>
          <a:bodyPr wrap="square" anchor="t">
            <a:spAutoFit/>
          </a:bodyPr>
          <a:lstStyle/>
          <a:p>
            <a:pPr algn="l">
              <a:defRPr sz="1100" b="1">
                <a:solidFill>
                  <a:srgbClr val="C0392B"/>
                </a:solidFill>
                <a:latin typeface="Segoe UI"/>
              </a:defRPr>
            </a:pPr>
            <a:r>
              <a:t>Scenario: Volt Typhoon targets Air Force network via Fortinet VPN CVE + LOTL credential access</a:t>
            </a:r>
          </a:p>
        </p:txBody>
      </p:sp>
      <p:sp>
        <p:nvSpPr>
          <p:cNvPr id="10" name="Rounded Rectangle 9"/>
          <p:cNvSpPr/>
          <p:nvPr/>
        </p:nvSpPr>
        <p:spPr>
          <a:xfrm>
            <a:off x="1097280" y="173736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43000" y="1865376"/>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61288" y="1883664"/>
            <a:ext cx="603504" cy="219456"/>
          </a:xfrm>
          <a:prstGeom prst="rect">
            <a:avLst/>
          </a:prstGeom>
          <a:noFill/>
        </p:spPr>
        <p:txBody>
          <a:bodyPr wrap="square" anchor="t">
            <a:spAutoFit/>
          </a:bodyPr>
          <a:lstStyle/>
          <a:p>
            <a:pPr algn="ctr">
              <a:defRPr sz="850" b="1">
                <a:solidFill>
                  <a:srgbClr val="FFFFFF"/>
                </a:solidFill>
                <a:latin typeface="Segoe UI"/>
              </a:defRPr>
            </a:pPr>
            <a:r>
              <a:t>T-30d</a:t>
            </a:r>
          </a:p>
        </p:txBody>
      </p:sp>
      <p:sp>
        <p:nvSpPr>
          <p:cNvPr id="13" name="Rectangle 12"/>
          <p:cNvSpPr/>
          <p:nvPr/>
        </p:nvSpPr>
        <p:spPr>
          <a:xfrm>
            <a:off x="1874519" y="1865376"/>
            <a:ext cx="1371600" cy="256032"/>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92807" y="1883664"/>
            <a:ext cx="1335024" cy="219456"/>
          </a:xfrm>
          <a:prstGeom prst="rect">
            <a:avLst/>
          </a:prstGeom>
          <a:noFill/>
        </p:spPr>
        <p:txBody>
          <a:bodyPr wrap="square" anchor="t">
            <a:spAutoFit/>
          </a:bodyPr>
          <a:lstStyle/>
          <a:p>
            <a:pPr algn="ctr">
              <a:defRPr sz="800" b="1">
                <a:solidFill>
                  <a:srgbClr val="FFFFFF"/>
                </a:solidFill>
                <a:latin typeface="Segoe UI"/>
              </a:defRPr>
            </a:pPr>
            <a:r>
              <a:t>PREEMPTIVE</a:t>
            </a:r>
          </a:p>
        </p:txBody>
      </p:sp>
      <p:sp>
        <p:nvSpPr>
          <p:cNvPr id="15" name="TextBox 14"/>
          <p:cNvSpPr txBox="1"/>
          <p:nvPr/>
        </p:nvSpPr>
        <p:spPr>
          <a:xfrm>
            <a:off x="3383280" y="1847088"/>
            <a:ext cx="7589520" cy="261610"/>
          </a:xfrm>
          <a:prstGeom prst="rect">
            <a:avLst/>
          </a:prstGeom>
          <a:noFill/>
        </p:spPr>
        <p:txBody>
          <a:bodyPr wrap="square" anchor="t">
            <a:spAutoFit/>
          </a:bodyPr>
          <a:lstStyle/>
          <a:p>
            <a:pPr algn="l">
              <a:defRPr sz="1100" b="0">
                <a:solidFill>
                  <a:srgbClr val="2C3E50"/>
                </a:solidFill>
                <a:latin typeface="Segoe UI"/>
              </a:defRPr>
            </a:pPr>
            <a:r>
              <a:rPr b="1" dirty="0"/>
              <a:t>Identifies missing IPS signature on VPN concentrator. Gap finding pushed to ticketing.</a:t>
            </a:r>
          </a:p>
        </p:txBody>
      </p:sp>
      <p:sp>
        <p:nvSpPr>
          <p:cNvPr id="16" name="Rounded Rectangle 15"/>
          <p:cNvSpPr/>
          <p:nvPr/>
        </p:nvSpPr>
        <p:spPr>
          <a:xfrm>
            <a:off x="1097280" y="2313432"/>
            <a:ext cx="10058400" cy="54864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43000" y="2441448"/>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1288" y="2459736"/>
            <a:ext cx="603504" cy="219456"/>
          </a:xfrm>
          <a:prstGeom prst="rect">
            <a:avLst/>
          </a:prstGeom>
          <a:noFill/>
        </p:spPr>
        <p:txBody>
          <a:bodyPr wrap="square" anchor="t">
            <a:spAutoFit/>
          </a:bodyPr>
          <a:lstStyle/>
          <a:p>
            <a:pPr algn="ctr">
              <a:defRPr sz="850" b="1">
                <a:solidFill>
                  <a:srgbClr val="FFFFFF"/>
                </a:solidFill>
                <a:latin typeface="Segoe UI"/>
              </a:defRPr>
            </a:pPr>
            <a:r>
              <a:t>T-30d</a:t>
            </a:r>
          </a:p>
        </p:txBody>
      </p:sp>
      <p:sp>
        <p:nvSpPr>
          <p:cNvPr id="19" name="Rectangle 18"/>
          <p:cNvSpPr/>
          <p:nvPr/>
        </p:nvSpPr>
        <p:spPr>
          <a:xfrm>
            <a:off x="1874519" y="2441448"/>
            <a:ext cx="1371600" cy="25603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92807" y="2459736"/>
            <a:ext cx="1335024" cy="219456"/>
          </a:xfrm>
          <a:prstGeom prst="rect">
            <a:avLst/>
          </a:prstGeom>
          <a:noFill/>
        </p:spPr>
        <p:txBody>
          <a:bodyPr wrap="square" anchor="t">
            <a:spAutoFit/>
          </a:bodyPr>
          <a:lstStyle/>
          <a:p>
            <a:pPr algn="ctr">
              <a:defRPr sz="800" b="1">
                <a:solidFill>
                  <a:srgbClr val="FFFFFF"/>
                </a:solidFill>
                <a:latin typeface="Segoe UI"/>
              </a:defRPr>
            </a:pPr>
            <a:r>
              <a:t>INTEGRATION</a:t>
            </a:r>
          </a:p>
        </p:txBody>
      </p:sp>
      <p:sp>
        <p:nvSpPr>
          <p:cNvPr id="21" name="TextBox 20"/>
          <p:cNvSpPr txBox="1"/>
          <p:nvPr/>
        </p:nvSpPr>
        <p:spPr>
          <a:xfrm>
            <a:off x="3383280" y="2423160"/>
            <a:ext cx="7589520" cy="411480"/>
          </a:xfrm>
          <a:prstGeom prst="rect">
            <a:avLst/>
          </a:prstGeom>
          <a:noFill/>
        </p:spPr>
        <p:txBody>
          <a:bodyPr wrap="square" anchor="t">
            <a:spAutoFit/>
          </a:bodyPr>
          <a:lstStyle/>
          <a:p>
            <a:pPr algn="l">
              <a:defRPr sz="1100" b="0">
                <a:solidFill>
                  <a:srgbClr val="2C3E50"/>
                </a:solidFill>
                <a:latin typeface="Segoe UI"/>
              </a:defRPr>
            </a:pPr>
            <a:r>
              <a:t>Gap triggers trust floor reduction. Behavioral sensitivity auto-heightened for VPN zone.</a:t>
            </a:r>
          </a:p>
        </p:txBody>
      </p:sp>
      <p:sp>
        <p:nvSpPr>
          <p:cNvPr id="22" name="Rounded Rectangle 21"/>
          <p:cNvSpPr/>
          <p:nvPr/>
        </p:nvSpPr>
        <p:spPr>
          <a:xfrm>
            <a:off x="1097280" y="2889504"/>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143000" y="3017520"/>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61288" y="3035808"/>
            <a:ext cx="603504" cy="219456"/>
          </a:xfrm>
          <a:prstGeom prst="rect">
            <a:avLst/>
          </a:prstGeom>
          <a:noFill/>
        </p:spPr>
        <p:txBody>
          <a:bodyPr wrap="square" anchor="t">
            <a:spAutoFit/>
          </a:bodyPr>
          <a:lstStyle/>
          <a:p>
            <a:pPr algn="ctr">
              <a:defRPr sz="850" b="1">
                <a:solidFill>
                  <a:srgbClr val="FFFFFF"/>
                </a:solidFill>
                <a:latin typeface="Segoe UI"/>
              </a:defRPr>
            </a:pPr>
            <a:r>
              <a:t>T+0</a:t>
            </a:r>
          </a:p>
        </p:txBody>
      </p:sp>
      <p:sp>
        <p:nvSpPr>
          <p:cNvPr id="25" name="Rectangle 24"/>
          <p:cNvSpPr/>
          <p:nvPr/>
        </p:nvSpPr>
        <p:spPr>
          <a:xfrm>
            <a:off x="1874519" y="3017520"/>
            <a:ext cx="1371600" cy="2560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92807" y="3035808"/>
            <a:ext cx="1335024" cy="219456"/>
          </a:xfrm>
          <a:prstGeom prst="rect">
            <a:avLst/>
          </a:prstGeom>
          <a:noFill/>
        </p:spPr>
        <p:txBody>
          <a:bodyPr wrap="square" anchor="t">
            <a:spAutoFit/>
          </a:bodyPr>
          <a:lstStyle/>
          <a:p>
            <a:pPr algn="ctr">
              <a:defRPr sz="800" b="1">
                <a:solidFill>
                  <a:srgbClr val="FFFFFF"/>
                </a:solidFill>
                <a:latin typeface="Segoe UI"/>
              </a:defRPr>
            </a:pPr>
            <a:r>
              <a:t>ATTACKER</a:t>
            </a:r>
          </a:p>
        </p:txBody>
      </p:sp>
      <p:sp>
        <p:nvSpPr>
          <p:cNvPr id="27" name="TextBox 26"/>
          <p:cNvSpPr txBox="1"/>
          <p:nvPr/>
        </p:nvSpPr>
        <p:spPr>
          <a:xfrm>
            <a:off x="3383280" y="2999232"/>
            <a:ext cx="7589520" cy="261610"/>
          </a:xfrm>
          <a:prstGeom prst="rect">
            <a:avLst/>
          </a:prstGeom>
          <a:noFill/>
        </p:spPr>
        <p:txBody>
          <a:bodyPr wrap="square" anchor="t">
            <a:spAutoFit/>
          </a:bodyPr>
          <a:lstStyle/>
          <a:p>
            <a:pPr algn="l">
              <a:defRPr sz="1100" b="0">
                <a:solidFill>
                  <a:srgbClr val="2C3E50"/>
                </a:solidFill>
                <a:latin typeface="Segoe UI"/>
              </a:defRPr>
            </a:pPr>
            <a:r>
              <a:rPr b="1" dirty="0">
                <a:solidFill>
                  <a:srgbClr val="FF0000"/>
                </a:solidFill>
              </a:rPr>
              <a:t>Exploits CVE. Lands on device. Creates local admin. Begins LOTL reconnaissance.</a:t>
            </a:r>
          </a:p>
        </p:txBody>
      </p:sp>
      <p:sp>
        <p:nvSpPr>
          <p:cNvPr id="28" name="Rounded Rectangle 27"/>
          <p:cNvSpPr/>
          <p:nvPr/>
        </p:nvSpPr>
        <p:spPr>
          <a:xfrm>
            <a:off x="1097280" y="3465576"/>
            <a:ext cx="10058400" cy="54864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143000" y="3593592"/>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61288" y="3611880"/>
            <a:ext cx="603504" cy="219456"/>
          </a:xfrm>
          <a:prstGeom prst="rect">
            <a:avLst/>
          </a:prstGeom>
          <a:noFill/>
        </p:spPr>
        <p:txBody>
          <a:bodyPr wrap="square" anchor="t">
            <a:spAutoFit/>
          </a:bodyPr>
          <a:lstStyle/>
          <a:p>
            <a:pPr algn="ctr">
              <a:defRPr sz="850" b="1">
                <a:solidFill>
                  <a:srgbClr val="FFFFFF"/>
                </a:solidFill>
                <a:latin typeface="Segoe UI"/>
              </a:defRPr>
            </a:pPr>
            <a:r>
              <a:t>T+2h</a:t>
            </a:r>
          </a:p>
        </p:txBody>
      </p:sp>
      <p:sp>
        <p:nvSpPr>
          <p:cNvPr id="31" name="Rectangle 30"/>
          <p:cNvSpPr/>
          <p:nvPr/>
        </p:nvSpPr>
        <p:spPr>
          <a:xfrm>
            <a:off x="1874519" y="3593592"/>
            <a:ext cx="1371600" cy="256032"/>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92807" y="3611880"/>
            <a:ext cx="1335024" cy="219456"/>
          </a:xfrm>
          <a:prstGeom prst="rect">
            <a:avLst/>
          </a:prstGeom>
          <a:noFill/>
        </p:spPr>
        <p:txBody>
          <a:bodyPr wrap="square" anchor="t">
            <a:spAutoFit/>
          </a:bodyPr>
          <a:lstStyle/>
          <a:p>
            <a:pPr algn="ctr">
              <a:defRPr sz="800" b="1">
                <a:solidFill>
                  <a:srgbClr val="FFFFFF"/>
                </a:solidFill>
                <a:latin typeface="Segoe UI"/>
              </a:defRPr>
            </a:pPr>
            <a:r>
              <a:t>ACECARD</a:t>
            </a:r>
          </a:p>
        </p:txBody>
      </p:sp>
      <p:sp>
        <p:nvSpPr>
          <p:cNvPr id="33" name="TextBox 32"/>
          <p:cNvSpPr txBox="1"/>
          <p:nvPr/>
        </p:nvSpPr>
        <p:spPr>
          <a:xfrm>
            <a:off x="3383280" y="3575304"/>
            <a:ext cx="7589520" cy="261610"/>
          </a:xfrm>
          <a:prstGeom prst="rect">
            <a:avLst/>
          </a:prstGeom>
          <a:noFill/>
        </p:spPr>
        <p:txBody>
          <a:bodyPr wrap="square" anchor="t">
            <a:spAutoFit/>
          </a:bodyPr>
          <a:lstStyle/>
          <a:p>
            <a:pPr algn="l">
              <a:defRPr sz="1100" b="0">
                <a:solidFill>
                  <a:srgbClr val="2C3E50"/>
                </a:solidFill>
                <a:latin typeface="Segoe UI"/>
              </a:defRPr>
            </a:pPr>
            <a:r>
              <a:rPr b="1" dirty="0"/>
              <a:t>Entity enters with reduced trust. Auth signal: new source, off-hours. Drift accumulating.</a:t>
            </a:r>
          </a:p>
        </p:txBody>
      </p:sp>
      <p:sp>
        <p:nvSpPr>
          <p:cNvPr id="34" name="Rounded Rectangle 33"/>
          <p:cNvSpPr/>
          <p:nvPr/>
        </p:nvSpPr>
        <p:spPr>
          <a:xfrm>
            <a:off x="1097280" y="4041648"/>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43000" y="4169664"/>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61288" y="4187952"/>
            <a:ext cx="603504" cy="219456"/>
          </a:xfrm>
          <a:prstGeom prst="rect">
            <a:avLst/>
          </a:prstGeom>
          <a:noFill/>
        </p:spPr>
        <p:txBody>
          <a:bodyPr wrap="square" anchor="t">
            <a:spAutoFit/>
          </a:bodyPr>
          <a:lstStyle/>
          <a:p>
            <a:pPr algn="ctr">
              <a:defRPr sz="850" b="1">
                <a:solidFill>
                  <a:srgbClr val="FFFFFF"/>
                </a:solidFill>
                <a:latin typeface="Segoe UI"/>
              </a:defRPr>
            </a:pPr>
            <a:r>
              <a:t>T+6h</a:t>
            </a:r>
          </a:p>
        </p:txBody>
      </p:sp>
      <p:sp>
        <p:nvSpPr>
          <p:cNvPr id="37" name="Rectangle 36"/>
          <p:cNvSpPr/>
          <p:nvPr/>
        </p:nvSpPr>
        <p:spPr>
          <a:xfrm>
            <a:off x="1874519" y="4169664"/>
            <a:ext cx="1371600" cy="256032"/>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92807" y="4187952"/>
            <a:ext cx="1335024" cy="219456"/>
          </a:xfrm>
          <a:prstGeom prst="rect">
            <a:avLst/>
          </a:prstGeom>
          <a:noFill/>
        </p:spPr>
        <p:txBody>
          <a:bodyPr wrap="square" anchor="t">
            <a:spAutoFit/>
          </a:bodyPr>
          <a:lstStyle/>
          <a:p>
            <a:pPr algn="ctr">
              <a:defRPr sz="800" b="1">
                <a:solidFill>
                  <a:srgbClr val="FFFFFF"/>
                </a:solidFill>
                <a:latin typeface="Segoe UI"/>
              </a:defRPr>
            </a:pPr>
            <a:r>
              <a:t>ACECARD</a:t>
            </a:r>
          </a:p>
        </p:txBody>
      </p:sp>
      <p:sp>
        <p:nvSpPr>
          <p:cNvPr id="39" name="TextBox 38"/>
          <p:cNvSpPr txBox="1"/>
          <p:nvPr/>
        </p:nvSpPr>
        <p:spPr>
          <a:xfrm>
            <a:off x="3383280" y="4151376"/>
            <a:ext cx="7589520" cy="411480"/>
          </a:xfrm>
          <a:prstGeom prst="rect">
            <a:avLst/>
          </a:prstGeom>
          <a:noFill/>
        </p:spPr>
        <p:txBody>
          <a:bodyPr wrap="square" anchor="t">
            <a:spAutoFit/>
          </a:bodyPr>
          <a:lstStyle/>
          <a:p>
            <a:pPr algn="l">
              <a:defRPr sz="1100" b="0">
                <a:solidFill>
                  <a:srgbClr val="2C3E50"/>
                </a:solidFill>
                <a:latin typeface="Segoe UI"/>
              </a:defRPr>
            </a:pPr>
            <a:r>
              <a:t>Process signal: wmic + ntdsutil chain. Change-point accumulating. Direction: LOTL execution.</a:t>
            </a:r>
          </a:p>
        </p:txBody>
      </p:sp>
      <p:sp>
        <p:nvSpPr>
          <p:cNvPr id="40" name="Rounded Rectangle 39"/>
          <p:cNvSpPr/>
          <p:nvPr/>
        </p:nvSpPr>
        <p:spPr>
          <a:xfrm>
            <a:off x="1097280" y="4617720"/>
            <a:ext cx="10058400" cy="54864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3000" y="4745736"/>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61288" y="4764024"/>
            <a:ext cx="603504" cy="219456"/>
          </a:xfrm>
          <a:prstGeom prst="rect">
            <a:avLst/>
          </a:prstGeom>
          <a:noFill/>
        </p:spPr>
        <p:txBody>
          <a:bodyPr wrap="square" anchor="t">
            <a:spAutoFit/>
          </a:bodyPr>
          <a:lstStyle/>
          <a:p>
            <a:pPr algn="ctr">
              <a:defRPr sz="850" b="1">
                <a:solidFill>
                  <a:srgbClr val="FFFFFF"/>
                </a:solidFill>
                <a:latin typeface="Segoe UI"/>
              </a:defRPr>
            </a:pPr>
            <a:r>
              <a:t>T+8h</a:t>
            </a:r>
          </a:p>
        </p:txBody>
      </p:sp>
      <p:sp>
        <p:nvSpPr>
          <p:cNvPr id="43" name="Rectangle 42"/>
          <p:cNvSpPr/>
          <p:nvPr/>
        </p:nvSpPr>
        <p:spPr>
          <a:xfrm>
            <a:off x="1874519" y="4745736"/>
            <a:ext cx="1371600" cy="256032"/>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892807" y="4764024"/>
            <a:ext cx="1335024" cy="219456"/>
          </a:xfrm>
          <a:prstGeom prst="rect">
            <a:avLst/>
          </a:prstGeom>
          <a:noFill/>
        </p:spPr>
        <p:txBody>
          <a:bodyPr wrap="square" anchor="t">
            <a:spAutoFit/>
          </a:bodyPr>
          <a:lstStyle/>
          <a:p>
            <a:pPr algn="ctr">
              <a:defRPr sz="800" b="1">
                <a:solidFill>
                  <a:srgbClr val="FFFFFF"/>
                </a:solidFill>
                <a:latin typeface="Segoe UI"/>
              </a:defRPr>
            </a:pPr>
            <a:r>
              <a:t>ACECARD</a:t>
            </a:r>
          </a:p>
        </p:txBody>
      </p:sp>
      <p:sp>
        <p:nvSpPr>
          <p:cNvPr id="45" name="TextBox 44"/>
          <p:cNvSpPr txBox="1"/>
          <p:nvPr/>
        </p:nvSpPr>
        <p:spPr>
          <a:xfrm>
            <a:off x="3383280" y="4727448"/>
            <a:ext cx="7589520" cy="261610"/>
          </a:xfrm>
          <a:prstGeom prst="rect">
            <a:avLst/>
          </a:prstGeom>
          <a:noFill/>
        </p:spPr>
        <p:txBody>
          <a:bodyPr wrap="square" anchor="t">
            <a:spAutoFit/>
          </a:bodyPr>
          <a:lstStyle/>
          <a:p>
            <a:pPr algn="l">
              <a:defRPr sz="1100" b="0">
                <a:solidFill>
                  <a:srgbClr val="2C3E50"/>
                </a:solidFill>
                <a:latin typeface="Segoe UI"/>
              </a:defRPr>
            </a:pPr>
            <a:r>
              <a:rPr b="1" dirty="0"/>
              <a:t>Change-point crosses alarm. Entity BLOCKED. Access revoked. IR ticket auto-created.</a:t>
            </a:r>
          </a:p>
        </p:txBody>
      </p:sp>
      <p:sp>
        <p:nvSpPr>
          <p:cNvPr id="46" name="Rounded Rectangle 45"/>
          <p:cNvSpPr/>
          <p:nvPr/>
        </p:nvSpPr>
        <p:spPr>
          <a:xfrm>
            <a:off x="1097280" y="5193792"/>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143000" y="5321808"/>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61288" y="5340096"/>
            <a:ext cx="603504" cy="219456"/>
          </a:xfrm>
          <a:prstGeom prst="rect">
            <a:avLst/>
          </a:prstGeom>
          <a:noFill/>
        </p:spPr>
        <p:txBody>
          <a:bodyPr wrap="square" anchor="t">
            <a:spAutoFit/>
          </a:bodyPr>
          <a:lstStyle/>
          <a:p>
            <a:pPr algn="ctr">
              <a:defRPr sz="850" b="1">
                <a:solidFill>
                  <a:srgbClr val="FFFFFF"/>
                </a:solidFill>
                <a:latin typeface="Segoe UI"/>
              </a:defRPr>
            </a:pPr>
            <a:r>
              <a:t>T+9h</a:t>
            </a:r>
          </a:p>
        </p:txBody>
      </p:sp>
      <p:sp>
        <p:nvSpPr>
          <p:cNvPr id="49" name="Rectangle 48"/>
          <p:cNvSpPr/>
          <p:nvPr/>
        </p:nvSpPr>
        <p:spPr>
          <a:xfrm>
            <a:off x="1874519" y="5321808"/>
            <a:ext cx="1371600" cy="25603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92807" y="5340096"/>
            <a:ext cx="1335024" cy="219456"/>
          </a:xfrm>
          <a:prstGeom prst="rect">
            <a:avLst/>
          </a:prstGeom>
          <a:noFill/>
        </p:spPr>
        <p:txBody>
          <a:bodyPr wrap="square" anchor="t">
            <a:spAutoFit/>
          </a:bodyPr>
          <a:lstStyle/>
          <a:p>
            <a:pPr algn="ctr">
              <a:defRPr sz="800" b="1">
                <a:solidFill>
                  <a:srgbClr val="FFFFFF"/>
                </a:solidFill>
                <a:latin typeface="Segoe UI"/>
              </a:defRPr>
            </a:pPr>
            <a:r>
              <a:t>INTEGRATION</a:t>
            </a:r>
          </a:p>
        </p:txBody>
      </p:sp>
      <p:sp>
        <p:nvSpPr>
          <p:cNvPr id="51" name="TextBox 50"/>
          <p:cNvSpPr txBox="1"/>
          <p:nvPr/>
        </p:nvSpPr>
        <p:spPr>
          <a:xfrm>
            <a:off x="3383280" y="5303520"/>
            <a:ext cx="7589520" cy="411480"/>
          </a:xfrm>
          <a:prstGeom prst="rect">
            <a:avLst/>
          </a:prstGeom>
          <a:noFill/>
        </p:spPr>
        <p:txBody>
          <a:bodyPr wrap="square" anchor="t">
            <a:spAutoFit/>
          </a:bodyPr>
          <a:lstStyle/>
          <a:p>
            <a:pPr algn="l">
              <a:defRPr sz="1100" b="0">
                <a:solidFill>
                  <a:srgbClr val="2C3E50"/>
                </a:solidFill>
                <a:latin typeface="Segoe UI"/>
              </a:defRPr>
            </a:pPr>
            <a:r>
              <a:t>Confirmed detection feeds back. Preemptive re-verifies all related configs. Similar gaps closed.</a:t>
            </a:r>
          </a:p>
        </p:txBody>
      </p:sp>
      <p:sp>
        <p:nvSpPr>
          <p:cNvPr id="52" name="Rounded Rectangle 51"/>
          <p:cNvSpPr/>
          <p:nvPr/>
        </p:nvSpPr>
        <p:spPr>
          <a:xfrm>
            <a:off x="1097280" y="5852160"/>
            <a:ext cx="10058400" cy="4572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371600" y="5879592"/>
            <a:ext cx="9601200" cy="365760"/>
          </a:xfrm>
          <a:prstGeom prst="rect">
            <a:avLst/>
          </a:prstGeom>
          <a:noFill/>
        </p:spPr>
        <p:txBody>
          <a:bodyPr wrap="square" anchor="t">
            <a:spAutoFit/>
          </a:bodyPr>
          <a:lstStyle/>
          <a:p>
            <a:pPr algn="ctr">
              <a:defRPr sz="1100" b="1">
                <a:solidFill>
                  <a:srgbClr val="0D1B2A"/>
                </a:solidFill>
                <a:latin typeface="Segoe UI"/>
              </a:defRPr>
            </a:pPr>
            <a:r>
              <a:t>Result: 8-hour dwell (vs. 5+ years).  Preemptive found the gap.  ACECARD caught the exploitation.  Complete defense.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3457580106"/>
              </p:ext>
            </p:extLst>
          </p:nvPr>
        </p:nvGraphicFramePr>
        <p:xfrm>
          <a:off x="457200" y="1417320"/>
          <a:ext cx="11247120" cy="4626864"/>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9436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is the gap — formal verification proves the patch/inspection profile is enforced</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dirty="0">
                          <a:solidFill>
                            <a:srgbClr val="000000"/>
                          </a:solidFill>
                        </a:rPr>
                        <a:t>Misconfigured / shadowed firewall rules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Mathematical model finds shadows, conflicts, weak rules across multi-vendor estates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rPr>
                        <a:t>Router ACL tampering / config drift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Drift use case re-verifies live state vs. approved baseline continuously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dirty="0">
                          <a:solidFill>
                            <a:srgbClr val="000000"/>
                          </a:solidFill>
                        </a:rPr>
                        <a:t>C2 to known malicious infrastructure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2E7D32"/>
                          </a:solidFill>
                        </a:rPr>
                        <a:t>BOTH</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Preemptive blocks known threat-feed IPs/domains; ACECARD c2_beaconing concept catches new infra</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000000"/>
                          </a:solidFill>
                        </a:rPr>
                        <a:t>Compromised valid accounts (T1078)</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Traffic is policy-allowed; only behavioral drift (cohort z, cosine pivot) reveals abuse</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50" dirty="0">
                          <a:solidFill>
                            <a:srgbClr val="000000"/>
                          </a:solidFill>
                        </a:rPr>
                        <a:t>Living-off-the-Land (T1059, ntdsutil)</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lotl_execution concept catches LOLBin chain — process signal embedding shifts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000000"/>
                          </a:solidFill>
                        </a:rPr>
                        <a:t>Cross-domain lateral movement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Composite Digital Signature joins identity across AD/AAD/AWS/Okta/K8s — one trajectory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050" dirty="0">
                          <a:solidFill>
                            <a:srgbClr val="000000"/>
                          </a:solidFill>
                        </a:rPr>
                        <a:t>Slow lateral movement (months)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CUSUM 4σ surfaces gradual structural shifts; trajectory chain detects log scrubbing</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420624">
                <a:tc>
                  <a:txBody>
                    <a:bodyPr/>
                    <a:lstStyle/>
                    <a:p>
                      <a:pPr marL="0" indent="0">
                        <a:buNone/>
                      </a:pPr>
                      <a:r>
                        <a:rPr lang="en-US" sz="1050" dirty="0">
                          <a:solidFill>
                            <a:srgbClr val="000000"/>
                          </a:solidFill>
                        </a:rPr>
                        <a:t>Zero-day / unknown TTPs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By definition not in MITRE yet — only behavioral anomaly flags deviation from normal</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050" dirty="0">
                          <a:solidFill>
                            <a:srgbClr val="000000"/>
                          </a:solidFill>
                        </a:rPr>
                        <a:t>Insider threat / data hoarding</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insider_data_hoarding concept (T1074) — peer cohort z-score catches outlier behavior</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Preemptive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8" name="Shape 6"/>
          <p:cNvSpPr/>
          <p:nvPr/>
        </p:nvSpPr>
        <p:spPr>
          <a:xfrm>
            <a:off x="457200" y="1371600"/>
            <a:ext cx="3703320" cy="292608"/>
          </a:xfrm>
          <a:prstGeom prst="rect">
            <a:avLst/>
          </a:prstGeom>
          <a:solidFill>
            <a:srgbClr val="F26B1F"/>
          </a:solidFill>
          <a:ln/>
        </p:spPr>
        <p:txBody>
          <a:bodyPr/>
          <a:lstStyle/>
          <a:p>
            <a:endParaRPr lang="en-US"/>
          </a:p>
        </p:txBody>
      </p:sp>
      <p:sp>
        <p:nvSpPr>
          <p:cNvPr id="9" name="Text 7"/>
          <p:cNvSpPr/>
          <p:nvPr/>
        </p:nvSpPr>
        <p:spPr>
          <a:xfrm>
            <a:off x="56692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Preemptive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14" name="Shape 12"/>
          <p:cNvSpPr/>
          <p:nvPr/>
        </p:nvSpPr>
        <p:spPr>
          <a:xfrm>
            <a:off x="4297680" y="1371600"/>
            <a:ext cx="3703320" cy="292608"/>
          </a:xfrm>
          <a:prstGeom prst="rect">
            <a:avLst/>
          </a:prstGeom>
          <a:solidFill>
            <a:srgbClr val="F26B1F"/>
          </a:solidFill>
          <a:ln/>
        </p:spPr>
        <p:txBody>
          <a:bodyPr/>
          <a:lstStyle/>
          <a:p>
            <a:endParaRPr lang="en-US"/>
          </a:p>
        </p:txBody>
      </p:sp>
      <p:sp>
        <p:nvSpPr>
          <p:cNvPr id="15" name="Text 13"/>
          <p:cNvSpPr/>
          <p:nvPr/>
        </p:nvSpPr>
        <p:spPr>
          <a:xfrm>
            <a:off x="440740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Email is a primary initial-access vector outside Rigor's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20" name="Shape 18"/>
          <p:cNvSpPr/>
          <p:nvPr/>
        </p:nvSpPr>
        <p:spPr>
          <a:xfrm>
            <a:off x="8138160" y="1371600"/>
            <a:ext cx="3703320" cy="292608"/>
          </a:xfrm>
          <a:prstGeom prst="rect">
            <a:avLst/>
          </a:prstGeom>
          <a:solidFill>
            <a:srgbClr val="1C7293"/>
          </a:solidFill>
          <a:ln/>
        </p:spPr>
        <p:txBody>
          <a:bodyPr/>
          <a:lstStyle/>
          <a:p>
            <a:endParaRPr lang="en-US"/>
          </a:p>
        </p:txBody>
      </p:sp>
      <p:sp>
        <p:nvSpPr>
          <p:cNvPr id="21" name="Text 19"/>
          <p:cNvSpPr/>
          <p:nvPr/>
        </p:nvSpPr>
        <p:spPr>
          <a:xfrm>
            <a:off x="824788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Preemptive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26" name="Shape 24"/>
          <p:cNvSpPr/>
          <p:nvPr/>
        </p:nvSpPr>
        <p:spPr>
          <a:xfrm>
            <a:off x="457200" y="3017520"/>
            <a:ext cx="3703320" cy="292608"/>
          </a:xfrm>
          <a:prstGeom prst="rect">
            <a:avLst/>
          </a:prstGeom>
          <a:solidFill>
            <a:srgbClr val="1C7293"/>
          </a:solidFill>
          <a:ln/>
        </p:spPr>
        <p:txBody>
          <a:bodyPr/>
          <a:lstStyle/>
          <a:p>
            <a:endParaRPr lang="en-US"/>
          </a:p>
        </p:txBody>
      </p:sp>
      <p:sp>
        <p:nvSpPr>
          <p:cNvPr id="27" name="Text 25"/>
          <p:cNvSpPr/>
          <p:nvPr/>
        </p:nvSpPr>
        <p:spPr>
          <a:xfrm>
            <a:off x="56692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Rigor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4297680" y="3017520"/>
            <a:ext cx="3703320" cy="292608"/>
          </a:xfrm>
          <a:prstGeom prst="rect">
            <a:avLst/>
          </a:prstGeom>
          <a:solidFill>
            <a:srgbClr val="1C7293"/>
          </a:solidFill>
          <a:ln/>
        </p:spPr>
        <p:txBody>
          <a:bodyPr/>
          <a:lstStyle/>
          <a:p>
            <a:endParaRPr lang="en-US"/>
          </a:p>
        </p:txBody>
      </p:sp>
      <p:sp>
        <p:nvSpPr>
          <p:cNvPr id="33" name="Text 31"/>
          <p:cNvSpPr/>
          <p:nvPr/>
        </p:nvSpPr>
        <p:spPr>
          <a:xfrm>
            <a:off x="440740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Preemptive </a:t>
            </a:r>
            <a:r>
              <a:rPr lang="en-US" sz="850" dirty="0">
                <a:solidFill>
                  <a:srgbClr val="2D3748"/>
                </a:solidFill>
                <a:latin typeface="Calibri" pitchFamily="34" charset="0"/>
                <a:ea typeface="Calibri" pitchFamily="34" charset="-122"/>
                <a:cs typeface="Calibri" pitchFamily="34" charset="-120"/>
              </a:rPr>
              <a:t>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8" name="Shape 36"/>
          <p:cNvSpPr/>
          <p:nvPr/>
        </p:nvSpPr>
        <p:spPr>
          <a:xfrm>
            <a:off x="8138160" y="3017520"/>
            <a:ext cx="3703320" cy="292608"/>
          </a:xfrm>
          <a:prstGeom prst="rect">
            <a:avLst/>
          </a:prstGeom>
          <a:solidFill>
            <a:srgbClr val="F26B1F"/>
          </a:solidFill>
          <a:ln/>
        </p:spPr>
        <p:txBody>
          <a:bodyPr/>
          <a:lstStyle/>
          <a:p>
            <a:endParaRPr lang="en-US"/>
          </a:p>
        </p:txBody>
      </p:sp>
      <p:sp>
        <p:nvSpPr>
          <p:cNvPr id="39" name="Text 37"/>
          <p:cNvSpPr/>
          <p:nvPr/>
        </p:nvSpPr>
        <p:spPr>
          <a:xfrm>
            <a:off x="824788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Step-up MFA driven by ACECARD's ABAC trust state. Preemptive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44" name="Shape 42"/>
          <p:cNvSpPr/>
          <p:nvPr/>
        </p:nvSpPr>
        <p:spPr>
          <a:xfrm>
            <a:off x="457200" y="4663440"/>
            <a:ext cx="3703320" cy="292608"/>
          </a:xfrm>
          <a:prstGeom prst="rect">
            <a:avLst/>
          </a:prstGeom>
          <a:solidFill>
            <a:srgbClr val="5E2E8C"/>
          </a:solidFill>
          <a:ln/>
        </p:spPr>
        <p:txBody>
          <a:bodyPr/>
          <a:lstStyle/>
          <a:p>
            <a:endParaRPr lang="en-US"/>
          </a:p>
        </p:txBody>
      </p:sp>
      <p:sp>
        <p:nvSpPr>
          <p:cNvPr id="45" name="Text 43"/>
          <p:cNvSpPr/>
          <p:nvPr/>
        </p:nvSpPr>
        <p:spPr>
          <a:xfrm>
            <a:off x="56692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Preemptive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0" name="Shape 48"/>
          <p:cNvSpPr/>
          <p:nvPr/>
        </p:nvSpPr>
        <p:spPr>
          <a:xfrm>
            <a:off x="4297680" y="4663440"/>
            <a:ext cx="3703320" cy="292608"/>
          </a:xfrm>
          <a:prstGeom prst="rect">
            <a:avLst/>
          </a:prstGeom>
          <a:solidFill>
            <a:srgbClr val="5E2E8C"/>
          </a:solidFill>
          <a:ln/>
        </p:spPr>
        <p:txBody>
          <a:bodyPr/>
          <a:lstStyle/>
          <a:p>
            <a:endParaRPr lang="en-US"/>
          </a:p>
        </p:txBody>
      </p:sp>
      <p:sp>
        <p:nvSpPr>
          <p:cNvPr id="51" name="Text 49"/>
          <p:cNvSpPr/>
          <p:nvPr/>
        </p:nvSpPr>
        <p:spPr>
          <a:xfrm>
            <a:off x="440740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Preemptive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6" name="Shape 54"/>
          <p:cNvSpPr/>
          <p:nvPr/>
        </p:nvSpPr>
        <p:spPr>
          <a:xfrm>
            <a:off x="8138160" y="4663440"/>
            <a:ext cx="3703320" cy="292608"/>
          </a:xfrm>
          <a:prstGeom prst="rect">
            <a:avLst/>
          </a:prstGeom>
          <a:solidFill>
            <a:srgbClr val="5E2E8C"/>
          </a:solidFill>
          <a:ln/>
        </p:spPr>
        <p:txBody>
          <a:bodyPr/>
          <a:lstStyle/>
          <a:p>
            <a:endParaRPr lang="en-US"/>
          </a:p>
        </p:txBody>
      </p:sp>
      <p:sp>
        <p:nvSpPr>
          <p:cNvPr id="57" name="Text 55"/>
          <p:cNvSpPr/>
          <p:nvPr/>
        </p:nvSpPr>
        <p:spPr>
          <a:xfrm>
            <a:off x="824788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Rigor's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STIX 2.1 ingestion into Preemptive Attack Intel. Threat-actor TTP graphs become formal model inputs. ACECARD pre-loads campaign replay scenarios.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txBody>
          <a:bodyPr/>
          <a:lstStyle/>
          <a:p>
            <a:endParaRPr lang="en-US"/>
          </a:p>
        </p:txBody>
      </p:sp>
      <p:sp>
        <p:nvSpPr>
          <p:cNvPr id="8" name="Shape 6"/>
          <p:cNvSpPr/>
          <p:nvPr/>
        </p:nvSpPr>
        <p:spPr>
          <a:xfrm>
            <a:off x="457200" y="1371600"/>
            <a:ext cx="3703320" cy="365760"/>
          </a:xfrm>
          <a:prstGeom prst="rect">
            <a:avLst/>
          </a:prstGeom>
          <a:solidFill>
            <a:srgbClr val="2E7D32"/>
          </a:solidFill>
          <a:ln/>
        </p:spPr>
        <p:txBody>
          <a:bodyPr/>
          <a:lstStyle/>
          <a:p>
            <a:endParaRPr lang="en-US"/>
          </a:p>
        </p:txBody>
      </p:sp>
      <p:sp>
        <p:nvSpPr>
          <p:cNvPr id="9" name="Text 7"/>
          <p:cNvSpPr/>
          <p:nvPr/>
        </p:nvSpPr>
        <p:spPr>
          <a:xfrm>
            <a:off x="54864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(Rigor)</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txBody>
          <a:bodyPr/>
          <a:lstStyle/>
          <a:p>
            <a:endParaRPr lang="en-US"/>
          </a:p>
        </p:txBody>
      </p:sp>
      <p:sp>
        <p:nvSpPr>
          <p:cNvPr id="12" name="Shape 10"/>
          <p:cNvSpPr/>
          <p:nvPr/>
        </p:nvSpPr>
        <p:spPr>
          <a:xfrm>
            <a:off x="4297680" y="1371600"/>
            <a:ext cx="3703320" cy="365760"/>
          </a:xfrm>
          <a:prstGeom prst="rect">
            <a:avLst/>
          </a:prstGeom>
          <a:solidFill>
            <a:srgbClr val="F4B400"/>
          </a:solidFill>
          <a:ln/>
        </p:spPr>
        <p:txBody>
          <a:bodyPr/>
          <a:lstStyle/>
          <a:p>
            <a:endParaRPr lang="en-US"/>
          </a:p>
        </p:txBody>
      </p:sp>
      <p:sp>
        <p:nvSpPr>
          <p:cNvPr id="13" name="Text 11"/>
          <p:cNvSpPr/>
          <p:nvPr/>
        </p:nvSpPr>
        <p:spPr>
          <a:xfrm>
            <a:off x="438912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Rigor's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Rigor's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txBody>
          <a:bodyPr/>
          <a:lstStyle/>
          <a:p>
            <a:endParaRPr lang="en-US"/>
          </a:p>
        </p:txBody>
      </p:sp>
      <p:sp>
        <p:nvSpPr>
          <p:cNvPr id="16" name="Shape 14"/>
          <p:cNvSpPr/>
          <p:nvPr/>
        </p:nvSpPr>
        <p:spPr>
          <a:xfrm>
            <a:off x="8138160" y="1371600"/>
            <a:ext cx="3703320" cy="365760"/>
          </a:xfrm>
          <a:prstGeom prst="rect">
            <a:avLst/>
          </a:prstGeom>
          <a:solidFill>
            <a:srgbClr val="F26B1F"/>
          </a:solidFill>
          <a:ln/>
        </p:spPr>
        <p:txBody>
          <a:bodyPr/>
          <a:lstStyle/>
          <a:p>
            <a:endParaRPr lang="en-US"/>
          </a:p>
        </p:txBody>
      </p:sp>
      <p:sp>
        <p:nvSpPr>
          <p:cNvPr id="17" name="Text 15"/>
          <p:cNvSpPr/>
          <p:nvPr/>
        </p:nvSpPr>
        <p:spPr>
          <a:xfrm>
            <a:off x="822960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Preemptive AI</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txBody>
          <a:bodyPr/>
          <a:lstStyle/>
          <a:p>
            <a:endParaRPr lang="en-US"/>
          </a:p>
        </p:txBody>
      </p:sp>
      <p:sp>
        <p:nvSpPr>
          <p:cNvPr id="31" name="Text 29"/>
          <p:cNvSpPr/>
          <p:nvPr/>
        </p:nvSpPr>
        <p:spPr>
          <a:xfrm>
            <a:off x="640080" y="6126480"/>
            <a:ext cx="10881360" cy="50292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VERDICT:  Rigor AI + ACECARD UEBA = comprehensive defense against Volt Typhoon + Salt Typhoon. Add EDR + Email Security + NDR for full defense-in-depth.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2026 Hyperscaler Platforms vs. What We Deliver</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They provide runtime plumbing. We provide the detection intelligence agents need to act on.</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11</a:t>
            </a:r>
          </a:p>
        </p:txBody>
      </p:sp>
      <p:sp>
        <p:nvSpPr>
          <p:cNvPr id="8" name="TextBox 7"/>
          <p:cNvSpPr txBox="1"/>
          <p:nvPr/>
        </p:nvSpPr>
        <p:spPr>
          <a:xfrm>
            <a:off x="1036320" y="1311060"/>
            <a:ext cx="10058400" cy="274320"/>
          </a:xfrm>
          <a:prstGeom prst="rect">
            <a:avLst/>
          </a:prstGeom>
          <a:noFill/>
        </p:spPr>
        <p:txBody>
          <a:bodyPr wrap="square" anchor="t">
            <a:spAutoFit/>
          </a:bodyPr>
          <a:lstStyle/>
          <a:p>
            <a:pPr algn="l">
              <a:defRPr sz="1200" b="1">
                <a:solidFill>
                  <a:srgbClr val="0D1B2A"/>
                </a:solidFill>
                <a:latin typeface="Segoe UI"/>
              </a:defRPr>
            </a:pPr>
            <a:r>
              <a:rPr dirty="0"/>
              <a:t>What </a:t>
            </a:r>
            <a:r>
              <a:rPr dirty="0" err="1"/>
              <a:t>hyperscalers</a:t>
            </a:r>
            <a:r>
              <a:rPr dirty="0"/>
              <a:t> shipped in 2026 — runtime &amp; orchestration:</a:t>
            </a:r>
          </a:p>
        </p:txBody>
      </p:sp>
      <p:sp>
        <p:nvSpPr>
          <p:cNvPr id="9" name="Rounded Rectangle 8"/>
          <p:cNvSpPr/>
          <p:nvPr/>
        </p:nvSpPr>
        <p:spPr>
          <a:xfrm>
            <a:off x="1097280" y="1600200"/>
            <a:ext cx="3108960" cy="11887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97280" y="1600200"/>
            <a:ext cx="3108960" cy="29260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40" y="1627632"/>
            <a:ext cx="2834640" cy="256032"/>
          </a:xfrm>
          <a:prstGeom prst="rect">
            <a:avLst/>
          </a:prstGeom>
          <a:noFill/>
        </p:spPr>
        <p:txBody>
          <a:bodyPr wrap="square" anchor="t">
            <a:spAutoFit/>
          </a:bodyPr>
          <a:lstStyle/>
          <a:p>
            <a:pPr algn="l">
              <a:defRPr sz="1000" b="1">
                <a:solidFill>
                  <a:srgbClr val="FFFFFF"/>
                </a:solidFill>
                <a:latin typeface="Segoe UI"/>
              </a:defRPr>
            </a:pPr>
            <a:r>
              <a:t>  AWS Bedrock AgentCore</a:t>
            </a:r>
          </a:p>
        </p:txBody>
      </p:sp>
      <p:sp>
        <p:nvSpPr>
          <p:cNvPr id="12" name="TextBox 11"/>
          <p:cNvSpPr txBox="1"/>
          <p:nvPr/>
        </p:nvSpPr>
        <p:spPr>
          <a:xfrm>
            <a:off x="1280160" y="1965960"/>
            <a:ext cx="2743200" cy="777240"/>
          </a:xfrm>
          <a:prstGeom prst="rect">
            <a:avLst/>
          </a:prstGeom>
          <a:noFill/>
        </p:spPr>
        <p:txBody>
          <a:bodyPr wrap="square" anchor="t">
            <a:spAutoFit/>
          </a:bodyPr>
          <a:lstStyle/>
          <a:p>
            <a:pPr algn="l">
              <a:defRPr sz="1000" b="0">
                <a:solidFill>
                  <a:srgbClr val="2C3E50"/>
                </a:solidFill>
                <a:latin typeface="Segoe UI"/>
              </a:defRPr>
            </a:pPr>
            <a:r>
              <a:t>•  Multi-agent + MicroVM isolation</a:t>
            </a:r>
          </a:p>
          <a:p>
            <a:pPr>
              <a:spcBef>
                <a:spcPts val="800"/>
              </a:spcBef>
              <a:defRPr sz="1000" b="0">
                <a:solidFill>
                  <a:srgbClr val="2C3E50"/>
                </a:solidFill>
                <a:latin typeface="Segoe UI"/>
              </a:defRPr>
            </a:pPr>
            <a:r>
              <a:t>•  Security Lake (OCSF native)</a:t>
            </a:r>
          </a:p>
          <a:p>
            <a:pPr>
              <a:spcBef>
                <a:spcPts val="800"/>
              </a:spcBef>
              <a:defRPr sz="1000" b="0">
                <a:solidFill>
                  <a:srgbClr val="2C3E50"/>
                </a:solidFill>
                <a:latin typeface="Segoe UI"/>
              </a:defRPr>
            </a:pPr>
            <a:r>
              <a:t>•  Guardrails + Policy (GA 2026)</a:t>
            </a:r>
          </a:p>
        </p:txBody>
      </p:sp>
      <p:sp>
        <p:nvSpPr>
          <p:cNvPr id="13" name="Rounded Rectangle 12"/>
          <p:cNvSpPr/>
          <p:nvPr/>
        </p:nvSpPr>
        <p:spPr>
          <a:xfrm>
            <a:off x="4434840" y="1600200"/>
            <a:ext cx="3108960" cy="11887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34840" y="1600200"/>
            <a:ext cx="3108960" cy="29260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627632"/>
            <a:ext cx="2834640" cy="256032"/>
          </a:xfrm>
          <a:prstGeom prst="rect">
            <a:avLst/>
          </a:prstGeom>
          <a:noFill/>
        </p:spPr>
        <p:txBody>
          <a:bodyPr wrap="square" anchor="t">
            <a:spAutoFit/>
          </a:bodyPr>
          <a:lstStyle/>
          <a:p>
            <a:pPr algn="l">
              <a:defRPr sz="1000" b="1">
                <a:solidFill>
                  <a:srgbClr val="FFFFFF"/>
                </a:solidFill>
                <a:latin typeface="Segoe UI"/>
              </a:defRPr>
            </a:pPr>
            <a:r>
              <a:t>  Microsoft Foundry + Agent 365</a:t>
            </a:r>
          </a:p>
        </p:txBody>
      </p:sp>
      <p:sp>
        <p:nvSpPr>
          <p:cNvPr id="16" name="TextBox 15"/>
          <p:cNvSpPr txBox="1"/>
          <p:nvPr/>
        </p:nvSpPr>
        <p:spPr>
          <a:xfrm>
            <a:off x="4617720" y="1965960"/>
            <a:ext cx="2743200" cy="777240"/>
          </a:xfrm>
          <a:prstGeom prst="rect">
            <a:avLst/>
          </a:prstGeom>
          <a:noFill/>
        </p:spPr>
        <p:txBody>
          <a:bodyPr wrap="square" anchor="t">
            <a:spAutoFit/>
          </a:bodyPr>
          <a:lstStyle/>
          <a:p>
            <a:pPr algn="l">
              <a:defRPr sz="1000" b="0">
                <a:solidFill>
                  <a:srgbClr val="2C3E50"/>
                </a:solidFill>
                <a:latin typeface="Segoe UI"/>
              </a:defRPr>
            </a:pPr>
            <a:r>
              <a:t>•  Security Copilot + Entra Agent IDs</a:t>
            </a:r>
          </a:p>
          <a:p>
            <a:pPr>
              <a:spcBef>
                <a:spcPts val="800"/>
              </a:spcBef>
              <a:defRPr sz="1000" b="0">
                <a:solidFill>
                  <a:srgbClr val="2C3E50"/>
                </a:solidFill>
                <a:latin typeface="Segoe UI"/>
              </a:defRPr>
            </a:pPr>
            <a:r>
              <a:t>•  70+ pre-built agents in store</a:t>
            </a:r>
          </a:p>
          <a:p>
            <a:pPr>
              <a:spcBef>
                <a:spcPts val="800"/>
              </a:spcBef>
              <a:defRPr sz="1000" b="0">
                <a:solidFill>
                  <a:srgbClr val="2C3E50"/>
                </a:solidFill>
                <a:latin typeface="Segoe UI"/>
              </a:defRPr>
            </a:pPr>
            <a:r>
              <a:t>•  Purview + Defender for AI</a:t>
            </a:r>
          </a:p>
        </p:txBody>
      </p:sp>
      <p:sp>
        <p:nvSpPr>
          <p:cNvPr id="17" name="Rounded Rectangle 16"/>
          <p:cNvSpPr/>
          <p:nvPr/>
        </p:nvSpPr>
        <p:spPr>
          <a:xfrm>
            <a:off x="7772400" y="1600200"/>
            <a:ext cx="3108960" cy="11887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0" y="1600200"/>
            <a:ext cx="3108960" cy="292608"/>
          </a:xfrm>
          <a:prstGeom prst="rect">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09560" y="1627632"/>
            <a:ext cx="2834640" cy="256032"/>
          </a:xfrm>
          <a:prstGeom prst="rect">
            <a:avLst/>
          </a:prstGeom>
          <a:noFill/>
        </p:spPr>
        <p:txBody>
          <a:bodyPr wrap="square" anchor="t">
            <a:spAutoFit/>
          </a:bodyPr>
          <a:lstStyle/>
          <a:p>
            <a:pPr algn="l">
              <a:defRPr sz="1000" b="1">
                <a:solidFill>
                  <a:srgbClr val="FFFFFF"/>
                </a:solidFill>
                <a:latin typeface="Segoe UI"/>
              </a:defRPr>
            </a:pPr>
            <a:r>
              <a:t>  Google Gemini Enterprise Agent</a:t>
            </a:r>
          </a:p>
        </p:txBody>
      </p:sp>
      <p:sp>
        <p:nvSpPr>
          <p:cNvPr id="20" name="TextBox 19"/>
          <p:cNvSpPr txBox="1"/>
          <p:nvPr/>
        </p:nvSpPr>
        <p:spPr>
          <a:xfrm>
            <a:off x="7955280" y="1965960"/>
            <a:ext cx="2743200" cy="777240"/>
          </a:xfrm>
          <a:prstGeom prst="rect">
            <a:avLst/>
          </a:prstGeom>
          <a:noFill/>
        </p:spPr>
        <p:txBody>
          <a:bodyPr wrap="square" anchor="t">
            <a:spAutoFit/>
          </a:bodyPr>
          <a:lstStyle/>
          <a:p>
            <a:pPr algn="l">
              <a:defRPr sz="1000" b="0">
                <a:solidFill>
                  <a:srgbClr val="2C3E50"/>
                </a:solidFill>
                <a:latin typeface="Segoe UI"/>
              </a:defRPr>
            </a:pPr>
            <a:r>
              <a:t>•  Cryptographic agent identity</a:t>
            </a:r>
          </a:p>
          <a:p>
            <a:pPr>
              <a:spcBef>
                <a:spcPts val="800"/>
              </a:spcBef>
              <a:defRPr sz="1000" b="0">
                <a:solidFill>
                  <a:srgbClr val="2C3E50"/>
                </a:solidFill>
                <a:latin typeface="Segoe UI"/>
              </a:defRPr>
            </a:pPr>
            <a:r>
              <a:t>•  Model Armor + zero-trust per step</a:t>
            </a:r>
          </a:p>
          <a:p>
            <a:pPr>
              <a:spcBef>
                <a:spcPts val="800"/>
              </a:spcBef>
              <a:defRPr sz="1000" b="0">
                <a:solidFill>
                  <a:srgbClr val="2C3E50"/>
                </a:solidFill>
                <a:latin typeface="Segoe UI"/>
              </a:defRPr>
            </a:pPr>
            <a:r>
              <a:t>•  ADK multi-agent + SecOps</a:t>
            </a:r>
          </a:p>
        </p:txBody>
      </p:sp>
      <p:sp>
        <p:nvSpPr>
          <p:cNvPr id="21" name="TextBox 20"/>
          <p:cNvSpPr txBox="1"/>
          <p:nvPr/>
        </p:nvSpPr>
        <p:spPr>
          <a:xfrm>
            <a:off x="1097280" y="2971800"/>
            <a:ext cx="10058400" cy="274320"/>
          </a:xfrm>
          <a:prstGeom prst="rect">
            <a:avLst/>
          </a:prstGeom>
          <a:noFill/>
        </p:spPr>
        <p:txBody>
          <a:bodyPr wrap="square" anchor="t">
            <a:spAutoFit/>
          </a:bodyPr>
          <a:lstStyle/>
          <a:p>
            <a:pPr algn="l">
              <a:defRPr sz="1200" b="1">
                <a:solidFill>
                  <a:srgbClr val="C0392B"/>
                </a:solidFill>
                <a:latin typeface="Segoe UI"/>
              </a:defRPr>
            </a:pPr>
            <a:r>
              <a:t>These platforms provide PLUMBING — not intelligence. What WE provide that NO platform ships:</a:t>
            </a:r>
          </a:p>
        </p:txBody>
      </p:sp>
      <p:sp>
        <p:nvSpPr>
          <p:cNvPr id="22" name="Rounded Rectangle 21"/>
          <p:cNvSpPr/>
          <p:nvPr/>
        </p:nvSpPr>
        <p:spPr>
          <a:xfrm>
            <a:off x="1097280" y="3291840"/>
            <a:ext cx="10058400" cy="320040"/>
          </a:xfrm>
          <a:prstGeom prst="round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3319272"/>
            <a:ext cx="4114800" cy="274320"/>
          </a:xfrm>
          <a:prstGeom prst="rect">
            <a:avLst/>
          </a:prstGeom>
          <a:noFill/>
        </p:spPr>
        <p:txBody>
          <a:bodyPr wrap="square" anchor="t">
            <a:spAutoFit/>
          </a:bodyPr>
          <a:lstStyle/>
          <a:p>
            <a:pPr algn="l">
              <a:defRPr sz="1000" b="1">
                <a:solidFill>
                  <a:srgbClr val="FFFFFF"/>
                </a:solidFill>
                <a:latin typeface="Segoe UI"/>
              </a:defRPr>
            </a:pPr>
            <a:r>
              <a:t>CAPABILITY</a:t>
            </a:r>
          </a:p>
        </p:txBody>
      </p:sp>
      <p:sp>
        <p:nvSpPr>
          <p:cNvPr id="24" name="TextBox 23"/>
          <p:cNvSpPr txBox="1"/>
          <p:nvPr/>
        </p:nvSpPr>
        <p:spPr>
          <a:xfrm>
            <a:off x="5394960" y="3319272"/>
            <a:ext cx="1828800" cy="274320"/>
          </a:xfrm>
          <a:prstGeom prst="rect">
            <a:avLst/>
          </a:prstGeom>
          <a:noFill/>
        </p:spPr>
        <p:txBody>
          <a:bodyPr wrap="square" anchor="t">
            <a:spAutoFit/>
          </a:bodyPr>
          <a:lstStyle/>
          <a:p>
            <a:pPr algn="l">
              <a:defRPr sz="1000" b="1">
                <a:solidFill>
                  <a:srgbClr val="FFFFFF"/>
                </a:solidFill>
                <a:latin typeface="Segoe UI"/>
              </a:defRPr>
            </a:pPr>
            <a:r>
              <a:t>HYPERSCALER</a:t>
            </a:r>
          </a:p>
        </p:txBody>
      </p:sp>
      <p:sp>
        <p:nvSpPr>
          <p:cNvPr id="25" name="TextBox 24"/>
          <p:cNvSpPr txBox="1"/>
          <p:nvPr/>
        </p:nvSpPr>
        <p:spPr>
          <a:xfrm>
            <a:off x="7498079" y="3319272"/>
            <a:ext cx="3474720" cy="274320"/>
          </a:xfrm>
          <a:prstGeom prst="rect">
            <a:avLst/>
          </a:prstGeom>
          <a:noFill/>
        </p:spPr>
        <p:txBody>
          <a:bodyPr wrap="square" anchor="t">
            <a:spAutoFit/>
          </a:bodyPr>
          <a:lstStyle/>
          <a:p>
            <a:pPr algn="l">
              <a:defRPr sz="1000" b="1">
                <a:solidFill>
                  <a:srgbClr val="FFFFFF"/>
                </a:solidFill>
                <a:latin typeface="Segoe UI"/>
              </a:defRPr>
            </a:pPr>
            <a:r>
              <a:t>22CT DELIVERS</a:t>
            </a:r>
          </a:p>
        </p:txBody>
      </p:sp>
      <p:sp>
        <p:nvSpPr>
          <p:cNvPr id="26" name="Rounded Rectangle 25"/>
          <p:cNvSpPr/>
          <p:nvPr/>
        </p:nvSpPr>
        <p:spPr>
          <a:xfrm>
            <a:off x="1097280" y="3657600"/>
            <a:ext cx="10058400" cy="34747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80160" y="3703320"/>
            <a:ext cx="4023360" cy="256032"/>
          </a:xfrm>
          <a:prstGeom prst="rect">
            <a:avLst/>
          </a:prstGeom>
          <a:noFill/>
        </p:spPr>
        <p:txBody>
          <a:bodyPr wrap="square" anchor="t">
            <a:spAutoFit/>
          </a:bodyPr>
          <a:lstStyle/>
          <a:p>
            <a:pPr algn="l">
              <a:defRPr sz="1100" b="0">
                <a:solidFill>
                  <a:srgbClr val="2C3E50"/>
                </a:solidFill>
                <a:latin typeface="Segoe UI"/>
              </a:defRPr>
            </a:pPr>
            <a:r>
              <a:t>Prove all config paths block an attack</a:t>
            </a:r>
          </a:p>
        </p:txBody>
      </p:sp>
      <p:sp>
        <p:nvSpPr>
          <p:cNvPr id="28" name="TextBox 27"/>
          <p:cNvSpPr txBox="1"/>
          <p:nvPr/>
        </p:nvSpPr>
        <p:spPr>
          <a:xfrm>
            <a:off x="5394960" y="370332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29" name="TextBox 28"/>
          <p:cNvSpPr txBox="1"/>
          <p:nvPr/>
        </p:nvSpPr>
        <p:spPr>
          <a:xfrm>
            <a:off x="7498079" y="3703320"/>
            <a:ext cx="3474720" cy="256032"/>
          </a:xfrm>
          <a:prstGeom prst="rect">
            <a:avLst/>
          </a:prstGeom>
          <a:noFill/>
        </p:spPr>
        <p:txBody>
          <a:bodyPr wrap="square" anchor="t">
            <a:spAutoFit/>
          </a:bodyPr>
          <a:lstStyle/>
          <a:p>
            <a:pPr algn="l">
              <a:defRPr sz="1000" b="1">
                <a:solidFill>
                  <a:srgbClr val="1B4F72"/>
                </a:solidFill>
                <a:latin typeface="Segoe UI"/>
              </a:defRPr>
            </a:pPr>
            <a:r>
              <a:t>Formal model — mathematical proof</a:t>
            </a:r>
          </a:p>
        </p:txBody>
      </p:sp>
      <p:sp>
        <p:nvSpPr>
          <p:cNvPr id="30" name="Rounded Rectangle 29"/>
          <p:cNvSpPr/>
          <p:nvPr/>
        </p:nvSpPr>
        <p:spPr>
          <a:xfrm>
            <a:off x="1097280" y="4023360"/>
            <a:ext cx="10058400" cy="34747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80160" y="4069080"/>
            <a:ext cx="4023360" cy="256032"/>
          </a:xfrm>
          <a:prstGeom prst="rect">
            <a:avLst/>
          </a:prstGeom>
          <a:noFill/>
        </p:spPr>
        <p:txBody>
          <a:bodyPr wrap="square" anchor="t">
            <a:spAutoFit/>
          </a:bodyPr>
          <a:lstStyle/>
          <a:p>
            <a:pPr algn="l">
              <a:defRPr sz="1100" b="0">
                <a:solidFill>
                  <a:srgbClr val="2C3E50"/>
                </a:solidFill>
                <a:latin typeface="Segoe UI"/>
              </a:defRPr>
            </a:pPr>
            <a:r>
              <a:t>Detect sub-threshold behavioral drift</a:t>
            </a:r>
          </a:p>
        </p:txBody>
      </p:sp>
      <p:sp>
        <p:nvSpPr>
          <p:cNvPr id="32" name="TextBox 31"/>
          <p:cNvSpPr txBox="1"/>
          <p:nvPr/>
        </p:nvSpPr>
        <p:spPr>
          <a:xfrm>
            <a:off x="5394960" y="406908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33" name="TextBox 32"/>
          <p:cNvSpPr txBox="1"/>
          <p:nvPr/>
        </p:nvSpPr>
        <p:spPr>
          <a:xfrm>
            <a:off x="7498079" y="4069080"/>
            <a:ext cx="3474720" cy="256032"/>
          </a:xfrm>
          <a:prstGeom prst="rect">
            <a:avLst/>
          </a:prstGeom>
          <a:noFill/>
        </p:spPr>
        <p:txBody>
          <a:bodyPr wrap="square" anchor="t">
            <a:spAutoFit/>
          </a:bodyPr>
          <a:lstStyle/>
          <a:p>
            <a:pPr algn="l">
              <a:defRPr sz="1000" b="1">
                <a:solidFill>
                  <a:srgbClr val="1B4F72"/>
                </a:solidFill>
                <a:latin typeface="Segoe UI"/>
              </a:defRPr>
            </a:pPr>
            <a:r>
              <a:t>Change-point on Digital Twin</a:t>
            </a:r>
          </a:p>
        </p:txBody>
      </p:sp>
      <p:sp>
        <p:nvSpPr>
          <p:cNvPr id="34" name="Rounded Rectangle 33"/>
          <p:cNvSpPr/>
          <p:nvPr/>
        </p:nvSpPr>
        <p:spPr>
          <a:xfrm>
            <a:off x="1097280" y="4389120"/>
            <a:ext cx="10058400" cy="34747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80160" y="4434840"/>
            <a:ext cx="4023360" cy="256032"/>
          </a:xfrm>
          <a:prstGeom prst="rect">
            <a:avLst/>
          </a:prstGeom>
          <a:noFill/>
        </p:spPr>
        <p:txBody>
          <a:bodyPr wrap="square" anchor="t">
            <a:spAutoFit/>
          </a:bodyPr>
          <a:lstStyle/>
          <a:p>
            <a:pPr algn="l">
              <a:defRPr sz="1100" b="0">
                <a:solidFill>
                  <a:srgbClr val="2C3E50"/>
                </a:solidFill>
                <a:latin typeface="Segoe UI"/>
              </a:defRPr>
            </a:pPr>
            <a:r>
              <a:t>Map drift direction to MITRE technique</a:t>
            </a:r>
          </a:p>
        </p:txBody>
      </p:sp>
      <p:sp>
        <p:nvSpPr>
          <p:cNvPr id="36" name="TextBox 35"/>
          <p:cNvSpPr txBox="1"/>
          <p:nvPr/>
        </p:nvSpPr>
        <p:spPr>
          <a:xfrm>
            <a:off x="5394960" y="443484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37" name="TextBox 36"/>
          <p:cNvSpPr txBox="1"/>
          <p:nvPr/>
        </p:nvSpPr>
        <p:spPr>
          <a:xfrm>
            <a:off x="7498079" y="4434840"/>
            <a:ext cx="3474720" cy="256032"/>
          </a:xfrm>
          <a:prstGeom prst="rect">
            <a:avLst/>
          </a:prstGeom>
          <a:noFill/>
        </p:spPr>
        <p:txBody>
          <a:bodyPr wrap="square" anchor="t">
            <a:spAutoFit/>
          </a:bodyPr>
          <a:lstStyle/>
          <a:p>
            <a:pPr algn="l">
              <a:defRPr sz="1000" b="1">
                <a:solidFill>
                  <a:srgbClr val="1B4F72"/>
                </a:solidFill>
                <a:latin typeface="Segoe UI"/>
              </a:defRPr>
            </a:pPr>
            <a:r>
              <a:t>Drift direction classifier</a:t>
            </a:r>
          </a:p>
        </p:txBody>
      </p:sp>
      <p:sp>
        <p:nvSpPr>
          <p:cNvPr id="38" name="Rounded Rectangle 37"/>
          <p:cNvSpPr/>
          <p:nvPr/>
        </p:nvSpPr>
        <p:spPr>
          <a:xfrm>
            <a:off x="1097280" y="4754880"/>
            <a:ext cx="10058400" cy="34747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80160" y="4800600"/>
            <a:ext cx="4023360" cy="256032"/>
          </a:xfrm>
          <a:prstGeom prst="rect">
            <a:avLst/>
          </a:prstGeom>
          <a:noFill/>
        </p:spPr>
        <p:txBody>
          <a:bodyPr wrap="square" anchor="t">
            <a:spAutoFit/>
          </a:bodyPr>
          <a:lstStyle/>
          <a:p>
            <a:pPr algn="l">
              <a:defRPr sz="1100" b="0">
                <a:solidFill>
                  <a:srgbClr val="2C3E50"/>
                </a:solidFill>
                <a:latin typeface="Segoe UI"/>
              </a:defRPr>
            </a:pPr>
            <a:r>
              <a:t>Fuse identity across 10+ systems → one entity</a:t>
            </a:r>
          </a:p>
        </p:txBody>
      </p:sp>
      <p:sp>
        <p:nvSpPr>
          <p:cNvPr id="40" name="TextBox 39"/>
          <p:cNvSpPr txBox="1"/>
          <p:nvPr/>
        </p:nvSpPr>
        <p:spPr>
          <a:xfrm>
            <a:off x="5394960" y="4800600"/>
            <a:ext cx="1828800" cy="256032"/>
          </a:xfrm>
          <a:prstGeom prst="rect">
            <a:avLst/>
          </a:prstGeom>
          <a:noFill/>
        </p:spPr>
        <p:txBody>
          <a:bodyPr wrap="square" anchor="t">
            <a:spAutoFit/>
          </a:bodyPr>
          <a:lstStyle/>
          <a:p>
            <a:pPr algn="l">
              <a:defRPr sz="1000" b="1">
                <a:solidFill>
                  <a:srgbClr val="C0392B"/>
                </a:solidFill>
                <a:latin typeface="Segoe UI"/>
              </a:defRPr>
            </a:pPr>
            <a:r>
              <a:t>Partial (per-cloud)</a:t>
            </a:r>
          </a:p>
        </p:txBody>
      </p:sp>
      <p:sp>
        <p:nvSpPr>
          <p:cNvPr id="41" name="TextBox 40"/>
          <p:cNvSpPr txBox="1"/>
          <p:nvPr/>
        </p:nvSpPr>
        <p:spPr>
          <a:xfrm>
            <a:off x="7498079" y="4800600"/>
            <a:ext cx="3474720" cy="256032"/>
          </a:xfrm>
          <a:prstGeom prst="rect">
            <a:avLst/>
          </a:prstGeom>
          <a:noFill/>
        </p:spPr>
        <p:txBody>
          <a:bodyPr wrap="square" anchor="t">
            <a:spAutoFit/>
          </a:bodyPr>
          <a:lstStyle/>
          <a:p>
            <a:pPr algn="l">
              <a:defRPr sz="1000" b="1">
                <a:solidFill>
                  <a:srgbClr val="1B4F72"/>
                </a:solidFill>
                <a:latin typeface="Segoe UI"/>
              </a:defRPr>
            </a:pPr>
            <a:r>
              <a:t>Cross-cloud entity fusion</a:t>
            </a:r>
          </a:p>
        </p:txBody>
      </p:sp>
      <p:sp>
        <p:nvSpPr>
          <p:cNvPr id="42" name="Rounded Rectangle 41"/>
          <p:cNvSpPr/>
          <p:nvPr/>
        </p:nvSpPr>
        <p:spPr>
          <a:xfrm>
            <a:off x="1097280" y="5120640"/>
            <a:ext cx="10058400" cy="34747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280160" y="5166360"/>
            <a:ext cx="4023360" cy="256032"/>
          </a:xfrm>
          <a:prstGeom prst="rect">
            <a:avLst/>
          </a:prstGeom>
          <a:noFill/>
        </p:spPr>
        <p:txBody>
          <a:bodyPr wrap="square" anchor="t">
            <a:spAutoFit/>
          </a:bodyPr>
          <a:lstStyle/>
          <a:p>
            <a:pPr algn="l">
              <a:defRPr sz="1100" b="0">
                <a:solidFill>
                  <a:srgbClr val="2C3E50"/>
                </a:solidFill>
                <a:latin typeface="Segoe UI"/>
              </a:defRPr>
            </a:pPr>
            <a:r>
              <a:t>Continuous re-verification (hourly + on change)</a:t>
            </a:r>
          </a:p>
        </p:txBody>
      </p:sp>
      <p:sp>
        <p:nvSpPr>
          <p:cNvPr id="44" name="TextBox 43"/>
          <p:cNvSpPr txBox="1"/>
          <p:nvPr/>
        </p:nvSpPr>
        <p:spPr>
          <a:xfrm>
            <a:off x="5394960" y="516636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45" name="TextBox 44"/>
          <p:cNvSpPr txBox="1"/>
          <p:nvPr/>
        </p:nvSpPr>
        <p:spPr>
          <a:xfrm>
            <a:off x="7498079" y="5166360"/>
            <a:ext cx="3474720" cy="256032"/>
          </a:xfrm>
          <a:prstGeom prst="rect">
            <a:avLst/>
          </a:prstGeom>
          <a:noFill/>
        </p:spPr>
        <p:txBody>
          <a:bodyPr wrap="square" anchor="t">
            <a:spAutoFit/>
          </a:bodyPr>
          <a:lstStyle/>
          <a:p>
            <a:pPr algn="l">
              <a:defRPr sz="1000" b="1">
                <a:solidFill>
                  <a:srgbClr val="1B4F72"/>
                </a:solidFill>
                <a:latin typeface="Segoe UI"/>
              </a:defRPr>
            </a:pPr>
            <a:r>
              <a:t>Automated closed-loop</a:t>
            </a:r>
          </a:p>
        </p:txBody>
      </p:sp>
      <p:sp>
        <p:nvSpPr>
          <p:cNvPr id="46" name="Rounded Rectangle 45"/>
          <p:cNvSpPr/>
          <p:nvPr/>
        </p:nvSpPr>
        <p:spPr>
          <a:xfrm>
            <a:off x="1097280" y="5486400"/>
            <a:ext cx="10058400" cy="34747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80160" y="5532120"/>
            <a:ext cx="4023360" cy="256032"/>
          </a:xfrm>
          <a:prstGeom prst="rect">
            <a:avLst/>
          </a:prstGeom>
          <a:noFill/>
        </p:spPr>
        <p:txBody>
          <a:bodyPr wrap="square" anchor="t">
            <a:spAutoFit/>
          </a:bodyPr>
          <a:lstStyle/>
          <a:p>
            <a:pPr algn="l">
              <a:defRPr sz="1100" b="0">
                <a:solidFill>
                  <a:srgbClr val="2C3E50"/>
                </a:solidFill>
                <a:latin typeface="Segoe UI"/>
              </a:defRPr>
            </a:pPr>
            <a:r>
              <a:t>Vendor-specific remediation with zero-FP</a:t>
            </a:r>
          </a:p>
        </p:txBody>
      </p:sp>
      <p:sp>
        <p:nvSpPr>
          <p:cNvPr id="48" name="TextBox 47"/>
          <p:cNvSpPr txBox="1"/>
          <p:nvPr/>
        </p:nvSpPr>
        <p:spPr>
          <a:xfrm>
            <a:off x="5394960" y="553212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49" name="TextBox 48"/>
          <p:cNvSpPr txBox="1"/>
          <p:nvPr/>
        </p:nvSpPr>
        <p:spPr>
          <a:xfrm>
            <a:off x="7498079" y="5532120"/>
            <a:ext cx="3474720" cy="256032"/>
          </a:xfrm>
          <a:prstGeom prst="rect">
            <a:avLst/>
          </a:prstGeom>
          <a:noFill/>
        </p:spPr>
        <p:txBody>
          <a:bodyPr wrap="square" anchor="t">
            <a:spAutoFit/>
          </a:bodyPr>
          <a:lstStyle/>
          <a:p>
            <a:pPr algn="l">
              <a:defRPr sz="1000" b="1">
                <a:solidFill>
                  <a:srgbClr val="1B4F72"/>
                </a:solidFill>
                <a:latin typeface="Segoe UI"/>
              </a:defRPr>
            </a:pPr>
            <a:r>
              <a:t>Prescriptive playbooks</a:t>
            </a:r>
          </a:p>
        </p:txBody>
      </p:sp>
      <p:sp>
        <p:nvSpPr>
          <p:cNvPr id="50" name="Rounded Rectangle 49"/>
          <p:cNvSpPr/>
          <p:nvPr/>
        </p:nvSpPr>
        <p:spPr>
          <a:xfrm>
            <a:off x="1097280" y="5943600"/>
            <a:ext cx="10058400" cy="36576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71600" y="5971032"/>
            <a:ext cx="9601200" cy="320040"/>
          </a:xfrm>
          <a:prstGeom prst="rect">
            <a:avLst/>
          </a:prstGeom>
          <a:noFill/>
        </p:spPr>
        <p:txBody>
          <a:bodyPr wrap="square" anchor="t">
            <a:spAutoFit/>
          </a:bodyPr>
          <a:lstStyle/>
          <a:p>
            <a:pPr algn="ctr">
              <a:defRPr sz="1100" b="1">
                <a:solidFill>
                  <a:srgbClr val="0D1B2A"/>
                </a:solidFill>
                <a:latin typeface="Segoe UI"/>
              </a:defRPr>
            </a:pPr>
            <a:r>
              <a:t>Hyperscalers provide runtime. 22CT provides the domain intelligence that makes agents effective.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Mission Threads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Nine operational mission threads spanning DCO, compliance, and risk management for DODIN defense.</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15</a:t>
            </a:r>
          </a:p>
        </p:txBody>
      </p:sp>
      <p:sp>
        <p:nvSpPr>
          <p:cNvPr id="8" name="Rounded Rectangle 7"/>
          <p:cNvSpPr/>
          <p:nvPr/>
        </p:nvSpPr>
        <p:spPr>
          <a:xfrm>
            <a:off x="1097280" y="1371600"/>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43000" y="1463040"/>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1481328"/>
            <a:ext cx="365760" cy="237744"/>
          </a:xfrm>
          <a:prstGeom prst="rect">
            <a:avLst/>
          </a:prstGeom>
          <a:noFill/>
        </p:spPr>
        <p:txBody>
          <a:bodyPr wrap="square" anchor="t">
            <a:spAutoFit/>
          </a:bodyPr>
          <a:lstStyle/>
          <a:p>
            <a:pPr algn="ctr">
              <a:defRPr sz="950" b="1">
                <a:solidFill>
                  <a:srgbClr val="FFFFFF"/>
                </a:solidFill>
                <a:latin typeface="Segoe UI"/>
              </a:defRPr>
            </a:pPr>
            <a:r>
              <a:t>01</a:t>
            </a:r>
          </a:p>
        </p:txBody>
      </p:sp>
      <p:sp>
        <p:nvSpPr>
          <p:cNvPr id="11" name="TextBox 10"/>
          <p:cNvSpPr txBox="1"/>
          <p:nvPr/>
        </p:nvSpPr>
        <p:spPr>
          <a:xfrm>
            <a:off x="1737360" y="1444752"/>
            <a:ext cx="2743200" cy="365760"/>
          </a:xfrm>
          <a:prstGeom prst="rect">
            <a:avLst/>
          </a:prstGeom>
          <a:noFill/>
        </p:spPr>
        <p:txBody>
          <a:bodyPr wrap="square" anchor="t">
            <a:spAutoFit/>
          </a:bodyPr>
          <a:lstStyle/>
          <a:p>
            <a:pPr algn="l">
              <a:defRPr sz="1200" b="1">
                <a:solidFill>
                  <a:srgbClr val="0D1B2A"/>
                </a:solidFill>
                <a:latin typeface="Segoe UI"/>
              </a:defRPr>
            </a:pPr>
            <a:r>
              <a:t>Preemptive Cyber Defense</a:t>
            </a:r>
          </a:p>
        </p:txBody>
      </p:sp>
      <p:sp>
        <p:nvSpPr>
          <p:cNvPr id="12" name="TextBox 11"/>
          <p:cNvSpPr txBox="1"/>
          <p:nvPr/>
        </p:nvSpPr>
        <p:spPr>
          <a:xfrm>
            <a:off x="4572000" y="1463040"/>
            <a:ext cx="6400800" cy="365760"/>
          </a:xfrm>
          <a:prstGeom prst="rect">
            <a:avLst/>
          </a:prstGeom>
          <a:noFill/>
        </p:spPr>
        <p:txBody>
          <a:bodyPr wrap="square" anchor="t">
            <a:spAutoFit/>
          </a:bodyPr>
          <a:lstStyle/>
          <a:p>
            <a:pPr algn="l">
              <a:defRPr sz="1100" b="0">
                <a:solidFill>
                  <a:srgbClr val="2C3E50"/>
                </a:solidFill>
                <a:latin typeface="Segoe UI"/>
              </a:defRPr>
            </a:pPr>
            <a:r>
              <a:t>Continuous verification that every known TTP path is blocked</a:t>
            </a:r>
          </a:p>
        </p:txBody>
      </p:sp>
      <p:sp>
        <p:nvSpPr>
          <p:cNvPr id="13" name="Rounded Rectangle 12"/>
          <p:cNvSpPr/>
          <p:nvPr/>
        </p:nvSpPr>
        <p:spPr>
          <a:xfrm>
            <a:off x="1097280" y="1901952"/>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43000" y="1993392"/>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2011680"/>
            <a:ext cx="365760" cy="237744"/>
          </a:xfrm>
          <a:prstGeom prst="rect">
            <a:avLst/>
          </a:prstGeom>
          <a:noFill/>
        </p:spPr>
        <p:txBody>
          <a:bodyPr wrap="square" anchor="t">
            <a:spAutoFit/>
          </a:bodyPr>
          <a:lstStyle/>
          <a:p>
            <a:pPr algn="ctr">
              <a:defRPr sz="950" b="1">
                <a:solidFill>
                  <a:srgbClr val="FFFFFF"/>
                </a:solidFill>
                <a:latin typeface="Segoe UI"/>
              </a:defRPr>
            </a:pPr>
            <a:r>
              <a:t>02</a:t>
            </a:r>
          </a:p>
        </p:txBody>
      </p:sp>
      <p:sp>
        <p:nvSpPr>
          <p:cNvPr id="16" name="TextBox 15"/>
          <p:cNvSpPr txBox="1"/>
          <p:nvPr/>
        </p:nvSpPr>
        <p:spPr>
          <a:xfrm>
            <a:off x="1737360" y="1975104"/>
            <a:ext cx="2743200" cy="365760"/>
          </a:xfrm>
          <a:prstGeom prst="rect">
            <a:avLst/>
          </a:prstGeom>
          <a:noFill/>
        </p:spPr>
        <p:txBody>
          <a:bodyPr wrap="square" anchor="t">
            <a:spAutoFit/>
          </a:bodyPr>
          <a:lstStyle/>
          <a:p>
            <a:pPr algn="l">
              <a:defRPr sz="1200" b="1">
                <a:solidFill>
                  <a:srgbClr val="0D1B2A"/>
                </a:solidFill>
                <a:latin typeface="Segoe UI"/>
              </a:defRPr>
            </a:pPr>
            <a:r>
              <a:t>Configuration Drift Mgmt</a:t>
            </a:r>
          </a:p>
        </p:txBody>
      </p:sp>
      <p:sp>
        <p:nvSpPr>
          <p:cNvPr id="17" name="TextBox 16"/>
          <p:cNvSpPr txBox="1"/>
          <p:nvPr/>
        </p:nvSpPr>
        <p:spPr>
          <a:xfrm>
            <a:off x="4572000" y="1993392"/>
            <a:ext cx="6400800" cy="365760"/>
          </a:xfrm>
          <a:prstGeom prst="rect">
            <a:avLst/>
          </a:prstGeom>
          <a:noFill/>
        </p:spPr>
        <p:txBody>
          <a:bodyPr wrap="square" anchor="t">
            <a:spAutoFit/>
          </a:bodyPr>
          <a:lstStyle/>
          <a:p>
            <a:pPr algn="l">
              <a:defRPr sz="1100" b="0">
                <a:solidFill>
                  <a:srgbClr val="2C3E50"/>
                </a:solidFill>
                <a:latin typeface="Segoe UI"/>
              </a:defRPr>
            </a:pPr>
            <a:r>
              <a:t>Hourly comparison to approved baseline; surfaces unauthorized changes</a:t>
            </a:r>
          </a:p>
        </p:txBody>
      </p:sp>
      <p:sp>
        <p:nvSpPr>
          <p:cNvPr id="18" name="Rounded Rectangle 17"/>
          <p:cNvSpPr/>
          <p:nvPr/>
        </p:nvSpPr>
        <p:spPr>
          <a:xfrm>
            <a:off x="1097280" y="2432304"/>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143000" y="2523744"/>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2542032"/>
            <a:ext cx="365760" cy="237744"/>
          </a:xfrm>
          <a:prstGeom prst="rect">
            <a:avLst/>
          </a:prstGeom>
          <a:noFill/>
        </p:spPr>
        <p:txBody>
          <a:bodyPr wrap="square" anchor="t">
            <a:spAutoFit/>
          </a:bodyPr>
          <a:lstStyle/>
          <a:p>
            <a:pPr algn="ctr">
              <a:defRPr sz="950" b="1">
                <a:solidFill>
                  <a:srgbClr val="FFFFFF"/>
                </a:solidFill>
                <a:latin typeface="Segoe UI"/>
              </a:defRPr>
            </a:pPr>
            <a:r>
              <a:t>03</a:t>
            </a:r>
          </a:p>
        </p:txBody>
      </p:sp>
      <p:sp>
        <p:nvSpPr>
          <p:cNvPr id="21" name="TextBox 20"/>
          <p:cNvSpPr txBox="1"/>
          <p:nvPr/>
        </p:nvSpPr>
        <p:spPr>
          <a:xfrm>
            <a:off x="1737360" y="2505456"/>
            <a:ext cx="2743200" cy="365760"/>
          </a:xfrm>
          <a:prstGeom prst="rect">
            <a:avLst/>
          </a:prstGeom>
          <a:noFill/>
        </p:spPr>
        <p:txBody>
          <a:bodyPr wrap="square" anchor="t">
            <a:spAutoFit/>
          </a:bodyPr>
          <a:lstStyle/>
          <a:p>
            <a:pPr algn="l">
              <a:defRPr sz="1200" b="1">
                <a:solidFill>
                  <a:srgbClr val="0D1B2A"/>
                </a:solidFill>
                <a:latin typeface="Segoe UI"/>
              </a:defRPr>
            </a:pPr>
            <a:r>
              <a:t>Formal Policy Analysis</a:t>
            </a:r>
          </a:p>
        </p:txBody>
      </p:sp>
      <p:sp>
        <p:nvSpPr>
          <p:cNvPr id="22" name="TextBox 21"/>
          <p:cNvSpPr txBox="1"/>
          <p:nvPr/>
        </p:nvSpPr>
        <p:spPr>
          <a:xfrm>
            <a:off x="4572000" y="2523744"/>
            <a:ext cx="6400800" cy="365760"/>
          </a:xfrm>
          <a:prstGeom prst="rect">
            <a:avLst/>
          </a:prstGeom>
          <a:noFill/>
        </p:spPr>
        <p:txBody>
          <a:bodyPr wrap="square" anchor="t">
            <a:spAutoFit/>
          </a:bodyPr>
          <a:lstStyle/>
          <a:p>
            <a:pPr algn="l">
              <a:defRPr sz="1100" b="0">
                <a:solidFill>
                  <a:srgbClr val="2C3E50"/>
                </a:solidFill>
                <a:latin typeface="Segoe UI"/>
              </a:defRPr>
            </a:pPr>
            <a:r>
              <a:t>Shadow rules, conflicts, weak inspection across multi-vendor stack</a:t>
            </a:r>
          </a:p>
        </p:txBody>
      </p:sp>
      <p:sp>
        <p:nvSpPr>
          <p:cNvPr id="23" name="Rounded Rectangle 22"/>
          <p:cNvSpPr/>
          <p:nvPr/>
        </p:nvSpPr>
        <p:spPr>
          <a:xfrm>
            <a:off x="1097280" y="2962656"/>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143000" y="3054096"/>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0" y="3072384"/>
            <a:ext cx="365760" cy="237744"/>
          </a:xfrm>
          <a:prstGeom prst="rect">
            <a:avLst/>
          </a:prstGeom>
          <a:noFill/>
        </p:spPr>
        <p:txBody>
          <a:bodyPr wrap="square" anchor="t">
            <a:spAutoFit/>
          </a:bodyPr>
          <a:lstStyle/>
          <a:p>
            <a:pPr algn="ctr">
              <a:defRPr sz="950" b="1">
                <a:solidFill>
                  <a:srgbClr val="FFFFFF"/>
                </a:solidFill>
                <a:latin typeface="Segoe UI"/>
              </a:defRPr>
            </a:pPr>
            <a:r>
              <a:t>04</a:t>
            </a:r>
          </a:p>
        </p:txBody>
      </p:sp>
      <p:sp>
        <p:nvSpPr>
          <p:cNvPr id="26" name="TextBox 25"/>
          <p:cNvSpPr txBox="1"/>
          <p:nvPr/>
        </p:nvSpPr>
        <p:spPr>
          <a:xfrm>
            <a:off x="1737360" y="3035808"/>
            <a:ext cx="2743200" cy="365760"/>
          </a:xfrm>
          <a:prstGeom prst="rect">
            <a:avLst/>
          </a:prstGeom>
          <a:noFill/>
        </p:spPr>
        <p:txBody>
          <a:bodyPr wrap="square" anchor="t">
            <a:spAutoFit/>
          </a:bodyPr>
          <a:lstStyle/>
          <a:p>
            <a:pPr algn="l">
              <a:defRPr sz="1200" b="1">
                <a:solidFill>
                  <a:srgbClr val="0D1B2A"/>
                </a:solidFill>
                <a:latin typeface="Segoe UI"/>
              </a:defRPr>
            </a:pPr>
            <a:r>
              <a:t>External Attack Surface</a:t>
            </a:r>
          </a:p>
        </p:txBody>
      </p:sp>
      <p:sp>
        <p:nvSpPr>
          <p:cNvPr id="27" name="TextBox 26"/>
          <p:cNvSpPr txBox="1"/>
          <p:nvPr/>
        </p:nvSpPr>
        <p:spPr>
          <a:xfrm>
            <a:off x="4572000" y="3054096"/>
            <a:ext cx="6400800" cy="365760"/>
          </a:xfrm>
          <a:prstGeom prst="rect">
            <a:avLst/>
          </a:prstGeom>
          <a:noFill/>
        </p:spPr>
        <p:txBody>
          <a:bodyPr wrap="square" anchor="t">
            <a:spAutoFit/>
          </a:bodyPr>
          <a:lstStyle/>
          <a:p>
            <a:pPr algn="l">
              <a:defRPr sz="1100" b="0">
                <a:solidFill>
                  <a:srgbClr val="2C3E50"/>
                </a:solidFill>
                <a:latin typeface="Segoe UI"/>
              </a:defRPr>
            </a:pPr>
            <a:r>
              <a:t>Maps exposed assets to compensating controls; proves coverage</a:t>
            </a:r>
          </a:p>
        </p:txBody>
      </p:sp>
      <p:sp>
        <p:nvSpPr>
          <p:cNvPr id="28" name="Rounded Rectangle 27"/>
          <p:cNvSpPr/>
          <p:nvPr/>
        </p:nvSpPr>
        <p:spPr>
          <a:xfrm>
            <a:off x="1097280" y="3493008"/>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143000" y="3584448"/>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88720" y="3602736"/>
            <a:ext cx="365760" cy="237744"/>
          </a:xfrm>
          <a:prstGeom prst="rect">
            <a:avLst/>
          </a:prstGeom>
          <a:noFill/>
        </p:spPr>
        <p:txBody>
          <a:bodyPr wrap="square" anchor="t">
            <a:spAutoFit/>
          </a:bodyPr>
          <a:lstStyle/>
          <a:p>
            <a:pPr algn="ctr">
              <a:defRPr sz="950" b="1">
                <a:solidFill>
                  <a:srgbClr val="FFFFFF"/>
                </a:solidFill>
                <a:latin typeface="Segoe UI"/>
              </a:defRPr>
            </a:pPr>
            <a:r>
              <a:t>05</a:t>
            </a:r>
          </a:p>
        </p:txBody>
      </p:sp>
      <p:sp>
        <p:nvSpPr>
          <p:cNvPr id="31" name="TextBox 30"/>
          <p:cNvSpPr txBox="1"/>
          <p:nvPr/>
        </p:nvSpPr>
        <p:spPr>
          <a:xfrm>
            <a:off x="1737360" y="3566160"/>
            <a:ext cx="2743200" cy="365760"/>
          </a:xfrm>
          <a:prstGeom prst="rect">
            <a:avLst/>
          </a:prstGeom>
          <a:noFill/>
        </p:spPr>
        <p:txBody>
          <a:bodyPr wrap="square" anchor="t">
            <a:spAutoFit/>
          </a:bodyPr>
          <a:lstStyle/>
          <a:p>
            <a:pPr algn="l">
              <a:defRPr sz="1200" b="1">
                <a:solidFill>
                  <a:srgbClr val="0D1B2A"/>
                </a:solidFill>
                <a:latin typeface="Segoe UI"/>
              </a:defRPr>
            </a:pPr>
            <a:r>
              <a:t>Internal Attack Surface</a:t>
            </a:r>
          </a:p>
        </p:txBody>
      </p:sp>
      <p:sp>
        <p:nvSpPr>
          <p:cNvPr id="32" name="TextBox 31"/>
          <p:cNvSpPr txBox="1"/>
          <p:nvPr/>
        </p:nvSpPr>
        <p:spPr>
          <a:xfrm>
            <a:off x="4572000" y="3584448"/>
            <a:ext cx="6400800" cy="365760"/>
          </a:xfrm>
          <a:prstGeom prst="rect">
            <a:avLst/>
          </a:prstGeom>
          <a:noFill/>
        </p:spPr>
        <p:txBody>
          <a:bodyPr wrap="square" anchor="t">
            <a:spAutoFit/>
          </a:bodyPr>
          <a:lstStyle/>
          <a:p>
            <a:pPr algn="l">
              <a:defRPr sz="1100" b="0">
                <a:solidFill>
                  <a:srgbClr val="2C3E50"/>
                </a:solidFill>
                <a:latin typeface="Segoe UI"/>
              </a:defRPr>
            </a:pPr>
            <a:r>
              <a:t>Models paths from compromised host to crown-jewel assets</a:t>
            </a:r>
          </a:p>
        </p:txBody>
      </p:sp>
      <p:sp>
        <p:nvSpPr>
          <p:cNvPr id="33" name="Rounded Rectangle 32"/>
          <p:cNvSpPr/>
          <p:nvPr/>
        </p:nvSpPr>
        <p:spPr>
          <a:xfrm>
            <a:off x="1097280" y="4023360"/>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143000" y="4114800"/>
            <a:ext cx="4572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88720" y="4133088"/>
            <a:ext cx="365760" cy="237744"/>
          </a:xfrm>
          <a:prstGeom prst="rect">
            <a:avLst/>
          </a:prstGeom>
          <a:noFill/>
        </p:spPr>
        <p:txBody>
          <a:bodyPr wrap="square" anchor="t">
            <a:spAutoFit/>
          </a:bodyPr>
          <a:lstStyle/>
          <a:p>
            <a:pPr algn="ctr">
              <a:defRPr sz="950" b="1">
                <a:solidFill>
                  <a:srgbClr val="FFFFFF"/>
                </a:solidFill>
                <a:latin typeface="Segoe UI"/>
              </a:defRPr>
            </a:pPr>
            <a:r>
              <a:t>06</a:t>
            </a:r>
          </a:p>
        </p:txBody>
      </p:sp>
      <p:sp>
        <p:nvSpPr>
          <p:cNvPr id="36" name="TextBox 35"/>
          <p:cNvSpPr txBox="1"/>
          <p:nvPr/>
        </p:nvSpPr>
        <p:spPr>
          <a:xfrm>
            <a:off x="1737360" y="4096512"/>
            <a:ext cx="2743200" cy="365760"/>
          </a:xfrm>
          <a:prstGeom prst="rect">
            <a:avLst/>
          </a:prstGeom>
          <a:noFill/>
        </p:spPr>
        <p:txBody>
          <a:bodyPr wrap="square" anchor="t">
            <a:spAutoFit/>
          </a:bodyPr>
          <a:lstStyle/>
          <a:p>
            <a:pPr algn="l">
              <a:defRPr sz="1200" b="1">
                <a:solidFill>
                  <a:srgbClr val="0D1B2A"/>
                </a:solidFill>
                <a:latin typeface="Segoe UI"/>
              </a:defRPr>
            </a:pPr>
            <a:r>
              <a:t>Behavioral Threat Detection</a:t>
            </a:r>
          </a:p>
        </p:txBody>
      </p:sp>
      <p:sp>
        <p:nvSpPr>
          <p:cNvPr id="37" name="TextBox 36"/>
          <p:cNvSpPr txBox="1"/>
          <p:nvPr/>
        </p:nvSpPr>
        <p:spPr>
          <a:xfrm>
            <a:off x="4572000" y="4114800"/>
            <a:ext cx="6400800" cy="365760"/>
          </a:xfrm>
          <a:prstGeom prst="rect">
            <a:avLst/>
          </a:prstGeom>
          <a:noFill/>
        </p:spPr>
        <p:txBody>
          <a:bodyPr wrap="square" anchor="t">
            <a:spAutoFit/>
          </a:bodyPr>
          <a:lstStyle/>
          <a:p>
            <a:pPr algn="l">
              <a:defRPr sz="1100" b="0">
                <a:solidFill>
                  <a:srgbClr val="2C3E50"/>
                </a:solidFill>
                <a:latin typeface="Segoe UI"/>
              </a:defRPr>
            </a:pPr>
            <a:r>
              <a:t>LOTL, credential abuse, insider threat, slow lateral movement</a:t>
            </a:r>
          </a:p>
        </p:txBody>
      </p:sp>
      <p:sp>
        <p:nvSpPr>
          <p:cNvPr id="38" name="Rounded Rectangle 37"/>
          <p:cNvSpPr/>
          <p:nvPr/>
        </p:nvSpPr>
        <p:spPr>
          <a:xfrm>
            <a:off x="1097280" y="4553712"/>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3000" y="4645152"/>
            <a:ext cx="4572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88720" y="4663440"/>
            <a:ext cx="365760" cy="237744"/>
          </a:xfrm>
          <a:prstGeom prst="rect">
            <a:avLst/>
          </a:prstGeom>
          <a:noFill/>
        </p:spPr>
        <p:txBody>
          <a:bodyPr wrap="square" anchor="t">
            <a:spAutoFit/>
          </a:bodyPr>
          <a:lstStyle/>
          <a:p>
            <a:pPr algn="ctr">
              <a:defRPr sz="950" b="1">
                <a:solidFill>
                  <a:srgbClr val="FFFFFF"/>
                </a:solidFill>
                <a:latin typeface="Segoe UI"/>
              </a:defRPr>
            </a:pPr>
            <a:r>
              <a:t>07</a:t>
            </a:r>
          </a:p>
        </p:txBody>
      </p:sp>
      <p:sp>
        <p:nvSpPr>
          <p:cNvPr id="41" name="TextBox 40"/>
          <p:cNvSpPr txBox="1"/>
          <p:nvPr/>
        </p:nvSpPr>
        <p:spPr>
          <a:xfrm>
            <a:off x="1737360" y="4626864"/>
            <a:ext cx="2743200" cy="365760"/>
          </a:xfrm>
          <a:prstGeom prst="rect">
            <a:avLst/>
          </a:prstGeom>
          <a:noFill/>
        </p:spPr>
        <p:txBody>
          <a:bodyPr wrap="square" anchor="t">
            <a:spAutoFit/>
          </a:bodyPr>
          <a:lstStyle/>
          <a:p>
            <a:pPr algn="l">
              <a:defRPr sz="1200" b="1">
                <a:solidFill>
                  <a:srgbClr val="0D1B2A"/>
                </a:solidFill>
                <a:latin typeface="Segoe UI"/>
              </a:defRPr>
            </a:pPr>
            <a:r>
              <a:t>Zero-Trust Verification</a:t>
            </a:r>
          </a:p>
        </p:txBody>
      </p:sp>
      <p:sp>
        <p:nvSpPr>
          <p:cNvPr id="42" name="TextBox 41"/>
          <p:cNvSpPr txBox="1"/>
          <p:nvPr/>
        </p:nvSpPr>
        <p:spPr>
          <a:xfrm>
            <a:off x="4572000" y="4645152"/>
            <a:ext cx="6400800" cy="365760"/>
          </a:xfrm>
          <a:prstGeom prst="rect">
            <a:avLst/>
          </a:prstGeom>
          <a:noFill/>
        </p:spPr>
        <p:txBody>
          <a:bodyPr wrap="square" anchor="t">
            <a:spAutoFit/>
          </a:bodyPr>
          <a:lstStyle/>
          <a:p>
            <a:pPr algn="l">
              <a:defRPr sz="1100" b="0">
                <a:solidFill>
                  <a:srgbClr val="2C3E50"/>
                </a:solidFill>
                <a:latin typeface="Segoe UI"/>
              </a:defRPr>
            </a:pPr>
            <a:r>
              <a:t>Proves segmentation holds end-to-end (NIST 800-53 / SP 800-207)</a:t>
            </a:r>
          </a:p>
        </p:txBody>
      </p:sp>
      <p:sp>
        <p:nvSpPr>
          <p:cNvPr id="43" name="Rounded Rectangle 42"/>
          <p:cNvSpPr/>
          <p:nvPr/>
        </p:nvSpPr>
        <p:spPr>
          <a:xfrm>
            <a:off x="1097280" y="5084064"/>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143000" y="5175504"/>
            <a:ext cx="457200" cy="2743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88720" y="5193792"/>
            <a:ext cx="365760" cy="237744"/>
          </a:xfrm>
          <a:prstGeom prst="rect">
            <a:avLst/>
          </a:prstGeom>
          <a:noFill/>
        </p:spPr>
        <p:txBody>
          <a:bodyPr wrap="square" anchor="t">
            <a:spAutoFit/>
          </a:bodyPr>
          <a:lstStyle/>
          <a:p>
            <a:pPr algn="ctr">
              <a:defRPr sz="950" b="1">
                <a:solidFill>
                  <a:srgbClr val="FFFFFF"/>
                </a:solidFill>
                <a:latin typeface="Segoe UI"/>
              </a:defRPr>
            </a:pPr>
            <a:r>
              <a:t>08</a:t>
            </a:r>
          </a:p>
        </p:txBody>
      </p:sp>
      <p:sp>
        <p:nvSpPr>
          <p:cNvPr id="46" name="TextBox 45"/>
          <p:cNvSpPr txBox="1"/>
          <p:nvPr/>
        </p:nvSpPr>
        <p:spPr>
          <a:xfrm>
            <a:off x="1737360" y="5157216"/>
            <a:ext cx="2743200" cy="365760"/>
          </a:xfrm>
          <a:prstGeom prst="rect">
            <a:avLst/>
          </a:prstGeom>
          <a:noFill/>
        </p:spPr>
        <p:txBody>
          <a:bodyPr wrap="square" anchor="t">
            <a:spAutoFit/>
          </a:bodyPr>
          <a:lstStyle/>
          <a:p>
            <a:pPr algn="l">
              <a:defRPr sz="1200" b="1">
                <a:solidFill>
                  <a:srgbClr val="0D1B2A"/>
                </a:solidFill>
                <a:latin typeface="Segoe UI"/>
              </a:defRPr>
            </a:pPr>
            <a:r>
              <a:t>Vendor Migration Safety</a:t>
            </a:r>
          </a:p>
        </p:txBody>
      </p:sp>
      <p:sp>
        <p:nvSpPr>
          <p:cNvPr id="47" name="TextBox 46"/>
          <p:cNvSpPr txBox="1"/>
          <p:nvPr/>
        </p:nvSpPr>
        <p:spPr>
          <a:xfrm>
            <a:off x="4572000" y="5175504"/>
            <a:ext cx="6400800" cy="365760"/>
          </a:xfrm>
          <a:prstGeom prst="rect">
            <a:avLst/>
          </a:prstGeom>
          <a:noFill/>
        </p:spPr>
        <p:txBody>
          <a:bodyPr wrap="square" anchor="t">
            <a:spAutoFit/>
          </a:bodyPr>
          <a:lstStyle/>
          <a:p>
            <a:pPr algn="l">
              <a:defRPr sz="1100" b="0">
                <a:solidFill>
                  <a:srgbClr val="2C3E50"/>
                </a:solidFill>
                <a:latin typeface="Segoe UI"/>
              </a:defRPr>
            </a:pPr>
            <a:r>
              <a:t>Proves no regression during NGFW vendor migration</a:t>
            </a:r>
          </a:p>
        </p:txBody>
      </p:sp>
      <p:sp>
        <p:nvSpPr>
          <p:cNvPr id="48" name="Rounded Rectangle 47"/>
          <p:cNvSpPr/>
          <p:nvPr/>
        </p:nvSpPr>
        <p:spPr>
          <a:xfrm>
            <a:off x="1097280" y="5614416"/>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143000" y="5705856"/>
            <a:ext cx="457200" cy="2743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188720" y="5724144"/>
            <a:ext cx="365760" cy="237744"/>
          </a:xfrm>
          <a:prstGeom prst="rect">
            <a:avLst/>
          </a:prstGeom>
          <a:noFill/>
        </p:spPr>
        <p:txBody>
          <a:bodyPr wrap="square" anchor="t">
            <a:spAutoFit/>
          </a:bodyPr>
          <a:lstStyle/>
          <a:p>
            <a:pPr algn="ctr">
              <a:defRPr sz="950" b="1">
                <a:solidFill>
                  <a:srgbClr val="FFFFFF"/>
                </a:solidFill>
                <a:latin typeface="Segoe UI"/>
              </a:defRPr>
            </a:pPr>
            <a:r>
              <a:t>09</a:t>
            </a:r>
          </a:p>
        </p:txBody>
      </p:sp>
      <p:sp>
        <p:nvSpPr>
          <p:cNvPr id="51" name="TextBox 50"/>
          <p:cNvSpPr txBox="1"/>
          <p:nvPr/>
        </p:nvSpPr>
        <p:spPr>
          <a:xfrm>
            <a:off x="1737360" y="5687568"/>
            <a:ext cx="2743200" cy="365760"/>
          </a:xfrm>
          <a:prstGeom prst="rect">
            <a:avLst/>
          </a:prstGeom>
          <a:noFill/>
        </p:spPr>
        <p:txBody>
          <a:bodyPr wrap="square" anchor="t">
            <a:spAutoFit/>
          </a:bodyPr>
          <a:lstStyle/>
          <a:p>
            <a:pPr algn="l">
              <a:defRPr sz="1200" b="1">
                <a:solidFill>
                  <a:srgbClr val="0D1B2A"/>
                </a:solidFill>
                <a:latin typeface="Segoe UI"/>
              </a:defRPr>
            </a:pPr>
            <a:r>
              <a:t>M&amp;A / Third-Party Risk</a:t>
            </a:r>
          </a:p>
        </p:txBody>
      </p:sp>
      <p:sp>
        <p:nvSpPr>
          <p:cNvPr id="52" name="TextBox 51"/>
          <p:cNvSpPr txBox="1"/>
          <p:nvPr/>
        </p:nvSpPr>
        <p:spPr>
          <a:xfrm>
            <a:off x="4572000" y="5705856"/>
            <a:ext cx="6400800" cy="365760"/>
          </a:xfrm>
          <a:prstGeom prst="rect">
            <a:avLst/>
          </a:prstGeom>
          <a:noFill/>
        </p:spPr>
        <p:txBody>
          <a:bodyPr wrap="square" anchor="t">
            <a:spAutoFit/>
          </a:bodyPr>
          <a:lstStyle/>
          <a:p>
            <a:pPr algn="l">
              <a:defRPr sz="1100" b="0">
                <a:solidFill>
                  <a:srgbClr val="2C3E50"/>
                </a:solidFill>
                <a:latin typeface="Segoe UI"/>
              </a:defRPr>
            </a:pPr>
            <a:r>
              <a:t>Models combined posture pre-merger; verifies isolation controls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What No Existing Tool, Device, or Platform Delivers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These capabilities do not exist in any product on the market today — at any price point.</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18</a:t>
            </a:r>
          </a:p>
        </p:txBody>
      </p:sp>
      <p:sp>
        <p:nvSpPr>
          <p:cNvPr id="8" name="Rounded Rectangle 7"/>
          <p:cNvSpPr/>
          <p:nvPr/>
        </p:nvSpPr>
        <p:spPr>
          <a:xfrm>
            <a:off x="1097280" y="1325880"/>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325880"/>
            <a:ext cx="73152" cy="77724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1353312"/>
            <a:ext cx="9601200" cy="274320"/>
          </a:xfrm>
          <a:prstGeom prst="rect">
            <a:avLst/>
          </a:prstGeom>
          <a:noFill/>
        </p:spPr>
        <p:txBody>
          <a:bodyPr wrap="square" anchor="t">
            <a:spAutoFit/>
          </a:bodyPr>
          <a:lstStyle/>
          <a:p>
            <a:pPr algn="l">
              <a:defRPr sz="1200" b="1">
                <a:solidFill>
                  <a:srgbClr val="1B4F72"/>
                </a:solidFill>
                <a:latin typeface="Segoe UI"/>
              </a:defRPr>
            </a:pPr>
            <a:r>
              <a:t>Exhaustive Mathematical Proof of Defense</a:t>
            </a:r>
          </a:p>
        </p:txBody>
      </p:sp>
      <p:sp>
        <p:nvSpPr>
          <p:cNvPr id="11" name="TextBox 10"/>
          <p:cNvSpPr txBox="1"/>
          <p:nvPr/>
        </p:nvSpPr>
        <p:spPr>
          <a:xfrm>
            <a:off x="1371600" y="1600200"/>
            <a:ext cx="9601200" cy="256032"/>
          </a:xfrm>
          <a:prstGeom prst="rect">
            <a:avLst/>
          </a:prstGeom>
          <a:noFill/>
        </p:spPr>
        <p:txBody>
          <a:bodyPr wrap="square" anchor="t">
            <a:spAutoFit/>
          </a:bodyPr>
          <a:lstStyle/>
          <a:p>
            <a:pPr algn="l">
              <a:defRPr sz="1100" b="0">
                <a:solidFill>
                  <a:srgbClr val="2C3E50"/>
                </a:solidFill>
                <a:latin typeface="Segoe UI"/>
              </a:defRPr>
            </a:pPr>
            <a:r>
              <a:t>No SIEM, EDR, scanner, or pentest can prove ALL config paths block an attack. Zero FP. Zero FN.</a:t>
            </a:r>
          </a:p>
        </p:txBody>
      </p:sp>
      <p:sp>
        <p:nvSpPr>
          <p:cNvPr id="12" name="TextBox 11"/>
          <p:cNvSpPr txBox="1"/>
          <p:nvPr/>
        </p:nvSpPr>
        <p:spPr>
          <a:xfrm>
            <a:off x="1371600" y="1856232"/>
            <a:ext cx="9601200" cy="201168"/>
          </a:xfrm>
          <a:prstGeom prst="rect">
            <a:avLst/>
          </a:prstGeom>
          <a:noFill/>
        </p:spPr>
        <p:txBody>
          <a:bodyPr wrap="square" anchor="t">
            <a:spAutoFit/>
          </a:bodyPr>
          <a:lstStyle/>
          <a:p>
            <a:pPr algn="l">
              <a:defRPr sz="900" b="0">
                <a:solidFill>
                  <a:srgbClr val="6C757D"/>
                </a:solidFill>
                <a:latin typeface="Segoe UI"/>
              </a:defRPr>
            </a:pPr>
            <a:r>
              <a:t>Not in: Splunk, CrowdStrike, Palo Alto, Tenable, Rapid7, Qualys, any SIEM/EDR/XDR</a:t>
            </a:r>
          </a:p>
        </p:txBody>
      </p:sp>
      <p:sp>
        <p:nvSpPr>
          <p:cNvPr id="13" name="Rounded Rectangle 12"/>
          <p:cNvSpPr/>
          <p:nvPr/>
        </p:nvSpPr>
        <p:spPr>
          <a:xfrm>
            <a:off x="1097280" y="2130552"/>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2130552"/>
            <a:ext cx="73152" cy="77724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2157984"/>
            <a:ext cx="9601200" cy="274320"/>
          </a:xfrm>
          <a:prstGeom prst="rect">
            <a:avLst/>
          </a:prstGeom>
          <a:noFill/>
        </p:spPr>
        <p:txBody>
          <a:bodyPr wrap="square" anchor="t">
            <a:spAutoFit/>
          </a:bodyPr>
          <a:lstStyle/>
          <a:p>
            <a:pPr algn="l">
              <a:defRPr sz="1200" b="1">
                <a:solidFill>
                  <a:srgbClr val="0E6B8A"/>
                </a:solidFill>
                <a:latin typeface="Segoe UI"/>
              </a:defRPr>
            </a:pPr>
            <a:r>
              <a:t>Digital Twin with Behavioral Time Dimension</a:t>
            </a:r>
          </a:p>
        </p:txBody>
      </p:sp>
      <p:sp>
        <p:nvSpPr>
          <p:cNvPr id="16" name="TextBox 15"/>
          <p:cNvSpPr txBox="1"/>
          <p:nvPr/>
        </p:nvSpPr>
        <p:spPr>
          <a:xfrm>
            <a:off x="1371600" y="2404872"/>
            <a:ext cx="9601200" cy="256032"/>
          </a:xfrm>
          <a:prstGeom prst="rect">
            <a:avLst/>
          </a:prstGeom>
          <a:noFill/>
        </p:spPr>
        <p:txBody>
          <a:bodyPr wrap="square" anchor="t">
            <a:spAutoFit/>
          </a:bodyPr>
          <a:lstStyle/>
          <a:p>
            <a:pPr algn="l">
              <a:defRPr sz="1100" b="0">
                <a:solidFill>
                  <a:srgbClr val="2C3E50"/>
                </a:solidFill>
                <a:latin typeface="Segoe UI"/>
              </a:defRPr>
            </a:pPr>
            <a:r>
              <a:t>Living entity model that captures sub-threshold drift and maps direction to MITRE ATT&amp;CK.</a:t>
            </a:r>
          </a:p>
        </p:txBody>
      </p:sp>
      <p:sp>
        <p:nvSpPr>
          <p:cNvPr id="17" name="TextBox 16"/>
          <p:cNvSpPr txBox="1"/>
          <p:nvPr/>
        </p:nvSpPr>
        <p:spPr>
          <a:xfrm>
            <a:off x="1371600" y="2660904"/>
            <a:ext cx="9601200" cy="201168"/>
          </a:xfrm>
          <a:prstGeom prst="rect">
            <a:avLst/>
          </a:prstGeom>
          <a:noFill/>
        </p:spPr>
        <p:txBody>
          <a:bodyPr wrap="square" anchor="t">
            <a:spAutoFit/>
          </a:bodyPr>
          <a:lstStyle/>
          <a:p>
            <a:pPr algn="l">
              <a:defRPr sz="900" b="0">
                <a:solidFill>
                  <a:srgbClr val="6C757D"/>
                </a:solidFill>
                <a:latin typeface="Segoe UI"/>
              </a:defRPr>
            </a:pPr>
            <a:r>
              <a:t>Not in: Exabeam, Securonix, Microsoft Sentinel, Gurucul, any commercial UEBA</a:t>
            </a:r>
          </a:p>
        </p:txBody>
      </p:sp>
      <p:sp>
        <p:nvSpPr>
          <p:cNvPr id="18" name="Rounded Rectangle 17"/>
          <p:cNvSpPr/>
          <p:nvPr/>
        </p:nvSpPr>
        <p:spPr>
          <a:xfrm>
            <a:off x="1097280" y="2935224"/>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97280" y="2935224"/>
            <a:ext cx="73152" cy="77724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71600" y="2962656"/>
            <a:ext cx="9601200" cy="274320"/>
          </a:xfrm>
          <a:prstGeom prst="rect">
            <a:avLst/>
          </a:prstGeom>
          <a:noFill/>
        </p:spPr>
        <p:txBody>
          <a:bodyPr wrap="square" anchor="t">
            <a:spAutoFit/>
          </a:bodyPr>
          <a:lstStyle/>
          <a:p>
            <a:pPr algn="l">
              <a:defRPr sz="1200" b="1">
                <a:solidFill>
                  <a:srgbClr val="B7950B"/>
                </a:solidFill>
                <a:latin typeface="Segoe UI"/>
              </a:defRPr>
            </a:pPr>
            <a:r>
              <a:t>Cross-Domain Entity Fusion (10+ Systems)</a:t>
            </a:r>
          </a:p>
        </p:txBody>
      </p:sp>
      <p:sp>
        <p:nvSpPr>
          <p:cNvPr id="21" name="TextBox 20"/>
          <p:cNvSpPr txBox="1"/>
          <p:nvPr/>
        </p:nvSpPr>
        <p:spPr>
          <a:xfrm>
            <a:off x="1371600" y="3209544"/>
            <a:ext cx="9601200" cy="256032"/>
          </a:xfrm>
          <a:prstGeom prst="rect">
            <a:avLst/>
          </a:prstGeom>
          <a:noFill/>
        </p:spPr>
        <p:txBody>
          <a:bodyPr wrap="square" anchor="t">
            <a:spAutoFit/>
          </a:bodyPr>
          <a:lstStyle/>
          <a:p>
            <a:pPr algn="l">
              <a:defRPr sz="1100" b="0">
                <a:solidFill>
                  <a:srgbClr val="2C3E50"/>
                </a:solidFill>
                <a:latin typeface="Segoe UI"/>
              </a:defRPr>
            </a:pPr>
            <a:r>
              <a:t>Identity stitched across AD, AAD, Okta, VPN, TACACS+, badge, endpoint into one behavioral trajectory.</a:t>
            </a:r>
          </a:p>
        </p:txBody>
      </p:sp>
      <p:sp>
        <p:nvSpPr>
          <p:cNvPr id="22" name="TextBox 21"/>
          <p:cNvSpPr txBox="1"/>
          <p:nvPr/>
        </p:nvSpPr>
        <p:spPr>
          <a:xfrm>
            <a:off x="1371600" y="3465576"/>
            <a:ext cx="9601200" cy="201168"/>
          </a:xfrm>
          <a:prstGeom prst="rect">
            <a:avLst/>
          </a:prstGeom>
          <a:noFill/>
        </p:spPr>
        <p:txBody>
          <a:bodyPr wrap="square" anchor="t">
            <a:spAutoFit/>
          </a:bodyPr>
          <a:lstStyle/>
          <a:p>
            <a:pPr algn="l">
              <a:defRPr sz="900" b="0">
                <a:solidFill>
                  <a:srgbClr val="6C757D"/>
                </a:solidFill>
                <a:latin typeface="Segoe UI"/>
              </a:defRPr>
            </a:pPr>
            <a:r>
              <a:t>Not in: Any single-vendor identity solution or SIEM correlation engine</a:t>
            </a:r>
          </a:p>
        </p:txBody>
      </p:sp>
      <p:sp>
        <p:nvSpPr>
          <p:cNvPr id="23" name="Rounded Rectangle 22"/>
          <p:cNvSpPr/>
          <p:nvPr/>
        </p:nvSpPr>
        <p:spPr>
          <a:xfrm>
            <a:off x="1097280" y="3739896"/>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97280" y="3739896"/>
            <a:ext cx="73152" cy="7772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71600" y="3767328"/>
            <a:ext cx="9601200" cy="274320"/>
          </a:xfrm>
          <a:prstGeom prst="rect">
            <a:avLst/>
          </a:prstGeom>
          <a:noFill/>
        </p:spPr>
        <p:txBody>
          <a:bodyPr wrap="square" anchor="t">
            <a:spAutoFit/>
          </a:bodyPr>
          <a:lstStyle/>
          <a:p>
            <a:pPr algn="l">
              <a:defRPr sz="1200" b="1">
                <a:solidFill>
                  <a:srgbClr val="C0392B"/>
                </a:solidFill>
                <a:latin typeface="Segoe UI"/>
              </a:defRPr>
            </a:pPr>
            <a:r>
              <a:t>Management Plane: Multi-Device Verification</a:t>
            </a:r>
          </a:p>
        </p:txBody>
      </p:sp>
      <p:sp>
        <p:nvSpPr>
          <p:cNvPr id="26" name="TextBox 25"/>
          <p:cNvSpPr txBox="1"/>
          <p:nvPr/>
        </p:nvSpPr>
        <p:spPr>
          <a:xfrm>
            <a:off x="1371600" y="4014216"/>
            <a:ext cx="9601200" cy="256032"/>
          </a:xfrm>
          <a:prstGeom prst="rect">
            <a:avLst/>
          </a:prstGeom>
          <a:noFill/>
        </p:spPr>
        <p:txBody>
          <a:bodyPr wrap="square" anchor="t">
            <a:spAutoFit/>
          </a:bodyPr>
          <a:lstStyle/>
          <a:p>
            <a:pPr algn="l">
              <a:defRPr sz="1100" b="0">
                <a:solidFill>
                  <a:srgbClr val="2C3E50"/>
                </a:solidFill>
                <a:latin typeface="Segoe UI"/>
              </a:defRPr>
            </a:pPr>
            <a:r>
              <a:t>Reasons across ALL devices simultaneously. Finds multi-rule, multi-device gaps no single tool sees.</a:t>
            </a:r>
          </a:p>
        </p:txBody>
      </p:sp>
      <p:sp>
        <p:nvSpPr>
          <p:cNvPr id="27" name="TextBox 26"/>
          <p:cNvSpPr txBox="1"/>
          <p:nvPr/>
        </p:nvSpPr>
        <p:spPr>
          <a:xfrm>
            <a:off x="1371600" y="4270248"/>
            <a:ext cx="9601200" cy="201168"/>
          </a:xfrm>
          <a:prstGeom prst="rect">
            <a:avLst/>
          </a:prstGeom>
          <a:noFill/>
        </p:spPr>
        <p:txBody>
          <a:bodyPr wrap="square" anchor="t">
            <a:spAutoFit/>
          </a:bodyPr>
          <a:lstStyle/>
          <a:p>
            <a:pPr algn="l">
              <a:defRPr sz="900" b="0">
                <a:solidFill>
                  <a:srgbClr val="6C757D"/>
                </a:solidFill>
                <a:latin typeface="Segoe UI"/>
              </a:defRPr>
            </a:pPr>
            <a:r>
              <a:t>Not in: Any firewall management platform (Panorama, FortiManager, SecureX)</a:t>
            </a:r>
          </a:p>
        </p:txBody>
      </p:sp>
      <p:sp>
        <p:nvSpPr>
          <p:cNvPr id="28" name="Rounded Rectangle 27"/>
          <p:cNvSpPr/>
          <p:nvPr/>
        </p:nvSpPr>
        <p:spPr>
          <a:xfrm>
            <a:off x="1097280" y="4544568"/>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97280" y="4544568"/>
            <a:ext cx="73152" cy="7772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71600" y="4572000"/>
            <a:ext cx="9601200" cy="274320"/>
          </a:xfrm>
          <a:prstGeom prst="rect">
            <a:avLst/>
          </a:prstGeom>
          <a:noFill/>
        </p:spPr>
        <p:txBody>
          <a:bodyPr wrap="square" anchor="t">
            <a:spAutoFit/>
          </a:bodyPr>
          <a:lstStyle/>
          <a:p>
            <a:pPr algn="l">
              <a:defRPr sz="1200" b="1">
                <a:solidFill>
                  <a:srgbClr val="0D1B2A"/>
                </a:solidFill>
                <a:latin typeface="Segoe UI"/>
              </a:defRPr>
            </a:pPr>
            <a:r>
              <a:t>Continuous Re-Verification (Hourly + On Change)</a:t>
            </a:r>
          </a:p>
        </p:txBody>
      </p:sp>
      <p:sp>
        <p:nvSpPr>
          <p:cNvPr id="31" name="TextBox 30"/>
          <p:cNvSpPr txBox="1"/>
          <p:nvPr/>
        </p:nvSpPr>
        <p:spPr>
          <a:xfrm>
            <a:off x="1371600" y="4818888"/>
            <a:ext cx="9601200" cy="256032"/>
          </a:xfrm>
          <a:prstGeom prst="rect">
            <a:avLst/>
          </a:prstGeom>
          <a:noFill/>
        </p:spPr>
        <p:txBody>
          <a:bodyPr wrap="square" anchor="t">
            <a:spAutoFit/>
          </a:bodyPr>
          <a:lstStyle/>
          <a:p>
            <a:pPr algn="l">
              <a:defRPr sz="1100" b="0">
                <a:solidFill>
                  <a:srgbClr val="2C3E50"/>
                </a:solidFill>
                <a:latin typeface="Segoe UI"/>
              </a:defRPr>
            </a:pPr>
            <a:r>
              <a:t>Re-proves entire defense posture every hour AND on every config change. Pentests run annually.</a:t>
            </a:r>
          </a:p>
        </p:txBody>
      </p:sp>
      <p:sp>
        <p:nvSpPr>
          <p:cNvPr id="32" name="TextBox 31"/>
          <p:cNvSpPr txBox="1"/>
          <p:nvPr/>
        </p:nvSpPr>
        <p:spPr>
          <a:xfrm>
            <a:off x="1371600" y="5074920"/>
            <a:ext cx="9601200" cy="201168"/>
          </a:xfrm>
          <a:prstGeom prst="rect">
            <a:avLst/>
          </a:prstGeom>
          <a:noFill/>
        </p:spPr>
        <p:txBody>
          <a:bodyPr wrap="square" anchor="t">
            <a:spAutoFit/>
          </a:bodyPr>
          <a:lstStyle/>
          <a:p>
            <a:pPr algn="l">
              <a:defRPr sz="900" b="0">
                <a:solidFill>
                  <a:srgbClr val="6C757D"/>
                </a:solidFill>
                <a:latin typeface="Segoe UI"/>
              </a:defRPr>
            </a:pPr>
            <a:r>
              <a:t>Not in: Any pentest, red team, ASM, or vulnerability management platform</a:t>
            </a:r>
          </a:p>
        </p:txBody>
      </p:sp>
      <p:sp>
        <p:nvSpPr>
          <p:cNvPr id="33" name="Rounded Rectangle 32"/>
          <p:cNvSpPr/>
          <p:nvPr/>
        </p:nvSpPr>
        <p:spPr>
          <a:xfrm>
            <a:off x="1097280" y="5349240"/>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097280" y="5349240"/>
            <a:ext cx="73152" cy="777240"/>
          </a:xfrm>
          <a:prstGeom prst="rect">
            <a:avLst/>
          </a:prstGeom>
          <a:solidFill>
            <a:srgbClr val="4A2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71600" y="5376672"/>
            <a:ext cx="9601200" cy="274320"/>
          </a:xfrm>
          <a:prstGeom prst="rect">
            <a:avLst/>
          </a:prstGeom>
          <a:noFill/>
        </p:spPr>
        <p:txBody>
          <a:bodyPr wrap="square" anchor="t">
            <a:spAutoFit/>
          </a:bodyPr>
          <a:lstStyle/>
          <a:p>
            <a:pPr algn="l">
              <a:defRPr sz="1200" b="1">
                <a:solidFill>
                  <a:srgbClr val="4A2C8A"/>
                </a:solidFill>
                <a:latin typeface="Segoe UI"/>
              </a:defRPr>
            </a:pPr>
            <a:r>
              <a:t>Hyperscaler Platforms Cannot Replace This</a:t>
            </a:r>
          </a:p>
        </p:txBody>
      </p:sp>
      <p:sp>
        <p:nvSpPr>
          <p:cNvPr id="36" name="TextBox 35"/>
          <p:cNvSpPr txBox="1"/>
          <p:nvPr/>
        </p:nvSpPr>
        <p:spPr>
          <a:xfrm>
            <a:off x="1371600" y="5623560"/>
            <a:ext cx="9601200" cy="256032"/>
          </a:xfrm>
          <a:prstGeom prst="rect">
            <a:avLst/>
          </a:prstGeom>
          <a:noFill/>
        </p:spPr>
        <p:txBody>
          <a:bodyPr wrap="square" anchor="t">
            <a:spAutoFit/>
          </a:bodyPr>
          <a:lstStyle/>
          <a:p>
            <a:pPr algn="l">
              <a:defRPr sz="1100" b="0">
                <a:solidFill>
                  <a:srgbClr val="2C3E50"/>
                </a:solidFill>
                <a:latin typeface="Segoe UI"/>
              </a:defRPr>
            </a:pPr>
            <a:r>
              <a:t>AWS/Microsoft/Google ship runtime. They do NOT ship detection intelligence or formal models.</a:t>
            </a:r>
          </a:p>
        </p:txBody>
      </p:sp>
      <p:sp>
        <p:nvSpPr>
          <p:cNvPr id="37" name="TextBox 36"/>
          <p:cNvSpPr txBox="1"/>
          <p:nvPr/>
        </p:nvSpPr>
        <p:spPr>
          <a:xfrm>
            <a:off x="1371600" y="5879592"/>
            <a:ext cx="9601200" cy="201168"/>
          </a:xfrm>
          <a:prstGeom prst="rect">
            <a:avLst/>
          </a:prstGeom>
          <a:noFill/>
        </p:spPr>
        <p:txBody>
          <a:bodyPr wrap="square" anchor="t">
            <a:spAutoFit/>
          </a:bodyPr>
          <a:lstStyle/>
          <a:p>
            <a:pPr algn="l">
              <a:defRPr sz="900" b="0">
                <a:solidFill>
                  <a:srgbClr val="6C757D"/>
                </a:solidFill>
                <a:latin typeface="Segoe UI"/>
              </a:defRPr>
            </a:pPr>
            <a:r>
              <a:t>Not in: Bedrock AgentCore, Microsoft Foundry, Google Gemini Enterprise Agent Platform</a:t>
            </a:r>
          </a:p>
        </p:txBody>
      </p:sp>
      <p:sp>
        <p:nvSpPr>
          <p:cNvPr id="38" name="Rounded Rectangle 37"/>
          <p:cNvSpPr/>
          <p:nvPr/>
        </p:nvSpPr>
        <p:spPr>
          <a:xfrm>
            <a:off x="1097280" y="6172200"/>
            <a:ext cx="10058400" cy="274320"/>
          </a:xfrm>
          <a:prstGeom prst="round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371600" y="6190488"/>
            <a:ext cx="9601200" cy="237744"/>
          </a:xfrm>
          <a:prstGeom prst="rect">
            <a:avLst/>
          </a:prstGeom>
          <a:noFill/>
        </p:spPr>
        <p:txBody>
          <a:bodyPr wrap="square" anchor="t">
            <a:spAutoFit/>
          </a:bodyPr>
          <a:lstStyle/>
          <a:p>
            <a:pPr algn="ctr">
              <a:defRPr sz="1000" b="1">
                <a:solidFill>
                  <a:srgbClr val="C0392B"/>
                </a:solidFill>
                <a:latin typeface="Segoe UI"/>
              </a:defRPr>
            </a:pPr>
            <a:r>
              <a:t>Not incremental improvement. A fundamentally new class of defense that does not exist elsewhere.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Platform Architecture: Five Layers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Kubernetes-native. Iron Bank hardened. Same architecture across all classification levels.</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12</a:t>
            </a:r>
          </a:p>
        </p:txBody>
      </p:sp>
      <p:sp>
        <p:nvSpPr>
          <p:cNvPr id="8" name="Rectangle 7"/>
          <p:cNvSpPr/>
          <p:nvPr/>
        </p:nvSpPr>
        <p:spPr>
          <a:xfrm>
            <a:off x="1097280" y="1371600"/>
            <a:ext cx="10058400" cy="86868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1463040"/>
            <a:ext cx="365760" cy="320040"/>
          </a:xfrm>
          <a:prstGeom prst="rect">
            <a:avLst/>
          </a:prstGeom>
          <a:noFill/>
        </p:spPr>
        <p:txBody>
          <a:bodyPr wrap="square" anchor="t">
            <a:spAutoFit/>
          </a:bodyPr>
          <a:lstStyle/>
          <a:p>
            <a:pPr algn="l">
              <a:defRPr sz="1400" b="0">
                <a:solidFill>
                  <a:srgbClr val="FFFFFF"/>
                </a:solidFill>
                <a:latin typeface="Segoe UI"/>
              </a:defRPr>
            </a:pPr>
            <a:r>
              <a:t>5</a:t>
            </a:r>
          </a:p>
        </p:txBody>
      </p:sp>
      <p:sp>
        <p:nvSpPr>
          <p:cNvPr id="10" name="TextBox 9"/>
          <p:cNvSpPr txBox="1"/>
          <p:nvPr/>
        </p:nvSpPr>
        <p:spPr>
          <a:xfrm>
            <a:off x="1828800" y="1463040"/>
            <a:ext cx="3657600" cy="320040"/>
          </a:xfrm>
          <a:prstGeom prst="rect">
            <a:avLst/>
          </a:prstGeom>
          <a:noFill/>
        </p:spPr>
        <p:txBody>
          <a:bodyPr wrap="square" anchor="t">
            <a:spAutoFit/>
          </a:bodyPr>
          <a:lstStyle/>
          <a:p>
            <a:pPr algn="l">
              <a:defRPr sz="1300" b="1">
                <a:solidFill>
                  <a:srgbClr val="FFFFFF"/>
                </a:solidFill>
                <a:latin typeface="Segoe UI"/>
              </a:defRPr>
            </a:pPr>
            <a:r>
              <a:t>Presentation &amp; Integration</a:t>
            </a:r>
          </a:p>
        </p:txBody>
      </p:sp>
      <p:sp>
        <p:nvSpPr>
          <p:cNvPr id="11" name="TextBox 10"/>
          <p:cNvSpPr txBox="1"/>
          <p:nvPr/>
        </p:nvSpPr>
        <p:spPr>
          <a:xfrm>
            <a:off x="1828800" y="1828800"/>
            <a:ext cx="9144000" cy="320040"/>
          </a:xfrm>
          <a:prstGeom prst="rect">
            <a:avLst/>
          </a:prstGeom>
          <a:noFill/>
        </p:spPr>
        <p:txBody>
          <a:bodyPr wrap="square" anchor="t">
            <a:spAutoFit/>
          </a:bodyPr>
          <a:lstStyle/>
          <a:p>
            <a:pPr algn="l">
              <a:defRPr sz="1100" b="0">
                <a:solidFill>
                  <a:srgbClr val="CCDDEE"/>
                </a:solidFill>
                <a:latin typeface="Segoe UI"/>
              </a:defRPr>
            </a:pPr>
            <a:r>
              <a:t>SOC Dashboard  •  ServiceNow  •  JIRA  •  SOAR  •  API Gateway  •  ABAC Policy Engine</a:t>
            </a:r>
          </a:p>
        </p:txBody>
      </p:sp>
      <p:sp>
        <p:nvSpPr>
          <p:cNvPr id="12" name="Rectangle 11"/>
          <p:cNvSpPr/>
          <p:nvPr/>
        </p:nvSpPr>
        <p:spPr>
          <a:xfrm>
            <a:off x="1097280" y="2286000"/>
            <a:ext cx="10058400" cy="868680"/>
          </a:xfrm>
          <a:prstGeom prst="rect">
            <a:avLst/>
          </a:prstGeom>
          <a:solidFill>
            <a:srgbClr val="1B6F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2377440"/>
            <a:ext cx="365760" cy="320040"/>
          </a:xfrm>
          <a:prstGeom prst="rect">
            <a:avLst/>
          </a:prstGeom>
          <a:noFill/>
        </p:spPr>
        <p:txBody>
          <a:bodyPr wrap="square" anchor="t">
            <a:spAutoFit/>
          </a:bodyPr>
          <a:lstStyle/>
          <a:p>
            <a:pPr algn="l">
              <a:defRPr sz="1400" b="0">
                <a:solidFill>
                  <a:srgbClr val="FFFFFF"/>
                </a:solidFill>
                <a:latin typeface="Segoe UI"/>
              </a:defRPr>
            </a:pPr>
            <a:r>
              <a:t>4</a:t>
            </a:r>
          </a:p>
        </p:txBody>
      </p:sp>
      <p:sp>
        <p:nvSpPr>
          <p:cNvPr id="14" name="TextBox 13"/>
          <p:cNvSpPr txBox="1"/>
          <p:nvPr/>
        </p:nvSpPr>
        <p:spPr>
          <a:xfrm>
            <a:off x="1828800" y="2377440"/>
            <a:ext cx="3657600" cy="320040"/>
          </a:xfrm>
          <a:prstGeom prst="rect">
            <a:avLst/>
          </a:prstGeom>
          <a:noFill/>
        </p:spPr>
        <p:txBody>
          <a:bodyPr wrap="square" anchor="t">
            <a:spAutoFit/>
          </a:bodyPr>
          <a:lstStyle/>
          <a:p>
            <a:pPr algn="l">
              <a:defRPr sz="1300" b="1">
                <a:solidFill>
                  <a:srgbClr val="FFFFFF"/>
                </a:solidFill>
                <a:latin typeface="Segoe UI"/>
              </a:defRPr>
            </a:pPr>
            <a:r>
              <a:t>Analytics &amp; Reasoning</a:t>
            </a:r>
          </a:p>
        </p:txBody>
      </p:sp>
      <p:sp>
        <p:nvSpPr>
          <p:cNvPr id="15" name="TextBox 14"/>
          <p:cNvSpPr txBox="1"/>
          <p:nvPr/>
        </p:nvSpPr>
        <p:spPr>
          <a:xfrm>
            <a:off x="1828800" y="2743200"/>
            <a:ext cx="9144000" cy="320040"/>
          </a:xfrm>
          <a:prstGeom prst="rect">
            <a:avLst/>
          </a:prstGeom>
          <a:noFill/>
        </p:spPr>
        <p:txBody>
          <a:bodyPr wrap="square" anchor="t">
            <a:spAutoFit/>
          </a:bodyPr>
          <a:lstStyle/>
          <a:p>
            <a:pPr algn="l">
              <a:defRPr sz="1100" b="0">
                <a:solidFill>
                  <a:srgbClr val="CCDDEE"/>
                </a:solidFill>
                <a:latin typeface="Segoe UI"/>
              </a:defRPr>
            </a:pPr>
            <a:r>
              <a:t>Preemptive Engine  •  Behavioral Engine  •  Kill-Chain Reconstruction  •  Alert Correlation</a:t>
            </a:r>
          </a:p>
        </p:txBody>
      </p:sp>
      <p:sp>
        <p:nvSpPr>
          <p:cNvPr id="16" name="Rectangle 15"/>
          <p:cNvSpPr/>
          <p:nvPr/>
        </p:nvSpPr>
        <p:spPr>
          <a:xfrm>
            <a:off x="1097280" y="3200400"/>
            <a:ext cx="10058400" cy="868680"/>
          </a:xfrm>
          <a:prstGeom prst="rect">
            <a:avLst/>
          </a:prstGeom>
          <a:solidFill>
            <a:srgbClr val="145D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71600" y="3291840"/>
            <a:ext cx="365760" cy="320040"/>
          </a:xfrm>
          <a:prstGeom prst="rect">
            <a:avLst/>
          </a:prstGeom>
          <a:noFill/>
        </p:spPr>
        <p:txBody>
          <a:bodyPr wrap="square" anchor="t">
            <a:spAutoFit/>
          </a:bodyPr>
          <a:lstStyle/>
          <a:p>
            <a:pPr algn="l">
              <a:defRPr sz="1400" b="0">
                <a:solidFill>
                  <a:srgbClr val="FFFFFF"/>
                </a:solidFill>
                <a:latin typeface="Segoe UI"/>
              </a:defRPr>
            </a:pPr>
            <a:r>
              <a:t>3</a:t>
            </a:r>
          </a:p>
        </p:txBody>
      </p:sp>
      <p:sp>
        <p:nvSpPr>
          <p:cNvPr id="18" name="TextBox 17"/>
          <p:cNvSpPr txBox="1"/>
          <p:nvPr/>
        </p:nvSpPr>
        <p:spPr>
          <a:xfrm>
            <a:off x="1828800" y="3291840"/>
            <a:ext cx="3657600" cy="320040"/>
          </a:xfrm>
          <a:prstGeom prst="rect">
            <a:avLst/>
          </a:prstGeom>
          <a:noFill/>
        </p:spPr>
        <p:txBody>
          <a:bodyPr wrap="square" anchor="t">
            <a:spAutoFit/>
          </a:bodyPr>
          <a:lstStyle/>
          <a:p>
            <a:pPr algn="l">
              <a:defRPr sz="1300" b="1">
                <a:solidFill>
                  <a:srgbClr val="FFFFFF"/>
                </a:solidFill>
                <a:latin typeface="Segoe UI"/>
              </a:defRPr>
            </a:pPr>
            <a:r>
              <a:t>Intelligence &amp; Modeling</a:t>
            </a:r>
          </a:p>
        </p:txBody>
      </p:sp>
      <p:sp>
        <p:nvSpPr>
          <p:cNvPr id="19" name="TextBox 18"/>
          <p:cNvSpPr txBox="1"/>
          <p:nvPr/>
        </p:nvSpPr>
        <p:spPr>
          <a:xfrm>
            <a:off x="1828800" y="3657600"/>
            <a:ext cx="9144000" cy="320040"/>
          </a:xfrm>
          <a:prstGeom prst="rect">
            <a:avLst/>
          </a:prstGeom>
          <a:noFill/>
        </p:spPr>
        <p:txBody>
          <a:bodyPr wrap="square" anchor="t">
            <a:spAutoFit/>
          </a:bodyPr>
          <a:lstStyle/>
          <a:p>
            <a:pPr algn="l">
              <a:defRPr sz="1100" b="0">
                <a:solidFill>
                  <a:srgbClr val="CCDDEE"/>
                </a:solidFill>
                <a:latin typeface="Segoe UI"/>
              </a:defRPr>
            </a:pPr>
            <a:r>
              <a:t>Threat Intel Pipeline  •  Math Model Builder  •  Behavioral Profiling  •  Entity Fusion  •  MITRE Mapping</a:t>
            </a:r>
          </a:p>
        </p:txBody>
      </p:sp>
      <p:sp>
        <p:nvSpPr>
          <p:cNvPr id="20" name="Rectangle 19"/>
          <p:cNvSpPr/>
          <p:nvPr/>
        </p:nvSpPr>
        <p:spPr>
          <a:xfrm>
            <a:off x="1097280" y="4114800"/>
            <a:ext cx="10058400" cy="868680"/>
          </a:xfrm>
          <a:prstGeom prst="rect">
            <a:avLst/>
          </a:prstGeom>
          <a:solidFill>
            <a:srgbClr val="0F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4206240"/>
            <a:ext cx="365760" cy="320040"/>
          </a:xfrm>
          <a:prstGeom prst="rect">
            <a:avLst/>
          </a:prstGeom>
          <a:noFill/>
        </p:spPr>
        <p:txBody>
          <a:bodyPr wrap="square" anchor="t">
            <a:spAutoFit/>
          </a:bodyPr>
          <a:lstStyle/>
          <a:p>
            <a:pPr algn="l">
              <a:defRPr sz="1400" b="0">
                <a:solidFill>
                  <a:srgbClr val="FFFFFF"/>
                </a:solidFill>
                <a:latin typeface="Segoe UI"/>
              </a:defRPr>
            </a:pPr>
            <a:r>
              <a:t>2</a:t>
            </a:r>
          </a:p>
        </p:txBody>
      </p:sp>
      <p:sp>
        <p:nvSpPr>
          <p:cNvPr id="22" name="TextBox 21"/>
          <p:cNvSpPr txBox="1"/>
          <p:nvPr/>
        </p:nvSpPr>
        <p:spPr>
          <a:xfrm>
            <a:off x="1828800" y="4206240"/>
            <a:ext cx="3657600" cy="320040"/>
          </a:xfrm>
          <a:prstGeom prst="rect">
            <a:avLst/>
          </a:prstGeom>
          <a:noFill/>
        </p:spPr>
        <p:txBody>
          <a:bodyPr wrap="square" anchor="t">
            <a:spAutoFit/>
          </a:bodyPr>
          <a:lstStyle/>
          <a:p>
            <a:pPr algn="l">
              <a:defRPr sz="1300" b="1">
                <a:solidFill>
                  <a:srgbClr val="FFFFFF"/>
                </a:solidFill>
                <a:latin typeface="Segoe UI"/>
              </a:defRPr>
            </a:pPr>
            <a:r>
              <a:t>Data &amp; Storage</a:t>
            </a:r>
          </a:p>
        </p:txBody>
      </p:sp>
      <p:sp>
        <p:nvSpPr>
          <p:cNvPr id="23" name="TextBox 22"/>
          <p:cNvSpPr txBox="1"/>
          <p:nvPr/>
        </p:nvSpPr>
        <p:spPr>
          <a:xfrm>
            <a:off x="1828800" y="4572000"/>
            <a:ext cx="9144000" cy="320040"/>
          </a:xfrm>
          <a:prstGeom prst="rect">
            <a:avLst/>
          </a:prstGeom>
          <a:noFill/>
        </p:spPr>
        <p:txBody>
          <a:bodyPr wrap="square" anchor="t">
            <a:spAutoFit/>
          </a:bodyPr>
          <a:lstStyle/>
          <a:p>
            <a:pPr algn="l">
              <a:defRPr sz="1100" b="0">
                <a:solidFill>
                  <a:srgbClr val="CCDDEE"/>
                </a:solidFill>
                <a:latin typeface="Segoe UI"/>
              </a:defRPr>
            </a:pPr>
            <a:r>
              <a:t>Vector Database (pgvector)  •  Time-Series Store  •  Config Repository  •  Baseline Library  •  Entity Graph</a:t>
            </a:r>
          </a:p>
        </p:txBody>
      </p:sp>
      <p:sp>
        <p:nvSpPr>
          <p:cNvPr id="24" name="Rectangle 23"/>
          <p:cNvSpPr/>
          <p:nvPr/>
        </p:nvSpPr>
        <p:spPr>
          <a:xfrm>
            <a:off x="1097280" y="5029200"/>
            <a:ext cx="10058400" cy="86868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71600" y="5120640"/>
            <a:ext cx="365760" cy="320040"/>
          </a:xfrm>
          <a:prstGeom prst="rect">
            <a:avLst/>
          </a:prstGeom>
          <a:noFill/>
        </p:spPr>
        <p:txBody>
          <a:bodyPr wrap="square" anchor="t">
            <a:spAutoFit/>
          </a:bodyPr>
          <a:lstStyle/>
          <a:p>
            <a:pPr algn="l">
              <a:defRPr sz="1400" b="0">
                <a:solidFill>
                  <a:srgbClr val="FFFFFF"/>
                </a:solidFill>
                <a:latin typeface="Segoe UI"/>
              </a:defRPr>
            </a:pPr>
            <a:r>
              <a:t>1</a:t>
            </a:r>
          </a:p>
        </p:txBody>
      </p:sp>
      <p:sp>
        <p:nvSpPr>
          <p:cNvPr id="26" name="TextBox 25"/>
          <p:cNvSpPr txBox="1"/>
          <p:nvPr/>
        </p:nvSpPr>
        <p:spPr>
          <a:xfrm>
            <a:off x="1828800" y="5120640"/>
            <a:ext cx="3657600" cy="320040"/>
          </a:xfrm>
          <a:prstGeom prst="rect">
            <a:avLst/>
          </a:prstGeom>
          <a:noFill/>
        </p:spPr>
        <p:txBody>
          <a:bodyPr wrap="square" anchor="t">
            <a:spAutoFit/>
          </a:bodyPr>
          <a:lstStyle/>
          <a:p>
            <a:pPr algn="l">
              <a:defRPr sz="1300" b="1">
                <a:solidFill>
                  <a:srgbClr val="FFFFFF"/>
                </a:solidFill>
                <a:latin typeface="Segoe UI"/>
              </a:defRPr>
            </a:pPr>
            <a:r>
              <a:t>Infrastructure</a:t>
            </a:r>
          </a:p>
        </p:txBody>
      </p:sp>
      <p:sp>
        <p:nvSpPr>
          <p:cNvPr id="27" name="TextBox 26"/>
          <p:cNvSpPr txBox="1"/>
          <p:nvPr/>
        </p:nvSpPr>
        <p:spPr>
          <a:xfrm>
            <a:off x="1828800" y="5486400"/>
            <a:ext cx="9144000" cy="320040"/>
          </a:xfrm>
          <a:prstGeom prst="rect">
            <a:avLst/>
          </a:prstGeom>
          <a:noFill/>
        </p:spPr>
        <p:txBody>
          <a:bodyPr wrap="square" anchor="t">
            <a:spAutoFit/>
          </a:bodyPr>
          <a:lstStyle/>
          <a:p>
            <a:pPr algn="l">
              <a:defRPr sz="1100" b="0">
                <a:solidFill>
                  <a:srgbClr val="CCDDEE"/>
                </a:solidFill>
                <a:latin typeface="Segoe UI"/>
              </a:defRPr>
            </a:pPr>
            <a:r>
              <a:t>Kubernetes (EKS/AKS/On-Prem)  •  Iron Bank Containers  •  Istio Service Mesh  •  Vault Secrets  •  Monitoring</a:t>
            </a:r>
          </a:p>
        </p:txBody>
      </p:sp>
      <p:sp>
        <p:nvSpPr>
          <p:cNvPr id="28" name="Rounded Rectangle 27"/>
          <p:cNvSpPr/>
          <p:nvPr/>
        </p:nvSpPr>
        <p:spPr>
          <a:xfrm>
            <a:off x="1097280" y="6126480"/>
            <a:ext cx="10058400" cy="27432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71600" y="6144768"/>
            <a:ext cx="9601200" cy="237744"/>
          </a:xfrm>
          <a:prstGeom prst="rect">
            <a:avLst/>
          </a:prstGeom>
          <a:noFill/>
        </p:spPr>
        <p:txBody>
          <a:bodyPr wrap="square" anchor="t">
            <a:spAutoFit/>
          </a:bodyPr>
          <a:lstStyle/>
          <a:p>
            <a:pPr algn="ctr">
              <a:defRPr sz="950" b="1">
                <a:solidFill>
                  <a:srgbClr val="0D1B2A"/>
                </a:solidFill>
                <a:latin typeface="Segoe UI"/>
              </a:defRPr>
            </a:pPr>
            <a:r>
              <a:t>All containers Iron Bank certified  •  Helm charts for repeatable deployment  •  Horizontal pod autoscaling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Streaming Architecture on Gabriel Nimbus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Cloud-native behavioral detection pipeline. End-to-end LOTL detection in 1-5 seconds.</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a:t>
            </a:r>
          </a:p>
        </p:txBody>
      </p:sp>
      <p:sp>
        <p:nvSpPr>
          <p:cNvPr id="8" name="Rounded Rectangle 7"/>
          <p:cNvSpPr/>
          <p:nvPr/>
        </p:nvSpPr>
        <p:spPr>
          <a:xfrm>
            <a:off x="1097280" y="1417319"/>
            <a:ext cx="1828800" cy="3536205"/>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417320"/>
            <a:ext cx="1828800" cy="36576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1463040"/>
            <a:ext cx="1645920" cy="274320"/>
          </a:xfrm>
          <a:prstGeom prst="rect">
            <a:avLst/>
          </a:prstGeom>
          <a:noFill/>
        </p:spPr>
        <p:txBody>
          <a:bodyPr wrap="square" anchor="t">
            <a:spAutoFit/>
          </a:bodyPr>
          <a:lstStyle/>
          <a:p>
            <a:pPr algn="ctr">
              <a:defRPr sz="1000" b="1">
                <a:solidFill>
                  <a:srgbClr val="FFFFFF"/>
                </a:solidFill>
                <a:latin typeface="Segoe UI"/>
              </a:defRPr>
            </a:pPr>
            <a:r>
              <a:t>DODIN TELEMETRY</a:t>
            </a:r>
          </a:p>
        </p:txBody>
      </p:sp>
      <p:sp>
        <p:nvSpPr>
          <p:cNvPr id="11" name="TextBox 10"/>
          <p:cNvSpPr txBox="1"/>
          <p:nvPr/>
        </p:nvSpPr>
        <p:spPr>
          <a:xfrm>
            <a:off x="1280160" y="1920240"/>
            <a:ext cx="1463040" cy="2560320"/>
          </a:xfrm>
          <a:prstGeom prst="rect">
            <a:avLst/>
          </a:prstGeom>
          <a:noFill/>
        </p:spPr>
        <p:txBody>
          <a:bodyPr wrap="square" anchor="t">
            <a:spAutoFit/>
          </a:bodyPr>
          <a:lstStyle/>
          <a:p>
            <a:pPr algn="l">
              <a:defRPr sz="1100" b="1">
                <a:solidFill>
                  <a:srgbClr val="2C3E50"/>
                </a:solidFill>
                <a:latin typeface="Segoe UI"/>
              </a:defRPr>
            </a:pPr>
            <a:r>
              <a:t>NGFW / IPS Logs</a:t>
            </a:r>
          </a:p>
          <a:p>
            <a:pPr>
              <a:spcBef>
                <a:spcPts val="800"/>
              </a:spcBef>
              <a:defRPr sz="1100" b="0">
                <a:solidFill>
                  <a:srgbClr val="2C3E50"/>
                </a:solidFill>
                <a:latin typeface="Segoe UI"/>
              </a:defRPr>
            </a:pPr>
            <a:r>
              <a:t>Identity (AD, Okta, Entra, TACACS+)</a:t>
            </a:r>
          </a:p>
          <a:p>
            <a:pPr>
              <a:spcBef>
                <a:spcPts val="800"/>
              </a:spcBef>
              <a:defRPr sz="1100" b="0">
                <a:solidFill>
                  <a:srgbClr val="2C3E50"/>
                </a:solidFill>
                <a:latin typeface="Segoe UI"/>
              </a:defRPr>
            </a:pPr>
            <a:r>
              <a:t>Endpoint (EDR / Sysmon)</a:t>
            </a:r>
          </a:p>
          <a:p>
            <a:pPr>
              <a:spcBef>
                <a:spcPts val="800"/>
              </a:spcBef>
              <a:defRPr sz="1100" b="0">
                <a:solidFill>
                  <a:srgbClr val="2C3E50"/>
                </a:solidFill>
                <a:latin typeface="Segoe UI"/>
              </a:defRPr>
            </a:pPr>
            <a:r>
              <a:t>Network (NetFlow, DNS, VPC)</a:t>
            </a:r>
          </a:p>
          <a:p>
            <a:pPr>
              <a:spcBef>
                <a:spcPts val="800"/>
              </a:spcBef>
              <a:defRPr sz="1100" b="0">
                <a:solidFill>
                  <a:srgbClr val="2C3E50"/>
                </a:solidFill>
                <a:latin typeface="Segoe UI"/>
              </a:defRPr>
            </a:pPr>
            <a:r>
              <a:t>Cloud (CloudTrail, Azure)</a:t>
            </a:r>
          </a:p>
        </p:txBody>
      </p:sp>
      <p:sp>
        <p:nvSpPr>
          <p:cNvPr id="12" name="TextBox 11"/>
          <p:cNvSpPr txBox="1"/>
          <p:nvPr/>
        </p:nvSpPr>
        <p:spPr>
          <a:xfrm>
            <a:off x="2971800" y="2834640"/>
            <a:ext cx="274320" cy="274320"/>
          </a:xfrm>
          <a:prstGeom prst="rect">
            <a:avLst/>
          </a:prstGeom>
          <a:noFill/>
        </p:spPr>
        <p:txBody>
          <a:bodyPr wrap="square" anchor="t">
            <a:spAutoFit/>
          </a:bodyPr>
          <a:lstStyle/>
          <a:p>
            <a:pPr algn="ctr">
              <a:defRPr sz="1600" b="1">
                <a:solidFill>
                  <a:srgbClr val="1B4F72"/>
                </a:solidFill>
                <a:latin typeface="Segoe UI"/>
              </a:defRPr>
            </a:pPr>
            <a:r>
              <a:t>→</a:t>
            </a:r>
          </a:p>
        </p:txBody>
      </p:sp>
      <p:sp>
        <p:nvSpPr>
          <p:cNvPr id="13" name="Rounded Rectangle 12"/>
          <p:cNvSpPr/>
          <p:nvPr/>
        </p:nvSpPr>
        <p:spPr>
          <a:xfrm>
            <a:off x="3291840" y="1417320"/>
            <a:ext cx="1280160" cy="3536204"/>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37560" y="1554480"/>
            <a:ext cx="1188720" cy="457200"/>
          </a:xfrm>
          <a:prstGeom prst="rect">
            <a:avLst/>
          </a:prstGeom>
          <a:noFill/>
        </p:spPr>
        <p:txBody>
          <a:bodyPr wrap="square" anchor="t">
            <a:spAutoFit/>
          </a:bodyPr>
          <a:lstStyle/>
          <a:p>
            <a:pPr algn="ctr">
              <a:defRPr sz="1500" b="1">
                <a:solidFill>
                  <a:srgbClr val="FFFFFF"/>
                </a:solidFill>
                <a:latin typeface="Georgia"/>
              </a:defRPr>
            </a:pPr>
            <a:r>
              <a:t>Kafka</a:t>
            </a:r>
            <a:br/>
            <a:r>
              <a:t>/ Kinesis</a:t>
            </a:r>
          </a:p>
        </p:txBody>
      </p:sp>
      <p:sp>
        <p:nvSpPr>
          <p:cNvPr id="15" name="Rectangle 14"/>
          <p:cNvSpPr/>
          <p:nvPr/>
        </p:nvSpPr>
        <p:spPr>
          <a:xfrm>
            <a:off x="3429000" y="2240280"/>
            <a:ext cx="1005840" cy="1270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0" y="2377440"/>
            <a:ext cx="1097280" cy="2103120"/>
          </a:xfrm>
          <a:prstGeom prst="rect">
            <a:avLst/>
          </a:prstGeom>
          <a:noFill/>
        </p:spPr>
        <p:txBody>
          <a:bodyPr wrap="square" anchor="t">
            <a:spAutoFit/>
          </a:bodyPr>
          <a:lstStyle/>
          <a:p>
            <a:pPr algn="l">
              <a:defRPr sz="1000" b="0">
                <a:solidFill>
                  <a:srgbClr val="A0C8E0"/>
                </a:solidFill>
                <a:latin typeface="Segoe UI"/>
              </a:defRPr>
            </a:pPr>
            <a:r>
              <a:t>Per-source topics</a:t>
            </a:r>
          </a:p>
          <a:p>
            <a:pPr>
              <a:spcBef>
                <a:spcPts val="800"/>
              </a:spcBef>
              <a:defRPr sz="1000" b="0">
                <a:solidFill>
                  <a:srgbClr val="A0C8E0"/>
                </a:solidFill>
                <a:latin typeface="Segoe UI"/>
              </a:defRPr>
            </a:pPr>
            <a:r>
              <a:t>Independent consumer groups</a:t>
            </a:r>
          </a:p>
          <a:p>
            <a:pPr>
              <a:spcBef>
                <a:spcPts val="800"/>
              </a:spcBef>
              <a:defRPr sz="600" b="0">
                <a:solidFill>
                  <a:srgbClr val="2C3E50"/>
                </a:solidFill>
                <a:latin typeface="Segoe UI"/>
              </a:defRPr>
            </a:pPr>
            <a:endParaRPr/>
          </a:p>
          <a:p>
            <a:pPr>
              <a:spcBef>
                <a:spcPts val="800"/>
              </a:spcBef>
              <a:defRPr sz="900" b="0">
                <a:solidFill>
                  <a:srgbClr val="7A9BBE"/>
                </a:solidFill>
                <a:latin typeface="Segoe UI"/>
              </a:defRPr>
            </a:pPr>
            <a:r>
              <a:t>Event-time watermarks</a:t>
            </a:r>
          </a:p>
        </p:txBody>
      </p:sp>
      <p:sp>
        <p:nvSpPr>
          <p:cNvPr id="17" name="TextBox 16"/>
          <p:cNvSpPr txBox="1"/>
          <p:nvPr/>
        </p:nvSpPr>
        <p:spPr>
          <a:xfrm>
            <a:off x="4617720" y="2834640"/>
            <a:ext cx="274320" cy="274320"/>
          </a:xfrm>
          <a:prstGeom prst="rect">
            <a:avLst/>
          </a:prstGeom>
          <a:noFill/>
        </p:spPr>
        <p:txBody>
          <a:bodyPr wrap="square" anchor="t">
            <a:spAutoFit/>
          </a:bodyPr>
          <a:lstStyle/>
          <a:p>
            <a:pPr algn="ctr">
              <a:defRPr sz="1600" b="1">
                <a:solidFill>
                  <a:srgbClr val="1B4F72"/>
                </a:solidFill>
                <a:latin typeface="Segoe UI"/>
              </a:defRPr>
            </a:pPr>
            <a:r>
              <a:t>→</a:t>
            </a:r>
          </a:p>
        </p:txBody>
      </p:sp>
      <p:sp>
        <p:nvSpPr>
          <p:cNvPr id="18" name="Rounded Rectangle 17"/>
          <p:cNvSpPr/>
          <p:nvPr/>
        </p:nvSpPr>
        <p:spPr>
          <a:xfrm>
            <a:off x="4937760" y="1417320"/>
            <a:ext cx="3291840" cy="3536204"/>
          </a:xfrm>
          <a:prstGeom prst="roundRect">
            <a:avLst/>
          </a:prstGeom>
          <a:solidFill>
            <a:srgbClr val="0D1B2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97880" y="1468716"/>
            <a:ext cx="1883979" cy="292388"/>
          </a:xfrm>
          <a:prstGeom prst="rect">
            <a:avLst/>
          </a:prstGeom>
          <a:noFill/>
        </p:spPr>
        <p:txBody>
          <a:bodyPr wrap="square" anchor="t">
            <a:spAutoFit/>
          </a:bodyPr>
          <a:lstStyle/>
          <a:p>
            <a:pPr algn="l">
              <a:defRPr sz="1300" b="1">
                <a:solidFill>
                  <a:srgbClr val="FFFFFF"/>
                </a:solidFill>
                <a:latin typeface="Georgia"/>
              </a:defRPr>
            </a:pPr>
            <a:r>
              <a:rPr dirty="0"/>
              <a:t>Flink Cluster</a:t>
            </a:r>
          </a:p>
        </p:txBody>
      </p:sp>
      <p:sp>
        <p:nvSpPr>
          <p:cNvPr id="20" name="Rounded Rectangle 19"/>
          <p:cNvSpPr/>
          <p:nvPr/>
        </p:nvSpPr>
        <p:spPr>
          <a:xfrm>
            <a:off x="5120640" y="1874519"/>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0" y="1911095"/>
            <a:ext cx="1463040" cy="182880"/>
          </a:xfrm>
          <a:prstGeom prst="rect">
            <a:avLst/>
          </a:prstGeom>
          <a:noFill/>
        </p:spPr>
        <p:txBody>
          <a:bodyPr wrap="square" anchor="t">
            <a:spAutoFit/>
          </a:bodyPr>
          <a:lstStyle/>
          <a:p>
            <a:pPr algn="l">
              <a:defRPr sz="1000" b="1">
                <a:solidFill>
                  <a:srgbClr val="FFFFFF"/>
                </a:solidFill>
                <a:latin typeface="Segoe UI"/>
              </a:defRPr>
            </a:pPr>
            <a:r>
              <a:t>1.  Kafka source</a:t>
            </a:r>
          </a:p>
        </p:txBody>
      </p:sp>
      <p:sp>
        <p:nvSpPr>
          <p:cNvPr id="22" name="TextBox 21"/>
          <p:cNvSpPr txBox="1"/>
          <p:nvPr/>
        </p:nvSpPr>
        <p:spPr>
          <a:xfrm>
            <a:off x="6675120" y="1911095"/>
            <a:ext cx="1280160" cy="182880"/>
          </a:xfrm>
          <a:prstGeom prst="rect">
            <a:avLst/>
          </a:prstGeom>
          <a:noFill/>
        </p:spPr>
        <p:txBody>
          <a:bodyPr wrap="square" anchor="t">
            <a:spAutoFit/>
          </a:bodyPr>
          <a:lstStyle/>
          <a:p>
            <a:pPr algn="l">
              <a:defRPr sz="900" b="0">
                <a:solidFill>
                  <a:srgbClr val="A0C8E0"/>
                </a:solidFill>
                <a:latin typeface="Segoe UI"/>
              </a:defRPr>
            </a:pPr>
            <a:r>
              <a:t>Event-time, watermarks</a:t>
            </a:r>
          </a:p>
        </p:txBody>
      </p:sp>
      <p:sp>
        <p:nvSpPr>
          <p:cNvPr id="23" name="Rounded Rectangle 22"/>
          <p:cNvSpPr/>
          <p:nvPr/>
        </p:nvSpPr>
        <p:spPr>
          <a:xfrm>
            <a:off x="5120640" y="2350007"/>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12080" y="2386583"/>
            <a:ext cx="1463040" cy="182880"/>
          </a:xfrm>
          <a:prstGeom prst="rect">
            <a:avLst/>
          </a:prstGeom>
          <a:noFill/>
        </p:spPr>
        <p:txBody>
          <a:bodyPr wrap="square" anchor="t">
            <a:spAutoFit/>
          </a:bodyPr>
          <a:lstStyle/>
          <a:p>
            <a:pPr algn="l">
              <a:defRPr sz="1000" b="1">
                <a:solidFill>
                  <a:srgbClr val="FFFFFF"/>
                </a:solidFill>
                <a:latin typeface="Segoe UI"/>
              </a:defRPr>
            </a:pPr>
            <a:r>
              <a:t>2.  OCSF normalize</a:t>
            </a:r>
          </a:p>
        </p:txBody>
      </p:sp>
      <p:sp>
        <p:nvSpPr>
          <p:cNvPr id="25" name="TextBox 24"/>
          <p:cNvSpPr txBox="1"/>
          <p:nvPr/>
        </p:nvSpPr>
        <p:spPr>
          <a:xfrm>
            <a:off x="6675120" y="2386583"/>
            <a:ext cx="1280160" cy="182880"/>
          </a:xfrm>
          <a:prstGeom prst="rect">
            <a:avLst/>
          </a:prstGeom>
          <a:noFill/>
        </p:spPr>
        <p:txBody>
          <a:bodyPr wrap="square" anchor="t">
            <a:spAutoFit/>
          </a:bodyPr>
          <a:lstStyle/>
          <a:p>
            <a:pPr algn="l">
              <a:defRPr sz="900" b="0">
                <a:solidFill>
                  <a:srgbClr val="A0C8E0"/>
                </a:solidFill>
                <a:latin typeface="Segoe UI"/>
              </a:defRPr>
            </a:pPr>
            <a:r>
              <a:t>Per-source parsers</a:t>
            </a:r>
          </a:p>
        </p:txBody>
      </p:sp>
      <p:sp>
        <p:nvSpPr>
          <p:cNvPr id="26" name="Rounded Rectangle 25"/>
          <p:cNvSpPr/>
          <p:nvPr/>
        </p:nvSpPr>
        <p:spPr>
          <a:xfrm>
            <a:off x="5120640" y="2825495"/>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0" y="2862071"/>
            <a:ext cx="1463040" cy="182880"/>
          </a:xfrm>
          <a:prstGeom prst="rect">
            <a:avLst/>
          </a:prstGeom>
          <a:noFill/>
        </p:spPr>
        <p:txBody>
          <a:bodyPr wrap="square" anchor="t">
            <a:spAutoFit/>
          </a:bodyPr>
          <a:lstStyle/>
          <a:p>
            <a:pPr algn="l">
              <a:defRPr sz="1000" b="1">
                <a:solidFill>
                  <a:srgbClr val="FFFFFF"/>
                </a:solidFill>
                <a:latin typeface="Segoe UI"/>
              </a:defRPr>
            </a:pPr>
            <a:r>
              <a:t>3.  Enrich &amp; classify</a:t>
            </a:r>
          </a:p>
        </p:txBody>
      </p:sp>
      <p:sp>
        <p:nvSpPr>
          <p:cNvPr id="28" name="TextBox 27"/>
          <p:cNvSpPr txBox="1"/>
          <p:nvPr/>
        </p:nvSpPr>
        <p:spPr>
          <a:xfrm>
            <a:off x="6675120" y="2862071"/>
            <a:ext cx="1280160" cy="182880"/>
          </a:xfrm>
          <a:prstGeom prst="rect">
            <a:avLst/>
          </a:prstGeom>
          <a:noFill/>
        </p:spPr>
        <p:txBody>
          <a:bodyPr wrap="square" anchor="t">
            <a:spAutoFit/>
          </a:bodyPr>
          <a:lstStyle/>
          <a:p>
            <a:pPr algn="l">
              <a:defRPr sz="900" b="0">
                <a:solidFill>
                  <a:srgbClr val="A0C8E0"/>
                </a:solidFill>
                <a:latin typeface="Segoe UI"/>
              </a:defRPr>
            </a:pPr>
            <a:r>
              <a:t>Identity, asset, tier, IOC</a:t>
            </a:r>
          </a:p>
        </p:txBody>
      </p:sp>
      <p:sp>
        <p:nvSpPr>
          <p:cNvPr id="29" name="Rounded Rectangle 28"/>
          <p:cNvSpPr/>
          <p:nvPr/>
        </p:nvSpPr>
        <p:spPr>
          <a:xfrm>
            <a:off x="5120640" y="3300983"/>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12080" y="3337559"/>
            <a:ext cx="1463040" cy="182880"/>
          </a:xfrm>
          <a:prstGeom prst="rect">
            <a:avLst/>
          </a:prstGeom>
          <a:noFill/>
        </p:spPr>
        <p:txBody>
          <a:bodyPr wrap="square" anchor="t">
            <a:spAutoFit/>
          </a:bodyPr>
          <a:lstStyle/>
          <a:p>
            <a:pPr algn="l">
              <a:defRPr sz="1000" b="1">
                <a:solidFill>
                  <a:srgbClr val="FFFFFF"/>
                </a:solidFill>
                <a:latin typeface="Segoe UI"/>
              </a:defRPr>
            </a:pPr>
            <a:r>
              <a:t>4.  CEP + ML detect</a:t>
            </a:r>
          </a:p>
        </p:txBody>
      </p:sp>
      <p:sp>
        <p:nvSpPr>
          <p:cNvPr id="31" name="TextBox 30"/>
          <p:cNvSpPr txBox="1"/>
          <p:nvPr/>
        </p:nvSpPr>
        <p:spPr>
          <a:xfrm>
            <a:off x="6675120" y="3337559"/>
            <a:ext cx="1280160" cy="182880"/>
          </a:xfrm>
          <a:prstGeom prst="rect">
            <a:avLst/>
          </a:prstGeom>
          <a:noFill/>
        </p:spPr>
        <p:txBody>
          <a:bodyPr wrap="square" anchor="t">
            <a:spAutoFit/>
          </a:bodyPr>
          <a:lstStyle/>
          <a:p>
            <a:pPr algn="l">
              <a:defRPr sz="900" b="0">
                <a:solidFill>
                  <a:srgbClr val="A0C8E0"/>
                </a:solidFill>
                <a:latin typeface="Segoe UI"/>
              </a:defRPr>
            </a:pPr>
            <a:r>
              <a:t>NFA, Sigma, baselines</a:t>
            </a:r>
          </a:p>
        </p:txBody>
      </p:sp>
      <p:sp>
        <p:nvSpPr>
          <p:cNvPr id="32" name="Rounded Rectangle 31"/>
          <p:cNvSpPr/>
          <p:nvPr/>
        </p:nvSpPr>
        <p:spPr>
          <a:xfrm>
            <a:off x="5120640" y="3776471"/>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04986" y="3823451"/>
            <a:ext cx="1463040" cy="246221"/>
          </a:xfrm>
          <a:prstGeom prst="rect">
            <a:avLst/>
          </a:prstGeom>
          <a:noFill/>
        </p:spPr>
        <p:txBody>
          <a:bodyPr wrap="square" anchor="t">
            <a:spAutoFit/>
          </a:bodyPr>
          <a:lstStyle/>
          <a:p>
            <a:pPr algn="l">
              <a:defRPr sz="1000" b="1">
                <a:solidFill>
                  <a:srgbClr val="FFFFFF"/>
                </a:solidFill>
                <a:latin typeface="Segoe UI"/>
              </a:defRPr>
            </a:pPr>
            <a:r>
              <a:rPr dirty="0"/>
              <a:t>5.  </a:t>
            </a:r>
            <a:r>
              <a:rPr lang="en-US" dirty="0"/>
              <a:t>UEBA</a:t>
            </a:r>
            <a:endParaRPr dirty="0"/>
          </a:p>
        </p:txBody>
      </p:sp>
      <p:sp>
        <p:nvSpPr>
          <p:cNvPr id="34" name="TextBox 33"/>
          <p:cNvSpPr txBox="1"/>
          <p:nvPr/>
        </p:nvSpPr>
        <p:spPr>
          <a:xfrm>
            <a:off x="6675120" y="3813047"/>
            <a:ext cx="1280160" cy="369332"/>
          </a:xfrm>
          <a:prstGeom prst="rect">
            <a:avLst/>
          </a:prstGeom>
          <a:noFill/>
        </p:spPr>
        <p:txBody>
          <a:bodyPr wrap="square" anchor="t">
            <a:spAutoFit/>
          </a:bodyPr>
          <a:lstStyle/>
          <a:p>
            <a:pPr algn="l">
              <a:defRPr sz="900" b="0">
                <a:solidFill>
                  <a:srgbClr val="A0C8E0"/>
                </a:solidFill>
                <a:latin typeface="Segoe UI"/>
              </a:defRPr>
            </a:pPr>
            <a:r>
              <a:rPr lang="en-US" dirty="0"/>
              <a:t>Digital Twin, Drift, MITRE</a:t>
            </a:r>
            <a:endParaRPr dirty="0"/>
          </a:p>
        </p:txBody>
      </p:sp>
      <p:sp>
        <p:nvSpPr>
          <p:cNvPr id="36" name="TextBox 35"/>
          <p:cNvSpPr txBox="1"/>
          <p:nvPr/>
        </p:nvSpPr>
        <p:spPr>
          <a:xfrm>
            <a:off x="8275320" y="2834640"/>
            <a:ext cx="274320" cy="274320"/>
          </a:xfrm>
          <a:prstGeom prst="rect">
            <a:avLst/>
          </a:prstGeom>
          <a:noFill/>
        </p:spPr>
        <p:txBody>
          <a:bodyPr wrap="square" anchor="t">
            <a:spAutoFit/>
          </a:bodyPr>
          <a:lstStyle/>
          <a:p>
            <a:pPr algn="ctr">
              <a:defRPr sz="1600" b="1">
                <a:solidFill>
                  <a:srgbClr val="1B4F72"/>
                </a:solidFill>
                <a:latin typeface="Segoe UI"/>
              </a:defRPr>
            </a:pPr>
            <a:r>
              <a:t>→</a:t>
            </a:r>
          </a:p>
        </p:txBody>
      </p:sp>
      <p:sp>
        <p:nvSpPr>
          <p:cNvPr id="37" name="Rounded Rectangle 36"/>
          <p:cNvSpPr/>
          <p:nvPr/>
        </p:nvSpPr>
        <p:spPr>
          <a:xfrm>
            <a:off x="8503920" y="1702955"/>
            <a:ext cx="2560320" cy="32004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595360" y="1417320"/>
            <a:ext cx="2560320" cy="36576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686800" y="1463040"/>
            <a:ext cx="2377440" cy="274320"/>
          </a:xfrm>
          <a:prstGeom prst="rect">
            <a:avLst/>
          </a:prstGeom>
          <a:noFill/>
        </p:spPr>
        <p:txBody>
          <a:bodyPr wrap="square" anchor="t">
            <a:spAutoFit/>
          </a:bodyPr>
          <a:lstStyle/>
          <a:p>
            <a:pPr algn="ctr">
              <a:defRPr sz="1000" b="1">
                <a:solidFill>
                  <a:srgbClr val="FFFFFF"/>
                </a:solidFill>
                <a:latin typeface="Segoe UI"/>
              </a:defRPr>
            </a:pPr>
            <a:r>
              <a:t>STORE</a:t>
            </a:r>
          </a:p>
        </p:txBody>
      </p:sp>
      <p:sp>
        <p:nvSpPr>
          <p:cNvPr id="40" name="TextBox 39"/>
          <p:cNvSpPr txBox="1"/>
          <p:nvPr/>
        </p:nvSpPr>
        <p:spPr>
          <a:xfrm>
            <a:off x="8778240" y="1920240"/>
            <a:ext cx="2194560" cy="1097280"/>
          </a:xfrm>
          <a:prstGeom prst="rect">
            <a:avLst/>
          </a:prstGeom>
          <a:noFill/>
        </p:spPr>
        <p:txBody>
          <a:bodyPr wrap="square" anchor="t">
            <a:spAutoFit/>
          </a:bodyPr>
          <a:lstStyle/>
          <a:p>
            <a:pPr algn="l">
              <a:defRPr sz="1000" b="0">
                <a:solidFill>
                  <a:srgbClr val="2C3E50"/>
                </a:solidFill>
                <a:latin typeface="Segoe UI"/>
              </a:defRPr>
            </a:pPr>
            <a:r>
              <a:t>ClickHouse / Pinot (30-90d hot)</a:t>
            </a:r>
          </a:p>
          <a:p>
            <a:pPr>
              <a:spcBef>
                <a:spcPts val="800"/>
              </a:spcBef>
              <a:defRPr sz="1000" b="0">
                <a:solidFill>
                  <a:srgbClr val="2C3E50"/>
                </a:solidFill>
                <a:latin typeface="Segoe UI"/>
              </a:defRPr>
            </a:pPr>
            <a:r>
              <a:t>Vector DB / pgvector (behavioral)</a:t>
            </a:r>
          </a:p>
          <a:p>
            <a:pPr>
              <a:spcBef>
                <a:spcPts val="800"/>
              </a:spcBef>
              <a:defRPr sz="1000" b="0">
                <a:solidFill>
                  <a:srgbClr val="2C3E50"/>
                </a:solidFill>
                <a:latin typeface="Segoe UI"/>
              </a:defRPr>
            </a:pPr>
            <a:r>
              <a:t>Iceberg / S3 (cold archive)</a:t>
            </a:r>
          </a:p>
        </p:txBody>
      </p:sp>
      <p:sp>
        <p:nvSpPr>
          <p:cNvPr id="41" name="Rectangle 40"/>
          <p:cNvSpPr/>
          <p:nvPr/>
        </p:nvSpPr>
        <p:spPr>
          <a:xfrm>
            <a:off x="8732520" y="2880360"/>
            <a:ext cx="2286000" cy="12700"/>
          </a:xfrm>
          <a:prstGeom prst="rect">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778240" y="2971800"/>
            <a:ext cx="2194560" cy="182880"/>
          </a:xfrm>
          <a:prstGeom prst="rect">
            <a:avLst/>
          </a:prstGeom>
          <a:noFill/>
        </p:spPr>
        <p:txBody>
          <a:bodyPr wrap="square" anchor="t">
            <a:spAutoFit/>
          </a:bodyPr>
          <a:lstStyle/>
          <a:p>
            <a:pPr algn="l">
              <a:defRPr sz="900" b="1">
                <a:solidFill>
                  <a:srgbClr val="0E6B8A"/>
                </a:solidFill>
                <a:latin typeface="Segoe UI"/>
              </a:defRPr>
            </a:pPr>
            <a:r>
              <a:t>ANALYST</a:t>
            </a:r>
          </a:p>
        </p:txBody>
      </p:sp>
      <p:sp>
        <p:nvSpPr>
          <p:cNvPr id="43" name="TextBox 42"/>
          <p:cNvSpPr txBox="1"/>
          <p:nvPr/>
        </p:nvSpPr>
        <p:spPr>
          <a:xfrm>
            <a:off x="8778240" y="3200400"/>
            <a:ext cx="2194560" cy="1280160"/>
          </a:xfrm>
          <a:prstGeom prst="rect">
            <a:avLst/>
          </a:prstGeom>
          <a:noFill/>
        </p:spPr>
        <p:txBody>
          <a:bodyPr wrap="square" anchor="t">
            <a:spAutoFit/>
          </a:bodyPr>
          <a:lstStyle/>
          <a:p>
            <a:pPr algn="l">
              <a:defRPr sz="1000" b="0">
                <a:solidFill>
                  <a:srgbClr val="2C3E50"/>
                </a:solidFill>
                <a:latin typeface="Segoe UI"/>
              </a:defRPr>
            </a:pPr>
            <a:r>
              <a:t>SIEM / SOAR (alerts)</a:t>
            </a:r>
          </a:p>
          <a:p>
            <a:pPr>
              <a:spcBef>
                <a:spcPts val="800"/>
              </a:spcBef>
              <a:defRPr sz="1000" b="0">
                <a:solidFill>
                  <a:srgbClr val="2C3E50"/>
                </a:solidFill>
                <a:latin typeface="Segoe UI"/>
              </a:defRPr>
            </a:pPr>
            <a:r>
              <a:t>SOC Dashboard (real-time)</a:t>
            </a:r>
          </a:p>
          <a:p>
            <a:pPr>
              <a:spcBef>
                <a:spcPts val="800"/>
              </a:spcBef>
              <a:defRPr sz="1000" b="0">
                <a:solidFill>
                  <a:srgbClr val="2C3E50"/>
                </a:solidFill>
                <a:latin typeface="Segoe UI"/>
              </a:defRPr>
            </a:pPr>
            <a:r>
              <a:t>Hunt UI (SQL hunts)</a:t>
            </a:r>
          </a:p>
          <a:p>
            <a:pPr>
              <a:spcBef>
                <a:spcPts val="800"/>
              </a:spcBef>
              <a:defRPr sz="1000" b="0">
                <a:solidFill>
                  <a:srgbClr val="2C3E50"/>
                </a:solidFill>
                <a:latin typeface="Segoe UI"/>
              </a:defRPr>
            </a:pPr>
            <a:r>
              <a:t>ServiceNow / JIRA (ticketing)</a:t>
            </a:r>
          </a:p>
        </p:txBody>
      </p:sp>
      <p:sp>
        <p:nvSpPr>
          <p:cNvPr id="44" name="Rounded Rectangle 43"/>
          <p:cNvSpPr/>
          <p:nvPr/>
        </p:nvSpPr>
        <p:spPr>
          <a:xfrm>
            <a:off x="1097280" y="5108973"/>
            <a:ext cx="3474720" cy="50292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097280" y="5108973"/>
            <a:ext cx="54864" cy="5029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80160" y="5136405"/>
            <a:ext cx="3108960" cy="182880"/>
          </a:xfrm>
          <a:prstGeom prst="rect">
            <a:avLst/>
          </a:prstGeom>
          <a:noFill/>
        </p:spPr>
        <p:txBody>
          <a:bodyPr wrap="square" anchor="t">
            <a:spAutoFit/>
          </a:bodyPr>
          <a:lstStyle/>
          <a:p>
            <a:pPr algn="l">
              <a:defRPr sz="1000" b="1">
                <a:solidFill>
                  <a:srgbClr val="0D1B2A"/>
                </a:solidFill>
                <a:latin typeface="Segoe UI"/>
              </a:defRPr>
            </a:pPr>
            <a:r>
              <a:t>Preemptive Verification Engine</a:t>
            </a:r>
          </a:p>
        </p:txBody>
      </p:sp>
      <p:sp>
        <p:nvSpPr>
          <p:cNvPr id="47" name="TextBox 46"/>
          <p:cNvSpPr txBox="1"/>
          <p:nvPr/>
        </p:nvSpPr>
        <p:spPr>
          <a:xfrm>
            <a:off x="1280160" y="5319285"/>
            <a:ext cx="3108960" cy="182880"/>
          </a:xfrm>
          <a:prstGeom prst="rect">
            <a:avLst/>
          </a:prstGeom>
          <a:noFill/>
        </p:spPr>
        <p:txBody>
          <a:bodyPr wrap="square" anchor="t">
            <a:spAutoFit/>
          </a:bodyPr>
          <a:lstStyle/>
          <a:p>
            <a:pPr algn="l">
              <a:defRPr sz="800" b="0">
                <a:solidFill>
                  <a:srgbClr val="6C757D"/>
                </a:solidFill>
                <a:latin typeface="Segoe UI"/>
              </a:defRPr>
            </a:pPr>
            <a:r>
              <a:t>Formal math model  ·  hourly + on config change</a:t>
            </a:r>
          </a:p>
        </p:txBody>
      </p:sp>
      <p:sp>
        <p:nvSpPr>
          <p:cNvPr id="48" name="Rounded Rectangle 47"/>
          <p:cNvSpPr/>
          <p:nvPr/>
        </p:nvSpPr>
        <p:spPr>
          <a:xfrm>
            <a:off x="4754880" y="5108973"/>
            <a:ext cx="3474720" cy="50292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754880" y="5108973"/>
            <a:ext cx="54864" cy="5029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937760" y="5136405"/>
            <a:ext cx="3108960" cy="182880"/>
          </a:xfrm>
          <a:prstGeom prst="rect">
            <a:avLst/>
          </a:prstGeom>
          <a:noFill/>
        </p:spPr>
        <p:txBody>
          <a:bodyPr wrap="square" anchor="t">
            <a:spAutoFit/>
          </a:bodyPr>
          <a:lstStyle/>
          <a:p>
            <a:pPr algn="l">
              <a:defRPr sz="1000" b="1">
                <a:solidFill>
                  <a:srgbClr val="0D1B2A"/>
                </a:solidFill>
                <a:latin typeface="Segoe UI"/>
              </a:defRPr>
            </a:pPr>
            <a:r>
              <a:t>RocksDB Keyed State</a:t>
            </a:r>
          </a:p>
        </p:txBody>
      </p:sp>
      <p:sp>
        <p:nvSpPr>
          <p:cNvPr id="51" name="TextBox 50"/>
          <p:cNvSpPr txBox="1"/>
          <p:nvPr/>
        </p:nvSpPr>
        <p:spPr>
          <a:xfrm>
            <a:off x="4937760" y="5319285"/>
            <a:ext cx="3108960" cy="182880"/>
          </a:xfrm>
          <a:prstGeom prst="rect">
            <a:avLst/>
          </a:prstGeom>
          <a:noFill/>
        </p:spPr>
        <p:txBody>
          <a:bodyPr wrap="square" anchor="t">
            <a:spAutoFit/>
          </a:bodyPr>
          <a:lstStyle/>
          <a:p>
            <a:pPr algn="l">
              <a:defRPr sz="800" b="0">
                <a:solidFill>
                  <a:srgbClr val="6C757D"/>
                </a:solidFill>
                <a:latin typeface="Segoe UI"/>
              </a:defRPr>
            </a:pPr>
            <a:r>
              <a:t>NVMe local + S3 incremental checkpoints</a:t>
            </a:r>
          </a:p>
        </p:txBody>
      </p:sp>
      <p:sp>
        <p:nvSpPr>
          <p:cNvPr id="52" name="Rounded Rectangle 51"/>
          <p:cNvSpPr/>
          <p:nvPr/>
        </p:nvSpPr>
        <p:spPr>
          <a:xfrm>
            <a:off x="8412480" y="5108973"/>
            <a:ext cx="2743200" cy="502920"/>
          </a:xfrm>
          <a:prstGeom prst="roundRect">
            <a:avLst/>
          </a:prstGeom>
          <a:solidFill>
            <a:srgbClr val="FEF9E7"/>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412480" y="5108973"/>
            <a:ext cx="54864" cy="5029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595360" y="5136405"/>
            <a:ext cx="2377440" cy="182880"/>
          </a:xfrm>
          <a:prstGeom prst="rect">
            <a:avLst/>
          </a:prstGeom>
          <a:noFill/>
        </p:spPr>
        <p:txBody>
          <a:bodyPr wrap="square" anchor="t">
            <a:spAutoFit/>
          </a:bodyPr>
          <a:lstStyle/>
          <a:p>
            <a:pPr algn="l">
              <a:defRPr sz="1000" b="1">
                <a:solidFill>
                  <a:srgbClr val="0D1B2A"/>
                </a:solidFill>
                <a:latin typeface="Segoe UI"/>
              </a:defRPr>
            </a:pPr>
            <a:r>
              <a:t>Remediation Intelligence</a:t>
            </a:r>
          </a:p>
        </p:txBody>
      </p:sp>
      <p:sp>
        <p:nvSpPr>
          <p:cNvPr id="55" name="TextBox 54"/>
          <p:cNvSpPr txBox="1"/>
          <p:nvPr/>
        </p:nvSpPr>
        <p:spPr>
          <a:xfrm>
            <a:off x="8595360" y="5319285"/>
            <a:ext cx="2377440" cy="182880"/>
          </a:xfrm>
          <a:prstGeom prst="rect">
            <a:avLst/>
          </a:prstGeom>
          <a:noFill/>
        </p:spPr>
        <p:txBody>
          <a:bodyPr wrap="square" anchor="t">
            <a:spAutoFit/>
          </a:bodyPr>
          <a:lstStyle/>
          <a:p>
            <a:pPr algn="l">
              <a:defRPr sz="800" b="0">
                <a:solidFill>
                  <a:srgbClr val="6C757D"/>
                </a:solidFill>
                <a:latin typeface="Segoe UI"/>
              </a:defRPr>
            </a:pPr>
            <a:r>
              <a:t>Zero-FP playbooks  ·  auto-ticketing</a:t>
            </a:r>
          </a:p>
        </p:txBody>
      </p:sp>
      <p:sp>
        <p:nvSpPr>
          <p:cNvPr id="58" name="Rounded Rectangle 57"/>
          <p:cNvSpPr/>
          <p:nvPr/>
        </p:nvSpPr>
        <p:spPr>
          <a:xfrm>
            <a:off x="1097280" y="5852160"/>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097280" y="5852160"/>
            <a:ext cx="1005840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371600" y="5943600"/>
            <a:ext cx="9601200" cy="182880"/>
          </a:xfrm>
          <a:prstGeom prst="rect">
            <a:avLst/>
          </a:prstGeom>
          <a:noFill/>
        </p:spPr>
        <p:txBody>
          <a:bodyPr wrap="square" anchor="t">
            <a:spAutoFit/>
          </a:bodyPr>
          <a:lstStyle/>
          <a:p>
            <a:pPr algn="ctr">
              <a:defRPr sz="1000" b="1">
                <a:solidFill>
                  <a:srgbClr val="0D1B2A"/>
                </a:solidFill>
                <a:latin typeface="Segoe UI"/>
              </a:defRPr>
            </a:pPr>
            <a:r>
              <a:t>Gabriel Nimbus Platform Services</a:t>
            </a:r>
          </a:p>
        </p:txBody>
      </p:sp>
      <p:sp>
        <p:nvSpPr>
          <p:cNvPr id="61" name="TextBox 60"/>
          <p:cNvSpPr txBox="1"/>
          <p:nvPr/>
        </p:nvSpPr>
        <p:spPr>
          <a:xfrm>
            <a:off x="1371600" y="6126480"/>
            <a:ext cx="9601200" cy="182880"/>
          </a:xfrm>
          <a:prstGeom prst="rect">
            <a:avLst/>
          </a:prstGeom>
          <a:noFill/>
        </p:spPr>
        <p:txBody>
          <a:bodyPr wrap="square" anchor="t">
            <a:spAutoFit/>
          </a:bodyPr>
          <a:lstStyle/>
          <a:p>
            <a:pPr algn="ctr">
              <a:defRPr sz="900" b="0">
                <a:solidFill>
                  <a:srgbClr val="6C757D"/>
                </a:solidFill>
                <a:latin typeface="Segoe UI"/>
              </a:defRPr>
            </a:pPr>
            <a:r>
              <a:t>Kubernetes Orchestration  |  Object Store (S3)  |  Platform IAM  |  Big Data Analytics  |  Monitoring  |  Service Mesh</a:t>
            </a:r>
          </a:p>
        </p:txBody>
      </p:sp>
      <p:sp>
        <p:nvSpPr>
          <p:cNvPr id="62" name="Rounded Rectangle 31">
            <a:extLst>
              <a:ext uri="{FF2B5EF4-FFF2-40B4-BE49-F238E27FC236}">
                <a16:creationId xmlns:a16="http://schemas.microsoft.com/office/drawing/2014/main" id="{953E11C8-56A3-1B5D-22EA-36254DA4EAAB}"/>
              </a:ext>
            </a:extLst>
          </p:cNvPr>
          <p:cNvSpPr/>
          <p:nvPr/>
        </p:nvSpPr>
        <p:spPr>
          <a:xfrm>
            <a:off x="5153226" y="4250489"/>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D65F094D-9C81-A891-7A52-BDE629D52637}"/>
              </a:ext>
            </a:extLst>
          </p:cNvPr>
          <p:cNvSpPr txBox="1"/>
          <p:nvPr/>
        </p:nvSpPr>
        <p:spPr>
          <a:xfrm>
            <a:off x="5212080" y="4297680"/>
            <a:ext cx="1463040" cy="246221"/>
          </a:xfrm>
          <a:prstGeom prst="rect">
            <a:avLst/>
          </a:prstGeom>
          <a:noFill/>
        </p:spPr>
        <p:txBody>
          <a:bodyPr wrap="square" anchor="t">
            <a:spAutoFit/>
          </a:bodyPr>
          <a:lstStyle/>
          <a:p>
            <a:pPr algn="l">
              <a:defRPr sz="1000" b="1">
                <a:solidFill>
                  <a:srgbClr val="FFFFFF"/>
                </a:solidFill>
                <a:latin typeface="Segoe UI"/>
              </a:defRPr>
            </a:pPr>
            <a:r>
              <a:rPr lang="en-US" dirty="0"/>
              <a:t>6. </a:t>
            </a:r>
            <a:r>
              <a:rPr dirty="0"/>
              <a:t> </a:t>
            </a:r>
            <a:r>
              <a:rPr lang="en-US" dirty="0"/>
              <a:t>Sink Fanout</a:t>
            </a:r>
            <a:endParaRPr dirty="0"/>
          </a:p>
        </p:txBody>
      </p:sp>
      <p:sp>
        <p:nvSpPr>
          <p:cNvPr id="64" name="TextBox 63">
            <a:extLst>
              <a:ext uri="{FF2B5EF4-FFF2-40B4-BE49-F238E27FC236}">
                <a16:creationId xmlns:a16="http://schemas.microsoft.com/office/drawing/2014/main" id="{08BD920A-E0AF-E1A5-1861-2FF3FA2A1C61}"/>
              </a:ext>
            </a:extLst>
          </p:cNvPr>
          <p:cNvSpPr txBox="1"/>
          <p:nvPr/>
        </p:nvSpPr>
        <p:spPr>
          <a:xfrm>
            <a:off x="6668026" y="4305981"/>
            <a:ext cx="1799318" cy="230832"/>
          </a:xfrm>
          <a:prstGeom prst="rect">
            <a:avLst/>
          </a:prstGeom>
          <a:noFill/>
        </p:spPr>
        <p:txBody>
          <a:bodyPr wrap="square" anchor="t">
            <a:spAutoFit/>
          </a:bodyPr>
          <a:lstStyle/>
          <a:p>
            <a:pPr algn="l">
              <a:defRPr sz="900" b="0">
                <a:solidFill>
                  <a:srgbClr val="A0C8E0"/>
                </a:solidFill>
                <a:latin typeface="Segoe UI"/>
              </a:defRPr>
            </a:pPr>
            <a:r>
              <a:rPr lang="en-US" dirty="0"/>
              <a:t>Alert, Event , Archive</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0" y="1188720"/>
            <a:ext cx="9144000" cy="457200"/>
          </a:xfrm>
          <a:prstGeom prst="rect">
            <a:avLst/>
          </a:prstGeom>
          <a:noFill/>
        </p:spPr>
        <p:txBody>
          <a:bodyPr wrap="square" anchor="t">
            <a:spAutoFit/>
          </a:bodyPr>
          <a:lstStyle/>
          <a:p>
            <a:pPr algn="l">
              <a:defRPr sz="1300" b="1">
                <a:solidFill>
                  <a:srgbClr val="B7950B"/>
                </a:solidFill>
                <a:latin typeface="Georgia"/>
              </a:defRPr>
            </a:pPr>
            <a:r>
              <a:t>22nd Century Technologies Inc.</a:t>
            </a:r>
          </a:p>
        </p:txBody>
      </p:sp>
      <p:sp>
        <p:nvSpPr>
          <p:cNvPr id="4" name="TextBox 3"/>
          <p:cNvSpPr txBox="1"/>
          <p:nvPr/>
        </p:nvSpPr>
        <p:spPr>
          <a:xfrm>
            <a:off x="1645920" y="1828800"/>
            <a:ext cx="9144000" cy="914400"/>
          </a:xfrm>
          <a:prstGeom prst="rect">
            <a:avLst/>
          </a:prstGeom>
          <a:noFill/>
        </p:spPr>
        <p:txBody>
          <a:bodyPr wrap="square" anchor="t">
            <a:spAutoFit/>
          </a:bodyPr>
          <a:lstStyle/>
          <a:p>
            <a:pPr algn="l">
              <a:defRPr sz="3600" b="1">
                <a:solidFill>
                  <a:srgbClr val="FFFFFF"/>
                </a:solidFill>
                <a:latin typeface="Georgia"/>
              </a:defRPr>
            </a:pPr>
            <a:r>
              <a:t>Concrete Next Steps</a:t>
            </a:r>
          </a:p>
        </p:txBody>
      </p:sp>
      <p:sp>
        <p:nvSpPr>
          <p:cNvPr id="5" name="Rectangle 4"/>
          <p:cNvSpPr/>
          <p:nvPr/>
        </p:nvSpPr>
        <p:spPr>
          <a:xfrm>
            <a:off x="1645920" y="2651760"/>
            <a:ext cx="2743200" cy="254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2926080"/>
            <a:ext cx="9144000" cy="365760"/>
          </a:xfrm>
          <a:prstGeom prst="rect">
            <a:avLst/>
          </a:prstGeom>
          <a:noFill/>
        </p:spPr>
        <p:txBody>
          <a:bodyPr wrap="square" anchor="t">
            <a:spAutoFit/>
          </a:bodyPr>
          <a:lstStyle/>
          <a:p>
            <a:pPr algn="l">
              <a:defRPr sz="1500" b="0">
                <a:solidFill>
                  <a:srgbClr val="A0B8D0"/>
                </a:solidFill>
                <a:latin typeface="Segoe UI"/>
              </a:defRPr>
            </a:pPr>
            <a:r>
              <a:t>Three paths forward — all OTA/PIA compatible:</a:t>
            </a:r>
          </a:p>
        </p:txBody>
      </p:sp>
      <p:sp>
        <p:nvSpPr>
          <p:cNvPr id="7" name="Rounded Rectangle 6"/>
          <p:cNvSpPr/>
          <p:nvPr/>
        </p:nvSpPr>
        <p:spPr>
          <a:xfrm>
            <a:off x="1371600" y="3383280"/>
            <a:ext cx="3017520" cy="2011680"/>
          </a:xfrm>
          <a:prstGeom prst="roundRect">
            <a:avLst/>
          </a:prstGeom>
          <a:solidFill>
            <a:srgbClr val="142434"/>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371600" y="3383280"/>
            <a:ext cx="3017520" cy="36576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63040" y="3410712"/>
            <a:ext cx="365760" cy="320040"/>
          </a:xfrm>
          <a:prstGeom prst="rect">
            <a:avLst/>
          </a:prstGeom>
          <a:noFill/>
        </p:spPr>
        <p:txBody>
          <a:bodyPr wrap="square" anchor="t">
            <a:spAutoFit/>
          </a:bodyPr>
          <a:lstStyle/>
          <a:p>
            <a:pPr algn="ctr">
              <a:defRPr sz="1600" b="1">
                <a:solidFill>
                  <a:srgbClr val="FFFFFF"/>
                </a:solidFill>
                <a:latin typeface="Segoe UI"/>
              </a:defRPr>
            </a:pPr>
            <a:r>
              <a:t>A</a:t>
            </a:r>
          </a:p>
        </p:txBody>
      </p:sp>
      <p:sp>
        <p:nvSpPr>
          <p:cNvPr id="10" name="TextBox 9"/>
          <p:cNvSpPr txBox="1"/>
          <p:nvPr/>
        </p:nvSpPr>
        <p:spPr>
          <a:xfrm>
            <a:off x="1828800" y="3410712"/>
            <a:ext cx="2377440" cy="320040"/>
          </a:xfrm>
          <a:prstGeom prst="rect">
            <a:avLst/>
          </a:prstGeom>
          <a:noFill/>
        </p:spPr>
        <p:txBody>
          <a:bodyPr wrap="square" anchor="t">
            <a:spAutoFit/>
          </a:bodyPr>
          <a:lstStyle/>
          <a:p>
            <a:pPr algn="l">
              <a:defRPr sz="1200" b="1">
                <a:solidFill>
                  <a:srgbClr val="FFFFFF"/>
                </a:solidFill>
                <a:latin typeface="Segoe UI"/>
              </a:defRPr>
            </a:pPr>
            <a:r>
              <a:t>Technical Deep-Dive</a:t>
            </a:r>
          </a:p>
        </p:txBody>
      </p:sp>
      <p:sp>
        <p:nvSpPr>
          <p:cNvPr id="11" name="TextBox 10"/>
          <p:cNvSpPr txBox="1"/>
          <p:nvPr/>
        </p:nvSpPr>
        <p:spPr>
          <a:xfrm>
            <a:off x="1554480" y="3840480"/>
            <a:ext cx="2651760" cy="1463040"/>
          </a:xfrm>
          <a:prstGeom prst="rect">
            <a:avLst/>
          </a:prstGeom>
          <a:noFill/>
        </p:spPr>
        <p:txBody>
          <a:bodyPr wrap="square" anchor="t">
            <a:spAutoFit/>
          </a:bodyPr>
          <a:lstStyle/>
          <a:p>
            <a:pPr algn="l">
              <a:defRPr sz="1100" b="0">
                <a:solidFill>
                  <a:srgbClr val="A0B8D0"/>
                </a:solidFill>
                <a:latin typeface="Segoe UI"/>
              </a:defRPr>
            </a:pPr>
            <a:r>
              <a:t>60-90 min follow-up with engineering</a:t>
            </a:r>
            <a:br/>
            <a:r>
              <a:t>team and ARCYBER science advisor.</a:t>
            </a:r>
            <a:br/>
            <a:r>
              <a:t>Architecture, integration points,</a:t>
            </a:r>
            <a:br/>
            <a:r>
              <a:t>formal methods detail.</a:t>
            </a:r>
          </a:p>
        </p:txBody>
      </p:sp>
      <p:sp>
        <p:nvSpPr>
          <p:cNvPr id="12" name="Rounded Rectangle 11"/>
          <p:cNvSpPr/>
          <p:nvPr/>
        </p:nvSpPr>
        <p:spPr>
          <a:xfrm>
            <a:off x="4663440" y="3383280"/>
            <a:ext cx="3017520" cy="2011680"/>
          </a:xfrm>
          <a:prstGeom prst="roundRect">
            <a:avLst/>
          </a:prstGeom>
          <a:solidFill>
            <a:srgbClr val="142434"/>
          </a:solidFill>
          <a:ln w="12700">
            <a:solidFill>
              <a:srgbClr val="0E6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63440" y="3383280"/>
            <a:ext cx="3017520" cy="36576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3410712"/>
            <a:ext cx="365760" cy="320040"/>
          </a:xfrm>
          <a:prstGeom prst="rect">
            <a:avLst/>
          </a:prstGeom>
          <a:noFill/>
        </p:spPr>
        <p:txBody>
          <a:bodyPr wrap="square" anchor="t">
            <a:spAutoFit/>
          </a:bodyPr>
          <a:lstStyle/>
          <a:p>
            <a:pPr algn="ctr">
              <a:defRPr sz="1600" b="1">
                <a:solidFill>
                  <a:srgbClr val="FFFFFF"/>
                </a:solidFill>
                <a:latin typeface="Segoe UI"/>
              </a:defRPr>
            </a:pPr>
            <a:r>
              <a:t>B</a:t>
            </a:r>
          </a:p>
        </p:txBody>
      </p:sp>
      <p:sp>
        <p:nvSpPr>
          <p:cNvPr id="15" name="TextBox 14"/>
          <p:cNvSpPr txBox="1"/>
          <p:nvPr/>
        </p:nvSpPr>
        <p:spPr>
          <a:xfrm>
            <a:off x="5120640" y="3410712"/>
            <a:ext cx="2377440" cy="320040"/>
          </a:xfrm>
          <a:prstGeom prst="rect">
            <a:avLst/>
          </a:prstGeom>
          <a:noFill/>
        </p:spPr>
        <p:txBody>
          <a:bodyPr wrap="square" anchor="t">
            <a:spAutoFit/>
          </a:bodyPr>
          <a:lstStyle/>
          <a:p>
            <a:pPr algn="l">
              <a:defRPr sz="1200" b="1">
                <a:solidFill>
                  <a:srgbClr val="FFFFFF"/>
                </a:solidFill>
                <a:latin typeface="Segoe UI"/>
              </a:defRPr>
            </a:pPr>
            <a:r>
              <a:t>PM DCO Capability Brief</a:t>
            </a:r>
          </a:p>
        </p:txBody>
      </p:sp>
      <p:sp>
        <p:nvSpPr>
          <p:cNvPr id="16" name="TextBox 15"/>
          <p:cNvSpPr txBox="1"/>
          <p:nvPr/>
        </p:nvSpPr>
        <p:spPr>
          <a:xfrm>
            <a:off x="4846320" y="3840480"/>
            <a:ext cx="2651760" cy="1463040"/>
          </a:xfrm>
          <a:prstGeom prst="rect">
            <a:avLst/>
          </a:prstGeom>
          <a:noFill/>
        </p:spPr>
        <p:txBody>
          <a:bodyPr wrap="square" anchor="t">
            <a:spAutoFit/>
          </a:bodyPr>
          <a:lstStyle/>
          <a:p>
            <a:pPr algn="l">
              <a:defRPr sz="1100" b="0">
                <a:solidFill>
                  <a:srgbClr val="A0B8D0"/>
                </a:solidFill>
                <a:latin typeface="Segoe UI"/>
              </a:defRPr>
            </a:pPr>
            <a:r>
              <a:t>30-min brief tailored to specific</a:t>
            </a:r>
            <a:br/>
            <a:r>
              <a:t>DCO capability gap. CFIC introduces.</a:t>
            </a:r>
            <a:br/>
            <a:r>
              <a:t>Aligned to BA-08 funding and</a:t>
            </a:r>
            <a:br/>
            <a:r>
              <a:t>Continuous Transformation cadence.</a:t>
            </a:r>
          </a:p>
        </p:txBody>
      </p:sp>
      <p:sp>
        <p:nvSpPr>
          <p:cNvPr id="17" name="Rounded Rectangle 16"/>
          <p:cNvSpPr/>
          <p:nvPr/>
        </p:nvSpPr>
        <p:spPr>
          <a:xfrm>
            <a:off x="7955280" y="3383280"/>
            <a:ext cx="3017520" cy="2011680"/>
          </a:xfrm>
          <a:prstGeom prst="roundRect">
            <a:avLst/>
          </a:prstGeom>
          <a:solidFill>
            <a:srgbClr val="142434"/>
          </a:solidFill>
          <a:ln w="12700">
            <a:solidFill>
              <a:srgbClr val="B79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55280" y="3383280"/>
            <a:ext cx="3017520" cy="36576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0" y="3410712"/>
            <a:ext cx="365760" cy="320040"/>
          </a:xfrm>
          <a:prstGeom prst="rect">
            <a:avLst/>
          </a:prstGeom>
          <a:noFill/>
        </p:spPr>
        <p:txBody>
          <a:bodyPr wrap="square" anchor="t">
            <a:spAutoFit/>
          </a:bodyPr>
          <a:lstStyle/>
          <a:p>
            <a:pPr algn="ctr">
              <a:defRPr sz="1600" b="1">
                <a:solidFill>
                  <a:srgbClr val="FFFFFF"/>
                </a:solidFill>
                <a:latin typeface="Segoe UI"/>
              </a:defRPr>
            </a:pPr>
            <a:r>
              <a:t>C</a:t>
            </a:r>
          </a:p>
        </p:txBody>
      </p:sp>
      <p:sp>
        <p:nvSpPr>
          <p:cNvPr id="20" name="TextBox 19"/>
          <p:cNvSpPr txBox="1"/>
          <p:nvPr/>
        </p:nvSpPr>
        <p:spPr>
          <a:xfrm>
            <a:off x="8412480" y="3410712"/>
            <a:ext cx="2377440" cy="320040"/>
          </a:xfrm>
          <a:prstGeom prst="rect">
            <a:avLst/>
          </a:prstGeom>
          <a:noFill/>
        </p:spPr>
        <p:txBody>
          <a:bodyPr wrap="square" anchor="t">
            <a:spAutoFit/>
          </a:bodyPr>
          <a:lstStyle/>
          <a:p>
            <a:pPr algn="l">
              <a:defRPr sz="1200" b="1">
                <a:solidFill>
                  <a:srgbClr val="FFFFFF"/>
                </a:solidFill>
                <a:latin typeface="Segoe UI"/>
              </a:defRPr>
            </a:pPr>
            <a:r>
              <a:t>30-Day OTA Prototype</a:t>
            </a:r>
          </a:p>
        </p:txBody>
      </p:sp>
      <p:sp>
        <p:nvSpPr>
          <p:cNvPr id="21" name="TextBox 20"/>
          <p:cNvSpPr txBox="1"/>
          <p:nvPr/>
        </p:nvSpPr>
        <p:spPr>
          <a:xfrm>
            <a:off x="8138160" y="3840480"/>
            <a:ext cx="2651760" cy="1463040"/>
          </a:xfrm>
          <a:prstGeom prst="rect">
            <a:avLst/>
          </a:prstGeom>
          <a:noFill/>
        </p:spPr>
        <p:txBody>
          <a:bodyPr wrap="square" anchor="t">
            <a:spAutoFit/>
          </a:bodyPr>
          <a:lstStyle/>
          <a:p>
            <a:pPr algn="l">
              <a:defRPr sz="1100" b="0">
                <a:solidFill>
                  <a:srgbClr val="A0B8D0"/>
                </a:solidFill>
                <a:latin typeface="Segoe UI"/>
              </a:defRPr>
            </a:pPr>
            <a:r>
              <a:t>Scoped prototype on ARCYBER data</a:t>
            </a:r>
            <a:br/>
            <a:r>
              <a:t>(synthetic or DREN). Preemptive gap</a:t>
            </a:r>
            <a:br/>
            <a:r>
              <a:t>findings + behavioral detections.</a:t>
            </a:r>
            <a:br/>
            <a:r>
              <a:t>Milestone-based, TRL 6 → 7.</a:t>
            </a:r>
          </a:p>
        </p:txBody>
      </p:sp>
      <p:sp>
        <p:nvSpPr>
          <p:cNvPr id="22" name="TextBox 21"/>
          <p:cNvSpPr txBox="1"/>
          <p:nvPr/>
        </p:nvSpPr>
        <p:spPr>
          <a:xfrm>
            <a:off x="1645920" y="5577840"/>
            <a:ext cx="9144000" cy="365760"/>
          </a:xfrm>
          <a:prstGeom prst="rect">
            <a:avLst/>
          </a:prstGeom>
          <a:noFill/>
        </p:spPr>
        <p:txBody>
          <a:bodyPr wrap="square" anchor="t">
            <a:spAutoFit/>
          </a:bodyPr>
          <a:lstStyle/>
          <a:p>
            <a:pPr algn="l">
              <a:defRPr sz="1300" b="1">
                <a:solidFill>
                  <a:srgbClr val="B7950B"/>
                </a:solidFill>
                <a:latin typeface="Segoe UI"/>
              </a:defRPr>
            </a:pPr>
            <a:r>
              <a:t>Provable Computing is a stated CFIC focus area. We are the industry capability in that space.</a:t>
            </a:r>
          </a:p>
        </p:txBody>
      </p:sp>
      <p:sp>
        <p:nvSpPr>
          <p:cNvPr id="23" name="Rectangle 22"/>
          <p:cNvSpPr/>
          <p:nvPr/>
        </p:nvSpPr>
        <p:spPr>
          <a:xfrm>
            <a:off x="6858000" y="5943600"/>
            <a:ext cx="4114800" cy="127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0" y="6035040"/>
            <a:ext cx="4572000" cy="365760"/>
          </a:xfrm>
          <a:prstGeom prst="rect">
            <a:avLst/>
          </a:prstGeom>
          <a:noFill/>
        </p:spPr>
        <p:txBody>
          <a:bodyPr wrap="square" anchor="t">
            <a:spAutoFit/>
          </a:bodyPr>
          <a:lstStyle/>
          <a:p>
            <a:pPr algn="l">
              <a:defRPr sz="1200" b="1">
                <a:solidFill>
                  <a:srgbClr val="FFFFFF"/>
                </a:solidFill>
                <a:latin typeface="Segoe UI"/>
              </a:defRPr>
            </a:pPr>
            <a:r>
              <a:t>Ravindra Shukla  |  Head of AI</a:t>
            </a:r>
          </a:p>
        </p:txBody>
      </p:sp>
      <p:sp>
        <p:nvSpPr>
          <p:cNvPr id="25" name="TextBox 24"/>
          <p:cNvSpPr txBox="1"/>
          <p:nvPr/>
        </p:nvSpPr>
        <p:spPr>
          <a:xfrm>
            <a:off x="6858000" y="6309360"/>
            <a:ext cx="4572000" cy="274320"/>
          </a:xfrm>
          <a:prstGeom prst="rect">
            <a:avLst/>
          </a:prstGeom>
          <a:noFill/>
        </p:spPr>
        <p:txBody>
          <a:bodyPr wrap="square" anchor="t">
            <a:spAutoFit/>
          </a:bodyPr>
          <a:lstStyle/>
          <a:p>
            <a:pPr algn="l">
              <a:defRPr sz="1000" b="0">
                <a:solidFill>
                  <a:srgbClr val="A0B8D0"/>
                </a:solidFill>
                <a:latin typeface="Segoe UI"/>
              </a:defRPr>
            </a:pPr>
            <a:r>
              <a:t>ravindra.shukla@tscti.com  |  703-679-0117</a:t>
            </a:r>
          </a:p>
        </p:txBody>
      </p:sp>
      <p:sp>
        <p:nvSpPr>
          <p:cNvPr id="26" name="Rectangle 25"/>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28" name="TextBox 27"/>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055824" y="2483069"/>
            <a:ext cx="9601200" cy="461665"/>
          </a:xfrm>
          <a:prstGeom prst="rect">
            <a:avLst/>
          </a:prstGeom>
          <a:noFill/>
        </p:spPr>
        <p:txBody>
          <a:bodyPr wrap="square" anchor="t">
            <a:spAutoFit/>
          </a:bodyPr>
          <a:lstStyle/>
          <a:p>
            <a:pPr algn="l">
              <a:defRPr sz="2400" b="1">
                <a:solidFill>
                  <a:srgbClr val="0D1B2A"/>
                </a:solidFill>
                <a:latin typeface="Georgia"/>
              </a:defRPr>
            </a:pPr>
            <a:r>
              <a:rPr lang="en-US" dirty="0"/>
              <a:t>Appendix</a:t>
            </a:r>
            <a:endParaRPr dirty="0"/>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txBody>
          <a:bodyPr/>
          <a:lstStyle/>
          <a:p>
            <a:endParaRPr lang="en-US"/>
          </a:p>
        </p:txBody>
      </p:sp>
      <p:sp>
        <p:nvSpPr>
          <p:cNvPr id="7" name="Text 5"/>
          <p:cNvSpPr/>
          <p:nvPr/>
        </p:nvSpPr>
        <p:spPr>
          <a:xfrm>
            <a:off x="457200" y="1508760"/>
            <a:ext cx="3200400" cy="640080"/>
          </a:xfrm>
          <a:prstGeom prst="rect">
            <a:avLst/>
          </a:prstGeom>
          <a:noFill/>
          <a:ln/>
        </p:spPr>
        <p:txBody>
          <a:bodyPr wrap="square" lIns="0" tIns="0" rIns="0" bIns="0" rtlCol="0" anchor="ctr"/>
          <a:lstStyle/>
          <a:p>
            <a:pPr marL="0" indent="0" algn="ctr">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marL="0" indent="0" algn="ctr">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marL="0" indent="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2" name="Shape 10"/>
          <p:cNvSpPr/>
          <p:nvPr/>
        </p:nvSpPr>
        <p:spPr>
          <a:xfrm>
            <a:off x="457200" y="2743200"/>
            <a:ext cx="640080" cy="1783080"/>
          </a:xfrm>
          <a:prstGeom prst="rect">
            <a:avLst/>
          </a:prstGeom>
          <a:solidFill>
            <a:srgbClr val="C0392B"/>
          </a:solidFill>
          <a:ln/>
        </p:spPr>
        <p:txBody>
          <a:bodyPr/>
          <a:lstStyle/>
          <a:p>
            <a:endParaRPr lang="en-US"/>
          </a:p>
        </p:txBody>
      </p:sp>
      <p:sp>
        <p:nvSpPr>
          <p:cNvPr id="13" name="Text 11"/>
          <p:cNvSpPr/>
          <p:nvPr/>
        </p:nvSpPr>
        <p:spPr>
          <a:xfrm>
            <a:off x="45720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6309360" y="2743200"/>
            <a:ext cx="640080" cy="1783080"/>
          </a:xfrm>
          <a:prstGeom prst="rect">
            <a:avLst/>
          </a:prstGeom>
          <a:solidFill>
            <a:srgbClr val="C0392B"/>
          </a:solidFill>
          <a:ln/>
        </p:spPr>
        <p:txBody>
          <a:bodyPr/>
          <a:lstStyle/>
          <a:p>
            <a:endParaRPr lang="en-US"/>
          </a:p>
        </p:txBody>
      </p:sp>
      <p:sp>
        <p:nvSpPr>
          <p:cNvPr id="19" name="Text 17"/>
          <p:cNvSpPr/>
          <p:nvPr/>
        </p:nvSpPr>
        <p:spPr>
          <a:xfrm>
            <a:off x="630936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24" name="Shape 22"/>
          <p:cNvSpPr/>
          <p:nvPr/>
        </p:nvSpPr>
        <p:spPr>
          <a:xfrm>
            <a:off x="457200" y="4617720"/>
            <a:ext cx="640080" cy="1783080"/>
          </a:xfrm>
          <a:prstGeom prst="rect">
            <a:avLst/>
          </a:prstGeom>
          <a:solidFill>
            <a:srgbClr val="C0392B"/>
          </a:solidFill>
          <a:ln/>
        </p:spPr>
        <p:txBody>
          <a:bodyPr/>
          <a:lstStyle/>
          <a:p>
            <a:endParaRPr lang="en-US"/>
          </a:p>
        </p:txBody>
      </p:sp>
      <p:sp>
        <p:nvSpPr>
          <p:cNvPr id="25" name="Text 23"/>
          <p:cNvSpPr/>
          <p:nvPr/>
        </p:nvSpPr>
        <p:spPr>
          <a:xfrm>
            <a:off x="45720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6309360" y="4617720"/>
            <a:ext cx="640080" cy="1783080"/>
          </a:xfrm>
          <a:prstGeom prst="rect">
            <a:avLst/>
          </a:prstGeom>
          <a:solidFill>
            <a:srgbClr val="C0392B"/>
          </a:solidFill>
          <a:ln/>
        </p:spPr>
        <p:txBody>
          <a:bodyPr/>
          <a:lstStyle/>
          <a:p>
            <a:endParaRPr lang="en-US"/>
          </a:p>
        </p:txBody>
      </p:sp>
      <p:sp>
        <p:nvSpPr>
          <p:cNvPr id="31" name="Text 29"/>
          <p:cNvSpPr/>
          <p:nvPr/>
        </p:nvSpPr>
        <p:spPr>
          <a:xfrm>
            <a:off x="630936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463040"/>
            <a:ext cx="3657600" cy="457200"/>
          </a:xfrm>
          <a:prstGeom prst="rect">
            <a:avLst/>
          </a:prstGeom>
          <a:solidFill>
            <a:srgbClr val="0891B2"/>
          </a:solidFill>
          <a:ln/>
        </p:spPr>
        <p:txBody>
          <a:bodyPr/>
          <a:lstStyle/>
          <a:p>
            <a:endParaRPr lang="en-US"/>
          </a:p>
        </p:txBody>
      </p:sp>
      <p:sp>
        <p:nvSpPr>
          <p:cNvPr id="8" name="Text 6"/>
          <p:cNvSpPr/>
          <p:nvPr/>
        </p:nvSpPr>
        <p:spPr>
          <a:xfrm>
            <a:off x="594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73152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4297680" y="1463040"/>
            <a:ext cx="3657600" cy="457200"/>
          </a:xfrm>
          <a:prstGeom prst="rect">
            <a:avLst/>
          </a:prstGeom>
          <a:solidFill>
            <a:srgbClr val="0891B2"/>
          </a:solidFill>
          <a:ln/>
        </p:spPr>
        <p:txBody>
          <a:bodyPr/>
          <a:lstStyle/>
          <a:p>
            <a:endParaRPr lang="en-US"/>
          </a:p>
        </p:txBody>
      </p:sp>
      <p:sp>
        <p:nvSpPr>
          <p:cNvPr id="19" name="Text 17"/>
          <p:cNvSpPr/>
          <p:nvPr/>
        </p:nvSpPr>
        <p:spPr>
          <a:xfrm>
            <a:off x="44348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27" name="Text 25"/>
          <p:cNvSpPr/>
          <p:nvPr/>
        </p:nvSpPr>
        <p:spPr>
          <a:xfrm>
            <a:off x="457200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29" name="Shape 27"/>
          <p:cNvSpPr/>
          <p:nvPr/>
        </p:nvSpPr>
        <p:spPr>
          <a:xfrm>
            <a:off x="8138160" y="1463040"/>
            <a:ext cx="3657600" cy="457200"/>
          </a:xfrm>
          <a:prstGeom prst="rect">
            <a:avLst/>
          </a:prstGeom>
          <a:solidFill>
            <a:srgbClr val="0891B2"/>
          </a:solidFill>
          <a:ln/>
        </p:spPr>
        <p:txBody>
          <a:bodyPr/>
          <a:lstStyle/>
          <a:p>
            <a:endParaRPr lang="en-US"/>
          </a:p>
        </p:txBody>
      </p:sp>
      <p:sp>
        <p:nvSpPr>
          <p:cNvPr id="30" name="Text 28"/>
          <p:cNvSpPr/>
          <p:nvPr/>
        </p:nvSpPr>
        <p:spPr>
          <a:xfrm>
            <a:off x="82753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38" name="Text 36"/>
          <p:cNvSpPr/>
          <p:nvPr/>
        </p:nvSpPr>
        <p:spPr>
          <a:xfrm>
            <a:off x="841248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27632"/>
            <a:ext cx="502920" cy="502920"/>
          </a:xfrm>
          <a:prstGeom prst="ellipse">
            <a:avLst/>
          </a:prstGeom>
          <a:solidFill>
            <a:srgbClr val="0891B2"/>
          </a:solidFill>
          <a:ln/>
        </p:spPr>
        <p:txBody>
          <a:bodyPr/>
          <a:lstStyle/>
          <a:p>
            <a:endParaRPr lang="en-US"/>
          </a:p>
        </p:txBody>
      </p:sp>
      <p:sp>
        <p:nvSpPr>
          <p:cNvPr id="8" name="Text 6"/>
          <p:cNvSpPr/>
          <p:nvPr/>
        </p:nvSpPr>
        <p:spPr>
          <a:xfrm>
            <a:off x="59436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txBody>
          <a:bodyPr/>
          <a:lstStyle/>
          <a:p>
            <a:endParaRPr lang="en-US"/>
          </a:p>
        </p:txBody>
      </p:sp>
      <p:sp>
        <p:nvSpPr>
          <p:cNvPr id="11" name="Text 9"/>
          <p:cNvSpPr/>
          <p:nvPr/>
        </p:nvSpPr>
        <p:spPr>
          <a:xfrm>
            <a:off x="132588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14" name="Shape 12"/>
          <p:cNvSpPr/>
          <p:nvPr/>
        </p:nvSpPr>
        <p:spPr>
          <a:xfrm>
            <a:off x="6446520" y="1627632"/>
            <a:ext cx="502920" cy="502920"/>
          </a:xfrm>
          <a:prstGeom prst="ellipse">
            <a:avLst/>
          </a:prstGeom>
          <a:solidFill>
            <a:srgbClr val="0891B2"/>
          </a:solidFill>
          <a:ln/>
        </p:spPr>
        <p:txBody>
          <a:bodyPr/>
          <a:lstStyle/>
          <a:p>
            <a:endParaRPr lang="en-US"/>
          </a:p>
        </p:txBody>
      </p:sp>
      <p:sp>
        <p:nvSpPr>
          <p:cNvPr id="15" name="Text 13"/>
          <p:cNvSpPr/>
          <p:nvPr/>
        </p:nvSpPr>
        <p:spPr>
          <a:xfrm>
            <a:off x="644652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txBody>
          <a:bodyPr/>
          <a:lstStyle/>
          <a:p>
            <a:endParaRPr lang="en-US"/>
          </a:p>
        </p:txBody>
      </p:sp>
      <p:sp>
        <p:nvSpPr>
          <p:cNvPr id="18" name="Text 16"/>
          <p:cNvSpPr/>
          <p:nvPr/>
        </p:nvSpPr>
        <p:spPr>
          <a:xfrm>
            <a:off x="717804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1" name="Shape 19"/>
          <p:cNvSpPr/>
          <p:nvPr/>
        </p:nvSpPr>
        <p:spPr>
          <a:xfrm>
            <a:off x="594360" y="4233672"/>
            <a:ext cx="502920" cy="502920"/>
          </a:xfrm>
          <a:prstGeom prst="ellipse">
            <a:avLst/>
          </a:prstGeom>
          <a:solidFill>
            <a:srgbClr val="0891B2"/>
          </a:solidFill>
          <a:ln/>
        </p:spPr>
        <p:txBody>
          <a:bodyPr/>
          <a:lstStyle/>
          <a:p>
            <a:endParaRPr lang="en-US"/>
          </a:p>
        </p:txBody>
      </p:sp>
      <p:sp>
        <p:nvSpPr>
          <p:cNvPr id="22" name="Text 20"/>
          <p:cNvSpPr/>
          <p:nvPr/>
        </p:nvSpPr>
        <p:spPr>
          <a:xfrm>
            <a:off x="5943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txBody>
          <a:bodyPr/>
          <a:lstStyle/>
          <a:p>
            <a:endParaRPr lang="en-US"/>
          </a:p>
        </p:txBody>
      </p:sp>
      <p:sp>
        <p:nvSpPr>
          <p:cNvPr id="25" name="Text 23"/>
          <p:cNvSpPr/>
          <p:nvPr/>
        </p:nvSpPr>
        <p:spPr>
          <a:xfrm>
            <a:off x="132588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446520" y="4233672"/>
            <a:ext cx="502920" cy="502920"/>
          </a:xfrm>
          <a:prstGeom prst="ellipse">
            <a:avLst/>
          </a:prstGeom>
          <a:solidFill>
            <a:srgbClr val="0891B2"/>
          </a:solidFill>
          <a:ln/>
        </p:spPr>
        <p:txBody>
          <a:bodyPr/>
          <a:lstStyle/>
          <a:p>
            <a:endParaRPr lang="en-US"/>
          </a:p>
        </p:txBody>
      </p:sp>
      <p:sp>
        <p:nvSpPr>
          <p:cNvPr id="29" name="Text 27"/>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txBody>
          <a:bodyPr/>
          <a:lstStyle/>
          <a:p>
            <a:endParaRPr lang="en-US"/>
          </a:p>
        </p:txBody>
      </p:sp>
      <p:sp>
        <p:nvSpPr>
          <p:cNvPr id="32" name="Text 30"/>
          <p:cNvSpPr/>
          <p:nvPr/>
        </p:nvSpPr>
        <p:spPr>
          <a:xfrm>
            <a:off x="717804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45920"/>
            <a:ext cx="457200" cy="457200"/>
          </a:xfrm>
          <a:prstGeom prst="ellipse">
            <a:avLst/>
          </a:prstGeom>
          <a:solidFill>
            <a:srgbClr val="0891B2"/>
          </a:solidFill>
          <a:ln/>
        </p:spPr>
        <p:txBody>
          <a:bodyPr/>
          <a:lstStyle/>
          <a:p>
            <a:endParaRPr lang="en-US"/>
          </a:p>
        </p:txBody>
      </p:sp>
      <p:sp>
        <p:nvSpPr>
          <p:cNvPr id="8" name="Text 6"/>
          <p:cNvSpPr/>
          <p:nvPr/>
        </p:nvSpPr>
        <p:spPr>
          <a:xfrm>
            <a:off x="59436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txBody>
          <a:bodyPr/>
          <a:lstStyle/>
          <a:p>
            <a:endParaRPr lang="en-US"/>
          </a:p>
        </p:txBody>
      </p:sp>
      <p:sp>
        <p:nvSpPr>
          <p:cNvPr id="15" name="Shape 13"/>
          <p:cNvSpPr/>
          <p:nvPr/>
        </p:nvSpPr>
        <p:spPr>
          <a:xfrm>
            <a:off x="594360" y="2487168"/>
            <a:ext cx="457200" cy="457200"/>
          </a:xfrm>
          <a:prstGeom prst="ellipse">
            <a:avLst/>
          </a:prstGeom>
          <a:solidFill>
            <a:srgbClr val="0891B2"/>
          </a:solidFill>
          <a:ln/>
        </p:spPr>
        <p:txBody>
          <a:bodyPr/>
          <a:lstStyle/>
          <a:p>
            <a:endParaRPr lang="en-US"/>
          </a:p>
        </p:txBody>
      </p:sp>
      <p:sp>
        <p:nvSpPr>
          <p:cNvPr id="16" name="Text 14"/>
          <p:cNvSpPr/>
          <p:nvPr/>
        </p:nvSpPr>
        <p:spPr>
          <a:xfrm>
            <a:off x="594360" y="2487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txBody>
          <a:bodyPr/>
          <a:lstStyle/>
          <a:p>
            <a:endParaRPr lang="en-US"/>
          </a:p>
        </p:txBody>
      </p:sp>
      <p:sp>
        <p:nvSpPr>
          <p:cNvPr id="23" name="Shape 21"/>
          <p:cNvSpPr/>
          <p:nvPr/>
        </p:nvSpPr>
        <p:spPr>
          <a:xfrm>
            <a:off x="594360" y="3328416"/>
            <a:ext cx="457200" cy="457200"/>
          </a:xfrm>
          <a:prstGeom prst="ellipse">
            <a:avLst/>
          </a:prstGeom>
          <a:solidFill>
            <a:srgbClr val="0891B2"/>
          </a:solidFill>
          <a:ln/>
        </p:spPr>
        <p:txBody>
          <a:bodyPr/>
          <a:lstStyle/>
          <a:p>
            <a:endParaRPr lang="en-US"/>
          </a:p>
        </p:txBody>
      </p:sp>
      <p:sp>
        <p:nvSpPr>
          <p:cNvPr id="24" name="Text 22"/>
          <p:cNvSpPr/>
          <p:nvPr/>
        </p:nvSpPr>
        <p:spPr>
          <a:xfrm>
            <a:off x="594360" y="3328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txBody>
          <a:bodyPr/>
          <a:lstStyle/>
          <a:p>
            <a:endParaRPr lang="en-US"/>
          </a:p>
        </p:txBody>
      </p:sp>
      <p:sp>
        <p:nvSpPr>
          <p:cNvPr id="31" name="Shape 29"/>
          <p:cNvSpPr/>
          <p:nvPr/>
        </p:nvSpPr>
        <p:spPr>
          <a:xfrm>
            <a:off x="594360" y="4169664"/>
            <a:ext cx="457200" cy="457200"/>
          </a:xfrm>
          <a:prstGeom prst="ellipse">
            <a:avLst/>
          </a:prstGeom>
          <a:solidFill>
            <a:srgbClr val="0891B2"/>
          </a:solidFill>
          <a:ln/>
        </p:spPr>
        <p:txBody>
          <a:bodyPr/>
          <a:lstStyle/>
          <a:p>
            <a:endParaRPr lang="en-US"/>
          </a:p>
        </p:txBody>
      </p:sp>
      <p:sp>
        <p:nvSpPr>
          <p:cNvPr id="32" name="Text 30"/>
          <p:cNvSpPr/>
          <p:nvPr/>
        </p:nvSpPr>
        <p:spPr>
          <a:xfrm>
            <a:off x="59436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594360" y="5010912"/>
            <a:ext cx="457200" cy="457200"/>
          </a:xfrm>
          <a:prstGeom prst="ellipse">
            <a:avLst/>
          </a:prstGeom>
          <a:solidFill>
            <a:srgbClr val="0891B2"/>
          </a:solidFill>
          <a:ln/>
        </p:spPr>
        <p:txBody>
          <a:bodyPr/>
          <a:lstStyle/>
          <a:p>
            <a:endParaRPr lang="en-US"/>
          </a:p>
        </p:txBody>
      </p:sp>
      <p:sp>
        <p:nvSpPr>
          <p:cNvPr id="40" name="Text 38"/>
          <p:cNvSpPr/>
          <p:nvPr/>
        </p:nvSpPr>
        <p:spPr>
          <a:xfrm>
            <a:off x="594360" y="50109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txBody>
          <a:bodyPr/>
          <a:lstStyle/>
          <a:p>
            <a:endParaRPr lang="en-US"/>
          </a:p>
        </p:txBody>
      </p:sp>
      <p:sp>
        <p:nvSpPr>
          <p:cNvPr id="47" name="Text 45"/>
          <p:cNvSpPr/>
          <p:nvPr/>
        </p:nvSpPr>
        <p:spPr>
          <a:xfrm>
            <a:off x="640080" y="5852160"/>
            <a:ext cx="13716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457200" y="1783080"/>
            <a:ext cx="1828800" cy="274320"/>
          </a:xfrm>
          <a:prstGeom prst="rect">
            <a:avLst/>
          </a:prstGeom>
          <a:solidFill>
            <a:srgbClr val="0891B2"/>
          </a:solidFill>
          <a:ln/>
        </p:spPr>
        <p:txBody>
          <a:bodyPr/>
          <a:lstStyle/>
          <a:p>
            <a:endParaRPr lang="en-US"/>
          </a:p>
        </p:txBody>
      </p:sp>
      <p:sp>
        <p:nvSpPr>
          <p:cNvPr id="9" name="Text 7"/>
          <p:cNvSpPr/>
          <p:nvPr/>
        </p:nvSpPr>
        <p:spPr>
          <a:xfrm>
            <a:off x="50292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2" name="Shape 10"/>
          <p:cNvSpPr/>
          <p:nvPr/>
        </p:nvSpPr>
        <p:spPr>
          <a:xfrm>
            <a:off x="2350008" y="1783080"/>
            <a:ext cx="1828800" cy="274320"/>
          </a:xfrm>
          <a:prstGeom prst="rect">
            <a:avLst/>
          </a:prstGeom>
          <a:solidFill>
            <a:srgbClr val="0891B2"/>
          </a:solidFill>
          <a:ln/>
        </p:spPr>
        <p:txBody>
          <a:bodyPr/>
          <a:lstStyle/>
          <a:p>
            <a:endParaRPr lang="en-US"/>
          </a:p>
        </p:txBody>
      </p:sp>
      <p:sp>
        <p:nvSpPr>
          <p:cNvPr id="13" name="Text 11"/>
          <p:cNvSpPr/>
          <p:nvPr/>
        </p:nvSpPr>
        <p:spPr>
          <a:xfrm>
            <a:off x="2395728"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6" name="Shape 14"/>
          <p:cNvSpPr/>
          <p:nvPr/>
        </p:nvSpPr>
        <p:spPr>
          <a:xfrm>
            <a:off x="4242816" y="1783080"/>
            <a:ext cx="1828800" cy="274320"/>
          </a:xfrm>
          <a:prstGeom prst="rect">
            <a:avLst/>
          </a:prstGeom>
          <a:solidFill>
            <a:srgbClr val="0891B2"/>
          </a:solidFill>
          <a:ln/>
        </p:spPr>
        <p:txBody>
          <a:bodyPr/>
          <a:lstStyle/>
          <a:p>
            <a:endParaRPr lang="en-US"/>
          </a:p>
        </p:txBody>
      </p:sp>
      <p:sp>
        <p:nvSpPr>
          <p:cNvPr id="17" name="Text 15"/>
          <p:cNvSpPr/>
          <p:nvPr/>
        </p:nvSpPr>
        <p:spPr>
          <a:xfrm>
            <a:off x="4288536"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0" name="Shape 18"/>
          <p:cNvSpPr/>
          <p:nvPr/>
        </p:nvSpPr>
        <p:spPr>
          <a:xfrm>
            <a:off x="6135624" y="1783080"/>
            <a:ext cx="1828800" cy="274320"/>
          </a:xfrm>
          <a:prstGeom prst="rect">
            <a:avLst/>
          </a:prstGeom>
          <a:solidFill>
            <a:srgbClr val="0891B2"/>
          </a:solidFill>
          <a:ln/>
        </p:spPr>
        <p:txBody>
          <a:bodyPr/>
          <a:lstStyle/>
          <a:p>
            <a:endParaRPr lang="en-US"/>
          </a:p>
        </p:txBody>
      </p:sp>
      <p:sp>
        <p:nvSpPr>
          <p:cNvPr id="21" name="Text 19"/>
          <p:cNvSpPr/>
          <p:nvPr/>
        </p:nvSpPr>
        <p:spPr>
          <a:xfrm>
            <a:off x="6181344"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4" name="Shape 22"/>
          <p:cNvSpPr/>
          <p:nvPr/>
        </p:nvSpPr>
        <p:spPr>
          <a:xfrm>
            <a:off x="8028432" y="1783080"/>
            <a:ext cx="1828800" cy="274320"/>
          </a:xfrm>
          <a:prstGeom prst="rect">
            <a:avLst/>
          </a:prstGeom>
          <a:solidFill>
            <a:srgbClr val="0891B2"/>
          </a:solidFill>
          <a:ln/>
        </p:spPr>
        <p:txBody>
          <a:bodyPr/>
          <a:lstStyle/>
          <a:p>
            <a:endParaRPr lang="en-US"/>
          </a:p>
        </p:txBody>
      </p:sp>
      <p:sp>
        <p:nvSpPr>
          <p:cNvPr id="25" name="Text 23"/>
          <p:cNvSpPr/>
          <p:nvPr/>
        </p:nvSpPr>
        <p:spPr>
          <a:xfrm>
            <a:off x="8074152"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9921240" y="1783080"/>
            <a:ext cx="1828800" cy="274320"/>
          </a:xfrm>
          <a:prstGeom prst="rect">
            <a:avLst/>
          </a:prstGeom>
          <a:solidFill>
            <a:srgbClr val="0891B2"/>
          </a:solidFill>
          <a:ln/>
        </p:spPr>
        <p:txBody>
          <a:bodyPr/>
          <a:lstStyle/>
          <a:p>
            <a:endParaRPr lang="en-US"/>
          </a:p>
        </p:txBody>
      </p:sp>
      <p:sp>
        <p:nvSpPr>
          <p:cNvPr id="29" name="Text 27"/>
          <p:cNvSpPr/>
          <p:nvPr/>
        </p:nvSpPr>
        <p:spPr>
          <a:xfrm>
            <a:off x="996696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3" name="Shape 31"/>
          <p:cNvSpPr/>
          <p:nvPr/>
        </p:nvSpPr>
        <p:spPr>
          <a:xfrm>
            <a:off x="457200" y="3611880"/>
            <a:ext cx="2103120" cy="365760"/>
          </a:xfrm>
          <a:prstGeom prst="rect">
            <a:avLst/>
          </a:prstGeom>
          <a:solidFill>
            <a:srgbClr val="0B1F3A"/>
          </a:solidFill>
          <a:ln/>
        </p:spPr>
        <p:txBody>
          <a:bodyPr/>
          <a:lstStyle/>
          <a:p>
            <a:endParaRPr lang="en-US"/>
          </a:p>
        </p:txBody>
      </p:sp>
      <p:sp>
        <p:nvSpPr>
          <p:cNvPr id="34" name="Text 32"/>
          <p:cNvSpPr/>
          <p:nvPr/>
        </p:nvSpPr>
        <p:spPr>
          <a:xfrm>
            <a:off x="548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txBody>
          <a:bodyPr/>
          <a:lstStyle/>
          <a:p>
            <a:endParaRPr lang="en-US"/>
          </a:p>
        </p:txBody>
      </p:sp>
      <p:sp>
        <p:nvSpPr>
          <p:cNvPr id="36" name="Text 34"/>
          <p:cNvSpPr/>
          <p:nvPr/>
        </p:nvSpPr>
        <p:spPr>
          <a:xfrm>
            <a:off x="594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2743200" y="3611880"/>
            <a:ext cx="2103120" cy="365760"/>
          </a:xfrm>
          <a:prstGeom prst="rect">
            <a:avLst/>
          </a:prstGeom>
          <a:solidFill>
            <a:srgbClr val="0B1F3A"/>
          </a:solidFill>
          <a:ln/>
        </p:spPr>
        <p:txBody>
          <a:bodyPr/>
          <a:lstStyle/>
          <a:p>
            <a:endParaRPr lang="en-US"/>
          </a:p>
        </p:txBody>
      </p:sp>
      <p:sp>
        <p:nvSpPr>
          <p:cNvPr id="40" name="Text 38"/>
          <p:cNvSpPr/>
          <p:nvPr/>
        </p:nvSpPr>
        <p:spPr>
          <a:xfrm>
            <a:off x="2834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txBody>
          <a:bodyPr/>
          <a:lstStyle/>
          <a:p>
            <a:endParaRPr lang="en-US"/>
          </a:p>
        </p:txBody>
      </p:sp>
      <p:sp>
        <p:nvSpPr>
          <p:cNvPr id="42" name="Text 40"/>
          <p:cNvSpPr/>
          <p:nvPr/>
        </p:nvSpPr>
        <p:spPr>
          <a:xfrm>
            <a:off x="2880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45" name="Shape 43"/>
          <p:cNvSpPr/>
          <p:nvPr/>
        </p:nvSpPr>
        <p:spPr>
          <a:xfrm>
            <a:off x="5029200" y="3611880"/>
            <a:ext cx="2103120" cy="365760"/>
          </a:xfrm>
          <a:prstGeom prst="rect">
            <a:avLst/>
          </a:prstGeom>
          <a:solidFill>
            <a:srgbClr val="0B1F3A"/>
          </a:solidFill>
          <a:ln/>
        </p:spPr>
        <p:txBody>
          <a:bodyPr/>
          <a:lstStyle/>
          <a:p>
            <a:endParaRPr lang="en-US"/>
          </a:p>
        </p:txBody>
      </p:sp>
      <p:sp>
        <p:nvSpPr>
          <p:cNvPr id="46" name="Text 44"/>
          <p:cNvSpPr/>
          <p:nvPr/>
        </p:nvSpPr>
        <p:spPr>
          <a:xfrm>
            <a:off x="5120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txBody>
          <a:bodyPr/>
          <a:lstStyle/>
          <a:p>
            <a:endParaRPr lang="en-US"/>
          </a:p>
        </p:txBody>
      </p:sp>
      <p:sp>
        <p:nvSpPr>
          <p:cNvPr id="48" name="Text 46"/>
          <p:cNvSpPr/>
          <p:nvPr/>
        </p:nvSpPr>
        <p:spPr>
          <a:xfrm>
            <a:off x="5166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1" name="Shape 49"/>
          <p:cNvSpPr/>
          <p:nvPr/>
        </p:nvSpPr>
        <p:spPr>
          <a:xfrm>
            <a:off x="7315200" y="3611880"/>
            <a:ext cx="2103120" cy="365760"/>
          </a:xfrm>
          <a:prstGeom prst="rect">
            <a:avLst/>
          </a:prstGeom>
          <a:solidFill>
            <a:srgbClr val="0B1F3A"/>
          </a:solidFill>
          <a:ln/>
        </p:spPr>
        <p:txBody>
          <a:bodyPr/>
          <a:lstStyle/>
          <a:p>
            <a:endParaRPr lang="en-US"/>
          </a:p>
        </p:txBody>
      </p:sp>
      <p:sp>
        <p:nvSpPr>
          <p:cNvPr id="52" name="Text 50"/>
          <p:cNvSpPr/>
          <p:nvPr/>
        </p:nvSpPr>
        <p:spPr>
          <a:xfrm>
            <a:off x="7406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txBody>
          <a:bodyPr/>
          <a:lstStyle/>
          <a:p>
            <a:endParaRPr lang="en-US"/>
          </a:p>
        </p:txBody>
      </p:sp>
      <p:sp>
        <p:nvSpPr>
          <p:cNvPr id="54" name="Text 52"/>
          <p:cNvSpPr/>
          <p:nvPr/>
        </p:nvSpPr>
        <p:spPr>
          <a:xfrm>
            <a:off x="7452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7" name="Shape 55"/>
          <p:cNvSpPr/>
          <p:nvPr/>
        </p:nvSpPr>
        <p:spPr>
          <a:xfrm>
            <a:off x="9601200" y="3611880"/>
            <a:ext cx="2103120" cy="365760"/>
          </a:xfrm>
          <a:prstGeom prst="rect">
            <a:avLst/>
          </a:prstGeom>
          <a:solidFill>
            <a:srgbClr val="0B1F3A"/>
          </a:solidFill>
          <a:ln/>
        </p:spPr>
        <p:txBody>
          <a:bodyPr/>
          <a:lstStyle/>
          <a:p>
            <a:endParaRPr lang="en-US"/>
          </a:p>
        </p:txBody>
      </p:sp>
      <p:sp>
        <p:nvSpPr>
          <p:cNvPr id="58" name="Text 56"/>
          <p:cNvSpPr/>
          <p:nvPr/>
        </p:nvSpPr>
        <p:spPr>
          <a:xfrm>
            <a:off x="9692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txBody>
          <a:bodyPr/>
          <a:lstStyle/>
          <a:p>
            <a:endParaRPr lang="en-US"/>
          </a:p>
        </p:txBody>
      </p:sp>
      <p:sp>
        <p:nvSpPr>
          <p:cNvPr id="60" name="Text 58"/>
          <p:cNvSpPr/>
          <p:nvPr/>
        </p:nvSpPr>
        <p:spPr>
          <a:xfrm>
            <a:off x="9738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txBody>
          <a:bodyPr/>
          <a:lstStyle/>
          <a:p>
            <a:endParaRPr lang="en-US"/>
          </a:p>
        </p:txBody>
      </p:sp>
      <p:sp>
        <p:nvSpPr>
          <p:cNvPr id="63" name="Text 61"/>
          <p:cNvSpPr/>
          <p:nvPr/>
        </p:nvSpPr>
        <p:spPr>
          <a:xfrm>
            <a:off x="640080" y="6400800"/>
            <a:ext cx="10972800" cy="36576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txBody>
          <a:bodyPr/>
          <a:lstStyle/>
          <a:p>
            <a:endParaRPr lang="en-US"/>
          </a:p>
        </p:txBody>
      </p:sp>
      <p:sp>
        <p:nvSpPr>
          <p:cNvPr id="7" name="Text 5"/>
          <p:cNvSpPr/>
          <p:nvPr/>
        </p:nvSpPr>
        <p:spPr>
          <a:xfrm>
            <a:off x="640080" y="1417320"/>
            <a:ext cx="10972800" cy="502920"/>
          </a:xfrm>
          <a:prstGeom prst="rect">
            <a:avLst/>
          </a:prstGeom>
          <a:noFill/>
          <a:ln/>
        </p:spPr>
        <p:txBody>
          <a:bodyPr wrap="square" lIns="0" tIns="0" rIns="0" bIns="0" rtlCol="0" anchor="ctr"/>
          <a:lstStyle/>
          <a:p>
            <a:pPr marL="0" indent="0" algn="ctr">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nvGraphicFramePr>
        <p:xfrm>
          <a:off x="457200" y="2103120"/>
          <a:ext cx="11247120" cy="3538728"/>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319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9" name="Shape 6"/>
          <p:cNvSpPr/>
          <p:nvPr/>
        </p:nvSpPr>
        <p:spPr>
          <a:xfrm>
            <a:off x="457200" y="6080760"/>
            <a:ext cx="11247120" cy="548640"/>
          </a:xfrm>
          <a:prstGeom prst="rect">
            <a:avLst/>
          </a:prstGeom>
          <a:solidFill>
            <a:srgbClr val="0B1F3A"/>
          </a:solidFill>
          <a:ln/>
        </p:spPr>
        <p:txBody>
          <a:bodyPr/>
          <a:lstStyle/>
          <a:p>
            <a:endParaRPr lang="en-US"/>
          </a:p>
        </p:txBody>
      </p:sp>
      <p:sp>
        <p:nvSpPr>
          <p:cNvPr id="10" name="Text 7"/>
          <p:cNvSpPr/>
          <p:nvPr/>
        </p:nvSpPr>
        <p:spPr>
          <a:xfrm>
            <a:off x="640080" y="6080760"/>
            <a:ext cx="10972800" cy="5486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417320"/>
            <a:ext cx="5486400" cy="457200"/>
          </a:xfrm>
          <a:prstGeom prst="rect">
            <a:avLst/>
          </a:prstGeom>
          <a:solidFill>
            <a:srgbClr val="0B1F3A"/>
          </a:solidFill>
          <a:ln/>
        </p:spPr>
        <p:txBody>
          <a:bodyPr/>
          <a:lstStyle/>
          <a:p>
            <a:endParaRPr lang="en-US"/>
          </a:p>
        </p:txBody>
      </p:sp>
      <p:sp>
        <p:nvSpPr>
          <p:cNvPr id="8" name="Text 6"/>
          <p:cNvSpPr/>
          <p:nvPr/>
        </p:nvSpPr>
        <p:spPr>
          <a:xfrm>
            <a:off x="64008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marL="0" indent="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marL="0" indent="0">
              <a:buNone/>
            </a:pPr>
            <a:r>
              <a:rPr lang="en-US" sz="1100" b="1" kern="0" spc="30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marL="0" indent="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marL="0" indent="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txBody>
          <a:bodyPr/>
          <a:lstStyle/>
          <a:p>
            <a:endParaRPr lang="en-US"/>
          </a:p>
        </p:txBody>
      </p:sp>
      <p:sp>
        <p:nvSpPr>
          <p:cNvPr id="26" name="Text 24"/>
          <p:cNvSpPr/>
          <p:nvPr/>
        </p:nvSpPr>
        <p:spPr>
          <a:xfrm>
            <a:off x="777240" y="5394960"/>
            <a:ext cx="4846320" cy="777240"/>
          </a:xfrm>
          <a:prstGeom prst="rect">
            <a:avLst/>
          </a:prstGeom>
          <a:noFill/>
          <a:ln/>
        </p:spPr>
        <p:txBody>
          <a:bodyPr wrap="square" lIns="0" tIns="0" rIns="0" bIns="0" rtlCol="0" anchor="t"/>
          <a:lstStyle/>
          <a:p>
            <a:pPr marL="0" indent="0">
              <a:buNone/>
            </a:pPr>
            <a:r>
              <a:rPr lang="en-US" sz="950" b="1" dirty="0">
                <a:solidFill>
                  <a:srgbClr val="F26B1F"/>
                </a:solidFill>
                <a:latin typeface="Calibri" pitchFamily="34" charset="0"/>
                <a:ea typeface="Calibri" pitchFamily="34" charset="-122"/>
                <a:cs typeface="Calibri" pitchFamily="34" charset="-120"/>
              </a:rPr>
              <a:t>Drift direction:  </a:t>
            </a: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MITRE:  </a:t>
            </a: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Action:  </a:t>
            </a: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217920" y="1417320"/>
            <a:ext cx="5486400" cy="457200"/>
          </a:xfrm>
          <a:prstGeom prst="rect">
            <a:avLst/>
          </a:prstGeom>
          <a:solidFill>
            <a:srgbClr val="0B1F3A"/>
          </a:solidFill>
          <a:ln/>
        </p:spPr>
        <p:txBody>
          <a:bodyPr/>
          <a:lstStyle/>
          <a:p>
            <a:endParaRPr lang="en-US"/>
          </a:p>
        </p:txBody>
      </p:sp>
      <p:sp>
        <p:nvSpPr>
          <p:cNvPr id="29" name="Text 27"/>
          <p:cNvSpPr/>
          <p:nvPr/>
        </p:nvSpPr>
        <p:spPr>
          <a:xfrm>
            <a:off x="640080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txBody>
          <a:bodyPr/>
          <a:lstStyle/>
          <a:p>
            <a:endParaRPr lang="en-US"/>
          </a:p>
        </p:txBody>
      </p:sp>
      <p:sp>
        <p:nvSpPr>
          <p:cNvPr id="31" name="Shape 29"/>
          <p:cNvSpPr/>
          <p:nvPr/>
        </p:nvSpPr>
        <p:spPr>
          <a:xfrm>
            <a:off x="6400800" y="2011680"/>
            <a:ext cx="868680" cy="777240"/>
          </a:xfrm>
          <a:prstGeom prst="rect">
            <a:avLst/>
          </a:prstGeom>
          <a:solidFill>
            <a:srgbClr val="C0392B"/>
          </a:solidFill>
          <a:ln/>
        </p:spPr>
        <p:txBody>
          <a:bodyPr/>
          <a:lstStyle/>
          <a:p>
            <a:endParaRPr lang="en-US"/>
          </a:p>
        </p:txBody>
      </p:sp>
      <p:sp>
        <p:nvSpPr>
          <p:cNvPr id="32" name="Text 30"/>
          <p:cNvSpPr/>
          <p:nvPr/>
        </p:nvSpPr>
        <p:spPr>
          <a:xfrm>
            <a:off x="6400800" y="2011680"/>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txBody>
          <a:bodyPr/>
          <a:lstStyle/>
          <a:p>
            <a:endParaRPr lang="en-US"/>
          </a:p>
        </p:txBody>
      </p:sp>
      <p:sp>
        <p:nvSpPr>
          <p:cNvPr id="37" name="Shape 35"/>
          <p:cNvSpPr/>
          <p:nvPr/>
        </p:nvSpPr>
        <p:spPr>
          <a:xfrm>
            <a:off x="6400800" y="2862072"/>
            <a:ext cx="868680" cy="777240"/>
          </a:xfrm>
          <a:prstGeom prst="rect">
            <a:avLst/>
          </a:prstGeom>
          <a:solidFill>
            <a:srgbClr val="E67E22"/>
          </a:solidFill>
          <a:ln/>
        </p:spPr>
        <p:txBody>
          <a:bodyPr/>
          <a:lstStyle/>
          <a:p>
            <a:endParaRPr lang="en-US"/>
          </a:p>
        </p:txBody>
      </p:sp>
      <p:sp>
        <p:nvSpPr>
          <p:cNvPr id="38" name="Text 36"/>
          <p:cNvSpPr/>
          <p:nvPr/>
        </p:nvSpPr>
        <p:spPr>
          <a:xfrm>
            <a:off x="6400800" y="2862072"/>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txBody>
          <a:bodyPr/>
          <a:lstStyle/>
          <a:p>
            <a:endParaRPr lang="en-US"/>
          </a:p>
        </p:txBody>
      </p:sp>
      <p:sp>
        <p:nvSpPr>
          <p:cNvPr id="43" name="Shape 41"/>
          <p:cNvSpPr/>
          <p:nvPr/>
        </p:nvSpPr>
        <p:spPr>
          <a:xfrm>
            <a:off x="6400800" y="3712464"/>
            <a:ext cx="868680" cy="777240"/>
          </a:xfrm>
          <a:prstGeom prst="rect">
            <a:avLst/>
          </a:prstGeom>
          <a:solidFill>
            <a:srgbClr val="F4B400"/>
          </a:solidFill>
          <a:ln/>
        </p:spPr>
        <p:txBody>
          <a:bodyPr/>
          <a:lstStyle/>
          <a:p>
            <a:endParaRPr lang="en-US"/>
          </a:p>
        </p:txBody>
      </p:sp>
      <p:sp>
        <p:nvSpPr>
          <p:cNvPr id="44" name="Text 42"/>
          <p:cNvSpPr/>
          <p:nvPr/>
        </p:nvSpPr>
        <p:spPr>
          <a:xfrm>
            <a:off x="6400800" y="3712464"/>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txBody>
          <a:bodyPr/>
          <a:lstStyle/>
          <a:p>
            <a:endParaRPr lang="en-US"/>
          </a:p>
        </p:txBody>
      </p:sp>
      <p:sp>
        <p:nvSpPr>
          <p:cNvPr id="49" name="Shape 47"/>
          <p:cNvSpPr/>
          <p:nvPr/>
        </p:nvSpPr>
        <p:spPr>
          <a:xfrm>
            <a:off x="6400800" y="4562856"/>
            <a:ext cx="868680" cy="777240"/>
          </a:xfrm>
          <a:prstGeom prst="rect">
            <a:avLst/>
          </a:prstGeom>
          <a:solidFill>
            <a:srgbClr val="5DADE2"/>
          </a:solidFill>
          <a:ln/>
        </p:spPr>
        <p:txBody>
          <a:bodyPr/>
          <a:lstStyle/>
          <a:p>
            <a:endParaRPr lang="en-US"/>
          </a:p>
        </p:txBody>
      </p:sp>
      <p:sp>
        <p:nvSpPr>
          <p:cNvPr id="50" name="Text 48"/>
          <p:cNvSpPr/>
          <p:nvPr/>
        </p:nvSpPr>
        <p:spPr>
          <a:xfrm>
            <a:off x="6400800" y="4562856"/>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txBody>
          <a:bodyPr/>
          <a:lstStyle/>
          <a:p>
            <a:endParaRPr lang="en-US"/>
          </a:p>
        </p:txBody>
      </p:sp>
      <p:sp>
        <p:nvSpPr>
          <p:cNvPr id="55" name="Shape 53"/>
          <p:cNvSpPr/>
          <p:nvPr/>
        </p:nvSpPr>
        <p:spPr>
          <a:xfrm>
            <a:off x="6400800" y="5413248"/>
            <a:ext cx="868680" cy="777240"/>
          </a:xfrm>
          <a:prstGeom prst="rect">
            <a:avLst/>
          </a:prstGeom>
          <a:solidFill>
            <a:srgbClr val="5A6878"/>
          </a:solidFill>
          <a:ln/>
        </p:spPr>
        <p:txBody>
          <a:bodyPr/>
          <a:lstStyle/>
          <a:p>
            <a:endParaRPr lang="en-US"/>
          </a:p>
        </p:txBody>
      </p:sp>
      <p:sp>
        <p:nvSpPr>
          <p:cNvPr id="56" name="Text 54"/>
          <p:cNvSpPr/>
          <p:nvPr/>
        </p:nvSpPr>
        <p:spPr>
          <a:xfrm>
            <a:off x="6400800" y="5413248"/>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548640" y="1874520"/>
            <a:ext cx="411480" cy="411480"/>
          </a:xfrm>
          <a:prstGeom prst="ellipse">
            <a:avLst/>
          </a:prstGeom>
          <a:solidFill>
            <a:srgbClr val="0891B2"/>
          </a:solidFill>
          <a:ln/>
        </p:spPr>
        <p:txBody>
          <a:bodyPr/>
          <a:lstStyle/>
          <a:p>
            <a:endParaRPr lang="en-US"/>
          </a:p>
        </p:txBody>
      </p:sp>
      <p:sp>
        <p:nvSpPr>
          <p:cNvPr id="9" name="Text 7"/>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3" name="Shape 11"/>
          <p:cNvSpPr/>
          <p:nvPr/>
        </p:nvSpPr>
        <p:spPr>
          <a:xfrm>
            <a:off x="2441448" y="1874520"/>
            <a:ext cx="411480" cy="411480"/>
          </a:xfrm>
          <a:prstGeom prst="ellipse">
            <a:avLst/>
          </a:prstGeom>
          <a:solidFill>
            <a:srgbClr val="0891B2"/>
          </a:solidFill>
          <a:ln/>
        </p:spPr>
        <p:txBody>
          <a:bodyPr/>
          <a:lstStyle/>
          <a:p>
            <a:endParaRPr lang="en-US"/>
          </a:p>
        </p:txBody>
      </p:sp>
      <p:sp>
        <p:nvSpPr>
          <p:cNvPr id="14" name="Text 12"/>
          <p:cNvSpPr/>
          <p:nvPr/>
        </p:nvSpPr>
        <p:spPr>
          <a:xfrm>
            <a:off x="2441448"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8" name="Shape 16"/>
          <p:cNvSpPr/>
          <p:nvPr/>
        </p:nvSpPr>
        <p:spPr>
          <a:xfrm>
            <a:off x="4334256" y="1874520"/>
            <a:ext cx="411480" cy="411480"/>
          </a:xfrm>
          <a:prstGeom prst="ellipse">
            <a:avLst/>
          </a:prstGeom>
          <a:solidFill>
            <a:srgbClr val="0891B2"/>
          </a:solidFill>
          <a:ln/>
        </p:spPr>
        <p:txBody>
          <a:bodyPr/>
          <a:lstStyle/>
          <a:p>
            <a:endParaRPr lang="en-US"/>
          </a:p>
        </p:txBody>
      </p:sp>
      <p:sp>
        <p:nvSpPr>
          <p:cNvPr id="19" name="Text 17"/>
          <p:cNvSpPr/>
          <p:nvPr/>
        </p:nvSpPr>
        <p:spPr>
          <a:xfrm>
            <a:off x="4334256"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3" name="Shape 21"/>
          <p:cNvSpPr/>
          <p:nvPr/>
        </p:nvSpPr>
        <p:spPr>
          <a:xfrm>
            <a:off x="6227064" y="1874520"/>
            <a:ext cx="411480" cy="411480"/>
          </a:xfrm>
          <a:prstGeom prst="ellipse">
            <a:avLst/>
          </a:prstGeom>
          <a:solidFill>
            <a:srgbClr val="0891B2"/>
          </a:solidFill>
          <a:ln/>
        </p:spPr>
        <p:txBody>
          <a:bodyPr/>
          <a:lstStyle/>
          <a:p>
            <a:endParaRPr lang="en-US"/>
          </a:p>
        </p:txBody>
      </p:sp>
      <p:sp>
        <p:nvSpPr>
          <p:cNvPr id="24" name="Text 22"/>
          <p:cNvSpPr/>
          <p:nvPr/>
        </p:nvSpPr>
        <p:spPr>
          <a:xfrm>
            <a:off x="6227064"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8119872" y="1874520"/>
            <a:ext cx="411480" cy="411480"/>
          </a:xfrm>
          <a:prstGeom prst="ellipse">
            <a:avLst/>
          </a:prstGeom>
          <a:solidFill>
            <a:srgbClr val="0891B2"/>
          </a:solidFill>
          <a:ln/>
        </p:spPr>
        <p:txBody>
          <a:bodyPr/>
          <a:lstStyle/>
          <a:p>
            <a:endParaRPr lang="en-US"/>
          </a:p>
        </p:txBody>
      </p:sp>
      <p:sp>
        <p:nvSpPr>
          <p:cNvPr id="29" name="Text 27"/>
          <p:cNvSpPr/>
          <p:nvPr/>
        </p:nvSpPr>
        <p:spPr>
          <a:xfrm>
            <a:off x="8119872"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33" name="Shape 31"/>
          <p:cNvSpPr/>
          <p:nvPr/>
        </p:nvSpPr>
        <p:spPr>
          <a:xfrm>
            <a:off x="10012680" y="1874520"/>
            <a:ext cx="411480" cy="411480"/>
          </a:xfrm>
          <a:prstGeom prst="ellipse">
            <a:avLst/>
          </a:prstGeom>
          <a:solidFill>
            <a:srgbClr val="0891B2"/>
          </a:solidFill>
          <a:ln/>
        </p:spPr>
        <p:txBody>
          <a:bodyPr/>
          <a:lstStyle/>
          <a:p>
            <a:endParaRPr lang="en-US"/>
          </a:p>
        </p:txBody>
      </p:sp>
      <p:sp>
        <p:nvSpPr>
          <p:cNvPr id="34" name="Text 32"/>
          <p:cNvSpPr/>
          <p:nvPr/>
        </p:nvSpPr>
        <p:spPr>
          <a:xfrm>
            <a:off x="1001268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457200" y="3520440"/>
            <a:ext cx="2811780" cy="502920"/>
          </a:xfrm>
          <a:prstGeom prst="rect">
            <a:avLst/>
          </a:prstGeom>
          <a:solidFill>
            <a:srgbClr val="2E7D32"/>
          </a:solidFill>
          <a:ln/>
        </p:spPr>
        <p:txBody>
          <a:bodyPr/>
          <a:lstStyle/>
          <a:p>
            <a:endParaRPr lang="en-US"/>
          </a:p>
        </p:txBody>
      </p:sp>
      <p:sp>
        <p:nvSpPr>
          <p:cNvPr id="40" name="Text 38"/>
          <p:cNvSpPr/>
          <p:nvPr/>
        </p:nvSpPr>
        <p:spPr>
          <a:xfrm>
            <a:off x="45720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46" name="Shape 44"/>
          <p:cNvSpPr/>
          <p:nvPr/>
        </p:nvSpPr>
        <p:spPr>
          <a:xfrm>
            <a:off x="3383280" y="3520440"/>
            <a:ext cx="2811780" cy="502920"/>
          </a:xfrm>
          <a:prstGeom prst="rect">
            <a:avLst/>
          </a:prstGeom>
          <a:solidFill>
            <a:srgbClr val="F4B400"/>
          </a:solidFill>
          <a:ln/>
        </p:spPr>
        <p:txBody>
          <a:bodyPr/>
          <a:lstStyle/>
          <a:p>
            <a:endParaRPr lang="en-US"/>
          </a:p>
        </p:txBody>
      </p:sp>
      <p:sp>
        <p:nvSpPr>
          <p:cNvPr id="47" name="Text 45"/>
          <p:cNvSpPr/>
          <p:nvPr/>
        </p:nvSpPr>
        <p:spPr>
          <a:xfrm>
            <a:off x="338328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53" name="Shape 51"/>
          <p:cNvSpPr/>
          <p:nvPr/>
        </p:nvSpPr>
        <p:spPr>
          <a:xfrm>
            <a:off x="6309360" y="3520440"/>
            <a:ext cx="2811780" cy="502920"/>
          </a:xfrm>
          <a:prstGeom prst="rect">
            <a:avLst/>
          </a:prstGeom>
          <a:solidFill>
            <a:srgbClr val="E67E22"/>
          </a:solidFill>
          <a:ln/>
        </p:spPr>
        <p:txBody>
          <a:bodyPr/>
          <a:lstStyle/>
          <a:p>
            <a:endParaRPr lang="en-US"/>
          </a:p>
        </p:txBody>
      </p:sp>
      <p:sp>
        <p:nvSpPr>
          <p:cNvPr id="54" name="Text 52"/>
          <p:cNvSpPr/>
          <p:nvPr/>
        </p:nvSpPr>
        <p:spPr>
          <a:xfrm>
            <a:off x="630936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60" name="Shape 58"/>
          <p:cNvSpPr/>
          <p:nvPr/>
        </p:nvSpPr>
        <p:spPr>
          <a:xfrm>
            <a:off x="9235440" y="3520440"/>
            <a:ext cx="2811780" cy="502920"/>
          </a:xfrm>
          <a:prstGeom prst="rect">
            <a:avLst/>
          </a:prstGeom>
          <a:solidFill>
            <a:srgbClr val="C0392B"/>
          </a:solidFill>
          <a:ln/>
        </p:spPr>
        <p:txBody>
          <a:bodyPr/>
          <a:lstStyle/>
          <a:p>
            <a:endParaRPr lang="en-US"/>
          </a:p>
        </p:txBody>
      </p:sp>
      <p:sp>
        <p:nvSpPr>
          <p:cNvPr id="61" name="Text 59"/>
          <p:cNvSpPr/>
          <p:nvPr/>
        </p:nvSpPr>
        <p:spPr>
          <a:xfrm>
            <a:off x="923544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txBody>
          <a:bodyPr/>
          <a:lstStyle/>
          <a:p>
            <a:endParaRPr lang="en-US"/>
          </a:p>
        </p:txBody>
      </p:sp>
      <p:sp>
        <p:nvSpPr>
          <p:cNvPr id="67" name="Text 65"/>
          <p:cNvSpPr/>
          <p:nvPr/>
        </p:nvSpPr>
        <p:spPr>
          <a:xfrm>
            <a:off x="640080" y="6263640"/>
            <a:ext cx="10972800" cy="4572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22nd Century Technologies: Company Overview</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66616" y="824169"/>
            <a:ext cx="9601200" cy="320040"/>
          </a:xfrm>
          <a:prstGeom prst="rect">
            <a:avLst/>
          </a:prstGeom>
          <a:noFill/>
        </p:spPr>
        <p:txBody>
          <a:bodyPr wrap="square" anchor="t">
            <a:spAutoFit/>
          </a:bodyPr>
          <a:lstStyle/>
          <a:p>
            <a:pPr algn="l">
              <a:defRPr sz="1200" b="0">
                <a:solidFill>
                  <a:srgbClr val="1B4F72"/>
                </a:solidFill>
                <a:latin typeface="Segoe UI"/>
              </a:defRPr>
            </a:pPr>
            <a:r>
              <a:t>Connecting &amp; Serving Government &amp; Citizens since 1997.</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17</a:t>
            </a:r>
          </a:p>
        </p:txBody>
      </p:sp>
      <p:pic>
        <p:nvPicPr>
          <p:cNvPr id="8" name="Picture 7" descr="slide3_Picture_2.png"/>
          <p:cNvPicPr>
            <a:picLocks noChangeAspect="1"/>
          </p:cNvPicPr>
          <p:nvPr/>
        </p:nvPicPr>
        <p:blipFill>
          <a:blip r:embed="rId2"/>
          <a:stretch>
            <a:fillRect/>
          </a:stretch>
        </p:blipFill>
        <p:spPr>
          <a:xfrm>
            <a:off x="457200" y="1188720"/>
            <a:ext cx="5943600" cy="2560320"/>
          </a:xfrm>
          <a:prstGeom prst="rect">
            <a:avLst/>
          </a:prstGeom>
        </p:spPr>
      </p:pic>
      <p:pic>
        <p:nvPicPr>
          <p:cNvPr id="9" name="Picture 8" descr="slide4_Picture_3.png"/>
          <p:cNvPicPr>
            <a:picLocks noChangeAspect="1"/>
          </p:cNvPicPr>
          <p:nvPr/>
        </p:nvPicPr>
        <p:blipFill>
          <a:blip r:embed="rId3"/>
          <a:stretch>
            <a:fillRect/>
          </a:stretch>
        </p:blipFill>
        <p:spPr>
          <a:xfrm>
            <a:off x="6400800" y="1188720"/>
            <a:ext cx="5303520" cy="2560320"/>
          </a:xfrm>
          <a:prstGeom prst="rect">
            <a:avLst/>
          </a:prstGeom>
        </p:spPr>
      </p:pic>
      <p:sp>
        <p:nvSpPr>
          <p:cNvPr id="10" name="Rounded Rectangle 9"/>
          <p:cNvSpPr/>
          <p:nvPr/>
        </p:nvSpPr>
        <p:spPr>
          <a:xfrm>
            <a:off x="457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3931920"/>
            <a:ext cx="2103120" cy="36576"/>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4023360"/>
            <a:ext cx="2011680" cy="320040"/>
          </a:xfrm>
          <a:prstGeom prst="rect">
            <a:avLst/>
          </a:prstGeom>
          <a:noFill/>
        </p:spPr>
        <p:txBody>
          <a:bodyPr wrap="square" anchor="t">
            <a:spAutoFit/>
          </a:bodyPr>
          <a:lstStyle/>
          <a:p>
            <a:pPr algn="ctr">
              <a:defRPr sz="1400" b="1">
                <a:solidFill>
                  <a:srgbClr val="1B4F72"/>
                </a:solidFill>
                <a:latin typeface="Segoe UI"/>
              </a:defRPr>
            </a:pPr>
            <a:r>
              <a:t>$750M+</a:t>
            </a:r>
          </a:p>
        </p:txBody>
      </p:sp>
      <p:sp>
        <p:nvSpPr>
          <p:cNvPr id="13" name="TextBox 12"/>
          <p:cNvSpPr txBox="1"/>
          <p:nvPr/>
        </p:nvSpPr>
        <p:spPr>
          <a:xfrm>
            <a:off x="502920" y="4389120"/>
            <a:ext cx="2011680" cy="228600"/>
          </a:xfrm>
          <a:prstGeom prst="rect">
            <a:avLst/>
          </a:prstGeom>
          <a:noFill/>
        </p:spPr>
        <p:txBody>
          <a:bodyPr wrap="square" anchor="t">
            <a:spAutoFit/>
          </a:bodyPr>
          <a:lstStyle/>
          <a:p>
            <a:pPr algn="ctr">
              <a:defRPr sz="800" b="0">
                <a:solidFill>
                  <a:srgbClr val="2C3E50"/>
                </a:solidFill>
                <a:latin typeface="Segoe UI"/>
              </a:defRPr>
            </a:pPr>
            <a:r>
              <a:t>Revenue</a:t>
            </a:r>
          </a:p>
        </p:txBody>
      </p:sp>
      <p:sp>
        <p:nvSpPr>
          <p:cNvPr id="14" name="Rounded Rectangle 13"/>
          <p:cNvSpPr/>
          <p:nvPr/>
        </p:nvSpPr>
        <p:spPr>
          <a:xfrm>
            <a:off x="2743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0" y="3931920"/>
            <a:ext cx="2103120" cy="36576"/>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88920" y="4023360"/>
            <a:ext cx="2011680" cy="320040"/>
          </a:xfrm>
          <a:prstGeom prst="rect">
            <a:avLst/>
          </a:prstGeom>
          <a:noFill/>
        </p:spPr>
        <p:txBody>
          <a:bodyPr wrap="square" anchor="t">
            <a:spAutoFit/>
          </a:bodyPr>
          <a:lstStyle/>
          <a:p>
            <a:pPr algn="ctr">
              <a:defRPr sz="1400" b="1">
                <a:solidFill>
                  <a:srgbClr val="0E6B8A"/>
                </a:solidFill>
                <a:latin typeface="Segoe UI"/>
              </a:defRPr>
            </a:pPr>
            <a:r>
              <a:t>$1B+</a:t>
            </a:r>
          </a:p>
        </p:txBody>
      </p:sp>
      <p:sp>
        <p:nvSpPr>
          <p:cNvPr id="17" name="TextBox 16"/>
          <p:cNvSpPr txBox="1"/>
          <p:nvPr/>
        </p:nvSpPr>
        <p:spPr>
          <a:xfrm>
            <a:off x="2788920" y="4389120"/>
            <a:ext cx="2011680" cy="228600"/>
          </a:xfrm>
          <a:prstGeom prst="rect">
            <a:avLst/>
          </a:prstGeom>
          <a:noFill/>
        </p:spPr>
        <p:txBody>
          <a:bodyPr wrap="square" anchor="t">
            <a:spAutoFit/>
          </a:bodyPr>
          <a:lstStyle/>
          <a:p>
            <a:pPr algn="ctr">
              <a:defRPr sz="800" b="0">
                <a:solidFill>
                  <a:srgbClr val="2C3E50"/>
                </a:solidFill>
                <a:latin typeface="Segoe UI"/>
              </a:defRPr>
            </a:pPr>
            <a:r>
              <a:t>Award Value</a:t>
            </a:r>
          </a:p>
        </p:txBody>
      </p:sp>
      <p:sp>
        <p:nvSpPr>
          <p:cNvPr id="18" name="Rounded Rectangle 17"/>
          <p:cNvSpPr/>
          <p:nvPr/>
        </p:nvSpPr>
        <p:spPr>
          <a:xfrm>
            <a:off x="5029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0" y="3931920"/>
            <a:ext cx="2103120" cy="3657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74920" y="4023360"/>
            <a:ext cx="2011680" cy="320040"/>
          </a:xfrm>
          <a:prstGeom prst="rect">
            <a:avLst/>
          </a:prstGeom>
          <a:noFill/>
        </p:spPr>
        <p:txBody>
          <a:bodyPr wrap="square" anchor="t">
            <a:spAutoFit/>
          </a:bodyPr>
          <a:lstStyle/>
          <a:p>
            <a:pPr algn="ctr">
              <a:defRPr sz="1400" b="1">
                <a:solidFill>
                  <a:srgbClr val="B7950B"/>
                </a:solidFill>
                <a:latin typeface="Segoe UI"/>
              </a:defRPr>
            </a:pPr>
            <a:r>
              <a:t>7,500+</a:t>
            </a:r>
          </a:p>
        </p:txBody>
      </p:sp>
      <p:sp>
        <p:nvSpPr>
          <p:cNvPr id="21" name="TextBox 20"/>
          <p:cNvSpPr txBox="1"/>
          <p:nvPr/>
        </p:nvSpPr>
        <p:spPr>
          <a:xfrm>
            <a:off x="5074920" y="4389120"/>
            <a:ext cx="2011680" cy="228600"/>
          </a:xfrm>
          <a:prstGeom prst="rect">
            <a:avLst/>
          </a:prstGeom>
          <a:noFill/>
        </p:spPr>
        <p:txBody>
          <a:bodyPr wrap="square" anchor="t">
            <a:spAutoFit/>
          </a:bodyPr>
          <a:lstStyle/>
          <a:p>
            <a:pPr algn="ctr">
              <a:defRPr sz="800" b="0">
                <a:solidFill>
                  <a:srgbClr val="2C3E50"/>
                </a:solidFill>
                <a:latin typeface="Segoe UI"/>
              </a:defRPr>
            </a:pPr>
            <a:r>
              <a:t>Total FTEs</a:t>
            </a:r>
          </a:p>
        </p:txBody>
      </p:sp>
      <p:sp>
        <p:nvSpPr>
          <p:cNvPr id="22" name="Rounded Rectangle 21"/>
          <p:cNvSpPr/>
          <p:nvPr/>
        </p:nvSpPr>
        <p:spPr>
          <a:xfrm>
            <a:off x="7315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0" y="3931920"/>
            <a:ext cx="2103120" cy="36576"/>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60920" y="4023360"/>
            <a:ext cx="2011680" cy="320040"/>
          </a:xfrm>
          <a:prstGeom prst="rect">
            <a:avLst/>
          </a:prstGeom>
          <a:noFill/>
        </p:spPr>
        <p:txBody>
          <a:bodyPr wrap="square" anchor="t">
            <a:spAutoFit/>
          </a:bodyPr>
          <a:lstStyle/>
          <a:p>
            <a:pPr algn="ctr">
              <a:defRPr sz="1400" b="1">
                <a:solidFill>
                  <a:srgbClr val="0D1B2A"/>
                </a:solidFill>
                <a:latin typeface="Segoe UI"/>
              </a:defRPr>
            </a:pPr>
            <a:r>
              <a:t>800+</a:t>
            </a:r>
          </a:p>
        </p:txBody>
      </p:sp>
      <p:sp>
        <p:nvSpPr>
          <p:cNvPr id="25" name="TextBox 24"/>
          <p:cNvSpPr txBox="1"/>
          <p:nvPr/>
        </p:nvSpPr>
        <p:spPr>
          <a:xfrm>
            <a:off x="7360920" y="4389120"/>
            <a:ext cx="2011680" cy="228600"/>
          </a:xfrm>
          <a:prstGeom prst="rect">
            <a:avLst/>
          </a:prstGeom>
          <a:noFill/>
        </p:spPr>
        <p:txBody>
          <a:bodyPr wrap="square" anchor="t">
            <a:spAutoFit/>
          </a:bodyPr>
          <a:lstStyle/>
          <a:p>
            <a:pPr algn="ctr">
              <a:defRPr sz="800" b="0">
                <a:solidFill>
                  <a:srgbClr val="2C3E50"/>
                </a:solidFill>
                <a:latin typeface="Segoe UI"/>
              </a:defRPr>
            </a:pPr>
            <a:r>
              <a:t>Cleared Cyber Analysts</a:t>
            </a:r>
          </a:p>
        </p:txBody>
      </p:sp>
      <p:sp>
        <p:nvSpPr>
          <p:cNvPr id="26" name="Rounded Rectangle 25"/>
          <p:cNvSpPr/>
          <p:nvPr/>
        </p:nvSpPr>
        <p:spPr>
          <a:xfrm>
            <a:off x="9601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601200" y="3931920"/>
            <a:ext cx="210312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46920" y="4023360"/>
            <a:ext cx="2011680" cy="320040"/>
          </a:xfrm>
          <a:prstGeom prst="rect">
            <a:avLst/>
          </a:prstGeom>
          <a:noFill/>
        </p:spPr>
        <p:txBody>
          <a:bodyPr wrap="square" anchor="t">
            <a:spAutoFit/>
          </a:bodyPr>
          <a:lstStyle/>
          <a:p>
            <a:pPr algn="ctr">
              <a:defRPr sz="1400" b="1">
                <a:solidFill>
                  <a:srgbClr val="C0392B"/>
                </a:solidFill>
                <a:latin typeface="Segoe UI"/>
              </a:defRPr>
            </a:pPr>
            <a:r>
              <a:t>IL5/IL6/JWICS</a:t>
            </a:r>
          </a:p>
        </p:txBody>
      </p:sp>
      <p:sp>
        <p:nvSpPr>
          <p:cNvPr id="29" name="TextBox 28"/>
          <p:cNvSpPr txBox="1"/>
          <p:nvPr/>
        </p:nvSpPr>
        <p:spPr>
          <a:xfrm>
            <a:off x="9646920" y="4389120"/>
            <a:ext cx="2011680" cy="228600"/>
          </a:xfrm>
          <a:prstGeom prst="rect">
            <a:avLst/>
          </a:prstGeom>
          <a:noFill/>
        </p:spPr>
        <p:txBody>
          <a:bodyPr wrap="square" anchor="t">
            <a:spAutoFit/>
          </a:bodyPr>
          <a:lstStyle/>
          <a:p>
            <a:pPr algn="ctr">
              <a:defRPr sz="800" b="0">
                <a:solidFill>
                  <a:srgbClr val="2C3E50"/>
                </a:solidFill>
                <a:latin typeface="Segoe UI"/>
              </a:defRPr>
            </a:pPr>
            <a:r>
              <a:t>Three Enclaves</a:t>
            </a:r>
          </a:p>
        </p:txBody>
      </p:sp>
      <p:sp>
        <p:nvSpPr>
          <p:cNvPr id="30" name="Rounded Rectangle 29"/>
          <p:cNvSpPr/>
          <p:nvPr/>
        </p:nvSpPr>
        <p:spPr>
          <a:xfrm>
            <a:off x="457200" y="4892040"/>
            <a:ext cx="5486400" cy="128016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937760"/>
            <a:ext cx="5120640" cy="1188720"/>
          </a:xfrm>
          <a:prstGeom prst="rect">
            <a:avLst/>
          </a:prstGeom>
          <a:noFill/>
        </p:spPr>
        <p:txBody>
          <a:bodyPr wrap="square" anchor="t">
            <a:spAutoFit/>
          </a:bodyPr>
          <a:lstStyle/>
          <a:p>
            <a:pPr algn="l">
              <a:defRPr sz="1000" b="1">
                <a:solidFill>
                  <a:srgbClr val="0D1B2A"/>
                </a:solidFill>
                <a:latin typeface="Segoe UI"/>
              </a:defRPr>
            </a:pPr>
            <a:r>
              <a:t>Key Contracts:</a:t>
            </a:r>
          </a:p>
          <a:p>
            <a:pPr>
              <a:spcBef>
                <a:spcPts val="300"/>
              </a:spcBef>
              <a:defRPr sz="900" b="0">
                <a:solidFill>
                  <a:srgbClr val="2C3E50"/>
                </a:solidFill>
                <a:latin typeface="Segoe UI"/>
              </a:defRPr>
            </a:pPr>
            <a:r>
              <a:t>•  U.S. Army SOC/MDR — $90M (800+ cleared analysts)</a:t>
            </a:r>
          </a:p>
          <a:p>
            <a:pPr>
              <a:spcBef>
                <a:spcPts val="300"/>
              </a:spcBef>
              <a:defRPr sz="900" b="0">
                <a:solidFill>
                  <a:srgbClr val="2C3E50"/>
                </a:solidFill>
                <a:latin typeface="Segoe UI"/>
              </a:defRPr>
            </a:pPr>
            <a:r>
              <a:t>•  USAF Cybersecurity Operations — $108M</a:t>
            </a:r>
          </a:p>
          <a:p>
            <a:pPr>
              <a:spcBef>
                <a:spcPts val="300"/>
              </a:spcBef>
              <a:defRPr sz="900" b="0">
                <a:solidFill>
                  <a:srgbClr val="2C3E50"/>
                </a:solidFill>
                <a:latin typeface="Segoe UI"/>
              </a:defRPr>
            </a:pPr>
            <a:r>
              <a:t>•  FBI TSC — $56M  •  NAVAIR/USMC — $145M</a:t>
            </a:r>
          </a:p>
          <a:p>
            <a:pPr>
              <a:spcBef>
                <a:spcPts val="300"/>
              </a:spcBef>
              <a:defRPr sz="900" b="0">
                <a:solidFill>
                  <a:srgbClr val="2C3E50"/>
                </a:solidFill>
                <a:latin typeface="Segoe UI"/>
              </a:defRPr>
            </a:pPr>
            <a:r>
              <a:t>•  14/15 Cabinet Agencies  •  300+ Federal  •  50+ Cyber</a:t>
            </a:r>
          </a:p>
        </p:txBody>
      </p:sp>
      <p:sp>
        <p:nvSpPr>
          <p:cNvPr id="32" name="Rounded Rectangle 31"/>
          <p:cNvSpPr/>
          <p:nvPr/>
        </p:nvSpPr>
        <p:spPr>
          <a:xfrm>
            <a:off x="6126480" y="4892040"/>
            <a:ext cx="5486400" cy="128016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0" y="4937760"/>
            <a:ext cx="5120640" cy="1188720"/>
          </a:xfrm>
          <a:prstGeom prst="rect">
            <a:avLst/>
          </a:prstGeom>
          <a:noFill/>
        </p:spPr>
        <p:txBody>
          <a:bodyPr wrap="square" anchor="t">
            <a:spAutoFit/>
          </a:bodyPr>
          <a:lstStyle/>
          <a:p>
            <a:pPr algn="l">
              <a:defRPr sz="1000" b="1">
                <a:solidFill>
                  <a:srgbClr val="0D1B2A"/>
                </a:solidFill>
                <a:latin typeface="Segoe UI"/>
              </a:defRPr>
            </a:pPr>
            <a:r>
              <a:t>Compliance &amp; Certifications:</a:t>
            </a:r>
          </a:p>
          <a:p>
            <a:pPr>
              <a:spcBef>
                <a:spcPts val="300"/>
              </a:spcBef>
              <a:defRPr sz="900" b="0">
                <a:solidFill>
                  <a:srgbClr val="2C3E50"/>
                </a:solidFill>
                <a:latin typeface="Segoe UI"/>
              </a:defRPr>
            </a:pPr>
            <a:r>
              <a:t>•  DoD Zero Trust RA: Pillars 4 &amp; 7  •  NIST 800-53/207</a:t>
            </a:r>
          </a:p>
          <a:p>
            <a:pPr>
              <a:spcBef>
                <a:spcPts val="300"/>
              </a:spcBef>
              <a:defRPr sz="900" b="0">
                <a:solidFill>
                  <a:srgbClr val="2C3E50"/>
                </a:solidFill>
                <a:latin typeface="Segoe UI"/>
              </a:defRPr>
            </a:pPr>
            <a:r>
              <a:t>•  cATO pathway  •  Iron Bank certified  •  eMASS/RMF</a:t>
            </a:r>
          </a:p>
          <a:p>
            <a:pPr>
              <a:spcBef>
                <a:spcPts val="300"/>
              </a:spcBef>
              <a:defRPr sz="900" b="0">
                <a:solidFill>
                  <a:srgbClr val="2C3E50"/>
                </a:solidFill>
                <a:latin typeface="Segoe UI"/>
              </a:defRPr>
            </a:pPr>
            <a:r>
              <a:t>•  ISO 9001 | 27001 | 28000 | 20000 | 17025 | 14001</a:t>
            </a:r>
          </a:p>
          <a:p>
            <a:pPr>
              <a:spcBef>
                <a:spcPts val="300"/>
              </a:spcBef>
              <a:defRPr sz="900" b="0">
                <a:solidFill>
                  <a:srgbClr val="2C3E50"/>
                </a:solidFill>
                <a:latin typeface="Segoe UI"/>
              </a:defRPr>
            </a:pPr>
            <a:r>
              <a:t>•  GSA MAS | CIO-SP3 | SEWP V  •  CMMI Level 3</a:t>
            </a:r>
          </a:p>
        </p:txBody>
      </p:sp>
      <p:sp>
        <p:nvSpPr>
          <p:cNvPr id="34" name="Rounded Rectangle 33"/>
          <p:cNvSpPr/>
          <p:nvPr/>
        </p:nvSpPr>
        <p:spPr>
          <a:xfrm>
            <a:off x="457200" y="6263640"/>
            <a:ext cx="11247120" cy="2286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6281928"/>
            <a:ext cx="10789920" cy="182880"/>
          </a:xfrm>
          <a:prstGeom prst="rect">
            <a:avLst/>
          </a:prstGeom>
          <a:noFill/>
        </p:spPr>
        <p:txBody>
          <a:bodyPr wrap="square" anchor="t">
            <a:spAutoFit/>
          </a:bodyPr>
          <a:lstStyle/>
          <a:p>
            <a:pPr algn="ctr">
              <a:defRPr sz="800" b="1">
                <a:solidFill>
                  <a:srgbClr val="0D1B2A"/>
                </a:solidFill>
                <a:latin typeface="Segoe UI"/>
              </a:defRPr>
            </a:pPr>
            <a:r>
              <a:t>America's Best Midsize Employer  •  Top 15 Country for Tech People  •  Inc. 5000  •  CRN Top 10 Cyber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Implementation Phases &amp; Roadmap</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OTA-ready. 90-day prototype timeline aligns with Army Continuous Transformation (AD 24-02) cadence.</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14</a:t>
            </a:r>
          </a:p>
        </p:txBody>
      </p:sp>
      <p:sp>
        <p:nvSpPr>
          <p:cNvPr id="8" name="Rounded Rectangle 7"/>
          <p:cNvSpPr/>
          <p:nvPr/>
        </p:nvSpPr>
        <p:spPr>
          <a:xfrm>
            <a:off x="548640" y="1280160"/>
            <a:ext cx="3566160" cy="23774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3566160" cy="4572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325880"/>
            <a:ext cx="3291840" cy="411480"/>
          </a:xfrm>
          <a:prstGeom prst="rect">
            <a:avLst/>
          </a:prstGeom>
          <a:noFill/>
        </p:spPr>
        <p:txBody>
          <a:bodyPr wrap="square" anchor="t">
            <a:spAutoFit/>
          </a:bodyPr>
          <a:lstStyle/>
          <a:p>
            <a:pPr algn="l">
              <a:defRPr sz="1000" b="1">
                <a:solidFill>
                  <a:srgbClr val="FFFFFF"/>
                </a:solidFill>
                <a:latin typeface="Segoe UI"/>
              </a:defRPr>
            </a:pPr>
            <a:r>
              <a:t>Phase 1: Foundation</a:t>
            </a:r>
            <a:br/>
            <a:r>
              <a:t>0–90 days</a:t>
            </a:r>
          </a:p>
        </p:txBody>
      </p:sp>
      <p:sp>
        <p:nvSpPr>
          <p:cNvPr id="11" name="TextBox 10"/>
          <p:cNvSpPr txBox="1"/>
          <p:nvPr/>
        </p:nvSpPr>
        <p:spPr>
          <a:xfrm>
            <a:off x="685800" y="1828800"/>
            <a:ext cx="3291840" cy="1371600"/>
          </a:xfrm>
          <a:prstGeom prst="rect">
            <a:avLst/>
          </a:prstGeom>
          <a:noFill/>
        </p:spPr>
        <p:txBody>
          <a:bodyPr wrap="square" anchor="t">
            <a:spAutoFit/>
          </a:bodyPr>
          <a:lstStyle/>
          <a:p>
            <a:pPr algn="l">
              <a:defRPr sz="1000" b="0">
                <a:solidFill>
                  <a:srgbClr val="2C3E50"/>
                </a:solidFill>
                <a:latin typeface="Segoe UI"/>
              </a:defRPr>
            </a:pPr>
            <a:endParaRPr/>
          </a:p>
          <a:p>
            <a:pPr>
              <a:spcBef>
                <a:spcPts val="400"/>
              </a:spcBef>
              <a:defRPr sz="1000" b="0">
                <a:solidFill>
                  <a:srgbClr val="2C3E50"/>
                </a:solidFill>
                <a:latin typeface="Segoe UI"/>
              </a:defRPr>
            </a:pPr>
            <a:r>
              <a:t>•  K8s provisioning</a:t>
            </a:r>
          </a:p>
          <a:p>
            <a:pPr>
              <a:spcBef>
                <a:spcPts val="400"/>
              </a:spcBef>
              <a:defRPr sz="1000" b="0">
                <a:solidFill>
                  <a:srgbClr val="2C3E50"/>
                </a:solidFill>
                <a:latin typeface="Segoe UI"/>
              </a:defRPr>
            </a:pPr>
            <a:r>
              <a:t>•  Data connectors (NGFW, IPS, IdP)</a:t>
            </a:r>
          </a:p>
          <a:p>
            <a:pPr>
              <a:spcBef>
                <a:spcPts val="400"/>
              </a:spcBef>
              <a:defRPr sz="1000" b="0">
                <a:solidFill>
                  <a:srgbClr val="2C3E50"/>
                </a:solidFill>
                <a:latin typeface="Segoe UI"/>
              </a:defRPr>
            </a:pPr>
            <a:r>
              <a:t>•  Baseline config + model build</a:t>
            </a:r>
          </a:p>
          <a:p>
            <a:pPr>
              <a:spcBef>
                <a:spcPts val="400"/>
              </a:spcBef>
              <a:defRPr sz="1000" b="0">
                <a:solidFill>
                  <a:srgbClr val="2C3E50"/>
                </a:solidFill>
                <a:latin typeface="Segoe UI"/>
              </a:defRPr>
            </a:pPr>
            <a:r>
              <a:t>•  First preemptive findings</a:t>
            </a:r>
          </a:p>
          <a:p>
            <a:pPr>
              <a:spcBef>
                <a:spcPts val="400"/>
              </a:spcBef>
              <a:defRPr sz="1000" b="0">
                <a:solidFill>
                  <a:srgbClr val="2C3E50"/>
                </a:solidFill>
                <a:latin typeface="Segoe UI"/>
              </a:defRPr>
            </a:pPr>
            <a:r>
              <a:t>•  Entity fusion pipeline</a:t>
            </a:r>
          </a:p>
        </p:txBody>
      </p:sp>
      <p:sp>
        <p:nvSpPr>
          <p:cNvPr id="12" name="Rounded Rectangle 11"/>
          <p:cNvSpPr/>
          <p:nvPr/>
        </p:nvSpPr>
        <p:spPr>
          <a:xfrm>
            <a:off x="640080" y="3246120"/>
            <a:ext cx="3383280" cy="32004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264408"/>
            <a:ext cx="3200400" cy="274320"/>
          </a:xfrm>
          <a:prstGeom prst="rect">
            <a:avLst/>
          </a:prstGeom>
          <a:noFill/>
        </p:spPr>
        <p:txBody>
          <a:bodyPr wrap="square" anchor="t">
            <a:spAutoFit/>
          </a:bodyPr>
          <a:lstStyle/>
          <a:p>
            <a:pPr algn="l">
              <a:defRPr sz="1000" b="1">
                <a:solidFill>
                  <a:srgbClr val="1B4F72"/>
                </a:solidFill>
                <a:latin typeface="Segoe UI"/>
              </a:defRPr>
            </a:pPr>
            <a:r>
              <a:t>→ First verified gap findings</a:t>
            </a:r>
          </a:p>
        </p:txBody>
      </p:sp>
      <p:sp>
        <p:nvSpPr>
          <p:cNvPr id="14" name="Rounded Rectangle 13"/>
          <p:cNvSpPr/>
          <p:nvPr/>
        </p:nvSpPr>
        <p:spPr>
          <a:xfrm>
            <a:off x="4297679" y="1280160"/>
            <a:ext cx="3566160" cy="23774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97679" y="1280160"/>
            <a:ext cx="3566160" cy="45720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39" y="1325880"/>
            <a:ext cx="3291840" cy="411480"/>
          </a:xfrm>
          <a:prstGeom prst="rect">
            <a:avLst/>
          </a:prstGeom>
          <a:noFill/>
        </p:spPr>
        <p:txBody>
          <a:bodyPr wrap="square" anchor="t">
            <a:spAutoFit/>
          </a:bodyPr>
          <a:lstStyle/>
          <a:p>
            <a:pPr algn="l">
              <a:defRPr sz="1000" b="1">
                <a:solidFill>
                  <a:srgbClr val="FFFFFF"/>
                </a:solidFill>
                <a:latin typeface="Segoe UI"/>
              </a:defRPr>
            </a:pPr>
            <a:r>
              <a:t>Phase 2: Operational</a:t>
            </a:r>
            <a:br/>
            <a:r>
              <a:t>90–180 days</a:t>
            </a:r>
          </a:p>
        </p:txBody>
      </p:sp>
      <p:sp>
        <p:nvSpPr>
          <p:cNvPr id="17" name="TextBox 16"/>
          <p:cNvSpPr txBox="1"/>
          <p:nvPr/>
        </p:nvSpPr>
        <p:spPr>
          <a:xfrm>
            <a:off x="4434839" y="1828800"/>
            <a:ext cx="3291840" cy="1371600"/>
          </a:xfrm>
          <a:prstGeom prst="rect">
            <a:avLst/>
          </a:prstGeom>
          <a:noFill/>
        </p:spPr>
        <p:txBody>
          <a:bodyPr wrap="square" anchor="t">
            <a:spAutoFit/>
          </a:bodyPr>
          <a:lstStyle/>
          <a:p>
            <a:pPr algn="l">
              <a:defRPr sz="1000" b="0">
                <a:solidFill>
                  <a:srgbClr val="2C3E50"/>
                </a:solidFill>
                <a:latin typeface="Segoe UI"/>
              </a:defRPr>
            </a:pPr>
            <a:endParaRPr/>
          </a:p>
          <a:p>
            <a:pPr>
              <a:spcBef>
                <a:spcPts val="400"/>
              </a:spcBef>
              <a:defRPr sz="1000" b="0">
                <a:solidFill>
                  <a:srgbClr val="2C3E50"/>
                </a:solidFill>
                <a:latin typeface="Segoe UI"/>
              </a:defRPr>
            </a:pPr>
            <a:r>
              <a:t>•  Behavioral baselines</a:t>
            </a:r>
          </a:p>
          <a:p>
            <a:pPr>
              <a:spcBef>
                <a:spcPts val="400"/>
              </a:spcBef>
              <a:defRPr sz="1000" b="0">
                <a:solidFill>
                  <a:srgbClr val="2C3E50"/>
                </a:solidFill>
                <a:latin typeface="Segoe UI"/>
              </a:defRPr>
            </a:pPr>
            <a:r>
              <a:t>•  Change-point detection active</a:t>
            </a:r>
          </a:p>
          <a:p>
            <a:pPr>
              <a:spcBef>
                <a:spcPts val="400"/>
              </a:spcBef>
              <a:defRPr sz="1000" b="0">
                <a:solidFill>
                  <a:srgbClr val="2C3E50"/>
                </a:solidFill>
                <a:latin typeface="Segoe UI"/>
              </a:defRPr>
            </a:pPr>
            <a:r>
              <a:t>•  SOC integration (SNOW/JIRA/SOAR)</a:t>
            </a:r>
          </a:p>
          <a:p>
            <a:pPr>
              <a:spcBef>
                <a:spcPts val="400"/>
              </a:spcBef>
              <a:defRPr sz="1000" b="0">
                <a:solidFill>
                  <a:srgbClr val="2C3E50"/>
                </a:solidFill>
                <a:latin typeface="Segoe UI"/>
              </a:defRPr>
            </a:pPr>
            <a:r>
              <a:t>•  Continuous re-verification</a:t>
            </a:r>
          </a:p>
          <a:p>
            <a:pPr>
              <a:spcBef>
                <a:spcPts val="400"/>
              </a:spcBef>
              <a:defRPr sz="1000" b="0">
                <a:solidFill>
                  <a:srgbClr val="2C3E50"/>
                </a:solidFill>
                <a:latin typeface="Segoe UI"/>
              </a:defRPr>
            </a:pPr>
            <a:r>
              <a:t>•  ABAC trust scoring</a:t>
            </a:r>
          </a:p>
        </p:txBody>
      </p:sp>
      <p:sp>
        <p:nvSpPr>
          <p:cNvPr id="18" name="Rounded Rectangle 17"/>
          <p:cNvSpPr/>
          <p:nvPr/>
        </p:nvSpPr>
        <p:spPr>
          <a:xfrm>
            <a:off x="4389119" y="3246120"/>
            <a:ext cx="3383280" cy="32004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34839" y="3264408"/>
            <a:ext cx="3200400" cy="274320"/>
          </a:xfrm>
          <a:prstGeom prst="rect">
            <a:avLst/>
          </a:prstGeom>
          <a:noFill/>
        </p:spPr>
        <p:txBody>
          <a:bodyPr wrap="square" anchor="t">
            <a:spAutoFit/>
          </a:bodyPr>
          <a:lstStyle/>
          <a:p>
            <a:pPr algn="l">
              <a:defRPr sz="1000" b="1">
                <a:solidFill>
                  <a:srgbClr val="1B4F72"/>
                </a:solidFill>
                <a:latin typeface="Segoe UI"/>
              </a:defRPr>
            </a:pPr>
            <a:r>
              <a:t>→ Full two-layer detection</a:t>
            </a:r>
          </a:p>
        </p:txBody>
      </p:sp>
      <p:sp>
        <p:nvSpPr>
          <p:cNvPr id="20" name="Rounded Rectangle 19"/>
          <p:cNvSpPr/>
          <p:nvPr/>
        </p:nvSpPr>
        <p:spPr>
          <a:xfrm>
            <a:off x="8046718" y="1280160"/>
            <a:ext cx="3566160" cy="23774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18" y="1280160"/>
            <a:ext cx="3566160" cy="4572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78" y="1325880"/>
            <a:ext cx="3291840" cy="411480"/>
          </a:xfrm>
          <a:prstGeom prst="rect">
            <a:avLst/>
          </a:prstGeom>
          <a:noFill/>
        </p:spPr>
        <p:txBody>
          <a:bodyPr wrap="square" anchor="t">
            <a:spAutoFit/>
          </a:bodyPr>
          <a:lstStyle/>
          <a:p>
            <a:pPr algn="l">
              <a:defRPr sz="1000" b="1">
                <a:solidFill>
                  <a:srgbClr val="FFFFFF"/>
                </a:solidFill>
                <a:latin typeface="Segoe UI"/>
              </a:defRPr>
            </a:pPr>
            <a:r>
              <a:t>Phase 3: Optimization</a:t>
            </a:r>
            <a:br/>
            <a:r>
              <a:t>180–270 days</a:t>
            </a:r>
          </a:p>
        </p:txBody>
      </p:sp>
      <p:sp>
        <p:nvSpPr>
          <p:cNvPr id="23" name="TextBox 22"/>
          <p:cNvSpPr txBox="1"/>
          <p:nvPr/>
        </p:nvSpPr>
        <p:spPr>
          <a:xfrm>
            <a:off x="8183878" y="1828800"/>
            <a:ext cx="3291840" cy="1371600"/>
          </a:xfrm>
          <a:prstGeom prst="rect">
            <a:avLst/>
          </a:prstGeom>
          <a:noFill/>
        </p:spPr>
        <p:txBody>
          <a:bodyPr wrap="square" anchor="t">
            <a:spAutoFit/>
          </a:bodyPr>
          <a:lstStyle/>
          <a:p>
            <a:pPr algn="l">
              <a:defRPr sz="1000" b="0">
                <a:solidFill>
                  <a:srgbClr val="2C3E50"/>
                </a:solidFill>
                <a:latin typeface="Segoe UI"/>
              </a:defRPr>
            </a:pPr>
            <a:endParaRPr/>
          </a:p>
          <a:p>
            <a:pPr>
              <a:spcBef>
                <a:spcPts val="400"/>
              </a:spcBef>
              <a:defRPr sz="1000" b="0">
                <a:solidFill>
                  <a:srgbClr val="2C3E50"/>
                </a:solidFill>
                <a:latin typeface="Segoe UI"/>
              </a:defRPr>
            </a:pPr>
            <a:r>
              <a:t>•  Kill-chain reconstruction</a:t>
            </a:r>
          </a:p>
          <a:p>
            <a:pPr>
              <a:spcBef>
                <a:spcPts val="400"/>
              </a:spcBef>
              <a:defRPr sz="1000" b="0">
                <a:solidFill>
                  <a:srgbClr val="2C3E50"/>
                </a:solidFill>
                <a:latin typeface="Segoe UI"/>
              </a:defRPr>
            </a:pPr>
            <a:r>
              <a:t>•  Cohort tuning</a:t>
            </a:r>
          </a:p>
          <a:p>
            <a:pPr>
              <a:spcBef>
                <a:spcPts val="400"/>
              </a:spcBef>
              <a:defRPr sz="1000" b="0">
                <a:solidFill>
                  <a:srgbClr val="2C3E50"/>
                </a:solidFill>
                <a:latin typeface="Segoe UI"/>
              </a:defRPr>
            </a:pPr>
            <a:r>
              <a:t>•  Additional vendors</a:t>
            </a:r>
          </a:p>
          <a:p>
            <a:pPr>
              <a:spcBef>
                <a:spcPts val="400"/>
              </a:spcBef>
              <a:defRPr sz="1000" b="0">
                <a:solidFill>
                  <a:srgbClr val="2C3E50"/>
                </a:solidFill>
                <a:latin typeface="Segoe UI"/>
              </a:defRPr>
            </a:pPr>
            <a:r>
              <a:t>•  Compliance automation</a:t>
            </a:r>
          </a:p>
          <a:p>
            <a:pPr>
              <a:spcBef>
                <a:spcPts val="400"/>
              </a:spcBef>
              <a:defRPr sz="1000" b="0">
                <a:solidFill>
                  <a:srgbClr val="2C3E50"/>
                </a:solidFill>
                <a:latin typeface="Segoe UI"/>
              </a:defRPr>
            </a:pPr>
            <a:r>
              <a:t>•  SOC handoff</a:t>
            </a:r>
          </a:p>
        </p:txBody>
      </p:sp>
      <p:sp>
        <p:nvSpPr>
          <p:cNvPr id="24" name="Rounded Rectangle 23"/>
          <p:cNvSpPr/>
          <p:nvPr/>
        </p:nvSpPr>
        <p:spPr>
          <a:xfrm>
            <a:off x="8138158" y="3246120"/>
            <a:ext cx="3383280" cy="32004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83878" y="3264408"/>
            <a:ext cx="3200400" cy="274320"/>
          </a:xfrm>
          <a:prstGeom prst="rect">
            <a:avLst/>
          </a:prstGeom>
          <a:noFill/>
        </p:spPr>
        <p:txBody>
          <a:bodyPr wrap="square" anchor="t">
            <a:spAutoFit/>
          </a:bodyPr>
          <a:lstStyle/>
          <a:p>
            <a:pPr algn="l">
              <a:defRPr sz="1000" b="1">
                <a:solidFill>
                  <a:srgbClr val="1B4F72"/>
                </a:solidFill>
                <a:latin typeface="Segoe UI"/>
              </a:defRPr>
            </a:pPr>
            <a:r>
              <a:t>→ Full capability + cATO</a:t>
            </a:r>
          </a:p>
        </p:txBody>
      </p:sp>
      <p:sp>
        <p:nvSpPr>
          <p:cNvPr id="26" name="TextBox 25"/>
          <p:cNvSpPr txBox="1"/>
          <p:nvPr/>
        </p:nvSpPr>
        <p:spPr>
          <a:xfrm>
            <a:off x="548640" y="3794760"/>
            <a:ext cx="10972800" cy="274320"/>
          </a:xfrm>
          <a:prstGeom prst="rect">
            <a:avLst/>
          </a:prstGeom>
          <a:noFill/>
        </p:spPr>
        <p:txBody>
          <a:bodyPr wrap="square" anchor="t">
            <a:spAutoFit/>
          </a:bodyPr>
          <a:lstStyle/>
          <a:p>
            <a:pPr algn="l">
              <a:defRPr sz="1200" b="1">
                <a:solidFill>
                  <a:srgbClr val="0D1B2A"/>
                </a:solidFill>
                <a:latin typeface="Segoe UI"/>
              </a:defRPr>
            </a:pPr>
            <a:r>
              <a:t>Product Roadmap:</a:t>
            </a:r>
          </a:p>
        </p:txBody>
      </p:sp>
      <p:sp>
        <p:nvSpPr>
          <p:cNvPr id="27" name="Rounded Rectangle 26"/>
          <p:cNvSpPr/>
          <p:nvPr/>
        </p:nvSpPr>
        <p:spPr>
          <a:xfrm>
            <a:off x="548640" y="411480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4114800"/>
            <a:ext cx="54864" cy="4572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187952"/>
            <a:ext cx="2286000" cy="320040"/>
          </a:xfrm>
          <a:prstGeom prst="rect">
            <a:avLst/>
          </a:prstGeom>
          <a:noFill/>
        </p:spPr>
        <p:txBody>
          <a:bodyPr wrap="square" anchor="t">
            <a:spAutoFit/>
          </a:bodyPr>
          <a:lstStyle/>
          <a:p>
            <a:pPr algn="l">
              <a:defRPr sz="1000" b="1">
                <a:solidFill>
                  <a:srgbClr val="1B4F72"/>
                </a:solidFill>
                <a:latin typeface="Segoe UI"/>
              </a:defRPr>
            </a:pPr>
            <a:r>
              <a:t>Q2 2026 — Current</a:t>
            </a:r>
          </a:p>
        </p:txBody>
      </p:sp>
      <p:sp>
        <p:nvSpPr>
          <p:cNvPr id="30" name="TextBox 29"/>
          <p:cNvSpPr txBox="1"/>
          <p:nvPr/>
        </p:nvSpPr>
        <p:spPr>
          <a:xfrm>
            <a:off x="3200400" y="4206240"/>
            <a:ext cx="8229600" cy="320040"/>
          </a:xfrm>
          <a:prstGeom prst="rect">
            <a:avLst/>
          </a:prstGeom>
          <a:noFill/>
        </p:spPr>
        <p:txBody>
          <a:bodyPr wrap="square" anchor="t">
            <a:spAutoFit/>
          </a:bodyPr>
          <a:lstStyle/>
          <a:p>
            <a:pPr algn="l">
              <a:defRPr sz="1000" b="0">
                <a:solidFill>
                  <a:srgbClr val="2C3E50"/>
                </a:solidFill>
                <a:latin typeface="Segoe UI"/>
              </a:defRPr>
            </a:pPr>
            <a:r>
              <a:t>PAN/Fortinet/Cisco/CP NGFW • N-S verification • UEBA core (5 signals) • Entity fusion • IL5</a:t>
            </a:r>
          </a:p>
        </p:txBody>
      </p:sp>
      <p:sp>
        <p:nvSpPr>
          <p:cNvPr id="31" name="Rounded Rectangle 30"/>
          <p:cNvSpPr/>
          <p:nvPr/>
        </p:nvSpPr>
        <p:spPr>
          <a:xfrm>
            <a:off x="548640" y="461772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48640" y="4617720"/>
            <a:ext cx="54864" cy="45720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4690872"/>
            <a:ext cx="2286000" cy="320040"/>
          </a:xfrm>
          <a:prstGeom prst="rect">
            <a:avLst/>
          </a:prstGeom>
          <a:noFill/>
        </p:spPr>
        <p:txBody>
          <a:bodyPr wrap="square" anchor="t">
            <a:spAutoFit/>
          </a:bodyPr>
          <a:lstStyle/>
          <a:p>
            <a:pPr algn="l">
              <a:defRPr sz="1000" b="1">
                <a:solidFill>
                  <a:srgbClr val="0E6B8A"/>
                </a:solidFill>
                <a:latin typeface="Segoe UI"/>
              </a:defRPr>
            </a:pPr>
            <a:r>
              <a:t>Q3 2026 — Next</a:t>
            </a:r>
          </a:p>
        </p:txBody>
      </p:sp>
      <p:sp>
        <p:nvSpPr>
          <p:cNvPr id="34" name="TextBox 33"/>
          <p:cNvSpPr txBox="1"/>
          <p:nvPr/>
        </p:nvSpPr>
        <p:spPr>
          <a:xfrm>
            <a:off x="3200400" y="4709160"/>
            <a:ext cx="8229600" cy="320040"/>
          </a:xfrm>
          <a:prstGeom prst="rect">
            <a:avLst/>
          </a:prstGeom>
          <a:noFill/>
        </p:spPr>
        <p:txBody>
          <a:bodyPr wrap="square" anchor="t">
            <a:spAutoFit/>
          </a:bodyPr>
          <a:lstStyle/>
          <a:p>
            <a:pPr algn="l">
              <a:defRPr sz="1000" b="0">
                <a:solidFill>
                  <a:srgbClr val="2C3E50"/>
                </a:solidFill>
                <a:latin typeface="Segoe UI"/>
              </a:defRPr>
            </a:pPr>
            <a:r>
              <a:t>E-W micro-segmentation • SASE/SD-WAN • More identity sources • 140+ TTPs • IL6 certified</a:t>
            </a:r>
          </a:p>
        </p:txBody>
      </p:sp>
      <p:sp>
        <p:nvSpPr>
          <p:cNvPr id="35" name="Rounded Rectangle 34"/>
          <p:cNvSpPr/>
          <p:nvPr/>
        </p:nvSpPr>
        <p:spPr>
          <a:xfrm>
            <a:off x="548640" y="512064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48640" y="5120640"/>
            <a:ext cx="54864" cy="4572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 y="5193792"/>
            <a:ext cx="2286000" cy="320040"/>
          </a:xfrm>
          <a:prstGeom prst="rect">
            <a:avLst/>
          </a:prstGeom>
          <a:noFill/>
        </p:spPr>
        <p:txBody>
          <a:bodyPr wrap="square" anchor="t">
            <a:spAutoFit/>
          </a:bodyPr>
          <a:lstStyle/>
          <a:p>
            <a:pPr algn="l">
              <a:defRPr sz="1000" b="1">
                <a:solidFill>
                  <a:srgbClr val="B7950B"/>
                </a:solidFill>
                <a:latin typeface="Segoe UI"/>
              </a:defRPr>
            </a:pPr>
            <a:r>
              <a:t>Q4 2026 — Planned</a:t>
            </a:r>
          </a:p>
        </p:txBody>
      </p:sp>
      <p:sp>
        <p:nvSpPr>
          <p:cNvPr id="38" name="TextBox 37"/>
          <p:cNvSpPr txBox="1"/>
          <p:nvPr/>
        </p:nvSpPr>
        <p:spPr>
          <a:xfrm>
            <a:off x="3200400" y="5212080"/>
            <a:ext cx="8229600" cy="320040"/>
          </a:xfrm>
          <a:prstGeom prst="rect">
            <a:avLst/>
          </a:prstGeom>
          <a:noFill/>
        </p:spPr>
        <p:txBody>
          <a:bodyPr wrap="square" anchor="t">
            <a:spAutoFit/>
          </a:bodyPr>
          <a:lstStyle/>
          <a:p>
            <a:pPr algn="l">
              <a:defRPr sz="1000" b="0">
                <a:solidFill>
                  <a:srgbClr val="2C3E50"/>
                </a:solidFill>
                <a:latin typeface="Segoe UI"/>
              </a:defRPr>
            </a:pPr>
            <a:r>
              <a:t>Cloud posture (AWS/Azure/GCP) • WAF/API gateway • Auto-remediation • Kill-chain • JWICS</a:t>
            </a:r>
          </a:p>
        </p:txBody>
      </p:sp>
      <p:sp>
        <p:nvSpPr>
          <p:cNvPr id="39" name="Rounded Rectangle 38"/>
          <p:cNvSpPr/>
          <p:nvPr/>
        </p:nvSpPr>
        <p:spPr>
          <a:xfrm>
            <a:off x="548640" y="562356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48640" y="5623560"/>
            <a:ext cx="54864" cy="4572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 y="5696712"/>
            <a:ext cx="2286000" cy="320040"/>
          </a:xfrm>
          <a:prstGeom prst="rect">
            <a:avLst/>
          </a:prstGeom>
          <a:noFill/>
        </p:spPr>
        <p:txBody>
          <a:bodyPr wrap="square" anchor="t">
            <a:spAutoFit/>
          </a:bodyPr>
          <a:lstStyle/>
          <a:p>
            <a:pPr algn="l">
              <a:defRPr sz="1000" b="1">
                <a:solidFill>
                  <a:srgbClr val="0D1B2A"/>
                </a:solidFill>
                <a:latin typeface="Segoe UI"/>
              </a:defRPr>
            </a:pPr>
            <a:r>
              <a:t>2027 — Vision</a:t>
            </a:r>
          </a:p>
        </p:txBody>
      </p:sp>
      <p:sp>
        <p:nvSpPr>
          <p:cNvPr id="42" name="TextBox 41"/>
          <p:cNvSpPr txBox="1"/>
          <p:nvPr/>
        </p:nvSpPr>
        <p:spPr>
          <a:xfrm>
            <a:off x="3200400" y="5715000"/>
            <a:ext cx="8229600" cy="320040"/>
          </a:xfrm>
          <a:prstGeom prst="rect">
            <a:avLst/>
          </a:prstGeom>
          <a:noFill/>
        </p:spPr>
        <p:txBody>
          <a:bodyPr wrap="square" anchor="t">
            <a:spAutoFit/>
          </a:bodyPr>
          <a:lstStyle/>
          <a:p>
            <a:pPr algn="l">
              <a:defRPr sz="1000" b="0">
                <a:solidFill>
                  <a:srgbClr val="2C3E50"/>
                </a:solidFill>
                <a:latin typeface="Segoe UI"/>
              </a:defRPr>
            </a:pPr>
            <a:r>
              <a:t>OT/ICS protocols • Autonomous threat hunting • Cross-org sharing • AI-verified remediation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0520D49-0289-9B85-4CBF-C37698B731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CDABA9-9F84-3D82-2CA4-49BE2D85A43A}"/>
              </a:ext>
            </a:extLst>
          </p:cNvPr>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Deployment Models &amp; Gabriel Nimbus</a:t>
            </a:r>
          </a:p>
        </p:txBody>
      </p:sp>
      <p:sp>
        <p:nvSpPr>
          <p:cNvPr id="3" name="Rectangle 2">
            <a:extLst>
              <a:ext uri="{FF2B5EF4-FFF2-40B4-BE49-F238E27FC236}">
                <a16:creationId xmlns:a16="http://schemas.microsoft.com/office/drawing/2014/main" id="{821852B4-EFF9-8473-7E60-950D77484781}"/>
              </a:ext>
            </a:extLst>
          </p:cNvPr>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92BDE60-066D-318F-8F91-C6D0EB093E71}"/>
              </a:ext>
            </a:extLst>
          </p:cNvPr>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One codebase, multiple targets. Environment configuration only — no code forking.</a:t>
            </a:r>
          </a:p>
        </p:txBody>
      </p:sp>
      <p:sp>
        <p:nvSpPr>
          <p:cNvPr id="5" name="Rectangle 4">
            <a:extLst>
              <a:ext uri="{FF2B5EF4-FFF2-40B4-BE49-F238E27FC236}">
                <a16:creationId xmlns:a16="http://schemas.microsoft.com/office/drawing/2014/main" id="{D2CCE5AA-E0A1-A24A-C00E-5480F1E264BD}"/>
              </a:ext>
            </a:extLst>
          </p:cNvPr>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81EE0DC-219D-3036-E6B7-3F9052CE0D43}"/>
              </a:ext>
            </a:extLst>
          </p:cNvPr>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a:extLst>
              <a:ext uri="{FF2B5EF4-FFF2-40B4-BE49-F238E27FC236}">
                <a16:creationId xmlns:a16="http://schemas.microsoft.com/office/drawing/2014/main" id="{C7CF467D-D247-6E77-5932-29CA739269F3}"/>
              </a:ext>
            </a:extLst>
          </p:cNvPr>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13</a:t>
            </a:r>
          </a:p>
        </p:txBody>
      </p:sp>
      <p:sp>
        <p:nvSpPr>
          <p:cNvPr id="8" name="Rounded Rectangle 7">
            <a:extLst>
              <a:ext uri="{FF2B5EF4-FFF2-40B4-BE49-F238E27FC236}">
                <a16:creationId xmlns:a16="http://schemas.microsoft.com/office/drawing/2014/main" id="{AEC76638-EC1A-B565-3EB2-3A379480F49B}"/>
              </a:ext>
            </a:extLst>
          </p:cNvPr>
          <p:cNvSpPr/>
          <p:nvPr/>
        </p:nvSpPr>
        <p:spPr>
          <a:xfrm>
            <a:off x="54864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7288CCB8-2656-2923-6687-CF81FD8609F4}"/>
              </a:ext>
            </a:extLst>
          </p:cNvPr>
          <p:cNvSpPr/>
          <p:nvPr/>
        </p:nvSpPr>
        <p:spPr>
          <a:xfrm>
            <a:off x="548640" y="1371600"/>
            <a:ext cx="2697480" cy="54864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769B70B2-F412-7457-D091-93DABC8D56E0}"/>
              </a:ext>
            </a:extLst>
          </p:cNvPr>
          <p:cNvSpPr txBox="1"/>
          <p:nvPr/>
        </p:nvSpPr>
        <p:spPr>
          <a:xfrm>
            <a:off x="640080" y="1417320"/>
            <a:ext cx="2514600" cy="502920"/>
          </a:xfrm>
          <a:prstGeom prst="rect">
            <a:avLst/>
          </a:prstGeom>
          <a:noFill/>
        </p:spPr>
        <p:txBody>
          <a:bodyPr wrap="square" anchor="t">
            <a:spAutoFit/>
          </a:bodyPr>
          <a:lstStyle/>
          <a:p>
            <a:pPr algn="ctr">
              <a:defRPr sz="1000" b="1">
                <a:solidFill>
                  <a:srgbClr val="FFFFFF"/>
                </a:solidFill>
                <a:latin typeface="Segoe UI"/>
              </a:defRPr>
            </a:pPr>
            <a:r>
              <a:t>COMMERCIAL</a:t>
            </a:r>
            <a:br/>
            <a:r>
              <a:t>IL5 / NIPR</a:t>
            </a:r>
          </a:p>
        </p:txBody>
      </p:sp>
      <p:sp>
        <p:nvSpPr>
          <p:cNvPr id="11" name="TextBox 10">
            <a:extLst>
              <a:ext uri="{FF2B5EF4-FFF2-40B4-BE49-F238E27FC236}">
                <a16:creationId xmlns:a16="http://schemas.microsoft.com/office/drawing/2014/main" id="{6D60F8EC-AFF7-52F3-E540-99F45400C522}"/>
              </a:ext>
            </a:extLst>
          </p:cNvPr>
          <p:cNvSpPr txBox="1"/>
          <p:nvPr/>
        </p:nvSpPr>
        <p:spPr>
          <a:xfrm>
            <a:off x="731520" y="2057400"/>
            <a:ext cx="2377440" cy="256032"/>
          </a:xfrm>
          <a:prstGeom prst="rect">
            <a:avLst/>
          </a:prstGeom>
          <a:noFill/>
        </p:spPr>
        <p:txBody>
          <a:bodyPr wrap="square" anchor="t">
            <a:spAutoFit/>
          </a:bodyPr>
          <a:lstStyle/>
          <a:p>
            <a:pPr algn="l">
              <a:defRPr sz="1100" b="0">
                <a:solidFill>
                  <a:srgbClr val="2C3E50"/>
                </a:solidFill>
                <a:latin typeface="Segoe UI"/>
              </a:defRPr>
            </a:pPr>
            <a:r>
              <a:t>•  AWS GovCloud / Azure Gov</a:t>
            </a:r>
          </a:p>
        </p:txBody>
      </p:sp>
      <p:sp>
        <p:nvSpPr>
          <p:cNvPr id="12" name="TextBox 11">
            <a:extLst>
              <a:ext uri="{FF2B5EF4-FFF2-40B4-BE49-F238E27FC236}">
                <a16:creationId xmlns:a16="http://schemas.microsoft.com/office/drawing/2014/main" id="{B2C87DE6-2BBC-9133-D99D-4FE3144607D3}"/>
              </a:ext>
            </a:extLst>
          </p:cNvPr>
          <p:cNvSpPr txBox="1"/>
          <p:nvPr/>
        </p:nvSpPr>
        <p:spPr>
          <a:xfrm>
            <a:off x="731520" y="2377440"/>
            <a:ext cx="2377440" cy="256032"/>
          </a:xfrm>
          <a:prstGeom prst="rect">
            <a:avLst/>
          </a:prstGeom>
          <a:noFill/>
        </p:spPr>
        <p:txBody>
          <a:bodyPr wrap="square" anchor="t">
            <a:spAutoFit/>
          </a:bodyPr>
          <a:lstStyle/>
          <a:p>
            <a:pPr algn="l">
              <a:defRPr sz="1100" b="0">
                <a:solidFill>
                  <a:srgbClr val="2C3E50"/>
                </a:solidFill>
                <a:latin typeface="Segoe UI"/>
              </a:defRPr>
            </a:pPr>
            <a:r>
              <a:t>•  API-based config ingestion</a:t>
            </a:r>
          </a:p>
        </p:txBody>
      </p:sp>
      <p:sp>
        <p:nvSpPr>
          <p:cNvPr id="13" name="TextBox 12">
            <a:extLst>
              <a:ext uri="{FF2B5EF4-FFF2-40B4-BE49-F238E27FC236}">
                <a16:creationId xmlns:a16="http://schemas.microsoft.com/office/drawing/2014/main" id="{F864D3E5-3BB4-796A-0FBA-D545263BDB33}"/>
              </a:ext>
            </a:extLst>
          </p:cNvPr>
          <p:cNvSpPr txBox="1"/>
          <p:nvPr/>
        </p:nvSpPr>
        <p:spPr>
          <a:xfrm>
            <a:off x="731520" y="2697480"/>
            <a:ext cx="2377440" cy="256032"/>
          </a:xfrm>
          <a:prstGeom prst="rect">
            <a:avLst/>
          </a:prstGeom>
          <a:noFill/>
        </p:spPr>
        <p:txBody>
          <a:bodyPr wrap="square" anchor="t">
            <a:spAutoFit/>
          </a:bodyPr>
          <a:lstStyle/>
          <a:p>
            <a:pPr algn="l">
              <a:defRPr sz="1100" b="0">
                <a:solidFill>
                  <a:srgbClr val="2C3E50"/>
                </a:solidFill>
                <a:latin typeface="Segoe UI"/>
              </a:defRPr>
            </a:pPr>
            <a:r>
              <a:t>•  Auto-updated threat intel</a:t>
            </a:r>
          </a:p>
        </p:txBody>
      </p:sp>
      <p:sp>
        <p:nvSpPr>
          <p:cNvPr id="14" name="TextBox 13">
            <a:extLst>
              <a:ext uri="{FF2B5EF4-FFF2-40B4-BE49-F238E27FC236}">
                <a16:creationId xmlns:a16="http://schemas.microsoft.com/office/drawing/2014/main" id="{36FBD55F-DAFB-4D28-AB91-CD75661AF555}"/>
              </a:ext>
            </a:extLst>
          </p:cNvPr>
          <p:cNvSpPr txBox="1"/>
          <p:nvPr/>
        </p:nvSpPr>
        <p:spPr>
          <a:xfrm>
            <a:off x="731520" y="3017520"/>
            <a:ext cx="2377440" cy="256032"/>
          </a:xfrm>
          <a:prstGeom prst="rect">
            <a:avLst/>
          </a:prstGeom>
          <a:noFill/>
        </p:spPr>
        <p:txBody>
          <a:bodyPr wrap="square" anchor="t">
            <a:spAutoFit/>
          </a:bodyPr>
          <a:lstStyle/>
          <a:p>
            <a:pPr algn="l">
              <a:defRPr sz="1100" b="0">
                <a:solidFill>
                  <a:srgbClr val="2C3E50"/>
                </a:solidFill>
                <a:latin typeface="Segoe UI"/>
              </a:defRPr>
            </a:pPr>
            <a:r>
              <a:t>•  Fastest: days to value</a:t>
            </a:r>
          </a:p>
        </p:txBody>
      </p:sp>
      <p:sp>
        <p:nvSpPr>
          <p:cNvPr id="15" name="Rounded Rectangle 14">
            <a:extLst>
              <a:ext uri="{FF2B5EF4-FFF2-40B4-BE49-F238E27FC236}">
                <a16:creationId xmlns:a16="http://schemas.microsoft.com/office/drawing/2014/main" id="{0E31623A-E8F9-8BD4-CCBD-9CBE99D369DA}"/>
              </a:ext>
            </a:extLst>
          </p:cNvPr>
          <p:cNvSpPr/>
          <p:nvPr/>
        </p:nvSpPr>
        <p:spPr>
          <a:xfrm>
            <a:off x="342900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BBC08045-B071-DAFA-B8C7-D88719877CC5}"/>
              </a:ext>
            </a:extLst>
          </p:cNvPr>
          <p:cNvSpPr/>
          <p:nvPr/>
        </p:nvSpPr>
        <p:spPr>
          <a:xfrm>
            <a:off x="3429000" y="1371600"/>
            <a:ext cx="2697480" cy="54864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C8F9013-6797-DD74-5FED-EAA5C24027EA}"/>
              </a:ext>
            </a:extLst>
          </p:cNvPr>
          <p:cNvSpPr txBox="1"/>
          <p:nvPr/>
        </p:nvSpPr>
        <p:spPr>
          <a:xfrm>
            <a:off x="3520440" y="1417320"/>
            <a:ext cx="2514600" cy="502920"/>
          </a:xfrm>
          <a:prstGeom prst="rect">
            <a:avLst/>
          </a:prstGeom>
          <a:noFill/>
        </p:spPr>
        <p:txBody>
          <a:bodyPr wrap="square" anchor="t">
            <a:spAutoFit/>
          </a:bodyPr>
          <a:lstStyle/>
          <a:p>
            <a:pPr algn="ctr">
              <a:defRPr sz="1000" b="1">
                <a:solidFill>
                  <a:srgbClr val="FFFFFF"/>
                </a:solidFill>
                <a:latin typeface="Segoe UI"/>
              </a:defRPr>
            </a:pPr>
            <a:r>
              <a:t>ON-PREMISES</a:t>
            </a:r>
            <a:br/>
            <a:r>
              <a:t>IL6 / SIPR</a:t>
            </a:r>
          </a:p>
        </p:txBody>
      </p:sp>
      <p:sp>
        <p:nvSpPr>
          <p:cNvPr id="18" name="TextBox 17">
            <a:extLst>
              <a:ext uri="{FF2B5EF4-FFF2-40B4-BE49-F238E27FC236}">
                <a16:creationId xmlns:a16="http://schemas.microsoft.com/office/drawing/2014/main" id="{95CEC64F-CFAE-33B3-D7DA-955A9A41F6BA}"/>
              </a:ext>
            </a:extLst>
          </p:cNvPr>
          <p:cNvSpPr txBox="1"/>
          <p:nvPr/>
        </p:nvSpPr>
        <p:spPr>
          <a:xfrm>
            <a:off x="3611880" y="2057400"/>
            <a:ext cx="2377440" cy="256032"/>
          </a:xfrm>
          <a:prstGeom prst="rect">
            <a:avLst/>
          </a:prstGeom>
          <a:noFill/>
        </p:spPr>
        <p:txBody>
          <a:bodyPr wrap="square" anchor="t">
            <a:spAutoFit/>
          </a:bodyPr>
          <a:lstStyle/>
          <a:p>
            <a:pPr algn="l">
              <a:defRPr sz="1100" b="0">
                <a:solidFill>
                  <a:srgbClr val="2C3E50"/>
                </a:solidFill>
                <a:latin typeface="Segoe UI"/>
              </a:defRPr>
            </a:pPr>
            <a:r>
              <a:t>•  On-site K8s cluster</a:t>
            </a:r>
          </a:p>
        </p:txBody>
      </p:sp>
      <p:sp>
        <p:nvSpPr>
          <p:cNvPr id="19" name="TextBox 18">
            <a:extLst>
              <a:ext uri="{FF2B5EF4-FFF2-40B4-BE49-F238E27FC236}">
                <a16:creationId xmlns:a16="http://schemas.microsoft.com/office/drawing/2014/main" id="{8AE51B20-059D-E510-DBFD-C89166ED66A8}"/>
              </a:ext>
            </a:extLst>
          </p:cNvPr>
          <p:cNvSpPr txBox="1"/>
          <p:nvPr/>
        </p:nvSpPr>
        <p:spPr>
          <a:xfrm>
            <a:off x="3611880" y="2377440"/>
            <a:ext cx="2377440" cy="256032"/>
          </a:xfrm>
          <a:prstGeom prst="rect">
            <a:avLst/>
          </a:prstGeom>
          <a:noFill/>
        </p:spPr>
        <p:txBody>
          <a:bodyPr wrap="square" anchor="t">
            <a:spAutoFit/>
          </a:bodyPr>
          <a:lstStyle/>
          <a:p>
            <a:pPr algn="l">
              <a:defRPr sz="1100" b="0">
                <a:solidFill>
                  <a:srgbClr val="2C3E50"/>
                </a:solidFill>
                <a:latin typeface="Segoe UI"/>
              </a:defRPr>
            </a:pPr>
            <a:r>
              <a:t>•  Classified threat feeds</a:t>
            </a:r>
          </a:p>
        </p:txBody>
      </p:sp>
      <p:sp>
        <p:nvSpPr>
          <p:cNvPr id="20" name="TextBox 19">
            <a:extLst>
              <a:ext uri="{FF2B5EF4-FFF2-40B4-BE49-F238E27FC236}">
                <a16:creationId xmlns:a16="http://schemas.microsoft.com/office/drawing/2014/main" id="{1E56DA27-4C32-D976-011A-8FADCC018898}"/>
              </a:ext>
            </a:extLst>
          </p:cNvPr>
          <p:cNvSpPr txBox="1"/>
          <p:nvPr/>
        </p:nvSpPr>
        <p:spPr>
          <a:xfrm>
            <a:off x="3611880" y="2697480"/>
            <a:ext cx="2377440" cy="256032"/>
          </a:xfrm>
          <a:prstGeom prst="rect">
            <a:avLst/>
          </a:prstGeom>
          <a:noFill/>
        </p:spPr>
        <p:txBody>
          <a:bodyPr wrap="square" anchor="t">
            <a:spAutoFit/>
          </a:bodyPr>
          <a:lstStyle/>
          <a:p>
            <a:pPr algn="l">
              <a:defRPr sz="1100" b="0">
                <a:solidFill>
                  <a:srgbClr val="2C3E50"/>
                </a:solidFill>
                <a:latin typeface="Segoe UI"/>
              </a:defRPr>
            </a:pPr>
            <a:r>
              <a:t>•  Local AI inference only</a:t>
            </a:r>
          </a:p>
        </p:txBody>
      </p:sp>
      <p:sp>
        <p:nvSpPr>
          <p:cNvPr id="21" name="TextBox 20">
            <a:extLst>
              <a:ext uri="{FF2B5EF4-FFF2-40B4-BE49-F238E27FC236}">
                <a16:creationId xmlns:a16="http://schemas.microsoft.com/office/drawing/2014/main" id="{264AD119-7E67-D189-8D40-FF575AE2EBD2}"/>
              </a:ext>
            </a:extLst>
          </p:cNvPr>
          <p:cNvSpPr txBox="1"/>
          <p:nvPr/>
        </p:nvSpPr>
        <p:spPr>
          <a:xfrm>
            <a:off x="3611880" y="3017520"/>
            <a:ext cx="2377440" cy="256032"/>
          </a:xfrm>
          <a:prstGeom prst="rect">
            <a:avLst/>
          </a:prstGeom>
          <a:noFill/>
        </p:spPr>
        <p:txBody>
          <a:bodyPr wrap="square" anchor="t">
            <a:spAutoFit/>
          </a:bodyPr>
          <a:lstStyle/>
          <a:p>
            <a:pPr algn="l">
              <a:defRPr sz="1100" b="0">
                <a:solidFill>
                  <a:srgbClr val="2C3E50"/>
                </a:solidFill>
                <a:latin typeface="Segoe UI"/>
              </a:defRPr>
            </a:pPr>
            <a:r>
              <a:t>•  8 vCPU / 32GB per node</a:t>
            </a:r>
          </a:p>
        </p:txBody>
      </p:sp>
      <p:sp>
        <p:nvSpPr>
          <p:cNvPr id="22" name="Rounded Rectangle 21">
            <a:extLst>
              <a:ext uri="{FF2B5EF4-FFF2-40B4-BE49-F238E27FC236}">
                <a16:creationId xmlns:a16="http://schemas.microsoft.com/office/drawing/2014/main" id="{0521D19D-E100-5F65-AA22-BC348BCD6707}"/>
              </a:ext>
            </a:extLst>
          </p:cNvPr>
          <p:cNvSpPr/>
          <p:nvPr/>
        </p:nvSpPr>
        <p:spPr>
          <a:xfrm>
            <a:off x="630936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61355026-5EE7-7FEF-CDD2-73E2B236E873}"/>
              </a:ext>
            </a:extLst>
          </p:cNvPr>
          <p:cNvSpPr/>
          <p:nvPr/>
        </p:nvSpPr>
        <p:spPr>
          <a:xfrm>
            <a:off x="6309360" y="1371600"/>
            <a:ext cx="2697480" cy="5486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B83A1E7A-DAD9-4444-3FAC-C1D399E7EFB7}"/>
              </a:ext>
            </a:extLst>
          </p:cNvPr>
          <p:cNvSpPr txBox="1"/>
          <p:nvPr/>
        </p:nvSpPr>
        <p:spPr>
          <a:xfrm>
            <a:off x="6400800" y="1417320"/>
            <a:ext cx="2514600" cy="502920"/>
          </a:xfrm>
          <a:prstGeom prst="rect">
            <a:avLst/>
          </a:prstGeom>
          <a:noFill/>
        </p:spPr>
        <p:txBody>
          <a:bodyPr wrap="square" anchor="t">
            <a:spAutoFit/>
          </a:bodyPr>
          <a:lstStyle/>
          <a:p>
            <a:pPr algn="ctr">
              <a:defRPr sz="1000" b="1">
                <a:solidFill>
                  <a:srgbClr val="FFFFFF"/>
                </a:solidFill>
                <a:latin typeface="Segoe UI"/>
              </a:defRPr>
            </a:pPr>
            <a:r>
              <a:t>AIR-GAPPED</a:t>
            </a:r>
            <a:br/>
            <a:r>
              <a:t>JWICS / TS-SCI</a:t>
            </a:r>
          </a:p>
        </p:txBody>
      </p:sp>
      <p:sp>
        <p:nvSpPr>
          <p:cNvPr id="25" name="TextBox 24">
            <a:extLst>
              <a:ext uri="{FF2B5EF4-FFF2-40B4-BE49-F238E27FC236}">
                <a16:creationId xmlns:a16="http://schemas.microsoft.com/office/drawing/2014/main" id="{4A6E1296-7DF1-481C-A8B7-F626EC87B546}"/>
              </a:ext>
            </a:extLst>
          </p:cNvPr>
          <p:cNvSpPr txBox="1"/>
          <p:nvPr/>
        </p:nvSpPr>
        <p:spPr>
          <a:xfrm>
            <a:off x="6492240" y="2057400"/>
            <a:ext cx="2377440" cy="256032"/>
          </a:xfrm>
          <a:prstGeom prst="rect">
            <a:avLst/>
          </a:prstGeom>
          <a:noFill/>
        </p:spPr>
        <p:txBody>
          <a:bodyPr wrap="square" anchor="t">
            <a:spAutoFit/>
          </a:bodyPr>
          <a:lstStyle/>
          <a:p>
            <a:pPr algn="l">
              <a:defRPr sz="1100" b="0">
                <a:solidFill>
                  <a:srgbClr val="2C3E50"/>
                </a:solidFill>
                <a:latin typeface="Segoe UI"/>
              </a:defRPr>
            </a:pPr>
            <a:r>
              <a:t>•  Fully disconnected</a:t>
            </a:r>
          </a:p>
        </p:txBody>
      </p:sp>
      <p:sp>
        <p:nvSpPr>
          <p:cNvPr id="26" name="TextBox 25">
            <a:extLst>
              <a:ext uri="{FF2B5EF4-FFF2-40B4-BE49-F238E27FC236}">
                <a16:creationId xmlns:a16="http://schemas.microsoft.com/office/drawing/2014/main" id="{012729C5-E420-013C-CEED-8B56191A2FBB}"/>
              </a:ext>
            </a:extLst>
          </p:cNvPr>
          <p:cNvSpPr txBox="1"/>
          <p:nvPr/>
        </p:nvSpPr>
        <p:spPr>
          <a:xfrm>
            <a:off x="6492240" y="2377440"/>
            <a:ext cx="2377440" cy="256032"/>
          </a:xfrm>
          <a:prstGeom prst="rect">
            <a:avLst/>
          </a:prstGeom>
          <a:noFill/>
        </p:spPr>
        <p:txBody>
          <a:bodyPr wrap="square" anchor="t">
            <a:spAutoFit/>
          </a:bodyPr>
          <a:lstStyle/>
          <a:p>
            <a:pPr algn="l">
              <a:defRPr sz="1100" b="0">
                <a:solidFill>
                  <a:srgbClr val="2C3E50"/>
                </a:solidFill>
                <a:latin typeface="Segoe UI"/>
              </a:defRPr>
            </a:pPr>
            <a:r>
              <a:t>•  Manual STIX/TAXII import</a:t>
            </a:r>
          </a:p>
        </p:txBody>
      </p:sp>
      <p:sp>
        <p:nvSpPr>
          <p:cNvPr id="27" name="TextBox 26">
            <a:extLst>
              <a:ext uri="{FF2B5EF4-FFF2-40B4-BE49-F238E27FC236}">
                <a16:creationId xmlns:a16="http://schemas.microsoft.com/office/drawing/2014/main" id="{3A5467C4-1A05-91BE-247E-CDF5CF9220F8}"/>
              </a:ext>
            </a:extLst>
          </p:cNvPr>
          <p:cNvSpPr txBox="1"/>
          <p:nvPr/>
        </p:nvSpPr>
        <p:spPr>
          <a:xfrm>
            <a:off x="6492240" y="2697480"/>
            <a:ext cx="2377440" cy="256032"/>
          </a:xfrm>
          <a:prstGeom prst="rect">
            <a:avLst/>
          </a:prstGeom>
          <a:noFill/>
        </p:spPr>
        <p:txBody>
          <a:bodyPr wrap="square" anchor="t">
            <a:spAutoFit/>
          </a:bodyPr>
          <a:lstStyle/>
          <a:p>
            <a:pPr algn="l">
              <a:defRPr sz="1100" b="0">
                <a:solidFill>
                  <a:srgbClr val="2C3E50"/>
                </a:solidFill>
                <a:latin typeface="Segoe UI"/>
              </a:defRPr>
            </a:pPr>
            <a:r>
              <a:t>•  Local language model</a:t>
            </a:r>
          </a:p>
        </p:txBody>
      </p:sp>
      <p:sp>
        <p:nvSpPr>
          <p:cNvPr id="28" name="TextBox 27">
            <a:extLst>
              <a:ext uri="{FF2B5EF4-FFF2-40B4-BE49-F238E27FC236}">
                <a16:creationId xmlns:a16="http://schemas.microsoft.com/office/drawing/2014/main" id="{8E345C60-C80D-79B8-426B-62464A95FB04}"/>
              </a:ext>
            </a:extLst>
          </p:cNvPr>
          <p:cNvSpPr txBox="1"/>
          <p:nvPr/>
        </p:nvSpPr>
        <p:spPr>
          <a:xfrm>
            <a:off x="6492240" y="3017520"/>
            <a:ext cx="2377440" cy="256032"/>
          </a:xfrm>
          <a:prstGeom prst="rect">
            <a:avLst/>
          </a:prstGeom>
          <a:noFill/>
        </p:spPr>
        <p:txBody>
          <a:bodyPr wrap="square" anchor="t">
            <a:spAutoFit/>
          </a:bodyPr>
          <a:lstStyle/>
          <a:p>
            <a:pPr algn="l">
              <a:defRPr sz="1100" b="0">
                <a:solidFill>
                  <a:srgbClr val="2C3E50"/>
                </a:solidFill>
                <a:latin typeface="Segoe UI"/>
              </a:defRPr>
            </a:pPr>
            <a:r>
              <a:t>•  SCIF-deployable</a:t>
            </a:r>
          </a:p>
        </p:txBody>
      </p:sp>
      <p:sp>
        <p:nvSpPr>
          <p:cNvPr id="29" name="Rounded Rectangle 28">
            <a:extLst>
              <a:ext uri="{FF2B5EF4-FFF2-40B4-BE49-F238E27FC236}">
                <a16:creationId xmlns:a16="http://schemas.microsoft.com/office/drawing/2014/main" id="{94843E2E-F56B-3052-4DDC-28D7B4138EFE}"/>
              </a:ext>
            </a:extLst>
          </p:cNvPr>
          <p:cNvSpPr/>
          <p:nvPr/>
        </p:nvSpPr>
        <p:spPr>
          <a:xfrm>
            <a:off x="918972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a:extLst>
              <a:ext uri="{FF2B5EF4-FFF2-40B4-BE49-F238E27FC236}">
                <a16:creationId xmlns:a16="http://schemas.microsoft.com/office/drawing/2014/main" id="{15798DF2-28E6-53E0-A324-4C5E27031099}"/>
              </a:ext>
            </a:extLst>
          </p:cNvPr>
          <p:cNvSpPr/>
          <p:nvPr/>
        </p:nvSpPr>
        <p:spPr>
          <a:xfrm>
            <a:off x="9189720" y="1371600"/>
            <a:ext cx="2697480" cy="54864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DEC69589-0A3B-22EC-A57E-68B88995772A}"/>
              </a:ext>
            </a:extLst>
          </p:cNvPr>
          <p:cNvSpPr txBox="1"/>
          <p:nvPr/>
        </p:nvSpPr>
        <p:spPr>
          <a:xfrm>
            <a:off x="9281160" y="1417320"/>
            <a:ext cx="2514600" cy="502920"/>
          </a:xfrm>
          <a:prstGeom prst="rect">
            <a:avLst/>
          </a:prstGeom>
          <a:noFill/>
        </p:spPr>
        <p:txBody>
          <a:bodyPr wrap="square" anchor="t">
            <a:spAutoFit/>
          </a:bodyPr>
          <a:lstStyle/>
          <a:p>
            <a:pPr algn="ctr">
              <a:defRPr sz="1000" b="1">
                <a:solidFill>
                  <a:srgbClr val="FFFFFF"/>
                </a:solidFill>
                <a:latin typeface="Segoe UI"/>
              </a:defRPr>
            </a:pPr>
            <a:r>
              <a:t>GABRIEL NIMBUS</a:t>
            </a:r>
            <a:br/>
            <a:r>
              <a:t>Cloud-Native</a:t>
            </a:r>
          </a:p>
        </p:txBody>
      </p:sp>
      <p:sp>
        <p:nvSpPr>
          <p:cNvPr id="32" name="TextBox 31">
            <a:extLst>
              <a:ext uri="{FF2B5EF4-FFF2-40B4-BE49-F238E27FC236}">
                <a16:creationId xmlns:a16="http://schemas.microsoft.com/office/drawing/2014/main" id="{93AB2C19-DF3F-BDED-FFD8-5F9104C51793}"/>
              </a:ext>
            </a:extLst>
          </p:cNvPr>
          <p:cNvSpPr txBox="1"/>
          <p:nvPr/>
        </p:nvSpPr>
        <p:spPr>
          <a:xfrm>
            <a:off x="9372600" y="2057400"/>
            <a:ext cx="2377440" cy="256032"/>
          </a:xfrm>
          <a:prstGeom prst="rect">
            <a:avLst/>
          </a:prstGeom>
          <a:noFill/>
        </p:spPr>
        <p:txBody>
          <a:bodyPr wrap="square" anchor="t">
            <a:spAutoFit/>
          </a:bodyPr>
          <a:lstStyle/>
          <a:p>
            <a:pPr algn="l">
              <a:defRPr sz="1100" b="0">
                <a:solidFill>
                  <a:srgbClr val="2C3E50"/>
                </a:solidFill>
                <a:latin typeface="Segoe UI"/>
              </a:defRPr>
            </a:pPr>
            <a:r>
              <a:t>•  Containerized microservices</a:t>
            </a:r>
          </a:p>
        </p:txBody>
      </p:sp>
      <p:sp>
        <p:nvSpPr>
          <p:cNvPr id="33" name="TextBox 32">
            <a:extLst>
              <a:ext uri="{FF2B5EF4-FFF2-40B4-BE49-F238E27FC236}">
                <a16:creationId xmlns:a16="http://schemas.microsoft.com/office/drawing/2014/main" id="{0CBB12F4-5200-758F-BA7D-F4304EF2822F}"/>
              </a:ext>
            </a:extLst>
          </p:cNvPr>
          <p:cNvSpPr txBox="1"/>
          <p:nvPr/>
        </p:nvSpPr>
        <p:spPr>
          <a:xfrm>
            <a:off x="9372600" y="2377440"/>
            <a:ext cx="2377440" cy="256032"/>
          </a:xfrm>
          <a:prstGeom prst="rect">
            <a:avLst/>
          </a:prstGeom>
          <a:noFill/>
        </p:spPr>
        <p:txBody>
          <a:bodyPr wrap="square" anchor="t">
            <a:spAutoFit/>
          </a:bodyPr>
          <a:lstStyle/>
          <a:p>
            <a:pPr algn="l">
              <a:defRPr sz="1100" b="0">
                <a:solidFill>
                  <a:srgbClr val="2C3E50"/>
                </a:solidFill>
                <a:latin typeface="Segoe UI"/>
              </a:defRPr>
            </a:pPr>
            <a:r>
              <a:t>•  Platform-native stores</a:t>
            </a:r>
          </a:p>
        </p:txBody>
      </p:sp>
      <p:sp>
        <p:nvSpPr>
          <p:cNvPr id="34" name="TextBox 33">
            <a:extLst>
              <a:ext uri="{FF2B5EF4-FFF2-40B4-BE49-F238E27FC236}">
                <a16:creationId xmlns:a16="http://schemas.microsoft.com/office/drawing/2014/main" id="{D9FFF8AC-E35E-071D-0E80-01C3520A3CFF}"/>
              </a:ext>
            </a:extLst>
          </p:cNvPr>
          <p:cNvSpPr txBox="1"/>
          <p:nvPr/>
        </p:nvSpPr>
        <p:spPr>
          <a:xfrm>
            <a:off x="9372600" y="2697480"/>
            <a:ext cx="2377440" cy="256032"/>
          </a:xfrm>
          <a:prstGeom prst="rect">
            <a:avLst/>
          </a:prstGeom>
          <a:noFill/>
        </p:spPr>
        <p:txBody>
          <a:bodyPr wrap="square" anchor="t">
            <a:spAutoFit/>
          </a:bodyPr>
          <a:lstStyle/>
          <a:p>
            <a:pPr algn="l">
              <a:defRPr sz="1100" b="0">
                <a:solidFill>
                  <a:srgbClr val="2C3E50"/>
                </a:solidFill>
                <a:latin typeface="Segoe UI"/>
              </a:defRPr>
            </a:pPr>
            <a:r>
              <a:t>•  Big data analytics layer</a:t>
            </a:r>
          </a:p>
        </p:txBody>
      </p:sp>
      <p:sp>
        <p:nvSpPr>
          <p:cNvPr id="35" name="TextBox 34">
            <a:extLst>
              <a:ext uri="{FF2B5EF4-FFF2-40B4-BE49-F238E27FC236}">
                <a16:creationId xmlns:a16="http://schemas.microsoft.com/office/drawing/2014/main" id="{0CFDEFE0-EC5C-CA25-DA42-E03150A32CA7}"/>
              </a:ext>
            </a:extLst>
          </p:cNvPr>
          <p:cNvSpPr txBox="1"/>
          <p:nvPr/>
        </p:nvSpPr>
        <p:spPr>
          <a:xfrm>
            <a:off x="9372600" y="3017520"/>
            <a:ext cx="2377440" cy="256032"/>
          </a:xfrm>
          <a:prstGeom prst="rect">
            <a:avLst/>
          </a:prstGeom>
          <a:noFill/>
        </p:spPr>
        <p:txBody>
          <a:bodyPr wrap="square" anchor="t">
            <a:spAutoFit/>
          </a:bodyPr>
          <a:lstStyle/>
          <a:p>
            <a:pPr algn="l">
              <a:defRPr sz="1100" b="0">
                <a:solidFill>
                  <a:srgbClr val="2C3E50"/>
                </a:solidFill>
                <a:latin typeface="Segoe UI"/>
              </a:defRPr>
            </a:pPr>
            <a:r>
              <a:t>•  Scales with data volume</a:t>
            </a:r>
          </a:p>
        </p:txBody>
      </p:sp>
      <p:sp>
        <p:nvSpPr>
          <p:cNvPr id="36" name="Rounded Rectangle 35">
            <a:extLst>
              <a:ext uri="{FF2B5EF4-FFF2-40B4-BE49-F238E27FC236}">
                <a16:creationId xmlns:a16="http://schemas.microsoft.com/office/drawing/2014/main" id="{56235F81-A1E5-9260-8936-F3A3376F4C1B}"/>
              </a:ext>
            </a:extLst>
          </p:cNvPr>
          <p:cNvSpPr/>
          <p:nvPr/>
        </p:nvSpPr>
        <p:spPr>
          <a:xfrm>
            <a:off x="548640" y="4343400"/>
            <a:ext cx="11064240" cy="2070012"/>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1FF501CB-BEEC-253A-4E9E-E9952E17CD59}"/>
              </a:ext>
            </a:extLst>
          </p:cNvPr>
          <p:cNvSpPr txBox="1"/>
          <p:nvPr/>
        </p:nvSpPr>
        <p:spPr>
          <a:xfrm>
            <a:off x="822960" y="4434840"/>
            <a:ext cx="10515600" cy="1463040"/>
          </a:xfrm>
          <a:prstGeom prst="rect">
            <a:avLst/>
          </a:prstGeom>
          <a:noFill/>
        </p:spPr>
        <p:txBody>
          <a:bodyPr wrap="square" anchor="t">
            <a:spAutoFit/>
          </a:bodyPr>
          <a:lstStyle/>
          <a:p>
            <a:pPr algn="l">
              <a:defRPr sz="1200" b="1">
                <a:solidFill>
                  <a:srgbClr val="0D1B2A"/>
                </a:solidFill>
                <a:latin typeface="Segoe UI"/>
              </a:defRPr>
            </a:pPr>
            <a:r>
              <a:t>Shared across ALL deployment models:</a:t>
            </a:r>
          </a:p>
          <a:p>
            <a:pPr>
              <a:spcBef>
                <a:spcPts val="800"/>
              </a:spcBef>
              <a:defRPr sz="1100" b="0">
                <a:solidFill>
                  <a:srgbClr val="2C3E50"/>
                </a:solidFill>
                <a:latin typeface="Segoe UI"/>
              </a:defRPr>
            </a:pPr>
            <a:r>
              <a:t>•  Iron Bank certified containers  •  Helm charts  •  Istio zero-trust service mesh  •  Horizontal pod autoscaling</a:t>
            </a:r>
          </a:p>
          <a:p>
            <a:pPr>
              <a:spcBef>
                <a:spcPts val="800"/>
              </a:spcBef>
              <a:defRPr sz="1100" b="0">
                <a:solidFill>
                  <a:srgbClr val="2C3E50"/>
                </a:solidFill>
                <a:latin typeface="Segoe UI"/>
              </a:defRPr>
            </a:pPr>
            <a:r>
              <a:t>•  Same security posture regardless of environment  •  Switch via environment variable — no code forking</a:t>
            </a:r>
          </a:p>
          <a:p>
            <a:pPr>
              <a:spcBef>
                <a:spcPts val="800"/>
              </a:spcBef>
              <a:defRPr sz="1100" b="0">
                <a:solidFill>
                  <a:srgbClr val="2C3E50"/>
                </a:solidFill>
                <a:latin typeface="Segoe UI"/>
              </a:defRPr>
            </a:pPr>
            <a:r>
              <a:t>•  cATO pathway: security artifacts auto-generated  •  NIST 800-53 / SP 800-207 compliance built in</a:t>
            </a:r>
          </a:p>
          <a:p>
            <a:pPr>
              <a:spcBef>
                <a:spcPts val="800"/>
              </a:spcBef>
              <a:defRPr sz="800" b="0">
                <a:solidFill>
                  <a:srgbClr val="2C3E50"/>
                </a:solidFill>
                <a:latin typeface="Segoe UI"/>
              </a:defRPr>
            </a:pPr>
            <a:endParaRPr/>
          </a:p>
          <a:p>
            <a:pPr>
              <a:spcBef>
                <a:spcPts val="800"/>
              </a:spcBef>
              <a:defRPr sz="1100" b="0">
                <a:solidFill>
                  <a:srgbClr val="0E6B8A"/>
                </a:solidFill>
                <a:latin typeface="Segoe UI"/>
              </a:defRPr>
            </a:pPr>
            <a:r>
              <a:t>Gabriel Nimbus: containerized application designed for cloud-native big data platform. Integration: ingestion connectors,</a:t>
            </a:r>
          </a:p>
          <a:p>
            <a:pPr>
              <a:spcBef>
                <a:spcPts val="800"/>
              </a:spcBef>
              <a:defRPr sz="1100" b="0">
                <a:solidFill>
                  <a:srgbClr val="0E6B8A"/>
                </a:solidFill>
                <a:latin typeface="Segoe UI"/>
              </a:defRPr>
            </a:pPr>
            <a:r>
              <a:t>shared storage, platform IAM, analytics layer. Same Helm charts — deploys with environment configuration only.</a:t>
            </a:r>
          </a:p>
        </p:txBody>
      </p:sp>
    </p:spTree>
    <p:extLst>
      <p:ext uri="{BB962C8B-B14F-4D97-AF65-F5344CB8AC3E}">
        <p14:creationId xmlns:p14="http://schemas.microsoft.com/office/powerpoint/2010/main" val="1010059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1222</TotalTime>
  <Words>10599</Words>
  <Application>Microsoft Office PowerPoint</Application>
  <PresentationFormat>Widescreen</PresentationFormat>
  <Paragraphs>1094</Paragraphs>
  <Slides>36</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-apple-system</vt:lpstr>
      <vt:lpstr>Aptos</vt:lpstr>
      <vt:lpstr>Arial</vt:lpstr>
      <vt:lpstr>Arial Black</vt:lpstr>
      <vt:lpstr>Calibri</vt:lpstr>
      <vt:lpstr>Consolas</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Ravindra Shukla</cp:lastModifiedBy>
  <cp:revision>6</cp:revision>
  <dcterms:created xsi:type="dcterms:W3CDTF">2013-01-27T09:14:16Z</dcterms:created>
  <dcterms:modified xsi:type="dcterms:W3CDTF">2026-05-06T09:51:56Z</dcterms:modified>
  <cp:category/>
</cp:coreProperties>
</file>