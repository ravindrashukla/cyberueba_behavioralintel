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</c:v>
                </c:pt>
              </c:strCache>
            </c:strRef>
          </c:tx>
          <c:spPr>
            <a:solidFill>
              <a:srgbClr val="1F5E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Routine (P50)</c:v>
                </c:pt>
                <c:pt idx="1">
                  <c:v>Critical (P90)</c:v>
                </c:pt>
                <c:pt idx="2">
                  <c:v>Mean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</c:v>
                </c:pt>
                <c:pt idx="1">
                  <c:v>540</c:v>
                </c:pt>
                <c:pt idx="2">
                  <c:v>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8-46B6-94B7-1600E80AC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EDM Vector Intelligence</c:v>
                </c:pt>
              </c:strCache>
            </c:strRef>
          </c:tx>
          <c:spPr>
            <a:solidFill>
              <a:srgbClr val="1184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Routine (P50)</c:v>
                </c:pt>
                <c:pt idx="1">
                  <c:v>Critical (P90)</c:v>
                </c:pt>
                <c:pt idx="2">
                  <c:v>Mean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143</c:v>
                </c:pt>
                <c:pt idx="1">
                  <c:v>228</c:v>
                </c:pt>
                <c:pt idx="2">
                  <c:v>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8-46B6-94B7-1600E80AC4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A75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8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forecasting: a transparent single-item baseline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and explainable — yet it only sees this item’s own history at this one depot.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item, one depot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item’s requisition history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180-day window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&amp; fiscal calendars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count, trend, simulate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Empirical demand quantiles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trend extrapolation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calendar multipliers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Monte Carlo simulation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demand range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Per-week P10–P90 range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CE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8-week safety-stock target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36C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PLATE · P90 = 540 units / 8 wks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2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limits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cross-item learning</a:t>
            </a:r>
            <a:r>
              <a:rPr lang="en-US" sz="12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</a:t>
            </a:r>
            <a:r>
              <a:rPr lang="en-US" sz="1200" b="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cold-start items forecast ZERO</a:t>
            </a:r>
            <a:r>
              <a:rPr lang="en-US" sz="120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</a:t>
            </a:r>
            <a:r>
              <a:rPr lang="en-US" sz="1200" b="1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bands are fixed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 |  22nd Century Technologies  |  DLA EDM Vector Intelligence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data, re-imagined as living digital entities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identical records become connected, time-aware entities — ready for GenAI-grade operations.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926080" cy="352044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data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requisition history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&amp; inventory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 &amp; depot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83864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945636" y="1572768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74236" y="1773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74236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re-imagine the data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74236" y="24688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7116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tracked over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74236" y="3072384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57116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from similar items (peers)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4236" y="3675888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57116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drift — where it’s heading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74236" y="4279392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57116" y="4279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Adjusts uncertainty dynamically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805672" y="1572768"/>
            <a:ext cx="2928823" cy="352044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34272" y="1773936"/>
            <a:ext cx="2471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84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34272" y="2066544"/>
            <a:ext cx="2471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forward-looking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34272" y="2441448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98864" y="2615184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45752" y="2441448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demand model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034272" y="3008376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198864" y="3182112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45752" y="3008376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behavioral drift signal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34272" y="3575304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98864" y="3749040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45752" y="3575304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Calibrated, uncertainty-aware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34272" y="4142232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98864" y="4315968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45752" y="4142232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 little or no history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data, a richer model — it captures </a:t>
            </a: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item HAS done</a:t>
            </a: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plus </a:t>
            </a: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it’s HEADING</a:t>
            </a:r>
            <a:r>
              <a:rPr lang="en-US" sz="1250" dirty="0">
                <a:solidFill>
                  <a:srgbClr val="1D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 |  22nd Century Technologies  |  DLA EDM Vector Intelligence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difference: same data, a calibrated result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same item, EDM right-sizes the 8-week plan — earlier warning, less waste.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12648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8-week plan — Legacy vs EDM (units)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130552"/>
          <a:ext cx="58064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58000" y="1627632"/>
            <a:ext cx="4876495" cy="1554480"/>
          </a:xfrm>
          <a:prstGeom prst="roundRect">
            <a:avLst>
              <a:gd name="adj" fmla="val 4706"/>
            </a:avLst>
          </a:prstGeom>
          <a:solidFill>
            <a:srgbClr val="102A4C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32320" y="182880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36C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~$931K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132320" y="249631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6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avoided over-procurement on a single item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3346704"/>
            <a:ext cx="48764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059168" y="3657600"/>
            <a:ext cx="164592" cy="16459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33488" y="3456432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Sees the trajectory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333488" y="3730752"/>
            <a:ext cx="4218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Catches demand fading before the counts confirm it.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4242816"/>
            <a:ext cx="48764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59168" y="4553712"/>
            <a:ext cx="164592" cy="16459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33488" y="4352544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Right-sized buffer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333488" y="4626864"/>
            <a:ext cx="4218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540 → 228 units at P90 — 137% less over-order.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0" y="5138928"/>
            <a:ext cx="48764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059168" y="5449824"/>
            <a:ext cx="164592" cy="164592"/>
          </a:xfrm>
          <a:prstGeom prst="ellipse">
            <a:avLst/>
          </a:prstGeom>
          <a:solidFill>
            <a:srgbClr val="F36C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33488" y="5248656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drivers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333488" y="5522976"/>
            <a:ext cx="4218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why the plan changed, for SME review.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/ representative demo data — to be revalidated on DLA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 |  22nd Century Technologies  |  DLA EDM Vector Intelligence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348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vs EDM Demand Forecast</dc:title>
  <dc:subject>PptxGenJS Presentation</dc:subject>
  <dc:creator>22nd Century Technologies</dc:creator>
  <cp:lastModifiedBy>Ravindra Shukla</cp:lastModifiedBy>
  <cp:revision>1</cp:revision>
  <dcterms:created xsi:type="dcterms:W3CDTF">2026-06-13T21:16:26Z</dcterms:created>
  <dcterms:modified xsi:type="dcterms:W3CDTF">2026-06-14T02:18:13Z</dcterms:modified>
</cp:coreProperties>
</file>