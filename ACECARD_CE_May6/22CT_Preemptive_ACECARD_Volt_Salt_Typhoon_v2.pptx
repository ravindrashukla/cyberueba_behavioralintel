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C18C4-F838-4C5F-86F2-11596A3BC59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D5FF-2EC2-4E05-8080-C5D4C09C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3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CD5FF-2EC2-4E05-8080-C5D4C09C8B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06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22nd Century Technologies Inc.</a:t>
            </a:r>
            <a:br/>
            <a:r>
              <a:t>COMPREHENSIVE DEFENSE AGAINST</a:t>
            </a:r>
            <a:br/>
            <a:r>
              <a:t>VOLT &amp; SALT TYPHOON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Cyber Defense  + 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22nd Century Technologies Inc. (TSCTI)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PREEMPTIVE LAYER</a:t>
            </a:r>
            <a:br/>
            <a:r>
              <a:t>Mathematically verifies every defensive control</a:t>
            </a:r>
            <a:br/>
            <a:r>
              <a:t>closes every known 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BEHAVIORAL LAYER</a:t>
            </a:r>
            <a:br/>
            <a:r>
              <a:t>ACECARD UEBA</a:t>
            </a:r>
            <a:br/>
            <a:r>
              <a:t>Continuous 1536-d behavioral trajectories</a:t>
            </a:r>
            <a:br/>
            <a:r>
              <a:t>with MITRE-mapped drift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Threat: Two Apex Predators in U.S.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Both groups are PRC state-sponsored. Both prepare for disruption. Both walked past commercial defenses undetected.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5029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Georgia"/>
              </a:defRPr>
            </a:pPr>
            <a:r>
              <a:t>VOLT TYPHOON  (CISA AA24-038A)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Pre-position in U.S. critical infrastructure (energy, water, transport, comms) for sabotage during geopolitical crisis.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SIGNATURE 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Initial access via unpatched edge devices (Fortinet, Versa, Ivanti, PAN)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Living-off-the-Land: wmic, ntdsutil, netsh, rundll32, certutil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KV Botnet C2 (compromised SOHO routers)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Credential dumping: ntdsutil ifm, LSASS extraction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Lateral: SMB/RDP/WinRM with stolen admin credentials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Persistence: 5+ YEARS undetected dwell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No malware. No signatures. No IOCs.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Every tool used is a legitimate Windows binary.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91440" cy="5029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Georgia"/>
              </a:defRPr>
            </a:pPr>
            <a:r>
              <a:t>SALT TYPHOON  (CISA AA25-239A)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Espionage at carrier scale. Compromised 200+ telcos in 80+ countries. Accessed CALEA lawful intercept.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SIGNATURE TTPs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Exploits known CVEs: Cisco IOS XE (CVE-2023-20198), Ivanti, PAN, Citrix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Creates local admin accounts on routers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Modifies ACLs to whitelist attacker IPs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TACACS+ credential capture (TCP/49)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GRE tunneling + JumbledPath malware for C2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CALEA wiretap access + CDR exfiltration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GhostSpider, Demodex, SnappyBee implants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4+ YEARS undetected. 9 US telcos confirmed.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Sources: CISA AA24-038A; CISA AA25-239A; FBI/NSA/Five-Eyes Joint Advisory; Microsoft Threat Intelligence; Trend Micro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Defenses Fail Against These Adversaries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-- one in preemption, one in detection -- that traditional tooling cannot close.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PREEMPTIVE LAYER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99% of firewall breaches are misconfiguration (Gartner)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Pentest: point-in-time, incomplete, expensive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ASM: sees what exists, not what is REACHABLE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review: manual, stale within hours of completion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2^8000 rule state space cannot be sampled adequately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LAYER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Threshold-based UEBA: LoTL never crosses fixed thresholds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Sigma rules: adversary downloads published rules, retool in 2 weeks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Per-source silos: each system sees 1 identity, no cross-domain correlation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Anomaly score without direction: "87% anomalous" -- anomalous HOW?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30-45 min analyst triage per alert (MTTR &gt; dwell window)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 behavioral TRAJECTORY -- only point-in-time snapshots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06424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WHAT THESE ADVERSARIES EXPLOIT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Configuration gaps exist that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Both Typhoons enter via unpatched/misconfigured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07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Valid credentials are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07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91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LoTL tools are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91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wmic/ntdsutil/netsh are legitimate admin tools --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755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Slow drift is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75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59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attack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tools that could have detected either campaign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CYBERSECURITY LIFECYCLE  --  PREEMPTIVE vs. REACTIVE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Cybersecurity Lifecycle: Preemptive vs.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Calibri"/>
              </a:defRPr>
            </a:pPr>
            <a:r>
              <a:t>Where attacks are neutralized -- and where preemptive verification fills the gap no reactive tool can address.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8686800" cy="25603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1: Preempt &amp; 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52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A"/>
                </a:solidFill>
                <a:latin typeface="Calibri"/>
              </a:defRPr>
            </a:pPr>
            <a:r>
              <a:t>The missing layer -- before any traffic 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645920" cy="16459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~85%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of attack surface</a:t>
            </a:r>
            <a:br/>
            <a:r>
              <a:t>eliminated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645920"/>
            <a:ext cx="640080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16642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B3A"/>
                </a:solidFill>
                <a:latin typeface="Calibri"/>
              </a:defRPr>
            </a:pPr>
            <a:r>
              <a:t>Preemptive posture verification -- formal mathematical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92024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Attack Intelligence: LLMs + NLP ingest threat intel (CVEs, IOCs, IOAs) to build MITRE ATT&amp;CK attack graphs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Defense Intelligence: Formal math model of all NGFW configs (100K+ states, 2^8000 defense space) -- no sampling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Remediation Intelligence: Guardrailed agentic-AI prescribes vendor-specific, risk-prioritized fixes -- no new errors</a:t>
            </a:r>
          </a:p>
          <a:p>
            <a:pPr>
              <a:spcBef>
                <a:spcPts val="400"/>
              </a:spcBef>
              <a:defRPr sz="850" b="1">
                <a:solidFill>
                  <a:srgbClr val="0B1F3A"/>
                </a:solidFill>
                <a:latin typeface="Calibri"/>
              </a:defRPr>
            </a:pPr>
            <a:r>
              <a:t>Finds: shadows, conflicts, weak rules, redundancies, missing threat profiles, intent errors, multi-rule/device errors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800" b="0">
                <a:solidFill>
                  <a:srgbClr val="C0392B"/>
                </a:solidFill>
                <a:latin typeface="Calibri"/>
              </a:defRPr>
            </a:pPr>
            <a:r>
              <a:t>99% of firewall breaches are caused by misconfiguration, not flaws in the firewall itself (Gartner)</a:t>
            </a:r>
          </a:p>
          <a:p>
            <a:pPr>
              <a:spcBef>
                <a:spcPts val="400"/>
              </a:spcBef>
              <a:defRPr sz="800" b="1">
                <a:solidFill>
                  <a:srgbClr val="166B3A"/>
                </a:solidFill>
                <a:latin typeface="Calibri"/>
              </a:defRPr>
            </a:pPr>
            <a:r>
              <a:t>No telemetry  |  No agents  |  Config-only pull  |  Zero false positives  |  Time to value &lt; 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5956" y="3749541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6B3A"/>
                </a:solidFill>
                <a:latin typeface="Calibri"/>
              </a:defRPr>
            </a:pPr>
            <a:r>
              <a:rPr dirty="0"/>
              <a:t>Pushes verified, flawless rules down to...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840480"/>
            <a:ext cx="8686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A6878"/>
                </a:solidFill>
                <a:latin typeface="Calibri"/>
              </a:defRPr>
            </a:pPr>
            <a:r>
              <a:t>The live environment -- all tools below are reactive (detect &amp; respond after breach)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86868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2: Prevent (perimeter)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NGFW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Palo Alto, Fortinet, Cisco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Vuln Scanners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Qualys, Tenable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IAM / PAM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CyberArk, Okta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ZTNA / CASB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Zscaler, Netskope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023360"/>
            <a:ext cx="1097280" cy="7315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4069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blocked at</a:t>
            </a:r>
            <a:br/>
            <a:r>
              <a:t>perimeter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846320"/>
            <a:ext cx="5486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If attacker bypasses perimeter... (avg. breakout: 29 min)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29200"/>
            <a:ext cx="86868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04748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3: Detect &amp; respond (endpoints &amp; network)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EDR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CrowdStrike, Defender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7744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888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NDR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Darktrace, ExtraHop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UEBA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Behavioral analytics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DLP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Symantec, Forcepoint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5029200"/>
            <a:ext cx="1097280" cy="731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12480" y="5074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caught at</a:t>
            </a:r>
            <a:br/>
            <a:r>
              <a:t>endpoints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85216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Sends alerts and logs...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989320"/>
            <a:ext cx="86868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60076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4: Visibility &amp; triage (the SOC)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6291072"/>
            <a:ext cx="173736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63093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5566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Splunk, Sentinel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77440" y="6291072"/>
            <a:ext cx="173736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68880" y="63093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SOAR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645566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XSOAR, Splunk SOAR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5989320"/>
            <a:ext cx="10972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12480" y="6035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63550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triaged by</a:t>
            </a:r>
            <a:br/>
            <a:r>
              <a:t>SOC analysts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92640" y="1188720"/>
            <a:ext cx="2286000" cy="5394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692640" y="1188720"/>
            <a:ext cx="91440" cy="539496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875520" y="1234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B3A"/>
                </a:solidFill>
                <a:latin typeface="Calibri"/>
              </a:defRPr>
            </a:pPr>
            <a:r>
              <a:t>THE TAKEAWAY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1554480"/>
            <a:ext cx="1920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CrowdStrike, Defender, Splunk are reactive -- alarms that go off when the burglar is already inside.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1">
                <a:solidFill>
                  <a:srgbClr val="0B1F3A"/>
                </a:solidFill>
                <a:latin typeface="Calibri"/>
              </a:defRPr>
            </a:pPr>
            <a:r>
              <a:t>We ensure the locks on the doors (NGFWs) were actually installed correctly in the first place.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1">
                <a:solidFill>
                  <a:srgbClr val="166B3A"/>
                </a:solidFill>
                <a:latin typeface="Calibri"/>
              </a:defRPr>
            </a:pPr>
            <a:r>
              <a:t>Mathematically guaranteeing the burglar can never get in.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We find what no other tool can: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Shadowed rules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Multi-rule conflicts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Missing threat profiles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Intent errors in 100K+ config states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800" b="1">
                <a:solidFill>
                  <a:srgbClr val="B8862A"/>
                </a:solidFill>
                <a:latin typeface="Calibri"/>
              </a:defRPr>
            </a:pPr>
            <a:r>
              <a:t>Gartner predicts: by 2030, preemptive cyber will be 50% of IT security spending, up from &lt;5% in 2024.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675120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Gartner predicts: by 2030, preemptive cybersecurity will account for 50% of IT security spending, up from &lt;5% in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Two-Layer Answer: Preemptive + Behavioral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22CT Preemptive shrinks the attack surface mathematically. ACECARD detects what remains behaviorally.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212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1 -- 22CT PREEMPTIVE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NGFW, IPS, IdP, SASE, and WAF. Reasons exhaustively over 2^8000 state space to PROVE no attack path exists.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F26B1F"/>
                </a:solidFill>
                <a:latin typeface="Calibri"/>
              </a:defRPr>
            </a:pPr>
            <a:r>
              <a:t>WHAT IT PROVES: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Every known CVE path is blocked (or compensating control identified)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Every threat-feed C2 destination is denied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is caught within 1 hour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Segmentation intent holds end-to-end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MATHEMATICAL GUARANTEE: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 false positives. No false negatives.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reasoning. Not sampling.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52120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2 -- ACECARD UEBA (BEHAVIORAL)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into 1536-d vectors. Tracks behavioral TRAJECTORY. Detects drift toward MITRE-mapped threat concepts.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WHAT IT CATCHES: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Compromised valid credentials (T1078)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Living-off-the-Land chains (T1059)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Slow APT drift (CUSUM catches sub-threshold accumulation)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Cross-domain lateral movement via entity fusion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STRUCTURAL INNOVATION: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Not what is anomalous -- what they are BECOMING.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Direction, not just magnitude.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Together: either the attack surface never existed (Preemptive) OR the attack is detected within hours (ACECARD + ABAC)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Close the Door Before They Knock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Mathematically rigorous, preemptive cyber defense -- Complete, Continuous, Verifiable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Analyze All Known Threat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Terabytes of CVE, advisories, CTI, IOCs, IOAs, PSIRTs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MITRE-enriched attack graphs built by ML/NLP/LLM pipeline. Full TTP coverage of Volt Typhoon (G1017) and Salt Typhoon. Auto-updates on new advisory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Identify Every Defensive Control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Exponential combination of NGFW, IdP, IPS, SASE, WAF configs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Symbolic Model of Computation. Formal mathematical model -- exhaustively reasons over the 2^8000 state space. No sampling. Complete reasoning. Every possible path analyzed.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Prescribe Correct Configurations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Without creating new errors or business disruption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Grounded agentic-AI reasoners. Risk-prioritized, vendor-specific fixes. No false positives (mathematically proven). No false negatives (exhaustive analysis).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The world's first Mathematically Rigorous -- Complete, Preemptive, Continuous, Verifiable -- Cyber Defense Platform.  |  22nd Century Technologies Inc.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FORMAL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Formal Model: Why 2^8000 Cannot Be Sampled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Traditional scanners sample configurations. Our platform reasons EXHAUSTIVELY over the entire state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THE PROBLEM WITH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 typical enterprise NGFW has: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5,000 - 50,000 firewall rules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Each: src zone, dst zone, src IP, dst IP, port, app, user, action, profile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Interactions: 50,000^2 = 2.5 billion pairwise rule relationships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Multi-vendor: 3-10 firewalls in series/parallel paths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200" b="1">
                <a:solidFill>
                  <a:srgbClr val="0B1F3A"/>
                </a:solidFill>
                <a:latin typeface="Calibri"/>
              </a:defRPr>
            </a:pPr>
            <a:r>
              <a:t>Total combinatorial state space: ~2^8000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Sampling 1 billion paths/second for 1 year: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= 3.15 x 10^16 samples (vs 2^8000 = 10^2408 total)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Coverage: effectively 0.000...0%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743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22CT: SYMBOLIC MODEL OF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Instead of sampling, we build a mathematical MODEL: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1. Parse all rules into symbolic representation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2. Build constraint-satisfaction model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3. For each threat (CVE, C2 dest, lateral path):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   "Does ANY rule combination ALLOW this traffic?"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4. Solver PROVES answer is NO (safe) or YES (gap)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Result: COMPLETE coverage of 2^8000 in seconds</a:t>
            </a:r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No sampling. No probabilistic reasoning.</a:t>
            </a:r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Mathematical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106424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91440" cy="1828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NOBODY ELSE HAS THIS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761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Traditional Pentest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761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1-2 weeks, finds 5-15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761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Point-in-time, incomplete, expensive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8348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9961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Vulnerability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961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Samples known CVEs against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961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Misses rule interactions and shadows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0352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3162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Attack Surface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162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Enumerates external-facing 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162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Sees what exists, not what is REACHABLE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23560"/>
            <a:ext cx="22860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6362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22CT FORMAL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6362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Models ALL paths through ALL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6362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Complete, continuous, no gaps, vendor fixes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Gartner 2024: "99% of firewall breaches are caused by misconfiguration, not firewall flaws." 22CT Preemptive eliminates that 99%.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STOPPING VOLT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Stops Volt Typhoon -- Phase by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Volt Typhoon needs configuration weakness to enter and pivot. 22CT proves those weaknesses do not exist.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4297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22CT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27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Initial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62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Scans for unpatched Fortinet, Ivanti, Versa, PAN edge devices. Exploits CVE-2024-21887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627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Ingests CISA/vendor PSIRTs. Proves every NGFW/VPN/SASE has IPS signature enforced. No patch =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04592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0459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Web shells (.aspx/.jspx). C2 through KV botnet of compromised SOHO routers.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045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Models 50M+ rule combinations. Proves all threat-feed IPs/domains blocked.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21024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46424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Credential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4642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ntdsutil dump NTDS.dit. LSASS extraction. Exfiltrates creds to C2.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4642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Verifies EDR/EPP coverage on DCs. Script-control blocks ntdsutil for non-admin. Egress filtering 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6285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88256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Lateral 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8825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SMB/RDP/WinRM to domain controllers. Admin share access.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825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Real finding: 3 rules shadowed SMB IPS. Micro-segmentation: user VLAN proven unable to reach DC mgmt.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04688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0088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Pre-positioning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3008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Network mapping + credential harvest for future sabotage. 5+ year dwell.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00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Continuous re-verification hourly + on every config change. Zero-trust segmentation re-proven.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Bottom line: 22CT Preemptive doesn't detect Volt Typhoon -- it makes the infrastructure impervious to their entry technique.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STOPPING SALT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Stops Salt Typhoon -- Carrier-Scale Edge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Salt Typhoon lives on misconfigured Cisco/Ivanti/PAN edge gear. 22CT verifies every config every hour.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4297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22CT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27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Edge CVE Exploit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62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Cisco IOS XE web UI (CVE-2023-20198) for level-15 admin. 1000+ devices targeted.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627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CVE-to-control mapping automatic. Proves WAF/mgmt-plane ACL blocks /webui/. Compensating control for unpatched.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04592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0459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Local admin accounts. Router ACL modifications. Guest Shell. 3+ years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045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Config Drift: approved baseline compared hourly. Any unauthorized ACL/AAA change = immediate gap finding.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21024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46424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TACACS+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4642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Captures TACACS+ on TCP/49 via on-box pcap. Harvests creds. JumbledPath C2.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4642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Mgmt-plane segmentation verified. On-box capture restricted. JumbledPath C2 IPs blocked all zones.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6285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88256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GRE Tunnel +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8825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GRE tunnel between compromised routers. Encrypted C2. Multi-hop chains.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825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GRE peer authorization verified. Unauthorized tunnel endpoints detected. Egress: only approved protocols.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04688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0088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CALEA Exfil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3008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CALEA lawful intercept access. CDR/metadata exfiltration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00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CALEA-zone segmentation proven end-to-end. DLP on CDR stores. Outbound restrictions verified.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Salt Typhoon: 200+ telcos, 80+ countries, 4+ years. Every phase requires a misconfigured edge device. 22CT proves correct.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Where Preemptive Needs Help -- Why ACECARD Belongs Next to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preemptive layer closes the configuration attack surface. Three classes of attack remain.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1. Zero-Day / Unknown 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No signature, no IOC, no MITRE mapping yet = nothing for preemptive layer to prove against.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Detects behavioral drift even with no label. Post-exploitation ALWAYS creates drift.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63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Calibri"/>
              </a:defRPr>
            </a:pPr>
            <a:r>
              <a:t>2. Compromised Valid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Both Typhoons abuse stolen valid credentials. Correctly-configured controls ALLOW this traffic by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Cohort z-score + cosine drift catches abuse -- same credentials, different behavioral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91440" cy="1463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2ED9"/>
                </a:solidFill>
                <a:latin typeface="Calibri"/>
              </a:defRPr>
            </a:pPr>
            <a:r>
              <a:t>3. Living-off-the-Land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wmic, ntdsutil, netsh, rundll32 -- legitimate admin tools. Cannot be blanket-blocked.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5-signal embedding captures the COMBINATION of LoTL tools + timing + targets. Tool-agnostic detection.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Configuration preemption is necessary but not sufficient. Behavioral detection closes the remaining surface.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BEHAVIORAL LAYER  -- 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UEBA Misses Volt Typhoon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Both campaigns relied on Living-off-the-Land tradecraft. Both walked past every commercial UEBA.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26B1F"/>
                </a:solidFill>
                <a:latin typeface="Georgia"/>
              </a:defRPr>
            </a:pPr>
            <a:r>
              <a:t>&gt;= 5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Volt Typhoon undetected dwell</a:t>
            </a:r>
            <a:br/>
            <a:r>
              <a:t>in U.S. critical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The Four Structural Gaps in Commercial 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373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Each one is exactly the gap Volt Typhoon and Salt Typhoon exploit.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Threshold-based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Alerts fire only when a metric crosses a fixed line. LoTL never crosses any single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03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Volt Typhoon process tree was within "normal" at every single data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Per-source siloed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Each tool sees one identity. AD, AAD, Okta, AWS, K8s -- separate systems, no correlation.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03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Cross-domain attack chains never escalate above per-source noise floor.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Static rules, decaying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54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Sigma/CAR rules require maintenance. Adversary retool cycle: 2-4 weeks. Defender: 1-3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By the time a Sigma rule is published, the tradecraft has already evolved.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891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3891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3891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Anomaly score without 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754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"User is 87% anomalous" -- anomalous HOW? No MITRE mapping. No kill-chain position.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Mean time to investigate exceeds dwell window -- even when detection fires.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STRUCTURAL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Innovations That Close the Four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innovation directly addresses one of the four structural gaps that Volt/Salt Typhoon exploit.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TRAJECTORY, not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91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Track HOW entities EVOLVE over time. CUSUM catches drift that never crosses a fixed threshold. 5+ year APT = detected in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488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1: Threshold-based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060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80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One entity_uuid resolves AD, AAD, Okta, AWS, K8s, CrowdStrike, VPN, Splunk, PKI, TACACS+ into single behavioral entity.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375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2: Per-source silos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4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947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OBJECTIVES, not tool signatures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69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Detect the EFFECT of the attack (credential access, lateral movement) not the TOOL (ntdsutil vs secretsdump vs mimikatz).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262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3: Static rules / rule decay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3776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029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83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257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 cosine + credential_dumping (T1003) at 0.54."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7150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4: Anomaly without direction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has ALL FOUR. Most have zero. This is the innovation gap we close.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Dual Embedding Architecture: 6 Vectors = 9,216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individually embedded (1536-d) + one fused composite. Per-signal drift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731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Each of the 5 signals is INDIVIDUALLY embedded at 1536-d (per-signal drift tracking). All 5 are also concatenated into one COMPOSITE 1536-d vector (holistic entity state). Total: 6 vectors = 9,216 dimensions per entity per window.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194560" cy="32004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2194560" cy="320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286000"/>
            <a:ext cx="219456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286000"/>
            <a:ext cx="219456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286000"/>
            <a:ext cx="219456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2186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All 5 concatenated -&gt; 1 COMPOSITE 1536-d vector (holistic entity behavioral state)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49039"/>
            <a:ext cx="347472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749039"/>
            <a:ext cx="91440" cy="1371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DIMENSIONS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5 individual: 5 x 1,536 = 7,680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1 composite: 1 x 1,536 = 1,536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TOTAL: 6 x 1,536 = 9,216 dims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49039"/>
            <a:ext cx="365760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06240" y="3749039"/>
            <a:ext cx="91440" cy="1371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WHY INDIVIDUAL + COMPOSITE?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0233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Composite: "entity behavior changed"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Individual: "AUTH drove 72% of change"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Direction: "PROCESS signal drifting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  toward lotl_execution (T1059)"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3749039"/>
            <a:ext cx="347472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3749039"/>
            <a:ext cx="914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0233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IL5: OpenAI text-embedding-3-small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IL6: Local Phi-4 (14B) or Mistral 7B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JWICS: Same SLM, air-gapped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Switch: env var only, no code change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3035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91440" cy="4572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349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Calibri"/>
              </a:defRPr>
            </a:pPr>
            <a:r>
              <a:t>PRIVACY: No raw event content sent to embedding provider. Only summarized metrics. No usernames, IPs, paths. JWICS-safe.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NOBODY IN THE INDUSTRY embeds behavioral signals into a unified vector space with per-signal drift decomposition.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FIVE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Five Behavioral Signals: Sources, Metrics,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summarizes one dimension of behavior. Together they capture the complete entity footprint.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" cy="9144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89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Win 4624/4625/4768, Okta, AAD, AWS CloudTrail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8988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Brute force, Pass-the-Hash, lateral movement, impossible travel, MFA bypass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097280" cy="9144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00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Sysmon EID 1/3/7/8, CrowdStrike, Defender, auditd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500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 chains (Volt Typhoon), code injection, encoded PowerShell, deep process trees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097280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3101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unique_dest_ips, bytes_out_ratio, beacon_score, dns_query_rate, geo_anomaly, admin_share_access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31012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C2 beaconing, data exfiltration, DNS tunneling, scanning, GRE tunneling (Salt)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1097280" cy="9144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70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Sysmon EID 11, Win 4663, DLP, cloud storage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files_created, files_deleted, sensitive_access, archive_creates, extension_changes, shadow_copy_ops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27024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Ransomware, exfil staging, insider theft, credential file access, pre-encryption shadow delete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09728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3949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30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23036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Privilege escalation, Golden ticket, MFA bypass, service account abuse, insider admin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30 metrics across 5 signals. ALL embedded into unified 1536-d space. Drift = attack. Direction = MITRE technique.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CUSUM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CUSUM: Catching What Thresholds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detects small, sustained behavioral shifts over time -- the Volt Typhoon signature.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560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60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scadia Code"/>
              </a:defRPr>
            </a:pPr>
            <a:r>
              <a:t>S(t) = max(0, S(t-1) + drift(t) - (mu + k))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S(t) = CUSUM statistic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drift(t) = cosine distance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= expected mean drift (30-day rolling baseline)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 = slack = 0.5 * sigma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 * sigma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Key: S(t) resets to 0 when drift returns to normal.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 false accumulation from benign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560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CONCRETE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Typical baseline sigma = 0.03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(tolerates drift up to baseline + 0.015)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(alarm at 0.12 accumulated excess)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Sustained drift of 0.06/window: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excess = 0.06 - 0.03 - 0.015 = 0.015/window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  ALARM in 0.12/0.015 = 8 windows (8 hours)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06424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91440" cy="2103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WHY CUSUM CATCHES VOLT TYPHOON BUT THRESHOLDS DO NOT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FIXED THRESHOLD = 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drift per window = 0.01-0.04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NEVER crosses 0.15. Ever.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Attacker operates for 5+ YEARS undetected.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72000"/>
            <a:ext cx="5029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CUSUM (h = 4*sigma = 0.12)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Same drift 0.03-0.04 ACCUMULATES over windows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CUSUM alarm in 4-8 days.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Dwell time: YEARS -&gt; DAYS.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uses CUSUM on behavioral embeddings. This is original research applied to cybersecurity.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DRIFT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Drift Direction: 8 MITRE-Mapped Threat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concept is text-embedded into the same 1536-d space. Cosine projection tells WHAT the entity is BECOMING.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94560" cy="25603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843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credential_dumping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843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898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LSASS access, SAM reads, ntdsutil, DCSync, Kerberoasting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4767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47672"/>
            <a:ext cx="2194560" cy="256032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603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lateral_movement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603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659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RDP/WinRM/SSH to new hosts, admin shares, PtH/PtT, unique_hosts spike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2374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23744"/>
            <a:ext cx="2194560" cy="2560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364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data_exfiltration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364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4203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Bytes-out inversion, archive staging, cloud uploads, DNS tunneling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99816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099816"/>
            <a:ext cx="2194560" cy="25603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1125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c2_beaconing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1125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11810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Regular-interval callbacks, DGA domains, encrypted channels, KV botnet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75888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675888"/>
            <a:ext cx="219456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6885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lotl_execution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6885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9417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wmic/ntdsutil/netsh/rundll32 chains, encoded PowerShell, deep trees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5196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2646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privilege_escalation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2646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2702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Group adds (Domain Admins), sudo abuse, token manipulation, delegation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2803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828032"/>
            <a:ext cx="2194560" cy="25603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8407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defense_evasion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8407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AV exclusions, log clearing, agent tampering, timestomping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0410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404104"/>
            <a:ext cx="2194560" cy="25603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54168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insider_hoarding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4168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4223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Steady sensitive access increase, bulk downloads, data staging over months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03504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603504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605332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projection = cosine(drift_vector, concept_embedding). Top 3 returned with MITRE IDs. Result: "Entity drifting toward lateral_movement (0.82, T1021) + lotl_execution (0.71, T1059)" -- actionable, mappable, auditable.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projects drift direction onto MITRE techniques. This is the core innovation.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ENTITY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Entity Fusion: Solving Identity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One human = 10+ identifiers across 6+ systems. Without fusion, lateral movement is invisible.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ONE PERSON = 10+ IDENTIFIERS  (John Smith, Tier-2 SOC Analyst)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46304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415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Active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415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CORP\jsmith / S-1-5-21-...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75688"/>
            <a:ext cx="146304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883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Azure AD (Entra)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883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john.smith@corp.mil / ObjectId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146304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3352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Okta 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352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john.smith@corp.mil / 00u1a2b3c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9464"/>
            <a:ext cx="146304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821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AWS 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5821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arn:aws:iam::842:user/jsmith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16352"/>
            <a:ext cx="146304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8290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8290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system:sa:soc:jsmith-sa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146304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0759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CrowdStrike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0759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aid:abc123 / JSMITH-WS01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10128"/>
            <a:ext cx="146304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3228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VPN/RADIUS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228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jsmith@corp.mil (cert DN)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57016"/>
            <a:ext cx="146304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5697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Splunk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5697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src_user=jsmith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03904"/>
            <a:ext cx="146304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8166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PKI/CAC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8166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CN=SMITH.JOHN.Q.123456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50792"/>
            <a:ext cx="146304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0634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TACACS+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0634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jsmith (net device auth)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6B1F"/>
                </a:solidFill>
                <a:latin typeface="Calibri"/>
              </a:defRPr>
            </a:pPr>
            <a:r>
              <a:t>=&gt;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1828800"/>
            <a:ext cx="5943600" cy="274320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0" y="1828800"/>
            <a:ext cx="91440" cy="2743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1874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RESOLVED ENTITY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1488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entity_uuid: e7a2b3c4-9f1d-4e8b-a2c7-3d5f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4688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Resolution layers: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1. Deterministic: email match (AD + AAD + Okta + VPN)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2. Deterministic: EDIPI from CAC matches HR record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3. Probabilistic: CrowdStrike agent on hostname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4. Graph: connected component = all 10 identifiers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All 5 signals from ALL sources feed ONE embedding.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Lateral across 5 systems = 1 strong signal.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548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75488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WITHOUT ENTITY FUSION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AD: 1 normal logon (score 0.3)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AAD: 1 normal sign-in (score 0.25)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AWS: 1 normal login (score 0.2)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K8s: 1 normal kubectl (score 0.15)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4 alerts below threshold. No correlation.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7548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7920" y="4754880"/>
            <a:ext cx="91440" cy="1554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WITH ENTITY FUSION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ONE entity, ALL events fused: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4 cross-system logins in 1 hour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Composite drift: 0.23 (significant)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1 HIGH alert: lateral_movement (0.82)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resolves 10+ identity systems into a unified behavioral entity. This is infrastructure-level innovation.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ENTITY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4-Component Entity Signature: Forensic-Grade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Per entity, per window: identity proof + behavioral state + explainability + tamper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515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IDENTITY-GRAPH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417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SHA-256 of entity resolution graph (all linked IDs + correlation edges + confidence)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Proves WHO was resolved. Detects identity graph manipulation. Full audit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91440" cy="105156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BEHAVIORAL 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1536-d vector from embedding model (text-embedding-3-small or local SLM)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71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IS the behavioral state. Enables drift, direction, peer comparison, kill-chain reconstruction.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91440" cy="10515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2743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21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STRUCTURAL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703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JSONB document with all ~30 raw feature values: {"auth":{"logon_count":47,"failure_rate":0.032,...}}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14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Explainability: which specific metric drove the drift? Auditable numbers at detection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0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800600"/>
            <a:ext cx="91440" cy="10515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64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HMAC-CHAINED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846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HMAC-SHA256: HMAC(prev_hmac + embedding_hash + features_hash + timestamp)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257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Tamper-evident chain. Modifying ANY past snapshot breaks ALL subsequent HMACs.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618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Together: WHO was resolved (hash) + WHAT they did (embedding) + WHY the embedding looks that way (features) + WHEN it happened with proof of non-tampering (HMAC chain). Forensic-grade. Court-admissible. JWICS-deployable.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produces tamper-evident, forensic-grade behavioral evidence chains. This is novel.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ABAC TRUST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ABAC Trust State Machine: Proportional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Not binary lockout. Graduated, reversible, proportional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05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10312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TRUSTED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002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&gt; 70, no CUSUM concern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Normal operations. Standard access. Baseline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Default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91440" cy="10058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2103120" cy="3200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32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ELEVATED_WATCH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14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69748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70 OR cusum &gt; 2*sigma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26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1089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Step-up MFA. Increased log verbosity. Analyst notification.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461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health &gt; 75 for 24h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6616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91440" cy="10058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611880"/>
            <a:ext cx="210312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611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7947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40 OR cusum &gt; 3.5*sigma OR concept &gt; 0.55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23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20624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Read-only access. Lateral blocked. Incident ticket created.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3434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analyst + health &gt; 60 for 48h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6344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9144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210312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727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709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89204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20 OR cusum ALARM (4*sigma) OR concept &gt; 0.70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20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30352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All access revoked. Sessions terminated. IR team notified.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440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IR team manual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Detection to enforcement: &lt; 5 minutes. System improves with analyst feedback. False positive = auto-adjusts baseline.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COVERAGE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Combined Coverage: Which Layer Owns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adversary capability owned by the right layer. Preemption first, behavioral as backstop.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98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98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298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Why This Layer Owns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459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713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71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71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7190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728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713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is the gap -- formal proof patch enforced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1031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1285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28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28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1762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185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285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Math model finds shadows across multi-vendor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5603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5857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Router ACL tampering /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585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2585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26334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57800" y="26426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857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drift re-verifies hourly vs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0175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0429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042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042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3090672"/>
            <a:ext cx="1005840" cy="219456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3099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429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Preemptive blocks known; ACECARD catches unknown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4747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001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500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500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35478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57800" y="3557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001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319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39573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Living-off-the-Land (T1059)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957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957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40050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57800" y="4014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9573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lotl_execution concept + process signal shift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3891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44145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4414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4414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4622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57800" y="4471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4145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Entity fusion joins all identities -&gt; one drift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8463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8717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Slow APT (months/years)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871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3440" y="4871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57800" y="49194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57800" y="49286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8717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CUSUM 4-sigma accumulates sub-threshold drift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3035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53289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Zero-day / unknown TTPs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5328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63440" y="5328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57800" y="53766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57800" y="5385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53289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No MITRE label yet -&gt; behavioral anomaly only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7607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57861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0" y="5786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63440" y="5786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57800" y="58338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257800" y="5843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57861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insider_hoarding (T1074) + cohort z-score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Together: the attack surface never existed (Preemptive) OR the attack is detected and contained within hours (ACECARD + ABAC)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INNOVATION PROOF  --  NOBODY ELSE HAS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Exists vs.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our innovations against every commercial UEBA and preemptive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73152" cy="4389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0556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Formal verification of 2^8000 config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0556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Pentests sample. ASM enumerates. Nobody PROVES.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353312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136245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46504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746504"/>
            <a:ext cx="73152" cy="4389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77190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Zero false positives / zero false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77190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Mathematical guarantee, not probabilistic.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819656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18288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12848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212848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23824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Behavioral embedding in unified 1536-d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23824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Industry uses features/rules. We use vectors.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28600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22951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79192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679192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270459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Per-signal drift decomposition (5 individual)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0459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Others embed once. We embed 6x for attribution.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75234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276148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45536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145536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17093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on embedding trajectories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17093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Nobody applies sequential change-point to vectors.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218688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0" y="322783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61188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611880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63728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63728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"Drifting toward T1021" -- no other UEBA does this.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3685032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0" y="369417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078224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4078224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10362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10362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Commercial UEBA: 1-3 sources max. We fuse 10+.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4151376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0" y="416052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44568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4544568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456996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HMAC-chained forensic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56996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Tamper-evident behavioral chains. Novel.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461772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01200" y="462686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010912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" y="5010912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03631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ABAC trust loop with behavioral triggers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503631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Detection + enforcement in one system. &lt;5 min.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508406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601200" y="50932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477256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57200" y="5477256"/>
            <a:ext cx="73152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550265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Preemptive + behavioral in one platform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550265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Nobody combines formal config proof + behavioral AI.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5550408"/>
            <a:ext cx="1828800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01200" y="555955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Combined: 10 innovations that do not exist anywhere else in the industry. This is not incremental improvement.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REFERENCE  --  KEY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Numbers to Memorize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4632" y="12252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435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5+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435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dwell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" y="16367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655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4+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550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Salt Typhoon dwell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" y="20482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0665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665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Telcos compromised by Salt Typhoon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231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" y="24597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478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478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US telecoms confirmed compromised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" y="28712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8895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FW breaches = misconfig (Gartner)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461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4632" y="32826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3009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~20%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3009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Attacks stopped by KEV patching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" y="36941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7124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2^8000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12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state space (cannot be sampled)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0690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84632" y="41056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41239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1239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Rule combinations 22CT reasons 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4632" y="45171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45354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5354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positives (mathematical proof)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920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4632" y="49286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49469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9469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negatives (exhaustive reasoning)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3035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4632" y="53400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53583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&lt;1 hour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5358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11887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45352" y="12252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2" y="12435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1,536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12435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Embedding dims per signal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16002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45352" y="16367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91072" y="1655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9,216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16550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Total dims (6 x 1536) per entity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20116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45352" y="20482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91072" y="20665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20665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Behavioral signals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24231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245352" y="24597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91072" y="2478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2478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28346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45352" y="28712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91072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4-sigma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28895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alarm threshold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32461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245352" y="32826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91072" y="33009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33009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Event to analysis per entity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36576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245352" y="36941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91072" y="37124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10K/hr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3712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Entities per 4-vCPU worker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17920" y="40690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245352" y="41056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91072" y="41239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$90M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41239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22CT Army SOC/MDR contract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0" y="44805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245352" y="45171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91072" y="45354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800+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20" y="45354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Cleared analysts on contract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17920" y="48920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245352" y="49286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91072" y="49469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90 days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0" y="49469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Contract to first detection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7920" y="53035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245352" y="53400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91072" y="53583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IL5/IL6/JWICS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89520" y="5358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Three enclave support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BUILD YOUR DOME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closes the door. ACECARD watches the room.</a:t>
            </a:r>
            <a:br/>
            <a:r>
              <a:t>Together: comprehensive defense achieved.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22nd Century Technologies Inc.  |  Contact: ravindra.shukla@gmail.com  |  CFIC Augusta GA  |  May 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PREEMPTIVE: Formal mathematical proof that every known TTP path is blocked.</a:t>
            </a:r>
            <a:br/>
            <a:r>
              <a:t>BEHAVIORAL: Continuous 1536-d trajectory intelligence that catches what preemption cannot.</a:t>
            </a:r>
            <a:br/>
            <a:r>
              <a:t>INTEGRATED: Shared MITRE vocabulary, trust-floor coupling, closed-loop threat intel.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A  --  MATHEMATICAL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 Algorithm: Full Mathematical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(1954) -- sequential change-point detection applied to behavioral embedding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STEP 1: BEHAVIORAL DRIFT MEASUREMENT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For each entity e at time window t: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drift(e, t) = 1 - cosine_sim(V(e,t), V(e,t-1))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V(e,t) = 1536-d composite behavioral embedding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V(e,t-1) = previous window embedding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Range: 0.0 (identical) to 2.0 (opposite)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Typical healthy entity: drift ~ 0.02-0.05 per window</a:t>
            </a:r>
          </a:p>
          <a:p>
            <a:pPr>
              <a:spcBef>
                <a:spcPts val="400"/>
              </a:spcBef>
              <a:defRPr sz="1000" b="0">
                <a:solidFill>
                  <a:srgbClr val="C0392B"/>
                </a:solidFill>
                <a:latin typeface="Calibri"/>
              </a:defRPr>
            </a:pPr>
            <a:r>
              <a:t>Compromised entity: drift ~ 0.06-0.15 per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2860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STEP 2: BASELINE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Rolling baseline over N=30 windows: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mu(e) = mean(drift(e, t-N .. t-1))</a:t>
            </a:r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sigma(e) = stdev(drift(e, t-N .. t-1))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captures the entity's NORMAL drift rate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sigma captures how much that rate naturally varies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Example: mu=0.03, sigma=0.03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This entity normally drifts ~0.03/window +/- 0.03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STEP 3: CUSUM ACCUMULATION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Two parameters control sensitivity: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k (slack) = 0.5 * sigma  (allowable noise)</a:t>
            </a:r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h (threshold) = 4 * sigma  (alarm level)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The CUSUM statistic:</a:t>
            </a:r>
          </a:p>
          <a:p>
            <a:pPr>
              <a:spcBef>
                <a:spcPts val="200"/>
              </a:spcBef>
              <a:defRPr sz="1200" b="1">
                <a:solidFill>
                  <a:srgbClr val="C0392B"/>
                </a:solidFill>
                <a:latin typeface="Calibri"/>
              </a:defRPr>
            </a:pPr>
            <a:r>
              <a:t>S(t) = max(0,  S(t-1) + drift(t) - mu - k)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Key properties: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can only increase when drift &gt; mu + k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resets to 0 when drift returns to normal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ACCUMULATES excess drift over time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ALARM when S(t) &gt;=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STEP 4: WORKED EXAMPLE (VOLT TYPHOON)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Entity baseline: mu=0.03, sigma=0.03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APT drift per window = 0.06 (below threshold!)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Fixed threshold = 0.15 --&gt; NEVER fires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accumulation: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1: S = 0 + 0.06 - 0.03 - 0.015 = 0.015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2: S = 0.015 + 0.015 = 0.030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3: S = 0.030 + 0.015 = 0.045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4: S = 0.045 + 0.015 = 0.060</a:t>
            </a:r>
          </a:p>
          <a:p>
            <a:pPr>
              <a:spcBef>
                <a:spcPts val="400"/>
              </a:spcBef>
              <a:defRPr sz="900" b="0">
                <a:solidFill>
                  <a:srgbClr val="5A6878"/>
                </a:solidFill>
                <a:latin typeface="Calibri"/>
              </a:defRPr>
            </a:pPr>
            <a:r>
              <a:t>  ...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Window 8: S = 0.120 &gt;= h = 0.12  --&gt;  ALARM!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Dwell time: 5 YEARS (threshold) vs 8 HOURS (CUSUM)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A (cont.)  --  CUSUM vs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CUSUM Beats Every Alternative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sequential detection methods for behavioral embedding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5486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THE CORE INSIGHT: Slow APTs produce drift that NEVER exceeds a fixed threshold in any single window. CUSUM detects these by accumulating small excesses over time -- the mathematical equivalent of "death by a thousand cuts."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1214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03120"/>
            <a:ext cx="27432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2121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03120"/>
            <a:ext cx="27432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2121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103120"/>
            <a:ext cx="3749039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2121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WEAKNESS / VERDICT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494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Fixed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494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Alert if drift(t) &gt;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94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Simple, low 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494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Misses slow drift entirely. T=0.15: Volt Typhoon undetected for 5+ years.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73552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273552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98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298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Alert if (drift(t)-mu)/sigma &gt; 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298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Adapts to entity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9895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Still single-window. z=3: needs 3-sigma spike. Misses gradual shift.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78224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078224"/>
            <a:ext cx="73152" cy="777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1036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EWMA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103624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Z(t) = lambda*drift(t) + (1-lambda)*Z(t-1)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103624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Smooths noise, catches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103624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Lambda tuning fragile. Decays old signal. No formal ARL guarantee.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82896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882896"/>
            <a:ext cx="73152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9082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(Ours)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908296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S(t) = max(0, S(t-1)+drift(t)-mu-k)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08296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Accumulates excess. Resets on return.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908296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Optimal: minimizes detection delay for given false alarm rate (Lorden 1971).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760720"/>
            <a:ext cx="11064240" cy="731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760720"/>
            <a:ext cx="91440" cy="73152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77900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Calibri"/>
              </a:defRPr>
            </a:pPr>
            <a:r>
              <a:t>THEORETICAL GUARANTEE (Lorden 1971, Moustakides 1986)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35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is MINIMAX OPTIMAL: among all sequential tests with the same false-alarm rate (ARL0), CUSUM minimizes the worst-case detection delay. This is a proven mathematical result, not an empirical claim. No other method can detect faster without increasing false alarms.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B  --  MITRE ATT&amp;CK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MITRE ATT&amp;CK Technique IDs Used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Industry-standard adversary behavior taxonomy maintained by MITRE Corporation (attack.mitre.org).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80160"/>
            <a:ext cx="21031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280160"/>
            <a:ext cx="1645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2984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TACTIC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280160"/>
            <a:ext cx="6217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12984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DESCRIPTION &amp; RELEVANCE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556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671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Credential Dumping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6713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6713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Stealing passwords, hashes, tickets from OS. Includes LSASS, SAM, NTDS.dit, DCSync, Kerberoasting.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221992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313432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3317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247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Remote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2473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24739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Moving between systems via RDP, SMB/Windows Admin Shares, SSH, WinRM. Key Volt Typhoon technique.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9806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889504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9077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28234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Exfiltration Over C2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282346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Exfiltration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82346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Stealing data through the existing command-and-control channel rather than a separate connection.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374136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65576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838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33995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Command &amp; Scripting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339953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399536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Running commands via PowerShell, cmd, wmic, VBScript. Core Living-off-the-Land technique.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50208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041648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0599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3975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Application Layer Protocol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9756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Command &amp;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97560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C2 communication over HTTP/S, DNS, or other standard protocols to blend with normal traffic.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526280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617720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63600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455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Data Staged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4551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5516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Collecting and staging data in a central location before exfiltration. Key insider threat indicator.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10235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5193792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2120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00200" y="5127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51277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512775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Using stolen legitimate credentials. Passes every config-based check by design.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678424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57200" y="5769864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57881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570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Impair Defenses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03320" y="57038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570382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Disabling or modifying security tools: AV exclusions, log clearing, agent tampering, firewall rules.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6309360"/>
            <a:ext cx="11064240" cy="3657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57200" y="6309360"/>
            <a:ext cx="91440" cy="36576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63276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ACECARD drift direction projects behavioral drift onto these exact technique embeddings. "Drifting toward T1021 at 0.82" = actionable, auditable, MITRE-mapped intelligence.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B (cont.)  --  VOLT &amp; SALT TYPHOON ATT&amp;CK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Complete MITRE ATT&amp;CK Mapping: Volt Typhoon (G1017) &amp; Salt Typhoon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All techniques observed in CISA advisories AA24-038A and AA25-239A.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2801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93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80160"/>
            <a:ext cx="228600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1289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280160"/>
            <a:ext cx="53035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2893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280160"/>
            <a:ext cx="21945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72600" y="1289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81912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5946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946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Exploit Public-Facing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5946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Fortinet, Ivanti, Versa, PAN-OS CVEs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60934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16184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88236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900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19009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External Remote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900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VPN/SASE exploitation for initial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915668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19248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194560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2072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2072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2072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Stolen credentials from ntdsutil / LSASS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221992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22311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500884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25135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T1059.001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25135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PowerShell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25135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Encoded commands, download cradles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528316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0" y="25374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807208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28199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28199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WMI (wmic)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28199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Remote execution via WMI for LoTL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834640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0" y="28437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113532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312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T1003.003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3126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NTDS (ntdsutil)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31262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Domain controller NTDS.dit extraction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14096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18320" y="31501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419856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34325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T1003.001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4325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LSASS Memory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34325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Credential harvesting from LSASS process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447288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18320" y="34564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3726180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3738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T1021.002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37388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SMB/Admin Shares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37388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Lateral via C$ and ADMIN$ shares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753612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18320" y="37627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032504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0452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T1021.001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3080" y="40452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Remote Desktop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80" y="40452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RDP lateral movement with stolen creds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4059936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18320" y="4069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338828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8640" y="4351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T1071.001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3080" y="43515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Web Protocols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9080" y="43515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HTTPS C2, KV Botnet communication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20" y="4366260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418320" y="43754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4645152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8640" y="46578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3080" y="46578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Proxy (KV Botnet)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9080" y="46578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Compromised SOHO routers as proxy infra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467258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18320" y="46817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4951476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8640" y="49641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T1136.001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83080" y="4964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Create Local Account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69080" y="49641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Rogue admin accounts on Cisco IOS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18320" y="4978908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18320" y="49880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5257800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48640" y="52705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83080" y="52705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Modify Auth Process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69080" y="52705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TACACS+ credential capture (TCP/49)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418320" y="5285232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4183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5564124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48640" y="5576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T1572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3080" y="55768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Protocol Tunneling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69080" y="557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GRE tunnels between compromised routers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18320" y="5591556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418320" y="56007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5870448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48640" y="58831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83080" y="58831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Exfil Over C2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69080" y="58831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CDR/metadata exfiltration, CALEA access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18320" y="5897880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18320" y="59070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6176772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8640" y="61894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T1562.001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83080" y="61894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Disable Security Tools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69080" y="6189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Log clearing, ACL modification for evasion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418320" y="6204204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418320" y="62133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Sources: MITRE ATT&amp;CK v15; CISA AA24-038A (Volt Typhoon); CISA AA25-239A (Salt Typhoon); Microsoft Threat Intelligence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C  --  TECHNICAL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Technical Terms &amp; Metrics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Plain-language definitions for every technical term used in this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97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Cohort z-score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97000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How far one entity's drift is from its PEER GROUP average. If all 50 sysadmins drift ~0.03 and one drifts 0.14, z = (0.14 - 0.03) / 0.018 = 6.17. z &gt; 3 is extreme. This entity behaves radically differently from everyone with the same 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2848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38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(cosine distance)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38248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How much an entity's behavioral embedding changed between two time windows. drift = 1 - cosine_similarity(V_now, V_previous). Range: 0.0 (identical) to 2.0 (opposite). Healthy: ~0.02-0.05. Compromised: ~0.06-0.15.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54096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54096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79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(Cumulative Sum)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79496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Sequential change-point detection algorithm (Page, 1954). Accumulates small behavioral drifts over time. Catches slow APT campaigns that NEVER cross a fixed threshold in any single window. S(t) = max(0, S(t-1) + drift(t) - mu - k). Alarm when S(t) &gt;= 4*sigma.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95344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95344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20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(concept alignment)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20744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Cosine projection of the drift VECTOR onto 8 MITRE threat concept embeddings. Answers "WHAT is this entity becoming?" not just "something changed." Example: "drifting toward lateral_movement (T1021) at cosine 0.82."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36592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736592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761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1536-d 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761992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 1,536-dimensional vector that captures the behavioral STATE of an entity. Generated by encoding behavioral metrics as natural language, then embedding via OpenAI text-embedding-3-small (or local SLM for IL6/JWICS). All entities live in the same vector 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577840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0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603240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Resolving 10+ identity system identifiers (AD, AAD, Okta, AWS, K8s, CrowdStrike, VPN, etc.) into a single entity_uuid. Without this, one attacker appears as 10 unrelated users.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C (cont.)  --  SIGNAL METRICS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Behavioral Signal Metrics: What Each Number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raw metrics inside each of the 5 behavioral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0642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928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PROCESS SIGNAL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819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946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lolbin_count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946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Count of Living-off-the-Land Binaries executed (wmic, certutil, ntdsutil, rundll32, mshta, etc.). These are legitimate Windows tools weaponized by attackers. 0 is normal for most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391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518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cmdline_entropy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18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Shannon entropy of command-line arguments. Low (1.0-2.0) = readable commands like "dir C:\Users". High (3.0+) = Base64-encoded or obfuscated payloads. Volt Typhoon uses encoded PowerShell.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963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5090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parent_child_depth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090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Depth of the process tree. Normal: explorer &gt; cmd &gt; dir (depth 2). Attack: winword &gt; cmd &gt; powershell &gt; wmic &gt; rundll32 &gt; cmd (depth 5+). Deep trees = chained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535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662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scripting_engine_calls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9662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Count of PowerShell, VBScript, WScript, cscript invocations per window. 0 is normal for non-admin users. 14 in one window = automated attack script running.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107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4234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unsigned_ratio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234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executed binaries without valid code signatures. High ratio = custom malware or tampered tools.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41064"/>
            <a:ext cx="11064240" cy="274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953764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AUTH SIGNAL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428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555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failure_rate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555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Ratio of failed to total logon attempts. Sudden spike = brute force or credential stuffing.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000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127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off_hours_ratio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7127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logons outside normal working hours. Spike = compromised account used by attacker in different timezone.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572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1699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impossible_travel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1699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Logons from locations that are geographically impossible given time between events. NYC at 2:00 PM, Beijing at 2:15 PM = compromised credential.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144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6271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mfa_skip_ratio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6271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sessions bypassing MFA. Token theft or legacy auth exploitation.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44768"/>
            <a:ext cx="110642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157468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NETWORK SIGNAL METRICS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4465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4592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beacon_score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64592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Regularity of outbound connections. C2 beacons call home at fixed intervals. Score 0.0=random, 1.0=perfectly periodic. KV Botnet and JumbledPath have scores &gt; 0.7.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9037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9164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bytes_out_ratio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69164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Outbound vs inbound data ratio. Normal users download more than upload. Ratio inversion (upload &gt; download) = data exfiltration.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3609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73736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dns_query_rate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73736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DNS queries per hour. Spike = DNS tunneling for C2 or exfiltration.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7240</Words>
  <Application>Microsoft Office PowerPoint</Application>
  <PresentationFormat>Widescreen</PresentationFormat>
  <Paragraphs>912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2026-05-04T14:20:30Z</dcterms:modified>
  <cp:category/>
</cp:coreProperties>
</file>