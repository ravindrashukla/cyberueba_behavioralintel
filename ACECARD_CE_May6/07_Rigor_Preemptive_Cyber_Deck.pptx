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Rigor AI: Preemptive Cyber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Mathematically Rigorous, Complete, Continuous, Verifiable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RIGOR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Detailed Technical Reference -- Expanding the ACECARD Preemptive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THIS DECK COVERS: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33"/>
                </a:solidFill>
                <a:latin typeface="Segoe UI"/>
              </a:defRPr>
            </a:pPr>
            <a:r>
              <a:t>1. The Rigor AI Approach (3 Intelligences)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2. How RigorOS Operates (Inputs -&gt; Engine -&gt; Assurance)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3. What Rigor Mathematically Proves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4. Volt Typhoon: Phase-by-Phase Defense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5. Salt Typhoon: Phase-by-Phase Defense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6. Volt Typhoon TTP Coverage Matrix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7. Salt Typhoon TTP Coverage Matrix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8. The Formal Model: 2^8000 State Space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9. Nine Use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33"/>
                </a:solidFill>
                <a:latin typeface="Segoe UI"/>
              </a:defRPr>
            </a:pPr>
            <a:r>
              <a:t>10. Real Customer Findings (6 Proof Points)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11. Where Rigor Needs Help (-&gt; ACECARD)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12. Four Integration Points (Rigor + ACECARD)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13. Combined Detection Timeline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14. Deployment Models (SaaS/On-Prem/Air-Gap)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15. Combined Coverage Matrix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  <a:r>
              <a:t>16. Key Numbers to Memorize</a:t>
            </a:r>
          </a:p>
          <a:p>
            <a:pPr>
              <a:spcBef>
                <a:spcPts val="400"/>
              </a:spcBef>
              <a:defRPr sz="1200" b="0">
                <a:solidFill>
                  <a:srgbClr val="222233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Based on: Rigor_ACECARD_Volt_Salt_Typhoon.pdf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Expanded with detailed technical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400800"/>
            <a:ext cx="1124712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Segoe UI"/>
              </a:defRPr>
            </a:pPr>
            <a:r>
              <a:t>CFIC Augusta GA | May 6, 2026 | ACECARD CE Event | Solution-Focused Technical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Rigor AI Approach: Close the Door Before They Knock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Three intelligences. Mathematical certainty. No sampling. No false positives.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RIGOR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1097280" cy="201168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23444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2233"/>
                </a:solidFill>
                <a:latin typeface="Segoe UI"/>
              </a:defRPr>
            </a:pPr>
            <a:r>
              <a:t>Analyze All Known Threat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0876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Terabytes of CVE, advisories, CTI, IOCs, IOAs, PSIRTs -- ingested continuously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669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1097280" cy="201168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4358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23444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4D8C"/>
                </a:solidFill>
                <a:latin typeface="Segoe UI"/>
              </a:defRPr>
            </a:pPr>
            <a:r>
              <a:t>Attack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50876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MITRE-enriched attack graphs built by ML/NLP/LLM pipeline. Full TTP coverage of Volt Typhoon (G1017) and Salt Typhoon. Auto-updates on new advisories.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0360"/>
            <a:ext cx="5669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2926080"/>
            <a:ext cx="1097280" cy="201168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352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926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2233"/>
                </a:solidFill>
                <a:latin typeface="Segoe UI"/>
              </a:defRPr>
            </a:pPr>
            <a:r>
              <a:t>Identify Every Defensive Control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2004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Exponential combination of NGFW, IdP, IPS, SASE, WAF configs -- 2^8000 state 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80360"/>
            <a:ext cx="5669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2926080"/>
            <a:ext cx="1097280" cy="201168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352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926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2ED9"/>
                </a:solidFill>
                <a:latin typeface="Segoe UI"/>
              </a:defRPr>
            </a:pPr>
            <a:r>
              <a:t>Defense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2004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Symbolic Model of Computation. Formal mathematical model exhaustively reasons over the 2^8000 state space. No sampling. Complete reasoning. Every path analyzed.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72000"/>
            <a:ext cx="5669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4617720"/>
            <a:ext cx="1097280" cy="201168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626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6177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2233"/>
                </a:solidFill>
                <a:latin typeface="Segoe UI"/>
              </a:defRPr>
            </a:pPr>
            <a:r>
              <a:t>Prescribe Correct Configurations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8920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Without creating new errors, breaking connectivity, or business disruption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572000"/>
            <a:ext cx="5669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8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3640" y="4617720"/>
            <a:ext cx="109728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626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6177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8B7C"/>
                </a:solidFill>
                <a:latin typeface="Segoe UI"/>
              </a:defRPr>
            </a:pPr>
            <a:r>
              <a:t>Remediation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8920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Grounded agentic-AI reasoners. Risk-prioritized, vendor-specific fixes. No false positives (mathematically proven). No false negatives (exhaustive).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6309360"/>
            <a:ext cx="11612880" cy="36576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The world's first Mathematically Rigorous -- Complete, Preemptive, Continuous, Verifiable -- Cyber Defense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How RigorOS Operates: Inputs -&gt; Reasoning -&gt; Continuous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SaaS, on-prem, and air-gapped deployments. Integrates with ServiceNow, JIRA, and SOC ticketing.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RIGOR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200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200400" cy="320040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2233"/>
                </a:solidFill>
                <a:latin typeface="Segoe UI"/>
              </a:defRPr>
            </a:pPr>
            <a:r>
              <a:t>Threat Intelligence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CVE, advisories, CTI, IOCs, IOAs, PSIRTs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CISA KEV, NSA advisories, vendor PSIRTs</a:t>
            </a:r>
          </a:p>
          <a:p>
            <a:pPr>
              <a:spcBef>
                <a:spcPts val="400"/>
              </a:spcBef>
              <a:defRPr sz="800" b="0">
                <a:solidFill>
                  <a:srgbClr val="555E7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222233"/>
                </a:solidFill>
                <a:latin typeface="Segoe UI"/>
              </a:defRPr>
            </a:pPr>
            <a:r>
              <a:t>Tech Controls Configuration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NGFW, IdP, IAM, IPS, EPP, SASE, WAF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Full running-config of every device</a:t>
            </a:r>
          </a:p>
          <a:p>
            <a:pPr>
              <a:spcBef>
                <a:spcPts val="400"/>
              </a:spcBef>
              <a:defRPr sz="800" b="0">
                <a:solidFill>
                  <a:srgbClr val="555E7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222233"/>
                </a:solidFill>
                <a:latin typeface="Segoe UI"/>
              </a:defRPr>
            </a:pPr>
            <a:r>
              <a:t>Grounded World Models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Vendor capability models (PAN, FTN, Cisco, CP)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MITRE ATT&amp;CK / D3FEND frameworks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188720"/>
            <a:ext cx="4389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9039" y="1188720"/>
            <a:ext cx="438912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2070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RIGOR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60020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B5C"/>
                </a:solidFill>
                <a:latin typeface="Segoe UI"/>
              </a:defRPr>
            </a:pPr>
            <a:r>
              <a:t>1. Model Attacks from Threat Intel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7830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Build attack graphs from CVE/advisory data; map to MITRE techniques; identify which paths target THIS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39112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B5C"/>
                </a:solidFill>
                <a:latin typeface="Segoe UI"/>
              </a:defRPr>
            </a:pPr>
            <a:r>
              <a:t>2. Model Customer Cyber Defenses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221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Symbolic model of every NGFW rule, ACL, IPS profile, identity policy; 2^8000 state combinations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478024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B5C"/>
                </a:solidFill>
                <a:latin typeface="Segoe UI"/>
              </a:defRPr>
            </a:pPr>
            <a:r>
              <a:t>3. Reason About Control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66090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Formal proof: does any attack path succeed against current config? If yes -&gt; exact gap + vendor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916936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B5C"/>
                </a:solidFill>
                <a:latin typeface="Segoe UI"/>
              </a:defRPr>
            </a:pPr>
            <a:r>
              <a:t>4. Generate Risk-Prioritized Remediations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9981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Vendor-specific playbooks; risk-ranked; no false positives; alert to SOC + Control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355848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B5C"/>
                </a:solidFill>
                <a:latin typeface="Segoe UI"/>
              </a:defRPr>
            </a:pPr>
            <a:r>
              <a:t>5. Apply + Re-verify Continuously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53872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Optional auto-apply; validate fix; re-verify every hour and on every config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18872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8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1188720"/>
            <a:ext cx="3474720" cy="320040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1207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CONTINUOUS ASSURANCE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600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Risk-prioritized control gap findings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Vendor-specific remediation playbooks</a:t>
            </a:r>
          </a:p>
          <a:p>
            <a:pPr>
              <a:spcBef>
                <a:spcPts val="400"/>
              </a:spcBef>
              <a:defRPr sz="1000" b="1">
                <a:solidFill>
                  <a:srgbClr val="002B5C"/>
                </a:solidFill>
                <a:latin typeface="Segoe UI"/>
              </a:defRPr>
            </a:pPr>
            <a:r>
              <a:t>Mathematical proof: no false positives</a:t>
            </a:r>
          </a:p>
          <a:p>
            <a:pPr>
              <a:spcBef>
                <a:spcPts val="400"/>
              </a:spcBef>
              <a:defRPr sz="1000" b="1">
                <a:solidFill>
                  <a:srgbClr val="002B5C"/>
                </a:solidFill>
                <a:latin typeface="Segoe UI"/>
              </a:defRPr>
            </a:pPr>
            <a:r>
              <a:t>Mathematical proof: no false negatives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SOC and control admin workflows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ServiceNow / JIRA integration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Auto re-verify on every config change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Auto re-verify on every threat-feed update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Hourly continuous re-verification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931920"/>
            <a:ext cx="11612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593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Currently supports: Palo Alto Networks, Fortinet, Cisco, Check Point (N-S and E-W NGFWs). Identity, SASE, and additional vendors on roadmap.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526280"/>
            <a:ext cx="11612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4320" y="4526280"/>
            <a:ext cx="1161288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445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WHAT RIGOR PROVES (MATHEMATICAL CERTAINTY)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37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Edge-device exploit paths are blocked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937760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CVE-2023-20198, CVE-2024-21887, CVE-2024-3400 etc. verified closed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3036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Threat-feed C2 IPs/domains denied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230368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Across 50M+ rule combinations. Known KV botnet, JumbledPath C2 infrastructure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52297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Config drift from baseline is caught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522976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Every hour or per config change. Salt Typhoon ACL tampering = caught within 1 hour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155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Critical segmentation holds end-to-end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815584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User VLAN cannot reach DC mgmt. CALEA zone isolated. Zero-trust verified mathematically.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081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Shadowed/zombie rules surfaced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6108192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Real finding: 3 higher-priority rules shadowing SMB app-control profile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Compensating controls for unpatchable CVEs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6400800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When no patch exists, identifies alternate control that closes the attack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How Rigor AI Stops Volt Typhoon -- Phase by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Volt Typhoon needs configuration weakness to enter and pivot. Rigor proves those weaknesses do not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VOLT TYPHOON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11704320" cy="347472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612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16128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HOW RIGOR AI STOPS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16128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CVEs / 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554480"/>
            <a:ext cx="11704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79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1</a:t>
            </a:r>
            <a:br/>
            <a:r>
              <a:t>Initial Access</a:t>
            </a:r>
            <a:br/>
            <a:r>
              <a:t>0-12h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579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Scans for unpatched Fortinet, Ivanti, Versa, PAN edge devices. Exploits CVE to land on perimeter.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5798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Attack Intel ingests CISA/NSA/vendor PSIRT advisories. Defense Intel proves every NGFW/VPN/SASE has IPS signature or threat-feed deny rule enforced. If no patch, identifies compensating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79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CVE-2023-20198</a:t>
            </a:r>
            <a:br/>
            <a:r>
              <a:t>CVE-2024-21887</a:t>
            </a:r>
            <a:br/>
            <a:r>
              <a:t>CVE-2024-3400</a:t>
            </a:r>
            <a:br/>
            <a:r>
              <a:t>T1190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542032"/>
            <a:ext cx="11704320" cy="9601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567432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2</a:t>
            </a:r>
            <a:br/>
            <a:r>
              <a:t>Persistence</a:t>
            </a:r>
            <a:br/>
            <a:r>
              <a:t>12-48h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567432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Drops .aspx/.jspx web shells. Routes C2 through KV botnet of compromised SOHO routers.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56743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Models every threat-feed IP, domain, ASN, SOHO fingerprint as denied destination. Proves 50M+ rule combinations block these flows. WAF verified for web shell upload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56743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KV Botnet</a:t>
            </a:r>
            <a:br/>
            <a:r>
              <a:t>T1505 (Web Shell)</a:t>
            </a:r>
            <a:br/>
            <a:r>
              <a:t>T1071 (App Layer C2)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3529584"/>
            <a:ext cx="11704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554984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3</a:t>
            </a:r>
            <a:br/>
            <a:r>
              <a:t>Credential Access</a:t>
            </a:r>
            <a:br/>
            <a:r>
              <a:t>48-96h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554984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ntdsutil.exe to dump NTDS.dit. LSASS memory extraction. Exfiltrates AD credentials to C2.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554984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Verifies EDR/EPP coverage enabled on every DC. Script-control profile blocks ntdsutil by non-admin. Egress filtering blocks credential exfil to known C2 ranges. Missing = exact vendor fix.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5549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T1003 (Cred Dump)</a:t>
            </a:r>
            <a:br/>
            <a:r>
              <a:t>ntdsutil, LSASS</a:t>
            </a:r>
            <a:br/>
            <a:r>
              <a:t>T1059 (Scripting)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517136"/>
            <a:ext cx="11704320" cy="9601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542536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4</a:t>
            </a:r>
            <a:br/>
            <a:r>
              <a:t>Lateral Movement</a:t>
            </a:r>
            <a:br/>
            <a:r>
              <a:t>96h+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542536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SMB/RDP/WinRM to domain controllers and file servers. Admin share access.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542536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Real finding: 3 higher-priority rules shadowed SMB IPS profile -- Rigor closed lateral path. Micro-segmentation verified: user VLAN cannot reach DC management ports.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542536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T1021.002 (SMB)</a:t>
            </a:r>
            <a:br/>
            <a:r>
              <a:t>T1021.001 (RDP)</a:t>
            </a:r>
            <a:br/>
            <a:r>
              <a:t>T1078 (Valid Accts)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5504688"/>
            <a:ext cx="11704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530088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5</a:t>
            </a:r>
            <a:br/>
            <a:r>
              <a:t>Pre-positioning</a:t>
            </a:r>
            <a:br/>
            <a:r>
              <a:t>Weeks-Years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53008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Credential harvest + network mapping for future sabotage during geopolitical crisis.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53008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Continuous re-verification: every config change triggers re-analysis. Zero-trust segmentation re-proven hourly. IdP/IAM coverage modeled; trust paths constrained.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53008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T1133 (Ext Remote)</a:t>
            </a:r>
            <a:br/>
            <a:r>
              <a:t>T1556 (Modify Auth)</a:t>
            </a:r>
            <a:br/>
            <a:r>
              <a:t>5+ year dwell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6492240"/>
            <a:ext cx="11612880" cy="2286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862A"/>
                </a:solidFill>
                <a:latin typeface="Segoe U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How Rigor AI Stops Salt Typhoon -- Carrier-Scale Edge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Salt Typhoon lives on misconfigured Cisco/Ivanti/PAN edge gear. Rigor verifies every config every hour.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SALT TYPHOON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11704320" cy="347472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6128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16128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HOW RIGOR AI STOPS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16128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CVEs / 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554480"/>
            <a:ext cx="11704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79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1</a:t>
            </a:r>
            <a:br/>
            <a:r>
              <a:t>Edge CVE Exploit</a:t>
            </a:r>
            <a:br/>
            <a:r>
              <a:t>0-24h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579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Exploits Cisco IOS XE web UI (CVE-2023-20198) for level-15 admin. Also Ivanti, PAN, Citrix. 1000+ Cisco devices targeted Dec 2024-Jan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5798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CVE-to-control mapping is automatic. Every device exposing IOS XE web UI to internet = flagged. Proves WAF/mgmt-plane ACL blocks /webui/. For unpatched CVE, identifies compensating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79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CVE-2023-20198</a:t>
            </a:r>
            <a:br/>
            <a:r>
              <a:t>CVE-2018-0171</a:t>
            </a:r>
            <a:br/>
            <a:r>
              <a:t>CVE-2024-3400</a:t>
            </a:r>
            <a:br/>
            <a:r>
              <a:t>T1190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542032"/>
            <a:ext cx="11704320" cy="9601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567432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2</a:t>
            </a:r>
            <a:br/>
            <a:r>
              <a:t>Persistence</a:t>
            </a:r>
            <a:br/>
            <a:r>
              <a:t>1-7d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567432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Creates local privileged accounts. Modifies router ACLs to whitelist attacker IPs. Enables Guest Shell, sshd_operns. 3+ years access in some victims.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56743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Config Drift Management: takes approved baseline of every router ACL, AAA config, mgmt-plane policy. Compares live state every hour. Any unauthorized change = immediate gap finding with exact diff.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56743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T1556 (Modify Auth)</a:t>
            </a:r>
            <a:br/>
            <a:r>
              <a:t>Local account creation</a:t>
            </a:r>
            <a:br/>
            <a:r>
              <a:t>ACL tampering</a:t>
            </a:r>
            <a:br/>
            <a:r>
              <a:t>3+ year dwell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3529584"/>
            <a:ext cx="11704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554984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3</a:t>
            </a:r>
            <a:br/>
            <a:r>
              <a:t>TACACS+ Capture</a:t>
            </a:r>
            <a:br/>
            <a:r>
              <a:t>7-30d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554984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Captures TACACS+ traffic on TCP/49 via on-box packet capture. Harvests credentials. Uses JumbledPath to chain remote connections.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554984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Mgmt-plane segmentation verified. On-box capture restricted to authorized roles. Outbound rules to JumbledPath C2 IPs blocked across all internal zones.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554984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JumbledPath malware</a:t>
            </a:r>
            <a:br/>
            <a:r>
              <a:t>TACACS+ TCP/49</a:t>
            </a:r>
            <a:br/>
            <a:r>
              <a:t>T1040 (Sniffing)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517136"/>
            <a:ext cx="11704320" cy="9601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542536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4</a:t>
            </a:r>
            <a:br/>
            <a:r>
              <a:t>GRE Tunnel + C2</a:t>
            </a:r>
            <a:br/>
            <a:r>
              <a:t>30-90d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542536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GRE tunnel configured. Encrypted C2. Multi-hop connections across compromised routers.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542536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GRE peer authorization verified. Unauthorized tunnel endpoints detected in routing config. Egress policy verified: only approved protocols/ports permitted outbound.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542536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GRE tunneling</a:t>
            </a:r>
            <a:br/>
            <a:r>
              <a:t>T1572 (Protocol Tunnel)</a:t>
            </a:r>
            <a:br/>
            <a:r>
              <a:t>T1071 (App Layer C2)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5504688"/>
            <a:ext cx="11704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530088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Phase 5</a:t>
            </a:r>
            <a:br/>
            <a:r>
              <a:t>CALEA + CDR Exfil</a:t>
            </a:r>
            <a:br/>
            <a:r>
              <a:t>90d+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53008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Accesses CALEA lawful intercept systems. Steady CDR/metadata exfiltration over months. Targets: government officials, political figures.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530088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CALEA-zone segmentation intent proven end-to-end. Privilege verification on interception systems. Outbound restriction policies verified for CDR stores. DLP coverage modeled.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53008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3333"/>
                </a:solidFill>
                <a:latin typeface="Cascadia Code"/>
              </a:defRPr>
            </a:pPr>
            <a:r>
              <a:t>CALEA access</a:t>
            </a:r>
            <a:br/>
            <a:r>
              <a:t>CDR exfiltration</a:t>
            </a:r>
            <a:br/>
            <a:r>
              <a:t>T1041 (Exfil over C2)</a:t>
            </a:r>
            <a:br/>
            <a:r>
              <a:t>200+ telcos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6492240"/>
            <a:ext cx="11612880" cy="2286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862A"/>
                </a:solidFill>
                <a:latin typeface="Segoe UI"/>
              </a:defRPr>
            </a:pPr>
            <a:r>
              <a:t>Salt Typhoon: PRC state-sponsored. 4+ years. 200+ telcos in 80+ countries. CVE-2023-20198. CALEA wiretap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Rigor AI Preempts Volt Typhoon -- TTP by 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Each MITRE technique -&gt; formal control gap query -&gt; mathematically verified blocking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VOLT TYPHOON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11704320" cy="347472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MITRE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16128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612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Rigor AI Preemptive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554480"/>
            <a:ext cx="11704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798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T1190</a:t>
            </a:r>
            <a:br/>
            <a:r>
              <a:t>Exploit Public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5798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Exploits unpatched Fortinet, Versa Director, Ivanti, PAN edge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798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Formally verifies every NGFW/SASE/WAF rule blocks known CVE traffic; flags weak/missing inspection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2240280"/>
            <a:ext cx="1170432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656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T1133</a:t>
            </a:r>
            <a:br/>
            <a:r>
              <a:t>External Remote Svc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2656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Abuses VPN, RDP gateways with stolen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656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Proves zero-trust segmentation intent; surfaces shadowed allow-rules that bypass MFA enforcement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2926080"/>
            <a:ext cx="11704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9514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T1021.002</a:t>
            </a:r>
            <a:br/>
            <a:r>
              <a:t>SMB / Admin Shares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9514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Lateral movement via SMBv1, admin shares between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514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Real customer case: 3 higher-priority rules shadowed SMB IPS profile -- Rigor closed the lateral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3611880"/>
            <a:ext cx="1170432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6372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T1003</a:t>
            </a:r>
            <a:br/>
            <a:r>
              <a:t>OS Credential Dump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6372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ntdsutil, LSASS dumps; credentials exfiltrated to C2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37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Verifies egress filtering blocks C2 destinations; ensures EDR/IPS profiles cover credential-theft signatures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297680"/>
            <a:ext cx="11704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3230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T1071</a:t>
            </a:r>
            <a:br/>
            <a:r>
              <a:t>C2 over SOHO Routers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3230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KV botnet relays C2 through compromised home/SMB routers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230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Models threat-feed IPs/domains; proves outbound rules block them across all internal zones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983480"/>
            <a:ext cx="1170432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088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T1059</a:t>
            </a:r>
            <a:br/>
            <a:r>
              <a:t>PowerShell / LOLBins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0088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In-memory exec via wmic, ntdsutil, netsh; log evasion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088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Verifies EDR/EPP coverage in policy; identifies hosts where script-control profile is not applied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5669280"/>
            <a:ext cx="11704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6946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T1078</a:t>
            </a:r>
            <a:br/>
            <a:r>
              <a:t>Valid Accounts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6946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Pivots laterally with stolen credentials across trust zones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946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IdP/IAM coverage modeled; inter-zone trust paths surfaced and constrained -&gt; handed to ACECARD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Source: MITRE ATT&amp;CK Group G1017 (Volt Typhoon); CISA AA24-038A; Microsoft Threat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Rigor AI Preempts Salt Typhoon -- TTP by 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Carrier/telco-focused techniques -&gt; verified edge device and segmentation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SALT TYPHOON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11704320" cy="347472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MITRE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16128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6128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Rigor AI Preemptive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554480"/>
            <a:ext cx="11704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798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T1190</a:t>
            </a:r>
            <a:br/>
            <a:r>
              <a:t>Exploit Cisco IOS 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5798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CVE-2023-20198 web UI exploit for level-15 admin; 1000+ devices Dec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798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Proves mgmt-plane ACL blocks /webui/ from external; IPS signatures for Cisco IOS exploitation enforced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2240280"/>
            <a:ext cx="1170432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2656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T1556</a:t>
            </a:r>
            <a:br/>
            <a:r>
              <a:t>Modify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2656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Creates local admin accounts; modifies AAA config; enables Guest Shell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656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Config drift detection: hourly comparison to approved AAA baseline; any new local account = immediate 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2926080"/>
            <a:ext cx="11704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9514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T1040</a:t>
            </a:r>
            <a:br/>
            <a:r>
              <a:t>Network Sniffing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9514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TACACS+ capture on TCP/49; harvests network admin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514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Mgmt-plane segmentation verified; on-box capture permissions modeled; TACACS+ encryption enforcement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3611880"/>
            <a:ext cx="1170432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6372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T1572</a:t>
            </a:r>
            <a:br/>
            <a:r>
              <a:t>Protocol Tunneling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6372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GRE tunnel configured between compromised routers for C2 and data exfil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372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GRE peer authorization verified in routing config; unauthorized tunnel endpoints flagged; egress policy proven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297680"/>
            <a:ext cx="11704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3230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T1041</a:t>
            </a:r>
            <a:br/>
            <a:r>
              <a:t>Exfil Over 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3230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CDR/metadata exfiltration over encrypted channels to PRC 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230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CALEA-zone segmentation proven end-to-end; DLP policies verified on CDR stores; outbound restrictions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983480"/>
            <a:ext cx="1170432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088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T1078</a:t>
            </a:r>
            <a:br/>
            <a:r>
              <a:t>Valid Accounts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0088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TACACS+ harvested credentials used as legitimate network admin 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088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Trust path constrained; IdP coverage modeled -&gt; passed to ACECARD for behavioral detection of credential abuse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5669280"/>
            <a:ext cx="11704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6946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Cascadia Code"/>
              </a:defRPr>
            </a:pPr>
            <a:r>
              <a:t>T1021</a:t>
            </a:r>
            <a:br/>
            <a:r>
              <a:t>Remote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694680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SSH/Telnet lateral movement across carrier backbone using stolen credentials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946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D8C"/>
                </a:solidFill>
                <a:latin typeface="Segoe UI"/>
              </a:defRPr>
            </a:pPr>
            <a:r>
              <a:t>Inter-zone access policies verified; jump-box enforcement proven; direct access paths blocked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Source: Trend Micro, CISA, Cisco PSIRT; GhostSpider/Demodex/SnappyBee implant families; JumbledPath C2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Formal Model: Why 2^8000 Cannot Be Sampled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Traditional scanners sample configurations. Rigor reasons EXHAUSTIVELY over the entire state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FORMAL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THE PROBLEM WITH 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33"/>
                </a:solidFill>
                <a:latin typeface="Segoe UI"/>
              </a:defRPr>
            </a:pPr>
            <a:r>
              <a:t>A typical enterprise NGFW has:</a:t>
            </a:r>
          </a:p>
          <a:p>
            <a:pPr>
              <a:spcBef>
                <a:spcPts val="400"/>
              </a:spcBef>
              <a:defRPr sz="1100" b="0">
                <a:solidFill>
                  <a:srgbClr val="222233"/>
                </a:solidFill>
                <a:latin typeface="Segoe UI"/>
              </a:defRPr>
            </a:pPr>
            <a:r>
              <a:t>  5,000-50,000 firewall rules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  Each rule: src zone, dst zone, src IP, dst IP, port, app,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    user/group, schedule, action, inspection profile</a:t>
            </a:r>
          </a:p>
          <a:p>
            <a:pPr>
              <a:spcBef>
                <a:spcPts val="400"/>
              </a:spcBef>
              <a:defRPr sz="1100" b="0">
                <a:solidFill>
                  <a:srgbClr val="222233"/>
                </a:solidFill>
                <a:latin typeface="Segoe UI"/>
              </a:defRPr>
            </a:pPr>
            <a:r>
              <a:t>  Interactions between rules: 50,000^2 = 2.5 billion pairs</a:t>
            </a:r>
          </a:p>
          <a:p>
            <a:pPr>
              <a:spcBef>
                <a:spcPts val="400"/>
              </a:spcBef>
              <a:defRPr sz="1100" b="0">
                <a:solidFill>
                  <a:srgbClr val="222233"/>
                </a:solidFill>
                <a:latin typeface="Segoe UI"/>
              </a:defRPr>
            </a:pPr>
            <a:r>
              <a:t>  Multi-vendor: 3-10 firewalls in series/parallel</a:t>
            </a:r>
          </a:p>
          <a:p>
            <a:pPr>
              <a:spcBef>
                <a:spcPts val="400"/>
              </a:spcBef>
              <a:defRPr sz="800" b="0">
                <a:solidFill>
                  <a:srgbClr val="555E7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002B5C"/>
                </a:solidFill>
                <a:latin typeface="Segoe UI"/>
              </a:defRPr>
            </a:pPr>
            <a:r>
              <a:t>Total state space: ~2^8000 possible traffic paths</a:t>
            </a:r>
          </a:p>
          <a:p>
            <a:pPr>
              <a:spcBef>
                <a:spcPts val="400"/>
              </a:spcBef>
              <a:defRPr sz="800" b="0">
                <a:solidFill>
                  <a:srgbClr val="555E7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Sampling 1 billion paths/second for 1 year =</a:t>
            </a:r>
          </a:p>
          <a:p>
            <a:pPr>
              <a:spcBef>
                <a:spcPts val="400"/>
              </a:spcBef>
              <a:defRPr sz="1000" b="1">
                <a:solidFill>
                  <a:srgbClr val="CC3333"/>
                </a:solidFill>
                <a:latin typeface="Segoe UI"/>
              </a:defRPr>
            </a:pPr>
            <a:r>
              <a:t>  3.15 x 10^16 samples (vs 2^8000 = 10^2408)</a:t>
            </a:r>
          </a:p>
          <a:p>
            <a:pPr>
              <a:spcBef>
                <a:spcPts val="400"/>
              </a:spcBef>
              <a:defRPr sz="1000" b="1">
                <a:solidFill>
                  <a:srgbClr val="CC3333"/>
                </a:solidFill>
                <a:latin typeface="Segoe UI"/>
              </a:defRPr>
            </a:pPr>
            <a:r>
              <a:t>  Coverage: effectively 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8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8B7C"/>
                </a:solidFill>
                <a:latin typeface="Segoe UI"/>
              </a:defRPr>
            </a:pPr>
            <a:r>
              <a:t>RIGOR: SYMBOLIC MODEL OF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33"/>
                </a:solidFill>
                <a:latin typeface="Segoe UI"/>
              </a:defRPr>
            </a:pPr>
            <a:r>
              <a:t>Instead of sampling paths, Rigor builds a</a:t>
            </a:r>
          </a:p>
          <a:p>
            <a:pPr>
              <a:spcBef>
                <a:spcPts val="400"/>
              </a:spcBef>
              <a:defRPr sz="1100" b="0">
                <a:solidFill>
                  <a:srgbClr val="222233"/>
                </a:solidFill>
                <a:latin typeface="Segoe UI"/>
              </a:defRPr>
            </a:pPr>
            <a:r>
              <a:t>mathematical MODEL of the entire config:</a:t>
            </a:r>
          </a:p>
          <a:p>
            <a:pPr>
              <a:spcBef>
                <a:spcPts val="400"/>
              </a:spcBef>
              <a:defRPr sz="800" b="0">
                <a:solidFill>
                  <a:srgbClr val="555E7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1. Parse all rules into symbolic representation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2. Build constraint-satisfaction model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3. For each threat (CVE, C2 dest, lateral path):</a:t>
            </a:r>
          </a:p>
          <a:p>
            <a:pPr>
              <a:spcBef>
                <a:spcPts val="400"/>
              </a:spcBef>
              <a:defRPr sz="1100" b="1">
                <a:solidFill>
                  <a:srgbClr val="002B5C"/>
                </a:solidFill>
                <a:latin typeface="Segoe UI"/>
              </a:defRPr>
            </a:pPr>
            <a:r>
              <a:t>   "Does ANY rule combination ALLOW this traffic?"</a:t>
            </a:r>
          </a:p>
          <a:p>
            <a:pPr>
              <a:spcBef>
                <a:spcPts val="400"/>
              </a:spcBef>
              <a:defRPr sz="1000" b="0">
                <a:solidFill>
                  <a:srgbClr val="222233"/>
                </a:solidFill>
                <a:latin typeface="Segoe UI"/>
              </a:defRPr>
            </a:pPr>
            <a:r>
              <a:t>4. Solver PROVES answer is NO (safe) or YES (gap)</a:t>
            </a:r>
          </a:p>
          <a:p>
            <a:pPr>
              <a:spcBef>
                <a:spcPts val="400"/>
              </a:spcBef>
              <a:defRPr sz="800" b="0">
                <a:solidFill>
                  <a:srgbClr val="555E7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0D8B7C"/>
                </a:solidFill>
                <a:latin typeface="Segoe UI"/>
              </a:defRPr>
            </a:pPr>
            <a:r>
              <a:t>Result: COMPLETE coverage of 2^8000 in seconds</a:t>
            </a:r>
          </a:p>
          <a:p>
            <a:pPr>
              <a:spcBef>
                <a:spcPts val="400"/>
              </a:spcBef>
              <a:defRPr sz="1200" b="1">
                <a:solidFill>
                  <a:srgbClr val="0D8B7C"/>
                </a:solidFill>
                <a:latin typeface="Segoe UI"/>
              </a:defRPr>
            </a:pPr>
            <a:r>
              <a:t>No sampling. No probabilistic reasoning.</a:t>
            </a:r>
          </a:p>
          <a:p>
            <a:pPr>
              <a:spcBef>
                <a:spcPts val="400"/>
              </a:spcBef>
              <a:defRPr sz="1200" b="1">
                <a:solidFill>
                  <a:srgbClr val="0D8B7C"/>
                </a:solidFill>
                <a:latin typeface="Segoe UI"/>
              </a:defRPr>
            </a:pPr>
            <a:r>
              <a:t>Mathematical 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11612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8862A"/>
                </a:solidFill>
                <a:latin typeface="Segoe UI"/>
              </a:defRPr>
            </a:pPr>
            <a:r>
              <a:t>WHAT THIS MEANS IN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2926080" cy="32004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Traditional Pentest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3708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1-2 weeks, finds 5-15 paths, human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3708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Point-in-time, incomplete, expensive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2926080" cy="32004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823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Vulnerability Scanner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7823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Samples known CVEs against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7823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Misses rule interactions, shadows, compensating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66360"/>
            <a:ext cx="2926080" cy="32004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1937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Attack Surface Mgmt (ASM)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1937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Enumerates external-facing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1937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Sees what exists, not what is REACHABLE through config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2926080" cy="320040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052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Rigor Formal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605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Models ALL paths through ALL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6052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D8B7C"/>
                </a:solidFill>
                <a:latin typeface="Segoe UI"/>
              </a:defRPr>
            </a:pPr>
            <a:r>
              <a:t>Complete, continuous, no gaps, vendor-specific fixes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6446520"/>
            <a:ext cx="1161288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6480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Segoe UI"/>
              </a:defRPr>
            </a:pPr>
            <a:r>
              <a:t>Gartner 2024: "99% of firewall breaches are caused by misconfiguration, not firewall flaws." Rigor eliminates that 99%.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Nine Rigor AI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Pre-built reasoning templates. Five directly preempt Volt + Salt Typhoon TTPs.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457200" cy="256032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Continuous threat-intel + config -&gt; proof that every TTP path is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Volt T1190, T1133, T1071 / Salt T1190, T1556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78308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1828800"/>
            <a:ext cx="457200" cy="256032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4708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Live config vs approved baseline every hour. Surfaces unauthorized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Salt Typhoon ACL tampering, Guest Shell, local accounts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37744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2423160"/>
            <a:ext cx="457200" cy="256032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44144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4231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423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Reasons over 2^8000 firewall rule state space. Shadow rules, conflicts, weak inspection.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SMB lateral paths, shadowed inspection profiles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97180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" y="3017520"/>
            <a:ext cx="457200" cy="256032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3580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0175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Preemptive ASM (External)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Scans external attack surface. Maps exposed assets to compensating controls.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Edge-device CVE exploitation (CVE-2023-20198, etc.)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56616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" y="3611880"/>
            <a:ext cx="457200" cy="256032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63016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6118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Internal Attack Surface Mgmt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Models internal paths from any compromised host to crown-jewel assets.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Cross-tenant pivots (Salt Typhoon telco -&gt; enterprise)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16052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" y="4206240"/>
            <a:ext cx="457200" cy="256032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2452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2062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NIST 800-53 / Zero-Trust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Proves zero-trust segmentation holds end-to-end. Maps to NIST CSF / D3FEND.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Continuous SP800-207 verification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75488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0040" y="4800600"/>
            <a:ext cx="457200" cy="256032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81888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006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Models before/after config during NGFW vendor migration. Proves no regression.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800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PAN-&gt;Fortinet migrations, Cisco-&gt;Palo refresh cycles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34924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0040" y="5394960"/>
            <a:ext cx="457200" cy="256032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41324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3949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M&amp;A Due Diligence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Models combined defense posture pre-merger. Surfaces gaps from acquired entity.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Risk assessment before network integration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943600"/>
            <a:ext cx="11612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20040" y="5989320"/>
            <a:ext cx="457200" cy="256032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00760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989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Third-Party Risk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5989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Models third-party access paths and verifies isolation controls.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5989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Segoe UI"/>
              </a:defRPr>
            </a:pPr>
            <a:r>
              <a:t>Supply chain and vendor risk management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6492240"/>
            <a:ext cx="11612880" cy="2286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862A"/>
                </a:solidFill>
                <a:latin typeface="Segoe UI"/>
              </a:defRPr>
            </a:pPr>
            <a:r>
              <a:t>Use cases 01-05 (blue) directly preempt Volt + Salt Typhoon TTPs. 06-09 extend to compliance and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Rigor in Production: Real Customer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Selected findings from financial services, telecom, government, and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PROOF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1828800" cy="256032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234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Closed SMB Lateral Movement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234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D8C"/>
                </a:solidFill>
                <a:latin typeface="Segoe UI"/>
              </a:defRPr>
            </a:pPr>
            <a:r>
              <a:t>Shadow rule detection across multi-vendor NGFW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SMB app-control profiles completely shadowed by 3 higher-priority rules -- allowed unprotected SMBv1 between branches. Rigor formal model exposed the multi-rule shadow that no scanner found.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057400"/>
            <a:ext cx="11612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2103120"/>
            <a:ext cx="1828800" cy="256032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Communications | 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103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Eliminated Known CVE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103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2ED9"/>
                </a:solidFill>
                <a:latin typeface="Segoe UI"/>
              </a:defRPr>
            </a:pPr>
            <a:r>
              <a:t>Missing IPS inspection on specific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IPS filters were missing on rsync traffic to backup servers. Exposed enterprise to lateral malware movement and remote code execution against critical infrastructure.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926080"/>
            <a:ext cx="11612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2971800"/>
            <a:ext cx="1828800" cy="256032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008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Regional Bank | E. Asia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Closed RCE Attack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71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8B7C"/>
                </a:solidFill>
                <a:latin typeface="Segoe UI"/>
              </a:defRPr>
            </a:pPr>
            <a:r>
              <a:t>Cross-vendor policy inconsistency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Both PANW and Fortinet NGFWs allowed Windows Update service traffic from trusted zones with no IPS -- exposed bank to RCE on critical multi-vendor infrastructure.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94760"/>
            <a:ext cx="11612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" y="3840480"/>
            <a:ext cx="1828800" cy="256032"/>
          </a:xfrm>
          <a:prstGeom prst="roundRect">
            <a:avLst/>
          </a:prstGeom>
          <a:solidFill>
            <a:srgbClr val="D9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5876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840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Closed Application Obfuscation Paths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840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A06"/>
                </a:solidFill>
                <a:latin typeface="Segoe UI"/>
              </a:defRPr>
            </a:pPr>
            <a:r>
              <a:t>DMZ rule misconfiguration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Incorrectly configured vendor capabilities on DMZ rules -- not all applications on the DMZ were blocked as intended. Susceptible to port-hopping evasion.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663440"/>
            <a:ext cx="11612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" y="4709160"/>
            <a:ext cx="1828800" cy="256032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72744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Finance | E. Asia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709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NIST 800-53 SMTP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09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3333"/>
                </a:solidFill>
                <a:latin typeface="Segoe UI"/>
              </a:defRPr>
            </a:pPr>
            <a:r>
              <a:t>Compliance gap on email traffic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983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SMTP traffic from trusted to untrusted zones had no threat inspection enabled, despite NGFW built-in capability -- exposed customer to phishing and credential harvest.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532120"/>
            <a:ext cx="11612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" y="5577840"/>
            <a:ext cx="1828800" cy="256032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59612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EU Sovereign Govt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  <a:latin typeface="Segoe UI"/>
              </a:defRPr>
            </a:pPr>
            <a:r>
              <a:t>Preemptive ASM for National Agency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B5C"/>
                </a:solidFill>
                <a:latin typeface="Segoe UI"/>
              </a:defRPr>
            </a:pPr>
            <a:r>
              <a:t>National-scale external attack surface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EU country cyber defense umbrella -- Rigor formally extended EASM scan coverage and proved compliance of external attack surface across 12 government agencies.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6400800"/>
            <a:ext cx="1161288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Segoe UI"/>
              </a:defRPr>
            </a:pPr>
            <a:r>
              <a:t>20+ design partners across F500, federal, critical infrastructure, MSSPs, nation states. Engagements in NA, EU, ME, Asia, Pacific.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Where Rigor Needs Help -- Why ACECARD Belongs Next to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Rigor closes the configuration attack surface. Three classes of attack remain.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11475720" cy="27432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5272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Zero-Day &amp; Unknown 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Rigor preempts every TTP mapped to MITRE ATT&amp;CK. A genuine zero-day with no signature, no IOC, no MITRE mapping yet has nothing for Rigor to prove against.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A Volt Typhoon exploit published the day after Rigor's threat-intel sync. In the gap, behavioral detection is the only defense.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73152" cy="365760"/>
          </a:xfrm>
          <a:prstGeom prst="roundRect">
            <a:avLst/>
          </a:prstGeom>
          <a:solidFill>
            <a:srgbClr val="009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97A"/>
                </a:solidFill>
                <a:latin typeface="Segoe UI"/>
              </a:defRPr>
            </a:pPr>
            <a:r>
              <a:t>HANDED TO ACECARD UEBA: ACECARD detects the resulting behavioral drift even with no MITRE label. Post-exploitation behavior always creates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907792"/>
            <a:ext cx="11612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A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2953512"/>
            <a:ext cx="11475720" cy="274320"/>
          </a:xfrm>
          <a:prstGeom prst="roundRect">
            <a:avLst/>
          </a:prstGeom>
          <a:solidFill>
            <a:srgbClr val="D9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Compromised Valid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735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Both Typhoons abuse stolen, valid credentials. A correctly-configured firewall, IdP, and EDR will ALLOW that traffic -- by design. Configuration is not the attack surface; behavior 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850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Salt Typhoon harvests TACACS+ credentials, then logs in as a legitimate network admin. Every Rigor-verified control says "approved."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50792"/>
            <a:ext cx="73152" cy="365760"/>
          </a:xfrm>
          <a:prstGeom prst="roundRect">
            <a:avLst/>
          </a:prstGeom>
          <a:solidFill>
            <a:srgbClr val="009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97A"/>
                </a:solidFill>
                <a:latin typeface="Segoe UI"/>
              </a:defRPr>
            </a:pPr>
            <a:r>
              <a:t>HANDED TO ACECARD UEBA: ACECARD's cohort z-score and cosine drift catch the abuse -- same credentials, structurally different behavior from the real admin.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626864"/>
            <a:ext cx="11612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" y="4672584"/>
            <a:ext cx="11475720" cy="274320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908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9262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ntdsutil, wmic, netsh, rundll32, PowerShell -- every binary Volt Typhoon uses is a legitimate Windows admin tool. Restricting them entirely is operationally infeasible.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0410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Volt Typhoon runs ntdsutil.exe ifm "create full c:\temp" -- a real admin command. Rigor verifies EDR coverage is on. The command itself is the threat.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69864"/>
            <a:ext cx="73152" cy="365760"/>
          </a:xfrm>
          <a:prstGeom prst="roundRect">
            <a:avLst/>
          </a:prstGeom>
          <a:solidFill>
            <a:srgbClr val="009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98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97A"/>
                </a:solidFill>
                <a:latin typeface="Segoe UI"/>
              </a:defRPr>
            </a:pPr>
            <a:r>
              <a:t>HANDED TO ACECARD UEBA: ACECARD's 5-signal embedding captures the COMBINATION of LoTL tools, timing, targets. Only behavioral context separates admin from adversary.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Four Integration Points: Rigor + ACECARD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How the two layers communicate, share intelligence, and close the complete attack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11475720" cy="256032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5272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MITRE Coverage -&gt; Concept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Rigor's Attack Intelligence builds complete MITRE technique coverage for Volt/Salt Typhoon. These verified TTP patterns feed directly into ACECARD's 8 threat concept embeddings.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361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Cascadia Code"/>
              </a:defRPr>
            </a:pPr>
            <a:r>
              <a:t>Rigor: "T1021.002 (SMB lateral) verified blocked by config"</a:t>
            </a:r>
            <a:br/>
            <a:r>
              <a:t>ACECARD: "T1021 lateral_movement concept = behavioral detection if config bypassed"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Shared MITRE technique IDs ensure both layers speak same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68880"/>
            <a:ext cx="11612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2514600"/>
            <a:ext cx="11475720" cy="256032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3288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Rigor Findings -&gt; ACECARD Trust Floor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1635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When Rigor discovers a verified control gap, ACECARD automatically lowers the trust floor for entities in that zone. A known-vulnerable segment starts at ELEVATED_WATCH, not TRUSTED.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163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Cascadia Code"/>
              </a:defRPr>
            </a:pPr>
            <a:r>
              <a:t>Rigor: "DMZ Zone 3 has shadowed SMB IPS profile -- gap open"</a:t>
            </a:r>
            <a:br/>
            <a:r>
              <a:t>ACECARD: "All entities in Zone 3 start at ELEVATED_WATCH until gap closed"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Risk-proportional: worse gaps = lower starting trust = faster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749040"/>
            <a:ext cx="11612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8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794760"/>
            <a:ext cx="11475720" cy="256032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ACECARD True Positives -&gt; Rigor Threat Intel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9651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When ACECARD confirms behavioral detection (analyst validates), the entity's drift pattern becomes threat intelligence that Rigor ingests for config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Cascadia Code"/>
              </a:defRPr>
            </a:pPr>
            <a:r>
              <a:t>ACECARD: "Entity e7a2 confirmed lateral movement via SMB T1021"</a:t>
            </a:r>
            <a:br/>
            <a:r>
              <a:t>Rigor: "Re-verify all SMB inspection profiles across all zones"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Closed loop: behavioral detection improves config verification 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029200"/>
            <a:ext cx="11612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" y="5074920"/>
            <a:ext cx="11475720" cy="256032"/>
          </a:xfrm>
          <a:prstGeom prst="round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9320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 Shared Vocabulary: Entity UUIDs + MITRE 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7667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Both systems reference the same entity_uuid (from entity fusion) and same MITRE technique IDs. A Rigor gap and an ACECARD alert about the same entity are automatically correlated.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3766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Cascadia Code"/>
              </a:defRPr>
            </a:pPr>
            <a:r>
              <a:t>Kill-chain reconstruction: Rigor gap at T+0 -&gt; ACECARD drift at T+4h -&gt; same entity_uuid -&gt; one incident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Segoe UI"/>
              </a:defRPr>
            </a:pPr>
            <a:r>
              <a:t>Single pane of glass: SOC sees config gap + behavioral alert as ONE 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Combined Detection Timeline: Rigor + ACECARD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Real scenario: Volt Typhoon campaign against DoD network. Both layers working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1161288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612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SCENARIO: Volt Typhoon targets Air Force base network via Fortinet VPN CVE + LoTL credential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554480"/>
            <a:ext cx="11750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600200"/>
            <a:ext cx="640080" cy="20116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6093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scadia Code"/>
              </a:defRPr>
            </a:pPr>
            <a:r>
              <a:t>T-30d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600200"/>
            <a:ext cx="1371600" cy="201168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60934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RIGOR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581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2233"/>
                </a:solidFill>
                <a:latin typeface="Segoe UI"/>
              </a:defRPr>
            </a:pPr>
            <a:r>
              <a:t>Continuous verification identifies Fortinet FortiOS CVE-2024-21887 IPS signature missing on VPN concentrator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581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Gap finding pushed to ServiceNow. Patch scheduled but delayed by change window.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2240280"/>
            <a:ext cx="1175004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" y="2286000"/>
            <a:ext cx="640080" cy="20116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2951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scadia Code"/>
              </a:defRPr>
            </a:pPr>
            <a:r>
              <a:t>T-30d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286000"/>
            <a:ext cx="1371600" cy="201168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29514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RIGOR-&gt;ACECARD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267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2233"/>
                </a:solidFill>
                <a:latin typeface="Segoe UI"/>
              </a:defRPr>
            </a:pPr>
            <a:r>
              <a:t>Integration Point 2: Gap finding triggers trust floor reduction for all entities in VPN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67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Entities entering via FortiGate start at ELEVATED_WATCH (not TRUSTED). Lower detection threshold active.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2926080"/>
            <a:ext cx="11750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4320" y="2971800"/>
            <a:ext cx="640080" cy="20116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9809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scadia Code"/>
              </a:defRPr>
            </a:pPr>
            <a:r>
              <a:t>T+0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2971800"/>
            <a:ext cx="1371600" cy="201168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298094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953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2233"/>
                </a:solidFill>
                <a:latin typeface="Segoe UI"/>
              </a:defRPr>
            </a:pPr>
            <a:r>
              <a:t>Volt Typhoon exploits CVE-2024-21887. Lands on FortiGate. Creates local admin. Begins LoTL recon.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953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The gap Rigor found 30 days ago is now exploited. Config was not patched in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" y="3611880"/>
            <a:ext cx="1175004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4320" y="3657600"/>
            <a:ext cx="640080" cy="20116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" y="36667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scadia Code"/>
              </a:defRPr>
            </a:pPr>
            <a:r>
              <a:t>T+2h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3657600"/>
            <a:ext cx="137160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366674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639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2233"/>
                </a:solidFill>
                <a:latin typeface="Segoe UI"/>
              </a:defRPr>
            </a:pPr>
            <a:r>
              <a:t>Entity enters via VPN at ELEVATED_WATCH. AUTH signal: new source, off-hours. Drift = 0.08 (elevated)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639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Because trust floor is already lowered, ACECARD sensitivity is heightened. Watching closely.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4297680"/>
            <a:ext cx="11750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4320" y="4343400"/>
            <a:ext cx="640080" cy="20116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43525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scadia Code"/>
              </a:defRPr>
            </a:pPr>
            <a:r>
              <a:t>T+6h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4343400"/>
            <a:ext cx="137160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435254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325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2233"/>
                </a:solidFill>
                <a:latin typeface="Segoe UI"/>
              </a:defRPr>
            </a:pPr>
            <a:r>
              <a:t>PROCESS signal: wmic + ntdsutil chain. Drift = 0.14. CUSUM accumulating. Direction: lotl_execution (0.68)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325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CUSUM at 0.07 (approaching 2-sigma). ELEVATED_WATCH -&gt; RESTRICTED. Lateral movement blocked.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4983480"/>
            <a:ext cx="11750040" cy="658368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4320" y="5029200"/>
            <a:ext cx="640080" cy="20116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" y="50383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scadia Code"/>
              </a:defRPr>
            </a:pPr>
            <a:r>
              <a:t>T+8h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" y="5029200"/>
            <a:ext cx="1371600" cy="201168"/>
          </a:xfrm>
          <a:prstGeom prst="roundRect">
            <a:avLst/>
          </a:prstGeom>
          <a:solidFill>
            <a:srgbClr val="009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" y="503834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5010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2233"/>
                </a:solidFill>
                <a:latin typeface="Segoe UI"/>
              </a:defRPr>
            </a:pPr>
            <a:r>
              <a:t>CUSUM crosses 4-sigma (0.125). ALARM. Entity -&gt; BLOCKED. All access revoked. IR ticket auto-created.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010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Total dwell: 8 hours (vs 5+ years without detection). Kill-chain: T1190 -&gt; T1059 -&gt; T1003.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8600" y="5669280"/>
            <a:ext cx="11750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74320" y="5715000"/>
            <a:ext cx="640080" cy="20116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2608" y="5724144"/>
            <a:ext cx="6035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scadia Code"/>
              </a:defRPr>
            </a:pPr>
            <a:r>
              <a:t>T+9h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" y="5715000"/>
            <a:ext cx="1371600" cy="201168"/>
          </a:xfrm>
          <a:prstGeom prst="round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" y="572414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ACECARD-&gt;RIGOR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5696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2233"/>
                </a:solidFill>
                <a:latin typeface="Segoe UI"/>
              </a:defRPr>
            </a:pPr>
            <a:r>
              <a:t>Integration Point 3: Confirmed TP feeds back. Rigor re-verifies all FortiGate inspection profiles globally.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696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E70"/>
                </a:solidFill>
                <a:latin typeface="Segoe UI"/>
              </a:defRPr>
            </a:pPr>
            <a:r>
              <a:t>Closed loop: attack detected -&gt; config verification scope expanded -&gt; similar gaps found and closed.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" y="6355080"/>
            <a:ext cx="11612880" cy="36576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3733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Segoe UI"/>
              </a:defRPr>
            </a:pPr>
            <a:r>
              <a:t>Result: 8-hour dwell time (vs 5+ years). Rigor found the gap. ACECARD caught the exploitation. Together: complete defense.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Deployment Models: SaaS, On-Prem, Air-Gapped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Rigor supports all three. ACECARD mirrors with IL5/IL6/JWICS enclave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743200" cy="274320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SaaS (IL5 / NIPR)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Cloud-hosted Rigor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Config ingestion via API / secure connector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Threat intel auto-updated (NVD, CISA KEV, vendor PSIRTs)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Results to ServiceNow / JIRA / SOC SOAR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Fastest time-to-value (days)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ACECARD: OpenAI embeddings via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D8C"/>
                </a:solidFill>
                <a:latin typeface="Segoe UI"/>
              </a:defRPr>
            </a:pPr>
            <a:r>
              <a:t>Best for: NIPR networks, commercial enterprises, MSSPs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0360"/>
            <a:ext cx="11612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2926080"/>
            <a:ext cx="2743200" cy="274320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44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On-Premises (IL6 / SIPR)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461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Rigor Engine deployed on-site (VM or container)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Config read from local device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Threat intel via classified feeds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9476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Air-gapped from internet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Requires local compute (8 vCPU, 32GB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ACECARD: Local Phi-4 (14B) or Mistral 7B for embeddings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0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2ED9"/>
                </a:solidFill>
                <a:latin typeface="Segoe UI"/>
              </a:defRPr>
            </a:pPr>
            <a:r>
              <a:t>Best for: SIPR networks, classified environments, sovereign deployments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572000"/>
            <a:ext cx="11612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8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4617720"/>
            <a:ext cx="2743200" cy="274320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6360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Air-Gapped (JWICS / TS-SCI)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3776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Fully disconnected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Threat intel via manual import (STIX/TAXII)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Config via local file ingest or SNMP read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8640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No external network dependency whatsoever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ACECARD: Same local SLM, physically isolated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5216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Switch between modes: environment variable only, no code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12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8B7C"/>
                </a:solidFill>
                <a:latin typeface="Segoe UI"/>
              </a:defRPr>
            </a:pPr>
            <a:r>
              <a:t>Best for: TS/SCI, JWICS, intelligence community, nuclear facilities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6263640"/>
            <a:ext cx="11612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Segoe UI"/>
              </a:defRPr>
            </a:pPr>
            <a:r>
              <a:t>KEY: Same codebase across all three deployments. No forking. Environment variables control embedding provider (OpenAI vs local SLM) and connectivity mode. Security clearance requirement: deployment-model dependent, not code-dependent.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Combined Coverage Matrix: Which Layer Owns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Each adversary capability owned by the right layer. Preemption first, behavioral as backstop.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1170432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Adversary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1612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VT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612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161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61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Why This Layer Owns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508760"/>
            <a:ext cx="11704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34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Edge-device CVE exploitation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534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5341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581912"/>
            <a:ext cx="1005840" cy="201168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59105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RIGOR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34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Configuration is the gap -- formal verification proves patch/inspection enforced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1993392"/>
            <a:ext cx="11704320" cy="457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0187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Misconfigured / shadowed FW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0187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0187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2066544"/>
            <a:ext cx="1005840" cy="201168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0756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RIGOR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018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Mathematical model finds shadows, conflicts, weak rules across multi-vendor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2478024"/>
            <a:ext cx="11704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50342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Router ACL tampering / config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5034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E70"/>
                </a:solidFill>
                <a:latin typeface="Segoe U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0" y="25034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2551176"/>
            <a:ext cx="1005840" cy="201168"/>
          </a:xfrm>
          <a:prstGeom prst="round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2560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RIGOR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50342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Config Drift use case re-verifies live state vs approved baseline continuously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2962656"/>
            <a:ext cx="11704320" cy="457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298805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C2 to known malicious infra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29880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9880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800" y="3035808"/>
            <a:ext cx="1005840" cy="201168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3044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BOTH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880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Rigor blocks known IPs; ACECARD c2_beaconing catches new/unknown infra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" y="3447288"/>
            <a:ext cx="11704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4726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Compromised valid accounts (T1078)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34726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4726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57800" y="3520440"/>
            <a:ext cx="100584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352958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4726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Traffic is policy-allowed; only behavioral drift reveals credential abuse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8600" y="3931920"/>
            <a:ext cx="11704320" cy="457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95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Living-off-the-Land (T1059)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39573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39573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57800" y="4005072"/>
            <a:ext cx="100584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0" y="401421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95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lotl_execution concept catches LoTL chain -- process signal embedding shifts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8600" y="4416552"/>
            <a:ext cx="11704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4419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Cross-domain lateral movement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4441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4441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57800" y="4489704"/>
            <a:ext cx="100584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0" y="44988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4419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Entity fusion joins identity across AD/AAD/AWS/Okta/K8s -- drift = one signal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8600" y="4901184"/>
            <a:ext cx="11704320" cy="457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492658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Slow lateral movement (months)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492658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492658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57800" y="4974336"/>
            <a:ext cx="100584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0" y="49834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92658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CUSUM 4-sigma surfaces gradual structural shifts that never cross fixed thresholds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8600" y="5385816"/>
            <a:ext cx="11704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541121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Zero-day / unknown TTPs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1920" y="541121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541121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3333"/>
                </a:solidFill>
                <a:latin typeface="Segoe UI"/>
              </a:defRPr>
            </a:pPr>
            <a:r>
              <a:t>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257800" y="5458968"/>
            <a:ext cx="100584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0" y="54681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54112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Not in MITRE yet -- only behavioral anomaly flags deviation from learned normal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28600" y="5870448"/>
            <a:ext cx="11704320" cy="4572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58958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2233"/>
                </a:solidFill>
                <a:latin typeface="Segoe UI"/>
              </a:defRPr>
            </a:pPr>
            <a:r>
              <a:t>Insider threat / data hoarding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31920" y="58958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E70"/>
                </a:solidFill>
                <a:latin typeface="Segoe UI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4572000" y="58958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E70"/>
                </a:solidFill>
                <a:latin typeface="Segoe UI"/>
              </a:defRPr>
            </a:pPr>
          </a:p>
        </p:txBody>
      </p:sp>
      <p:sp>
        <p:nvSpPr>
          <p:cNvPr id="79" name="Rounded Rectangle 78"/>
          <p:cNvSpPr/>
          <p:nvPr/>
        </p:nvSpPr>
        <p:spPr>
          <a:xfrm>
            <a:off x="5257800" y="5943600"/>
            <a:ext cx="1005840" cy="201168"/>
          </a:xfrm>
          <a:prstGeom prst="roundRect">
            <a:avLst/>
          </a:prstGeom>
          <a:solidFill>
            <a:srgbClr val="0D8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12080" y="59527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58958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2233"/>
                </a:solidFill>
                <a:latin typeface="Segoe UI"/>
              </a:defRPr>
            </a:pPr>
            <a:r>
              <a:t>insider_data_hoarding concept (T1074) + peer cohort z-score over months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4320" y="6355080"/>
            <a:ext cx="1161288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3733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Segoe UI"/>
              </a:defRPr>
            </a:pPr>
            <a:r>
              <a:t>Together: either the path never existed (Rigor) OR the attack is detected and contained within hours (ACECARD + ABAC)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Numbers to Memorize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Segoe UI"/>
              </a:defRPr>
            </a:pPr>
            <a:r>
              <a:t>Have these ready for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B8862A"/>
                </a:solidFill>
                <a:latin typeface="Segoe UI"/>
              </a:defRPr>
            </a:pPr>
            <a:r>
              <a:t>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25296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5+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24358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Volt Typhoon dwell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591056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1627632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4+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64592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Salt Typhoon dwell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993392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2029968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482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200+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0482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Telcos compromised (Salt Typhoon)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395728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2432304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4505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US telecoms compromised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798064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" y="2834640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85292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99%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85292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FW breaches = misconfig (Gartner)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200400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3236976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25526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~20%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255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Attacks stopped by KEV patching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602736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" y="3639312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65760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2^8000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6576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Config state space Rigor reasons over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005072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0040" y="4041648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0599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50M+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405993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Rule combinations analyzed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407408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0040" y="4443984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46227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4622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False positives (mathematical proof)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809744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0040" y="4846320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86460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486460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False negatives (exhaustive reasoning)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5212080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20040" y="5248656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26694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&lt;1 hour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526694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Config drift detection time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5614416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20040" y="5650992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66928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20+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56692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Design partners (F500, federal, nation)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1188720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63640" y="1225296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124358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1,536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124358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Embedding dimensions per signal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1591056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63640" y="1627632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16459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9,216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164592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Total dims (6 x 1536) per entity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1993392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63640" y="2029968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20482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0960" y="20482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Behavioral signals (AUTH/PROC/NET/FILE/ID)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2395728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263640" y="2432304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245059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24505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MITRE threat concepts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2798064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263640" y="2834640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285292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4-sigma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285292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CUSUM alarm threshold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3200400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263640" y="3236976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9360" y="325526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8 hours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80960" y="32552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Dwell time in timeline scenario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3602736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263640" y="3639312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0" y="365760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10K/hr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80960" y="36576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Entities per 4-vCPU worker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0" y="4005072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263640" y="4041648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40599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80960" y="405993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Event to analysis per entity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4407408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263640" y="4443984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09360" y="446227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$90M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80960" y="44622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22CT Army SOC/MDR contract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17920" y="4809744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263640" y="4846320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9360" y="486460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800+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80960" y="486460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Cleared analysts on contract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17920" y="5212080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6263640" y="5248656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09360" y="526694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90 days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80960" y="526694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Contract to first detection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17920" y="5614416"/>
            <a:ext cx="5669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263640" y="5650992"/>
            <a:ext cx="1280160" cy="27432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09360" y="566928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scadia Code"/>
              </a:defRPr>
            </a:pPr>
            <a:r>
              <a:t>IL5/IL6/JWICS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80960" y="56692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33"/>
                </a:solidFill>
                <a:latin typeface="Segoe UI"/>
              </a:defRPr>
            </a:pPr>
            <a:r>
              <a:t>Three enclave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