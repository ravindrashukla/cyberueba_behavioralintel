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11887200"/>
  <p:notesSz cx="118872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The cybersecurity lifecycle: preemptive vs. reactive</a:t>
            </a:r>
            <a:endParaRPr lang="en-US" sz="2400" dirty="0"/>
          </a:p>
        </p:txBody>
      </p:sp>
      <p:sp>
        <p:nvSpPr>
          <p:cNvPr id="3" name="Text 1"/>
          <p:cNvSpPr/>
          <p:nvPr/>
        </p:nvSpPr>
        <p:spPr>
          <a:xfrm>
            <a:off x="457200" y="731520"/>
            <a:ext cx="8229600" cy="274320"/>
          </a:xfrm>
          <a:prstGeom prst="rect">
            <a:avLst/>
          </a:prstGeom>
          <a:noFill/>
          <a:ln/>
        </p:spPr>
        <p:txBody>
          <a:bodyPr wrap="square" lIns="0" tIns="0" rIns="0" bIns="0" rtlCol="0" anchor="ctr"/>
          <a:lstStyle/>
          <a:p>
            <a:pPr algn="ctr" indent="0" marL="0">
              <a:buNone/>
            </a:pPr>
            <a:r>
              <a:rPr lang="en-US" sz="1200" dirty="0">
                <a:solidFill>
                  <a:srgbClr val="888780"/>
                </a:solidFill>
                <a:latin typeface="Arial" pitchFamily="34" charset="0"/>
                <a:ea typeface="Arial" pitchFamily="34" charset="-122"/>
                <a:cs typeface="Arial" pitchFamily="34" charset="-120"/>
              </a:rPr>
              <a:t>Where attacks are neutralized — and where preemptive verification fills the gap no reactive tool can address</a:t>
            </a:r>
            <a:endParaRPr lang="en-US" sz="1200" dirty="0"/>
          </a:p>
        </p:txBody>
      </p:sp>
      <p:sp>
        <p:nvSpPr>
          <p:cNvPr id="4" name="Shape 2"/>
          <p:cNvSpPr/>
          <p:nvPr/>
        </p:nvSpPr>
        <p:spPr>
          <a:xfrm>
            <a:off x="457200" y="1097280"/>
            <a:ext cx="8229600" cy="2651760"/>
          </a:xfrm>
          <a:prstGeom prst="roundRect">
            <a:avLst>
              <a:gd name="adj" fmla="val 5172"/>
            </a:avLst>
          </a:prstGeom>
          <a:solidFill>
            <a:srgbClr val="FFFFFF"/>
          </a:solidFill>
          <a:ln w="25400">
            <a:solidFill>
              <a:srgbClr val="1D9E75"/>
            </a:solidFill>
            <a:prstDash val="dash"/>
          </a:ln>
        </p:spPr>
      </p:sp>
      <p:sp>
        <p:nvSpPr>
          <p:cNvPr id="5" name="Text 3"/>
          <p:cNvSpPr/>
          <p:nvPr/>
        </p:nvSpPr>
        <p:spPr>
          <a:xfrm>
            <a:off x="685800" y="1188720"/>
            <a:ext cx="4572000" cy="256032"/>
          </a:xfrm>
          <a:prstGeom prst="rect">
            <a:avLst/>
          </a:prstGeom>
          <a:noFill/>
          <a:ln/>
        </p:spPr>
        <p:txBody>
          <a:bodyPr wrap="square" lIns="0" tIns="0" rIns="0" bIns="0" rtlCol="0" anchor="ctr"/>
          <a:lstStyle/>
          <a:p>
            <a:pPr indent="0" marL="0">
              <a:buNone/>
            </a:pPr>
            <a:r>
              <a:rPr lang="en-US" sz="1400" b="1" dirty="0">
                <a:solidFill>
                  <a:srgbClr val="0F6E56"/>
                </a:solidFill>
                <a:latin typeface="Arial" pitchFamily="34" charset="0"/>
                <a:ea typeface="Arial" pitchFamily="34" charset="-122"/>
                <a:cs typeface="Arial" pitchFamily="34" charset="-120"/>
              </a:rPr>
              <a:t>Stage 1: Preempt &amp; prove</a:t>
            </a:r>
            <a:endParaRPr lang="en-US" sz="1400" dirty="0"/>
          </a:p>
        </p:txBody>
      </p:sp>
      <p:sp>
        <p:nvSpPr>
          <p:cNvPr id="6" name="Text 4"/>
          <p:cNvSpPr/>
          <p:nvPr/>
        </p:nvSpPr>
        <p:spPr>
          <a:xfrm>
            <a:off x="4572000" y="1188720"/>
            <a:ext cx="3931920" cy="256032"/>
          </a:xfrm>
          <a:prstGeom prst="rect">
            <a:avLst/>
          </a:prstGeom>
          <a:noFill/>
          <a:ln/>
        </p:spPr>
        <p:txBody>
          <a:bodyPr wrap="square" lIns="0" tIns="0" rIns="0" bIns="0" rtlCol="0" anchor="ctr"/>
          <a:lstStyle/>
          <a:p>
            <a:pPr algn="r" indent="0" marL="0">
              <a:buNone/>
            </a:pPr>
            <a:r>
              <a:rPr lang="en-US" sz="1100" dirty="0">
                <a:solidFill>
                  <a:srgbClr val="1D9E75"/>
                </a:solidFill>
                <a:latin typeface="Arial" pitchFamily="34" charset="0"/>
                <a:ea typeface="Arial" pitchFamily="34" charset="-122"/>
                <a:cs typeface="Arial" pitchFamily="34" charset="-120"/>
              </a:rPr>
              <a:t>The missing layer — before any traffic flows</a:t>
            </a:r>
            <a:endParaRPr lang="en-US" sz="1100" dirty="0"/>
          </a:p>
        </p:txBody>
      </p:sp>
      <p:sp>
        <p:nvSpPr>
          <p:cNvPr id="7" name="Shape 5"/>
          <p:cNvSpPr/>
          <p:nvPr/>
        </p:nvSpPr>
        <p:spPr>
          <a:xfrm>
            <a:off x="731520" y="1600200"/>
            <a:ext cx="1280160" cy="1280160"/>
          </a:xfrm>
          <a:prstGeom prst="ellipse">
            <a:avLst/>
          </a:prstGeom>
          <a:solidFill>
            <a:srgbClr val="E1F5EE"/>
          </a:solidFill>
          <a:ln w="19050">
            <a:solidFill>
              <a:srgbClr val="1D9E75"/>
            </a:solidFill>
            <a:prstDash val="solid"/>
          </a:ln>
        </p:spPr>
      </p:sp>
      <p:sp>
        <p:nvSpPr>
          <p:cNvPr id="8" name="Text 6"/>
          <p:cNvSpPr/>
          <p:nvPr/>
        </p:nvSpPr>
        <p:spPr>
          <a:xfrm>
            <a:off x="731520" y="1691640"/>
            <a:ext cx="1280160" cy="640080"/>
          </a:xfrm>
          <a:prstGeom prst="rect">
            <a:avLst/>
          </a:prstGeom>
          <a:noFill/>
          <a:ln/>
        </p:spPr>
        <p:txBody>
          <a:bodyPr wrap="square" lIns="0" tIns="0" rIns="0" bIns="0" rtlCol="0" anchor="ctr"/>
          <a:lstStyle/>
          <a:p>
            <a:pPr algn="ctr" indent="0" marL="0">
              <a:buNone/>
            </a:pPr>
            <a:r>
              <a:rPr lang="en-US" sz="2800" b="1" dirty="0">
                <a:solidFill>
                  <a:srgbClr val="0F6E56"/>
                </a:solidFill>
                <a:latin typeface="Arial" pitchFamily="34" charset="0"/>
                <a:ea typeface="Arial" pitchFamily="34" charset="-122"/>
                <a:cs typeface="Arial" pitchFamily="34" charset="-120"/>
              </a:rPr>
              <a:t>~85%</a:t>
            </a:r>
            <a:endParaRPr lang="en-US" sz="2800" dirty="0"/>
          </a:p>
        </p:txBody>
      </p:sp>
      <p:sp>
        <p:nvSpPr>
          <p:cNvPr id="9" name="Text 7"/>
          <p:cNvSpPr/>
          <p:nvPr/>
        </p:nvSpPr>
        <p:spPr>
          <a:xfrm>
            <a:off x="731520" y="2331720"/>
            <a:ext cx="1280160" cy="457200"/>
          </a:xfrm>
          <a:prstGeom prst="rect">
            <a:avLst/>
          </a:prstGeom>
          <a:noFill/>
          <a:ln/>
        </p:spPr>
        <p:txBody>
          <a:bodyPr wrap="square" lIns="0" tIns="0" rIns="0" bIns="0" rtlCol="0" anchor="t"/>
          <a:lstStyle/>
          <a:p>
            <a:pPr algn="ctr" indent="0" marL="0">
              <a:buNone/>
            </a:pPr>
            <a:r>
              <a:rPr lang="en-US" sz="850" dirty="0">
                <a:solidFill>
                  <a:srgbClr val="1D9E75"/>
                </a:solidFill>
                <a:latin typeface="Arial" pitchFamily="34" charset="0"/>
                <a:ea typeface="Arial" pitchFamily="34" charset="-122"/>
                <a:cs typeface="Arial" pitchFamily="34" charset="-120"/>
              </a:rPr>
              <a:t>of attack</a:t>
            </a:r>
            <a:endParaRPr lang="en-US" sz="850" dirty="0"/>
          </a:p>
          <a:p>
            <a:pPr algn="ctr" indent="0" marL="0">
              <a:buNone/>
            </a:pPr>
            <a:r>
              <a:rPr lang="en-US" sz="850" dirty="0">
                <a:solidFill>
                  <a:srgbClr val="1D9E75"/>
                </a:solidFill>
                <a:latin typeface="Arial" pitchFamily="34" charset="0"/>
                <a:ea typeface="Arial" pitchFamily="34" charset="-122"/>
                <a:cs typeface="Arial" pitchFamily="34" charset="-120"/>
              </a:rPr>
              <a:t>surface</a:t>
            </a:r>
            <a:endParaRPr lang="en-US" sz="850" dirty="0"/>
          </a:p>
          <a:p>
            <a:pPr algn="ctr" indent="0" marL="0">
              <a:buNone/>
            </a:pPr>
            <a:r>
              <a:rPr lang="en-US" sz="850" dirty="0">
                <a:solidFill>
                  <a:srgbClr val="1D9E75"/>
                </a:solidFill>
                <a:latin typeface="Arial" pitchFamily="34" charset="0"/>
                <a:ea typeface="Arial" pitchFamily="34" charset="-122"/>
                <a:cs typeface="Arial" pitchFamily="34" charset="-120"/>
              </a:rPr>
              <a:t>eliminated*</a:t>
            </a:r>
            <a:endParaRPr lang="en-US" sz="850" dirty="0"/>
          </a:p>
        </p:txBody>
      </p:sp>
      <p:sp>
        <p:nvSpPr>
          <p:cNvPr id="10" name="Shape 8"/>
          <p:cNvSpPr/>
          <p:nvPr/>
        </p:nvSpPr>
        <p:spPr>
          <a:xfrm>
            <a:off x="2194560" y="1600200"/>
            <a:ext cx="6263640" cy="1965960"/>
          </a:xfrm>
          <a:prstGeom prst="roundRect">
            <a:avLst>
              <a:gd name="adj" fmla="val 4651"/>
            </a:avLst>
          </a:prstGeom>
          <a:solidFill>
            <a:srgbClr val="E1F5EE"/>
          </a:solidFill>
          <a:ln w="9525">
            <a:solidFill>
              <a:srgbClr val="1D9E75"/>
            </a:solidFill>
            <a:prstDash val="solid"/>
          </a:ln>
        </p:spPr>
      </p:sp>
      <p:sp>
        <p:nvSpPr>
          <p:cNvPr id="11" name="Text 9"/>
          <p:cNvSpPr/>
          <p:nvPr/>
        </p:nvSpPr>
        <p:spPr>
          <a:xfrm>
            <a:off x="2377440" y="1664208"/>
            <a:ext cx="5943600" cy="256032"/>
          </a:xfrm>
          <a:prstGeom prst="rect">
            <a:avLst/>
          </a:prstGeom>
          <a:noFill/>
          <a:ln/>
        </p:spPr>
        <p:txBody>
          <a:bodyPr wrap="square" lIns="0" tIns="0" rIns="0" bIns="0" rtlCol="0" anchor="ctr"/>
          <a:lstStyle/>
          <a:p>
            <a:pPr indent="0" marL="0">
              <a:buNone/>
            </a:pPr>
            <a:r>
              <a:rPr lang="en-US" sz="1400" b="1" dirty="0">
                <a:solidFill>
                  <a:srgbClr val="085041"/>
                </a:solidFill>
                <a:latin typeface="Arial" pitchFamily="34" charset="0"/>
                <a:ea typeface="Arial" pitchFamily="34" charset="-122"/>
                <a:cs typeface="Arial" pitchFamily="34" charset="-120"/>
              </a:rPr>
              <a:t>Preemptive posture verification — formal mathematical defense</a:t>
            </a:r>
            <a:endParaRPr lang="en-US" sz="1400" dirty="0"/>
          </a:p>
        </p:txBody>
      </p:sp>
      <p:sp>
        <p:nvSpPr>
          <p:cNvPr id="12" name="Text 10"/>
          <p:cNvSpPr/>
          <p:nvPr/>
        </p:nvSpPr>
        <p:spPr>
          <a:xfrm>
            <a:off x="2377440" y="1938528"/>
            <a:ext cx="5943600" cy="256032"/>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Attack Intelligence: </a:t>
            </a:r>
            <a:pPr indent="0" marL="0">
              <a:buNone/>
            </a:pPr>
            <a:r>
              <a:rPr lang="en-US" sz="950" dirty="0">
                <a:solidFill>
                  <a:srgbClr val="0F6E56"/>
                </a:solidFill>
                <a:latin typeface="Arial" pitchFamily="34" charset="0"/>
                <a:ea typeface="Arial" pitchFamily="34" charset="-122"/>
                <a:cs typeface="Arial" pitchFamily="34" charset="-120"/>
              </a:rPr>
              <a:t>LLMs + NLP ingest threat intel (CVEs, IOCs, IOAs) to build deep MITRE ATT&amp;CK attack graphs</a:t>
            </a:r>
            <a:endParaRPr lang="en-US" sz="950" dirty="0"/>
          </a:p>
        </p:txBody>
      </p:sp>
      <p:sp>
        <p:nvSpPr>
          <p:cNvPr id="13" name="Text 11"/>
          <p:cNvSpPr/>
          <p:nvPr/>
        </p:nvSpPr>
        <p:spPr>
          <a:xfrm>
            <a:off x="2377440" y="2212848"/>
            <a:ext cx="5943600" cy="256032"/>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Defense Intelligence: </a:t>
            </a:r>
            <a:pPr indent="0" marL="0">
              <a:buNone/>
            </a:pPr>
            <a:r>
              <a:rPr lang="en-US" sz="950" dirty="0">
                <a:solidFill>
                  <a:srgbClr val="0F6E56"/>
                </a:solidFill>
                <a:latin typeface="Arial" pitchFamily="34" charset="0"/>
                <a:ea typeface="Arial" pitchFamily="34" charset="-122"/>
                <a:cs typeface="Arial" pitchFamily="34" charset="-120"/>
              </a:rPr>
              <a:t>Formal mathematical model of all NGFW configs (100K+ states, 2⁸⁰⁰⁰ defense space) — no sampling</a:t>
            </a:r>
            <a:endParaRPr lang="en-US" sz="950" dirty="0"/>
          </a:p>
        </p:txBody>
      </p:sp>
      <p:sp>
        <p:nvSpPr>
          <p:cNvPr id="14" name="Text 12"/>
          <p:cNvSpPr/>
          <p:nvPr/>
        </p:nvSpPr>
        <p:spPr>
          <a:xfrm>
            <a:off x="2377440" y="2487168"/>
            <a:ext cx="5943600" cy="256032"/>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Remediation Intelligence: </a:t>
            </a:r>
            <a:pPr indent="0" marL="0">
              <a:buNone/>
            </a:pPr>
            <a:r>
              <a:rPr lang="en-US" sz="950" dirty="0">
                <a:solidFill>
                  <a:srgbClr val="0F6E56"/>
                </a:solidFill>
                <a:latin typeface="Arial" pitchFamily="34" charset="0"/>
                <a:ea typeface="Arial" pitchFamily="34" charset="-122"/>
                <a:cs typeface="Arial" pitchFamily="34" charset="-120"/>
              </a:rPr>
              <a:t>Guardrailed agentic-AI reasoner prescribes vendor-specific, risk-prioritized fixes — no new errors</a:t>
            </a:r>
            <a:endParaRPr lang="en-US" sz="950" dirty="0"/>
          </a:p>
        </p:txBody>
      </p:sp>
      <p:sp>
        <p:nvSpPr>
          <p:cNvPr id="15" name="Text 13"/>
          <p:cNvSpPr/>
          <p:nvPr/>
        </p:nvSpPr>
        <p:spPr>
          <a:xfrm>
            <a:off x="2377440" y="2761488"/>
            <a:ext cx="5943600" cy="256032"/>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Finds: </a:t>
            </a:r>
            <a:pPr indent="0" marL="0">
              <a:buNone/>
            </a:pPr>
            <a:r>
              <a:rPr lang="en-US" sz="900" dirty="0">
                <a:solidFill>
                  <a:srgbClr val="0F6E56"/>
                </a:solidFill>
                <a:latin typeface="Arial" pitchFamily="34" charset="0"/>
                <a:ea typeface="Arial" pitchFamily="34" charset="-122"/>
                <a:cs typeface="Arial" pitchFamily="34" charset="-120"/>
              </a:rPr>
              <a:t>shadows, conflicts, weak rules, redundancies, missing threat profiles, intent errors, translation errors, multi-rule/multi-device errors</a:t>
            </a:r>
            <a:endParaRPr lang="en-US" sz="900" dirty="0"/>
          </a:p>
        </p:txBody>
      </p:sp>
      <p:sp>
        <p:nvSpPr>
          <p:cNvPr id="16" name="Text 14"/>
          <p:cNvSpPr/>
          <p:nvPr/>
        </p:nvSpPr>
        <p:spPr>
          <a:xfrm>
            <a:off x="2377440" y="3063240"/>
            <a:ext cx="5943600" cy="201168"/>
          </a:xfrm>
          <a:prstGeom prst="rect">
            <a:avLst/>
          </a:prstGeom>
          <a:noFill/>
          <a:ln/>
        </p:spPr>
        <p:txBody>
          <a:bodyPr wrap="square" lIns="0" tIns="0" rIns="0" bIns="0" rtlCol="0" anchor="ctr"/>
          <a:lstStyle/>
          <a:p>
            <a:pPr indent="0" marL="0">
              <a:buNone/>
            </a:pPr>
            <a:r>
              <a:rPr lang="en-US" sz="850" i="1" dirty="0">
                <a:solidFill>
                  <a:srgbClr val="1D9E75"/>
                </a:solidFill>
                <a:latin typeface="Arial" pitchFamily="34" charset="0"/>
                <a:ea typeface="Arial" pitchFamily="34" charset="-122"/>
                <a:cs typeface="Arial" pitchFamily="34" charset="-120"/>
              </a:rPr>
              <a:t>99% of firewall breaches are caused by misconfiguration, not flaws in the firewall itself ¹</a:t>
            </a:r>
            <a:endParaRPr lang="en-US" sz="850" dirty="0"/>
          </a:p>
        </p:txBody>
      </p:sp>
      <p:sp>
        <p:nvSpPr>
          <p:cNvPr id="17" name="Text 15"/>
          <p:cNvSpPr/>
          <p:nvPr/>
        </p:nvSpPr>
        <p:spPr>
          <a:xfrm>
            <a:off x="2377440" y="3273552"/>
            <a:ext cx="5943600" cy="201168"/>
          </a:xfrm>
          <a:prstGeom prst="rect">
            <a:avLst/>
          </a:prstGeom>
          <a:noFill/>
          <a:ln/>
        </p:spPr>
        <p:txBody>
          <a:bodyPr wrap="square" lIns="0" tIns="0" rIns="0" bIns="0" rtlCol="0" anchor="ctr"/>
          <a:lstStyle/>
          <a:p>
            <a:pPr indent="0" marL="0">
              <a:buNone/>
            </a:pPr>
            <a:r>
              <a:rPr lang="en-US" sz="850" b="1" dirty="0">
                <a:solidFill>
                  <a:srgbClr val="085041"/>
                </a:solidFill>
                <a:latin typeface="Arial" pitchFamily="34" charset="0"/>
                <a:ea typeface="Arial" pitchFamily="34" charset="-122"/>
                <a:cs typeface="Arial" pitchFamily="34" charset="-120"/>
              </a:rPr>
              <a:t>No telemetry • No agents • Config-only pull • Zero false positives • Time to value &lt; 4 weeks</a:t>
            </a:r>
            <a:endParaRPr lang="en-US" sz="850" dirty="0"/>
          </a:p>
        </p:txBody>
      </p:sp>
      <p:sp>
        <p:nvSpPr>
          <p:cNvPr id="18" name="Shape 16"/>
          <p:cNvSpPr/>
          <p:nvPr/>
        </p:nvSpPr>
        <p:spPr>
          <a:xfrm>
            <a:off x="4572000" y="3749040"/>
            <a:ext cx="0" cy="320040"/>
          </a:xfrm>
          <a:prstGeom prst="line">
            <a:avLst/>
          </a:prstGeom>
          <a:noFill/>
          <a:ln w="25400">
            <a:solidFill>
              <a:srgbClr val="1D9E75"/>
            </a:solidFill>
            <a:prstDash val="solid"/>
            <a:tailEnd type="triangle"/>
          </a:ln>
        </p:spPr>
      </p:sp>
      <p:sp>
        <p:nvSpPr>
          <p:cNvPr id="19" name="Text 17"/>
          <p:cNvSpPr/>
          <p:nvPr/>
        </p:nvSpPr>
        <p:spPr>
          <a:xfrm>
            <a:off x="4754880" y="3794760"/>
            <a:ext cx="3200400" cy="201168"/>
          </a:xfrm>
          <a:prstGeom prst="rect">
            <a:avLst/>
          </a:prstGeom>
          <a:noFill/>
          <a:ln/>
        </p:spPr>
        <p:txBody>
          <a:bodyPr wrap="square" lIns="0" tIns="0" rIns="0" bIns="0" rtlCol="0" anchor="ctr"/>
          <a:lstStyle/>
          <a:p>
            <a:pPr indent="0" marL="0">
              <a:buNone/>
            </a:pPr>
            <a:r>
              <a:rPr lang="en-US" sz="1000" dirty="0">
                <a:solidFill>
                  <a:srgbClr val="1D9E75"/>
                </a:solidFill>
                <a:latin typeface="Arial" pitchFamily="34" charset="0"/>
                <a:ea typeface="Arial" pitchFamily="34" charset="-122"/>
                <a:cs typeface="Arial" pitchFamily="34" charset="-120"/>
              </a:rPr>
              <a:t>Pushes verified, flawless rules down to...</a:t>
            </a:r>
            <a:endParaRPr lang="en-US" sz="1000" dirty="0"/>
          </a:p>
        </p:txBody>
      </p:sp>
      <p:sp>
        <p:nvSpPr>
          <p:cNvPr id="20" name="Shape 18"/>
          <p:cNvSpPr/>
          <p:nvPr/>
        </p:nvSpPr>
        <p:spPr>
          <a:xfrm>
            <a:off x="457200" y="4160520"/>
            <a:ext cx="8229600" cy="5943600"/>
          </a:xfrm>
          <a:prstGeom prst="roundRect">
            <a:avLst>
              <a:gd name="adj" fmla="val 2308"/>
            </a:avLst>
          </a:prstGeom>
          <a:solidFill>
            <a:srgbClr val="FAFAFA"/>
          </a:solidFill>
          <a:ln w="19050">
            <a:solidFill>
              <a:srgbClr val="B4B2A9"/>
            </a:solidFill>
            <a:prstDash val="dash"/>
          </a:ln>
        </p:spPr>
      </p:sp>
      <p:sp>
        <p:nvSpPr>
          <p:cNvPr id="21" name="Text 19"/>
          <p:cNvSpPr/>
          <p:nvPr/>
        </p:nvSpPr>
        <p:spPr>
          <a:xfrm>
            <a:off x="457200" y="4251960"/>
            <a:ext cx="8229600" cy="228600"/>
          </a:xfrm>
          <a:prstGeom prst="rect">
            <a:avLst/>
          </a:prstGeom>
          <a:noFill/>
          <a:ln/>
        </p:spPr>
        <p:txBody>
          <a:bodyPr wrap="square" lIns="0" tIns="0" rIns="0" bIns="0" rtlCol="0" anchor="ctr"/>
          <a:lstStyle/>
          <a:p>
            <a:pPr algn="ctr" indent="0" marL="0">
              <a:buNone/>
            </a:pPr>
            <a:r>
              <a:rPr lang="en-US" sz="1100" dirty="0">
                <a:solidFill>
                  <a:srgbClr val="888780"/>
                </a:solidFill>
                <a:latin typeface="Arial" pitchFamily="34" charset="0"/>
                <a:ea typeface="Arial" pitchFamily="34" charset="-122"/>
                <a:cs typeface="Arial" pitchFamily="34" charset="-120"/>
              </a:rPr>
              <a:t>The live environment — all tools below are reactive (detect &amp; respond after breach)</a:t>
            </a:r>
            <a:endParaRPr lang="en-US" sz="1100" dirty="0"/>
          </a:p>
        </p:txBody>
      </p:sp>
      <p:sp>
        <p:nvSpPr>
          <p:cNvPr id="22" name="Text 20"/>
          <p:cNvSpPr/>
          <p:nvPr/>
        </p:nvSpPr>
        <p:spPr>
          <a:xfrm>
            <a:off x="685800" y="4572000"/>
            <a:ext cx="3657600" cy="256032"/>
          </a:xfrm>
          <a:prstGeom prst="rect">
            <a:avLst/>
          </a:prstGeom>
          <a:noFill/>
          <a:ln/>
        </p:spPr>
        <p:txBody>
          <a:bodyPr wrap="square" lIns="0" tIns="0" rIns="0" bIns="0" rtlCol="0" anchor="ctr"/>
          <a:lstStyle/>
          <a:p>
            <a:pPr indent="0" marL="0">
              <a:buNone/>
            </a:pPr>
            <a:r>
              <a:rPr lang="en-US" sz="1300" b="1" dirty="0">
                <a:solidFill>
                  <a:srgbClr val="444441"/>
                </a:solidFill>
                <a:latin typeface="Arial" pitchFamily="34" charset="0"/>
                <a:ea typeface="Arial" pitchFamily="34" charset="-122"/>
                <a:cs typeface="Arial" pitchFamily="34" charset="-120"/>
              </a:rPr>
              <a:t>Stage 2: Prevent (perimeter)</a:t>
            </a:r>
            <a:endParaRPr lang="en-US" sz="1300" dirty="0"/>
          </a:p>
        </p:txBody>
      </p:sp>
      <p:sp>
        <p:nvSpPr>
          <p:cNvPr id="23" name="Shape 21"/>
          <p:cNvSpPr/>
          <p:nvPr/>
        </p:nvSpPr>
        <p:spPr>
          <a:xfrm>
            <a:off x="7132320" y="4526280"/>
            <a:ext cx="1005840" cy="1005840"/>
          </a:xfrm>
          <a:prstGeom prst="ellipse">
            <a:avLst/>
          </a:prstGeom>
          <a:solidFill>
            <a:srgbClr val="E6F1FB"/>
          </a:solidFill>
          <a:ln w="19050">
            <a:solidFill>
              <a:srgbClr val="85B7EB"/>
            </a:solidFill>
            <a:prstDash val="solid"/>
          </a:ln>
        </p:spPr>
      </p:sp>
      <p:sp>
        <p:nvSpPr>
          <p:cNvPr id="24" name="Text 22"/>
          <p:cNvSpPr/>
          <p:nvPr/>
        </p:nvSpPr>
        <p:spPr>
          <a:xfrm>
            <a:off x="7132320" y="4572000"/>
            <a:ext cx="1005840" cy="502920"/>
          </a:xfrm>
          <a:prstGeom prst="rect">
            <a:avLst/>
          </a:prstGeom>
          <a:noFill/>
          <a:ln/>
        </p:spPr>
        <p:txBody>
          <a:bodyPr wrap="square" lIns="0" tIns="0" rIns="0" bIns="0" rtlCol="0" anchor="ctr"/>
          <a:lstStyle/>
          <a:p>
            <a:pPr algn="ctr" indent="0" marL="0">
              <a:buNone/>
            </a:pPr>
            <a:r>
              <a:rPr lang="en-US" sz="2000" b="1" dirty="0">
                <a:solidFill>
                  <a:srgbClr val="0C447C"/>
                </a:solidFill>
                <a:latin typeface="Arial" pitchFamily="34" charset="0"/>
                <a:ea typeface="Arial" pitchFamily="34" charset="-122"/>
                <a:cs typeface="Arial" pitchFamily="34" charset="-120"/>
              </a:rPr>
              <a:t>~10%</a:t>
            </a:r>
            <a:endParaRPr lang="en-US" sz="2000" dirty="0"/>
          </a:p>
        </p:txBody>
      </p:sp>
      <p:sp>
        <p:nvSpPr>
          <p:cNvPr id="25" name="Text 23"/>
          <p:cNvSpPr/>
          <p:nvPr/>
        </p:nvSpPr>
        <p:spPr>
          <a:xfrm>
            <a:off x="7132320" y="5074920"/>
            <a:ext cx="1005840" cy="320040"/>
          </a:xfrm>
          <a:prstGeom prst="rect">
            <a:avLst/>
          </a:prstGeom>
          <a:noFill/>
          <a:ln/>
        </p:spPr>
        <p:txBody>
          <a:bodyPr wrap="square" lIns="0" tIns="0" rIns="0" bIns="0" rtlCol="0" anchor="t"/>
          <a:lstStyle/>
          <a:p>
            <a:pPr algn="ctr" indent="0" marL="0">
              <a:buNone/>
            </a:pPr>
            <a:r>
              <a:rPr lang="en-US" sz="800" dirty="0">
                <a:solidFill>
                  <a:srgbClr val="185FA5"/>
                </a:solidFill>
                <a:latin typeface="Arial" pitchFamily="34" charset="0"/>
                <a:ea typeface="Arial" pitchFamily="34" charset="-122"/>
                <a:cs typeface="Arial" pitchFamily="34" charset="-120"/>
              </a:rPr>
              <a:t>blocked at</a:t>
            </a:r>
            <a:endParaRPr lang="en-US" sz="800" dirty="0"/>
          </a:p>
          <a:p>
            <a:pPr algn="ctr" indent="0" marL="0">
              <a:buNone/>
            </a:pPr>
            <a:r>
              <a:rPr lang="en-US" sz="800" dirty="0">
                <a:solidFill>
                  <a:srgbClr val="185FA5"/>
                </a:solidFill>
                <a:latin typeface="Arial" pitchFamily="34" charset="0"/>
                <a:ea typeface="Arial" pitchFamily="34" charset="-122"/>
                <a:cs typeface="Arial" pitchFamily="34" charset="-120"/>
              </a:rPr>
              <a:t>perimeter*</a:t>
            </a:r>
            <a:endParaRPr lang="en-US" sz="800" dirty="0"/>
          </a:p>
        </p:txBody>
      </p:sp>
      <p:sp>
        <p:nvSpPr>
          <p:cNvPr id="26" name="Shape 24"/>
          <p:cNvSpPr/>
          <p:nvPr/>
        </p:nvSpPr>
        <p:spPr>
          <a:xfrm>
            <a:off x="685800" y="4892040"/>
            <a:ext cx="3063240" cy="731520"/>
          </a:xfrm>
          <a:prstGeom prst="roundRect">
            <a:avLst>
              <a:gd name="adj" fmla="val 10000"/>
            </a:avLst>
          </a:prstGeom>
          <a:solidFill>
            <a:srgbClr val="E6F1FB"/>
          </a:solidFill>
          <a:ln w="9525">
            <a:solidFill>
              <a:srgbClr val="85B7EB"/>
            </a:solidFill>
            <a:prstDash val="solid"/>
          </a:ln>
        </p:spPr>
      </p:sp>
      <p:sp>
        <p:nvSpPr>
          <p:cNvPr id="27" name="Text 25"/>
          <p:cNvSpPr/>
          <p:nvPr/>
        </p:nvSpPr>
        <p:spPr>
          <a:xfrm>
            <a:off x="822960" y="4919472"/>
            <a:ext cx="2743200" cy="201168"/>
          </a:xfrm>
          <a:prstGeom prst="rect">
            <a:avLst/>
          </a:prstGeom>
          <a:noFill/>
          <a:ln/>
        </p:spPr>
        <p:txBody>
          <a:bodyPr wrap="square" lIns="0" tIns="0" rIns="0" bIns="0" rtlCol="0" anchor="ctr"/>
          <a:lstStyle/>
          <a:p>
            <a:pPr indent="0" marL="0">
              <a:buNone/>
            </a:pPr>
            <a:r>
              <a:rPr lang="en-US" sz="1200" b="1" dirty="0">
                <a:solidFill>
                  <a:srgbClr val="0C447C"/>
                </a:solidFill>
                <a:latin typeface="Arial" pitchFamily="34" charset="0"/>
                <a:ea typeface="Arial" pitchFamily="34" charset="-122"/>
                <a:cs typeface="Arial" pitchFamily="34" charset="-120"/>
              </a:rPr>
              <a:t>NGFW</a:t>
            </a:r>
            <a:endParaRPr lang="en-US" sz="1200" dirty="0"/>
          </a:p>
        </p:txBody>
      </p:sp>
      <p:sp>
        <p:nvSpPr>
          <p:cNvPr id="28" name="Text 26"/>
          <p:cNvSpPr/>
          <p:nvPr/>
        </p:nvSpPr>
        <p:spPr>
          <a:xfrm>
            <a:off x="822960" y="5120640"/>
            <a:ext cx="2743200" cy="411480"/>
          </a:xfrm>
          <a:prstGeom prst="rect">
            <a:avLst/>
          </a:prstGeom>
          <a:noFill/>
          <a:ln/>
        </p:spPr>
        <p:txBody>
          <a:bodyPr wrap="square" lIns="0" tIns="0" rIns="0" bIns="0" rtlCol="0" anchor="ctr"/>
          <a:lstStyle/>
          <a:p>
            <a:pPr indent="0" marL="0">
              <a:buNone/>
            </a:pPr>
            <a:r>
              <a:rPr lang="en-US" sz="950" dirty="0">
                <a:solidFill>
                  <a:srgbClr val="185FA5"/>
                </a:solidFill>
                <a:latin typeface="Arial" pitchFamily="34" charset="0"/>
                <a:ea typeface="Arial" pitchFamily="34" charset="-122"/>
                <a:cs typeface="Arial" pitchFamily="34" charset="-120"/>
              </a:rPr>
              <a:t>Palo Alto, Fortinet, Cisco</a:t>
            </a:r>
            <a:endParaRPr lang="en-US" sz="950" dirty="0"/>
          </a:p>
          <a:p>
            <a:pPr indent="0" marL="0">
              <a:buNone/>
            </a:pPr>
            <a:r>
              <a:rPr lang="en-US" sz="950" dirty="0">
                <a:solidFill>
                  <a:srgbClr val="185FA5"/>
                </a:solidFill>
                <a:latin typeface="Arial" pitchFamily="34" charset="0"/>
                <a:ea typeface="Arial" pitchFamily="34" charset="-122"/>
                <a:cs typeface="Arial" pitchFamily="34" charset="-120"/>
              </a:rPr>
              <a:t>Enforces rules, blocks bad traffic</a:t>
            </a:r>
            <a:endParaRPr lang="en-US" sz="950" dirty="0"/>
          </a:p>
        </p:txBody>
      </p:sp>
      <p:sp>
        <p:nvSpPr>
          <p:cNvPr id="29" name="Shape 27"/>
          <p:cNvSpPr/>
          <p:nvPr/>
        </p:nvSpPr>
        <p:spPr>
          <a:xfrm>
            <a:off x="3931920" y="4892040"/>
            <a:ext cx="3063240" cy="731520"/>
          </a:xfrm>
          <a:prstGeom prst="roundRect">
            <a:avLst>
              <a:gd name="adj" fmla="val 10000"/>
            </a:avLst>
          </a:prstGeom>
          <a:solidFill>
            <a:srgbClr val="E6F1FB"/>
          </a:solidFill>
          <a:ln w="9525">
            <a:solidFill>
              <a:srgbClr val="85B7EB"/>
            </a:solidFill>
            <a:prstDash val="solid"/>
          </a:ln>
        </p:spPr>
      </p:sp>
      <p:sp>
        <p:nvSpPr>
          <p:cNvPr id="30" name="Text 28"/>
          <p:cNvSpPr/>
          <p:nvPr/>
        </p:nvSpPr>
        <p:spPr>
          <a:xfrm>
            <a:off x="4069080" y="4919472"/>
            <a:ext cx="2743200" cy="201168"/>
          </a:xfrm>
          <a:prstGeom prst="rect">
            <a:avLst/>
          </a:prstGeom>
          <a:noFill/>
          <a:ln/>
        </p:spPr>
        <p:txBody>
          <a:bodyPr wrap="square" lIns="0" tIns="0" rIns="0" bIns="0" rtlCol="0" anchor="ctr"/>
          <a:lstStyle/>
          <a:p>
            <a:pPr indent="0" marL="0">
              <a:buNone/>
            </a:pPr>
            <a:r>
              <a:rPr lang="en-US" sz="1200" b="1" dirty="0">
                <a:solidFill>
                  <a:srgbClr val="0C447C"/>
                </a:solidFill>
                <a:latin typeface="Arial" pitchFamily="34" charset="0"/>
                <a:ea typeface="Arial" pitchFamily="34" charset="-122"/>
                <a:cs typeface="Arial" pitchFamily="34" charset="-120"/>
              </a:rPr>
              <a:t>Vulnerability scanners</a:t>
            </a:r>
            <a:endParaRPr lang="en-US" sz="1200" dirty="0"/>
          </a:p>
        </p:txBody>
      </p:sp>
      <p:sp>
        <p:nvSpPr>
          <p:cNvPr id="31" name="Text 29"/>
          <p:cNvSpPr/>
          <p:nvPr/>
        </p:nvSpPr>
        <p:spPr>
          <a:xfrm>
            <a:off x="4069080" y="5120640"/>
            <a:ext cx="2743200" cy="411480"/>
          </a:xfrm>
          <a:prstGeom prst="rect">
            <a:avLst/>
          </a:prstGeom>
          <a:noFill/>
          <a:ln/>
        </p:spPr>
        <p:txBody>
          <a:bodyPr wrap="square" lIns="0" tIns="0" rIns="0" bIns="0" rtlCol="0" anchor="ctr"/>
          <a:lstStyle/>
          <a:p>
            <a:pPr indent="0" marL="0">
              <a:buNone/>
            </a:pPr>
            <a:r>
              <a:rPr lang="en-US" sz="950" dirty="0">
                <a:solidFill>
                  <a:srgbClr val="185FA5"/>
                </a:solidFill>
                <a:latin typeface="Arial" pitchFamily="34" charset="0"/>
                <a:ea typeface="Arial" pitchFamily="34" charset="-122"/>
                <a:cs typeface="Arial" pitchFamily="34" charset="-120"/>
              </a:rPr>
              <a:t>Qualys, Tenable</a:t>
            </a:r>
            <a:endParaRPr lang="en-US" sz="950" dirty="0"/>
          </a:p>
          <a:p>
            <a:pPr indent="0" marL="0">
              <a:buNone/>
            </a:pPr>
            <a:r>
              <a:rPr lang="en-US" sz="950" dirty="0">
                <a:solidFill>
                  <a:srgbClr val="185FA5"/>
                </a:solidFill>
                <a:latin typeface="Arial" pitchFamily="34" charset="0"/>
                <a:ea typeface="Arial" pitchFamily="34" charset="-122"/>
                <a:cs typeface="Arial" pitchFamily="34" charset="-120"/>
              </a:rPr>
              <a:t>Addresses only vulnerability-based attacks ²</a:t>
            </a:r>
            <a:endParaRPr lang="en-US" sz="950" dirty="0"/>
          </a:p>
        </p:txBody>
      </p:sp>
      <p:sp>
        <p:nvSpPr>
          <p:cNvPr id="32" name="Shape 30"/>
          <p:cNvSpPr/>
          <p:nvPr/>
        </p:nvSpPr>
        <p:spPr>
          <a:xfrm>
            <a:off x="685800" y="5715000"/>
            <a:ext cx="1965960" cy="594360"/>
          </a:xfrm>
          <a:prstGeom prst="roundRect">
            <a:avLst>
              <a:gd name="adj" fmla="val 12308"/>
            </a:avLst>
          </a:prstGeom>
          <a:solidFill>
            <a:srgbClr val="E6F1FB"/>
          </a:solidFill>
          <a:ln w="9525">
            <a:solidFill>
              <a:srgbClr val="85B7EB"/>
            </a:solidFill>
            <a:prstDash val="solid"/>
          </a:ln>
        </p:spPr>
      </p:sp>
      <p:sp>
        <p:nvSpPr>
          <p:cNvPr id="33" name="Text 31"/>
          <p:cNvSpPr/>
          <p:nvPr/>
        </p:nvSpPr>
        <p:spPr>
          <a:xfrm>
            <a:off x="822960" y="5760720"/>
            <a:ext cx="1691640" cy="182880"/>
          </a:xfrm>
          <a:prstGeom prst="rect">
            <a:avLst/>
          </a:prstGeom>
          <a:noFill/>
          <a:ln/>
        </p:spPr>
        <p:txBody>
          <a:bodyPr wrap="square" lIns="0" tIns="0" rIns="0" bIns="0" rtlCol="0" anchor="ctr"/>
          <a:lstStyle/>
          <a:p>
            <a:pPr indent="0" marL="0">
              <a:buNone/>
            </a:pPr>
            <a:r>
              <a:rPr lang="en-US" sz="1100" b="1" dirty="0">
                <a:solidFill>
                  <a:srgbClr val="0C447C"/>
                </a:solidFill>
                <a:latin typeface="Arial" pitchFamily="34" charset="0"/>
                <a:ea typeface="Arial" pitchFamily="34" charset="-122"/>
                <a:cs typeface="Arial" pitchFamily="34" charset="-120"/>
              </a:rPr>
              <a:t>IAM / PAM</a:t>
            </a:r>
            <a:endParaRPr lang="en-US" sz="1100" dirty="0"/>
          </a:p>
        </p:txBody>
      </p:sp>
      <p:sp>
        <p:nvSpPr>
          <p:cNvPr id="34" name="Text 32"/>
          <p:cNvSpPr/>
          <p:nvPr/>
        </p:nvSpPr>
        <p:spPr>
          <a:xfrm>
            <a:off x="822960" y="5971032"/>
            <a:ext cx="1691640" cy="164592"/>
          </a:xfrm>
          <a:prstGeom prst="rect">
            <a:avLst/>
          </a:prstGeom>
          <a:noFill/>
          <a:ln/>
        </p:spPr>
        <p:txBody>
          <a:bodyPr wrap="square" lIns="0" tIns="0" rIns="0" bIns="0" rtlCol="0" anchor="ctr"/>
          <a:lstStyle/>
          <a:p>
            <a:pPr indent="0" marL="0">
              <a:buNone/>
            </a:pPr>
            <a:r>
              <a:rPr lang="en-US" sz="900" dirty="0">
                <a:solidFill>
                  <a:srgbClr val="185FA5"/>
                </a:solidFill>
                <a:latin typeface="Arial" pitchFamily="34" charset="0"/>
                <a:ea typeface="Arial" pitchFamily="34" charset="-122"/>
                <a:cs typeface="Arial" pitchFamily="34" charset="-120"/>
              </a:rPr>
              <a:t>CyberArk, Okta</a:t>
            </a:r>
            <a:endParaRPr lang="en-US" sz="900" dirty="0"/>
          </a:p>
        </p:txBody>
      </p:sp>
      <p:sp>
        <p:nvSpPr>
          <p:cNvPr id="35" name="Shape 33"/>
          <p:cNvSpPr/>
          <p:nvPr/>
        </p:nvSpPr>
        <p:spPr>
          <a:xfrm>
            <a:off x="2834640" y="5715000"/>
            <a:ext cx="1965960" cy="594360"/>
          </a:xfrm>
          <a:prstGeom prst="roundRect">
            <a:avLst>
              <a:gd name="adj" fmla="val 12308"/>
            </a:avLst>
          </a:prstGeom>
          <a:solidFill>
            <a:srgbClr val="E6F1FB"/>
          </a:solidFill>
          <a:ln w="9525">
            <a:solidFill>
              <a:srgbClr val="85B7EB"/>
            </a:solidFill>
            <a:prstDash val="solid"/>
          </a:ln>
        </p:spPr>
      </p:sp>
      <p:sp>
        <p:nvSpPr>
          <p:cNvPr id="36" name="Text 34"/>
          <p:cNvSpPr/>
          <p:nvPr/>
        </p:nvSpPr>
        <p:spPr>
          <a:xfrm>
            <a:off x="2971800" y="5760720"/>
            <a:ext cx="1691640" cy="182880"/>
          </a:xfrm>
          <a:prstGeom prst="rect">
            <a:avLst/>
          </a:prstGeom>
          <a:noFill/>
          <a:ln/>
        </p:spPr>
        <p:txBody>
          <a:bodyPr wrap="square" lIns="0" tIns="0" rIns="0" bIns="0" rtlCol="0" anchor="ctr"/>
          <a:lstStyle/>
          <a:p>
            <a:pPr indent="0" marL="0">
              <a:buNone/>
            </a:pPr>
            <a:r>
              <a:rPr lang="en-US" sz="1100" b="1" dirty="0">
                <a:solidFill>
                  <a:srgbClr val="0C447C"/>
                </a:solidFill>
                <a:latin typeface="Arial" pitchFamily="34" charset="0"/>
                <a:ea typeface="Arial" pitchFamily="34" charset="-122"/>
                <a:cs typeface="Arial" pitchFamily="34" charset="-120"/>
              </a:rPr>
              <a:t>ZTNA / CASB</a:t>
            </a:r>
            <a:endParaRPr lang="en-US" sz="1100" dirty="0"/>
          </a:p>
        </p:txBody>
      </p:sp>
      <p:sp>
        <p:nvSpPr>
          <p:cNvPr id="37" name="Text 35"/>
          <p:cNvSpPr/>
          <p:nvPr/>
        </p:nvSpPr>
        <p:spPr>
          <a:xfrm>
            <a:off x="2971800" y="5971032"/>
            <a:ext cx="1691640" cy="164592"/>
          </a:xfrm>
          <a:prstGeom prst="rect">
            <a:avLst/>
          </a:prstGeom>
          <a:noFill/>
          <a:ln/>
        </p:spPr>
        <p:txBody>
          <a:bodyPr wrap="square" lIns="0" tIns="0" rIns="0" bIns="0" rtlCol="0" anchor="ctr"/>
          <a:lstStyle/>
          <a:p>
            <a:pPr indent="0" marL="0">
              <a:buNone/>
            </a:pPr>
            <a:r>
              <a:rPr lang="en-US" sz="900" dirty="0">
                <a:solidFill>
                  <a:srgbClr val="185FA5"/>
                </a:solidFill>
                <a:latin typeface="Arial" pitchFamily="34" charset="0"/>
                <a:ea typeface="Arial" pitchFamily="34" charset="-122"/>
                <a:cs typeface="Arial" pitchFamily="34" charset="-120"/>
              </a:rPr>
              <a:t>Zscaler, Netskope</a:t>
            </a:r>
            <a:endParaRPr lang="en-US" sz="900" dirty="0"/>
          </a:p>
        </p:txBody>
      </p:sp>
      <p:sp>
        <p:nvSpPr>
          <p:cNvPr id="38" name="Shape 36"/>
          <p:cNvSpPr/>
          <p:nvPr/>
        </p:nvSpPr>
        <p:spPr>
          <a:xfrm>
            <a:off x="4983480" y="5715000"/>
            <a:ext cx="1965960" cy="594360"/>
          </a:xfrm>
          <a:prstGeom prst="roundRect">
            <a:avLst>
              <a:gd name="adj" fmla="val 12308"/>
            </a:avLst>
          </a:prstGeom>
          <a:solidFill>
            <a:srgbClr val="E6F1FB"/>
          </a:solidFill>
          <a:ln w="9525">
            <a:solidFill>
              <a:srgbClr val="85B7EB"/>
            </a:solidFill>
            <a:prstDash val="solid"/>
          </a:ln>
        </p:spPr>
      </p:sp>
      <p:sp>
        <p:nvSpPr>
          <p:cNvPr id="39" name="Text 37"/>
          <p:cNvSpPr/>
          <p:nvPr/>
        </p:nvSpPr>
        <p:spPr>
          <a:xfrm>
            <a:off x="5120640" y="5760720"/>
            <a:ext cx="1691640" cy="182880"/>
          </a:xfrm>
          <a:prstGeom prst="rect">
            <a:avLst/>
          </a:prstGeom>
          <a:noFill/>
          <a:ln/>
        </p:spPr>
        <p:txBody>
          <a:bodyPr wrap="square" lIns="0" tIns="0" rIns="0" bIns="0" rtlCol="0" anchor="ctr"/>
          <a:lstStyle/>
          <a:p>
            <a:pPr indent="0" marL="0">
              <a:buNone/>
            </a:pPr>
            <a:r>
              <a:rPr lang="en-US" sz="1100" b="1" dirty="0">
                <a:solidFill>
                  <a:srgbClr val="0C447C"/>
                </a:solidFill>
                <a:latin typeface="Arial" pitchFamily="34" charset="0"/>
                <a:ea typeface="Arial" pitchFamily="34" charset="-122"/>
                <a:cs typeface="Arial" pitchFamily="34" charset="-120"/>
              </a:rPr>
              <a:t>DLP</a:t>
            </a:r>
            <a:endParaRPr lang="en-US" sz="1100" dirty="0"/>
          </a:p>
        </p:txBody>
      </p:sp>
      <p:sp>
        <p:nvSpPr>
          <p:cNvPr id="40" name="Text 38"/>
          <p:cNvSpPr/>
          <p:nvPr/>
        </p:nvSpPr>
        <p:spPr>
          <a:xfrm>
            <a:off x="5120640" y="5971032"/>
            <a:ext cx="1691640" cy="164592"/>
          </a:xfrm>
          <a:prstGeom prst="rect">
            <a:avLst/>
          </a:prstGeom>
          <a:noFill/>
          <a:ln/>
        </p:spPr>
        <p:txBody>
          <a:bodyPr wrap="square" lIns="0" tIns="0" rIns="0" bIns="0" rtlCol="0" anchor="ctr"/>
          <a:lstStyle/>
          <a:p>
            <a:pPr indent="0" marL="0">
              <a:buNone/>
            </a:pPr>
            <a:r>
              <a:rPr lang="en-US" sz="900" dirty="0">
                <a:solidFill>
                  <a:srgbClr val="185FA5"/>
                </a:solidFill>
                <a:latin typeface="Arial" pitchFamily="34" charset="0"/>
                <a:ea typeface="Arial" pitchFamily="34" charset="-122"/>
                <a:cs typeface="Arial" pitchFamily="34" charset="-120"/>
              </a:rPr>
              <a:t>Symantec, Forcepoint</a:t>
            </a:r>
            <a:endParaRPr lang="en-US" sz="900" dirty="0"/>
          </a:p>
        </p:txBody>
      </p:sp>
      <p:sp>
        <p:nvSpPr>
          <p:cNvPr id="41" name="Shape 39"/>
          <p:cNvSpPr/>
          <p:nvPr/>
        </p:nvSpPr>
        <p:spPr>
          <a:xfrm>
            <a:off x="4572000" y="6400800"/>
            <a:ext cx="0" cy="274320"/>
          </a:xfrm>
          <a:prstGeom prst="line">
            <a:avLst/>
          </a:prstGeom>
          <a:noFill/>
          <a:ln w="19050">
            <a:solidFill>
              <a:srgbClr val="B4B2A9"/>
            </a:solidFill>
            <a:prstDash val="solid"/>
            <a:tailEnd type="triangle"/>
          </a:ln>
        </p:spPr>
      </p:sp>
      <p:sp>
        <p:nvSpPr>
          <p:cNvPr id="42" name="Text 40"/>
          <p:cNvSpPr/>
          <p:nvPr/>
        </p:nvSpPr>
        <p:spPr>
          <a:xfrm>
            <a:off x="4754880" y="6428232"/>
            <a:ext cx="3657600" cy="182880"/>
          </a:xfrm>
          <a:prstGeom prst="rect">
            <a:avLst/>
          </a:prstGeom>
          <a:noFill/>
          <a:ln/>
        </p:spPr>
        <p:txBody>
          <a:bodyPr wrap="square" lIns="0" tIns="0" rIns="0" bIns="0" rtlCol="0" anchor="ctr"/>
          <a:lstStyle/>
          <a:p>
            <a:pPr indent="0" marL="0">
              <a:buNone/>
            </a:pPr>
            <a:r>
              <a:rPr lang="en-US" sz="900" dirty="0">
                <a:solidFill>
                  <a:srgbClr val="888780"/>
                </a:solidFill>
                <a:latin typeface="Arial" pitchFamily="34" charset="0"/>
                <a:ea typeface="Arial" pitchFamily="34" charset="-122"/>
                <a:cs typeface="Arial" pitchFamily="34" charset="-120"/>
              </a:rPr>
              <a:t>If attacker bypasses perimeter... (avg. breakout: 29 min ³)</a:t>
            </a:r>
            <a:endParaRPr lang="en-US" sz="900" dirty="0"/>
          </a:p>
        </p:txBody>
      </p:sp>
      <p:sp>
        <p:nvSpPr>
          <p:cNvPr id="43" name="Text 41"/>
          <p:cNvSpPr/>
          <p:nvPr/>
        </p:nvSpPr>
        <p:spPr>
          <a:xfrm>
            <a:off x="685800" y="6766560"/>
            <a:ext cx="4572000" cy="256032"/>
          </a:xfrm>
          <a:prstGeom prst="rect">
            <a:avLst/>
          </a:prstGeom>
          <a:noFill/>
          <a:ln/>
        </p:spPr>
        <p:txBody>
          <a:bodyPr wrap="square" lIns="0" tIns="0" rIns="0" bIns="0" rtlCol="0" anchor="ctr"/>
          <a:lstStyle/>
          <a:p>
            <a:pPr indent="0" marL="0">
              <a:buNone/>
            </a:pPr>
            <a:r>
              <a:rPr lang="en-US" sz="1300" b="1" dirty="0">
                <a:solidFill>
                  <a:srgbClr val="444441"/>
                </a:solidFill>
                <a:latin typeface="Arial" pitchFamily="34" charset="0"/>
                <a:ea typeface="Arial" pitchFamily="34" charset="-122"/>
                <a:cs typeface="Arial" pitchFamily="34" charset="-120"/>
              </a:rPr>
              <a:t>Stage 3: Detect &amp; respond (endpoints &amp; network)</a:t>
            </a:r>
            <a:endParaRPr lang="en-US" sz="1300" dirty="0"/>
          </a:p>
        </p:txBody>
      </p:sp>
      <p:sp>
        <p:nvSpPr>
          <p:cNvPr id="44" name="Shape 42"/>
          <p:cNvSpPr/>
          <p:nvPr/>
        </p:nvSpPr>
        <p:spPr>
          <a:xfrm>
            <a:off x="7132320" y="6720840"/>
            <a:ext cx="1005840" cy="1005840"/>
          </a:xfrm>
          <a:prstGeom prst="ellipse">
            <a:avLst/>
          </a:prstGeom>
          <a:solidFill>
            <a:srgbClr val="FAEEDA"/>
          </a:solidFill>
          <a:ln w="19050">
            <a:solidFill>
              <a:srgbClr val="EF9F27"/>
            </a:solidFill>
            <a:prstDash val="solid"/>
          </a:ln>
        </p:spPr>
      </p:sp>
      <p:sp>
        <p:nvSpPr>
          <p:cNvPr id="45" name="Text 43"/>
          <p:cNvSpPr/>
          <p:nvPr/>
        </p:nvSpPr>
        <p:spPr>
          <a:xfrm>
            <a:off x="7132320" y="6766560"/>
            <a:ext cx="1005840" cy="502920"/>
          </a:xfrm>
          <a:prstGeom prst="rect">
            <a:avLst/>
          </a:prstGeom>
          <a:noFill/>
          <a:ln/>
        </p:spPr>
        <p:txBody>
          <a:bodyPr wrap="square" lIns="0" tIns="0" rIns="0" bIns="0" rtlCol="0" anchor="ctr"/>
          <a:lstStyle/>
          <a:p>
            <a:pPr algn="ctr" indent="0" marL="0">
              <a:buNone/>
            </a:pPr>
            <a:r>
              <a:rPr lang="en-US" sz="2000" b="1" dirty="0">
                <a:solidFill>
                  <a:srgbClr val="633806"/>
                </a:solidFill>
                <a:latin typeface="Arial" pitchFamily="34" charset="0"/>
                <a:ea typeface="Arial" pitchFamily="34" charset="-122"/>
                <a:cs typeface="Arial" pitchFamily="34" charset="-120"/>
              </a:rPr>
              <a:t>~4%</a:t>
            </a:r>
            <a:endParaRPr lang="en-US" sz="2000" dirty="0"/>
          </a:p>
        </p:txBody>
      </p:sp>
      <p:sp>
        <p:nvSpPr>
          <p:cNvPr id="46" name="Text 44"/>
          <p:cNvSpPr/>
          <p:nvPr/>
        </p:nvSpPr>
        <p:spPr>
          <a:xfrm>
            <a:off x="7132320" y="7269480"/>
            <a:ext cx="1005840" cy="320040"/>
          </a:xfrm>
          <a:prstGeom prst="rect">
            <a:avLst/>
          </a:prstGeom>
          <a:noFill/>
          <a:ln/>
        </p:spPr>
        <p:txBody>
          <a:bodyPr wrap="square" lIns="0" tIns="0" rIns="0" bIns="0" rtlCol="0" anchor="t"/>
          <a:lstStyle/>
          <a:p>
            <a:pPr algn="ctr" indent="0" marL="0">
              <a:buNone/>
            </a:pPr>
            <a:r>
              <a:rPr lang="en-US" sz="800" dirty="0">
                <a:solidFill>
                  <a:srgbClr val="854F0B"/>
                </a:solidFill>
                <a:latin typeface="Arial" pitchFamily="34" charset="0"/>
                <a:ea typeface="Arial" pitchFamily="34" charset="-122"/>
                <a:cs typeface="Arial" pitchFamily="34" charset="-120"/>
              </a:rPr>
              <a:t>caught at</a:t>
            </a:r>
            <a:endParaRPr lang="en-US" sz="800" dirty="0"/>
          </a:p>
          <a:p>
            <a:pPr algn="ctr" indent="0" marL="0">
              <a:buNone/>
            </a:pPr>
            <a:r>
              <a:rPr lang="en-US" sz="800" dirty="0">
                <a:solidFill>
                  <a:srgbClr val="854F0B"/>
                </a:solidFill>
                <a:latin typeface="Arial" pitchFamily="34" charset="0"/>
                <a:ea typeface="Arial" pitchFamily="34" charset="-122"/>
                <a:cs typeface="Arial" pitchFamily="34" charset="-120"/>
              </a:rPr>
              <a:t>endpoints*</a:t>
            </a:r>
            <a:endParaRPr lang="en-US" sz="800" dirty="0"/>
          </a:p>
        </p:txBody>
      </p:sp>
      <p:sp>
        <p:nvSpPr>
          <p:cNvPr id="47" name="Shape 45"/>
          <p:cNvSpPr/>
          <p:nvPr/>
        </p:nvSpPr>
        <p:spPr>
          <a:xfrm>
            <a:off x="685800" y="7086600"/>
            <a:ext cx="1965960" cy="731520"/>
          </a:xfrm>
          <a:prstGeom prst="roundRect">
            <a:avLst>
              <a:gd name="adj" fmla="val 10000"/>
            </a:avLst>
          </a:prstGeom>
          <a:solidFill>
            <a:srgbClr val="FAEEDA"/>
          </a:solidFill>
          <a:ln w="9525">
            <a:solidFill>
              <a:srgbClr val="EF9F27"/>
            </a:solidFill>
            <a:prstDash val="solid"/>
          </a:ln>
        </p:spPr>
      </p:sp>
      <p:sp>
        <p:nvSpPr>
          <p:cNvPr id="48" name="Text 46"/>
          <p:cNvSpPr/>
          <p:nvPr/>
        </p:nvSpPr>
        <p:spPr>
          <a:xfrm>
            <a:off x="822960" y="7114032"/>
            <a:ext cx="1691640" cy="201168"/>
          </a:xfrm>
          <a:prstGeom prst="rect">
            <a:avLst/>
          </a:prstGeom>
          <a:noFill/>
          <a:ln/>
        </p:spPr>
        <p:txBody>
          <a:bodyPr wrap="square" lIns="0" tIns="0" rIns="0" bIns="0" rtlCol="0" anchor="ctr"/>
          <a:lstStyle/>
          <a:p>
            <a:pPr indent="0" marL="0">
              <a:buNone/>
            </a:pPr>
            <a:r>
              <a:rPr lang="en-US" sz="1200" b="1" dirty="0">
                <a:solidFill>
                  <a:srgbClr val="633806"/>
                </a:solidFill>
                <a:latin typeface="Arial" pitchFamily="34" charset="0"/>
                <a:ea typeface="Arial" pitchFamily="34" charset="-122"/>
                <a:cs typeface="Arial" pitchFamily="34" charset="-120"/>
              </a:rPr>
              <a:t>EDR</a:t>
            </a:r>
            <a:endParaRPr lang="en-US" sz="1200" dirty="0"/>
          </a:p>
        </p:txBody>
      </p:sp>
      <p:sp>
        <p:nvSpPr>
          <p:cNvPr id="49" name="Text 47"/>
          <p:cNvSpPr/>
          <p:nvPr/>
        </p:nvSpPr>
        <p:spPr>
          <a:xfrm>
            <a:off x="822960" y="7315200"/>
            <a:ext cx="1691640" cy="411480"/>
          </a:xfrm>
          <a:prstGeom prst="rect">
            <a:avLst/>
          </a:prstGeom>
          <a:noFill/>
          <a:ln/>
        </p:spPr>
        <p:txBody>
          <a:bodyPr wrap="square" lIns="0" tIns="0" rIns="0" bIns="0" rtlCol="0" anchor="ctr"/>
          <a:lstStyle/>
          <a:p>
            <a:pPr indent="0" marL="0">
              <a:buNone/>
            </a:pPr>
            <a:r>
              <a:rPr lang="en-US" sz="950" dirty="0">
                <a:solidFill>
                  <a:srgbClr val="854F0B"/>
                </a:solidFill>
                <a:latin typeface="Arial" pitchFamily="34" charset="0"/>
                <a:ea typeface="Arial" pitchFamily="34" charset="-122"/>
                <a:cs typeface="Arial" pitchFamily="34" charset="-120"/>
              </a:rPr>
              <a:t>CrowdStrike, Defender</a:t>
            </a:r>
            <a:endParaRPr lang="en-US" sz="950" dirty="0"/>
          </a:p>
          <a:p>
            <a:pPr indent="0" marL="0">
              <a:buNone/>
            </a:pPr>
            <a:r>
              <a:rPr lang="en-US" sz="950" dirty="0">
                <a:solidFill>
                  <a:srgbClr val="854F0B"/>
                </a:solidFill>
                <a:latin typeface="Arial" pitchFamily="34" charset="0"/>
                <a:ea typeface="Arial" pitchFamily="34" charset="-122"/>
                <a:cs typeface="Arial" pitchFamily="34" charset="-120"/>
              </a:rPr>
              <a:t>Kills active malware</a:t>
            </a:r>
            <a:endParaRPr lang="en-US" sz="950" dirty="0"/>
          </a:p>
        </p:txBody>
      </p:sp>
      <p:sp>
        <p:nvSpPr>
          <p:cNvPr id="50" name="Shape 48"/>
          <p:cNvSpPr/>
          <p:nvPr/>
        </p:nvSpPr>
        <p:spPr>
          <a:xfrm>
            <a:off x="2834640" y="7086600"/>
            <a:ext cx="1965960" cy="731520"/>
          </a:xfrm>
          <a:prstGeom prst="roundRect">
            <a:avLst>
              <a:gd name="adj" fmla="val 10000"/>
            </a:avLst>
          </a:prstGeom>
          <a:solidFill>
            <a:srgbClr val="FAEEDA"/>
          </a:solidFill>
          <a:ln w="9525">
            <a:solidFill>
              <a:srgbClr val="EF9F27"/>
            </a:solidFill>
            <a:prstDash val="solid"/>
          </a:ln>
        </p:spPr>
      </p:sp>
      <p:sp>
        <p:nvSpPr>
          <p:cNvPr id="51" name="Text 49"/>
          <p:cNvSpPr/>
          <p:nvPr/>
        </p:nvSpPr>
        <p:spPr>
          <a:xfrm>
            <a:off x="2971800" y="7114032"/>
            <a:ext cx="1691640" cy="201168"/>
          </a:xfrm>
          <a:prstGeom prst="rect">
            <a:avLst/>
          </a:prstGeom>
          <a:noFill/>
          <a:ln/>
        </p:spPr>
        <p:txBody>
          <a:bodyPr wrap="square" lIns="0" tIns="0" rIns="0" bIns="0" rtlCol="0" anchor="ctr"/>
          <a:lstStyle/>
          <a:p>
            <a:pPr indent="0" marL="0">
              <a:buNone/>
            </a:pPr>
            <a:r>
              <a:rPr lang="en-US" sz="1200" b="1" dirty="0">
                <a:solidFill>
                  <a:srgbClr val="633806"/>
                </a:solidFill>
                <a:latin typeface="Arial" pitchFamily="34" charset="0"/>
                <a:ea typeface="Arial" pitchFamily="34" charset="-122"/>
                <a:cs typeface="Arial" pitchFamily="34" charset="-120"/>
              </a:rPr>
              <a:t>NDR</a:t>
            </a:r>
            <a:endParaRPr lang="en-US" sz="1200" dirty="0"/>
          </a:p>
        </p:txBody>
      </p:sp>
      <p:sp>
        <p:nvSpPr>
          <p:cNvPr id="52" name="Text 50"/>
          <p:cNvSpPr/>
          <p:nvPr/>
        </p:nvSpPr>
        <p:spPr>
          <a:xfrm>
            <a:off x="2971800" y="7315200"/>
            <a:ext cx="1691640" cy="411480"/>
          </a:xfrm>
          <a:prstGeom prst="rect">
            <a:avLst/>
          </a:prstGeom>
          <a:noFill/>
          <a:ln/>
        </p:spPr>
        <p:txBody>
          <a:bodyPr wrap="square" lIns="0" tIns="0" rIns="0" bIns="0" rtlCol="0" anchor="ctr"/>
          <a:lstStyle/>
          <a:p>
            <a:pPr indent="0" marL="0">
              <a:buNone/>
            </a:pPr>
            <a:r>
              <a:rPr lang="en-US" sz="950" dirty="0">
                <a:solidFill>
                  <a:srgbClr val="854F0B"/>
                </a:solidFill>
                <a:latin typeface="Arial" pitchFamily="34" charset="0"/>
                <a:ea typeface="Arial" pitchFamily="34" charset="-122"/>
                <a:cs typeface="Arial" pitchFamily="34" charset="-120"/>
              </a:rPr>
              <a:t>Darktrace, ExtraHop</a:t>
            </a:r>
            <a:endParaRPr lang="en-US" sz="950" dirty="0"/>
          </a:p>
          <a:p>
            <a:pPr indent="0" marL="0">
              <a:buNone/>
            </a:pPr>
            <a:r>
              <a:rPr lang="en-US" sz="950" dirty="0">
                <a:solidFill>
                  <a:srgbClr val="854F0B"/>
                </a:solidFill>
                <a:latin typeface="Arial" pitchFamily="34" charset="0"/>
                <a:ea typeface="Arial" pitchFamily="34" charset="-122"/>
                <a:cs typeface="Arial" pitchFamily="34" charset="-120"/>
              </a:rPr>
              <a:t>Monitors lateral traffic</a:t>
            </a:r>
            <a:endParaRPr lang="en-US" sz="950" dirty="0"/>
          </a:p>
        </p:txBody>
      </p:sp>
      <p:sp>
        <p:nvSpPr>
          <p:cNvPr id="53" name="Shape 51"/>
          <p:cNvSpPr/>
          <p:nvPr/>
        </p:nvSpPr>
        <p:spPr>
          <a:xfrm>
            <a:off x="4983480" y="7086600"/>
            <a:ext cx="1965960" cy="731520"/>
          </a:xfrm>
          <a:prstGeom prst="roundRect">
            <a:avLst>
              <a:gd name="adj" fmla="val 10000"/>
            </a:avLst>
          </a:prstGeom>
          <a:solidFill>
            <a:srgbClr val="FAEEDA"/>
          </a:solidFill>
          <a:ln w="9525">
            <a:solidFill>
              <a:srgbClr val="EF9F27"/>
            </a:solidFill>
            <a:prstDash val="solid"/>
          </a:ln>
        </p:spPr>
      </p:sp>
      <p:sp>
        <p:nvSpPr>
          <p:cNvPr id="54" name="Text 52"/>
          <p:cNvSpPr/>
          <p:nvPr/>
        </p:nvSpPr>
        <p:spPr>
          <a:xfrm>
            <a:off x="5120640" y="7114032"/>
            <a:ext cx="1691640" cy="201168"/>
          </a:xfrm>
          <a:prstGeom prst="rect">
            <a:avLst/>
          </a:prstGeom>
          <a:noFill/>
          <a:ln/>
        </p:spPr>
        <p:txBody>
          <a:bodyPr wrap="square" lIns="0" tIns="0" rIns="0" bIns="0" rtlCol="0" anchor="ctr"/>
          <a:lstStyle/>
          <a:p>
            <a:pPr indent="0" marL="0">
              <a:buNone/>
            </a:pPr>
            <a:r>
              <a:rPr lang="en-US" sz="1200" b="1" dirty="0">
                <a:solidFill>
                  <a:srgbClr val="633806"/>
                </a:solidFill>
                <a:latin typeface="Arial" pitchFamily="34" charset="0"/>
                <a:ea typeface="Arial" pitchFamily="34" charset="-122"/>
                <a:cs typeface="Arial" pitchFamily="34" charset="-120"/>
              </a:rPr>
              <a:t>UEBA</a:t>
            </a:r>
            <a:endParaRPr lang="en-US" sz="1200" dirty="0"/>
          </a:p>
        </p:txBody>
      </p:sp>
      <p:sp>
        <p:nvSpPr>
          <p:cNvPr id="55" name="Text 53"/>
          <p:cNvSpPr/>
          <p:nvPr/>
        </p:nvSpPr>
        <p:spPr>
          <a:xfrm>
            <a:off x="5120640" y="7315200"/>
            <a:ext cx="1691640" cy="411480"/>
          </a:xfrm>
          <a:prstGeom prst="rect">
            <a:avLst/>
          </a:prstGeom>
          <a:noFill/>
          <a:ln/>
        </p:spPr>
        <p:txBody>
          <a:bodyPr wrap="square" lIns="0" tIns="0" rIns="0" bIns="0" rtlCol="0" anchor="ctr"/>
          <a:lstStyle/>
          <a:p>
            <a:pPr indent="0" marL="0">
              <a:buNone/>
            </a:pPr>
            <a:r>
              <a:rPr lang="en-US" sz="950" dirty="0">
                <a:solidFill>
                  <a:srgbClr val="854F0B"/>
                </a:solidFill>
                <a:latin typeface="Arial" pitchFamily="34" charset="0"/>
                <a:ea typeface="Arial" pitchFamily="34" charset="-122"/>
                <a:cs typeface="Arial" pitchFamily="34" charset="-120"/>
              </a:rPr>
              <a:t>Behavioral analytics</a:t>
            </a:r>
            <a:endParaRPr lang="en-US" sz="950" dirty="0"/>
          </a:p>
          <a:p>
            <a:pPr indent="0" marL="0">
              <a:buNone/>
            </a:pPr>
            <a:r>
              <a:rPr lang="en-US" sz="950" dirty="0">
                <a:solidFill>
                  <a:srgbClr val="854F0B"/>
                </a:solidFill>
                <a:latin typeface="Arial" pitchFamily="34" charset="0"/>
                <a:ea typeface="Arial" pitchFamily="34" charset="-122"/>
                <a:cs typeface="Arial" pitchFamily="34" charset="-120"/>
              </a:rPr>
              <a:t>Insider threat detection</a:t>
            </a:r>
            <a:endParaRPr lang="en-US" sz="950" dirty="0"/>
          </a:p>
        </p:txBody>
      </p:sp>
      <p:sp>
        <p:nvSpPr>
          <p:cNvPr id="56" name="Shape 54"/>
          <p:cNvSpPr/>
          <p:nvPr/>
        </p:nvSpPr>
        <p:spPr>
          <a:xfrm>
            <a:off x="4572000" y="7909560"/>
            <a:ext cx="0" cy="274320"/>
          </a:xfrm>
          <a:prstGeom prst="line">
            <a:avLst/>
          </a:prstGeom>
          <a:noFill/>
          <a:ln w="19050">
            <a:solidFill>
              <a:srgbClr val="B4B2A9"/>
            </a:solidFill>
            <a:prstDash val="solid"/>
            <a:tailEnd type="triangle"/>
          </a:ln>
        </p:spPr>
      </p:sp>
      <p:sp>
        <p:nvSpPr>
          <p:cNvPr id="57" name="Text 55"/>
          <p:cNvSpPr/>
          <p:nvPr/>
        </p:nvSpPr>
        <p:spPr>
          <a:xfrm>
            <a:off x="4754880" y="7936992"/>
            <a:ext cx="2743200" cy="182880"/>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Sends alerts and logs...</a:t>
            </a:r>
            <a:endParaRPr lang="en-US" sz="950" dirty="0"/>
          </a:p>
        </p:txBody>
      </p:sp>
      <p:sp>
        <p:nvSpPr>
          <p:cNvPr id="58" name="Text 56"/>
          <p:cNvSpPr/>
          <p:nvPr/>
        </p:nvSpPr>
        <p:spPr>
          <a:xfrm>
            <a:off x="685800" y="8275320"/>
            <a:ext cx="4572000" cy="256032"/>
          </a:xfrm>
          <a:prstGeom prst="rect">
            <a:avLst/>
          </a:prstGeom>
          <a:noFill/>
          <a:ln/>
        </p:spPr>
        <p:txBody>
          <a:bodyPr wrap="square" lIns="0" tIns="0" rIns="0" bIns="0" rtlCol="0" anchor="ctr"/>
          <a:lstStyle/>
          <a:p>
            <a:pPr indent="0" marL="0">
              <a:buNone/>
            </a:pPr>
            <a:r>
              <a:rPr lang="en-US" sz="1300" b="1" dirty="0">
                <a:solidFill>
                  <a:srgbClr val="444441"/>
                </a:solidFill>
                <a:latin typeface="Arial" pitchFamily="34" charset="0"/>
                <a:ea typeface="Arial" pitchFamily="34" charset="-122"/>
                <a:cs typeface="Arial" pitchFamily="34" charset="-120"/>
              </a:rPr>
              <a:t>Stage 4: Visibility &amp; triage (the SOC)</a:t>
            </a:r>
            <a:endParaRPr lang="en-US" sz="1300" dirty="0"/>
          </a:p>
        </p:txBody>
      </p:sp>
      <p:sp>
        <p:nvSpPr>
          <p:cNvPr id="59" name="Shape 57"/>
          <p:cNvSpPr/>
          <p:nvPr/>
        </p:nvSpPr>
        <p:spPr>
          <a:xfrm>
            <a:off x="7132320" y="8229600"/>
            <a:ext cx="1005840" cy="1005840"/>
          </a:xfrm>
          <a:prstGeom prst="ellipse">
            <a:avLst/>
          </a:prstGeom>
          <a:solidFill>
            <a:srgbClr val="FAECE7"/>
          </a:solidFill>
          <a:ln w="19050">
            <a:solidFill>
              <a:srgbClr val="F0997B"/>
            </a:solidFill>
            <a:prstDash val="solid"/>
          </a:ln>
        </p:spPr>
      </p:sp>
      <p:sp>
        <p:nvSpPr>
          <p:cNvPr id="60" name="Text 58"/>
          <p:cNvSpPr/>
          <p:nvPr/>
        </p:nvSpPr>
        <p:spPr>
          <a:xfrm>
            <a:off x="7132320" y="8275320"/>
            <a:ext cx="1005840" cy="502920"/>
          </a:xfrm>
          <a:prstGeom prst="rect">
            <a:avLst/>
          </a:prstGeom>
          <a:noFill/>
          <a:ln/>
        </p:spPr>
        <p:txBody>
          <a:bodyPr wrap="square" lIns="0" tIns="0" rIns="0" bIns="0" rtlCol="0" anchor="ctr"/>
          <a:lstStyle/>
          <a:p>
            <a:pPr algn="ctr" indent="0" marL="0">
              <a:buNone/>
            </a:pPr>
            <a:r>
              <a:rPr lang="en-US" sz="2000" b="1" dirty="0">
                <a:solidFill>
                  <a:srgbClr val="712B13"/>
                </a:solidFill>
                <a:latin typeface="Arial" pitchFamily="34" charset="0"/>
                <a:ea typeface="Arial" pitchFamily="34" charset="-122"/>
                <a:cs typeface="Arial" pitchFamily="34" charset="-120"/>
              </a:rPr>
              <a:t>~1%</a:t>
            </a:r>
            <a:endParaRPr lang="en-US" sz="2000" dirty="0"/>
          </a:p>
        </p:txBody>
      </p:sp>
      <p:sp>
        <p:nvSpPr>
          <p:cNvPr id="61" name="Text 59"/>
          <p:cNvSpPr/>
          <p:nvPr/>
        </p:nvSpPr>
        <p:spPr>
          <a:xfrm>
            <a:off x="7132320" y="8778240"/>
            <a:ext cx="1005840" cy="320040"/>
          </a:xfrm>
          <a:prstGeom prst="rect">
            <a:avLst/>
          </a:prstGeom>
          <a:noFill/>
          <a:ln/>
        </p:spPr>
        <p:txBody>
          <a:bodyPr wrap="square" lIns="0" tIns="0" rIns="0" bIns="0" rtlCol="0" anchor="t"/>
          <a:lstStyle/>
          <a:p>
            <a:pPr algn="ctr" indent="0" marL="0">
              <a:buNone/>
            </a:pPr>
            <a:r>
              <a:rPr lang="en-US" sz="800" dirty="0">
                <a:solidFill>
                  <a:srgbClr val="993C1D"/>
                </a:solidFill>
                <a:latin typeface="Arial" pitchFamily="34" charset="0"/>
                <a:ea typeface="Arial" pitchFamily="34" charset="-122"/>
                <a:cs typeface="Arial" pitchFamily="34" charset="-120"/>
              </a:rPr>
              <a:t>triaged by</a:t>
            </a:r>
            <a:endParaRPr lang="en-US" sz="800" dirty="0"/>
          </a:p>
          <a:p>
            <a:pPr algn="ctr" indent="0" marL="0">
              <a:buNone/>
            </a:pPr>
            <a:r>
              <a:rPr lang="en-US" sz="800" dirty="0">
                <a:solidFill>
                  <a:srgbClr val="993C1D"/>
                </a:solidFill>
                <a:latin typeface="Arial" pitchFamily="34" charset="0"/>
                <a:ea typeface="Arial" pitchFamily="34" charset="-122"/>
                <a:cs typeface="Arial" pitchFamily="34" charset="-120"/>
              </a:rPr>
              <a:t>SOC analysts*</a:t>
            </a:r>
            <a:endParaRPr lang="en-US" sz="800" dirty="0"/>
          </a:p>
        </p:txBody>
      </p:sp>
      <p:sp>
        <p:nvSpPr>
          <p:cNvPr id="62" name="Shape 60"/>
          <p:cNvSpPr/>
          <p:nvPr/>
        </p:nvSpPr>
        <p:spPr>
          <a:xfrm>
            <a:off x="685800" y="8595360"/>
            <a:ext cx="3063240" cy="731520"/>
          </a:xfrm>
          <a:prstGeom prst="roundRect">
            <a:avLst>
              <a:gd name="adj" fmla="val 10000"/>
            </a:avLst>
          </a:prstGeom>
          <a:solidFill>
            <a:srgbClr val="FAECE7"/>
          </a:solidFill>
          <a:ln w="9525">
            <a:solidFill>
              <a:srgbClr val="F0997B"/>
            </a:solidFill>
            <a:prstDash val="solid"/>
          </a:ln>
        </p:spPr>
      </p:sp>
      <p:sp>
        <p:nvSpPr>
          <p:cNvPr id="63" name="Text 61"/>
          <p:cNvSpPr/>
          <p:nvPr/>
        </p:nvSpPr>
        <p:spPr>
          <a:xfrm>
            <a:off x="822960" y="8622792"/>
            <a:ext cx="2743200" cy="201168"/>
          </a:xfrm>
          <a:prstGeom prst="rect">
            <a:avLst/>
          </a:prstGeom>
          <a:noFill/>
          <a:ln/>
        </p:spPr>
        <p:txBody>
          <a:bodyPr wrap="square" lIns="0" tIns="0" rIns="0" bIns="0" rtlCol="0" anchor="ctr"/>
          <a:lstStyle/>
          <a:p>
            <a:pPr indent="0" marL="0">
              <a:buNone/>
            </a:pPr>
            <a:r>
              <a:rPr lang="en-US" sz="1200" b="1" dirty="0">
                <a:solidFill>
                  <a:srgbClr val="712B13"/>
                </a:solidFill>
                <a:latin typeface="Arial" pitchFamily="34" charset="0"/>
                <a:ea typeface="Arial" pitchFamily="34" charset="-122"/>
                <a:cs typeface="Arial" pitchFamily="34" charset="-120"/>
              </a:rPr>
              <a:t>SIEM</a:t>
            </a:r>
            <a:endParaRPr lang="en-US" sz="1200" dirty="0"/>
          </a:p>
        </p:txBody>
      </p:sp>
      <p:sp>
        <p:nvSpPr>
          <p:cNvPr id="64" name="Text 62"/>
          <p:cNvSpPr/>
          <p:nvPr/>
        </p:nvSpPr>
        <p:spPr>
          <a:xfrm>
            <a:off x="822960" y="8823960"/>
            <a:ext cx="2743200" cy="411480"/>
          </a:xfrm>
          <a:prstGeom prst="rect">
            <a:avLst/>
          </a:prstGeom>
          <a:noFill/>
          <a:ln/>
        </p:spPr>
        <p:txBody>
          <a:bodyPr wrap="square" lIns="0" tIns="0" rIns="0" bIns="0" rtlCol="0" anchor="ctr"/>
          <a:lstStyle/>
          <a:p>
            <a:pPr indent="0" marL="0">
              <a:buNone/>
            </a:pPr>
            <a:r>
              <a:rPr lang="en-US" sz="950" dirty="0">
                <a:solidFill>
                  <a:srgbClr val="993C1D"/>
                </a:solidFill>
                <a:latin typeface="Arial" pitchFamily="34" charset="0"/>
                <a:ea typeface="Arial" pitchFamily="34" charset="-122"/>
                <a:cs typeface="Arial" pitchFamily="34" charset="-120"/>
              </a:rPr>
              <a:t>Splunk, Sentinel</a:t>
            </a:r>
            <a:endParaRPr lang="en-US" sz="950" dirty="0"/>
          </a:p>
          <a:p>
            <a:pPr indent="0" marL="0">
              <a:buNone/>
            </a:pPr>
            <a:r>
              <a:rPr lang="en-US" sz="950" dirty="0">
                <a:solidFill>
                  <a:srgbClr val="993C1D"/>
                </a:solidFill>
                <a:latin typeface="Arial" pitchFamily="34" charset="0"/>
                <a:ea typeface="Arial" pitchFamily="34" charset="-122"/>
                <a:cs typeface="Arial" pitchFamily="34" charset="-120"/>
              </a:rPr>
              <a:t>Aggregates alerts for human analysts</a:t>
            </a:r>
            <a:endParaRPr lang="en-US" sz="950" dirty="0"/>
          </a:p>
        </p:txBody>
      </p:sp>
      <p:sp>
        <p:nvSpPr>
          <p:cNvPr id="65" name="Shape 63"/>
          <p:cNvSpPr/>
          <p:nvPr/>
        </p:nvSpPr>
        <p:spPr>
          <a:xfrm>
            <a:off x="3931920" y="8595360"/>
            <a:ext cx="3063240" cy="731520"/>
          </a:xfrm>
          <a:prstGeom prst="roundRect">
            <a:avLst>
              <a:gd name="adj" fmla="val 10000"/>
            </a:avLst>
          </a:prstGeom>
          <a:solidFill>
            <a:srgbClr val="FAECE7"/>
          </a:solidFill>
          <a:ln w="9525">
            <a:solidFill>
              <a:srgbClr val="F0997B"/>
            </a:solidFill>
            <a:prstDash val="solid"/>
          </a:ln>
        </p:spPr>
      </p:sp>
      <p:sp>
        <p:nvSpPr>
          <p:cNvPr id="66" name="Text 64"/>
          <p:cNvSpPr/>
          <p:nvPr/>
        </p:nvSpPr>
        <p:spPr>
          <a:xfrm>
            <a:off x="4069080" y="8622792"/>
            <a:ext cx="2743200" cy="201168"/>
          </a:xfrm>
          <a:prstGeom prst="rect">
            <a:avLst/>
          </a:prstGeom>
          <a:noFill/>
          <a:ln/>
        </p:spPr>
        <p:txBody>
          <a:bodyPr wrap="square" lIns="0" tIns="0" rIns="0" bIns="0" rtlCol="0" anchor="ctr"/>
          <a:lstStyle/>
          <a:p>
            <a:pPr indent="0" marL="0">
              <a:buNone/>
            </a:pPr>
            <a:r>
              <a:rPr lang="en-US" sz="1200" b="1" dirty="0">
                <a:solidFill>
                  <a:srgbClr val="712B13"/>
                </a:solidFill>
                <a:latin typeface="Arial" pitchFamily="34" charset="0"/>
                <a:ea typeface="Arial" pitchFamily="34" charset="-122"/>
                <a:cs typeface="Arial" pitchFamily="34" charset="-120"/>
              </a:rPr>
              <a:t>SOAR</a:t>
            </a:r>
            <a:endParaRPr lang="en-US" sz="1200" dirty="0"/>
          </a:p>
        </p:txBody>
      </p:sp>
      <p:sp>
        <p:nvSpPr>
          <p:cNvPr id="67" name="Text 65"/>
          <p:cNvSpPr/>
          <p:nvPr/>
        </p:nvSpPr>
        <p:spPr>
          <a:xfrm>
            <a:off x="4069080" y="8823960"/>
            <a:ext cx="2743200" cy="411480"/>
          </a:xfrm>
          <a:prstGeom prst="rect">
            <a:avLst/>
          </a:prstGeom>
          <a:noFill/>
          <a:ln/>
        </p:spPr>
        <p:txBody>
          <a:bodyPr wrap="square" lIns="0" tIns="0" rIns="0" bIns="0" rtlCol="0" anchor="ctr"/>
          <a:lstStyle/>
          <a:p>
            <a:pPr indent="0" marL="0">
              <a:buNone/>
            </a:pPr>
            <a:r>
              <a:rPr lang="en-US" sz="950" dirty="0">
                <a:solidFill>
                  <a:srgbClr val="993C1D"/>
                </a:solidFill>
                <a:latin typeface="Arial" pitchFamily="34" charset="0"/>
                <a:ea typeface="Arial" pitchFamily="34" charset="-122"/>
                <a:cs typeface="Arial" pitchFamily="34" charset="-120"/>
              </a:rPr>
              <a:t>XSOAR, Splunk SOAR</a:t>
            </a:r>
            <a:endParaRPr lang="en-US" sz="950" dirty="0"/>
          </a:p>
          <a:p>
            <a:pPr indent="0" marL="0">
              <a:buNone/>
            </a:pPr>
            <a:r>
              <a:rPr lang="en-US" sz="950" dirty="0">
                <a:solidFill>
                  <a:srgbClr val="993C1D"/>
                </a:solidFill>
                <a:latin typeface="Arial" pitchFamily="34" charset="0"/>
                <a:ea typeface="Arial" pitchFamily="34" charset="-122"/>
                <a:cs typeface="Arial" pitchFamily="34" charset="-120"/>
              </a:rPr>
              <a:t>Automates response playbooks</a:t>
            </a:r>
            <a:endParaRPr lang="en-US" sz="950" dirty="0"/>
          </a:p>
        </p:txBody>
      </p:sp>
      <p:sp>
        <p:nvSpPr>
          <p:cNvPr id="68" name="Text 66"/>
          <p:cNvSpPr/>
          <p:nvPr/>
        </p:nvSpPr>
        <p:spPr>
          <a:xfrm>
            <a:off x="685800" y="9509760"/>
            <a:ext cx="7772400" cy="182880"/>
          </a:xfrm>
          <a:prstGeom prst="rect">
            <a:avLst/>
          </a:prstGeom>
          <a:noFill/>
          <a:ln/>
        </p:spPr>
        <p:txBody>
          <a:bodyPr wrap="square" lIns="0" tIns="0" rIns="0" bIns="0" rtlCol="0" anchor="ctr"/>
          <a:lstStyle/>
          <a:p>
            <a:pPr algn="ctr" indent="0" marL="0">
              <a:buNone/>
            </a:pPr>
            <a:r>
              <a:rPr lang="en-US" sz="900" i="1" dirty="0">
                <a:solidFill>
                  <a:srgbClr val="888780"/>
                </a:solidFill>
                <a:latin typeface="Arial" pitchFamily="34" charset="0"/>
                <a:ea typeface="Arial" pitchFamily="34" charset="-122"/>
                <a:cs typeface="Arial" pitchFamily="34" charset="-120"/>
              </a:rPr>
              <a:t>Gartner predicts: by 2030, preemptive cybersecurity will account for 50% of IT security spending, up from &lt;5% in 2024 ⁴</a:t>
            </a:r>
            <a:endParaRPr lang="en-US" sz="900" dirty="0"/>
          </a:p>
        </p:txBody>
      </p:sp>
      <p:sp>
        <p:nvSpPr>
          <p:cNvPr id="69" name="Shape 67"/>
          <p:cNvSpPr/>
          <p:nvPr/>
        </p:nvSpPr>
        <p:spPr>
          <a:xfrm>
            <a:off x="457200" y="10241280"/>
            <a:ext cx="8229600" cy="1325880"/>
          </a:xfrm>
          <a:prstGeom prst="roundRect">
            <a:avLst>
              <a:gd name="adj" fmla="val 6897"/>
            </a:avLst>
          </a:prstGeom>
          <a:solidFill>
            <a:srgbClr val="F1EFE8"/>
          </a:solidFill>
          <a:ln w="9525">
            <a:solidFill>
              <a:srgbClr val="D3D1C7"/>
            </a:solidFill>
            <a:prstDash val="solid"/>
          </a:ln>
        </p:spPr>
      </p:sp>
      <p:sp>
        <p:nvSpPr>
          <p:cNvPr id="70" name="Text 68"/>
          <p:cNvSpPr/>
          <p:nvPr/>
        </p:nvSpPr>
        <p:spPr>
          <a:xfrm>
            <a:off x="685800" y="10332720"/>
            <a:ext cx="7772400" cy="256032"/>
          </a:xfrm>
          <a:prstGeom prst="rect">
            <a:avLst/>
          </a:prstGeom>
          <a:noFill/>
          <a:ln/>
        </p:spPr>
        <p:txBody>
          <a:bodyPr wrap="square" lIns="0" tIns="0" rIns="0" bIns="0" rtlCol="0" anchor="ctr"/>
          <a:lstStyle/>
          <a:p>
            <a:pPr indent="0" marL="0">
              <a:buNone/>
            </a:pPr>
            <a:r>
              <a:rPr lang="en-US" sz="1400" b="1" dirty="0">
                <a:solidFill>
                  <a:srgbClr val="2C2C2A"/>
                </a:solidFill>
                <a:latin typeface="Arial" pitchFamily="34" charset="0"/>
                <a:ea typeface="Arial" pitchFamily="34" charset="-122"/>
                <a:cs typeface="Arial" pitchFamily="34" charset="-120"/>
              </a:rPr>
              <a:t>The takeaway</a:t>
            </a:r>
            <a:endParaRPr lang="en-US" sz="1400" dirty="0"/>
          </a:p>
        </p:txBody>
      </p:sp>
      <p:sp>
        <p:nvSpPr>
          <p:cNvPr id="71" name="Text 69"/>
          <p:cNvSpPr/>
          <p:nvPr/>
        </p:nvSpPr>
        <p:spPr>
          <a:xfrm>
            <a:off x="685800" y="10588752"/>
            <a:ext cx="7772400" cy="914400"/>
          </a:xfrm>
          <a:prstGeom prst="rect">
            <a:avLst/>
          </a:prstGeom>
          <a:noFill/>
          <a:ln/>
        </p:spPr>
        <p:txBody>
          <a:bodyPr wrap="square" lIns="0" tIns="0" rIns="0" bIns="0" rtlCol="0" anchor="ctr"/>
          <a:lstStyle/>
          <a:p>
            <a:pPr indent="0" marL="0">
              <a:buNone/>
            </a:pPr>
            <a:r>
              <a:rPr lang="en-US" sz="1050" dirty="0">
                <a:solidFill>
                  <a:srgbClr val="5F5E5A"/>
                </a:solidFill>
                <a:latin typeface="Arial" pitchFamily="34" charset="0"/>
                <a:ea typeface="Arial" pitchFamily="34" charset="-122"/>
                <a:cs typeface="Arial" pitchFamily="34" charset="-120"/>
              </a:rPr>
              <a:t>Tools like CrowdStrike, Defender, and Splunk are reactive — they are the alarms that go off when the burglar is already inside the house. We ensure that the locks on the doors (NGFWs) were actually installed correctly in the first place, mathematically guaranteeing the burglar can never get in. We find what no other tool can: shadowed rules, multi-rule conflicts, missing threat profiles, and intent errors buried in 100K+ configuration states.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algn="ctr" indent="0" marL="0">
              <a:buNone/>
            </a:pPr>
            <a:r>
              <a:rPr lang="en-US" sz="2400" b="1" dirty="0">
                <a:solidFill>
                  <a:srgbClr val="1A1A1A"/>
                </a:solidFill>
                <a:latin typeface="Arial" pitchFamily="34" charset="0"/>
                <a:ea typeface="Arial" pitchFamily="34" charset="-122"/>
                <a:cs typeface="Arial" pitchFamily="34" charset="-120"/>
              </a:rPr>
              <a:t>Securing USDA’s farm-to-table supply chain</a:t>
            </a:r>
            <a:endParaRPr lang="en-US" sz="2400" dirty="0"/>
          </a:p>
        </p:txBody>
      </p:sp>
      <p:sp>
        <p:nvSpPr>
          <p:cNvPr id="3" name="Text 1"/>
          <p:cNvSpPr/>
          <p:nvPr/>
        </p:nvSpPr>
        <p:spPr>
          <a:xfrm>
            <a:off x="457200" y="731520"/>
            <a:ext cx="8229600" cy="274320"/>
          </a:xfrm>
          <a:prstGeom prst="rect">
            <a:avLst/>
          </a:prstGeom>
          <a:noFill/>
          <a:ln/>
        </p:spPr>
        <p:txBody>
          <a:bodyPr wrap="square" lIns="0" tIns="0" rIns="0" bIns="0" rtlCol="0" anchor="ctr"/>
          <a:lstStyle/>
          <a:p>
            <a:pPr algn="ctr" indent="0" marL="0">
              <a:buNone/>
            </a:pPr>
            <a:r>
              <a:rPr lang="en-US" sz="1200" dirty="0">
                <a:solidFill>
                  <a:srgbClr val="888780"/>
                </a:solidFill>
                <a:latin typeface="Arial" pitchFamily="34" charset="0"/>
                <a:ea typeface="Arial" pitchFamily="34" charset="-122"/>
                <a:cs typeface="Arial" pitchFamily="34" charset="-120"/>
              </a:rPr>
              <a:t>Food security is national security — a single compromised vendor can cascade into national supply disruption</a:t>
            </a:r>
            <a:endParaRPr lang="en-US" sz="1200" dirty="0"/>
          </a:p>
        </p:txBody>
      </p:sp>
      <p:sp>
        <p:nvSpPr>
          <p:cNvPr id="4" name="Text 2"/>
          <p:cNvSpPr/>
          <p:nvPr/>
        </p:nvSpPr>
        <p:spPr>
          <a:xfrm>
            <a:off x="457200" y="1234440"/>
            <a:ext cx="3931920" cy="274320"/>
          </a:xfrm>
          <a:prstGeom prst="rect">
            <a:avLst/>
          </a:prstGeom>
          <a:noFill/>
          <a:ln/>
        </p:spPr>
        <p:txBody>
          <a:bodyPr wrap="square" lIns="0" tIns="0" rIns="0" bIns="0" rtlCol="0" anchor="ctr"/>
          <a:lstStyle/>
          <a:p>
            <a:pPr indent="0" marL="0">
              <a:buNone/>
            </a:pPr>
            <a:r>
              <a:rPr lang="en-US" sz="1600" b="1" dirty="0">
                <a:solidFill>
                  <a:srgbClr val="993C1D"/>
                </a:solidFill>
                <a:latin typeface="Arial" pitchFamily="34" charset="0"/>
                <a:ea typeface="Arial" pitchFamily="34" charset="-122"/>
                <a:cs typeface="Arial" pitchFamily="34" charset="-120"/>
              </a:rPr>
              <a:t>Today’s reality</a:t>
            </a:r>
            <a:endParaRPr lang="en-US" sz="1600" dirty="0"/>
          </a:p>
        </p:txBody>
      </p:sp>
      <p:sp>
        <p:nvSpPr>
          <p:cNvPr id="5" name="Text 3"/>
          <p:cNvSpPr/>
          <p:nvPr/>
        </p:nvSpPr>
        <p:spPr>
          <a:xfrm>
            <a:off x="457200" y="1508760"/>
            <a:ext cx="3931920" cy="201168"/>
          </a:xfrm>
          <a:prstGeom prst="rect">
            <a:avLst/>
          </a:prstGeom>
          <a:noFill/>
          <a:ln/>
        </p:spPr>
        <p:txBody>
          <a:bodyPr wrap="square" lIns="0" tIns="0" rIns="0" bIns="0" rtlCol="0" anchor="ctr"/>
          <a:lstStyle/>
          <a:p>
            <a:pPr indent="0" marL="0">
              <a:buNone/>
            </a:pPr>
            <a:r>
              <a:rPr lang="en-US" sz="1100" i="1" dirty="0">
                <a:solidFill>
                  <a:srgbClr val="993C1D"/>
                </a:solidFill>
                <a:latin typeface="Arial" pitchFamily="34" charset="0"/>
                <a:ea typeface="Arial" pitchFamily="34" charset="-122"/>
                <a:cs typeface="Arial" pitchFamily="34" charset="-120"/>
              </a:rPr>
              <a:t>No unified view. Gaps everywhere.</a:t>
            </a:r>
            <a:endParaRPr lang="en-US" sz="1100" dirty="0"/>
          </a:p>
        </p:txBody>
      </p:sp>
      <p:sp>
        <p:nvSpPr>
          <p:cNvPr id="6" name="Shape 4"/>
          <p:cNvSpPr/>
          <p:nvPr/>
        </p:nvSpPr>
        <p:spPr>
          <a:xfrm>
            <a:off x="457200" y="1874520"/>
            <a:ext cx="1691640" cy="640080"/>
          </a:xfrm>
          <a:prstGeom prst="roundRect">
            <a:avLst>
              <a:gd name="adj" fmla="val 8571"/>
            </a:avLst>
          </a:prstGeom>
          <a:solidFill>
            <a:srgbClr val="FAECE7"/>
          </a:solidFill>
          <a:ln w="9525">
            <a:solidFill>
              <a:srgbClr val="F0997B"/>
            </a:solidFill>
            <a:prstDash val="solid"/>
          </a:ln>
        </p:spPr>
      </p:sp>
      <p:sp>
        <p:nvSpPr>
          <p:cNvPr id="7" name="Text 5"/>
          <p:cNvSpPr/>
          <p:nvPr/>
        </p:nvSpPr>
        <p:spPr>
          <a:xfrm>
            <a:off x="457200" y="1920240"/>
            <a:ext cx="1691640" cy="548640"/>
          </a:xfrm>
          <a:prstGeom prst="rect">
            <a:avLst/>
          </a:prstGeom>
          <a:noFill/>
          <a:ln/>
        </p:spPr>
        <p:txBody>
          <a:bodyPr wrap="square" lIns="0" tIns="0" rIns="0" bIns="0" rtlCol="0" anchor="ctr"/>
          <a:lstStyle/>
          <a:p>
            <a:pPr algn="ctr" indent="0" marL="0">
              <a:buNone/>
            </a:pPr>
            <a:r>
              <a:rPr lang="en-US" sz="1000" b="1" dirty="0">
                <a:solidFill>
                  <a:srgbClr val="712B13"/>
                </a:solidFill>
                <a:latin typeface="Arial" pitchFamily="34" charset="0"/>
                <a:ea typeface="Arial" pitchFamily="34" charset="-122"/>
                <a:cs typeface="Arial" pitchFamily="34" charset="-120"/>
              </a:rPr>
              <a:t>Farms &amp;</a:t>
            </a:r>
            <a:endParaRPr lang="en-US" sz="1000" dirty="0"/>
          </a:p>
          <a:p>
            <a:pPr algn="ctr" indent="0" marL="0">
              <a:buNone/>
            </a:pPr>
            <a:r>
              <a:rPr lang="en-US" sz="1000" b="1" dirty="0">
                <a:solidFill>
                  <a:srgbClr val="712B13"/>
                </a:solidFill>
                <a:latin typeface="Arial" pitchFamily="34" charset="0"/>
                <a:ea typeface="Arial" pitchFamily="34" charset="-122"/>
                <a:cs typeface="Arial" pitchFamily="34" charset="-120"/>
              </a:rPr>
              <a:t>producers</a:t>
            </a:r>
            <a:endParaRPr lang="en-US" sz="1000" dirty="0"/>
          </a:p>
        </p:txBody>
      </p:sp>
      <p:sp>
        <p:nvSpPr>
          <p:cNvPr id="8" name="Shape 6"/>
          <p:cNvSpPr/>
          <p:nvPr/>
        </p:nvSpPr>
        <p:spPr>
          <a:xfrm>
            <a:off x="2423160" y="1874520"/>
            <a:ext cx="1691640" cy="640080"/>
          </a:xfrm>
          <a:prstGeom prst="roundRect">
            <a:avLst>
              <a:gd name="adj" fmla="val 8571"/>
            </a:avLst>
          </a:prstGeom>
          <a:solidFill>
            <a:srgbClr val="FAECE7"/>
          </a:solidFill>
          <a:ln w="9525">
            <a:solidFill>
              <a:srgbClr val="F0997B"/>
            </a:solidFill>
            <a:prstDash val="solid"/>
          </a:ln>
        </p:spPr>
      </p:sp>
      <p:sp>
        <p:nvSpPr>
          <p:cNvPr id="9" name="Text 7"/>
          <p:cNvSpPr/>
          <p:nvPr/>
        </p:nvSpPr>
        <p:spPr>
          <a:xfrm>
            <a:off x="2423160" y="1920240"/>
            <a:ext cx="1691640" cy="548640"/>
          </a:xfrm>
          <a:prstGeom prst="rect">
            <a:avLst/>
          </a:prstGeom>
          <a:noFill/>
          <a:ln/>
        </p:spPr>
        <p:txBody>
          <a:bodyPr wrap="square" lIns="0" tIns="0" rIns="0" bIns="0" rtlCol="0" anchor="ctr"/>
          <a:lstStyle/>
          <a:p>
            <a:pPr algn="ctr" indent="0" marL="0">
              <a:buNone/>
            </a:pPr>
            <a:r>
              <a:rPr lang="en-US" sz="1000" b="1" dirty="0">
                <a:solidFill>
                  <a:srgbClr val="712B13"/>
                </a:solidFill>
                <a:latin typeface="Arial" pitchFamily="34" charset="0"/>
                <a:ea typeface="Arial" pitchFamily="34" charset="-122"/>
                <a:cs typeface="Arial" pitchFamily="34" charset="-120"/>
              </a:rPr>
              <a:t>Processing</a:t>
            </a:r>
            <a:endParaRPr lang="en-US" sz="1000" dirty="0"/>
          </a:p>
          <a:p>
            <a:pPr algn="ctr" indent="0" marL="0">
              <a:buNone/>
            </a:pPr>
            <a:r>
              <a:rPr lang="en-US" sz="1000" b="1" dirty="0">
                <a:solidFill>
                  <a:srgbClr val="712B13"/>
                </a:solidFill>
                <a:latin typeface="Arial" pitchFamily="34" charset="0"/>
                <a:ea typeface="Arial" pitchFamily="34" charset="-122"/>
                <a:cs typeface="Arial" pitchFamily="34" charset="-120"/>
              </a:rPr>
              <a:t>facilities (OT)</a:t>
            </a:r>
            <a:endParaRPr lang="en-US" sz="1000" dirty="0"/>
          </a:p>
        </p:txBody>
      </p:sp>
      <p:sp>
        <p:nvSpPr>
          <p:cNvPr id="10" name="Shape 8"/>
          <p:cNvSpPr/>
          <p:nvPr/>
        </p:nvSpPr>
        <p:spPr>
          <a:xfrm>
            <a:off x="457200" y="2697480"/>
            <a:ext cx="1691640" cy="640080"/>
          </a:xfrm>
          <a:prstGeom prst="roundRect">
            <a:avLst>
              <a:gd name="adj" fmla="val 8571"/>
            </a:avLst>
          </a:prstGeom>
          <a:solidFill>
            <a:srgbClr val="FAECE7"/>
          </a:solidFill>
          <a:ln w="9525">
            <a:solidFill>
              <a:srgbClr val="F0997B"/>
            </a:solidFill>
            <a:prstDash val="solid"/>
          </a:ln>
        </p:spPr>
      </p:sp>
      <p:sp>
        <p:nvSpPr>
          <p:cNvPr id="11" name="Text 9"/>
          <p:cNvSpPr/>
          <p:nvPr/>
        </p:nvSpPr>
        <p:spPr>
          <a:xfrm>
            <a:off x="457200" y="2743200"/>
            <a:ext cx="1691640" cy="548640"/>
          </a:xfrm>
          <a:prstGeom prst="rect">
            <a:avLst/>
          </a:prstGeom>
          <a:noFill/>
          <a:ln/>
        </p:spPr>
        <p:txBody>
          <a:bodyPr wrap="square" lIns="0" tIns="0" rIns="0" bIns="0" rtlCol="0" anchor="ctr"/>
          <a:lstStyle/>
          <a:p>
            <a:pPr algn="ctr" indent="0" marL="0">
              <a:buNone/>
            </a:pPr>
            <a:r>
              <a:rPr lang="en-US" sz="1000" b="1" dirty="0">
                <a:solidFill>
                  <a:srgbClr val="712B13"/>
                </a:solidFill>
                <a:latin typeface="Arial" pitchFamily="34" charset="0"/>
                <a:ea typeface="Arial" pitchFamily="34" charset="-122"/>
                <a:cs typeface="Arial" pitchFamily="34" charset="-120"/>
              </a:rPr>
              <a:t>Distributors &amp;</a:t>
            </a:r>
            <a:endParaRPr lang="en-US" sz="1000" dirty="0"/>
          </a:p>
          <a:p>
            <a:pPr algn="ctr" indent="0" marL="0">
              <a:buNone/>
            </a:pPr>
            <a:r>
              <a:rPr lang="en-US" sz="1000" b="1" dirty="0">
                <a:solidFill>
                  <a:srgbClr val="712B13"/>
                </a:solidFill>
                <a:latin typeface="Arial" pitchFamily="34" charset="0"/>
                <a:ea typeface="Arial" pitchFamily="34" charset="-122"/>
                <a:cs typeface="Arial" pitchFamily="34" charset="-120"/>
              </a:rPr>
              <a:t>logistics</a:t>
            </a:r>
            <a:endParaRPr lang="en-US" sz="1000" dirty="0"/>
          </a:p>
        </p:txBody>
      </p:sp>
      <p:sp>
        <p:nvSpPr>
          <p:cNvPr id="12" name="Shape 10"/>
          <p:cNvSpPr/>
          <p:nvPr/>
        </p:nvSpPr>
        <p:spPr>
          <a:xfrm>
            <a:off x="2423160" y="2697480"/>
            <a:ext cx="1691640" cy="640080"/>
          </a:xfrm>
          <a:prstGeom prst="roundRect">
            <a:avLst>
              <a:gd name="adj" fmla="val 8571"/>
            </a:avLst>
          </a:prstGeom>
          <a:solidFill>
            <a:srgbClr val="FAECE7"/>
          </a:solidFill>
          <a:ln w="9525">
            <a:solidFill>
              <a:srgbClr val="F0997B"/>
            </a:solidFill>
            <a:prstDash val="solid"/>
          </a:ln>
        </p:spPr>
      </p:sp>
      <p:sp>
        <p:nvSpPr>
          <p:cNvPr id="13" name="Text 11"/>
          <p:cNvSpPr/>
          <p:nvPr/>
        </p:nvSpPr>
        <p:spPr>
          <a:xfrm>
            <a:off x="2423160" y="2743200"/>
            <a:ext cx="1691640" cy="548640"/>
          </a:xfrm>
          <a:prstGeom prst="rect">
            <a:avLst/>
          </a:prstGeom>
          <a:noFill/>
          <a:ln/>
        </p:spPr>
        <p:txBody>
          <a:bodyPr wrap="square" lIns="0" tIns="0" rIns="0" bIns="0" rtlCol="0" anchor="ctr"/>
          <a:lstStyle/>
          <a:p>
            <a:pPr algn="ctr" indent="0" marL="0">
              <a:buNone/>
            </a:pPr>
            <a:r>
              <a:rPr lang="en-US" sz="1000" b="1" dirty="0">
                <a:solidFill>
                  <a:srgbClr val="712B13"/>
                </a:solidFill>
                <a:latin typeface="Arial" pitchFamily="34" charset="0"/>
                <a:ea typeface="Arial" pitchFamily="34" charset="-122"/>
                <a:cs typeface="Arial" pitchFamily="34" charset="-120"/>
              </a:rPr>
              <a:t>Tech vendors</a:t>
            </a:r>
            <a:endParaRPr lang="en-US" sz="1000" dirty="0"/>
          </a:p>
          <a:p>
            <a:pPr algn="ctr" indent="0" marL="0">
              <a:buNone/>
            </a:pPr>
            <a:r>
              <a:rPr lang="en-US" sz="1000" b="1" dirty="0">
                <a:solidFill>
                  <a:srgbClr val="712B13"/>
                </a:solidFill>
                <a:latin typeface="Arial" pitchFamily="34" charset="0"/>
                <a:ea typeface="Arial" pitchFamily="34" charset="-122"/>
                <a:cs typeface="Arial" pitchFamily="34" charset="-120"/>
              </a:rPr>
              <a:t>&amp; contractors</a:t>
            </a:r>
            <a:endParaRPr lang="en-US" sz="1000" dirty="0"/>
          </a:p>
        </p:txBody>
      </p:sp>
      <p:sp>
        <p:nvSpPr>
          <p:cNvPr id="14" name="Text 12"/>
          <p:cNvSpPr/>
          <p:nvPr/>
        </p:nvSpPr>
        <p:spPr>
          <a:xfrm>
            <a:off x="1920240" y="2011680"/>
            <a:ext cx="274320" cy="274320"/>
          </a:xfrm>
          <a:prstGeom prst="rect">
            <a:avLst/>
          </a:prstGeom>
          <a:noFill/>
          <a:ln/>
        </p:spPr>
        <p:txBody>
          <a:bodyPr wrap="square" lIns="0" tIns="0" rIns="0" bIns="0" rtlCol="0" anchor="ctr"/>
          <a:lstStyle/>
          <a:p>
            <a:pPr algn="ctr" indent="0" marL="0">
              <a:buNone/>
            </a:pPr>
            <a:r>
              <a:rPr lang="en-US" sz="1400" dirty="0">
                <a:solidFill>
                  <a:srgbClr val="E24B4A"/>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1920240" y="2834640"/>
            <a:ext cx="274320" cy="274320"/>
          </a:xfrm>
          <a:prstGeom prst="rect">
            <a:avLst/>
          </a:prstGeom>
          <a:noFill/>
          <a:ln/>
        </p:spPr>
        <p:txBody>
          <a:bodyPr wrap="square" lIns="0" tIns="0" rIns="0" bIns="0" rtlCol="0" anchor="ctr"/>
          <a:lstStyle/>
          <a:p>
            <a:pPr algn="ctr" indent="0" marL="0">
              <a:buNone/>
            </a:pPr>
            <a:r>
              <a:rPr lang="en-US" sz="1400" dirty="0">
                <a:solidFill>
                  <a:srgbClr val="E24B4A"/>
                </a:solidFill>
                <a:latin typeface="Arial" pitchFamily="34" charset="0"/>
                <a:ea typeface="Arial" pitchFamily="34" charset="-122"/>
                <a:cs typeface="Arial" pitchFamily="34" charset="-120"/>
              </a:rPr>
              <a:t>✖</a:t>
            </a:r>
            <a:endParaRPr lang="en-US" sz="1400" dirty="0"/>
          </a:p>
        </p:txBody>
      </p:sp>
      <p:sp>
        <p:nvSpPr>
          <p:cNvPr id="16" name="Text 14"/>
          <p:cNvSpPr/>
          <p:nvPr/>
        </p:nvSpPr>
        <p:spPr>
          <a:xfrm>
            <a:off x="1097280" y="2514600"/>
            <a:ext cx="274320" cy="274320"/>
          </a:xfrm>
          <a:prstGeom prst="rect">
            <a:avLst/>
          </a:prstGeom>
          <a:noFill/>
          <a:ln/>
        </p:spPr>
        <p:txBody>
          <a:bodyPr wrap="square" lIns="0" tIns="0" rIns="0" bIns="0" rtlCol="0" anchor="ctr"/>
          <a:lstStyle/>
          <a:p>
            <a:pPr algn="ctr" indent="0" marL="0">
              <a:buNone/>
            </a:pPr>
            <a:r>
              <a:rPr lang="en-US" sz="1400" dirty="0">
                <a:solidFill>
                  <a:srgbClr val="E24B4A"/>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3108960" y="2514600"/>
            <a:ext cx="274320" cy="274320"/>
          </a:xfrm>
          <a:prstGeom prst="rect">
            <a:avLst/>
          </a:prstGeom>
          <a:noFill/>
          <a:ln/>
        </p:spPr>
        <p:txBody>
          <a:bodyPr wrap="square" lIns="0" tIns="0" rIns="0" bIns="0" rtlCol="0" anchor="ctr"/>
          <a:lstStyle/>
          <a:p>
            <a:pPr algn="ctr" indent="0" marL="0">
              <a:buNone/>
            </a:pPr>
            <a:r>
              <a:rPr lang="en-US" sz="1400" dirty="0">
                <a:solidFill>
                  <a:srgbClr val="E24B4A"/>
                </a:solidFill>
                <a:latin typeface="Arial" pitchFamily="34" charset="0"/>
                <a:ea typeface="Arial" pitchFamily="34" charset="-122"/>
                <a:cs typeface="Arial" pitchFamily="34" charset="-120"/>
              </a:rPr>
              <a:t>✖</a:t>
            </a:r>
            <a:endParaRPr lang="en-US" sz="1400" dirty="0"/>
          </a:p>
        </p:txBody>
      </p:sp>
      <p:sp>
        <p:nvSpPr>
          <p:cNvPr id="18" name="Shape 16"/>
          <p:cNvSpPr/>
          <p:nvPr/>
        </p:nvSpPr>
        <p:spPr>
          <a:xfrm>
            <a:off x="457200" y="3566160"/>
            <a:ext cx="3657600" cy="731520"/>
          </a:xfrm>
          <a:prstGeom prst="roundRect">
            <a:avLst>
              <a:gd name="adj" fmla="val 7500"/>
            </a:avLst>
          </a:prstGeom>
          <a:solidFill>
            <a:srgbClr val="FFF5F5"/>
          </a:solidFill>
          <a:ln w="9525">
            <a:solidFill>
              <a:srgbClr val="E24B4A"/>
            </a:solidFill>
            <a:prstDash val="dash"/>
          </a:ln>
        </p:spPr>
      </p:sp>
      <p:sp>
        <p:nvSpPr>
          <p:cNvPr id="19" name="Text 17"/>
          <p:cNvSpPr/>
          <p:nvPr/>
        </p:nvSpPr>
        <p:spPr>
          <a:xfrm>
            <a:off x="548640" y="3611880"/>
            <a:ext cx="3474720" cy="640080"/>
          </a:xfrm>
          <a:prstGeom prst="rect">
            <a:avLst/>
          </a:prstGeom>
          <a:noFill/>
          <a:ln/>
        </p:spPr>
        <p:txBody>
          <a:bodyPr wrap="square" lIns="0" tIns="0" rIns="0" bIns="0" rtlCol="0" anchor="ctr"/>
          <a:lstStyle/>
          <a:p>
            <a:pPr algn="ctr" indent="0" marL="0">
              <a:buNone/>
            </a:pPr>
            <a:r>
              <a:rPr lang="en-US" sz="1000" dirty="0">
                <a:solidFill>
                  <a:srgbClr val="993C1D"/>
                </a:solidFill>
                <a:latin typeface="Arial" pitchFamily="34" charset="0"/>
                <a:ea typeface="Arial" pitchFamily="34" charset="-122"/>
                <a:cs typeface="Arial" pitchFamily="34" charset="-120"/>
              </a:rPr>
              <a:t>USDA 29 agencies (siloed, no unified posture view)</a:t>
            </a:r>
            <a:endParaRPr lang="en-US" sz="1000" dirty="0"/>
          </a:p>
        </p:txBody>
      </p:sp>
      <p:sp>
        <p:nvSpPr>
          <p:cNvPr id="20" name="Text 18"/>
          <p:cNvSpPr/>
          <p:nvPr/>
        </p:nvSpPr>
        <p:spPr>
          <a:xfrm>
            <a:off x="457200" y="4480560"/>
            <a:ext cx="3931920" cy="1097280"/>
          </a:xfrm>
          <a:prstGeom prst="rect">
            <a:avLst/>
          </a:prstGeom>
          <a:noFill/>
          <a:ln/>
        </p:spPr>
        <p:txBody>
          <a:bodyPr wrap="square" lIns="0" tIns="0" rIns="0" bIns="0" rtlCol="0" anchor="ctr"/>
          <a:lstStyle/>
          <a:p>
            <a:pPr indent="0" marL="0">
              <a:lnSpc>
                <a:spcPct val="125000"/>
              </a:lnSpc>
              <a:buNone/>
            </a:pPr>
            <a:r>
              <a:rPr lang="en-US" sz="1000" dirty="0">
                <a:solidFill>
                  <a:srgbClr val="712B13"/>
                </a:solidFill>
                <a:latin typeface="Arial" pitchFamily="34" charset="0"/>
                <a:ea typeface="Arial" pitchFamily="34" charset="-122"/>
                <a:cs typeface="Arial" pitchFamily="34" charset="-120"/>
              </a:rPr>
              <a:t>•  No agents on OT endpoints or vendor routers</a:t>
            </a:r>
            <a:endParaRPr lang="en-US" sz="1000" dirty="0"/>
          </a:p>
          <a:p>
            <a:pPr indent="0" marL="0">
              <a:lnSpc>
                <a:spcPct val="125000"/>
              </a:lnSpc>
              <a:buNone/>
            </a:pPr>
            <a:r>
              <a:rPr lang="en-US" sz="1000" dirty="0">
                <a:solidFill>
                  <a:srgbClr val="712B13"/>
                </a:solidFill>
                <a:latin typeface="Arial" pitchFamily="34" charset="0"/>
                <a:ea typeface="Arial" pitchFamily="34" charset="-122"/>
                <a:cs typeface="Arial" pitchFamily="34" charset="-120"/>
              </a:rPr>
              <a:t>•  Vendor access paths never formally verified</a:t>
            </a:r>
            <a:endParaRPr lang="en-US" sz="1000" dirty="0"/>
          </a:p>
          <a:p>
            <a:pPr indent="0" marL="0">
              <a:lnSpc>
                <a:spcPct val="125000"/>
              </a:lnSpc>
              <a:buNone/>
            </a:pPr>
            <a:r>
              <a:rPr lang="en-US" sz="1000" dirty="0">
                <a:solidFill>
                  <a:srgbClr val="712B13"/>
                </a:solidFill>
                <a:latin typeface="Arial" pitchFamily="34" charset="0"/>
                <a:ea typeface="Arial" pitchFamily="34" charset="-122"/>
                <a:cs typeface="Arial" pitchFamily="34" charset="-120"/>
              </a:rPr>
              <a:t>•  IT/OT boundary not mathematically proven</a:t>
            </a:r>
            <a:endParaRPr lang="en-US" sz="1000" dirty="0"/>
          </a:p>
          <a:p>
            <a:pPr indent="0" marL="0">
              <a:lnSpc>
                <a:spcPct val="125000"/>
              </a:lnSpc>
              <a:buNone/>
            </a:pPr>
            <a:r>
              <a:rPr lang="en-US" sz="1000" dirty="0">
                <a:solidFill>
                  <a:srgbClr val="712B13"/>
                </a:solidFill>
                <a:latin typeface="Arial" pitchFamily="34" charset="0"/>
                <a:ea typeface="Arial" pitchFamily="34" charset="-122"/>
                <a:cs typeface="Arial" pitchFamily="34" charset="-120"/>
              </a:rPr>
              <a:t>•  Inter-agency trust gaps invisible to CISO</a:t>
            </a:r>
            <a:endParaRPr lang="en-US" sz="1000" dirty="0"/>
          </a:p>
          <a:p>
            <a:pPr indent="0" marL="0">
              <a:lnSpc>
                <a:spcPct val="125000"/>
              </a:lnSpc>
              <a:buNone/>
            </a:pPr>
            <a:r>
              <a:rPr lang="en-US" sz="1000" dirty="0">
                <a:solidFill>
                  <a:srgbClr val="712B13"/>
                </a:solidFill>
                <a:latin typeface="Arial" pitchFamily="34" charset="0"/>
                <a:ea typeface="Arial" pitchFamily="34" charset="-122"/>
                <a:cs typeface="Arial" pitchFamily="34" charset="-120"/>
              </a:rPr>
              <a:t>•  Paper compliance ≠ actual security</a:t>
            </a:r>
            <a:endParaRPr lang="en-US" sz="1000" dirty="0"/>
          </a:p>
        </p:txBody>
      </p:sp>
      <p:sp>
        <p:nvSpPr>
          <p:cNvPr id="21" name="Text 19"/>
          <p:cNvSpPr/>
          <p:nvPr/>
        </p:nvSpPr>
        <p:spPr>
          <a:xfrm>
            <a:off x="4754880" y="1234440"/>
            <a:ext cx="3931920" cy="274320"/>
          </a:xfrm>
          <a:prstGeom prst="rect">
            <a:avLst/>
          </a:prstGeom>
          <a:noFill/>
          <a:ln/>
        </p:spPr>
        <p:txBody>
          <a:bodyPr wrap="square" lIns="0" tIns="0" rIns="0" bIns="0" rtlCol="0" anchor="ctr"/>
          <a:lstStyle/>
          <a:p>
            <a:pPr indent="0" marL="0">
              <a:buNone/>
            </a:pPr>
            <a:r>
              <a:rPr lang="en-US" sz="1600" b="1" dirty="0">
                <a:solidFill>
                  <a:srgbClr val="0F6E56"/>
                </a:solidFill>
                <a:latin typeface="Arial" pitchFamily="34" charset="0"/>
                <a:ea typeface="Arial" pitchFamily="34" charset="-122"/>
                <a:cs typeface="Arial" pitchFamily="34" charset="-120"/>
              </a:rPr>
              <a:t>With preemptive verification</a:t>
            </a:r>
            <a:endParaRPr lang="en-US" sz="1600" dirty="0"/>
          </a:p>
        </p:txBody>
      </p:sp>
      <p:sp>
        <p:nvSpPr>
          <p:cNvPr id="22" name="Text 20"/>
          <p:cNvSpPr/>
          <p:nvPr/>
        </p:nvSpPr>
        <p:spPr>
          <a:xfrm>
            <a:off x="4754880" y="1508760"/>
            <a:ext cx="3931920" cy="201168"/>
          </a:xfrm>
          <a:prstGeom prst="rect">
            <a:avLst/>
          </a:prstGeom>
          <a:noFill/>
          <a:ln/>
        </p:spPr>
        <p:txBody>
          <a:bodyPr wrap="square" lIns="0" tIns="0" rIns="0" bIns="0" rtlCol="0" anchor="ctr"/>
          <a:lstStyle/>
          <a:p>
            <a:pPr indent="0" marL="0">
              <a:buNone/>
            </a:pPr>
            <a:r>
              <a:rPr lang="en-US" sz="1100" i="1" dirty="0">
                <a:solidFill>
                  <a:srgbClr val="1D9E75"/>
                </a:solidFill>
                <a:latin typeface="Arial" pitchFamily="34" charset="0"/>
                <a:ea typeface="Arial" pitchFamily="34" charset="-122"/>
                <a:cs typeface="Arial" pitchFamily="34" charset="-120"/>
              </a:rPr>
              <a:t>Mathematically proven. Single source of truth.</a:t>
            </a:r>
            <a:endParaRPr lang="en-US" sz="1100" dirty="0"/>
          </a:p>
        </p:txBody>
      </p:sp>
      <p:sp>
        <p:nvSpPr>
          <p:cNvPr id="23" name="Shape 21"/>
          <p:cNvSpPr/>
          <p:nvPr/>
        </p:nvSpPr>
        <p:spPr>
          <a:xfrm>
            <a:off x="4754880" y="1828800"/>
            <a:ext cx="3931920" cy="548640"/>
          </a:xfrm>
          <a:prstGeom prst="roundRect">
            <a:avLst>
              <a:gd name="adj" fmla="val 13333"/>
            </a:avLst>
          </a:prstGeom>
          <a:solidFill>
            <a:srgbClr val="E1F5EE"/>
          </a:solidFill>
          <a:ln w="19050">
            <a:solidFill>
              <a:srgbClr val="1D9E75"/>
            </a:solidFill>
            <a:prstDash val="solid"/>
          </a:ln>
        </p:spPr>
      </p:sp>
      <p:sp>
        <p:nvSpPr>
          <p:cNvPr id="24" name="Text 22"/>
          <p:cNvSpPr/>
          <p:nvPr/>
        </p:nvSpPr>
        <p:spPr>
          <a:xfrm>
            <a:off x="4846320" y="1874520"/>
            <a:ext cx="3749040" cy="457200"/>
          </a:xfrm>
          <a:prstGeom prst="rect">
            <a:avLst/>
          </a:prstGeom>
          <a:noFill/>
          <a:ln/>
        </p:spPr>
        <p:txBody>
          <a:bodyPr wrap="square" lIns="0" tIns="0" rIns="0" bIns="0" rtlCol="0" anchor="ctr"/>
          <a:lstStyle/>
          <a:p>
            <a:pPr algn="ctr" indent="0" marL="0">
              <a:buNone/>
            </a:pPr>
            <a:r>
              <a:rPr lang="en-US" sz="1100" b="1" dirty="0">
                <a:solidFill>
                  <a:srgbClr val="085041"/>
                </a:solidFill>
                <a:latin typeface="Arial" pitchFamily="34" charset="0"/>
                <a:ea typeface="Arial" pitchFamily="34" charset="-122"/>
                <a:cs typeface="Arial" pitchFamily="34" charset="-120"/>
              </a:rPr>
              <a:t>Formal mathematical verification layer</a:t>
            </a:r>
            <a:endParaRPr lang="en-US" sz="1100" dirty="0"/>
          </a:p>
        </p:txBody>
      </p:sp>
      <p:sp>
        <p:nvSpPr>
          <p:cNvPr id="25" name="Shape 23"/>
          <p:cNvSpPr/>
          <p:nvPr/>
        </p:nvSpPr>
        <p:spPr>
          <a:xfrm>
            <a:off x="5806440" y="2377440"/>
            <a:ext cx="0" cy="228600"/>
          </a:xfrm>
          <a:prstGeom prst="line">
            <a:avLst/>
          </a:prstGeom>
          <a:noFill/>
          <a:ln w="12700">
            <a:solidFill>
              <a:srgbClr val="1D9E75"/>
            </a:solidFill>
            <a:prstDash val="solid"/>
            <a:tailEnd type="triangle"/>
          </a:ln>
        </p:spPr>
      </p:sp>
      <p:sp>
        <p:nvSpPr>
          <p:cNvPr id="26" name="Shape 24"/>
          <p:cNvSpPr/>
          <p:nvPr/>
        </p:nvSpPr>
        <p:spPr>
          <a:xfrm>
            <a:off x="7772400" y="2377440"/>
            <a:ext cx="0" cy="228600"/>
          </a:xfrm>
          <a:prstGeom prst="line">
            <a:avLst/>
          </a:prstGeom>
          <a:noFill/>
          <a:ln w="12700">
            <a:solidFill>
              <a:srgbClr val="1D9E75"/>
            </a:solidFill>
            <a:prstDash val="solid"/>
            <a:tailEnd type="triangle"/>
          </a:ln>
        </p:spPr>
      </p:sp>
      <p:sp>
        <p:nvSpPr>
          <p:cNvPr id="27" name="Shape 25"/>
          <p:cNvSpPr/>
          <p:nvPr/>
        </p:nvSpPr>
        <p:spPr>
          <a:xfrm>
            <a:off x="4754880" y="2651760"/>
            <a:ext cx="1691640" cy="640080"/>
          </a:xfrm>
          <a:prstGeom prst="roundRect">
            <a:avLst>
              <a:gd name="adj" fmla="val 8571"/>
            </a:avLst>
          </a:prstGeom>
          <a:solidFill>
            <a:srgbClr val="E1F5EE"/>
          </a:solidFill>
          <a:ln w="9525">
            <a:solidFill>
              <a:srgbClr val="1D9E75"/>
            </a:solidFill>
            <a:prstDash val="solid"/>
          </a:ln>
        </p:spPr>
      </p:sp>
      <p:sp>
        <p:nvSpPr>
          <p:cNvPr id="28" name="Text 26"/>
          <p:cNvSpPr/>
          <p:nvPr/>
        </p:nvSpPr>
        <p:spPr>
          <a:xfrm>
            <a:off x="4754880" y="2697480"/>
            <a:ext cx="1691640" cy="54864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 Farms &amp;</a:t>
            </a:r>
            <a:endParaRPr lang="en-US" sz="1000" dirty="0"/>
          </a:p>
          <a:p>
            <a:pPr algn="ctr" indent="0" marL="0">
              <a:buNone/>
            </a:pPr>
            <a:r>
              <a:rPr lang="en-US" sz="1000" b="1" dirty="0">
                <a:solidFill>
                  <a:srgbClr val="085041"/>
                </a:solidFill>
                <a:latin typeface="Arial" pitchFamily="34" charset="0"/>
                <a:ea typeface="Arial" pitchFamily="34" charset="-122"/>
                <a:cs typeface="Arial" pitchFamily="34" charset="-120"/>
              </a:rPr>
              <a:t>producers</a:t>
            </a:r>
            <a:endParaRPr lang="en-US" sz="1000" dirty="0"/>
          </a:p>
        </p:txBody>
      </p:sp>
      <p:sp>
        <p:nvSpPr>
          <p:cNvPr id="29" name="Shape 27"/>
          <p:cNvSpPr/>
          <p:nvPr/>
        </p:nvSpPr>
        <p:spPr>
          <a:xfrm>
            <a:off x="6720840" y="2651760"/>
            <a:ext cx="1691640" cy="640080"/>
          </a:xfrm>
          <a:prstGeom prst="roundRect">
            <a:avLst>
              <a:gd name="adj" fmla="val 8571"/>
            </a:avLst>
          </a:prstGeom>
          <a:solidFill>
            <a:srgbClr val="E1F5EE"/>
          </a:solidFill>
          <a:ln w="9525">
            <a:solidFill>
              <a:srgbClr val="1D9E75"/>
            </a:solidFill>
            <a:prstDash val="solid"/>
          </a:ln>
        </p:spPr>
      </p:sp>
      <p:sp>
        <p:nvSpPr>
          <p:cNvPr id="30" name="Text 28"/>
          <p:cNvSpPr/>
          <p:nvPr/>
        </p:nvSpPr>
        <p:spPr>
          <a:xfrm>
            <a:off x="6720840" y="2697480"/>
            <a:ext cx="1691640" cy="54864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 Processing</a:t>
            </a:r>
            <a:endParaRPr lang="en-US" sz="1000" dirty="0"/>
          </a:p>
          <a:p>
            <a:pPr algn="ctr" indent="0" marL="0">
              <a:buNone/>
            </a:pPr>
            <a:r>
              <a:rPr lang="en-US" sz="1000" b="1" dirty="0">
                <a:solidFill>
                  <a:srgbClr val="085041"/>
                </a:solidFill>
                <a:latin typeface="Arial" pitchFamily="34" charset="0"/>
                <a:ea typeface="Arial" pitchFamily="34" charset="-122"/>
                <a:cs typeface="Arial" pitchFamily="34" charset="-120"/>
              </a:rPr>
              <a:t>facilities (OT)</a:t>
            </a:r>
            <a:endParaRPr lang="en-US" sz="1000" dirty="0"/>
          </a:p>
        </p:txBody>
      </p:sp>
      <p:sp>
        <p:nvSpPr>
          <p:cNvPr id="31" name="Shape 29"/>
          <p:cNvSpPr/>
          <p:nvPr/>
        </p:nvSpPr>
        <p:spPr>
          <a:xfrm>
            <a:off x="4754880" y="3474720"/>
            <a:ext cx="1691640" cy="640080"/>
          </a:xfrm>
          <a:prstGeom prst="roundRect">
            <a:avLst>
              <a:gd name="adj" fmla="val 8571"/>
            </a:avLst>
          </a:prstGeom>
          <a:solidFill>
            <a:srgbClr val="E1F5EE"/>
          </a:solidFill>
          <a:ln w="9525">
            <a:solidFill>
              <a:srgbClr val="1D9E75"/>
            </a:solidFill>
            <a:prstDash val="solid"/>
          </a:ln>
        </p:spPr>
      </p:sp>
      <p:sp>
        <p:nvSpPr>
          <p:cNvPr id="32" name="Text 30"/>
          <p:cNvSpPr/>
          <p:nvPr/>
        </p:nvSpPr>
        <p:spPr>
          <a:xfrm>
            <a:off x="4754880" y="3520440"/>
            <a:ext cx="1691640" cy="54864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 Distributors &amp;</a:t>
            </a:r>
            <a:endParaRPr lang="en-US" sz="1000" dirty="0"/>
          </a:p>
          <a:p>
            <a:pPr algn="ctr" indent="0" marL="0">
              <a:buNone/>
            </a:pPr>
            <a:r>
              <a:rPr lang="en-US" sz="1000" b="1" dirty="0">
                <a:solidFill>
                  <a:srgbClr val="085041"/>
                </a:solidFill>
                <a:latin typeface="Arial" pitchFamily="34" charset="0"/>
                <a:ea typeface="Arial" pitchFamily="34" charset="-122"/>
                <a:cs typeface="Arial" pitchFamily="34" charset="-120"/>
              </a:rPr>
              <a:t>logistics</a:t>
            </a:r>
            <a:endParaRPr lang="en-US" sz="1000" dirty="0"/>
          </a:p>
        </p:txBody>
      </p:sp>
      <p:sp>
        <p:nvSpPr>
          <p:cNvPr id="33" name="Shape 31"/>
          <p:cNvSpPr/>
          <p:nvPr/>
        </p:nvSpPr>
        <p:spPr>
          <a:xfrm>
            <a:off x="6720840" y="3474720"/>
            <a:ext cx="1691640" cy="640080"/>
          </a:xfrm>
          <a:prstGeom prst="roundRect">
            <a:avLst>
              <a:gd name="adj" fmla="val 8571"/>
            </a:avLst>
          </a:prstGeom>
          <a:solidFill>
            <a:srgbClr val="E1F5EE"/>
          </a:solidFill>
          <a:ln w="9525">
            <a:solidFill>
              <a:srgbClr val="1D9E75"/>
            </a:solidFill>
            <a:prstDash val="solid"/>
          </a:ln>
        </p:spPr>
      </p:sp>
      <p:sp>
        <p:nvSpPr>
          <p:cNvPr id="34" name="Text 32"/>
          <p:cNvSpPr/>
          <p:nvPr/>
        </p:nvSpPr>
        <p:spPr>
          <a:xfrm>
            <a:off x="6720840" y="3520440"/>
            <a:ext cx="1691640" cy="54864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 Tech vendors</a:t>
            </a:r>
            <a:endParaRPr lang="en-US" sz="1000" dirty="0"/>
          </a:p>
          <a:p>
            <a:pPr algn="ctr" indent="0" marL="0">
              <a:buNone/>
            </a:pPr>
            <a:r>
              <a:rPr lang="en-US" sz="1000" b="1" dirty="0">
                <a:solidFill>
                  <a:srgbClr val="085041"/>
                </a:solidFill>
                <a:latin typeface="Arial" pitchFamily="34" charset="0"/>
                <a:ea typeface="Arial" pitchFamily="34" charset="-122"/>
                <a:cs typeface="Arial" pitchFamily="34" charset="-120"/>
              </a:rPr>
              <a:t>&amp; contractors</a:t>
            </a:r>
            <a:endParaRPr lang="en-US" sz="1000" dirty="0"/>
          </a:p>
        </p:txBody>
      </p:sp>
      <p:sp>
        <p:nvSpPr>
          <p:cNvPr id="35" name="Shape 33"/>
          <p:cNvSpPr/>
          <p:nvPr/>
        </p:nvSpPr>
        <p:spPr>
          <a:xfrm>
            <a:off x="6446520" y="2971800"/>
            <a:ext cx="274320" cy="0"/>
          </a:xfrm>
          <a:prstGeom prst="line">
            <a:avLst/>
          </a:prstGeom>
          <a:noFill/>
          <a:ln w="12700">
            <a:solidFill>
              <a:srgbClr val="1D9E75"/>
            </a:solidFill>
            <a:prstDash val="solid"/>
          </a:ln>
        </p:spPr>
      </p:sp>
      <p:sp>
        <p:nvSpPr>
          <p:cNvPr id="36" name="Shape 34"/>
          <p:cNvSpPr/>
          <p:nvPr/>
        </p:nvSpPr>
        <p:spPr>
          <a:xfrm>
            <a:off x="6446520" y="3794760"/>
            <a:ext cx="274320" cy="0"/>
          </a:xfrm>
          <a:prstGeom prst="line">
            <a:avLst/>
          </a:prstGeom>
          <a:noFill/>
          <a:ln w="12700">
            <a:solidFill>
              <a:srgbClr val="1D9E75"/>
            </a:solidFill>
            <a:prstDash val="solid"/>
          </a:ln>
        </p:spPr>
      </p:sp>
      <p:sp>
        <p:nvSpPr>
          <p:cNvPr id="37" name="Shape 35"/>
          <p:cNvSpPr/>
          <p:nvPr/>
        </p:nvSpPr>
        <p:spPr>
          <a:xfrm>
            <a:off x="5600700" y="3291840"/>
            <a:ext cx="0" cy="182880"/>
          </a:xfrm>
          <a:prstGeom prst="line">
            <a:avLst/>
          </a:prstGeom>
          <a:noFill/>
          <a:ln w="12700">
            <a:solidFill>
              <a:srgbClr val="1D9E75"/>
            </a:solidFill>
            <a:prstDash val="solid"/>
          </a:ln>
        </p:spPr>
      </p:sp>
      <p:sp>
        <p:nvSpPr>
          <p:cNvPr id="38" name="Shape 36"/>
          <p:cNvSpPr/>
          <p:nvPr/>
        </p:nvSpPr>
        <p:spPr>
          <a:xfrm>
            <a:off x="7566660" y="3291840"/>
            <a:ext cx="0" cy="182880"/>
          </a:xfrm>
          <a:prstGeom prst="line">
            <a:avLst/>
          </a:prstGeom>
          <a:noFill/>
          <a:ln w="12700">
            <a:solidFill>
              <a:srgbClr val="1D9E75"/>
            </a:solidFill>
            <a:prstDash val="solid"/>
          </a:ln>
        </p:spPr>
      </p:sp>
      <p:sp>
        <p:nvSpPr>
          <p:cNvPr id="39" name="Shape 37"/>
          <p:cNvSpPr/>
          <p:nvPr/>
        </p:nvSpPr>
        <p:spPr>
          <a:xfrm>
            <a:off x="5600700" y="4114800"/>
            <a:ext cx="0" cy="228600"/>
          </a:xfrm>
          <a:prstGeom prst="line">
            <a:avLst/>
          </a:prstGeom>
          <a:noFill/>
          <a:ln w="12700">
            <a:solidFill>
              <a:srgbClr val="1D9E75"/>
            </a:solidFill>
            <a:prstDash val="solid"/>
            <a:tailEnd type="triangle"/>
          </a:ln>
        </p:spPr>
      </p:sp>
      <p:sp>
        <p:nvSpPr>
          <p:cNvPr id="40" name="Shape 38"/>
          <p:cNvSpPr/>
          <p:nvPr/>
        </p:nvSpPr>
        <p:spPr>
          <a:xfrm>
            <a:off x="7566660" y="4114800"/>
            <a:ext cx="0" cy="228600"/>
          </a:xfrm>
          <a:prstGeom prst="line">
            <a:avLst/>
          </a:prstGeom>
          <a:noFill/>
          <a:ln w="12700">
            <a:solidFill>
              <a:srgbClr val="1D9E75"/>
            </a:solidFill>
            <a:prstDash val="solid"/>
            <a:tailEnd type="triangle"/>
          </a:ln>
        </p:spPr>
      </p:sp>
      <p:sp>
        <p:nvSpPr>
          <p:cNvPr id="41" name="Shape 39"/>
          <p:cNvSpPr/>
          <p:nvPr/>
        </p:nvSpPr>
        <p:spPr>
          <a:xfrm>
            <a:off x="4754880" y="4343400"/>
            <a:ext cx="3931920" cy="731520"/>
          </a:xfrm>
          <a:prstGeom prst="roundRect">
            <a:avLst>
              <a:gd name="adj" fmla="val 7500"/>
            </a:avLst>
          </a:prstGeom>
          <a:solidFill>
            <a:srgbClr val="E1F5EE"/>
          </a:solidFill>
          <a:ln w="12700">
            <a:solidFill>
              <a:srgbClr val="1D9E75"/>
            </a:solidFill>
            <a:prstDash val="solid"/>
          </a:ln>
        </p:spPr>
      </p:sp>
      <p:sp>
        <p:nvSpPr>
          <p:cNvPr id="42" name="Text 40"/>
          <p:cNvSpPr/>
          <p:nvPr/>
        </p:nvSpPr>
        <p:spPr>
          <a:xfrm>
            <a:off x="4846320" y="4389120"/>
            <a:ext cx="3749040" cy="640080"/>
          </a:xfrm>
          <a:prstGeom prst="rect">
            <a:avLst/>
          </a:prstGeom>
          <a:noFill/>
          <a:ln/>
        </p:spPr>
        <p:txBody>
          <a:bodyPr wrap="square" lIns="0" tIns="0" rIns="0" bIns="0" rtlCol="0" anchor="ctr"/>
          <a:lstStyle/>
          <a:p>
            <a:pPr algn="ctr" indent="0" marL="0">
              <a:buNone/>
            </a:pPr>
            <a:r>
              <a:rPr lang="en-US" sz="1000" b="1" dirty="0">
                <a:solidFill>
                  <a:srgbClr val="085041"/>
                </a:solidFill>
                <a:latin typeface="Arial" pitchFamily="34" charset="0"/>
                <a:ea typeface="Arial" pitchFamily="34" charset="-122"/>
                <a:cs typeface="Arial" pitchFamily="34" charset="-120"/>
              </a:rPr>
              <a:t>USDA 29 agencies (unified, formally verified posture)</a:t>
            </a:r>
            <a:endParaRPr lang="en-US" sz="1000" dirty="0"/>
          </a:p>
        </p:txBody>
      </p:sp>
      <p:sp>
        <p:nvSpPr>
          <p:cNvPr id="43" name="Text 41"/>
          <p:cNvSpPr/>
          <p:nvPr/>
        </p:nvSpPr>
        <p:spPr>
          <a:xfrm>
            <a:off x="4754880" y="5257800"/>
            <a:ext cx="3931920" cy="1097280"/>
          </a:xfrm>
          <a:prstGeom prst="rect">
            <a:avLst/>
          </a:prstGeom>
          <a:noFill/>
          <a:ln/>
        </p:spPr>
        <p:txBody>
          <a:bodyPr wrap="square" lIns="0" tIns="0" rIns="0" bIns="0" rtlCol="0" anchor="ctr"/>
          <a:lstStyle/>
          <a:p>
            <a:pPr indent="0" marL="0">
              <a:lnSpc>
                <a:spcPct val="125000"/>
              </a:lnSpc>
              <a:buNone/>
            </a:pPr>
            <a:r>
              <a:rPr lang="en-US" sz="1000" dirty="0">
                <a:solidFill>
                  <a:srgbClr val="0F6E56"/>
                </a:solidFill>
                <a:latin typeface="Arial" pitchFamily="34" charset="0"/>
                <a:ea typeface="Arial" pitchFamily="34" charset="-122"/>
                <a:cs typeface="Arial" pitchFamily="34" charset="-120"/>
              </a:rPr>
              <a:t>•  Agentless — works from config metadata only</a:t>
            </a:r>
            <a:endParaRPr lang="en-US" sz="1000" dirty="0"/>
          </a:p>
          <a:p>
            <a:pPr indent="0" marL="0">
              <a:lnSpc>
                <a:spcPct val="125000"/>
              </a:lnSpc>
              <a:buNone/>
            </a:pPr>
            <a:r>
              <a:rPr lang="en-US" sz="1000" dirty="0">
                <a:solidFill>
                  <a:srgbClr val="0F6E56"/>
                </a:solidFill>
                <a:latin typeface="Arial" pitchFamily="34" charset="0"/>
                <a:ea typeface="Arial" pitchFamily="34" charset="-122"/>
                <a:cs typeface="Arial" pitchFamily="34" charset="-120"/>
              </a:rPr>
              <a:t>•  Every vendor access path mathematically proven safe</a:t>
            </a:r>
            <a:endParaRPr lang="en-US" sz="1000" dirty="0"/>
          </a:p>
          <a:p>
            <a:pPr indent="0" marL="0">
              <a:lnSpc>
                <a:spcPct val="125000"/>
              </a:lnSpc>
              <a:buNone/>
            </a:pPr>
            <a:r>
              <a:rPr lang="en-US" sz="1000" dirty="0">
                <a:solidFill>
                  <a:srgbClr val="0F6E56"/>
                </a:solidFill>
                <a:latin typeface="Arial" pitchFamily="34" charset="0"/>
                <a:ea typeface="Arial" pitchFamily="34" charset="-122"/>
                <a:cs typeface="Arial" pitchFamily="34" charset="-120"/>
              </a:rPr>
              <a:t>•  IT/OT boundary formally verified (no lateral movement)</a:t>
            </a:r>
            <a:endParaRPr lang="en-US" sz="1000" dirty="0"/>
          </a:p>
          <a:p>
            <a:pPr indent="0" marL="0">
              <a:lnSpc>
                <a:spcPct val="125000"/>
              </a:lnSpc>
              <a:buNone/>
            </a:pPr>
            <a:r>
              <a:rPr lang="en-US" sz="1000" dirty="0">
                <a:solidFill>
                  <a:srgbClr val="0F6E56"/>
                </a:solidFill>
                <a:latin typeface="Arial" pitchFamily="34" charset="0"/>
                <a:ea typeface="Arial" pitchFamily="34" charset="-122"/>
                <a:cs typeface="Arial" pitchFamily="34" charset="-120"/>
              </a:rPr>
              <a:t>•  Single CISO dashboard across all 29 agencies</a:t>
            </a:r>
            <a:endParaRPr lang="en-US" sz="1000" dirty="0"/>
          </a:p>
          <a:p>
            <a:pPr indent="0" marL="0">
              <a:lnSpc>
                <a:spcPct val="125000"/>
              </a:lnSpc>
              <a:buNone/>
            </a:pPr>
            <a:r>
              <a:rPr lang="en-US" sz="1000" dirty="0">
                <a:solidFill>
                  <a:srgbClr val="0F6E56"/>
                </a:solidFill>
                <a:latin typeface="Arial" pitchFamily="34" charset="0"/>
                <a:ea typeface="Arial" pitchFamily="34" charset="-122"/>
                <a:cs typeface="Arial" pitchFamily="34" charset="-120"/>
              </a:rPr>
              <a:t>•  Mathematical proof replaces paper compliance</a:t>
            </a:r>
            <a:endParaRPr lang="en-US" sz="1000" dirty="0"/>
          </a:p>
        </p:txBody>
      </p:sp>
      <p:sp>
        <p:nvSpPr>
          <p:cNvPr id="44" name="Shape 42"/>
          <p:cNvSpPr/>
          <p:nvPr/>
        </p:nvSpPr>
        <p:spPr>
          <a:xfrm>
            <a:off x="457200" y="6583680"/>
            <a:ext cx="8229600" cy="0"/>
          </a:xfrm>
          <a:prstGeom prst="line">
            <a:avLst/>
          </a:prstGeom>
          <a:noFill/>
          <a:ln w="6350">
            <a:solidFill>
              <a:srgbClr val="D3D1C7"/>
            </a:solidFill>
            <a:prstDash val="solid"/>
          </a:ln>
        </p:spPr>
      </p:sp>
      <p:sp>
        <p:nvSpPr>
          <p:cNvPr id="45" name="Text 43"/>
          <p:cNvSpPr/>
          <p:nvPr/>
        </p:nvSpPr>
        <p:spPr>
          <a:xfrm>
            <a:off x="457200" y="6766560"/>
            <a:ext cx="8229600" cy="27432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Four protection mechanisms</a:t>
            </a:r>
            <a:endParaRPr lang="en-US" sz="1600" dirty="0"/>
          </a:p>
        </p:txBody>
      </p:sp>
      <p:sp>
        <p:nvSpPr>
          <p:cNvPr id="46" name="Shape 44"/>
          <p:cNvSpPr/>
          <p:nvPr/>
        </p:nvSpPr>
        <p:spPr>
          <a:xfrm>
            <a:off x="457200" y="7178040"/>
            <a:ext cx="3840480" cy="2194560"/>
          </a:xfrm>
          <a:prstGeom prst="roundRect">
            <a:avLst>
              <a:gd name="adj" fmla="val 4167"/>
            </a:avLst>
          </a:prstGeom>
          <a:solidFill>
            <a:srgbClr val="FFFFFF"/>
          </a:solidFill>
          <a:ln w="9525">
            <a:solidFill>
              <a:srgbClr val="1D9E75"/>
            </a:solidFill>
            <a:prstDash val="solid"/>
          </a:ln>
        </p:spPr>
      </p:sp>
      <p:sp>
        <p:nvSpPr>
          <p:cNvPr id="47" name="Shape 45"/>
          <p:cNvSpPr/>
          <p:nvPr/>
        </p:nvSpPr>
        <p:spPr>
          <a:xfrm>
            <a:off x="457200" y="7178040"/>
            <a:ext cx="54864" cy="2194560"/>
          </a:xfrm>
          <a:prstGeom prst="rect">
            <a:avLst/>
          </a:prstGeom>
          <a:solidFill>
            <a:srgbClr val="1D9E75"/>
          </a:solidFill>
          <a:ln/>
        </p:spPr>
      </p:sp>
      <p:sp>
        <p:nvSpPr>
          <p:cNvPr id="48" name="Shape 46"/>
          <p:cNvSpPr/>
          <p:nvPr/>
        </p:nvSpPr>
        <p:spPr>
          <a:xfrm>
            <a:off x="640080" y="7315200"/>
            <a:ext cx="365760" cy="365760"/>
          </a:xfrm>
          <a:prstGeom prst="ellipse">
            <a:avLst/>
          </a:prstGeom>
          <a:solidFill>
            <a:srgbClr val="1D9E75"/>
          </a:solidFill>
          <a:ln/>
        </p:spPr>
      </p:sp>
      <p:sp>
        <p:nvSpPr>
          <p:cNvPr id="49" name="Text 47"/>
          <p:cNvSpPr/>
          <p:nvPr/>
        </p:nvSpPr>
        <p:spPr>
          <a:xfrm>
            <a:off x="640080" y="7315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50" name="Text 48"/>
          <p:cNvSpPr/>
          <p:nvPr/>
        </p:nvSpPr>
        <p:spPr>
          <a:xfrm>
            <a:off x="1143000" y="7315200"/>
            <a:ext cx="2926080" cy="320040"/>
          </a:xfrm>
          <a:prstGeom prst="rect">
            <a:avLst/>
          </a:prstGeom>
          <a:noFill/>
          <a:ln/>
        </p:spPr>
        <p:txBody>
          <a:bodyPr wrap="square" lIns="0" tIns="0" rIns="0" bIns="0" rtlCol="0" anchor="ctr"/>
          <a:lstStyle/>
          <a:p>
            <a:pPr indent="0" marL="0">
              <a:buNone/>
            </a:pPr>
            <a:r>
              <a:rPr lang="en-US" sz="1300" b="1" dirty="0">
                <a:solidFill>
                  <a:srgbClr val="085041"/>
                </a:solidFill>
                <a:latin typeface="Arial" pitchFamily="34" charset="0"/>
                <a:ea typeface="Arial" pitchFamily="34" charset="-122"/>
                <a:cs typeface="Arial" pitchFamily="34" charset="-120"/>
              </a:rPr>
              <a:t>Formally verified vendor access</a:t>
            </a:r>
            <a:endParaRPr lang="en-US" sz="1300" dirty="0"/>
          </a:p>
        </p:txBody>
      </p:sp>
      <p:sp>
        <p:nvSpPr>
          <p:cNvPr id="51" name="Text 49"/>
          <p:cNvSpPr/>
          <p:nvPr/>
        </p:nvSpPr>
        <p:spPr>
          <a:xfrm>
            <a:off x="685800" y="7726680"/>
            <a:ext cx="3383280" cy="502920"/>
          </a:xfrm>
          <a:prstGeom prst="rect">
            <a:avLst/>
          </a:prstGeom>
          <a:noFill/>
          <a:ln/>
        </p:spPr>
        <p:txBody>
          <a:bodyPr wrap="square" lIns="0" tIns="0" rIns="0" bIns="0" rtlCol="0" anchor="ctr"/>
          <a:lstStyle/>
          <a:p>
            <a:pPr indent="0" marL="0">
              <a:buNone/>
            </a:pPr>
            <a:r>
              <a:rPr lang="en-US" sz="950" b="1" dirty="0">
                <a:solidFill>
                  <a:srgbClr val="993C1D"/>
                </a:solidFill>
                <a:latin typeface="Arial" pitchFamily="34" charset="0"/>
                <a:ea typeface="Arial" pitchFamily="34" charset="-122"/>
                <a:cs typeface="Arial" pitchFamily="34" charset="-120"/>
              </a:rPr>
              <a:t>Problem: </a:t>
            </a:r>
            <a:pPr indent="0" marL="0">
              <a:buNone/>
            </a:pPr>
            <a:r>
              <a:rPr lang="en-US" sz="950" dirty="0">
                <a:solidFill>
                  <a:srgbClr val="712B13"/>
                </a:solidFill>
                <a:latin typeface="Arial" pitchFamily="34" charset="0"/>
                <a:ea typeface="Arial" pitchFamily="34" charset="-122"/>
                <a:cs typeface="Arial" pitchFamily="34" charset="-120"/>
              </a:rPr>
              <a:t>How to grant access to 100,000+ distributors without risking the core network? A compromised vendor can pivot laterally.</a:t>
            </a:r>
            <a:endParaRPr lang="en-US" sz="950" dirty="0"/>
          </a:p>
        </p:txBody>
      </p:sp>
      <p:sp>
        <p:nvSpPr>
          <p:cNvPr id="52" name="Text 50"/>
          <p:cNvSpPr/>
          <p:nvPr/>
        </p:nvSpPr>
        <p:spPr>
          <a:xfrm>
            <a:off x="685800" y="8275320"/>
            <a:ext cx="3383280" cy="548640"/>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Solution: </a:t>
            </a:r>
            <a:pPr indent="0" marL="0">
              <a:buNone/>
            </a:pPr>
            <a:r>
              <a:rPr lang="en-US" sz="950" dirty="0">
                <a:solidFill>
                  <a:srgbClr val="0F6E56"/>
                </a:solidFill>
                <a:latin typeface="Arial" pitchFamily="34" charset="0"/>
                <a:ea typeface="Arial" pitchFamily="34" charset="-122"/>
                <a:cs typeface="Arial" pitchFamily="34" charset="-120"/>
              </a:rPr>
              <a:t>Ingests configs of all VPNs, API gateways, edge firewalls. Formal math proves vendor portals have zero paths to core databases.</a:t>
            </a:r>
            <a:endParaRPr lang="en-US" sz="950" dirty="0"/>
          </a:p>
        </p:txBody>
      </p:sp>
      <p:sp>
        <p:nvSpPr>
          <p:cNvPr id="53" name="Shape 51"/>
          <p:cNvSpPr/>
          <p:nvPr/>
        </p:nvSpPr>
        <p:spPr>
          <a:xfrm>
            <a:off x="685800" y="8869680"/>
            <a:ext cx="3383280" cy="411480"/>
          </a:xfrm>
          <a:prstGeom prst="roundRect">
            <a:avLst>
              <a:gd name="adj" fmla="val 8889"/>
            </a:avLst>
          </a:prstGeom>
          <a:solidFill>
            <a:srgbClr val="E1F5EE"/>
          </a:solidFill>
          <a:ln w="6350">
            <a:solidFill>
              <a:srgbClr val="1D9E75"/>
            </a:solidFill>
            <a:prstDash val="solid"/>
          </a:ln>
        </p:spPr>
      </p:sp>
      <p:sp>
        <p:nvSpPr>
          <p:cNvPr id="54" name="Text 52"/>
          <p:cNvSpPr/>
          <p:nvPr/>
        </p:nvSpPr>
        <p:spPr>
          <a:xfrm>
            <a:off x="777240" y="8915400"/>
            <a:ext cx="3200400" cy="320040"/>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 Proves: </a:t>
            </a:r>
            <a:pPr indent="0" marL="0">
              <a:buNone/>
            </a:pPr>
            <a:r>
              <a:rPr lang="en-US" sz="900" dirty="0">
                <a:solidFill>
                  <a:srgbClr val="0F6E56"/>
                </a:solidFill>
                <a:latin typeface="Arial" pitchFamily="34" charset="0"/>
                <a:ea typeface="Arial" pitchFamily="34" charset="-122"/>
                <a:cs typeface="Arial" pitchFamily="34" charset="-120"/>
              </a:rPr>
              <a:t>Least privilege guaranteed by construction, not policy</a:t>
            </a:r>
            <a:endParaRPr lang="en-US" sz="900" dirty="0"/>
          </a:p>
        </p:txBody>
      </p:sp>
      <p:sp>
        <p:nvSpPr>
          <p:cNvPr id="55" name="Shape 53"/>
          <p:cNvSpPr/>
          <p:nvPr/>
        </p:nvSpPr>
        <p:spPr>
          <a:xfrm>
            <a:off x="4846320" y="7178040"/>
            <a:ext cx="3840480" cy="2194560"/>
          </a:xfrm>
          <a:prstGeom prst="roundRect">
            <a:avLst>
              <a:gd name="adj" fmla="val 4167"/>
            </a:avLst>
          </a:prstGeom>
          <a:solidFill>
            <a:srgbClr val="FFFFFF"/>
          </a:solidFill>
          <a:ln w="9525">
            <a:solidFill>
              <a:srgbClr val="1D9E75"/>
            </a:solidFill>
            <a:prstDash val="solid"/>
          </a:ln>
        </p:spPr>
      </p:sp>
      <p:sp>
        <p:nvSpPr>
          <p:cNvPr id="56" name="Shape 54"/>
          <p:cNvSpPr/>
          <p:nvPr/>
        </p:nvSpPr>
        <p:spPr>
          <a:xfrm>
            <a:off x="4846320" y="7178040"/>
            <a:ext cx="54864" cy="2194560"/>
          </a:xfrm>
          <a:prstGeom prst="rect">
            <a:avLst/>
          </a:prstGeom>
          <a:solidFill>
            <a:srgbClr val="1D9E75"/>
          </a:solidFill>
          <a:ln/>
        </p:spPr>
      </p:sp>
      <p:sp>
        <p:nvSpPr>
          <p:cNvPr id="57" name="Shape 55"/>
          <p:cNvSpPr/>
          <p:nvPr/>
        </p:nvSpPr>
        <p:spPr>
          <a:xfrm>
            <a:off x="5029200" y="7315200"/>
            <a:ext cx="365760" cy="365760"/>
          </a:xfrm>
          <a:prstGeom prst="ellipse">
            <a:avLst/>
          </a:prstGeom>
          <a:solidFill>
            <a:srgbClr val="1D9E75"/>
          </a:solidFill>
          <a:ln/>
        </p:spPr>
      </p:sp>
      <p:sp>
        <p:nvSpPr>
          <p:cNvPr id="58" name="Text 56"/>
          <p:cNvSpPr/>
          <p:nvPr/>
        </p:nvSpPr>
        <p:spPr>
          <a:xfrm>
            <a:off x="5029200" y="7315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59" name="Text 57"/>
          <p:cNvSpPr/>
          <p:nvPr/>
        </p:nvSpPr>
        <p:spPr>
          <a:xfrm>
            <a:off x="5532120" y="7315200"/>
            <a:ext cx="2926080" cy="320040"/>
          </a:xfrm>
          <a:prstGeom prst="rect">
            <a:avLst/>
          </a:prstGeom>
          <a:noFill/>
          <a:ln/>
        </p:spPr>
        <p:txBody>
          <a:bodyPr wrap="square" lIns="0" tIns="0" rIns="0" bIns="0" rtlCol="0" anchor="ctr"/>
          <a:lstStyle/>
          <a:p>
            <a:pPr indent="0" marL="0">
              <a:buNone/>
            </a:pPr>
            <a:r>
              <a:rPr lang="en-US" sz="1300" b="1" dirty="0">
                <a:solidFill>
                  <a:srgbClr val="085041"/>
                </a:solidFill>
                <a:latin typeface="Arial" pitchFamily="34" charset="0"/>
                <a:ea typeface="Arial" pitchFamily="34" charset="-122"/>
                <a:cs typeface="Arial" pitchFamily="34" charset="-120"/>
              </a:rPr>
              <a:t>Cross-agency architecture</a:t>
            </a:r>
            <a:endParaRPr lang="en-US" sz="1300" dirty="0"/>
          </a:p>
        </p:txBody>
      </p:sp>
      <p:sp>
        <p:nvSpPr>
          <p:cNvPr id="60" name="Text 58"/>
          <p:cNvSpPr/>
          <p:nvPr/>
        </p:nvSpPr>
        <p:spPr>
          <a:xfrm>
            <a:off x="5074920" y="7726680"/>
            <a:ext cx="3383280" cy="502920"/>
          </a:xfrm>
          <a:prstGeom prst="rect">
            <a:avLst/>
          </a:prstGeom>
          <a:noFill/>
          <a:ln/>
        </p:spPr>
        <p:txBody>
          <a:bodyPr wrap="square" lIns="0" tIns="0" rIns="0" bIns="0" rtlCol="0" anchor="ctr"/>
          <a:lstStyle/>
          <a:p>
            <a:pPr indent="0" marL="0">
              <a:buNone/>
            </a:pPr>
            <a:r>
              <a:rPr lang="en-US" sz="950" b="1" dirty="0">
                <a:solidFill>
                  <a:srgbClr val="993C1D"/>
                </a:solidFill>
                <a:latin typeface="Arial" pitchFamily="34" charset="0"/>
                <a:ea typeface="Arial" pitchFamily="34" charset="-122"/>
                <a:cs typeface="Arial" pitchFamily="34" charset="-120"/>
              </a:rPr>
              <a:t>Problem: </a:t>
            </a:r>
            <a:pPr indent="0" marL="0">
              <a:buNone/>
            </a:pPr>
            <a:r>
              <a:rPr lang="en-US" sz="950" dirty="0">
                <a:solidFill>
                  <a:srgbClr val="712B13"/>
                </a:solidFill>
                <a:latin typeface="Arial" pitchFamily="34" charset="0"/>
                <a:ea typeface="Arial" pitchFamily="34" charset="-122"/>
                <a:cs typeface="Arial" pitchFamily="34" charset="-120"/>
              </a:rPr>
              <a:t>29 agencies operate in silos. The CISO has no way to see if a misconfiguration in one agency exposes another.</a:t>
            </a:r>
            <a:endParaRPr lang="en-US" sz="950" dirty="0"/>
          </a:p>
        </p:txBody>
      </p:sp>
      <p:sp>
        <p:nvSpPr>
          <p:cNvPr id="61" name="Text 59"/>
          <p:cNvSpPr/>
          <p:nvPr/>
        </p:nvSpPr>
        <p:spPr>
          <a:xfrm>
            <a:off x="5074920" y="8275320"/>
            <a:ext cx="3383280" cy="548640"/>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Solution: </a:t>
            </a:r>
            <a:pPr indent="0" marL="0">
              <a:buNone/>
            </a:pPr>
            <a:r>
              <a:rPr lang="en-US" sz="950" dirty="0">
                <a:solidFill>
                  <a:srgbClr val="0F6E56"/>
                </a:solidFill>
                <a:latin typeface="Arial" pitchFamily="34" charset="0"/>
                <a:ea typeface="Arial" pitchFamily="34" charset="-122"/>
                <a:cs typeface="Arial" pitchFamily="34" charset="-120"/>
              </a:rPr>
              <a:t>Extracts config metadata across all 29 agencies and builds a single unified mathematical model. Shows trust gaps deterministically.</a:t>
            </a:r>
            <a:endParaRPr lang="en-US" sz="950" dirty="0"/>
          </a:p>
        </p:txBody>
      </p:sp>
      <p:sp>
        <p:nvSpPr>
          <p:cNvPr id="62" name="Shape 60"/>
          <p:cNvSpPr/>
          <p:nvPr/>
        </p:nvSpPr>
        <p:spPr>
          <a:xfrm>
            <a:off x="5074920" y="8869680"/>
            <a:ext cx="3383280" cy="411480"/>
          </a:xfrm>
          <a:prstGeom prst="roundRect">
            <a:avLst>
              <a:gd name="adj" fmla="val 8889"/>
            </a:avLst>
          </a:prstGeom>
          <a:solidFill>
            <a:srgbClr val="E1F5EE"/>
          </a:solidFill>
          <a:ln w="6350">
            <a:solidFill>
              <a:srgbClr val="1D9E75"/>
            </a:solidFill>
            <a:prstDash val="solid"/>
          </a:ln>
        </p:spPr>
      </p:sp>
      <p:sp>
        <p:nvSpPr>
          <p:cNvPr id="63" name="Text 61"/>
          <p:cNvSpPr/>
          <p:nvPr/>
        </p:nvSpPr>
        <p:spPr>
          <a:xfrm>
            <a:off x="5166360" y="8915400"/>
            <a:ext cx="3200400" cy="320040"/>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 Proves: </a:t>
            </a:r>
            <a:pPr indent="0" marL="0">
              <a:buNone/>
            </a:pPr>
            <a:r>
              <a:rPr lang="en-US" sz="900" dirty="0">
                <a:solidFill>
                  <a:srgbClr val="0F6E56"/>
                </a:solidFill>
                <a:latin typeface="Arial" pitchFamily="34" charset="0"/>
                <a:ea typeface="Arial" pitchFamily="34" charset="-122"/>
                <a:cs typeface="Arial" pitchFamily="34" charset="-120"/>
              </a:rPr>
              <a:t>Single CISO dashboard with mathematically proven posture</a:t>
            </a:r>
            <a:endParaRPr lang="en-US" sz="900" dirty="0"/>
          </a:p>
        </p:txBody>
      </p:sp>
      <p:sp>
        <p:nvSpPr>
          <p:cNvPr id="64" name="Shape 62"/>
          <p:cNvSpPr/>
          <p:nvPr/>
        </p:nvSpPr>
        <p:spPr>
          <a:xfrm>
            <a:off x="457200" y="9509760"/>
            <a:ext cx="3840480" cy="2194560"/>
          </a:xfrm>
          <a:prstGeom prst="roundRect">
            <a:avLst>
              <a:gd name="adj" fmla="val 4167"/>
            </a:avLst>
          </a:prstGeom>
          <a:solidFill>
            <a:srgbClr val="FFFFFF"/>
          </a:solidFill>
          <a:ln w="9525">
            <a:solidFill>
              <a:srgbClr val="1D9E75"/>
            </a:solidFill>
            <a:prstDash val="solid"/>
          </a:ln>
        </p:spPr>
      </p:sp>
      <p:sp>
        <p:nvSpPr>
          <p:cNvPr id="65" name="Shape 63"/>
          <p:cNvSpPr/>
          <p:nvPr/>
        </p:nvSpPr>
        <p:spPr>
          <a:xfrm>
            <a:off x="457200" y="9509760"/>
            <a:ext cx="54864" cy="2194560"/>
          </a:xfrm>
          <a:prstGeom prst="rect">
            <a:avLst/>
          </a:prstGeom>
          <a:solidFill>
            <a:srgbClr val="1D9E75"/>
          </a:solidFill>
          <a:ln/>
        </p:spPr>
      </p:sp>
      <p:sp>
        <p:nvSpPr>
          <p:cNvPr id="66" name="Shape 64"/>
          <p:cNvSpPr/>
          <p:nvPr/>
        </p:nvSpPr>
        <p:spPr>
          <a:xfrm>
            <a:off x="640080" y="9646920"/>
            <a:ext cx="365760" cy="365760"/>
          </a:xfrm>
          <a:prstGeom prst="ellipse">
            <a:avLst/>
          </a:prstGeom>
          <a:solidFill>
            <a:srgbClr val="1D9E75"/>
          </a:solidFill>
          <a:ln/>
        </p:spPr>
      </p:sp>
      <p:sp>
        <p:nvSpPr>
          <p:cNvPr id="67" name="Text 65"/>
          <p:cNvSpPr/>
          <p:nvPr/>
        </p:nvSpPr>
        <p:spPr>
          <a:xfrm>
            <a:off x="640080" y="9646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68" name="Text 66"/>
          <p:cNvSpPr/>
          <p:nvPr/>
        </p:nvSpPr>
        <p:spPr>
          <a:xfrm>
            <a:off x="1143000" y="9646920"/>
            <a:ext cx="2926080" cy="320040"/>
          </a:xfrm>
          <a:prstGeom prst="rect">
            <a:avLst/>
          </a:prstGeom>
          <a:noFill/>
          <a:ln/>
        </p:spPr>
        <p:txBody>
          <a:bodyPr wrap="square" lIns="0" tIns="0" rIns="0" bIns="0" rtlCol="0" anchor="ctr"/>
          <a:lstStyle/>
          <a:p>
            <a:pPr indent="0" marL="0">
              <a:buNone/>
            </a:pPr>
            <a:r>
              <a:rPr lang="en-US" sz="1300" b="1" dirty="0">
                <a:solidFill>
                  <a:srgbClr val="085041"/>
                </a:solidFill>
                <a:latin typeface="Arial" pitchFamily="34" charset="0"/>
                <a:ea typeface="Arial" pitchFamily="34" charset="-122"/>
                <a:cs typeface="Arial" pitchFamily="34" charset="-120"/>
              </a:rPr>
              <a:t>IT/OT convergence security</a:t>
            </a:r>
            <a:endParaRPr lang="en-US" sz="1300" dirty="0"/>
          </a:p>
        </p:txBody>
      </p:sp>
      <p:sp>
        <p:nvSpPr>
          <p:cNvPr id="69" name="Text 67"/>
          <p:cNvSpPr/>
          <p:nvPr/>
        </p:nvSpPr>
        <p:spPr>
          <a:xfrm>
            <a:off x="685800" y="10058400"/>
            <a:ext cx="3383280" cy="502920"/>
          </a:xfrm>
          <a:prstGeom prst="rect">
            <a:avLst/>
          </a:prstGeom>
          <a:noFill/>
          <a:ln/>
        </p:spPr>
        <p:txBody>
          <a:bodyPr wrap="square" lIns="0" tIns="0" rIns="0" bIns="0" rtlCol="0" anchor="ctr"/>
          <a:lstStyle/>
          <a:p>
            <a:pPr indent="0" marL="0">
              <a:buNone/>
            </a:pPr>
            <a:r>
              <a:rPr lang="en-US" sz="950" b="1" dirty="0">
                <a:solidFill>
                  <a:srgbClr val="993C1D"/>
                </a:solidFill>
                <a:latin typeface="Arial" pitchFamily="34" charset="0"/>
                <a:ea typeface="Arial" pitchFamily="34" charset="-122"/>
                <a:cs typeface="Arial" pitchFamily="34" charset="-120"/>
              </a:rPr>
              <a:t>Problem: </a:t>
            </a:r>
            <a:pPr indent="0" marL="0">
              <a:buNone/>
            </a:pPr>
            <a:r>
              <a:rPr lang="en-US" sz="950" dirty="0">
                <a:solidFill>
                  <a:srgbClr val="712B13"/>
                </a:solidFill>
                <a:latin typeface="Arial" pitchFamily="34" charset="0"/>
                <a:ea typeface="Arial" pitchFamily="34" charset="-122"/>
                <a:cs typeface="Arial" pitchFamily="34" charset="-120"/>
              </a:rPr>
              <a:t>Cyber-attacks on processing facilities happen when IT networks are bridged improperly to physical OT (e.g., JBS 2021).</a:t>
            </a:r>
            <a:endParaRPr lang="en-US" sz="950" dirty="0"/>
          </a:p>
        </p:txBody>
      </p:sp>
      <p:sp>
        <p:nvSpPr>
          <p:cNvPr id="70" name="Text 68"/>
          <p:cNvSpPr/>
          <p:nvPr/>
        </p:nvSpPr>
        <p:spPr>
          <a:xfrm>
            <a:off x="685800" y="10607040"/>
            <a:ext cx="3383280" cy="548640"/>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Solution: </a:t>
            </a:r>
            <a:pPr indent="0" marL="0">
              <a:buNone/>
            </a:pPr>
            <a:r>
              <a:rPr lang="en-US" sz="950" dirty="0">
                <a:solidFill>
                  <a:srgbClr val="0F6E56"/>
                </a:solidFill>
                <a:latin typeface="Arial" pitchFamily="34" charset="0"/>
                <a:ea typeface="Arial" pitchFamily="34" charset="-122"/>
                <a:cs typeface="Arial" pitchFamily="34" charset="-120"/>
              </a:rPr>
              <a:t>Formally verifies network segmentation between IT environments and physical OT environments across the supply chain.</a:t>
            </a:r>
            <a:endParaRPr lang="en-US" sz="950" dirty="0"/>
          </a:p>
        </p:txBody>
      </p:sp>
      <p:sp>
        <p:nvSpPr>
          <p:cNvPr id="71" name="Shape 69"/>
          <p:cNvSpPr/>
          <p:nvPr/>
        </p:nvSpPr>
        <p:spPr>
          <a:xfrm>
            <a:off x="685800" y="11201400"/>
            <a:ext cx="3383280" cy="411480"/>
          </a:xfrm>
          <a:prstGeom prst="roundRect">
            <a:avLst>
              <a:gd name="adj" fmla="val 8889"/>
            </a:avLst>
          </a:prstGeom>
          <a:solidFill>
            <a:srgbClr val="E1F5EE"/>
          </a:solidFill>
          <a:ln w="6350">
            <a:solidFill>
              <a:srgbClr val="1D9E75"/>
            </a:solidFill>
            <a:prstDash val="solid"/>
          </a:ln>
        </p:spPr>
      </p:sp>
      <p:sp>
        <p:nvSpPr>
          <p:cNvPr id="72" name="Text 70"/>
          <p:cNvSpPr/>
          <p:nvPr/>
        </p:nvSpPr>
        <p:spPr>
          <a:xfrm>
            <a:off x="777240" y="11247120"/>
            <a:ext cx="3200400" cy="320040"/>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 Proves: </a:t>
            </a:r>
            <a:pPr indent="0" marL="0">
              <a:buNone/>
            </a:pPr>
            <a:r>
              <a:rPr lang="en-US" sz="900" dirty="0">
                <a:solidFill>
                  <a:srgbClr val="0F6E56"/>
                </a:solidFill>
                <a:latin typeface="Arial" pitchFamily="34" charset="0"/>
                <a:ea typeface="Arial" pitchFamily="34" charset="-122"/>
                <a:cs typeface="Arial" pitchFamily="34" charset="-120"/>
              </a:rPr>
              <a:t>IT ransomware cannot cross the boundary to OT systems</a:t>
            </a:r>
            <a:endParaRPr lang="en-US" sz="900" dirty="0"/>
          </a:p>
        </p:txBody>
      </p:sp>
      <p:sp>
        <p:nvSpPr>
          <p:cNvPr id="73" name="Shape 71"/>
          <p:cNvSpPr/>
          <p:nvPr/>
        </p:nvSpPr>
        <p:spPr>
          <a:xfrm>
            <a:off x="4846320" y="9509760"/>
            <a:ext cx="3840480" cy="2194560"/>
          </a:xfrm>
          <a:prstGeom prst="roundRect">
            <a:avLst>
              <a:gd name="adj" fmla="val 4167"/>
            </a:avLst>
          </a:prstGeom>
          <a:solidFill>
            <a:srgbClr val="FFFFFF"/>
          </a:solidFill>
          <a:ln w="9525">
            <a:solidFill>
              <a:srgbClr val="1D9E75"/>
            </a:solidFill>
            <a:prstDash val="solid"/>
          </a:ln>
        </p:spPr>
      </p:sp>
      <p:sp>
        <p:nvSpPr>
          <p:cNvPr id="74" name="Shape 72"/>
          <p:cNvSpPr/>
          <p:nvPr/>
        </p:nvSpPr>
        <p:spPr>
          <a:xfrm>
            <a:off x="4846320" y="9509760"/>
            <a:ext cx="54864" cy="2194560"/>
          </a:xfrm>
          <a:prstGeom prst="rect">
            <a:avLst/>
          </a:prstGeom>
          <a:solidFill>
            <a:srgbClr val="1D9E75"/>
          </a:solidFill>
          <a:ln/>
        </p:spPr>
      </p:sp>
      <p:sp>
        <p:nvSpPr>
          <p:cNvPr id="75" name="Shape 73"/>
          <p:cNvSpPr/>
          <p:nvPr/>
        </p:nvSpPr>
        <p:spPr>
          <a:xfrm>
            <a:off x="5029200" y="9646920"/>
            <a:ext cx="365760" cy="365760"/>
          </a:xfrm>
          <a:prstGeom prst="ellipse">
            <a:avLst/>
          </a:prstGeom>
          <a:solidFill>
            <a:srgbClr val="1D9E75"/>
          </a:solidFill>
          <a:ln/>
        </p:spPr>
      </p:sp>
      <p:sp>
        <p:nvSpPr>
          <p:cNvPr id="76" name="Text 74"/>
          <p:cNvSpPr/>
          <p:nvPr/>
        </p:nvSpPr>
        <p:spPr>
          <a:xfrm>
            <a:off x="5029200" y="9646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77" name="Text 75"/>
          <p:cNvSpPr/>
          <p:nvPr/>
        </p:nvSpPr>
        <p:spPr>
          <a:xfrm>
            <a:off x="5532120" y="9646920"/>
            <a:ext cx="2926080" cy="320040"/>
          </a:xfrm>
          <a:prstGeom prst="rect">
            <a:avLst/>
          </a:prstGeom>
          <a:noFill/>
          <a:ln/>
        </p:spPr>
        <p:txBody>
          <a:bodyPr wrap="square" lIns="0" tIns="0" rIns="0" bIns="0" rtlCol="0" anchor="ctr"/>
          <a:lstStyle/>
          <a:p>
            <a:pPr indent="0" marL="0">
              <a:buNone/>
            </a:pPr>
            <a:r>
              <a:rPr lang="en-US" sz="1300" b="1" dirty="0">
                <a:solidFill>
                  <a:srgbClr val="085041"/>
                </a:solidFill>
                <a:latin typeface="Arial" pitchFamily="34" charset="0"/>
                <a:ea typeface="Arial" pitchFamily="34" charset="-122"/>
                <a:cs typeface="Arial" pitchFamily="34" charset="-120"/>
              </a:rPr>
              <a:t>Formally verified EASM (inside-out)</a:t>
            </a:r>
            <a:endParaRPr lang="en-US" sz="1300" dirty="0"/>
          </a:p>
        </p:txBody>
      </p:sp>
      <p:sp>
        <p:nvSpPr>
          <p:cNvPr id="78" name="Text 76"/>
          <p:cNvSpPr/>
          <p:nvPr/>
        </p:nvSpPr>
        <p:spPr>
          <a:xfrm>
            <a:off x="5074920" y="10058400"/>
            <a:ext cx="3383280" cy="502920"/>
          </a:xfrm>
          <a:prstGeom prst="rect">
            <a:avLst/>
          </a:prstGeom>
          <a:noFill/>
          <a:ln/>
        </p:spPr>
        <p:txBody>
          <a:bodyPr wrap="square" lIns="0" tIns="0" rIns="0" bIns="0" rtlCol="0" anchor="ctr"/>
          <a:lstStyle/>
          <a:p>
            <a:pPr indent="0" marL="0">
              <a:buNone/>
            </a:pPr>
            <a:r>
              <a:rPr lang="en-US" sz="950" b="1" dirty="0">
                <a:solidFill>
                  <a:srgbClr val="993C1D"/>
                </a:solidFill>
                <a:latin typeface="Arial" pitchFamily="34" charset="0"/>
                <a:ea typeface="Arial" pitchFamily="34" charset="-122"/>
                <a:cs typeface="Arial" pitchFamily="34" charset="-120"/>
              </a:rPr>
              <a:t>Problem: </a:t>
            </a:r>
            <a:pPr indent="0" marL="0">
              <a:buNone/>
            </a:pPr>
            <a:r>
              <a:rPr lang="en-US" sz="950" dirty="0">
                <a:solidFill>
                  <a:srgbClr val="712B13"/>
                </a:solidFill>
                <a:latin typeface="Arial" pitchFamily="34" charset="0"/>
                <a:ea typeface="Arial" pitchFamily="34" charset="-122"/>
                <a:cs typeface="Arial" pitchFamily="34" charset="-120"/>
              </a:rPr>
              <a:t>Traditional EASM scans from outside (jiggling doorknobs). Misses hidden, dormant, or IP-restricted ports. Incomplete by design.</a:t>
            </a:r>
            <a:endParaRPr lang="en-US" sz="950" dirty="0"/>
          </a:p>
        </p:txBody>
      </p:sp>
      <p:sp>
        <p:nvSpPr>
          <p:cNvPr id="79" name="Text 77"/>
          <p:cNvSpPr/>
          <p:nvPr/>
        </p:nvSpPr>
        <p:spPr>
          <a:xfrm>
            <a:off x="5074920" y="10607040"/>
            <a:ext cx="3383280" cy="548640"/>
          </a:xfrm>
          <a:prstGeom prst="rect">
            <a:avLst/>
          </a:prstGeom>
          <a:noFill/>
          <a:ln/>
        </p:spPr>
        <p:txBody>
          <a:bodyPr wrap="square" lIns="0" tIns="0" rIns="0" bIns="0" rtlCol="0" anchor="ctr"/>
          <a:lstStyle/>
          <a:p>
            <a:pPr indent="0" marL="0">
              <a:buNone/>
            </a:pPr>
            <a:r>
              <a:rPr lang="en-US" sz="950" b="1" dirty="0">
                <a:solidFill>
                  <a:srgbClr val="085041"/>
                </a:solidFill>
                <a:latin typeface="Arial" pitchFamily="34" charset="0"/>
                <a:ea typeface="Arial" pitchFamily="34" charset="-122"/>
                <a:cs typeface="Arial" pitchFamily="34" charset="-120"/>
              </a:rPr>
              <a:t>Solution: </a:t>
            </a:r>
            <a:pPr indent="0" marL="0">
              <a:buNone/>
            </a:pPr>
            <a:r>
              <a:rPr lang="en-US" sz="950" dirty="0">
                <a:solidFill>
                  <a:srgbClr val="0F6E56"/>
                </a:solidFill>
                <a:latin typeface="Arial" pitchFamily="34" charset="0"/>
                <a:ea typeface="Arial" pitchFamily="34" charset="-122"/>
                <a:cs typeface="Arial" pitchFamily="34" charset="-120"/>
              </a:rPr>
              <a:t>Works from inside-out by analyzing actual firewall configs. Symbolically calculates every exposed port, protocol, and IP.</a:t>
            </a:r>
            <a:endParaRPr lang="en-US" sz="950" dirty="0"/>
          </a:p>
        </p:txBody>
      </p:sp>
      <p:sp>
        <p:nvSpPr>
          <p:cNvPr id="80" name="Shape 78"/>
          <p:cNvSpPr/>
          <p:nvPr/>
        </p:nvSpPr>
        <p:spPr>
          <a:xfrm>
            <a:off x="5074920" y="11201400"/>
            <a:ext cx="3383280" cy="411480"/>
          </a:xfrm>
          <a:prstGeom prst="roundRect">
            <a:avLst>
              <a:gd name="adj" fmla="val 8889"/>
            </a:avLst>
          </a:prstGeom>
          <a:solidFill>
            <a:srgbClr val="E1F5EE"/>
          </a:solidFill>
          <a:ln w="6350">
            <a:solidFill>
              <a:srgbClr val="1D9E75"/>
            </a:solidFill>
            <a:prstDash val="solid"/>
          </a:ln>
        </p:spPr>
      </p:sp>
      <p:sp>
        <p:nvSpPr>
          <p:cNvPr id="81" name="Text 79"/>
          <p:cNvSpPr/>
          <p:nvPr/>
        </p:nvSpPr>
        <p:spPr>
          <a:xfrm>
            <a:off x="5166360" y="11247120"/>
            <a:ext cx="3200400" cy="320040"/>
          </a:xfrm>
          <a:prstGeom prst="rect">
            <a:avLst/>
          </a:prstGeom>
          <a:noFill/>
          <a:ln/>
        </p:spPr>
        <p:txBody>
          <a:bodyPr wrap="square" lIns="0" tIns="0" rIns="0" bIns="0" rtlCol="0" anchor="ctr"/>
          <a:lstStyle/>
          <a:p>
            <a:pPr indent="0" marL="0">
              <a:buNone/>
            </a:pPr>
            <a:r>
              <a:rPr lang="en-US" sz="900" b="1" dirty="0">
                <a:solidFill>
                  <a:srgbClr val="085041"/>
                </a:solidFill>
                <a:latin typeface="Arial" pitchFamily="34" charset="0"/>
                <a:ea typeface="Arial" pitchFamily="34" charset="-122"/>
                <a:cs typeface="Arial" pitchFamily="34" charset="-120"/>
              </a:rPr>
              <a:t>✓ Proves: </a:t>
            </a:r>
            <a:pPr indent="0" marL="0">
              <a:buNone/>
            </a:pPr>
            <a:r>
              <a:rPr lang="en-US" sz="900" dirty="0">
                <a:solidFill>
                  <a:srgbClr val="0F6E56"/>
                </a:solidFill>
                <a:latin typeface="Arial" pitchFamily="34" charset="0"/>
                <a:ea typeface="Arial" pitchFamily="34" charset="-122"/>
                <a:cs typeface="Arial" pitchFamily="34" charset="-120"/>
              </a:rPr>
              <a:t>100% external attack surface visibility, zero false negatives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Appendix: The cybersecurity stack explained</a:t>
            </a:r>
            <a:endParaRPr lang="en-US" sz="2400" dirty="0"/>
          </a:p>
        </p:txBody>
      </p:sp>
      <p:sp>
        <p:nvSpPr>
          <p:cNvPr id="3" name="Text 1"/>
          <p:cNvSpPr/>
          <p:nvPr/>
        </p:nvSpPr>
        <p:spPr>
          <a:xfrm>
            <a:off x="457200" y="731520"/>
            <a:ext cx="8229600" cy="274320"/>
          </a:xfrm>
          <a:prstGeom prst="rect">
            <a:avLst/>
          </a:prstGeom>
          <a:noFill/>
          <a:ln/>
        </p:spPr>
        <p:txBody>
          <a:bodyPr wrap="square" lIns="0" tIns="0" rIns="0" bIns="0" rtlCol="0" anchor="ctr"/>
          <a:lstStyle/>
          <a:p>
            <a:pPr indent="0" marL="0">
              <a:buNone/>
            </a:pPr>
            <a:r>
              <a:rPr lang="en-US" sz="1200" dirty="0">
                <a:solidFill>
                  <a:srgbClr val="888780"/>
                </a:solidFill>
                <a:latin typeface="Arial" pitchFamily="34" charset="0"/>
                <a:ea typeface="Arial" pitchFamily="34" charset="-122"/>
                <a:cs typeface="Arial" pitchFamily="34" charset="-120"/>
              </a:rPr>
              <a:t>What each tool does and why none can replace preemptive verification</a:t>
            </a:r>
            <a:endParaRPr lang="en-US" sz="1200" dirty="0"/>
          </a:p>
        </p:txBody>
      </p:sp>
      <p:sp>
        <p:nvSpPr>
          <p:cNvPr id="4" name="Shape 2"/>
          <p:cNvSpPr/>
          <p:nvPr/>
        </p:nvSpPr>
        <p:spPr>
          <a:xfrm>
            <a:off x="457200" y="1188720"/>
            <a:ext cx="54864" cy="822960"/>
          </a:xfrm>
          <a:prstGeom prst="rect">
            <a:avLst/>
          </a:prstGeom>
          <a:solidFill>
            <a:srgbClr val="185FA5"/>
          </a:solidFill>
          <a:ln/>
        </p:spPr>
      </p:sp>
      <p:sp>
        <p:nvSpPr>
          <p:cNvPr id="5" name="Shape 3"/>
          <p:cNvSpPr/>
          <p:nvPr/>
        </p:nvSpPr>
        <p:spPr>
          <a:xfrm>
            <a:off x="685800" y="1234440"/>
            <a:ext cx="1188720" cy="228600"/>
          </a:xfrm>
          <a:prstGeom prst="roundRect">
            <a:avLst>
              <a:gd name="adj" fmla="val 12000"/>
            </a:avLst>
          </a:prstGeom>
          <a:solidFill>
            <a:srgbClr val="185FA5"/>
          </a:solidFill>
          <a:ln/>
        </p:spPr>
      </p:sp>
      <p:sp>
        <p:nvSpPr>
          <p:cNvPr id="6" name="Text 4"/>
          <p:cNvSpPr/>
          <p:nvPr/>
        </p:nvSpPr>
        <p:spPr>
          <a:xfrm>
            <a:off x="685800" y="12344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PERIMETER</a:t>
            </a:r>
            <a:endParaRPr lang="en-US" sz="800" dirty="0"/>
          </a:p>
        </p:txBody>
      </p:sp>
      <p:sp>
        <p:nvSpPr>
          <p:cNvPr id="7" name="Text 5"/>
          <p:cNvSpPr/>
          <p:nvPr/>
        </p:nvSpPr>
        <p:spPr>
          <a:xfrm>
            <a:off x="1965960" y="12070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NGFW</a:t>
            </a:r>
            <a:endParaRPr lang="en-US" sz="1300" dirty="0"/>
          </a:p>
        </p:txBody>
      </p:sp>
      <p:sp>
        <p:nvSpPr>
          <p:cNvPr id="8" name="Text 6"/>
          <p:cNvSpPr/>
          <p:nvPr/>
        </p:nvSpPr>
        <p:spPr>
          <a:xfrm>
            <a:off x="1965960" y="14813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Palo Alto, Fortinet, Cisco</a:t>
            </a:r>
            <a:endParaRPr lang="en-US" sz="950" dirty="0"/>
          </a:p>
        </p:txBody>
      </p:sp>
      <p:sp>
        <p:nvSpPr>
          <p:cNvPr id="9" name="Text 7"/>
          <p:cNvSpPr/>
          <p:nvPr/>
        </p:nvSpPr>
        <p:spPr>
          <a:xfrm>
            <a:off x="5349240" y="1207008"/>
            <a:ext cx="333756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digital gatekeepers.</a:t>
            </a:r>
            <a:endParaRPr lang="en-US" sz="1100" dirty="0"/>
          </a:p>
        </p:txBody>
      </p:sp>
      <p:sp>
        <p:nvSpPr>
          <p:cNvPr id="10" name="Text 8"/>
          <p:cNvSpPr/>
          <p:nvPr/>
        </p:nvSpPr>
        <p:spPr>
          <a:xfrm>
            <a:off x="5349240" y="14813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Block or allow live network traffic based on configured rules. Only as good as their configuration.</a:t>
            </a:r>
            <a:endParaRPr lang="en-US" sz="1000" dirty="0"/>
          </a:p>
        </p:txBody>
      </p:sp>
      <p:sp>
        <p:nvSpPr>
          <p:cNvPr id="11" name="Shape 9"/>
          <p:cNvSpPr/>
          <p:nvPr/>
        </p:nvSpPr>
        <p:spPr>
          <a:xfrm>
            <a:off x="457200" y="2057400"/>
            <a:ext cx="8229600" cy="0"/>
          </a:xfrm>
          <a:prstGeom prst="line">
            <a:avLst/>
          </a:prstGeom>
          <a:noFill/>
          <a:ln w="6350">
            <a:solidFill>
              <a:srgbClr val="E8E8E8"/>
            </a:solidFill>
            <a:prstDash val="solid"/>
          </a:ln>
        </p:spPr>
      </p:sp>
      <p:sp>
        <p:nvSpPr>
          <p:cNvPr id="12" name="Shape 10"/>
          <p:cNvSpPr/>
          <p:nvPr/>
        </p:nvSpPr>
        <p:spPr>
          <a:xfrm>
            <a:off x="457200" y="2103120"/>
            <a:ext cx="54864" cy="822960"/>
          </a:xfrm>
          <a:prstGeom prst="rect">
            <a:avLst/>
          </a:prstGeom>
          <a:solidFill>
            <a:srgbClr val="185FA5"/>
          </a:solidFill>
          <a:ln/>
        </p:spPr>
      </p:sp>
      <p:sp>
        <p:nvSpPr>
          <p:cNvPr id="13" name="Shape 11"/>
          <p:cNvSpPr/>
          <p:nvPr/>
        </p:nvSpPr>
        <p:spPr>
          <a:xfrm>
            <a:off x="685800" y="2148840"/>
            <a:ext cx="1188720" cy="228600"/>
          </a:xfrm>
          <a:prstGeom prst="roundRect">
            <a:avLst>
              <a:gd name="adj" fmla="val 12000"/>
            </a:avLst>
          </a:prstGeom>
          <a:solidFill>
            <a:srgbClr val="185FA5"/>
          </a:solidFill>
          <a:ln/>
        </p:spPr>
      </p:sp>
      <p:sp>
        <p:nvSpPr>
          <p:cNvPr id="14" name="Text 12"/>
          <p:cNvSpPr/>
          <p:nvPr/>
        </p:nvSpPr>
        <p:spPr>
          <a:xfrm>
            <a:off x="685800" y="21488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SCANNING</a:t>
            </a:r>
            <a:endParaRPr lang="en-US" sz="800" dirty="0"/>
          </a:p>
        </p:txBody>
      </p:sp>
      <p:sp>
        <p:nvSpPr>
          <p:cNvPr id="15" name="Text 13"/>
          <p:cNvSpPr/>
          <p:nvPr/>
        </p:nvSpPr>
        <p:spPr>
          <a:xfrm>
            <a:off x="1965960" y="21214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Vulnerability scanners</a:t>
            </a:r>
            <a:endParaRPr lang="en-US" sz="1300" dirty="0"/>
          </a:p>
        </p:txBody>
      </p:sp>
      <p:sp>
        <p:nvSpPr>
          <p:cNvPr id="16" name="Text 14"/>
          <p:cNvSpPr/>
          <p:nvPr/>
        </p:nvSpPr>
        <p:spPr>
          <a:xfrm>
            <a:off x="1965960" y="23957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Qualys, Tenable, Rapid7</a:t>
            </a:r>
            <a:endParaRPr lang="en-US" sz="950" dirty="0"/>
          </a:p>
        </p:txBody>
      </p:sp>
      <p:sp>
        <p:nvSpPr>
          <p:cNvPr id="17" name="Text 15"/>
          <p:cNvSpPr/>
          <p:nvPr/>
        </p:nvSpPr>
        <p:spPr>
          <a:xfrm>
            <a:off x="5349240" y="2121408"/>
            <a:ext cx="333756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building inspectors.</a:t>
            </a:r>
            <a:endParaRPr lang="en-US" sz="1100" dirty="0"/>
          </a:p>
        </p:txBody>
      </p:sp>
      <p:sp>
        <p:nvSpPr>
          <p:cNvPr id="18" name="Text 16"/>
          <p:cNvSpPr/>
          <p:nvPr/>
        </p:nvSpPr>
        <p:spPr>
          <a:xfrm>
            <a:off x="5349240" y="23957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Scan servers for known CVEs. Only cover the vulnerability-based fraction of attacks.</a:t>
            </a:r>
            <a:endParaRPr lang="en-US" sz="1000" dirty="0"/>
          </a:p>
        </p:txBody>
      </p:sp>
      <p:sp>
        <p:nvSpPr>
          <p:cNvPr id="19" name="Shape 17"/>
          <p:cNvSpPr/>
          <p:nvPr/>
        </p:nvSpPr>
        <p:spPr>
          <a:xfrm>
            <a:off x="457200" y="2971800"/>
            <a:ext cx="8229600" cy="0"/>
          </a:xfrm>
          <a:prstGeom prst="line">
            <a:avLst/>
          </a:prstGeom>
          <a:noFill/>
          <a:ln w="6350">
            <a:solidFill>
              <a:srgbClr val="E8E8E8"/>
            </a:solidFill>
            <a:prstDash val="solid"/>
          </a:ln>
        </p:spPr>
      </p:sp>
      <p:sp>
        <p:nvSpPr>
          <p:cNvPr id="20" name="Shape 18"/>
          <p:cNvSpPr/>
          <p:nvPr/>
        </p:nvSpPr>
        <p:spPr>
          <a:xfrm>
            <a:off x="457200" y="3017520"/>
            <a:ext cx="54864" cy="822960"/>
          </a:xfrm>
          <a:prstGeom prst="rect">
            <a:avLst/>
          </a:prstGeom>
          <a:solidFill>
            <a:srgbClr val="185FA5"/>
          </a:solidFill>
          <a:ln/>
        </p:spPr>
      </p:sp>
      <p:sp>
        <p:nvSpPr>
          <p:cNvPr id="21" name="Shape 19"/>
          <p:cNvSpPr/>
          <p:nvPr/>
        </p:nvSpPr>
        <p:spPr>
          <a:xfrm>
            <a:off x="685800" y="3063240"/>
            <a:ext cx="1188720" cy="228600"/>
          </a:xfrm>
          <a:prstGeom prst="roundRect">
            <a:avLst>
              <a:gd name="adj" fmla="val 12000"/>
            </a:avLst>
          </a:prstGeom>
          <a:solidFill>
            <a:srgbClr val="185FA5"/>
          </a:solidFill>
          <a:ln/>
        </p:spPr>
      </p:sp>
      <p:sp>
        <p:nvSpPr>
          <p:cNvPr id="22" name="Text 20"/>
          <p:cNvSpPr/>
          <p:nvPr/>
        </p:nvSpPr>
        <p:spPr>
          <a:xfrm>
            <a:off x="685800" y="30632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ACCESS</a:t>
            </a:r>
            <a:endParaRPr lang="en-US" sz="800" dirty="0"/>
          </a:p>
        </p:txBody>
      </p:sp>
      <p:sp>
        <p:nvSpPr>
          <p:cNvPr id="23" name="Text 21"/>
          <p:cNvSpPr/>
          <p:nvPr/>
        </p:nvSpPr>
        <p:spPr>
          <a:xfrm>
            <a:off x="1965960" y="30358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IAM / PAM</a:t>
            </a:r>
            <a:endParaRPr lang="en-US" sz="1300" dirty="0"/>
          </a:p>
        </p:txBody>
      </p:sp>
      <p:sp>
        <p:nvSpPr>
          <p:cNvPr id="24" name="Text 22"/>
          <p:cNvSpPr/>
          <p:nvPr/>
        </p:nvSpPr>
        <p:spPr>
          <a:xfrm>
            <a:off x="1965960" y="33101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CyberArk, Okta, Azure AD</a:t>
            </a:r>
            <a:endParaRPr lang="en-US" sz="950" dirty="0"/>
          </a:p>
        </p:txBody>
      </p:sp>
      <p:sp>
        <p:nvSpPr>
          <p:cNvPr id="25" name="Text 23"/>
          <p:cNvSpPr/>
          <p:nvPr/>
        </p:nvSpPr>
        <p:spPr>
          <a:xfrm>
            <a:off x="5349240" y="3035808"/>
            <a:ext cx="333756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key masters.</a:t>
            </a:r>
            <a:endParaRPr lang="en-US" sz="1100" dirty="0"/>
          </a:p>
        </p:txBody>
      </p:sp>
      <p:sp>
        <p:nvSpPr>
          <p:cNvPr id="26" name="Text 24"/>
          <p:cNvSpPr/>
          <p:nvPr/>
        </p:nvSpPr>
        <p:spPr>
          <a:xfrm>
            <a:off x="5349240" y="33101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Control who gets access. Can’t verify network rules protecting those assets are correct.</a:t>
            </a:r>
            <a:endParaRPr lang="en-US" sz="1000" dirty="0"/>
          </a:p>
        </p:txBody>
      </p:sp>
      <p:sp>
        <p:nvSpPr>
          <p:cNvPr id="27" name="Shape 25"/>
          <p:cNvSpPr/>
          <p:nvPr/>
        </p:nvSpPr>
        <p:spPr>
          <a:xfrm>
            <a:off x="457200" y="3886200"/>
            <a:ext cx="8229600" cy="0"/>
          </a:xfrm>
          <a:prstGeom prst="line">
            <a:avLst/>
          </a:prstGeom>
          <a:noFill/>
          <a:ln w="6350">
            <a:solidFill>
              <a:srgbClr val="E8E8E8"/>
            </a:solidFill>
            <a:prstDash val="solid"/>
          </a:ln>
        </p:spPr>
      </p:sp>
      <p:sp>
        <p:nvSpPr>
          <p:cNvPr id="28" name="Shape 26"/>
          <p:cNvSpPr/>
          <p:nvPr/>
        </p:nvSpPr>
        <p:spPr>
          <a:xfrm>
            <a:off x="457200" y="3931920"/>
            <a:ext cx="54864" cy="822960"/>
          </a:xfrm>
          <a:prstGeom prst="rect">
            <a:avLst/>
          </a:prstGeom>
          <a:solidFill>
            <a:srgbClr val="185FA5"/>
          </a:solidFill>
          <a:ln/>
        </p:spPr>
      </p:sp>
      <p:sp>
        <p:nvSpPr>
          <p:cNvPr id="29" name="Shape 27"/>
          <p:cNvSpPr/>
          <p:nvPr/>
        </p:nvSpPr>
        <p:spPr>
          <a:xfrm>
            <a:off x="685800" y="3977640"/>
            <a:ext cx="1188720" cy="228600"/>
          </a:xfrm>
          <a:prstGeom prst="roundRect">
            <a:avLst>
              <a:gd name="adj" fmla="val 12000"/>
            </a:avLst>
          </a:prstGeom>
          <a:solidFill>
            <a:srgbClr val="185FA5"/>
          </a:solidFill>
          <a:ln/>
        </p:spPr>
      </p:sp>
      <p:sp>
        <p:nvSpPr>
          <p:cNvPr id="30" name="Text 28"/>
          <p:cNvSpPr/>
          <p:nvPr/>
        </p:nvSpPr>
        <p:spPr>
          <a:xfrm>
            <a:off x="685800" y="39776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CLOUD</a:t>
            </a:r>
            <a:endParaRPr lang="en-US" sz="800" dirty="0"/>
          </a:p>
        </p:txBody>
      </p:sp>
      <p:sp>
        <p:nvSpPr>
          <p:cNvPr id="31" name="Text 29"/>
          <p:cNvSpPr/>
          <p:nvPr/>
        </p:nvSpPr>
        <p:spPr>
          <a:xfrm>
            <a:off x="1965960" y="39502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ZTNA / CASB</a:t>
            </a:r>
            <a:endParaRPr lang="en-US" sz="1300" dirty="0"/>
          </a:p>
        </p:txBody>
      </p:sp>
      <p:sp>
        <p:nvSpPr>
          <p:cNvPr id="32" name="Text 30"/>
          <p:cNvSpPr/>
          <p:nvPr/>
        </p:nvSpPr>
        <p:spPr>
          <a:xfrm>
            <a:off x="1965960" y="42245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Zscaler, Netskope</a:t>
            </a:r>
            <a:endParaRPr lang="en-US" sz="950" dirty="0"/>
          </a:p>
        </p:txBody>
      </p:sp>
      <p:sp>
        <p:nvSpPr>
          <p:cNvPr id="33" name="Text 31"/>
          <p:cNvSpPr/>
          <p:nvPr/>
        </p:nvSpPr>
        <p:spPr>
          <a:xfrm>
            <a:off x="5349240" y="3950208"/>
            <a:ext cx="333756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cloud bouncers.</a:t>
            </a:r>
            <a:endParaRPr lang="en-US" sz="1100" dirty="0"/>
          </a:p>
        </p:txBody>
      </p:sp>
      <p:sp>
        <p:nvSpPr>
          <p:cNvPr id="34" name="Text 32"/>
          <p:cNvSpPr/>
          <p:nvPr/>
        </p:nvSpPr>
        <p:spPr>
          <a:xfrm>
            <a:off x="5349240" y="42245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Enforce zero-trust policies. Trust that underlying configs are correct.</a:t>
            </a:r>
            <a:endParaRPr lang="en-US" sz="1000" dirty="0"/>
          </a:p>
        </p:txBody>
      </p:sp>
      <p:sp>
        <p:nvSpPr>
          <p:cNvPr id="35" name="Shape 33"/>
          <p:cNvSpPr/>
          <p:nvPr/>
        </p:nvSpPr>
        <p:spPr>
          <a:xfrm>
            <a:off x="457200" y="4800600"/>
            <a:ext cx="8229600" cy="0"/>
          </a:xfrm>
          <a:prstGeom prst="line">
            <a:avLst/>
          </a:prstGeom>
          <a:noFill/>
          <a:ln w="6350">
            <a:solidFill>
              <a:srgbClr val="E8E8E8"/>
            </a:solidFill>
            <a:prstDash val="solid"/>
          </a:ln>
        </p:spPr>
      </p:sp>
      <p:sp>
        <p:nvSpPr>
          <p:cNvPr id="36" name="Shape 34"/>
          <p:cNvSpPr/>
          <p:nvPr/>
        </p:nvSpPr>
        <p:spPr>
          <a:xfrm>
            <a:off x="457200" y="4846320"/>
            <a:ext cx="54864" cy="822960"/>
          </a:xfrm>
          <a:prstGeom prst="rect">
            <a:avLst/>
          </a:prstGeom>
          <a:solidFill>
            <a:srgbClr val="185FA5"/>
          </a:solidFill>
          <a:ln/>
        </p:spPr>
      </p:sp>
      <p:sp>
        <p:nvSpPr>
          <p:cNvPr id="37" name="Shape 35"/>
          <p:cNvSpPr/>
          <p:nvPr/>
        </p:nvSpPr>
        <p:spPr>
          <a:xfrm>
            <a:off x="685800" y="4892040"/>
            <a:ext cx="1188720" cy="228600"/>
          </a:xfrm>
          <a:prstGeom prst="roundRect">
            <a:avLst>
              <a:gd name="adj" fmla="val 12000"/>
            </a:avLst>
          </a:prstGeom>
          <a:solidFill>
            <a:srgbClr val="185FA5"/>
          </a:solidFill>
          <a:ln/>
        </p:spPr>
      </p:sp>
      <p:sp>
        <p:nvSpPr>
          <p:cNvPr id="38" name="Text 36"/>
          <p:cNvSpPr/>
          <p:nvPr/>
        </p:nvSpPr>
        <p:spPr>
          <a:xfrm>
            <a:off x="685800" y="48920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DATA</a:t>
            </a:r>
            <a:endParaRPr lang="en-US" sz="800" dirty="0"/>
          </a:p>
        </p:txBody>
      </p:sp>
      <p:sp>
        <p:nvSpPr>
          <p:cNvPr id="39" name="Text 37"/>
          <p:cNvSpPr/>
          <p:nvPr/>
        </p:nvSpPr>
        <p:spPr>
          <a:xfrm>
            <a:off x="1965960" y="48646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DLP</a:t>
            </a:r>
            <a:endParaRPr lang="en-US" sz="1300" dirty="0"/>
          </a:p>
        </p:txBody>
      </p:sp>
      <p:sp>
        <p:nvSpPr>
          <p:cNvPr id="40" name="Text 38"/>
          <p:cNvSpPr/>
          <p:nvPr/>
        </p:nvSpPr>
        <p:spPr>
          <a:xfrm>
            <a:off x="1965960" y="51389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Symantec, Forcepoint</a:t>
            </a:r>
            <a:endParaRPr lang="en-US" sz="950" dirty="0"/>
          </a:p>
        </p:txBody>
      </p:sp>
      <p:sp>
        <p:nvSpPr>
          <p:cNvPr id="41" name="Text 39"/>
          <p:cNvSpPr/>
          <p:nvPr/>
        </p:nvSpPr>
        <p:spPr>
          <a:xfrm>
            <a:off x="5349240" y="4864608"/>
            <a:ext cx="3337560" cy="256032"/>
          </a:xfrm>
          <a:prstGeom prst="rect">
            <a:avLst/>
          </a:prstGeom>
          <a:noFill/>
          <a:ln/>
        </p:spPr>
        <p:txBody>
          <a:bodyPr wrap="square" lIns="0" tIns="0" rIns="0" bIns="0" rtlCol="0" anchor="ctr"/>
          <a:lstStyle/>
          <a:p>
            <a:pPr indent="0" marL="0">
              <a:buNone/>
            </a:pPr>
            <a:r>
              <a:rPr lang="en-US" sz="1100" b="1" i="1" dirty="0">
                <a:solidFill>
                  <a:srgbClr val="185FA5"/>
                </a:solidFill>
                <a:latin typeface="Arial" pitchFamily="34" charset="0"/>
                <a:ea typeface="Arial" pitchFamily="34" charset="-122"/>
                <a:cs typeface="Arial" pitchFamily="34" charset="-120"/>
              </a:rPr>
              <a:t>The exit guards.</a:t>
            </a:r>
            <a:endParaRPr lang="en-US" sz="1100" dirty="0"/>
          </a:p>
        </p:txBody>
      </p:sp>
      <p:sp>
        <p:nvSpPr>
          <p:cNvPr id="42" name="Text 40"/>
          <p:cNvSpPr/>
          <p:nvPr/>
        </p:nvSpPr>
        <p:spPr>
          <a:xfrm>
            <a:off x="5349240" y="51389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Watch for data leaving. Only catch predefined patterns after data is already moving.</a:t>
            </a:r>
            <a:endParaRPr lang="en-US" sz="1000" dirty="0"/>
          </a:p>
        </p:txBody>
      </p:sp>
      <p:sp>
        <p:nvSpPr>
          <p:cNvPr id="43" name="Shape 41"/>
          <p:cNvSpPr/>
          <p:nvPr/>
        </p:nvSpPr>
        <p:spPr>
          <a:xfrm>
            <a:off x="457200" y="5715000"/>
            <a:ext cx="8229600" cy="0"/>
          </a:xfrm>
          <a:prstGeom prst="line">
            <a:avLst/>
          </a:prstGeom>
          <a:noFill/>
          <a:ln w="6350">
            <a:solidFill>
              <a:srgbClr val="E8E8E8"/>
            </a:solidFill>
            <a:prstDash val="solid"/>
          </a:ln>
        </p:spPr>
      </p:sp>
      <p:sp>
        <p:nvSpPr>
          <p:cNvPr id="44" name="Shape 42"/>
          <p:cNvSpPr/>
          <p:nvPr/>
        </p:nvSpPr>
        <p:spPr>
          <a:xfrm>
            <a:off x="457200" y="5760720"/>
            <a:ext cx="54864" cy="822960"/>
          </a:xfrm>
          <a:prstGeom prst="rect">
            <a:avLst/>
          </a:prstGeom>
          <a:solidFill>
            <a:srgbClr val="BA7517"/>
          </a:solidFill>
          <a:ln/>
        </p:spPr>
      </p:sp>
      <p:sp>
        <p:nvSpPr>
          <p:cNvPr id="45" name="Shape 43"/>
          <p:cNvSpPr/>
          <p:nvPr/>
        </p:nvSpPr>
        <p:spPr>
          <a:xfrm>
            <a:off x="685800" y="5806440"/>
            <a:ext cx="1188720" cy="228600"/>
          </a:xfrm>
          <a:prstGeom prst="roundRect">
            <a:avLst>
              <a:gd name="adj" fmla="val 12000"/>
            </a:avLst>
          </a:prstGeom>
          <a:solidFill>
            <a:srgbClr val="BA7517"/>
          </a:solidFill>
          <a:ln/>
        </p:spPr>
      </p:sp>
      <p:sp>
        <p:nvSpPr>
          <p:cNvPr id="46" name="Text 44"/>
          <p:cNvSpPr/>
          <p:nvPr/>
        </p:nvSpPr>
        <p:spPr>
          <a:xfrm>
            <a:off x="685800" y="58064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ENDPOINT</a:t>
            </a:r>
            <a:endParaRPr lang="en-US" sz="800" dirty="0"/>
          </a:p>
        </p:txBody>
      </p:sp>
      <p:sp>
        <p:nvSpPr>
          <p:cNvPr id="47" name="Text 45"/>
          <p:cNvSpPr/>
          <p:nvPr/>
        </p:nvSpPr>
        <p:spPr>
          <a:xfrm>
            <a:off x="1965960" y="57790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EDR</a:t>
            </a:r>
            <a:endParaRPr lang="en-US" sz="1300" dirty="0"/>
          </a:p>
        </p:txBody>
      </p:sp>
      <p:sp>
        <p:nvSpPr>
          <p:cNvPr id="48" name="Text 46"/>
          <p:cNvSpPr/>
          <p:nvPr/>
        </p:nvSpPr>
        <p:spPr>
          <a:xfrm>
            <a:off x="1965960" y="60533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CrowdStrike, Defender</a:t>
            </a:r>
            <a:endParaRPr lang="en-US" sz="950" dirty="0"/>
          </a:p>
        </p:txBody>
      </p:sp>
      <p:sp>
        <p:nvSpPr>
          <p:cNvPr id="49" name="Text 47"/>
          <p:cNvSpPr/>
          <p:nvPr/>
        </p:nvSpPr>
        <p:spPr>
          <a:xfrm>
            <a:off x="5349240" y="5779008"/>
            <a:ext cx="3337560" cy="256032"/>
          </a:xfrm>
          <a:prstGeom prst="rect">
            <a:avLst/>
          </a:prstGeom>
          <a:noFill/>
          <a:ln/>
        </p:spPr>
        <p:txBody>
          <a:bodyPr wrap="square" lIns="0" tIns="0" rIns="0" bIns="0" rtlCol="0" anchor="ctr"/>
          <a:lstStyle/>
          <a:p>
            <a:pPr indent="0" marL="0">
              <a:buNone/>
            </a:pPr>
            <a:r>
              <a:rPr lang="en-US" sz="1100" b="1" i="1" dirty="0">
                <a:solidFill>
                  <a:srgbClr val="BA7517"/>
                </a:solidFill>
                <a:latin typeface="Arial" pitchFamily="34" charset="0"/>
                <a:ea typeface="Arial" pitchFamily="34" charset="-122"/>
                <a:cs typeface="Arial" pitchFamily="34" charset="-120"/>
              </a:rPr>
              <a:t>The internal bodyguards.</a:t>
            </a:r>
            <a:endParaRPr lang="en-US" sz="1100" dirty="0"/>
          </a:p>
        </p:txBody>
      </p:sp>
      <p:sp>
        <p:nvSpPr>
          <p:cNvPr id="50" name="Text 48"/>
          <p:cNvSpPr/>
          <p:nvPr/>
        </p:nvSpPr>
        <p:spPr>
          <a:xfrm>
            <a:off x="5349240" y="60533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Detect and kill malware on endpoints after attacker bypasses perimeter. Reactive by design.</a:t>
            </a:r>
            <a:endParaRPr lang="en-US" sz="1000" dirty="0"/>
          </a:p>
        </p:txBody>
      </p:sp>
      <p:sp>
        <p:nvSpPr>
          <p:cNvPr id="51" name="Shape 49"/>
          <p:cNvSpPr/>
          <p:nvPr/>
        </p:nvSpPr>
        <p:spPr>
          <a:xfrm>
            <a:off x="457200" y="6629400"/>
            <a:ext cx="8229600" cy="0"/>
          </a:xfrm>
          <a:prstGeom prst="line">
            <a:avLst/>
          </a:prstGeom>
          <a:noFill/>
          <a:ln w="6350">
            <a:solidFill>
              <a:srgbClr val="E8E8E8"/>
            </a:solidFill>
            <a:prstDash val="solid"/>
          </a:ln>
        </p:spPr>
      </p:sp>
      <p:sp>
        <p:nvSpPr>
          <p:cNvPr id="52" name="Shape 50"/>
          <p:cNvSpPr/>
          <p:nvPr/>
        </p:nvSpPr>
        <p:spPr>
          <a:xfrm>
            <a:off x="457200" y="6675120"/>
            <a:ext cx="54864" cy="822960"/>
          </a:xfrm>
          <a:prstGeom prst="rect">
            <a:avLst/>
          </a:prstGeom>
          <a:solidFill>
            <a:srgbClr val="BA7517"/>
          </a:solidFill>
          <a:ln/>
        </p:spPr>
      </p:sp>
      <p:sp>
        <p:nvSpPr>
          <p:cNvPr id="53" name="Shape 51"/>
          <p:cNvSpPr/>
          <p:nvPr/>
        </p:nvSpPr>
        <p:spPr>
          <a:xfrm>
            <a:off x="685800" y="6720840"/>
            <a:ext cx="1188720" cy="228600"/>
          </a:xfrm>
          <a:prstGeom prst="roundRect">
            <a:avLst>
              <a:gd name="adj" fmla="val 12000"/>
            </a:avLst>
          </a:prstGeom>
          <a:solidFill>
            <a:srgbClr val="BA7517"/>
          </a:solidFill>
          <a:ln/>
        </p:spPr>
      </p:sp>
      <p:sp>
        <p:nvSpPr>
          <p:cNvPr id="54" name="Text 52"/>
          <p:cNvSpPr/>
          <p:nvPr/>
        </p:nvSpPr>
        <p:spPr>
          <a:xfrm>
            <a:off x="685800" y="67208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NETWORK</a:t>
            </a:r>
            <a:endParaRPr lang="en-US" sz="800" dirty="0"/>
          </a:p>
        </p:txBody>
      </p:sp>
      <p:sp>
        <p:nvSpPr>
          <p:cNvPr id="55" name="Text 53"/>
          <p:cNvSpPr/>
          <p:nvPr/>
        </p:nvSpPr>
        <p:spPr>
          <a:xfrm>
            <a:off x="1965960" y="66934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NDR</a:t>
            </a:r>
            <a:endParaRPr lang="en-US" sz="1300" dirty="0"/>
          </a:p>
        </p:txBody>
      </p:sp>
      <p:sp>
        <p:nvSpPr>
          <p:cNvPr id="56" name="Text 54"/>
          <p:cNvSpPr/>
          <p:nvPr/>
        </p:nvSpPr>
        <p:spPr>
          <a:xfrm>
            <a:off x="1965960" y="69677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Darktrace, ExtraHop</a:t>
            </a:r>
            <a:endParaRPr lang="en-US" sz="950" dirty="0"/>
          </a:p>
        </p:txBody>
      </p:sp>
      <p:sp>
        <p:nvSpPr>
          <p:cNvPr id="57" name="Text 55"/>
          <p:cNvSpPr/>
          <p:nvPr/>
        </p:nvSpPr>
        <p:spPr>
          <a:xfrm>
            <a:off x="5349240" y="6693408"/>
            <a:ext cx="3337560" cy="256032"/>
          </a:xfrm>
          <a:prstGeom prst="rect">
            <a:avLst/>
          </a:prstGeom>
          <a:noFill/>
          <a:ln/>
        </p:spPr>
        <p:txBody>
          <a:bodyPr wrap="square" lIns="0" tIns="0" rIns="0" bIns="0" rtlCol="0" anchor="ctr"/>
          <a:lstStyle/>
          <a:p>
            <a:pPr indent="0" marL="0">
              <a:buNone/>
            </a:pPr>
            <a:r>
              <a:rPr lang="en-US" sz="1100" b="1" i="1" dirty="0">
                <a:solidFill>
                  <a:srgbClr val="BA7517"/>
                </a:solidFill>
                <a:latin typeface="Arial" pitchFamily="34" charset="0"/>
                <a:ea typeface="Arial" pitchFamily="34" charset="-122"/>
                <a:cs typeface="Arial" pitchFamily="34" charset="-120"/>
              </a:rPr>
              <a:t>The wire tappers.</a:t>
            </a:r>
            <a:endParaRPr lang="en-US" sz="1100" dirty="0"/>
          </a:p>
        </p:txBody>
      </p:sp>
      <p:sp>
        <p:nvSpPr>
          <p:cNvPr id="58" name="Text 56"/>
          <p:cNvSpPr/>
          <p:nvPr/>
        </p:nvSpPr>
        <p:spPr>
          <a:xfrm>
            <a:off x="5349240" y="69677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Monitor east-west traffic for anomalies. Effective but reactive — attacker already inside.</a:t>
            </a:r>
            <a:endParaRPr lang="en-US" sz="1000" dirty="0"/>
          </a:p>
        </p:txBody>
      </p:sp>
      <p:sp>
        <p:nvSpPr>
          <p:cNvPr id="59" name="Shape 57"/>
          <p:cNvSpPr/>
          <p:nvPr/>
        </p:nvSpPr>
        <p:spPr>
          <a:xfrm>
            <a:off x="457200" y="7543800"/>
            <a:ext cx="8229600" cy="0"/>
          </a:xfrm>
          <a:prstGeom prst="line">
            <a:avLst/>
          </a:prstGeom>
          <a:noFill/>
          <a:ln w="6350">
            <a:solidFill>
              <a:srgbClr val="E8E8E8"/>
            </a:solidFill>
            <a:prstDash val="solid"/>
          </a:ln>
        </p:spPr>
      </p:sp>
      <p:sp>
        <p:nvSpPr>
          <p:cNvPr id="60" name="Shape 58"/>
          <p:cNvSpPr/>
          <p:nvPr/>
        </p:nvSpPr>
        <p:spPr>
          <a:xfrm>
            <a:off x="457200" y="7589520"/>
            <a:ext cx="54864" cy="822960"/>
          </a:xfrm>
          <a:prstGeom prst="rect">
            <a:avLst/>
          </a:prstGeom>
          <a:solidFill>
            <a:srgbClr val="BA7517"/>
          </a:solidFill>
          <a:ln/>
        </p:spPr>
      </p:sp>
      <p:sp>
        <p:nvSpPr>
          <p:cNvPr id="61" name="Shape 59"/>
          <p:cNvSpPr/>
          <p:nvPr/>
        </p:nvSpPr>
        <p:spPr>
          <a:xfrm>
            <a:off x="685800" y="7635240"/>
            <a:ext cx="1188720" cy="228600"/>
          </a:xfrm>
          <a:prstGeom prst="roundRect">
            <a:avLst>
              <a:gd name="adj" fmla="val 12000"/>
            </a:avLst>
          </a:prstGeom>
          <a:solidFill>
            <a:srgbClr val="BA7517"/>
          </a:solidFill>
          <a:ln/>
        </p:spPr>
      </p:sp>
      <p:sp>
        <p:nvSpPr>
          <p:cNvPr id="62" name="Text 60"/>
          <p:cNvSpPr/>
          <p:nvPr/>
        </p:nvSpPr>
        <p:spPr>
          <a:xfrm>
            <a:off x="685800" y="76352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BEHAVIOR</a:t>
            </a:r>
            <a:endParaRPr lang="en-US" sz="800" dirty="0"/>
          </a:p>
        </p:txBody>
      </p:sp>
      <p:sp>
        <p:nvSpPr>
          <p:cNvPr id="63" name="Text 61"/>
          <p:cNvSpPr/>
          <p:nvPr/>
        </p:nvSpPr>
        <p:spPr>
          <a:xfrm>
            <a:off x="1965960" y="76078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UEBA</a:t>
            </a:r>
            <a:endParaRPr lang="en-US" sz="1300" dirty="0"/>
          </a:p>
        </p:txBody>
      </p:sp>
      <p:sp>
        <p:nvSpPr>
          <p:cNvPr id="64" name="Text 62"/>
          <p:cNvSpPr/>
          <p:nvPr/>
        </p:nvSpPr>
        <p:spPr>
          <a:xfrm>
            <a:off x="1965960" y="78821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Exabeam, Splunk UBA</a:t>
            </a:r>
            <a:endParaRPr lang="en-US" sz="950" dirty="0"/>
          </a:p>
        </p:txBody>
      </p:sp>
      <p:sp>
        <p:nvSpPr>
          <p:cNvPr id="65" name="Text 63"/>
          <p:cNvSpPr/>
          <p:nvPr/>
        </p:nvSpPr>
        <p:spPr>
          <a:xfrm>
            <a:off x="5349240" y="7607808"/>
            <a:ext cx="3337560" cy="256032"/>
          </a:xfrm>
          <a:prstGeom prst="rect">
            <a:avLst/>
          </a:prstGeom>
          <a:noFill/>
          <a:ln/>
        </p:spPr>
        <p:txBody>
          <a:bodyPr wrap="square" lIns="0" tIns="0" rIns="0" bIns="0" rtlCol="0" anchor="ctr"/>
          <a:lstStyle/>
          <a:p>
            <a:pPr indent="0" marL="0">
              <a:buNone/>
            </a:pPr>
            <a:r>
              <a:rPr lang="en-US" sz="1100" b="1" i="1" dirty="0">
                <a:solidFill>
                  <a:srgbClr val="BA7517"/>
                </a:solidFill>
                <a:latin typeface="Arial" pitchFamily="34" charset="0"/>
                <a:ea typeface="Arial" pitchFamily="34" charset="-122"/>
                <a:cs typeface="Arial" pitchFamily="34" charset="-120"/>
              </a:rPr>
              <a:t>The behavioral profilers.</a:t>
            </a:r>
            <a:endParaRPr lang="en-US" sz="1100" dirty="0"/>
          </a:p>
        </p:txBody>
      </p:sp>
      <p:sp>
        <p:nvSpPr>
          <p:cNvPr id="66" name="Text 64"/>
          <p:cNvSpPr/>
          <p:nvPr/>
        </p:nvSpPr>
        <p:spPr>
          <a:xfrm>
            <a:off x="5349240" y="78821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Flag behavioral deviations. Catches insider threats only after the anomaly occurs.</a:t>
            </a:r>
            <a:endParaRPr lang="en-US" sz="1000" dirty="0"/>
          </a:p>
        </p:txBody>
      </p:sp>
      <p:sp>
        <p:nvSpPr>
          <p:cNvPr id="67" name="Shape 65"/>
          <p:cNvSpPr/>
          <p:nvPr/>
        </p:nvSpPr>
        <p:spPr>
          <a:xfrm>
            <a:off x="457200" y="8458200"/>
            <a:ext cx="8229600" cy="0"/>
          </a:xfrm>
          <a:prstGeom prst="line">
            <a:avLst/>
          </a:prstGeom>
          <a:noFill/>
          <a:ln w="6350">
            <a:solidFill>
              <a:srgbClr val="E8E8E8"/>
            </a:solidFill>
            <a:prstDash val="solid"/>
          </a:ln>
        </p:spPr>
      </p:sp>
      <p:sp>
        <p:nvSpPr>
          <p:cNvPr id="68" name="Shape 66"/>
          <p:cNvSpPr/>
          <p:nvPr/>
        </p:nvSpPr>
        <p:spPr>
          <a:xfrm>
            <a:off x="457200" y="8503920"/>
            <a:ext cx="54864" cy="822960"/>
          </a:xfrm>
          <a:prstGeom prst="rect">
            <a:avLst/>
          </a:prstGeom>
          <a:solidFill>
            <a:srgbClr val="993C1D"/>
          </a:solidFill>
          <a:ln/>
        </p:spPr>
      </p:sp>
      <p:sp>
        <p:nvSpPr>
          <p:cNvPr id="69" name="Shape 67"/>
          <p:cNvSpPr/>
          <p:nvPr/>
        </p:nvSpPr>
        <p:spPr>
          <a:xfrm>
            <a:off x="685800" y="8549640"/>
            <a:ext cx="1188720" cy="228600"/>
          </a:xfrm>
          <a:prstGeom prst="roundRect">
            <a:avLst>
              <a:gd name="adj" fmla="val 12000"/>
            </a:avLst>
          </a:prstGeom>
          <a:solidFill>
            <a:srgbClr val="993C1D"/>
          </a:solidFill>
          <a:ln/>
        </p:spPr>
      </p:sp>
      <p:sp>
        <p:nvSpPr>
          <p:cNvPr id="70" name="Text 68"/>
          <p:cNvSpPr/>
          <p:nvPr/>
        </p:nvSpPr>
        <p:spPr>
          <a:xfrm>
            <a:off x="685800" y="85496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SOC</a:t>
            </a:r>
            <a:endParaRPr lang="en-US" sz="800" dirty="0"/>
          </a:p>
        </p:txBody>
      </p:sp>
      <p:sp>
        <p:nvSpPr>
          <p:cNvPr id="71" name="Text 69"/>
          <p:cNvSpPr/>
          <p:nvPr/>
        </p:nvSpPr>
        <p:spPr>
          <a:xfrm>
            <a:off x="1965960" y="85222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SIEM</a:t>
            </a:r>
            <a:endParaRPr lang="en-US" sz="1300" dirty="0"/>
          </a:p>
        </p:txBody>
      </p:sp>
      <p:sp>
        <p:nvSpPr>
          <p:cNvPr id="72" name="Text 70"/>
          <p:cNvSpPr/>
          <p:nvPr/>
        </p:nvSpPr>
        <p:spPr>
          <a:xfrm>
            <a:off x="1965960" y="87965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Splunk, Sentinel</a:t>
            </a:r>
            <a:endParaRPr lang="en-US" sz="950" dirty="0"/>
          </a:p>
        </p:txBody>
      </p:sp>
      <p:sp>
        <p:nvSpPr>
          <p:cNvPr id="73" name="Text 71"/>
          <p:cNvSpPr/>
          <p:nvPr/>
        </p:nvSpPr>
        <p:spPr>
          <a:xfrm>
            <a:off x="5349240" y="8522208"/>
            <a:ext cx="3337560" cy="256032"/>
          </a:xfrm>
          <a:prstGeom prst="rect">
            <a:avLst/>
          </a:prstGeom>
          <a:noFill/>
          <a:ln/>
        </p:spPr>
        <p:txBody>
          <a:bodyPr wrap="square" lIns="0" tIns="0" rIns="0" bIns="0" rtlCol="0" anchor="ctr"/>
          <a:lstStyle/>
          <a:p>
            <a:pPr indent="0" marL="0">
              <a:buNone/>
            </a:pPr>
            <a:r>
              <a:rPr lang="en-US" sz="1100" b="1" i="1" dirty="0">
                <a:solidFill>
                  <a:srgbClr val="993C1D"/>
                </a:solidFill>
                <a:latin typeface="Arial" pitchFamily="34" charset="0"/>
                <a:ea typeface="Arial" pitchFamily="34" charset="-122"/>
                <a:cs typeface="Arial" pitchFamily="34" charset="-120"/>
              </a:rPr>
              <a:t>The security cameras.</a:t>
            </a:r>
            <a:endParaRPr lang="en-US" sz="1100" dirty="0"/>
          </a:p>
        </p:txBody>
      </p:sp>
      <p:sp>
        <p:nvSpPr>
          <p:cNvPr id="74" name="Text 72"/>
          <p:cNvSpPr/>
          <p:nvPr/>
        </p:nvSpPr>
        <p:spPr>
          <a:xfrm>
            <a:off x="5349240" y="87965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Aggregate logs, trigger alerts. Reviewing footage of a crime already committed.</a:t>
            </a:r>
            <a:endParaRPr lang="en-US" sz="1000" dirty="0"/>
          </a:p>
        </p:txBody>
      </p:sp>
      <p:sp>
        <p:nvSpPr>
          <p:cNvPr id="75" name="Shape 73"/>
          <p:cNvSpPr/>
          <p:nvPr/>
        </p:nvSpPr>
        <p:spPr>
          <a:xfrm>
            <a:off x="457200" y="9372600"/>
            <a:ext cx="8229600" cy="0"/>
          </a:xfrm>
          <a:prstGeom prst="line">
            <a:avLst/>
          </a:prstGeom>
          <a:noFill/>
          <a:ln w="6350">
            <a:solidFill>
              <a:srgbClr val="E8E8E8"/>
            </a:solidFill>
            <a:prstDash val="solid"/>
          </a:ln>
        </p:spPr>
      </p:sp>
      <p:sp>
        <p:nvSpPr>
          <p:cNvPr id="76" name="Shape 74"/>
          <p:cNvSpPr/>
          <p:nvPr/>
        </p:nvSpPr>
        <p:spPr>
          <a:xfrm>
            <a:off x="457200" y="9418320"/>
            <a:ext cx="54864" cy="822960"/>
          </a:xfrm>
          <a:prstGeom prst="rect">
            <a:avLst/>
          </a:prstGeom>
          <a:solidFill>
            <a:srgbClr val="993C1D"/>
          </a:solidFill>
          <a:ln/>
        </p:spPr>
      </p:sp>
      <p:sp>
        <p:nvSpPr>
          <p:cNvPr id="77" name="Shape 75"/>
          <p:cNvSpPr/>
          <p:nvPr/>
        </p:nvSpPr>
        <p:spPr>
          <a:xfrm>
            <a:off x="685800" y="9464040"/>
            <a:ext cx="1188720" cy="228600"/>
          </a:xfrm>
          <a:prstGeom prst="roundRect">
            <a:avLst>
              <a:gd name="adj" fmla="val 12000"/>
            </a:avLst>
          </a:prstGeom>
          <a:solidFill>
            <a:srgbClr val="993C1D"/>
          </a:solidFill>
          <a:ln/>
        </p:spPr>
      </p:sp>
      <p:sp>
        <p:nvSpPr>
          <p:cNvPr id="78" name="Text 76"/>
          <p:cNvSpPr/>
          <p:nvPr/>
        </p:nvSpPr>
        <p:spPr>
          <a:xfrm>
            <a:off x="685800" y="9464040"/>
            <a:ext cx="11887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AUTOMATION</a:t>
            </a:r>
            <a:endParaRPr lang="en-US" sz="800" dirty="0"/>
          </a:p>
        </p:txBody>
      </p:sp>
      <p:sp>
        <p:nvSpPr>
          <p:cNvPr id="79" name="Text 77"/>
          <p:cNvSpPr/>
          <p:nvPr/>
        </p:nvSpPr>
        <p:spPr>
          <a:xfrm>
            <a:off x="1965960" y="9436608"/>
            <a:ext cx="329184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SOAR</a:t>
            </a:r>
            <a:endParaRPr lang="en-US" sz="1300" dirty="0"/>
          </a:p>
        </p:txBody>
      </p:sp>
      <p:sp>
        <p:nvSpPr>
          <p:cNvPr id="80" name="Text 78"/>
          <p:cNvSpPr/>
          <p:nvPr/>
        </p:nvSpPr>
        <p:spPr>
          <a:xfrm>
            <a:off x="1965960" y="9710928"/>
            <a:ext cx="3291840" cy="201168"/>
          </a:xfrm>
          <a:prstGeom prst="rect">
            <a:avLst/>
          </a:prstGeom>
          <a:noFill/>
          <a:ln/>
        </p:spPr>
        <p:txBody>
          <a:bodyPr wrap="square" lIns="0" tIns="0" rIns="0" bIns="0" rtlCol="0" anchor="ctr"/>
          <a:lstStyle/>
          <a:p>
            <a:pPr indent="0" marL="0">
              <a:buNone/>
            </a:pPr>
            <a:r>
              <a:rPr lang="en-US" sz="950" dirty="0">
                <a:solidFill>
                  <a:srgbClr val="888780"/>
                </a:solidFill>
                <a:latin typeface="Arial" pitchFamily="34" charset="0"/>
                <a:ea typeface="Arial" pitchFamily="34" charset="-122"/>
                <a:cs typeface="Arial" pitchFamily="34" charset="-120"/>
              </a:rPr>
              <a:t>XSOAR, Splunk SOAR</a:t>
            </a:r>
            <a:endParaRPr lang="en-US" sz="950" dirty="0"/>
          </a:p>
        </p:txBody>
      </p:sp>
      <p:sp>
        <p:nvSpPr>
          <p:cNvPr id="81" name="Text 79"/>
          <p:cNvSpPr/>
          <p:nvPr/>
        </p:nvSpPr>
        <p:spPr>
          <a:xfrm>
            <a:off x="5349240" y="9436608"/>
            <a:ext cx="3337560" cy="256032"/>
          </a:xfrm>
          <a:prstGeom prst="rect">
            <a:avLst/>
          </a:prstGeom>
          <a:noFill/>
          <a:ln/>
        </p:spPr>
        <p:txBody>
          <a:bodyPr wrap="square" lIns="0" tIns="0" rIns="0" bIns="0" rtlCol="0" anchor="ctr"/>
          <a:lstStyle/>
          <a:p>
            <a:pPr indent="0" marL="0">
              <a:buNone/>
            </a:pPr>
            <a:r>
              <a:rPr lang="en-US" sz="1100" b="1" i="1" dirty="0">
                <a:solidFill>
                  <a:srgbClr val="993C1D"/>
                </a:solidFill>
                <a:latin typeface="Arial" pitchFamily="34" charset="0"/>
                <a:ea typeface="Arial" pitchFamily="34" charset="-122"/>
                <a:cs typeface="Arial" pitchFamily="34" charset="-120"/>
              </a:rPr>
              <a:t>The autopilot.</a:t>
            </a:r>
            <a:endParaRPr lang="en-US" sz="1100" dirty="0"/>
          </a:p>
        </p:txBody>
      </p:sp>
      <p:sp>
        <p:nvSpPr>
          <p:cNvPr id="82" name="Text 80"/>
          <p:cNvSpPr/>
          <p:nvPr/>
        </p:nvSpPr>
        <p:spPr>
          <a:xfrm>
            <a:off x="5349240" y="9710928"/>
            <a:ext cx="3337560" cy="54864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Automate response playbooks. Still dependent on alerts from reactive tools.</a:t>
            </a:r>
            <a:endParaRPr lang="en-US" sz="1000" dirty="0"/>
          </a:p>
        </p:txBody>
      </p:sp>
      <p:sp>
        <p:nvSpPr>
          <p:cNvPr id="83" name="Shape 81"/>
          <p:cNvSpPr/>
          <p:nvPr/>
        </p:nvSpPr>
        <p:spPr>
          <a:xfrm>
            <a:off x="457200" y="10287000"/>
            <a:ext cx="8229600" cy="0"/>
          </a:xfrm>
          <a:prstGeom prst="line">
            <a:avLst/>
          </a:prstGeom>
          <a:noFill/>
          <a:ln w="6350">
            <a:solidFill>
              <a:srgbClr val="E8E8E8"/>
            </a:solidFill>
            <a:prstDash val="solid"/>
          </a:ln>
        </p:spPr>
      </p:sp>
      <p:sp>
        <p:nvSpPr>
          <p:cNvPr id="84" name="Shape 82"/>
          <p:cNvSpPr/>
          <p:nvPr/>
        </p:nvSpPr>
        <p:spPr>
          <a:xfrm>
            <a:off x="457200" y="10378440"/>
            <a:ext cx="8229600" cy="0"/>
          </a:xfrm>
          <a:prstGeom prst="line">
            <a:avLst/>
          </a:prstGeom>
          <a:noFill/>
          <a:ln w="19050">
            <a:solidFill>
              <a:srgbClr val="1D9E75"/>
            </a:solidFill>
            <a:prstDash val="solid"/>
          </a:ln>
        </p:spPr>
      </p:sp>
      <p:sp>
        <p:nvSpPr>
          <p:cNvPr id="85" name="Shape 83"/>
          <p:cNvSpPr/>
          <p:nvPr/>
        </p:nvSpPr>
        <p:spPr>
          <a:xfrm>
            <a:off x="457200" y="10515600"/>
            <a:ext cx="8229600" cy="914400"/>
          </a:xfrm>
          <a:prstGeom prst="roundRect">
            <a:avLst>
              <a:gd name="adj" fmla="val 10000"/>
            </a:avLst>
          </a:prstGeom>
          <a:solidFill>
            <a:srgbClr val="E1F5EE"/>
          </a:solidFill>
          <a:ln w="12700">
            <a:solidFill>
              <a:srgbClr val="1D9E75"/>
            </a:solidFill>
            <a:prstDash val="solid"/>
          </a:ln>
        </p:spPr>
      </p:sp>
      <p:sp>
        <p:nvSpPr>
          <p:cNvPr id="86" name="Shape 84"/>
          <p:cNvSpPr/>
          <p:nvPr/>
        </p:nvSpPr>
        <p:spPr>
          <a:xfrm>
            <a:off x="457200" y="10515600"/>
            <a:ext cx="73152" cy="914400"/>
          </a:xfrm>
          <a:prstGeom prst="rect">
            <a:avLst/>
          </a:prstGeom>
          <a:solidFill>
            <a:srgbClr val="1D9E75"/>
          </a:solidFill>
          <a:ln/>
        </p:spPr>
      </p:sp>
      <p:sp>
        <p:nvSpPr>
          <p:cNvPr id="87" name="Shape 85"/>
          <p:cNvSpPr/>
          <p:nvPr/>
        </p:nvSpPr>
        <p:spPr>
          <a:xfrm>
            <a:off x="685800" y="10607040"/>
            <a:ext cx="1188720" cy="256032"/>
          </a:xfrm>
          <a:prstGeom prst="roundRect">
            <a:avLst>
              <a:gd name="adj" fmla="val 10714"/>
            </a:avLst>
          </a:prstGeom>
          <a:solidFill>
            <a:srgbClr val="1D9E75"/>
          </a:solidFill>
          <a:ln/>
        </p:spPr>
      </p:sp>
      <p:sp>
        <p:nvSpPr>
          <p:cNvPr id="88" name="Text 86"/>
          <p:cNvSpPr/>
          <p:nvPr/>
        </p:nvSpPr>
        <p:spPr>
          <a:xfrm>
            <a:off x="685800" y="106070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PREEMPTIVE</a:t>
            </a:r>
            <a:endParaRPr lang="en-US" sz="800" dirty="0"/>
          </a:p>
        </p:txBody>
      </p:sp>
      <p:sp>
        <p:nvSpPr>
          <p:cNvPr id="89" name="Text 87"/>
          <p:cNvSpPr/>
          <p:nvPr/>
        </p:nvSpPr>
        <p:spPr>
          <a:xfrm>
            <a:off x="1965960" y="10588752"/>
            <a:ext cx="3291840" cy="274320"/>
          </a:xfrm>
          <a:prstGeom prst="rect">
            <a:avLst/>
          </a:prstGeom>
          <a:noFill/>
          <a:ln/>
        </p:spPr>
        <p:txBody>
          <a:bodyPr wrap="square" lIns="0" tIns="0" rIns="0" bIns="0" rtlCol="0" anchor="ctr"/>
          <a:lstStyle/>
          <a:p>
            <a:pPr indent="0" marL="0">
              <a:buNone/>
            </a:pPr>
            <a:r>
              <a:rPr lang="en-US" sz="1500" b="1" dirty="0">
                <a:solidFill>
                  <a:srgbClr val="085041"/>
                </a:solidFill>
                <a:latin typeface="Arial" pitchFamily="34" charset="0"/>
                <a:ea typeface="Arial" pitchFamily="34" charset="-122"/>
                <a:cs typeface="Arial" pitchFamily="34" charset="-120"/>
              </a:rPr>
              <a:t>Our platform</a:t>
            </a:r>
            <a:endParaRPr lang="en-US" sz="1500" dirty="0"/>
          </a:p>
        </p:txBody>
      </p:sp>
      <p:sp>
        <p:nvSpPr>
          <p:cNvPr id="90" name="Text 88"/>
          <p:cNvSpPr/>
          <p:nvPr/>
        </p:nvSpPr>
        <p:spPr>
          <a:xfrm>
            <a:off x="1965960" y="10899648"/>
            <a:ext cx="3291840" cy="201168"/>
          </a:xfrm>
          <a:prstGeom prst="rect">
            <a:avLst/>
          </a:prstGeom>
          <a:noFill/>
          <a:ln/>
        </p:spPr>
        <p:txBody>
          <a:bodyPr wrap="square" lIns="0" tIns="0" rIns="0" bIns="0" rtlCol="0" anchor="ctr"/>
          <a:lstStyle/>
          <a:p>
            <a:pPr indent="0" marL="0">
              <a:buNone/>
            </a:pPr>
            <a:r>
              <a:rPr lang="en-US" sz="1000" dirty="0">
                <a:solidFill>
                  <a:srgbClr val="0F6E56"/>
                </a:solidFill>
                <a:latin typeface="Arial" pitchFamily="34" charset="0"/>
                <a:ea typeface="Arial" pitchFamily="34" charset="-122"/>
                <a:cs typeface="Arial" pitchFamily="34" charset="-120"/>
              </a:rPr>
              <a:t>Formal mathematical verification</a:t>
            </a:r>
            <a:endParaRPr lang="en-US" sz="1000" dirty="0"/>
          </a:p>
        </p:txBody>
      </p:sp>
      <p:sp>
        <p:nvSpPr>
          <p:cNvPr id="91" name="Text 89"/>
          <p:cNvSpPr/>
          <p:nvPr/>
        </p:nvSpPr>
        <p:spPr>
          <a:xfrm>
            <a:off x="5349240" y="10588752"/>
            <a:ext cx="3337560" cy="274320"/>
          </a:xfrm>
          <a:prstGeom prst="rect">
            <a:avLst/>
          </a:prstGeom>
          <a:noFill/>
          <a:ln/>
        </p:spPr>
        <p:txBody>
          <a:bodyPr wrap="square" lIns="0" tIns="0" rIns="0" bIns="0" rtlCol="0" anchor="ctr"/>
          <a:lstStyle/>
          <a:p>
            <a:pPr indent="0" marL="0">
              <a:buNone/>
            </a:pPr>
            <a:r>
              <a:rPr lang="en-US" sz="1200" b="1" i="1" dirty="0">
                <a:solidFill>
                  <a:srgbClr val="1D9E75"/>
                </a:solidFill>
                <a:latin typeface="Arial" pitchFamily="34" charset="0"/>
                <a:ea typeface="Arial" pitchFamily="34" charset="-122"/>
                <a:cs typeface="Arial" pitchFamily="34" charset="-120"/>
              </a:rPr>
              <a:t>The master architect.</a:t>
            </a:r>
            <a:endParaRPr lang="en-US" sz="1200" dirty="0"/>
          </a:p>
        </p:txBody>
      </p:sp>
      <p:sp>
        <p:nvSpPr>
          <p:cNvPr id="92" name="Text 90"/>
          <p:cNvSpPr/>
          <p:nvPr/>
        </p:nvSpPr>
        <p:spPr>
          <a:xfrm>
            <a:off x="5349240" y="10881360"/>
            <a:ext cx="3337560" cy="502920"/>
          </a:xfrm>
          <a:prstGeom prst="rect">
            <a:avLst/>
          </a:prstGeom>
          <a:noFill/>
          <a:ln/>
        </p:spPr>
        <p:txBody>
          <a:bodyPr wrap="square" lIns="0" tIns="0" rIns="0" bIns="0" rtlCol="0" anchor="ctr"/>
          <a:lstStyle/>
          <a:p>
            <a:pPr indent="0" marL="0">
              <a:buNone/>
            </a:pPr>
            <a:r>
              <a:rPr lang="en-US" sz="1000" dirty="0">
                <a:solidFill>
                  <a:srgbClr val="0F6E56"/>
                </a:solidFill>
                <a:latin typeface="Arial" pitchFamily="34" charset="0"/>
                <a:ea typeface="Arial" pitchFamily="34" charset="-122"/>
                <a:cs typeface="Arial" pitchFamily="34" charset="-120"/>
              </a:rPr>
              <a:t>Mathematically proves configs are correct before traffic flows. Zero false positives.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Appendix: Sources &amp; data verification</a:t>
            </a:r>
            <a:endParaRPr lang="en-US" sz="2400" dirty="0"/>
          </a:p>
        </p:txBody>
      </p:sp>
      <p:sp>
        <p:nvSpPr>
          <p:cNvPr id="3" name="Text 1"/>
          <p:cNvSpPr/>
          <p:nvPr/>
        </p:nvSpPr>
        <p:spPr>
          <a:xfrm>
            <a:off x="457200" y="731520"/>
            <a:ext cx="8229600" cy="274320"/>
          </a:xfrm>
          <a:prstGeom prst="rect">
            <a:avLst/>
          </a:prstGeom>
          <a:noFill/>
          <a:ln/>
        </p:spPr>
        <p:txBody>
          <a:bodyPr wrap="square" lIns="0" tIns="0" rIns="0" bIns="0" rtlCol="0" anchor="ctr"/>
          <a:lstStyle/>
          <a:p>
            <a:pPr indent="0" marL="0">
              <a:buNone/>
            </a:pPr>
            <a:r>
              <a:rPr lang="en-US" sz="1200" dirty="0">
                <a:solidFill>
                  <a:srgbClr val="888780"/>
                </a:solidFill>
                <a:latin typeface="Arial" pitchFamily="34" charset="0"/>
                <a:ea typeface="Arial" pitchFamily="34" charset="-122"/>
                <a:cs typeface="Arial" pitchFamily="34" charset="-120"/>
              </a:rPr>
              <a:t>All statistics sourced from published industry research</a:t>
            </a:r>
            <a:endParaRPr lang="en-US" sz="1200" dirty="0"/>
          </a:p>
        </p:txBody>
      </p:sp>
      <p:sp>
        <p:nvSpPr>
          <p:cNvPr id="4" name="Shape 2"/>
          <p:cNvSpPr/>
          <p:nvPr/>
        </p:nvSpPr>
        <p:spPr>
          <a:xfrm>
            <a:off x="457200" y="1234440"/>
            <a:ext cx="8229600" cy="0"/>
          </a:xfrm>
          <a:prstGeom prst="line">
            <a:avLst/>
          </a:prstGeom>
          <a:noFill/>
          <a:ln w="6350">
            <a:solidFill>
              <a:srgbClr val="D3D1C7"/>
            </a:solidFill>
            <a:prstDash val="solid"/>
          </a:ln>
        </p:spPr>
      </p:sp>
      <p:sp>
        <p:nvSpPr>
          <p:cNvPr id="5" name="Text 3"/>
          <p:cNvSpPr/>
          <p:nvPr/>
        </p:nvSpPr>
        <p:spPr>
          <a:xfrm>
            <a:off x="457200" y="141732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¹  99% of firewall breaches caused by misconfiguration</a:t>
            </a:r>
            <a:endParaRPr lang="en-US" sz="1200" dirty="0"/>
          </a:p>
        </p:txBody>
      </p:sp>
      <p:sp>
        <p:nvSpPr>
          <p:cNvPr id="6" name="Text 4"/>
          <p:cNvSpPr/>
          <p:nvPr/>
        </p:nvSpPr>
        <p:spPr>
          <a:xfrm>
            <a:off x="457200" y="164592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Gartner predicted through 2023, 99% of firewall breaches will be caused by misconfigurations, not flaws. Widely cited by Palo Alto, Akamai, FireMon.</a:t>
            </a:r>
            <a:endParaRPr lang="en-US" sz="1000" dirty="0"/>
          </a:p>
        </p:txBody>
      </p:sp>
      <p:sp>
        <p:nvSpPr>
          <p:cNvPr id="7" name="Text 5"/>
          <p:cNvSpPr/>
          <p:nvPr/>
        </p:nvSpPr>
        <p:spPr>
          <a:xfrm>
            <a:off x="457200" y="205740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 Gartner, "Technology Insight for Network Security Policy Management," Feb 2019</a:t>
            </a:r>
            <a:endParaRPr lang="en-US" sz="900" dirty="0"/>
          </a:p>
        </p:txBody>
      </p:sp>
      <p:sp>
        <p:nvSpPr>
          <p:cNvPr id="8" name="Shape 6"/>
          <p:cNvSpPr/>
          <p:nvPr/>
        </p:nvSpPr>
        <p:spPr>
          <a:xfrm>
            <a:off x="457200" y="2331720"/>
            <a:ext cx="8229600" cy="0"/>
          </a:xfrm>
          <a:prstGeom prst="line">
            <a:avLst/>
          </a:prstGeom>
          <a:noFill/>
          <a:ln w="6350">
            <a:solidFill>
              <a:srgbClr val="E8E8E8"/>
            </a:solidFill>
            <a:prstDash val="solid"/>
          </a:ln>
        </p:spPr>
      </p:sp>
      <p:sp>
        <p:nvSpPr>
          <p:cNvPr id="9" name="Text 7"/>
          <p:cNvSpPr/>
          <p:nvPr/>
        </p:nvSpPr>
        <p:spPr>
          <a:xfrm>
            <a:off x="457200" y="246888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²  Vulnerability scanners address only the vulnerability-based fraction</a:t>
            </a:r>
            <a:endParaRPr lang="en-US" sz="1200" dirty="0"/>
          </a:p>
        </p:txBody>
      </p:sp>
      <p:sp>
        <p:nvSpPr>
          <p:cNvPr id="10" name="Text 8"/>
          <p:cNvSpPr/>
          <p:nvPr/>
        </p:nvSpPr>
        <p:spPr>
          <a:xfrm>
            <a:off x="457200" y="269748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CISA KEV catalog: ~1,200 entries vs 277,000+ total CVEs. Many attacks (credential theft, misconfiguration, social engineering) are not CVE-based.</a:t>
            </a:r>
            <a:endParaRPr lang="en-US" sz="1000" dirty="0"/>
          </a:p>
        </p:txBody>
      </p:sp>
      <p:sp>
        <p:nvSpPr>
          <p:cNvPr id="11" name="Text 9"/>
          <p:cNvSpPr/>
          <p:nvPr/>
        </p:nvSpPr>
        <p:spPr>
          <a:xfrm>
            <a:off x="457200" y="310896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Sources: CISA Known Exploited Vulnerabilities Catalog; Gartner (Sept 2025)</a:t>
            </a:r>
            <a:endParaRPr lang="en-US" sz="900" dirty="0"/>
          </a:p>
        </p:txBody>
      </p:sp>
      <p:sp>
        <p:nvSpPr>
          <p:cNvPr id="12" name="Shape 10"/>
          <p:cNvSpPr/>
          <p:nvPr/>
        </p:nvSpPr>
        <p:spPr>
          <a:xfrm>
            <a:off x="457200" y="3383280"/>
            <a:ext cx="8229600" cy="0"/>
          </a:xfrm>
          <a:prstGeom prst="line">
            <a:avLst/>
          </a:prstGeom>
          <a:noFill/>
          <a:ln w="6350">
            <a:solidFill>
              <a:srgbClr val="E8E8E8"/>
            </a:solidFill>
            <a:prstDash val="solid"/>
          </a:ln>
        </p:spPr>
      </p:sp>
      <p:sp>
        <p:nvSpPr>
          <p:cNvPr id="13" name="Text 11"/>
          <p:cNvSpPr/>
          <p:nvPr/>
        </p:nvSpPr>
        <p:spPr>
          <a:xfrm>
            <a:off x="457200" y="352044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³  Average breakout time: 29 minutes (fastest: 27 seconds)</a:t>
            </a:r>
            <a:endParaRPr lang="en-US" sz="1200" dirty="0"/>
          </a:p>
        </p:txBody>
      </p:sp>
      <p:sp>
        <p:nvSpPr>
          <p:cNvPr id="14" name="Text 12"/>
          <p:cNvSpPr/>
          <p:nvPr/>
        </p:nvSpPr>
        <p:spPr>
          <a:xfrm>
            <a:off x="457200" y="374904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Average eCrime breakout fell to 29 min in 2025, down from 48 min (2024), 62 min (2023), 84 min (2022). Data exfiltration observed within 4 minutes of access.</a:t>
            </a:r>
            <a:endParaRPr lang="en-US" sz="1000" dirty="0"/>
          </a:p>
        </p:txBody>
      </p:sp>
      <p:sp>
        <p:nvSpPr>
          <p:cNvPr id="15" name="Text 13"/>
          <p:cNvSpPr/>
          <p:nvPr/>
        </p:nvSpPr>
        <p:spPr>
          <a:xfrm>
            <a:off x="457200" y="416052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 CrowdStrike 2026 Global Threat Report, published February 2026</a:t>
            </a:r>
            <a:endParaRPr lang="en-US" sz="900" dirty="0"/>
          </a:p>
        </p:txBody>
      </p:sp>
      <p:sp>
        <p:nvSpPr>
          <p:cNvPr id="16" name="Shape 14"/>
          <p:cNvSpPr/>
          <p:nvPr/>
        </p:nvSpPr>
        <p:spPr>
          <a:xfrm>
            <a:off x="457200" y="4434840"/>
            <a:ext cx="8229600" cy="0"/>
          </a:xfrm>
          <a:prstGeom prst="line">
            <a:avLst/>
          </a:prstGeom>
          <a:noFill/>
          <a:ln w="6350">
            <a:solidFill>
              <a:srgbClr val="E8E8E8"/>
            </a:solidFill>
            <a:prstDash val="solid"/>
          </a:ln>
        </p:spPr>
      </p:sp>
      <p:sp>
        <p:nvSpPr>
          <p:cNvPr id="17" name="Text 15"/>
          <p:cNvSpPr/>
          <p:nvPr/>
        </p:nvSpPr>
        <p:spPr>
          <a:xfrm>
            <a:off x="457200" y="457200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⁴  50% of IT security spending on preemptive cybersecurity by 2030</a:t>
            </a:r>
            <a:endParaRPr lang="en-US" sz="1200" dirty="0"/>
          </a:p>
        </p:txBody>
      </p:sp>
      <p:sp>
        <p:nvSpPr>
          <p:cNvPr id="18" name="Text 16"/>
          <p:cNvSpPr/>
          <p:nvPr/>
        </p:nvSpPr>
        <p:spPr>
          <a:xfrm>
            <a:off x="457200" y="480060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Gartner projects preemptive cybersecurity solutions will account for 50% of IT security spending by 2030, up from &lt;5% in 2024, replacing standalone detection and response.</a:t>
            </a:r>
            <a:endParaRPr lang="en-US" sz="1000" dirty="0"/>
          </a:p>
        </p:txBody>
      </p:sp>
      <p:sp>
        <p:nvSpPr>
          <p:cNvPr id="19" name="Text 17"/>
          <p:cNvSpPr/>
          <p:nvPr/>
        </p:nvSpPr>
        <p:spPr>
          <a:xfrm>
            <a:off x="457200" y="521208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 Gartner Press Release, September 18, 2025</a:t>
            </a:r>
            <a:endParaRPr lang="en-US" sz="900" dirty="0"/>
          </a:p>
        </p:txBody>
      </p:sp>
      <p:sp>
        <p:nvSpPr>
          <p:cNvPr id="20" name="Shape 18"/>
          <p:cNvSpPr/>
          <p:nvPr/>
        </p:nvSpPr>
        <p:spPr>
          <a:xfrm>
            <a:off x="457200" y="5486400"/>
            <a:ext cx="8229600" cy="0"/>
          </a:xfrm>
          <a:prstGeom prst="line">
            <a:avLst/>
          </a:prstGeom>
          <a:noFill/>
          <a:ln w="6350">
            <a:solidFill>
              <a:srgbClr val="E8E8E8"/>
            </a:solidFill>
            <a:prstDash val="solid"/>
          </a:ln>
        </p:spPr>
      </p:sp>
      <p:sp>
        <p:nvSpPr>
          <p:cNvPr id="21" name="Text 19"/>
          <p:cNvSpPr/>
          <p:nvPr/>
        </p:nvSpPr>
        <p:spPr>
          <a:xfrm>
            <a:off x="457200" y="562356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⁵  60%+ of security incidents traced to misconfigured controls</a:t>
            </a:r>
            <a:endParaRPr lang="en-US" sz="1200" dirty="0"/>
          </a:p>
        </p:txBody>
      </p:sp>
      <p:sp>
        <p:nvSpPr>
          <p:cNvPr id="22" name="Text 20"/>
          <p:cNvSpPr/>
          <p:nvPr/>
        </p:nvSpPr>
        <p:spPr>
          <a:xfrm>
            <a:off x="457200" y="5852160"/>
            <a:ext cx="8229600" cy="411480"/>
          </a:xfrm>
          <a:prstGeom prst="rect">
            <a:avLst/>
          </a:prstGeom>
          <a:noFill/>
          <a:ln/>
        </p:spPr>
        <p:txBody>
          <a:bodyPr wrap="square" lIns="0" tIns="0" rIns="0" bIns="0" rtlCol="0" anchor="ctr"/>
          <a:lstStyle/>
          <a:p>
            <a:pPr indent="0" marL="0">
              <a:buNone/>
            </a:pPr>
            <a:r>
              <a:rPr lang="en-US" sz="1000" dirty="0">
                <a:solidFill>
                  <a:srgbClr val="444441"/>
                </a:solidFill>
                <a:latin typeface="Arial" pitchFamily="34" charset="0"/>
                <a:ea typeface="Arial" pitchFamily="34" charset="-122"/>
                <a:cs typeface="Arial" pitchFamily="34" charset="-120"/>
              </a:rPr>
              <a:t>Gartner predicts through 2029, more than 60% of security incidents will be traced to misconfigured controls. Verizon 2024 DBIR: 68% involved a non-malicious human element.</a:t>
            </a:r>
            <a:endParaRPr lang="en-US" sz="1000" dirty="0"/>
          </a:p>
        </p:txBody>
      </p:sp>
      <p:sp>
        <p:nvSpPr>
          <p:cNvPr id="23" name="Text 21"/>
          <p:cNvSpPr/>
          <p:nvPr/>
        </p:nvSpPr>
        <p:spPr>
          <a:xfrm>
            <a:off x="457200" y="6263640"/>
            <a:ext cx="8229600" cy="182880"/>
          </a:xfrm>
          <a:prstGeom prst="rect">
            <a:avLst/>
          </a:prstGeom>
          <a:noFill/>
          <a:ln/>
        </p:spPr>
        <p:txBody>
          <a:bodyPr wrap="square" lIns="0" tIns="0" rIns="0" bIns="0" rtlCol="0" anchor="ctr"/>
          <a:lstStyle/>
          <a:p>
            <a:pPr indent="0" marL="0">
              <a:buNone/>
            </a:pPr>
            <a:r>
              <a:rPr lang="en-US" sz="900" i="1" dirty="0">
                <a:solidFill>
                  <a:srgbClr val="888780"/>
                </a:solidFill>
                <a:latin typeface="Arial" pitchFamily="34" charset="0"/>
                <a:ea typeface="Arial" pitchFamily="34" charset="-122"/>
                <a:cs typeface="Arial" pitchFamily="34" charset="-120"/>
              </a:rPr>
              <a:t>Sources: Gartner, "Innovation Insight: ASCA," Aug 2024; Verizon 2024 DBIR</a:t>
            </a:r>
            <a:endParaRPr lang="en-US" sz="900" dirty="0"/>
          </a:p>
        </p:txBody>
      </p:sp>
      <p:sp>
        <p:nvSpPr>
          <p:cNvPr id="24" name="Shape 22"/>
          <p:cNvSpPr/>
          <p:nvPr/>
        </p:nvSpPr>
        <p:spPr>
          <a:xfrm>
            <a:off x="457200" y="6537960"/>
            <a:ext cx="8229600" cy="0"/>
          </a:xfrm>
          <a:prstGeom prst="line">
            <a:avLst/>
          </a:prstGeom>
          <a:noFill/>
          <a:ln w="6350">
            <a:solidFill>
              <a:srgbClr val="E8E8E8"/>
            </a:solidFill>
            <a:prstDash val="solid"/>
          </a:ln>
        </p:spPr>
      </p:sp>
      <p:sp>
        <p:nvSpPr>
          <p:cNvPr id="25" name="Text 23"/>
          <p:cNvSpPr/>
          <p:nvPr/>
        </p:nvSpPr>
        <p:spPr>
          <a:xfrm>
            <a:off x="457200" y="6675120"/>
            <a:ext cx="8229600" cy="228600"/>
          </a:xfrm>
          <a:prstGeom prst="rect">
            <a:avLst/>
          </a:prstGeom>
          <a:noFill/>
          <a:ln/>
        </p:spPr>
        <p:txBody>
          <a:bodyPr wrap="square" lIns="0" tIns="0" rIns="0" bIns="0" rtlCol="0" anchor="ctr"/>
          <a:lstStyle/>
          <a:p>
            <a:pPr indent="0" marL="0">
              <a:buNone/>
            </a:pPr>
            <a:r>
              <a:rPr lang="en-US" sz="1200" b="1" dirty="0">
                <a:solidFill>
                  <a:srgbClr val="0F6E56"/>
                </a:solidFill>
                <a:latin typeface="Arial" pitchFamily="34" charset="0"/>
                <a:ea typeface="Arial" pitchFamily="34" charset="-122"/>
                <a:cs typeface="Arial" pitchFamily="34" charset="-120"/>
              </a:rPr>
              <a:t>⁶  Additional referenced data points</a:t>
            </a:r>
            <a:endParaRPr lang="en-US" sz="1200" dirty="0"/>
          </a:p>
        </p:txBody>
      </p:sp>
      <p:sp>
        <p:nvSpPr>
          <p:cNvPr id="26" name="Text 24"/>
          <p:cNvSpPr/>
          <p:nvPr/>
        </p:nvSpPr>
        <p:spPr>
          <a:xfrm>
            <a:off x="457200" y="6903720"/>
            <a:ext cx="8229600" cy="731520"/>
          </a:xfrm>
          <a:prstGeom prst="rect">
            <a:avLst/>
          </a:prstGeom>
          <a:noFill/>
          <a:ln/>
        </p:spPr>
        <p:txBody>
          <a:bodyPr wrap="square" lIns="0" tIns="0" rIns="0" bIns="0" rtlCol="0" anchor="ctr"/>
          <a:lstStyle/>
          <a:p>
            <a:pPr indent="0" marL="0">
              <a:lnSpc>
                <a:spcPct val="130000"/>
              </a:lnSpc>
              <a:buNone/>
            </a:pPr>
            <a:r>
              <a:rPr lang="en-US" sz="950" dirty="0">
                <a:solidFill>
                  <a:srgbClr val="444441"/>
                </a:solidFill>
                <a:latin typeface="Arial" pitchFamily="34" charset="0"/>
                <a:ea typeface="Arial" pitchFamily="34" charset="-122"/>
                <a:cs typeface="Arial" pitchFamily="34" charset="-120"/>
              </a:rPr>
              <a:t>$10.5 trillion cybercrime cost (2025) — Cybersecurity Ventures</a:t>
            </a:r>
            <a:endParaRPr lang="en-US" sz="950" dirty="0"/>
          </a:p>
          <a:p>
            <a:pPr indent="0" marL="0">
              <a:lnSpc>
                <a:spcPct val="130000"/>
              </a:lnSpc>
              <a:buNone/>
            </a:pPr>
            <a:r>
              <a:rPr lang="en-US" sz="950" dirty="0">
                <a:solidFill>
                  <a:srgbClr val="444441"/>
                </a:solidFill>
                <a:latin typeface="Arial" pitchFamily="34" charset="0"/>
                <a:ea typeface="Arial" pitchFamily="34" charset="-122"/>
                <a:cs typeface="Arial" pitchFamily="34" charset="-120"/>
              </a:rPr>
              <a:t>202% cyberattack surge (credential phishing, 2024) — SlashNext Phishing Intelligence Report</a:t>
            </a:r>
            <a:endParaRPr lang="en-US" sz="950" dirty="0"/>
          </a:p>
          <a:p>
            <a:pPr indent="0" marL="0">
              <a:lnSpc>
                <a:spcPct val="130000"/>
              </a:lnSpc>
              <a:buNone/>
            </a:pPr>
            <a:r>
              <a:rPr lang="en-US" sz="950" dirty="0">
                <a:solidFill>
                  <a:srgbClr val="444441"/>
                </a:solidFill>
                <a:latin typeface="Arial" pitchFamily="34" charset="0"/>
                <a:ea typeface="Arial" pitchFamily="34" charset="-122"/>
                <a:cs typeface="Arial" pitchFamily="34" charset="-120"/>
              </a:rPr>
              <a:t>1M+ CVEs projected by 2030, up 300% from ~277K in 2025 — Gartner, Sept 2025</a:t>
            </a:r>
            <a:endParaRPr lang="en-US" sz="950" dirty="0"/>
          </a:p>
          <a:p>
            <a:pPr indent="0" marL="0">
              <a:lnSpc>
                <a:spcPct val="130000"/>
              </a:lnSpc>
              <a:buNone/>
            </a:pPr>
            <a:r>
              <a:rPr lang="en-US" sz="950" dirty="0">
                <a:solidFill>
                  <a:srgbClr val="444441"/>
                </a:solidFill>
                <a:latin typeface="Arial" pitchFamily="34" charset="0"/>
                <a:ea typeface="Arial" pitchFamily="34" charset="-122"/>
                <a:cs typeface="Arial" pitchFamily="34" charset="-120"/>
              </a:rPr>
              <a:t>82% of intrusions in 2025 were malware-free — CrowdStrike 2026 Global Threat Report</a:t>
            </a:r>
            <a:endParaRPr lang="en-US" sz="950" dirty="0"/>
          </a:p>
        </p:txBody>
      </p:sp>
      <p:sp>
        <p:nvSpPr>
          <p:cNvPr id="27" name="Shape 25"/>
          <p:cNvSpPr/>
          <p:nvPr/>
        </p:nvSpPr>
        <p:spPr>
          <a:xfrm>
            <a:off x="457200" y="7772400"/>
            <a:ext cx="8229600" cy="0"/>
          </a:xfrm>
          <a:prstGeom prst="line">
            <a:avLst/>
          </a:prstGeom>
          <a:noFill/>
          <a:ln w="6350">
            <a:solidFill>
              <a:srgbClr val="E8E8E8"/>
            </a:solidFill>
            <a:prstDash val="solid"/>
          </a:ln>
        </p:spPr>
      </p:sp>
      <p:sp>
        <p:nvSpPr>
          <p:cNvPr id="28" name="Shape 26"/>
          <p:cNvSpPr/>
          <p:nvPr/>
        </p:nvSpPr>
        <p:spPr>
          <a:xfrm>
            <a:off x="457200" y="7955280"/>
            <a:ext cx="8229600" cy="1005840"/>
          </a:xfrm>
          <a:prstGeom prst="roundRect">
            <a:avLst>
              <a:gd name="adj" fmla="val 9091"/>
            </a:avLst>
          </a:prstGeom>
          <a:solidFill>
            <a:srgbClr val="F9F9F6"/>
          </a:solidFill>
          <a:ln w="6350">
            <a:solidFill>
              <a:srgbClr val="D3D1C7"/>
            </a:solidFill>
            <a:prstDash val="solid"/>
          </a:ln>
        </p:spPr>
      </p:sp>
      <p:sp>
        <p:nvSpPr>
          <p:cNvPr id="29" name="Text 27"/>
          <p:cNvSpPr/>
          <p:nvPr/>
        </p:nvSpPr>
        <p:spPr>
          <a:xfrm>
            <a:off x="685800" y="8046720"/>
            <a:ext cx="7772400" cy="228600"/>
          </a:xfrm>
          <a:prstGeom prst="rect">
            <a:avLst/>
          </a:prstGeom>
          <a:noFill/>
          <a:ln/>
        </p:spPr>
        <p:txBody>
          <a:bodyPr wrap="square" lIns="0" tIns="0" rIns="0" bIns="0" rtlCol="0" anchor="ctr"/>
          <a:lstStyle/>
          <a:p>
            <a:pPr indent="0" marL="0">
              <a:buNone/>
            </a:pPr>
            <a:r>
              <a:rPr lang="en-US" sz="1100" b="1" dirty="0">
                <a:solidFill>
                  <a:srgbClr val="444441"/>
                </a:solidFill>
                <a:latin typeface="Arial" pitchFamily="34" charset="0"/>
                <a:ea typeface="Arial" pitchFamily="34" charset="-122"/>
                <a:cs typeface="Arial" pitchFamily="34" charset="-120"/>
              </a:rPr>
              <a:t>Note on the ~85/10/4/1% layer distribution</a:t>
            </a:r>
            <a:endParaRPr lang="en-US" sz="1100" dirty="0"/>
          </a:p>
        </p:txBody>
      </p:sp>
      <p:sp>
        <p:nvSpPr>
          <p:cNvPr id="30" name="Text 28"/>
          <p:cNvSpPr/>
          <p:nvPr/>
        </p:nvSpPr>
        <p:spPr>
          <a:xfrm>
            <a:off x="685800" y="8275320"/>
            <a:ext cx="7772400" cy="594360"/>
          </a:xfrm>
          <a:prstGeom prst="rect">
            <a:avLst/>
          </a:prstGeom>
          <a:noFill/>
          <a:ln/>
        </p:spPr>
        <p:txBody>
          <a:bodyPr wrap="square" lIns="0" tIns="0" rIns="0" bIns="0" rtlCol="0" anchor="ctr"/>
          <a:lstStyle/>
          <a:p>
            <a:pPr indent="0" marL="0">
              <a:buNone/>
            </a:pPr>
            <a:r>
              <a:rPr lang="en-US" sz="950" dirty="0">
                <a:solidFill>
                  <a:srgbClr val="5F5E5A"/>
                </a:solidFill>
                <a:latin typeface="Arial" pitchFamily="34" charset="0"/>
                <a:ea typeface="Arial" pitchFamily="34" charset="-122"/>
                <a:cs typeface="Arial" pitchFamily="34" charset="-120"/>
              </a:rPr>
              <a:t>Illustrative model derived from published data: Gartner 99% misconfiguration finding (Stage 1 dominance), limited CVE coverage (Stage 2), reactive nature of EDR/SIEM (Stages 3–4). The model is directionally grounded in research but exact ratios are illustrative.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22CT Cybersecurity Solutions</dc:title>
  <dc:subject>PptxGenJS Presentation</dc:subject>
  <dc:creator>PptxGenJS</dc:creator>
  <cp:lastModifiedBy>PptxGenJS</cp:lastModifiedBy>
  <cp:revision>1</cp:revision>
  <dcterms:created xsi:type="dcterms:W3CDTF">2026-04-17T16:25:09Z</dcterms:created>
  <dcterms:modified xsi:type="dcterms:W3CDTF">2026-04-17T16:25:09Z</dcterms:modified>
</cp:coreProperties>
</file>