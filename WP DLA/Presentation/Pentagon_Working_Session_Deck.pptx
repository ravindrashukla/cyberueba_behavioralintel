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9295" cy="6858000"/>
          </a:xfrm>
          <a:prstGeom prst="rect">
            <a:avLst/>
          </a:prstGeom>
          <a:solidFill>
            <a:srgbClr val="0C20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6766560" cy="1554480"/>
          </a:xfrm>
          <a:prstGeom prst="rect">
            <a:avLst/>
          </a:prstGeom>
          <a:noFill/>
        </p:spPr>
        <p:txBody>
          <a:bodyPr wrap="square" anchor="t">
            <a:spAutoFit/>
          </a:bodyPr>
          <a:lstStyle/>
          <a:p>
            <a:pPr algn="l"/>
            <a:r>
              <a:rPr sz="3300" b="1" i="0">
                <a:solidFill>
                  <a:srgbClr val="102A4C"/>
                </a:solidFill>
                <a:latin typeface="Segoe UI"/>
              </a:rPr>
              <a:t>Defense in Depth for the Age of AI-Enabled Attacks</a:t>
            </a:r>
          </a:p>
        </p:txBody>
      </p:sp>
      <p:sp>
        <p:nvSpPr>
          <p:cNvPr id="6" name="TextBox 5"/>
          <p:cNvSpPr txBox="1"/>
          <p:nvPr/>
        </p:nvSpPr>
        <p:spPr>
          <a:xfrm>
            <a:off x="640080" y="3063240"/>
            <a:ext cx="6766560" cy="548640"/>
          </a:xfrm>
          <a:prstGeom prst="rect">
            <a:avLst/>
          </a:prstGeom>
          <a:noFill/>
        </p:spPr>
        <p:txBody>
          <a:bodyPr wrap="square" anchor="t">
            <a:spAutoFit/>
          </a:bodyPr>
          <a:lstStyle/>
          <a:p>
            <a:pPr algn="l"/>
            <a:r>
              <a:rPr sz="1800" b="0" i="0">
                <a:solidFill>
                  <a:srgbClr val="1F5E9C"/>
                </a:solidFill>
                <a:latin typeface="Segoe UI"/>
              </a:rPr>
              <a:t>A Four-Layer Architecture under One MITRE Vocabulary</a:t>
            </a:r>
          </a:p>
        </p:txBody>
      </p:sp>
      <p:sp>
        <p:nvSpPr>
          <p:cNvPr id="7" name="TextBox 6"/>
          <p:cNvSpPr txBox="1"/>
          <p:nvPr/>
        </p:nvSpPr>
        <p:spPr>
          <a:xfrm>
            <a:off x="640080" y="3703320"/>
            <a:ext cx="6766560" cy="457200"/>
          </a:xfrm>
          <a:prstGeom prst="rect">
            <a:avLst/>
          </a:prstGeom>
          <a:noFill/>
        </p:spPr>
        <p:txBody>
          <a:bodyPr wrap="square" anchor="t">
            <a:spAutoFit/>
          </a:bodyPr>
          <a:lstStyle/>
          <a:p>
            <a:pPr algn="l"/>
            <a:r>
              <a:rPr sz="1400" b="0" i="0">
                <a:solidFill>
                  <a:srgbClr val="5E6A75"/>
                </a:solidFill>
                <a:latin typeface="Segoe UI"/>
              </a:rPr>
              <a:t>Army Cyber Working Session  |  In-Person Technical Deep-Dive</a:t>
            </a:r>
          </a:p>
        </p:txBody>
      </p:sp>
      <p:sp>
        <p:nvSpPr>
          <p:cNvPr id="8" name="Rectangle 7"/>
          <p:cNvSpPr/>
          <p:nvPr/>
        </p:nvSpPr>
        <p:spPr>
          <a:xfrm>
            <a:off x="640080" y="4343400"/>
            <a:ext cx="219456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120640"/>
            <a:ext cx="6766560" cy="457200"/>
          </a:xfrm>
          <a:prstGeom prst="rect">
            <a:avLst/>
          </a:prstGeom>
          <a:noFill/>
        </p:spPr>
        <p:txBody>
          <a:bodyPr wrap="square" anchor="t">
            <a:spAutoFit/>
          </a:bodyPr>
          <a:lstStyle/>
          <a:p>
            <a:pPr algn="l"/>
            <a:r>
              <a:rPr sz="1300" b="0" i="1">
                <a:solidFill>
                  <a:srgbClr val="102A4C"/>
                </a:solidFill>
                <a:latin typeface="Segoe UI"/>
              </a:rPr>
              <a:t>Prepared for U.S. Army and Pentagon Cyber Mission Defenders</a:t>
            </a:r>
          </a:p>
        </p:txBody>
      </p:sp>
      <p:sp>
        <p:nvSpPr>
          <p:cNvPr id="10" name="TextBox 9"/>
          <p:cNvSpPr txBox="1"/>
          <p:nvPr/>
        </p:nvSpPr>
        <p:spPr>
          <a:xfrm>
            <a:off x="640080" y="5577840"/>
            <a:ext cx="6766560" cy="365760"/>
          </a:xfrm>
          <a:prstGeom prst="rect">
            <a:avLst/>
          </a:prstGeom>
          <a:noFill/>
        </p:spPr>
        <p:txBody>
          <a:bodyPr wrap="square" anchor="t">
            <a:spAutoFit/>
          </a:bodyPr>
          <a:lstStyle/>
          <a:p>
            <a:pPr algn="l"/>
            <a:r>
              <a:rPr sz="1100" b="0" i="0">
                <a:solidFill>
                  <a:srgbClr val="5E6A75"/>
                </a:solidFill>
                <a:latin typeface="Segoe UI"/>
              </a:rPr>
              <a:t>V-Intelligence  |  22nd Century Technologies</a:t>
            </a:r>
          </a:p>
        </p:txBody>
      </p:sp>
      <p:sp>
        <p:nvSpPr>
          <p:cNvPr id="11" name="Rectangle 10"/>
          <p:cNvSpPr/>
          <p:nvPr/>
        </p:nvSpPr>
        <p:spPr>
          <a:xfrm>
            <a:off x="8229600" y="2011680"/>
            <a:ext cx="3017520" cy="731520"/>
          </a:xfrm>
          <a:prstGeom prst="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011680"/>
            <a:ext cx="2651760" cy="731520"/>
          </a:xfrm>
          <a:prstGeom prst="rect">
            <a:avLst/>
          </a:prstGeom>
          <a:noFill/>
        </p:spPr>
        <p:txBody>
          <a:bodyPr wrap="square" anchor="ctr">
            <a:spAutoFit/>
          </a:bodyPr>
          <a:lstStyle/>
          <a:p>
            <a:pPr algn="l"/>
            <a:r>
              <a:rPr sz="1500" b="1" i="0">
                <a:solidFill>
                  <a:srgbClr val="FFFFFF"/>
                </a:solidFill>
                <a:latin typeface="Segoe UI"/>
              </a:rPr>
              <a:t>One platform</a:t>
            </a:r>
          </a:p>
        </p:txBody>
      </p:sp>
      <p:sp>
        <p:nvSpPr>
          <p:cNvPr id="13" name="Rectangle 12"/>
          <p:cNvSpPr/>
          <p:nvPr/>
        </p:nvSpPr>
        <p:spPr>
          <a:xfrm>
            <a:off x="8229600" y="2971800"/>
            <a:ext cx="3017520" cy="731520"/>
          </a:xfrm>
          <a:prstGeom prst="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971800"/>
            <a:ext cx="2651760" cy="731520"/>
          </a:xfrm>
          <a:prstGeom prst="rect">
            <a:avLst/>
          </a:prstGeom>
          <a:noFill/>
        </p:spPr>
        <p:txBody>
          <a:bodyPr wrap="square" anchor="ctr">
            <a:spAutoFit/>
          </a:bodyPr>
          <a:lstStyle/>
          <a:p>
            <a:pPr algn="l"/>
            <a:r>
              <a:rPr sz="1500" b="1" i="0">
                <a:solidFill>
                  <a:srgbClr val="FFFFFF"/>
                </a:solidFill>
                <a:latin typeface="Segoe UI"/>
              </a:rPr>
              <a:t>Four layers</a:t>
            </a:r>
          </a:p>
        </p:txBody>
      </p:sp>
      <p:sp>
        <p:nvSpPr>
          <p:cNvPr id="15" name="Rectangle 14"/>
          <p:cNvSpPr/>
          <p:nvPr/>
        </p:nvSpPr>
        <p:spPr>
          <a:xfrm>
            <a:off x="8229600" y="3931920"/>
            <a:ext cx="3017520" cy="73152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3931920"/>
            <a:ext cx="2651760" cy="731520"/>
          </a:xfrm>
          <a:prstGeom prst="rect">
            <a:avLst/>
          </a:prstGeom>
          <a:noFill/>
        </p:spPr>
        <p:txBody>
          <a:bodyPr wrap="square" anchor="ctr">
            <a:spAutoFit/>
          </a:bodyPr>
          <a:lstStyle/>
          <a:p>
            <a:pPr algn="l"/>
            <a:r>
              <a:rPr sz="1500" b="1" i="0">
                <a:solidFill>
                  <a:srgbClr val="FFFFFF"/>
                </a:solidFill>
                <a:latin typeface="Segoe UI"/>
              </a:rPr>
              <a:t>Behavioral core: 0 FP</a:t>
            </a:r>
          </a:p>
        </p:txBody>
      </p:sp>
      <p:sp>
        <p:nvSpPr>
          <p:cNvPr id="17" name="Rectangle 16"/>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19" name="TextBox 18"/>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Who Is in the Room</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Three lenses we must satisfy in one session</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3657600" cy="420624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3657600" cy="822960"/>
          </a:xfrm>
          <a:prstGeom prst="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3291840" cy="640080"/>
          </a:xfrm>
          <a:prstGeom prst="rect">
            <a:avLst/>
          </a:prstGeom>
          <a:noFill/>
        </p:spPr>
        <p:txBody>
          <a:bodyPr wrap="square" anchor="ctr">
            <a:spAutoFit/>
          </a:bodyPr>
          <a:lstStyle/>
          <a:p>
            <a:pPr algn="l"/>
            <a:r>
              <a:rPr sz="1700" b="1" i="0">
                <a:solidFill>
                  <a:srgbClr val="FFFFFF"/>
                </a:solidFill>
                <a:latin typeface="Segoe UI"/>
              </a:rPr>
              <a:t>Dr. Judy Esquibel</a:t>
            </a:r>
          </a:p>
        </p:txBody>
      </p:sp>
      <p:sp>
        <p:nvSpPr>
          <p:cNvPr id="9" name="TextBox 8"/>
          <p:cNvSpPr txBox="1"/>
          <p:nvPr/>
        </p:nvSpPr>
        <p:spPr>
          <a:xfrm>
            <a:off x="640080" y="2286000"/>
            <a:ext cx="3291840" cy="457200"/>
          </a:xfrm>
          <a:prstGeom prst="rect">
            <a:avLst/>
          </a:prstGeom>
          <a:noFill/>
        </p:spPr>
        <p:txBody>
          <a:bodyPr wrap="square" anchor="t">
            <a:spAutoFit/>
          </a:bodyPr>
          <a:lstStyle/>
          <a:p>
            <a:pPr algn="l"/>
            <a:r>
              <a:rPr sz="1300" b="1" i="0">
                <a:solidFill>
                  <a:srgbClr val="102A4C"/>
                </a:solidFill>
                <a:latin typeface="Segoe UI"/>
              </a:rPr>
              <a:t>Senior Cyber Advisor, ARCYBER</a:t>
            </a:r>
          </a:p>
        </p:txBody>
      </p:sp>
      <p:sp>
        <p:nvSpPr>
          <p:cNvPr id="10" name="TextBox 9"/>
          <p:cNvSpPr txBox="1"/>
          <p:nvPr/>
        </p:nvSpPr>
        <p:spPr>
          <a:xfrm>
            <a:off x="640080" y="2834640"/>
            <a:ext cx="3291840" cy="2560320"/>
          </a:xfrm>
          <a:prstGeom prst="rect">
            <a:avLst/>
          </a:prstGeom>
          <a:noFill/>
        </p:spPr>
        <p:txBody>
          <a:bodyPr wrap="square" anchor="t">
            <a:spAutoFit/>
          </a:bodyPr>
          <a:lstStyle/>
          <a:p>
            <a:pPr algn="l"/>
            <a:r>
              <a:rPr sz="1300" b="0" i="0">
                <a:solidFill>
                  <a:srgbClr val="333333"/>
                </a:solidFill>
                <a:latin typeface="Segoe UI"/>
              </a:rPr>
              <a:t>Deeply technical operator. Detection fidelity, living-off-the-land, false-positive economics. Our toughest and most valuable seat.</a:t>
            </a:r>
          </a:p>
        </p:txBody>
      </p:sp>
      <p:sp>
        <p:nvSpPr>
          <p:cNvPr id="11" name="Rectangle 10"/>
          <p:cNvSpPr/>
          <p:nvPr/>
        </p:nvSpPr>
        <p:spPr>
          <a:xfrm>
            <a:off x="4361687" y="1371600"/>
            <a:ext cx="3657600" cy="420624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61687" y="1371600"/>
            <a:ext cx="3657600" cy="822960"/>
          </a:xfrm>
          <a:prstGeom prst="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7" y="1463040"/>
            <a:ext cx="3291840" cy="640080"/>
          </a:xfrm>
          <a:prstGeom prst="rect">
            <a:avLst/>
          </a:prstGeom>
          <a:noFill/>
        </p:spPr>
        <p:txBody>
          <a:bodyPr wrap="square" anchor="ctr">
            <a:spAutoFit/>
          </a:bodyPr>
          <a:lstStyle/>
          <a:p>
            <a:pPr algn="l"/>
            <a:r>
              <a:rPr sz="1700" b="1" i="0">
                <a:solidFill>
                  <a:srgbClr val="FFFFFF"/>
                </a:solidFill>
                <a:latin typeface="Segoe UI"/>
              </a:rPr>
              <a:t>LTC Micah DiGrezio</a:t>
            </a:r>
          </a:p>
        </p:txBody>
      </p:sp>
      <p:sp>
        <p:nvSpPr>
          <p:cNvPr id="14" name="TextBox 13"/>
          <p:cNvSpPr txBox="1"/>
          <p:nvPr/>
        </p:nvSpPr>
        <p:spPr>
          <a:xfrm>
            <a:off x="4544567" y="2286000"/>
            <a:ext cx="3291840" cy="457200"/>
          </a:xfrm>
          <a:prstGeom prst="rect">
            <a:avLst/>
          </a:prstGeom>
          <a:noFill/>
        </p:spPr>
        <p:txBody>
          <a:bodyPr wrap="square" anchor="t">
            <a:spAutoFit/>
          </a:bodyPr>
          <a:lstStyle/>
          <a:p>
            <a:pPr algn="l"/>
            <a:r>
              <a:rPr sz="1300" b="1" i="0">
                <a:solidFill>
                  <a:srgbClr val="102A4C"/>
                </a:solidFill>
                <a:latin typeface="Segoe UI"/>
              </a:rPr>
              <a:t>Army acquisition</a:t>
            </a:r>
          </a:p>
        </p:txBody>
      </p:sp>
      <p:sp>
        <p:nvSpPr>
          <p:cNvPr id="15" name="TextBox 14"/>
          <p:cNvSpPr txBox="1"/>
          <p:nvPr/>
        </p:nvSpPr>
        <p:spPr>
          <a:xfrm>
            <a:off x="4544567" y="2834640"/>
            <a:ext cx="3291840" cy="2560320"/>
          </a:xfrm>
          <a:prstGeom prst="rect">
            <a:avLst/>
          </a:prstGeom>
          <a:noFill/>
        </p:spPr>
        <p:txBody>
          <a:bodyPr wrap="square" anchor="t">
            <a:spAutoFit/>
          </a:bodyPr>
          <a:lstStyle/>
          <a:p>
            <a:pPr algn="l"/>
            <a:r>
              <a:rPr sz="1300" b="0" i="0">
                <a:solidFill>
                  <a:srgbClr val="333333"/>
                </a:solidFill>
                <a:latin typeface="Segoe UI"/>
              </a:rPr>
              <a:t>Can it be bought, integrated, fielded, sustained? Data, footprint, contract path.</a:t>
            </a:r>
          </a:p>
        </p:txBody>
      </p:sp>
      <p:sp>
        <p:nvSpPr>
          <p:cNvPr id="16" name="Rectangle 15"/>
          <p:cNvSpPr/>
          <p:nvPr/>
        </p:nvSpPr>
        <p:spPr>
          <a:xfrm>
            <a:off x="8266174" y="1371600"/>
            <a:ext cx="3657600" cy="420624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66174" y="1371600"/>
            <a:ext cx="3657600" cy="822960"/>
          </a:xfrm>
          <a:prstGeom prst="rect">
            <a:avLst/>
          </a:prstGeom>
          <a:solidFill>
            <a:srgbClr val="1A7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49054" y="1463040"/>
            <a:ext cx="3291840" cy="640080"/>
          </a:xfrm>
          <a:prstGeom prst="rect">
            <a:avLst/>
          </a:prstGeom>
          <a:noFill/>
        </p:spPr>
        <p:txBody>
          <a:bodyPr wrap="square" anchor="ctr">
            <a:spAutoFit/>
          </a:bodyPr>
          <a:lstStyle/>
          <a:p>
            <a:pPr algn="l"/>
            <a:r>
              <a:rPr sz="1700" b="1" i="0">
                <a:solidFill>
                  <a:srgbClr val="FFFFFF"/>
                </a:solidFill>
                <a:latin typeface="Segoe UI"/>
              </a:rPr>
              <a:t>Ms. Kellsie Herrmann</a:t>
            </a:r>
          </a:p>
        </p:txBody>
      </p:sp>
      <p:sp>
        <p:nvSpPr>
          <p:cNvPr id="19" name="TextBox 18"/>
          <p:cNvSpPr txBox="1"/>
          <p:nvPr/>
        </p:nvSpPr>
        <p:spPr>
          <a:xfrm>
            <a:off x="8449054" y="2286000"/>
            <a:ext cx="3291840" cy="457200"/>
          </a:xfrm>
          <a:prstGeom prst="rect">
            <a:avLst/>
          </a:prstGeom>
          <a:noFill/>
        </p:spPr>
        <p:txBody>
          <a:bodyPr wrap="square" anchor="t">
            <a:spAutoFit/>
          </a:bodyPr>
          <a:lstStyle/>
          <a:p>
            <a:pPr algn="l"/>
            <a:r>
              <a:rPr sz="1300" b="1" i="0">
                <a:solidFill>
                  <a:srgbClr val="102A4C"/>
                </a:solidFill>
                <a:latin typeface="Segoe UI"/>
              </a:rPr>
              <a:t>Army cyber / technology policy</a:t>
            </a:r>
          </a:p>
        </p:txBody>
      </p:sp>
      <p:sp>
        <p:nvSpPr>
          <p:cNvPr id="20" name="TextBox 19"/>
          <p:cNvSpPr txBox="1"/>
          <p:nvPr/>
        </p:nvSpPr>
        <p:spPr>
          <a:xfrm>
            <a:off x="8449054" y="2834640"/>
            <a:ext cx="3291840" cy="2560320"/>
          </a:xfrm>
          <a:prstGeom prst="rect">
            <a:avLst/>
          </a:prstGeom>
          <a:noFill/>
        </p:spPr>
        <p:txBody>
          <a:bodyPr wrap="square" anchor="t">
            <a:spAutoFit/>
          </a:bodyPr>
          <a:lstStyle/>
          <a:p>
            <a:pPr algn="l"/>
            <a:r>
              <a:rPr sz="1300" b="0" i="0">
                <a:solidFill>
                  <a:srgbClr val="333333"/>
                </a:solidFill>
                <a:latin typeface="Segoe UI"/>
              </a:rPr>
              <a:t>Why it matters, authorities, readiness. The strategic significance she can carry upward.</a:t>
            </a:r>
          </a:p>
        </p:txBody>
      </p:sp>
      <p:sp>
        <p:nvSpPr>
          <p:cNvPr id="21" name="TextBox 20"/>
          <p:cNvSpPr txBox="1"/>
          <p:nvPr/>
        </p:nvSpPr>
        <p:spPr>
          <a:xfrm>
            <a:off x="457200" y="5486400"/>
            <a:ext cx="11247120" cy="822960"/>
          </a:xfrm>
          <a:prstGeom prst="rect">
            <a:avLst/>
          </a:prstGeom>
          <a:noFill/>
        </p:spPr>
        <p:txBody>
          <a:bodyPr wrap="square" anchor="t">
            <a:spAutoFit/>
          </a:bodyPr>
          <a:lstStyle/>
          <a:p>
            <a:pPr algn="l"/>
            <a:r>
              <a:rPr sz="1300" b="0" i="1">
                <a:solidFill>
                  <a:srgbClr val="5E6A75"/>
                </a:solidFill>
                <a:latin typeface="Segoe UI"/>
              </a:rPr>
              <a:t>Audience: the Army cyber enterprise, the office of the Army's Principal Cyber Advisor. A strong showing is a direct line to a bounded pilot on real Army data.</a:t>
            </a:r>
          </a:p>
        </p:txBody>
      </p:sp>
      <p:sp>
        <p:nvSpPr>
          <p:cNvPr id="22" name="Rectangle 21"/>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24" name="TextBox 23"/>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332720" cy="457200"/>
          </a:xfrm>
          <a:prstGeom prst="rect">
            <a:avLst/>
          </a:prstGeom>
          <a:noFill/>
        </p:spPr>
        <p:txBody>
          <a:bodyPr wrap="square" anchor="t">
            <a:spAutoFit/>
          </a:bodyPr>
          <a:lstStyle/>
          <a:p>
            <a:pPr algn="l"/>
            <a:r>
              <a:rPr sz="1600" b="1" i="0">
                <a:solidFill>
                  <a:srgbClr val="1F5E9C"/>
                </a:solidFill>
                <a:latin typeface="Segoe UI"/>
              </a:rPr>
              <a:t>THE THESIS WE ARE PROVING</a:t>
            </a:r>
          </a:p>
        </p:txBody>
      </p:sp>
      <p:sp>
        <p:nvSpPr>
          <p:cNvPr id="5" name="TextBox 4"/>
          <p:cNvSpPr txBox="1"/>
          <p:nvPr/>
        </p:nvSpPr>
        <p:spPr>
          <a:xfrm>
            <a:off x="914400" y="1920240"/>
            <a:ext cx="10332720" cy="2377440"/>
          </a:xfrm>
          <a:prstGeom prst="rect">
            <a:avLst/>
          </a:prstGeom>
          <a:noFill/>
        </p:spPr>
        <p:txBody>
          <a:bodyPr wrap="square" anchor="t">
            <a:spAutoFit/>
          </a:bodyPr>
          <a:lstStyle/>
          <a:p>
            <a:pPr algn="l"/>
            <a:r>
              <a:rPr sz="3200" b="1" i="0">
                <a:solidFill>
                  <a:srgbClr val="102A4C"/>
                </a:solidFill>
                <a:latin typeface="Segoe UI"/>
              </a:rPr>
              <a:t>No single tool stops a Volt or a Salt, because the adversary moves across the whole lifecycle on valid credentials.</a:t>
            </a:r>
          </a:p>
        </p:txBody>
      </p:sp>
      <p:sp>
        <p:nvSpPr>
          <p:cNvPr id="6" name="TextBox 5"/>
          <p:cNvSpPr txBox="1"/>
          <p:nvPr/>
        </p:nvSpPr>
        <p:spPr>
          <a:xfrm>
            <a:off x="914400" y="4114800"/>
            <a:ext cx="10332720" cy="1371600"/>
          </a:xfrm>
          <a:prstGeom prst="rect">
            <a:avLst/>
          </a:prstGeom>
          <a:noFill/>
        </p:spPr>
        <p:txBody>
          <a:bodyPr wrap="square" anchor="t">
            <a:spAutoFit/>
          </a:bodyPr>
          <a:lstStyle/>
          <a:p>
            <a:pPr algn="l"/>
            <a:r>
              <a:rPr sz="2200" b="1" i="0">
                <a:solidFill>
                  <a:srgbClr val="1A724E"/>
                </a:solidFill>
                <a:latin typeface="Segoe UI"/>
              </a:rPr>
              <a:t>We present one platform, four layers, one MITRE vocabulary, and the behavioral core runs live today.</a:t>
            </a:r>
          </a:p>
        </p:txBody>
      </p:sp>
      <p:sp>
        <p:nvSpPr>
          <p:cNvPr id="7" name="TextBox 6"/>
          <p:cNvSpPr txBox="1"/>
          <p:nvPr/>
        </p:nvSpPr>
        <p:spPr>
          <a:xfrm>
            <a:off x="914400" y="5577840"/>
            <a:ext cx="10332720" cy="457200"/>
          </a:xfrm>
          <a:prstGeom prst="rect">
            <a:avLst/>
          </a:prstGeom>
          <a:noFill/>
        </p:spPr>
        <p:txBody>
          <a:bodyPr wrap="square" anchor="t">
            <a:spAutoFit/>
          </a:bodyPr>
          <a:lstStyle/>
          <a:p>
            <a:pPr algn="l"/>
            <a:r>
              <a:rPr sz="1300" b="0" i="1">
                <a:solidFill>
                  <a:srgbClr val="5E6A75"/>
                </a:solidFill>
                <a:latin typeface="Segoe UI"/>
              </a:rPr>
              <a:t>Golden rule: national problem first, then architecture, then proof. Show what runs. Label roadmap, out loud.</a:t>
            </a:r>
          </a:p>
        </p:txBody>
      </p:sp>
      <p:sp>
        <p:nvSpPr>
          <p:cNvPr id="8" name="Rectangle 7"/>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10" name="TextBox 9"/>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Agenda</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In-person, half-day (~4.5 hours), one company, one platform</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11247120" cy="566928"/>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71600"/>
            <a:ext cx="548640" cy="566928"/>
          </a:xfrm>
          <a:prstGeom prst="rect">
            <a:avLst/>
          </a:prstGeom>
          <a:noFill/>
        </p:spPr>
        <p:txBody>
          <a:bodyPr wrap="square" anchor="ctr">
            <a:spAutoFit/>
          </a:bodyPr>
          <a:lstStyle/>
          <a:p>
            <a:pPr algn="ctr"/>
            <a:r>
              <a:rPr sz="1500" b="1" i="0">
                <a:solidFill>
                  <a:srgbClr val="102A4C"/>
                </a:solidFill>
                <a:latin typeface="Segoe UI"/>
              </a:rPr>
              <a:t>0</a:t>
            </a:r>
          </a:p>
        </p:txBody>
      </p:sp>
      <p:sp>
        <p:nvSpPr>
          <p:cNvPr id="8" name="TextBox 7"/>
          <p:cNvSpPr txBox="1"/>
          <p:nvPr/>
        </p:nvSpPr>
        <p:spPr>
          <a:xfrm>
            <a:off x="1188720" y="1371600"/>
            <a:ext cx="7315200" cy="566928"/>
          </a:xfrm>
          <a:prstGeom prst="rect">
            <a:avLst/>
          </a:prstGeom>
          <a:noFill/>
        </p:spPr>
        <p:txBody>
          <a:bodyPr wrap="square" anchor="ctr">
            <a:spAutoFit/>
          </a:bodyPr>
          <a:lstStyle/>
          <a:p>
            <a:pPr algn="l"/>
            <a:r>
              <a:rPr sz="1400" b="0" i="0">
                <a:solidFill>
                  <a:srgbClr val="222222"/>
                </a:solidFill>
                <a:latin typeface="Segoe UI"/>
              </a:rPr>
              <a:t>Open: problem, arc, honesty boundary</a:t>
            </a:r>
          </a:p>
        </p:txBody>
      </p:sp>
      <p:sp>
        <p:nvSpPr>
          <p:cNvPr id="9" name="TextBox 8"/>
          <p:cNvSpPr txBox="1"/>
          <p:nvPr/>
        </p:nvSpPr>
        <p:spPr>
          <a:xfrm>
            <a:off x="8595360" y="1371600"/>
            <a:ext cx="1188720" cy="566928"/>
          </a:xfrm>
          <a:prstGeom prst="rect">
            <a:avLst/>
          </a:prstGeom>
          <a:noFill/>
        </p:spPr>
        <p:txBody>
          <a:bodyPr wrap="square" anchor="ctr">
            <a:spAutoFit/>
          </a:bodyPr>
          <a:lstStyle/>
          <a:p>
            <a:pPr algn="l"/>
            <a:r>
              <a:rPr sz="1300" b="0" i="0">
                <a:solidFill>
                  <a:srgbClr val="5E6A75"/>
                </a:solidFill>
                <a:latin typeface="Segoe UI"/>
              </a:rPr>
              <a:t>20 min</a:t>
            </a:r>
          </a:p>
        </p:txBody>
      </p:sp>
      <p:sp>
        <p:nvSpPr>
          <p:cNvPr id="10" name="TextBox 9"/>
          <p:cNvSpPr txBox="1"/>
          <p:nvPr/>
        </p:nvSpPr>
        <p:spPr>
          <a:xfrm>
            <a:off x="9875520" y="1371600"/>
            <a:ext cx="1828800" cy="566928"/>
          </a:xfrm>
          <a:prstGeom prst="rect">
            <a:avLst/>
          </a:prstGeom>
          <a:noFill/>
        </p:spPr>
        <p:txBody>
          <a:bodyPr wrap="square" anchor="ctr">
            <a:spAutoFit/>
          </a:bodyPr>
          <a:lstStyle/>
          <a:p>
            <a:pPr algn="l"/>
            <a:r>
              <a:rPr sz="1300" b="0" i="0">
                <a:solidFill>
                  <a:srgbClr val="1F5E9C"/>
                </a:solidFill>
                <a:latin typeface="Segoe UI"/>
              </a:rPr>
              <a:t>Session lead</a:t>
            </a:r>
          </a:p>
        </p:txBody>
      </p:sp>
      <p:sp>
        <p:nvSpPr>
          <p:cNvPr id="11" name="Rectangle 10"/>
          <p:cNvSpPr/>
          <p:nvPr/>
        </p:nvSpPr>
        <p:spPr>
          <a:xfrm>
            <a:off x="457200" y="1975104"/>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975104"/>
            <a:ext cx="548640" cy="566928"/>
          </a:xfrm>
          <a:prstGeom prst="rect">
            <a:avLst/>
          </a:prstGeom>
          <a:noFill/>
        </p:spPr>
        <p:txBody>
          <a:bodyPr wrap="square" anchor="ctr">
            <a:spAutoFit/>
          </a:bodyPr>
          <a:lstStyle/>
          <a:p>
            <a:pPr algn="ctr"/>
            <a:r>
              <a:rPr sz="1500" b="1" i="0">
                <a:solidFill>
                  <a:srgbClr val="102A4C"/>
                </a:solidFill>
                <a:latin typeface="Segoe UI"/>
              </a:rPr>
              <a:t>1</a:t>
            </a:r>
          </a:p>
        </p:txBody>
      </p:sp>
      <p:sp>
        <p:nvSpPr>
          <p:cNvPr id="13" name="TextBox 12"/>
          <p:cNvSpPr txBox="1"/>
          <p:nvPr/>
        </p:nvSpPr>
        <p:spPr>
          <a:xfrm>
            <a:off x="1188720" y="1975104"/>
            <a:ext cx="7315200" cy="566928"/>
          </a:xfrm>
          <a:prstGeom prst="rect">
            <a:avLst/>
          </a:prstGeom>
          <a:noFill/>
        </p:spPr>
        <p:txBody>
          <a:bodyPr wrap="square" anchor="ctr">
            <a:spAutoFit/>
          </a:bodyPr>
          <a:lstStyle/>
          <a:p>
            <a:pPr algn="l"/>
            <a:r>
              <a:rPr sz="1400" b="0" i="0">
                <a:solidFill>
                  <a:srgbClr val="222222"/>
                </a:solidFill>
                <a:latin typeface="Segoe UI"/>
              </a:rPr>
              <a:t>Layer 2 - Behavioral Digital Twin (theory, live demo, results)</a:t>
            </a:r>
          </a:p>
        </p:txBody>
      </p:sp>
      <p:sp>
        <p:nvSpPr>
          <p:cNvPr id="14" name="TextBox 13"/>
          <p:cNvSpPr txBox="1"/>
          <p:nvPr/>
        </p:nvSpPr>
        <p:spPr>
          <a:xfrm>
            <a:off x="8595360" y="1975104"/>
            <a:ext cx="1188720" cy="566928"/>
          </a:xfrm>
          <a:prstGeom prst="rect">
            <a:avLst/>
          </a:prstGeom>
          <a:noFill/>
        </p:spPr>
        <p:txBody>
          <a:bodyPr wrap="square" anchor="ctr">
            <a:spAutoFit/>
          </a:bodyPr>
          <a:lstStyle/>
          <a:p>
            <a:pPr algn="l"/>
            <a:r>
              <a:rPr sz="1300" b="0" i="0">
                <a:solidFill>
                  <a:srgbClr val="5E6A75"/>
                </a:solidFill>
                <a:latin typeface="Segoe UI"/>
              </a:rPr>
              <a:t>60 min</a:t>
            </a:r>
          </a:p>
        </p:txBody>
      </p:sp>
      <p:sp>
        <p:nvSpPr>
          <p:cNvPr id="15" name="TextBox 14"/>
          <p:cNvSpPr txBox="1"/>
          <p:nvPr/>
        </p:nvSpPr>
        <p:spPr>
          <a:xfrm>
            <a:off x="9875520" y="1975104"/>
            <a:ext cx="1828800" cy="566928"/>
          </a:xfrm>
          <a:prstGeom prst="rect">
            <a:avLst/>
          </a:prstGeom>
          <a:noFill/>
        </p:spPr>
        <p:txBody>
          <a:bodyPr wrap="square" anchor="ctr">
            <a:spAutoFit/>
          </a:bodyPr>
          <a:lstStyle/>
          <a:p>
            <a:pPr algn="l"/>
            <a:r>
              <a:rPr sz="1300" b="0" i="0">
                <a:solidFill>
                  <a:srgbClr val="1F5E9C"/>
                </a:solidFill>
                <a:latin typeface="Segoe UI"/>
              </a:rPr>
              <a:t>Twin lead</a:t>
            </a:r>
          </a:p>
        </p:txBody>
      </p:sp>
      <p:sp>
        <p:nvSpPr>
          <p:cNvPr id="16" name="Rectangle 15"/>
          <p:cNvSpPr/>
          <p:nvPr/>
        </p:nvSpPr>
        <p:spPr>
          <a:xfrm>
            <a:off x="457200" y="2578608"/>
            <a:ext cx="11247120" cy="566928"/>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578608"/>
            <a:ext cx="548640" cy="566928"/>
          </a:xfrm>
          <a:prstGeom prst="rect">
            <a:avLst/>
          </a:prstGeom>
          <a:noFill/>
        </p:spPr>
        <p:txBody>
          <a:bodyPr wrap="square" anchor="ctr">
            <a:spAutoFit/>
          </a:bodyPr>
          <a:lstStyle/>
          <a:p>
            <a:pPr algn="ctr"/>
            <a:r>
              <a:rPr sz="1500" b="1" i="0">
                <a:solidFill>
                  <a:srgbClr val="102A4C"/>
                </a:solidFill>
                <a:latin typeface="Segoe UI"/>
              </a:rPr>
              <a:t>2</a:t>
            </a:r>
          </a:p>
        </p:txBody>
      </p:sp>
      <p:sp>
        <p:nvSpPr>
          <p:cNvPr id="18" name="TextBox 17"/>
          <p:cNvSpPr txBox="1"/>
          <p:nvPr/>
        </p:nvSpPr>
        <p:spPr>
          <a:xfrm>
            <a:off x="1188720" y="2578608"/>
            <a:ext cx="7315200" cy="566928"/>
          </a:xfrm>
          <a:prstGeom prst="rect">
            <a:avLst/>
          </a:prstGeom>
          <a:noFill/>
        </p:spPr>
        <p:txBody>
          <a:bodyPr wrap="square" anchor="ctr">
            <a:spAutoFit/>
          </a:bodyPr>
          <a:lstStyle/>
          <a:p>
            <a:pPr algn="l"/>
            <a:r>
              <a:rPr sz="1400" b="0" i="0">
                <a:solidFill>
                  <a:srgbClr val="222222"/>
                </a:solidFill>
                <a:latin typeface="Segoe UI"/>
              </a:rPr>
              <a:t>Layer 1 - Preemptive Network Assurance</a:t>
            </a:r>
          </a:p>
        </p:txBody>
      </p:sp>
      <p:sp>
        <p:nvSpPr>
          <p:cNvPr id="19" name="TextBox 18"/>
          <p:cNvSpPr txBox="1"/>
          <p:nvPr/>
        </p:nvSpPr>
        <p:spPr>
          <a:xfrm>
            <a:off x="8595360" y="2578608"/>
            <a:ext cx="1188720" cy="566928"/>
          </a:xfrm>
          <a:prstGeom prst="rect">
            <a:avLst/>
          </a:prstGeom>
          <a:noFill/>
        </p:spPr>
        <p:txBody>
          <a:bodyPr wrap="square" anchor="ctr">
            <a:spAutoFit/>
          </a:bodyPr>
          <a:lstStyle/>
          <a:p>
            <a:pPr algn="l"/>
            <a:r>
              <a:rPr sz="1300" b="0" i="0">
                <a:solidFill>
                  <a:srgbClr val="5E6A75"/>
                </a:solidFill>
                <a:latin typeface="Segoe UI"/>
              </a:rPr>
              <a:t>60 min</a:t>
            </a:r>
          </a:p>
        </p:txBody>
      </p:sp>
      <p:sp>
        <p:nvSpPr>
          <p:cNvPr id="20" name="TextBox 19"/>
          <p:cNvSpPr txBox="1"/>
          <p:nvPr/>
        </p:nvSpPr>
        <p:spPr>
          <a:xfrm>
            <a:off x="9875520" y="2578608"/>
            <a:ext cx="1828800" cy="566928"/>
          </a:xfrm>
          <a:prstGeom prst="rect">
            <a:avLst/>
          </a:prstGeom>
          <a:noFill/>
        </p:spPr>
        <p:txBody>
          <a:bodyPr wrap="square" anchor="ctr">
            <a:spAutoFit/>
          </a:bodyPr>
          <a:lstStyle/>
          <a:p>
            <a:pPr algn="l"/>
            <a:r>
              <a:rPr sz="1300" b="0" i="0">
                <a:solidFill>
                  <a:srgbClr val="1F5E9C"/>
                </a:solidFill>
                <a:latin typeface="Segoe UI"/>
              </a:rPr>
              <a:t>L1 lead</a:t>
            </a:r>
          </a:p>
        </p:txBody>
      </p:sp>
      <p:sp>
        <p:nvSpPr>
          <p:cNvPr id="21" name="Rectangle 20"/>
          <p:cNvSpPr/>
          <p:nvPr/>
        </p:nvSpPr>
        <p:spPr>
          <a:xfrm>
            <a:off x="457200" y="3182112"/>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182112"/>
            <a:ext cx="548640" cy="566928"/>
          </a:xfrm>
          <a:prstGeom prst="rect">
            <a:avLst/>
          </a:prstGeom>
          <a:noFill/>
        </p:spPr>
        <p:txBody>
          <a:bodyPr wrap="square" anchor="ctr">
            <a:spAutoFit/>
          </a:bodyPr>
          <a:lstStyle/>
          <a:p>
            <a:pPr algn="ctr"/>
            <a:r>
              <a:rPr sz="1500" b="1" i="0">
                <a:solidFill>
                  <a:srgbClr val="102A4C"/>
                </a:solidFill>
                <a:latin typeface="Segoe UI"/>
              </a:rPr>
              <a:t>3</a:t>
            </a:r>
          </a:p>
        </p:txBody>
      </p:sp>
      <p:sp>
        <p:nvSpPr>
          <p:cNvPr id="23" name="TextBox 22"/>
          <p:cNvSpPr txBox="1"/>
          <p:nvPr/>
        </p:nvSpPr>
        <p:spPr>
          <a:xfrm>
            <a:off x="1188720" y="3182112"/>
            <a:ext cx="7315200" cy="566928"/>
          </a:xfrm>
          <a:prstGeom prst="rect">
            <a:avLst/>
          </a:prstGeom>
          <a:noFill/>
        </p:spPr>
        <p:txBody>
          <a:bodyPr wrap="square" anchor="ctr">
            <a:spAutoFit/>
          </a:bodyPr>
          <a:lstStyle/>
          <a:p>
            <a:pPr algn="l"/>
            <a:r>
              <a:rPr sz="1400" b="0" i="0">
                <a:solidFill>
                  <a:srgbClr val="222222"/>
                </a:solidFill>
                <a:latin typeface="Segoe UI"/>
              </a:rPr>
              <a:t>Layer 3 - API, Data &amp; Agentic-AI Runtime</a:t>
            </a:r>
          </a:p>
        </p:txBody>
      </p:sp>
      <p:sp>
        <p:nvSpPr>
          <p:cNvPr id="24" name="TextBox 23"/>
          <p:cNvSpPr txBox="1"/>
          <p:nvPr/>
        </p:nvSpPr>
        <p:spPr>
          <a:xfrm>
            <a:off x="8595360" y="3182112"/>
            <a:ext cx="1188720" cy="566928"/>
          </a:xfrm>
          <a:prstGeom prst="rect">
            <a:avLst/>
          </a:prstGeom>
          <a:noFill/>
        </p:spPr>
        <p:txBody>
          <a:bodyPr wrap="square" anchor="ctr">
            <a:spAutoFit/>
          </a:bodyPr>
          <a:lstStyle/>
          <a:p>
            <a:pPr algn="l"/>
            <a:r>
              <a:rPr sz="1300" b="0" i="0">
                <a:solidFill>
                  <a:srgbClr val="5E6A75"/>
                </a:solidFill>
                <a:latin typeface="Segoe UI"/>
              </a:rPr>
              <a:t>60 min</a:t>
            </a:r>
          </a:p>
        </p:txBody>
      </p:sp>
      <p:sp>
        <p:nvSpPr>
          <p:cNvPr id="25" name="TextBox 24"/>
          <p:cNvSpPr txBox="1"/>
          <p:nvPr/>
        </p:nvSpPr>
        <p:spPr>
          <a:xfrm>
            <a:off x="9875520" y="3182112"/>
            <a:ext cx="1828800" cy="566928"/>
          </a:xfrm>
          <a:prstGeom prst="rect">
            <a:avLst/>
          </a:prstGeom>
          <a:noFill/>
        </p:spPr>
        <p:txBody>
          <a:bodyPr wrap="square" anchor="ctr">
            <a:spAutoFit/>
          </a:bodyPr>
          <a:lstStyle/>
          <a:p>
            <a:pPr algn="l"/>
            <a:r>
              <a:rPr sz="1300" b="0" i="0">
                <a:solidFill>
                  <a:srgbClr val="1F5E9C"/>
                </a:solidFill>
                <a:latin typeface="Segoe UI"/>
              </a:rPr>
              <a:t>L3 lead</a:t>
            </a:r>
          </a:p>
        </p:txBody>
      </p:sp>
      <p:sp>
        <p:nvSpPr>
          <p:cNvPr id="26" name="Rectangle 25"/>
          <p:cNvSpPr/>
          <p:nvPr/>
        </p:nvSpPr>
        <p:spPr>
          <a:xfrm>
            <a:off x="457200" y="3785616"/>
            <a:ext cx="11247120" cy="566928"/>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785616"/>
            <a:ext cx="548640" cy="566928"/>
          </a:xfrm>
          <a:prstGeom prst="rect">
            <a:avLst/>
          </a:prstGeom>
          <a:noFill/>
        </p:spPr>
        <p:txBody>
          <a:bodyPr wrap="square" anchor="ctr">
            <a:spAutoFit/>
          </a:bodyPr>
          <a:lstStyle/>
          <a:p>
            <a:pPr algn="ctr"/>
            <a:r>
              <a:rPr sz="1500" b="1" i="0">
                <a:solidFill>
                  <a:srgbClr val="102A4C"/>
                </a:solidFill>
                <a:latin typeface="Segoe UI"/>
              </a:rPr>
              <a:t>4</a:t>
            </a:r>
          </a:p>
        </p:txBody>
      </p:sp>
      <p:sp>
        <p:nvSpPr>
          <p:cNvPr id="28" name="TextBox 27"/>
          <p:cNvSpPr txBox="1"/>
          <p:nvPr/>
        </p:nvSpPr>
        <p:spPr>
          <a:xfrm>
            <a:off x="1188720" y="3785616"/>
            <a:ext cx="7315200" cy="566928"/>
          </a:xfrm>
          <a:prstGeom prst="rect">
            <a:avLst/>
          </a:prstGeom>
          <a:noFill/>
        </p:spPr>
        <p:txBody>
          <a:bodyPr wrap="square" anchor="ctr">
            <a:spAutoFit/>
          </a:bodyPr>
          <a:lstStyle/>
          <a:p>
            <a:pPr algn="l"/>
            <a:r>
              <a:rPr sz="1400" b="0" i="0">
                <a:solidFill>
                  <a:srgbClr val="222222"/>
                </a:solidFill>
                <a:latin typeface="Segoe UI"/>
              </a:rPr>
              <a:t>Layer 4 - Code &amp; Supply-Chain (roadmap)</a:t>
            </a:r>
          </a:p>
        </p:txBody>
      </p:sp>
      <p:sp>
        <p:nvSpPr>
          <p:cNvPr id="29" name="TextBox 28"/>
          <p:cNvSpPr txBox="1"/>
          <p:nvPr/>
        </p:nvSpPr>
        <p:spPr>
          <a:xfrm>
            <a:off x="8595360" y="3785616"/>
            <a:ext cx="1188720" cy="566928"/>
          </a:xfrm>
          <a:prstGeom prst="rect">
            <a:avLst/>
          </a:prstGeom>
          <a:noFill/>
        </p:spPr>
        <p:txBody>
          <a:bodyPr wrap="square" anchor="ctr">
            <a:spAutoFit/>
          </a:bodyPr>
          <a:lstStyle/>
          <a:p>
            <a:pPr algn="l"/>
            <a:r>
              <a:rPr sz="1300" b="0" i="0">
                <a:solidFill>
                  <a:srgbClr val="5E6A75"/>
                </a:solidFill>
                <a:latin typeface="Segoe UI"/>
              </a:rPr>
              <a:t>15 min</a:t>
            </a:r>
          </a:p>
        </p:txBody>
      </p:sp>
      <p:sp>
        <p:nvSpPr>
          <p:cNvPr id="30" name="TextBox 29"/>
          <p:cNvSpPr txBox="1"/>
          <p:nvPr/>
        </p:nvSpPr>
        <p:spPr>
          <a:xfrm>
            <a:off x="9875520" y="3785616"/>
            <a:ext cx="1828800" cy="566928"/>
          </a:xfrm>
          <a:prstGeom prst="rect">
            <a:avLst/>
          </a:prstGeom>
          <a:noFill/>
        </p:spPr>
        <p:txBody>
          <a:bodyPr wrap="square" anchor="ctr">
            <a:spAutoFit/>
          </a:bodyPr>
          <a:lstStyle/>
          <a:p>
            <a:pPr algn="l"/>
            <a:r>
              <a:rPr sz="1300" b="0" i="0">
                <a:solidFill>
                  <a:srgbClr val="1F5E9C"/>
                </a:solidFill>
                <a:latin typeface="Segoe UI"/>
              </a:rPr>
              <a:t>Session lead</a:t>
            </a:r>
          </a:p>
        </p:txBody>
      </p:sp>
      <p:sp>
        <p:nvSpPr>
          <p:cNvPr id="31" name="Rectangle 30"/>
          <p:cNvSpPr/>
          <p:nvPr/>
        </p:nvSpPr>
        <p:spPr>
          <a:xfrm>
            <a:off x="457200" y="4389120"/>
            <a:ext cx="112471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389120"/>
            <a:ext cx="548640" cy="566928"/>
          </a:xfrm>
          <a:prstGeom prst="rect">
            <a:avLst/>
          </a:prstGeom>
          <a:noFill/>
        </p:spPr>
        <p:txBody>
          <a:bodyPr wrap="square" anchor="ctr">
            <a:spAutoFit/>
          </a:bodyPr>
          <a:lstStyle/>
          <a:p>
            <a:pPr algn="ctr"/>
            <a:r>
              <a:rPr sz="1500" b="1" i="0">
                <a:solidFill>
                  <a:srgbClr val="102A4C"/>
                </a:solidFill>
                <a:latin typeface="Segoe UI"/>
              </a:rPr>
              <a:t>5</a:t>
            </a:r>
          </a:p>
        </p:txBody>
      </p:sp>
      <p:sp>
        <p:nvSpPr>
          <p:cNvPr id="33" name="TextBox 32"/>
          <p:cNvSpPr txBox="1"/>
          <p:nvPr/>
        </p:nvSpPr>
        <p:spPr>
          <a:xfrm>
            <a:off x="1188720" y="4389120"/>
            <a:ext cx="7315200" cy="566928"/>
          </a:xfrm>
          <a:prstGeom prst="rect">
            <a:avLst/>
          </a:prstGeom>
          <a:noFill/>
        </p:spPr>
        <p:txBody>
          <a:bodyPr wrap="square" anchor="ctr">
            <a:spAutoFit/>
          </a:bodyPr>
          <a:lstStyle/>
          <a:p>
            <a:pPr algn="l"/>
            <a:r>
              <a:rPr sz="1400" b="0" i="0">
                <a:solidFill>
                  <a:srgbClr val="222222"/>
                </a:solidFill>
                <a:latin typeface="Segoe UI"/>
              </a:rPr>
              <a:t>Integration + federal fit + the ask</a:t>
            </a:r>
          </a:p>
        </p:txBody>
      </p:sp>
      <p:sp>
        <p:nvSpPr>
          <p:cNvPr id="34" name="TextBox 33"/>
          <p:cNvSpPr txBox="1"/>
          <p:nvPr/>
        </p:nvSpPr>
        <p:spPr>
          <a:xfrm>
            <a:off x="8595360" y="4389120"/>
            <a:ext cx="1188720" cy="566928"/>
          </a:xfrm>
          <a:prstGeom prst="rect">
            <a:avLst/>
          </a:prstGeom>
          <a:noFill/>
        </p:spPr>
        <p:txBody>
          <a:bodyPr wrap="square" anchor="ctr">
            <a:spAutoFit/>
          </a:bodyPr>
          <a:lstStyle/>
          <a:p>
            <a:pPr algn="l"/>
            <a:r>
              <a:rPr sz="1300" b="0" i="0">
                <a:solidFill>
                  <a:srgbClr val="5E6A75"/>
                </a:solidFill>
                <a:latin typeface="Segoe UI"/>
              </a:rPr>
              <a:t>30 min</a:t>
            </a:r>
          </a:p>
        </p:txBody>
      </p:sp>
      <p:sp>
        <p:nvSpPr>
          <p:cNvPr id="35" name="TextBox 34"/>
          <p:cNvSpPr txBox="1"/>
          <p:nvPr/>
        </p:nvSpPr>
        <p:spPr>
          <a:xfrm>
            <a:off x="9875520" y="4389120"/>
            <a:ext cx="1828800" cy="566928"/>
          </a:xfrm>
          <a:prstGeom prst="rect">
            <a:avLst/>
          </a:prstGeom>
          <a:noFill/>
        </p:spPr>
        <p:txBody>
          <a:bodyPr wrap="square" anchor="ctr">
            <a:spAutoFit/>
          </a:bodyPr>
          <a:lstStyle/>
          <a:p>
            <a:pPr algn="l"/>
            <a:r>
              <a:rPr sz="1300" b="0" i="0">
                <a:solidFill>
                  <a:srgbClr val="1F5E9C"/>
                </a:solidFill>
                <a:latin typeface="Segoe UI"/>
              </a:rPr>
              <a:t>Session lead</a:t>
            </a:r>
          </a:p>
        </p:txBody>
      </p:sp>
      <p:sp>
        <p:nvSpPr>
          <p:cNvPr id="36" name="Rectangle 35"/>
          <p:cNvSpPr/>
          <p:nvPr/>
        </p:nvSpPr>
        <p:spPr>
          <a:xfrm>
            <a:off x="457200" y="4992624"/>
            <a:ext cx="11247120" cy="566928"/>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4992624"/>
            <a:ext cx="548640" cy="566928"/>
          </a:xfrm>
          <a:prstGeom prst="rect">
            <a:avLst/>
          </a:prstGeom>
          <a:noFill/>
        </p:spPr>
        <p:txBody>
          <a:bodyPr wrap="square" anchor="ctr">
            <a:spAutoFit/>
          </a:bodyPr>
          <a:lstStyle/>
          <a:p>
            <a:pPr algn="ctr"/>
            <a:r>
              <a:rPr sz="1500" b="1" i="0">
                <a:solidFill>
                  <a:srgbClr val="102A4C"/>
                </a:solidFill>
                <a:latin typeface="Segoe UI"/>
              </a:rPr>
              <a:t>-</a:t>
            </a:r>
          </a:p>
        </p:txBody>
      </p:sp>
      <p:sp>
        <p:nvSpPr>
          <p:cNvPr id="38" name="TextBox 37"/>
          <p:cNvSpPr txBox="1"/>
          <p:nvPr/>
        </p:nvSpPr>
        <p:spPr>
          <a:xfrm>
            <a:off x="1188720" y="4992624"/>
            <a:ext cx="7315200" cy="566928"/>
          </a:xfrm>
          <a:prstGeom prst="rect">
            <a:avLst/>
          </a:prstGeom>
          <a:noFill/>
        </p:spPr>
        <p:txBody>
          <a:bodyPr wrap="square" anchor="ctr">
            <a:spAutoFit/>
          </a:bodyPr>
          <a:lstStyle/>
          <a:p>
            <a:pPr algn="l"/>
            <a:r>
              <a:rPr sz="1400" b="0" i="0">
                <a:solidFill>
                  <a:srgbClr val="222222"/>
                </a:solidFill>
                <a:latin typeface="Segoe UI"/>
              </a:rPr>
              <a:t>Buffer</a:t>
            </a:r>
          </a:p>
        </p:txBody>
      </p:sp>
      <p:sp>
        <p:nvSpPr>
          <p:cNvPr id="39" name="TextBox 38"/>
          <p:cNvSpPr txBox="1"/>
          <p:nvPr/>
        </p:nvSpPr>
        <p:spPr>
          <a:xfrm>
            <a:off x="8595360" y="4992624"/>
            <a:ext cx="1188720" cy="566928"/>
          </a:xfrm>
          <a:prstGeom prst="rect">
            <a:avLst/>
          </a:prstGeom>
          <a:noFill/>
        </p:spPr>
        <p:txBody>
          <a:bodyPr wrap="square" anchor="ctr">
            <a:spAutoFit/>
          </a:bodyPr>
          <a:lstStyle/>
          <a:p>
            <a:pPr algn="l"/>
            <a:r>
              <a:rPr sz="1300" b="0" i="0">
                <a:solidFill>
                  <a:srgbClr val="5E6A75"/>
                </a:solidFill>
                <a:latin typeface="Segoe UI"/>
              </a:rPr>
              <a:t>20 min</a:t>
            </a:r>
          </a:p>
        </p:txBody>
      </p:sp>
      <p:sp>
        <p:nvSpPr>
          <p:cNvPr id="40" name="TextBox 39"/>
          <p:cNvSpPr txBox="1"/>
          <p:nvPr/>
        </p:nvSpPr>
        <p:spPr>
          <a:xfrm>
            <a:off x="9875520" y="4992624"/>
            <a:ext cx="1828800" cy="566928"/>
          </a:xfrm>
          <a:prstGeom prst="rect">
            <a:avLst/>
          </a:prstGeom>
          <a:noFill/>
        </p:spPr>
        <p:txBody>
          <a:bodyPr wrap="square" anchor="ctr">
            <a:spAutoFit/>
          </a:bodyPr>
          <a:lstStyle/>
          <a:p>
            <a:pPr algn="l"/>
            <a:r>
              <a:rPr sz="1300" b="0" i="0">
                <a:solidFill>
                  <a:srgbClr val="1F5E9C"/>
                </a:solidFill>
                <a:latin typeface="Segoe UI"/>
              </a:rPr>
              <a:t>All</a:t>
            </a:r>
          </a:p>
        </p:txBody>
      </p:sp>
      <p:sp>
        <p:nvSpPr>
          <p:cNvPr id="41" name="Rectangle 40"/>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43" name="TextBox 42"/>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The Adversary Is Already Inside</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Volt Typhoon, Salt Typhoon: valid accounts, no malware</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6766560" cy="4572000"/>
          </a:xfrm>
          <a:prstGeom prst="rect">
            <a:avLst/>
          </a:prstGeom>
          <a:noFill/>
        </p:spPr>
        <p:txBody>
          <a:bodyPr wrap="square">
            <a:spAutoFit/>
          </a:bodyPr>
          <a:lstStyle/>
          <a:p>
            <a:pPr>
              <a:spcAft>
                <a:spcPts val="1200"/>
              </a:spcAft>
            </a:pPr>
            <a:r>
              <a:rPr sz="1600" b="1">
                <a:solidFill>
                  <a:srgbClr val="102A4C"/>
                </a:solidFill>
                <a:latin typeface="Segoe UI"/>
              </a:rPr>
              <a:t>• Apex nation-state operators are resident in U.S. critical infrastructure now.</a:t>
            </a:r>
          </a:p>
          <a:p>
            <a:pPr>
              <a:spcAft>
                <a:spcPts val="1200"/>
              </a:spcAft>
            </a:pPr>
            <a:r>
              <a:rPr sz="1600">
                <a:solidFill>
                  <a:srgbClr val="222222"/>
                </a:solidFill>
                <a:latin typeface="Segoe UI"/>
              </a:rPr>
              <a:t>• They enter through unproven configuration gaps and unpatched edge devices.</a:t>
            </a:r>
          </a:p>
          <a:p>
            <a:pPr>
              <a:spcAft>
                <a:spcPts val="1200"/>
              </a:spcAft>
            </a:pPr>
            <a:r>
              <a:rPr sz="1600">
                <a:solidFill>
                  <a:srgbClr val="222222"/>
                </a:solidFill>
                <a:latin typeface="Segoe UI"/>
              </a:rPr>
              <a:t>• They operate with valid credentials and living-off-the-land techniques that cross no threshold.</a:t>
            </a:r>
          </a:p>
          <a:p>
            <a:pPr>
              <a:spcAft>
                <a:spcPts val="1200"/>
              </a:spcAft>
            </a:pPr>
            <a:r>
              <a:rPr sz="1600">
                <a:solidFill>
                  <a:srgbClr val="222222"/>
                </a:solidFill>
                <a:latin typeface="Segoe UI"/>
              </a:rPr>
              <a:t>• They fragment one identity across ten or more systems, and stay below every alert for years.</a:t>
            </a:r>
          </a:p>
          <a:p>
            <a:pPr>
              <a:spcAft>
                <a:spcPts val="1200"/>
              </a:spcAft>
            </a:pPr>
            <a:r>
              <a:rPr sz="1600" b="1">
                <a:solidFill>
                  <a:srgbClr val="1A724E"/>
                </a:solidFill>
                <a:latin typeface="Segoe UI"/>
              </a:rPr>
              <a:t>• Common technique: MITRE T1078, Valid Accounts. They log in; they do not break in.</a:t>
            </a:r>
          </a:p>
        </p:txBody>
      </p:sp>
      <p:sp>
        <p:nvSpPr>
          <p:cNvPr id="7" name="Rectangle 6"/>
          <p:cNvSpPr/>
          <p:nvPr/>
        </p:nvSpPr>
        <p:spPr>
          <a:xfrm>
            <a:off x="7680960" y="1463040"/>
            <a:ext cx="4023360" cy="420624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0" y="1645920"/>
            <a:ext cx="3657600" cy="457200"/>
          </a:xfrm>
          <a:prstGeom prst="rect">
            <a:avLst/>
          </a:prstGeom>
          <a:noFill/>
        </p:spPr>
        <p:txBody>
          <a:bodyPr wrap="square" anchor="t">
            <a:spAutoFit/>
          </a:bodyPr>
          <a:lstStyle/>
          <a:p>
            <a:pPr algn="l"/>
            <a:r>
              <a:rPr sz="1500" b="1" i="0">
                <a:solidFill>
                  <a:srgbClr val="1F5E9C"/>
                </a:solidFill>
                <a:latin typeface="Segoe UI"/>
              </a:rPr>
              <a:t>Army stake</a:t>
            </a:r>
          </a:p>
        </p:txBody>
      </p:sp>
      <p:sp>
        <p:nvSpPr>
          <p:cNvPr id="9" name="TextBox 8"/>
          <p:cNvSpPr txBox="1"/>
          <p:nvPr/>
        </p:nvSpPr>
        <p:spPr>
          <a:xfrm>
            <a:off x="7863840" y="2194560"/>
            <a:ext cx="3657600" cy="3291840"/>
          </a:xfrm>
          <a:prstGeom prst="rect">
            <a:avLst/>
          </a:prstGeom>
          <a:noFill/>
        </p:spPr>
        <p:txBody>
          <a:bodyPr wrap="square" anchor="t">
            <a:spAutoFit/>
          </a:bodyPr>
          <a:lstStyle/>
          <a:p>
            <a:pPr algn="l"/>
            <a:r>
              <a:rPr sz="1400" b="0" i="0">
                <a:solidFill>
                  <a:srgbClr val="333333"/>
                </a:solidFill>
                <a:latin typeface="Segoe UI"/>
              </a:rPr>
              <a:t>These campaigns pre-position in the commercial critical infrastructure that mobilization and power projection depend on, and they target the enterprise and tactical networks, and the IL5, IL6, and JWICS enclaves, that ARCYBER defends.</a:t>
            </a:r>
          </a:p>
        </p:txBody>
      </p:sp>
      <p:sp>
        <p:nvSpPr>
          <p:cNvPr id="10" name="Rectangle 9"/>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12" name="TextBox 11"/>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Offensive AI Has Collapsed the Timeline</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Detect-and-respond is too late against machine-speed attacks</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10972800" cy="4572000"/>
          </a:xfrm>
          <a:prstGeom prst="rect">
            <a:avLst/>
          </a:prstGeom>
          <a:noFill/>
        </p:spPr>
        <p:txBody>
          <a:bodyPr wrap="square">
            <a:spAutoFit/>
          </a:bodyPr>
          <a:lstStyle/>
          <a:p>
            <a:pPr>
              <a:spcAft>
                <a:spcPts val="1400"/>
              </a:spcAft>
            </a:pPr>
            <a:r>
              <a:rPr sz="1800" b="1">
                <a:solidFill>
                  <a:srgbClr val="102A4C"/>
                </a:solidFill>
                <a:latin typeface="Segoe UI"/>
              </a:rPr>
              <a:t>• Autonomous agents reconnoiter, find vulnerabilities, and exploit them at machine speed.</a:t>
            </a:r>
          </a:p>
          <a:p>
            <a:pPr>
              <a:spcAft>
                <a:spcPts val="1400"/>
              </a:spcAft>
            </a:pPr>
            <a:r>
              <a:rPr sz="1800">
                <a:solidFill>
                  <a:srgbClr val="222222"/>
                </a:solidFill>
                <a:latin typeface="Segoe UI"/>
              </a:rPr>
              <a:t>• A single operator can now act with the reach of a team.</a:t>
            </a:r>
          </a:p>
          <a:p>
            <a:pPr>
              <a:spcAft>
                <a:spcPts val="1400"/>
              </a:spcAft>
            </a:pPr>
            <a:r>
              <a:rPr sz="1800">
                <a:solidFill>
                  <a:srgbClr val="222222"/>
                </a:solidFill>
                <a:latin typeface="Segoe UI"/>
              </a:rPr>
              <a:t>• Threats evolve faster than vulnerability disclosure and patch cycles can respond.</a:t>
            </a:r>
          </a:p>
          <a:p>
            <a:pPr>
              <a:spcAft>
                <a:spcPts val="1400"/>
              </a:spcAft>
            </a:pPr>
            <a:r>
              <a:rPr sz="1800" b="1">
                <a:solidFill>
                  <a:srgbClr val="A61B1B"/>
                </a:solidFill>
                <a:latin typeface="Segoe UI"/>
              </a:rPr>
              <a:t>• By the time an attack is detected, it is already too late.</a:t>
            </a:r>
          </a:p>
          <a:p>
            <a:pPr>
              <a:spcAft>
                <a:spcPts val="1400"/>
              </a:spcAft>
            </a:pPr>
            <a:r>
              <a:rPr sz="1800" b="1">
                <a:solidFill>
                  <a:srgbClr val="1A724E"/>
                </a:solidFill>
                <a:latin typeface="Segoe UI"/>
              </a:rPr>
              <a:t>• The only durable answer is preemptive defense plus behavioral detection, before and after the breach.</a:t>
            </a:r>
          </a:p>
        </p:txBody>
      </p:sp>
      <p:sp>
        <p:nvSpPr>
          <p:cNvPr id="7" name="Rectangle 6"/>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9" name="TextBox 8"/>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Two Structural Gaps the Prior Model Leaves Open</a:t>
            </a:r>
          </a:p>
        </p:txBody>
      </p:sp>
      <p:sp>
        <p:nvSpPr>
          <p:cNvPr id="4" name="Rectangle 3"/>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5394960" cy="411480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5394960" cy="731520"/>
          </a:xfrm>
          <a:prstGeom prst="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54480"/>
            <a:ext cx="5029200" cy="548640"/>
          </a:xfrm>
          <a:prstGeom prst="rect">
            <a:avLst/>
          </a:prstGeom>
          <a:noFill/>
        </p:spPr>
        <p:txBody>
          <a:bodyPr wrap="square" anchor="ctr">
            <a:spAutoFit/>
          </a:bodyPr>
          <a:lstStyle/>
          <a:p>
            <a:pPr algn="l"/>
            <a:r>
              <a:rPr sz="1800" b="1" i="0">
                <a:solidFill>
                  <a:srgbClr val="FFFFFF"/>
                </a:solidFill>
                <a:latin typeface="Segoe UI"/>
              </a:rPr>
              <a:t>1. Preventive-proof gap</a:t>
            </a:r>
          </a:p>
        </p:txBody>
      </p:sp>
      <p:sp>
        <p:nvSpPr>
          <p:cNvPr id="8" name="TextBox 7"/>
          <p:cNvSpPr txBox="1"/>
          <p:nvPr/>
        </p:nvSpPr>
        <p:spPr>
          <a:xfrm>
            <a:off x="731520" y="2377440"/>
            <a:ext cx="5029200" cy="3017520"/>
          </a:xfrm>
          <a:prstGeom prst="rect">
            <a:avLst/>
          </a:prstGeom>
          <a:noFill/>
        </p:spPr>
        <p:txBody>
          <a:bodyPr wrap="square" anchor="t">
            <a:spAutoFit/>
          </a:bodyPr>
          <a:lstStyle/>
          <a:p>
            <a:pPr algn="l"/>
            <a:r>
              <a:rPr sz="1500" b="0" i="0">
                <a:solidFill>
                  <a:srgbClr val="333333"/>
                </a:solidFill>
                <a:latin typeface="Segoe UI"/>
              </a:rPr>
              <a:t>Prevention tools sample the configuration and attack surface; they never prove it is closed. The adversary needs only the one path no one proved was shut.</a:t>
            </a:r>
          </a:p>
        </p:txBody>
      </p:sp>
      <p:sp>
        <p:nvSpPr>
          <p:cNvPr id="9" name="Rectangle 8"/>
          <p:cNvSpPr/>
          <p:nvPr/>
        </p:nvSpPr>
        <p:spPr>
          <a:xfrm>
            <a:off x="6217920" y="1463040"/>
            <a:ext cx="5394960" cy="411480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463040"/>
            <a:ext cx="5394960" cy="731520"/>
          </a:xfrm>
          <a:prstGeom prst="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554480"/>
            <a:ext cx="5029200" cy="548640"/>
          </a:xfrm>
          <a:prstGeom prst="rect">
            <a:avLst/>
          </a:prstGeom>
          <a:noFill/>
        </p:spPr>
        <p:txBody>
          <a:bodyPr wrap="square" anchor="ctr">
            <a:spAutoFit/>
          </a:bodyPr>
          <a:lstStyle/>
          <a:p>
            <a:pPr algn="l"/>
            <a:r>
              <a:rPr sz="1800" b="1" i="0">
                <a:solidFill>
                  <a:srgbClr val="FFFFFF"/>
                </a:solidFill>
                <a:latin typeface="Segoe UI"/>
              </a:rPr>
              <a:t>2. Behavioral-detection gap</a:t>
            </a:r>
          </a:p>
        </p:txBody>
      </p:sp>
      <p:sp>
        <p:nvSpPr>
          <p:cNvPr id="12" name="TextBox 11"/>
          <p:cNvSpPr txBox="1"/>
          <p:nvPr/>
        </p:nvSpPr>
        <p:spPr>
          <a:xfrm>
            <a:off x="6400800" y="2377440"/>
            <a:ext cx="5029200" cy="3017520"/>
          </a:xfrm>
          <a:prstGeom prst="rect">
            <a:avLst/>
          </a:prstGeom>
          <a:noFill/>
        </p:spPr>
        <p:txBody>
          <a:bodyPr wrap="square" anchor="t">
            <a:spAutoFit/>
          </a:bodyPr>
          <a:lstStyle/>
          <a:p>
            <a:pPr algn="l"/>
            <a:r>
              <a:rPr sz="1500" b="0" i="0">
                <a:solidFill>
                  <a:srgbClr val="333333"/>
                </a:solidFill>
                <a:latin typeface="Segoe UI"/>
              </a:rPr>
              <a:t>Detection tools threshold on magnitude and watch for spikes. A valid-account, living-off-the-land operator produces no spike and stays below every alert for years.</a:t>
            </a:r>
          </a:p>
        </p:txBody>
      </p:sp>
      <p:sp>
        <p:nvSpPr>
          <p:cNvPr id="13" name="TextBox 12"/>
          <p:cNvSpPr txBox="1"/>
          <p:nvPr/>
        </p:nvSpPr>
        <p:spPr>
          <a:xfrm>
            <a:off x="548640" y="5760720"/>
            <a:ext cx="10972800" cy="457200"/>
          </a:xfrm>
          <a:prstGeom prst="rect">
            <a:avLst/>
          </a:prstGeom>
          <a:noFill/>
        </p:spPr>
        <p:txBody>
          <a:bodyPr wrap="square" anchor="t">
            <a:spAutoFit/>
          </a:bodyPr>
          <a:lstStyle/>
          <a:p>
            <a:pPr algn="l"/>
            <a:r>
              <a:rPr sz="1400" b="1" i="0">
                <a:solidFill>
                  <a:srgbClr val="102A4C"/>
                </a:solidFill>
                <a:latin typeface="Segoe UI"/>
              </a:rPr>
              <a:t>The architecture closes both: preventive proof at the edge (Layer 1), behavioral watch inside (Layer 2).</a:t>
            </a:r>
          </a:p>
        </p:txBody>
      </p:sp>
      <p:sp>
        <p:nvSpPr>
          <p:cNvPr id="14" name="Rectangle 13"/>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16" name="TextBox 15"/>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The Architecture: Four Layers, One Vocabulary</a:t>
            </a:r>
          </a:p>
        </p:txBody>
      </p:sp>
      <p:sp>
        <p:nvSpPr>
          <p:cNvPr id="4" name="Rectangle 3"/>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11064240" cy="105156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1828800" cy="1051560"/>
          </a:xfrm>
          <a:prstGeom prst="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645920" cy="1051560"/>
          </a:xfrm>
          <a:prstGeom prst="rect">
            <a:avLst/>
          </a:prstGeom>
          <a:noFill/>
        </p:spPr>
        <p:txBody>
          <a:bodyPr wrap="square" anchor="ctr">
            <a:spAutoFit/>
          </a:bodyPr>
          <a:lstStyle/>
          <a:p>
            <a:pPr algn="ctr"/>
            <a:r>
              <a:rPr sz="1700" b="1" i="0">
                <a:solidFill>
                  <a:srgbClr val="FFFFFF"/>
                </a:solidFill>
                <a:latin typeface="Segoe UI"/>
              </a:rPr>
              <a:t>Layer 1</a:t>
            </a:r>
          </a:p>
        </p:txBody>
      </p:sp>
      <p:sp>
        <p:nvSpPr>
          <p:cNvPr id="8" name="TextBox 7"/>
          <p:cNvSpPr txBox="1"/>
          <p:nvPr/>
        </p:nvSpPr>
        <p:spPr>
          <a:xfrm>
            <a:off x="2560320" y="1527048"/>
            <a:ext cx="6583680" cy="457200"/>
          </a:xfrm>
          <a:prstGeom prst="rect">
            <a:avLst/>
          </a:prstGeom>
          <a:noFill/>
        </p:spPr>
        <p:txBody>
          <a:bodyPr wrap="square" anchor="t">
            <a:spAutoFit/>
          </a:bodyPr>
          <a:lstStyle/>
          <a:p>
            <a:pPr algn="l"/>
            <a:r>
              <a:rPr sz="1500" b="1" i="0">
                <a:solidFill>
                  <a:srgbClr val="102A4C"/>
                </a:solidFill>
                <a:latin typeface="Segoe UI"/>
              </a:rPr>
              <a:t>Preemptive Network Assurance</a:t>
            </a:r>
          </a:p>
        </p:txBody>
      </p:sp>
      <p:sp>
        <p:nvSpPr>
          <p:cNvPr id="9" name="TextBox 8"/>
          <p:cNvSpPr txBox="1"/>
          <p:nvPr/>
        </p:nvSpPr>
        <p:spPr>
          <a:xfrm>
            <a:off x="2560320" y="1984248"/>
            <a:ext cx="6583680" cy="411480"/>
          </a:xfrm>
          <a:prstGeom prst="rect">
            <a:avLst/>
          </a:prstGeom>
          <a:noFill/>
        </p:spPr>
        <p:txBody>
          <a:bodyPr wrap="square" anchor="t">
            <a:spAutoFit/>
          </a:bodyPr>
          <a:lstStyle/>
          <a:p>
            <a:pPr algn="l"/>
            <a:r>
              <a:rPr sz="1250" b="0" i="0">
                <a:solidFill>
                  <a:srgbClr val="444444"/>
                </a:solidFill>
                <a:latin typeface="Segoe UI"/>
              </a:rPr>
              <a:t>Prove the door is closed before traffic flows</a:t>
            </a:r>
          </a:p>
        </p:txBody>
      </p:sp>
      <p:sp>
        <p:nvSpPr>
          <p:cNvPr id="10" name="TextBox 9"/>
          <p:cNvSpPr txBox="1"/>
          <p:nvPr/>
        </p:nvSpPr>
        <p:spPr>
          <a:xfrm>
            <a:off x="9326880" y="1417320"/>
            <a:ext cx="2194560" cy="1051560"/>
          </a:xfrm>
          <a:prstGeom prst="rect">
            <a:avLst/>
          </a:prstGeom>
          <a:noFill/>
        </p:spPr>
        <p:txBody>
          <a:bodyPr wrap="square" anchor="ctr">
            <a:spAutoFit/>
          </a:bodyPr>
          <a:lstStyle/>
          <a:p>
            <a:pPr algn="ctr"/>
            <a:r>
              <a:rPr sz="1300" b="1" i="0">
                <a:solidFill>
                  <a:srgbClr val="1A724E"/>
                </a:solidFill>
                <a:latin typeface="Segoe UI"/>
              </a:rPr>
              <a:t>Fielded</a:t>
            </a:r>
          </a:p>
        </p:txBody>
      </p:sp>
      <p:sp>
        <p:nvSpPr>
          <p:cNvPr id="11" name="Rectangle 10"/>
          <p:cNvSpPr/>
          <p:nvPr/>
        </p:nvSpPr>
        <p:spPr>
          <a:xfrm>
            <a:off x="548640" y="2532888"/>
            <a:ext cx="11064240" cy="105156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532888"/>
            <a:ext cx="1828800" cy="1051560"/>
          </a:xfrm>
          <a:prstGeom prst="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32888"/>
            <a:ext cx="1645920" cy="1051560"/>
          </a:xfrm>
          <a:prstGeom prst="rect">
            <a:avLst/>
          </a:prstGeom>
          <a:noFill/>
        </p:spPr>
        <p:txBody>
          <a:bodyPr wrap="square" anchor="ctr">
            <a:spAutoFit/>
          </a:bodyPr>
          <a:lstStyle/>
          <a:p>
            <a:pPr algn="ctr"/>
            <a:r>
              <a:rPr sz="1700" b="1" i="0">
                <a:solidFill>
                  <a:srgbClr val="FFFFFF"/>
                </a:solidFill>
                <a:latin typeface="Segoe UI"/>
              </a:rPr>
              <a:t>Layer 2</a:t>
            </a:r>
          </a:p>
        </p:txBody>
      </p:sp>
      <p:sp>
        <p:nvSpPr>
          <p:cNvPr id="14" name="TextBox 13"/>
          <p:cNvSpPr txBox="1"/>
          <p:nvPr/>
        </p:nvSpPr>
        <p:spPr>
          <a:xfrm>
            <a:off x="2560320" y="2642616"/>
            <a:ext cx="6583680" cy="457200"/>
          </a:xfrm>
          <a:prstGeom prst="rect">
            <a:avLst/>
          </a:prstGeom>
          <a:noFill/>
        </p:spPr>
        <p:txBody>
          <a:bodyPr wrap="square" anchor="t">
            <a:spAutoFit/>
          </a:bodyPr>
          <a:lstStyle/>
          <a:p>
            <a:pPr algn="l"/>
            <a:r>
              <a:rPr sz="1500" b="1" i="0">
                <a:solidFill>
                  <a:srgbClr val="102A4C"/>
                </a:solidFill>
                <a:latin typeface="Segoe UI"/>
              </a:rPr>
              <a:t>Behavioral Entity Intelligence (digital twin)</a:t>
            </a:r>
          </a:p>
        </p:txBody>
      </p:sp>
      <p:sp>
        <p:nvSpPr>
          <p:cNvPr id="15" name="TextBox 14"/>
          <p:cNvSpPr txBox="1"/>
          <p:nvPr/>
        </p:nvSpPr>
        <p:spPr>
          <a:xfrm>
            <a:off x="2560320" y="3099816"/>
            <a:ext cx="6583680" cy="411480"/>
          </a:xfrm>
          <a:prstGeom prst="rect">
            <a:avLst/>
          </a:prstGeom>
          <a:noFill/>
        </p:spPr>
        <p:txBody>
          <a:bodyPr wrap="square" anchor="t">
            <a:spAutoFit/>
          </a:bodyPr>
          <a:lstStyle/>
          <a:p>
            <a:pPr algn="l"/>
            <a:r>
              <a:rPr sz="1250" b="0" i="0">
                <a:solidFill>
                  <a:srgbClr val="444444"/>
                </a:solidFill>
                <a:latin typeface="Segoe UI"/>
              </a:rPr>
              <a:t>Catch valid-account, living-off-the-land behavior inside</a:t>
            </a:r>
          </a:p>
        </p:txBody>
      </p:sp>
      <p:sp>
        <p:nvSpPr>
          <p:cNvPr id="16" name="TextBox 15"/>
          <p:cNvSpPr txBox="1"/>
          <p:nvPr/>
        </p:nvSpPr>
        <p:spPr>
          <a:xfrm>
            <a:off x="9326880" y="2532888"/>
            <a:ext cx="2194560" cy="1051560"/>
          </a:xfrm>
          <a:prstGeom prst="rect">
            <a:avLst/>
          </a:prstGeom>
          <a:noFill/>
        </p:spPr>
        <p:txBody>
          <a:bodyPr wrap="square" anchor="ctr">
            <a:spAutoFit/>
          </a:bodyPr>
          <a:lstStyle/>
          <a:p>
            <a:pPr algn="ctr"/>
            <a:r>
              <a:rPr sz="1300" b="1" i="0">
                <a:solidFill>
                  <a:srgbClr val="1A724E"/>
                </a:solidFill>
                <a:latin typeface="Segoe UI"/>
              </a:rPr>
              <a:t>LIVE demo</a:t>
            </a:r>
          </a:p>
        </p:txBody>
      </p:sp>
      <p:sp>
        <p:nvSpPr>
          <p:cNvPr id="17" name="Rectangle 16"/>
          <p:cNvSpPr/>
          <p:nvPr/>
        </p:nvSpPr>
        <p:spPr>
          <a:xfrm>
            <a:off x="548640" y="3648456"/>
            <a:ext cx="11064240" cy="105156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648456"/>
            <a:ext cx="1828800" cy="1051560"/>
          </a:xfrm>
          <a:prstGeom prst="rect">
            <a:avLst/>
          </a:prstGeom>
          <a:solidFill>
            <a:srgbClr val="1A7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648456"/>
            <a:ext cx="1645920" cy="1051560"/>
          </a:xfrm>
          <a:prstGeom prst="rect">
            <a:avLst/>
          </a:prstGeom>
          <a:noFill/>
        </p:spPr>
        <p:txBody>
          <a:bodyPr wrap="square" anchor="ctr">
            <a:spAutoFit/>
          </a:bodyPr>
          <a:lstStyle/>
          <a:p>
            <a:pPr algn="ctr"/>
            <a:r>
              <a:rPr sz="1700" b="1" i="0">
                <a:solidFill>
                  <a:srgbClr val="FFFFFF"/>
                </a:solidFill>
                <a:latin typeface="Segoe UI"/>
              </a:rPr>
              <a:t>Layer 3</a:t>
            </a:r>
          </a:p>
        </p:txBody>
      </p:sp>
      <p:sp>
        <p:nvSpPr>
          <p:cNvPr id="20" name="TextBox 19"/>
          <p:cNvSpPr txBox="1"/>
          <p:nvPr/>
        </p:nvSpPr>
        <p:spPr>
          <a:xfrm>
            <a:off x="2560320" y="3758184"/>
            <a:ext cx="6583680" cy="457200"/>
          </a:xfrm>
          <a:prstGeom prst="rect">
            <a:avLst/>
          </a:prstGeom>
          <a:noFill/>
        </p:spPr>
        <p:txBody>
          <a:bodyPr wrap="square" anchor="t">
            <a:spAutoFit/>
          </a:bodyPr>
          <a:lstStyle/>
          <a:p>
            <a:pPr algn="l"/>
            <a:r>
              <a:rPr sz="1500" b="1" i="0">
                <a:solidFill>
                  <a:srgbClr val="102A4C"/>
                </a:solidFill>
                <a:latin typeface="Segoe UI"/>
              </a:rPr>
              <a:t>Application, API &amp; Data Runtime + Agentic AI</a:t>
            </a:r>
          </a:p>
        </p:txBody>
      </p:sp>
      <p:sp>
        <p:nvSpPr>
          <p:cNvPr id="21" name="TextBox 20"/>
          <p:cNvSpPr txBox="1"/>
          <p:nvPr/>
        </p:nvSpPr>
        <p:spPr>
          <a:xfrm>
            <a:off x="2560320" y="4215384"/>
            <a:ext cx="6583680" cy="411480"/>
          </a:xfrm>
          <a:prstGeom prst="rect">
            <a:avLst/>
          </a:prstGeom>
          <a:noFill/>
        </p:spPr>
        <p:txBody>
          <a:bodyPr wrap="square" anchor="t">
            <a:spAutoFit/>
          </a:bodyPr>
          <a:lstStyle/>
          <a:p>
            <a:pPr algn="l"/>
            <a:r>
              <a:rPr sz="1250" b="0" i="0">
                <a:solidFill>
                  <a:srgbClr val="444444"/>
                </a:solidFill>
                <a:latin typeface="Segoe UI"/>
              </a:rPr>
              <a:t>Guard APIs and data; govern the AI agents</a:t>
            </a:r>
          </a:p>
        </p:txBody>
      </p:sp>
      <p:sp>
        <p:nvSpPr>
          <p:cNvPr id="22" name="TextBox 21"/>
          <p:cNvSpPr txBox="1"/>
          <p:nvPr/>
        </p:nvSpPr>
        <p:spPr>
          <a:xfrm>
            <a:off x="9326880" y="3648456"/>
            <a:ext cx="2194560" cy="1051560"/>
          </a:xfrm>
          <a:prstGeom prst="rect">
            <a:avLst/>
          </a:prstGeom>
          <a:noFill/>
        </p:spPr>
        <p:txBody>
          <a:bodyPr wrap="square" anchor="ctr">
            <a:spAutoFit/>
          </a:bodyPr>
          <a:lstStyle/>
          <a:p>
            <a:pPr algn="ctr"/>
            <a:r>
              <a:rPr sz="1300" b="1" i="0">
                <a:solidFill>
                  <a:srgbClr val="E87722"/>
                </a:solidFill>
                <a:latin typeface="Segoe UI"/>
              </a:rPr>
              <a:t>Integrated</a:t>
            </a:r>
          </a:p>
        </p:txBody>
      </p:sp>
      <p:sp>
        <p:nvSpPr>
          <p:cNvPr id="23" name="Rectangle 22"/>
          <p:cNvSpPr/>
          <p:nvPr/>
        </p:nvSpPr>
        <p:spPr>
          <a:xfrm>
            <a:off x="548640" y="4764024"/>
            <a:ext cx="11064240" cy="105156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764024"/>
            <a:ext cx="1828800" cy="1051560"/>
          </a:xfrm>
          <a:prstGeom prst="rect">
            <a:avLst/>
          </a:prstGeom>
          <a:solidFill>
            <a:srgbClr val="C9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764024"/>
            <a:ext cx="1645920" cy="1051560"/>
          </a:xfrm>
          <a:prstGeom prst="rect">
            <a:avLst/>
          </a:prstGeom>
          <a:noFill/>
        </p:spPr>
        <p:txBody>
          <a:bodyPr wrap="square" anchor="ctr">
            <a:spAutoFit/>
          </a:bodyPr>
          <a:lstStyle/>
          <a:p>
            <a:pPr algn="ctr"/>
            <a:r>
              <a:rPr sz="1700" b="1" i="0">
                <a:solidFill>
                  <a:srgbClr val="FFFFFF"/>
                </a:solidFill>
                <a:latin typeface="Segoe UI"/>
              </a:rPr>
              <a:t>Layer 4</a:t>
            </a:r>
          </a:p>
        </p:txBody>
      </p:sp>
      <p:sp>
        <p:nvSpPr>
          <p:cNvPr id="26" name="TextBox 25"/>
          <p:cNvSpPr txBox="1"/>
          <p:nvPr/>
        </p:nvSpPr>
        <p:spPr>
          <a:xfrm>
            <a:off x="2560320" y="4873752"/>
            <a:ext cx="6583680" cy="457200"/>
          </a:xfrm>
          <a:prstGeom prst="rect">
            <a:avLst/>
          </a:prstGeom>
          <a:noFill/>
        </p:spPr>
        <p:txBody>
          <a:bodyPr wrap="square" anchor="t">
            <a:spAutoFit/>
          </a:bodyPr>
          <a:lstStyle/>
          <a:p>
            <a:pPr algn="l"/>
            <a:r>
              <a:rPr sz="1500" b="1" i="0">
                <a:solidFill>
                  <a:srgbClr val="102A4C"/>
                </a:solidFill>
                <a:latin typeface="Segoe UI"/>
              </a:rPr>
              <a:t>Code &amp; Supply-Chain Assurance</a:t>
            </a:r>
          </a:p>
        </p:txBody>
      </p:sp>
      <p:sp>
        <p:nvSpPr>
          <p:cNvPr id="27" name="TextBox 26"/>
          <p:cNvSpPr txBox="1"/>
          <p:nvPr/>
        </p:nvSpPr>
        <p:spPr>
          <a:xfrm>
            <a:off x="2560320" y="5330952"/>
            <a:ext cx="6583680" cy="411480"/>
          </a:xfrm>
          <a:prstGeom prst="rect">
            <a:avLst/>
          </a:prstGeom>
          <a:noFill/>
        </p:spPr>
        <p:txBody>
          <a:bodyPr wrap="square" anchor="t">
            <a:spAutoFit/>
          </a:bodyPr>
          <a:lstStyle/>
          <a:p>
            <a:pPr algn="l"/>
            <a:r>
              <a:rPr sz="1250" b="0" i="0">
                <a:solidFill>
                  <a:srgbClr val="444444"/>
                </a:solidFill>
                <a:latin typeface="Segoe UI"/>
              </a:rPr>
              <a:t>Find novel zero-days before deploy</a:t>
            </a:r>
          </a:p>
        </p:txBody>
      </p:sp>
      <p:sp>
        <p:nvSpPr>
          <p:cNvPr id="28" name="TextBox 27"/>
          <p:cNvSpPr txBox="1"/>
          <p:nvPr/>
        </p:nvSpPr>
        <p:spPr>
          <a:xfrm>
            <a:off x="9326880" y="4764024"/>
            <a:ext cx="2194560" cy="1051560"/>
          </a:xfrm>
          <a:prstGeom prst="rect">
            <a:avLst/>
          </a:prstGeom>
          <a:noFill/>
        </p:spPr>
        <p:txBody>
          <a:bodyPr wrap="square" anchor="ctr">
            <a:spAutoFit/>
          </a:bodyPr>
          <a:lstStyle/>
          <a:p>
            <a:pPr algn="ctr"/>
            <a:r>
              <a:rPr sz="1300" b="1" i="0">
                <a:solidFill>
                  <a:srgbClr val="A61B1B"/>
                </a:solidFill>
                <a:latin typeface="Segoe UI"/>
              </a:rPr>
              <a:t>In development</a:t>
            </a:r>
          </a:p>
        </p:txBody>
      </p:sp>
      <p:sp>
        <p:nvSpPr>
          <p:cNvPr id="29" name="TextBox 28"/>
          <p:cNvSpPr txBox="1"/>
          <p:nvPr/>
        </p:nvSpPr>
        <p:spPr>
          <a:xfrm>
            <a:off x="548640" y="5943600"/>
            <a:ext cx="10972800" cy="365760"/>
          </a:xfrm>
          <a:prstGeom prst="rect">
            <a:avLst/>
          </a:prstGeom>
          <a:noFill/>
        </p:spPr>
        <p:txBody>
          <a:bodyPr wrap="square" anchor="t">
            <a:spAutoFit/>
          </a:bodyPr>
          <a:lstStyle/>
          <a:p>
            <a:pPr algn="l"/>
            <a:r>
              <a:rPr sz="1300" b="1" i="0">
                <a:solidFill>
                  <a:srgbClr val="1F5E9C"/>
                </a:solidFill>
                <a:latin typeface="Segoe UI"/>
              </a:rPr>
              <a:t>One shared vocabulary across all four layers: MITRE ATT&amp;CK + ATLAS. One platform, human-in-the-loop.</a:t>
            </a:r>
          </a:p>
        </p:txBody>
      </p:sp>
      <p:sp>
        <p:nvSpPr>
          <p:cNvPr id="30" name="Rectangle 29"/>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32" name="TextBox 31"/>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Layer 2 - Behavioral Detection: Two Complementary Detectors</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A precision threat-profile engine (production) and a discovery twin</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0972800" cy="4572000"/>
          </a:xfrm>
          <a:prstGeom prst="rect">
            <a:avLst/>
          </a:prstGeom>
          <a:noFill/>
        </p:spPr>
        <p:txBody>
          <a:bodyPr wrap="square">
            <a:spAutoFit/>
          </a:bodyPr>
          <a:lstStyle/>
          <a:p>
            <a:pPr>
              <a:spcAft>
                <a:spcPts val="1400"/>
              </a:spcAft>
            </a:pPr>
            <a:r>
              <a:rPr sz="1500" b="1">
                <a:solidFill>
                  <a:srgbClr val="1A724E"/>
                </a:solidFill>
                <a:latin typeface="Segoe UI"/>
              </a:rPr>
              <a:t>• Precision layer (production): a multi-front threat-profile detector matches named known-bad fingerprints, scored against role-group peers and fired only on corroboration. 4 of 4 attackers at 0 false positives.</a:t>
            </a:r>
          </a:p>
          <a:p>
            <a:pPr>
              <a:spcAft>
                <a:spcPts val="1400"/>
              </a:spcAft>
            </a:pPr>
            <a:r>
              <a:rPr sz="1500" b="1">
                <a:solidFill>
                  <a:srgbClr val="102A4C"/>
                </a:solidFill>
                <a:latin typeface="Segoe UI"/>
              </a:rPr>
              <a:t>• Discovery layer: a semantic behavioral digital twin reads behavior as meaning, tracks trajectory, and names direction in MITRE terms, an unsupervised net needing no prior fingerprint.</a:t>
            </a:r>
          </a:p>
          <a:p>
            <a:pPr>
              <a:spcAft>
                <a:spcPts val="1400"/>
              </a:spcAft>
            </a:pPr>
            <a:r>
              <a:rPr sz="1500">
                <a:solidFill>
                  <a:srgbClr val="222222"/>
                </a:solidFill>
                <a:latin typeface="Segoe UI"/>
              </a:rPr>
              <a:t>• The threat-profile detector gives the precise what-fired; the twin (next slides) gives the explainable how and where the entity is heading.</a:t>
            </a:r>
          </a:p>
          <a:p>
            <a:pPr>
              <a:spcAft>
                <a:spcPts val="1400"/>
              </a:spcAft>
            </a:pPr>
            <a:r>
              <a:rPr sz="1500">
                <a:solidFill>
                  <a:srgbClr val="222222"/>
                </a:solidFill>
                <a:latin typeface="Segoe UI"/>
              </a:rPr>
              <a:t>• Behavioral snapshots are stored as vectors in a PostgreSQL pgvector database; detection reads from the database.</a:t>
            </a:r>
          </a:p>
        </p:txBody>
      </p:sp>
      <p:sp>
        <p:nvSpPr>
          <p:cNvPr id="7" name="Rectangle 6"/>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9" name="TextBox 8"/>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Layer 2 - Production Result: 4 of 4 at 0 False Positives</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The threat-profile detector, by named fingerprint</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463040"/>
          <a:ext cx="11247120" cy="2377440"/>
        </p:xfrm>
        <a:graphic>
          <a:graphicData uri="http://schemas.openxmlformats.org/drawingml/2006/table">
            <a:tbl>
              <a:tblPr firstRow="1" bandRow="1">
                <a:tableStyleId>{5C22544A-7EE6-4342-B048-85BDC9FD1C3A}</a:tableStyleId>
              </a:tblPr>
              <a:tblGrid>
                <a:gridCol w="3749040"/>
                <a:gridCol w="3749040"/>
                <a:gridCol w="3749040"/>
              </a:tblGrid>
              <a:tr h="475488">
                <a:tc>
                  <a:txBody>
                    <a:bodyPr/>
                    <a:lstStyle/>
                    <a:p>
                      <a:r>
                        <a:rPr sz="1200" b="1">
                          <a:latin typeface="Segoe UI"/>
                        </a:rPr>
                        <a:t>Attacker</a:t>
                      </a:r>
                    </a:p>
                  </a:txBody>
                  <a:tcPr/>
                </a:tc>
                <a:tc>
                  <a:txBody>
                    <a:bodyPr/>
                    <a:lstStyle/>
                    <a:p>
                      <a:r>
                        <a:rPr sz="1200" b="1">
                          <a:latin typeface="Segoe UI"/>
                        </a:rPr>
                        <a:t>Named fingerprint(s)</a:t>
                      </a:r>
                    </a:p>
                  </a:txBody>
                  <a:tcPr/>
                </a:tc>
                <a:tc>
                  <a:txBody>
                    <a:bodyPr/>
                    <a:lstStyle/>
                    <a:p>
                      <a:r>
                        <a:rPr sz="1200" b="1">
                          <a:latin typeface="Segoe UI"/>
                        </a:rPr>
                        <a:t>Fronts</a:t>
                      </a:r>
                    </a:p>
                  </a:txBody>
                  <a:tcPr/>
                </a:tc>
              </a:tr>
              <a:tr h="475488">
                <a:tc>
                  <a:txBody>
                    <a:bodyPr/>
                    <a:lstStyle/>
                    <a:p>
                      <a:r>
                        <a:rPr sz="1200">
                          <a:latin typeface="Segoe UI"/>
                        </a:rPr>
                        <a:t>Insider (USR-156)</a:t>
                      </a:r>
                    </a:p>
                  </a:txBody>
                  <a:tcPr/>
                </a:tc>
                <a:tc>
                  <a:txBody>
                    <a:bodyPr/>
                    <a:lstStyle/>
                    <a:p>
                      <a:r>
                        <a:rPr sz="1200">
                          <a:latin typeface="Segoe UI"/>
                        </a:rPr>
                        <a:t>mass_collection (z 5.9) + cohort_rare_dst (76 IPs)</a:t>
                      </a:r>
                    </a:p>
                  </a:txBody>
                  <a:tcPr/>
                </a:tc>
                <a:tc>
                  <a:txBody>
                    <a:bodyPr/>
                    <a:lstStyle/>
                    <a:p>
                      <a:r>
                        <a:rPr sz="1200">
                          <a:latin typeface="Segoe UI"/>
                        </a:rPr>
                        <a:t>2</a:t>
                      </a:r>
                    </a:p>
                  </a:txBody>
                  <a:tcPr/>
                </a:tc>
              </a:tr>
              <a:tr h="475488">
                <a:tc>
                  <a:txBody>
                    <a:bodyPr/>
                    <a:lstStyle/>
                    <a:p>
                      <a:r>
                        <a:rPr sz="1200">
                          <a:latin typeface="Segoe UI"/>
                        </a:rPr>
                        <a:t>Slow APT (USR-234)</a:t>
                      </a:r>
                    </a:p>
                  </a:txBody>
                  <a:tcPr/>
                </a:tc>
                <a:tc>
                  <a:txBody>
                    <a:bodyPr/>
                    <a:lstStyle/>
                    <a:p>
                      <a:r>
                        <a:rPr sz="1200">
                          <a:latin typeface="Segoe UI"/>
                        </a:rPr>
                        <a:t>c2_beacon (386-day persistent dst) + dga_dns (160 domains)</a:t>
                      </a:r>
                    </a:p>
                  </a:txBody>
                  <a:tcPr/>
                </a:tc>
                <a:tc>
                  <a:txBody>
                    <a:bodyPr/>
                    <a:lstStyle/>
                    <a:p>
                      <a:r>
                        <a:rPr sz="1200">
                          <a:latin typeface="Segoe UI"/>
                        </a:rPr>
                        <a:t>2</a:t>
                      </a:r>
                    </a:p>
                  </a:txBody>
                  <a:tcPr/>
                </a:tc>
              </a:tr>
              <a:tr h="475488">
                <a:tc>
                  <a:txBody>
                    <a:bodyPr/>
                    <a:lstStyle/>
                    <a:p>
                      <a:r>
                        <a:rPr sz="1200">
                          <a:latin typeface="Segoe UI"/>
                        </a:rPr>
                        <a:t>LOTL / Volt (USR-042)</a:t>
                      </a:r>
                    </a:p>
                  </a:txBody>
                  <a:tcPr/>
                </a:tc>
                <a:tc>
                  <a:txBody>
                    <a:bodyPr/>
                    <a:lstStyle/>
                    <a:p>
                      <a:r>
                        <a:rPr sz="1200">
                          <a:latin typeface="Segoe UI"/>
                        </a:rPr>
                        <a:t>lotl_process (z 4.5)</a:t>
                      </a:r>
                    </a:p>
                  </a:txBody>
                  <a:tcPr/>
                </a:tc>
                <a:tc>
                  <a:txBody>
                    <a:bodyPr/>
                    <a:lstStyle/>
                    <a:p>
                      <a:r>
                        <a:rPr sz="1200">
                          <a:latin typeface="Segoe UI"/>
                        </a:rPr>
                        <a:t>1</a:t>
                      </a:r>
                    </a:p>
                  </a:txBody>
                  <a:tcPr/>
                </a:tc>
              </a:tr>
              <a:tr h="475488">
                <a:tc>
                  <a:txBody>
                    <a:bodyPr/>
                    <a:lstStyle/>
                    <a:p>
                      <a:r>
                        <a:rPr sz="1200">
                          <a:latin typeface="Segoe UI"/>
                        </a:rPr>
                        <a:t>Salt (USR-118)</a:t>
                      </a:r>
                    </a:p>
                  </a:txBody>
                  <a:tcPr/>
                </a:tc>
                <a:tc>
                  <a:txBody>
                    <a:bodyPr/>
                    <a:lstStyle/>
                    <a:p>
                      <a:r>
                        <a:rPr sz="1200">
                          <a:latin typeface="Segoe UI"/>
                        </a:rPr>
                        <a:t>recon_fanout (z 8.2)</a:t>
                      </a:r>
                    </a:p>
                  </a:txBody>
                  <a:tcPr/>
                </a:tc>
                <a:tc>
                  <a:txBody>
                    <a:bodyPr/>
                    <a:lstStyle/>
                    <a:p>
                      <a:r>
                        <a:rPr sz="1200">
                          <a:latin typeface="Segoe UI"/>
                        </a:rPr>
                        <a:t>1</a:t>
                      </a:r>
                    </a:p>
                  </a:txBody>
                  <a:tcPr/>
                </a:tc>
              </a:tr>
            </a:tbl>
          </a:graphicData>
        </a:graphic>
      </p:graphicFrame>
      <p:sp>
        <p:nvSpPr>
          <p:cNvPr id="7" name="Rectangle 6"/>
          <p:cNvSpPr/>
          <p:nvPr/>
        </p:nvSpPr>
        <p:spPr>
          <a:xfrm>
            <a:off x="457200" y="4114800"/>
            <a:ext cx="11247120" cy="13716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297680"/>
            <a:ext cx="10881360" cy="1097280"/>
          </a:xfrm>
          <a:prstGeom prst="rect">
            <a:avLst/>
          </a:prstGeom>
          <a:noFill/>
        </p:spPr>
        <p:txBody>
          <a:bodyPr wrap="square" anchor="t">
            <a:spAutoFit/>
          </a:bodyPr>
          <a:lstStyle/>
          <a:p>
            <a:pPr algn="l"/>
            <a:r>
              <a:rPr sz="1500" b="1" i="0">
                <a:solidFill>
                  <a:srgbClr val="FFFFFF"/>
                </a:solidFill>
                <a:latin typeface="Segoe UI"/>
              </a:rPr>
              <a:t>4 of 4 caught, 0 false positives, precision 100 percent. Each profile is a measurable signature of a known technique, scored against the entity's role-group peers and fired only on a corroborated match.</a:t>
            </a:r>
          </a:p>
        </p:txBody>
      </p:sp>
      <p:sp>
        <p:nvSpPr>
          <p:cNvPr id="9" name="Rectangle 8"/>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11" name="TextBox 10"/>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Digital Twin in Detail: The Pipeline</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Raw logs become a living behavioral representation, rebuilt weekly</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2286000"/>
            <a:ext cx="1517904" cy="2194560"/>
          </a:xfrm>
          <a:prstGeom prst="rect">
            <a:avLst/>
          </a:prstGeom>
          <a:solidFill>
            <a:srgbClr val="ECF4FC"/>
          </a:solidFill>
          <a:ln w="12700">
            <a:solidFill>
              <a:srgbClr val="1F5E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2395728"/>
            <a:ext cx="1389888" cy="777240"/>
          </a:xfrm>
          <a:prstGeom prst="rect">
            <a:avLst/>
          </a:prstGeom>
          <a:noFill/>
        </p:spPr>
        <p:txBody>
          <a:bodyPr wrap="square" anchor="t">
            <a:spAutoFit/>
          </a:bodyPr>
          <a:lstStyle/>
          <a:p>
            <a:pPr algn="ctr"/>
            <a:r>
              <a:rPr sz="1250" b="1" i="0">
                <a:solidFill>
                  <a:srgbClr val="102A4C"/>
                </a:solidFill>
                <a:latin typeface="Segoe UI"/>
              </a:rPr>
              <a:t>Raw logs</a:t>
            </a:r>
          </a:p>
        </p:txBody>
      </p:sp>
      <p:sp>
        <p:nvSpPr>
          <p:cNvPr id="8" name="TextBox 7"/>
          <p:cNvSpPr txBox="1"/>
          <p:nvPr/>
        </p:nvSpPr>
        <p:spPr>
          <a:xfrm>
            <a:off x="475488" y="3200400"/>
            <a:ext cx="1389888" cy="1188720"/>
          </a:xfrm>
          <a:prstGeom prst="rect">
            <a:avLst/>
          </a:prstGeom>
          <a:noFill/>
        </p:spPr>
        <p:txBody>
          <a:bodyPr wrap="square" anchor="t">
            <a:spAutoFit/>
          </a:bodyPr>
          <a:lstStyle/>
          <a:p>
            <a:pPr algn="ctr"/>
            <a:r>
              <a:rPr sz="1000" b="0" i="0">
                <a:solidFill>
                  <a:srgbClr val="333333"/>
                </a:solidFill>
                <a:latin typeface="Segoe UI"/>
              </a:rPr>
              <a:t>auth, file, network, DNS, endpoint</a:t>
            </a:r>
          </a:p>
        </p:txBody>
      </p:sp>
      <p:sp>
        <p:nvSpPr>
          <p:cNvPr id="9" name="Rectangle 8"/>
          <p:cNvSpPr/>
          <p:nvPr/>
        </p:nvSpPr>
        <p:spPr>
          <a:xfrm>
            <a:off x="2039112" y="2286000"/>
            <a:ext cx="1517904" cy="2194560"/>
          </a:xfrm>
          <a:prstGeom prst="rect">
            <a:avLst/>
          </a:prstGeom>
          <a:solidFill>
            <a:srgbClr val="ECF4FC"/>
          </a:solidFill>
          <a:ln w="12700">
            <a:solidFill>
              <a:srgbClr val="1F5E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03120" y="2395728"/>
            <a:ext cx="1389888" cy="777240"/>
          </a:xfrm>
          <a:prstGeom prst="rect">
            <a:avLst/>
          </a:prstGeom>
          <a:noFill/>
        </p:spPr>
        <p:txBody>
          <a:bodyPr wrap="square" anchor="t">
            <a:spAutoFit/>
          </a:bodyPr>
          <a:lstStyle/>
          <a:p>
            <a:pPr algn="ctr"/>
            <a:r>
              <a:rPr sz="1250" b="1" i="0">
                <a:solidFill>
                  <a:srgbClr val="102A4C"/>
                </a:solidFill>
                <a:latin typeface="Segoe UI"/>
              </a:rPr>
              <a:t>5 zones</a:t>
            </a:r>
          </a:p>
        </p:txBody>
      </p:sp>
      <p:sp>
        <p:nvSpPr>
          <p:cNvPr id="11" name="TextBox 10"/>
          <p:cNvSpPr txBox="1"/>
          <p:nvPr/>
        </p:nvSpPr>
        <p:spPr>
          <a:xfrm>
            <a:off x="2103120" y="3200400"/>
            <a:ext cx="1389888" cy="1188720"/>
          </a:xfrm>
          <a:prstGeom prst="rect">
            <a:avLst/>
          </a:prstGeom>
          <a:noFill/>
        </p:spPr>
        <p:txBody>
          <a:bodyPr wrap="square" anchor="t">
            <a:spAutoFit/>
          </a:bodyPr>
          <a:lstStyle/>
          <a:p>
            <a:pPr algn="ctr"/>
            <a:r>
              <a:rPr sz="1000" b="0" i="0">
                <a:solidFill>
                  <a:srgbClr val="333333"/>
                </a:solidFill>
                <a:latin typeface="Segoe UI"/>
              </a:rPr>
              <a:t>23 features as prose</a:t>
            </a:r>
          </a:p>
        </p:txBody>
      </p:sp>
      <p:sp>
        <p:nvSpPr>
          <p:cNvPr id="12" name="Rectangle 11"/>
          <p:cNvSpPr/>
          <p:nvPr/>
        </p:nvSpPr>
        <p:spPr>
          <a:xfrm>
            <a:off x="3666744" y="2286000"/>
            <a:ext cx="1517904" cy="2194560"/>
          </a:xfrm>
          <a:prstGeom prst="rect">
            <a:avLst/>
          </a:prstGeom>
          <a:solidFill>
            <a:srgbClr val="ECF4FC"/>
          </a:solidFill>
          <a:ln w="12700">
            <a:solidFill>
              <a:srgbClr val="1F5E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30752" y="2395728"/>
            <a:ext cx="1389888" cy="777240"/>
          </a:xfrm>
          <a:prstGeom prst="rect">
            <a:avLst/>
          </a:prstGeom>
          <a:noFill/>
        </p:spPr>
        <p:txBody>
          <a:bodyPr wrap="square" anchor="t">
            <a:spAutoFit/>
          </a:bodyPr>
          <a:lstStyle/>
          <a:p>
            <a:pPr algn="ctr"/>
            <a:r>
              <a:rPr sz="1250" b="1" i="0">
                <a:solidFill>
                  <a:srgbClr val="102A4C"/>
                </a:solidFill>
                <a:latin typeface="Segoe UI"/>
              </a:rPr>
              <a:t>Embed</a:t>
            </a:r>
          </a:p>
        </p:txBody>
      </p:sp>
      <p:sp>
        <p:nvSpPr>
          <p:cNvPr id="14" name="TextBox 13"/>
          <p:cNvSpPr txBox="1"/>
          <p:nvPr/>
        </p:nvSpPr>
        <p:spPr>
          <a:xfrm>
            <a:off x="3730752" y="3200400"/>
            <a:ext cx="1389888" cy="1188720"/>
          </a:xfrm>
          <a:prstGeom prst="rect">
            <a:avLst/>
          </a:prstGeom>
          <a:noFill/>
        </p:spPr>
        <p:txBody>
          <a:bodyPr wrap="square" anchor="t">
            <a:spAutoFit/>
          </a:bodyPr>
          <a:lstStyle/>
          <a:p>
            <a:pPr algn="ctr"/>
            <a:r>
              <a:rPr sz="1000" b="0" i="0">
                <a:solidFill>
                  <a:srgbClr val="333333"/>
                </a:solidFill>
                <a:latin typeface="Segoe UI"/>
              </a:rPr>
              <a:t>each zone to 1536-d</a:t>
            </a:r>
          </a:p>
        </p:txBody>
      </p:sp>
      <p:sp>
        <p:nvSpPr>
          <p:cNvPr id="15" name="Rectangle 14"/>
          <p:cNvSpPr/>
          <p:nvPr/>
        </p:nvSpPr>
        <p:spPr>
          <a:xfrm>
            <a:off x="5294376" y="2286000"/>
            <a:ext cx="1517904" cy="2194560"/>
          </a:xfrm>
          <a:prstGeom prst="rect">
            <a:avLst/>
          </a:prstGeom>
          <a:solidFill>
            <a:srgbClr val="ECF4FC"/>
          </a:solidFill>
          <a:ln w="12700">
            <a:solidFill>
              <a:srgbClr val="1F5E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58384" y="2395728"/>
            <a:ext cx="1389888" cy="777240"/>
          </a:xfrm>
          <a:prstGeom prst="rect">
            <a:avLst/>
          </a:prstGeom>
          <a:noFill/>
        </p:spPr>
        <p:txBody>
          <a:bodyPr wrap="square" anchor="t">
            <a:spAutoFit/>
          </a:bodyPr>
          <a:lstStyle/>
          <a:p>
            <a:pPr algn="ctr"/>
            <a:r>
              <a:rPr sz="1250" b="1" i="0">
                <a:solidFill>
                  <a:srgbClr val="102A4C"/>
                </a:solidFill>
                <a:latin typeface="Segoe UI"/>
              </a:rPr>
              <a:t>Compose</a:t>
            </a:r>
          </a:p>
        </p:txBody>
      </p:sp>
      <p:sp>
        <p:nvSpPr>
          <p:cNvPr id="17" name="TextBox 16"/>
          <p:cNvSpPr txBox="1"/>
          <p:nvPr/>
        </p:nvSpPr>
        <p:spPr>
          <a:xfrm>
            <a:off x="5358384" y="3200400"/>
            <a:ext cx="1389888" cy="1188720"/>
          </a:xfrm>
          <a:prstGeom prst="rect">
            <a:avLst/>
          </a:prstGeom>
          <a:noFill/>
        </p:spPr>
        <p:txBody>
          <a:bodyPr wrap="square" anchor="t">
            <a:spAutoFit/>
          </a:bodyPr>
          <a:lstStyle/>
          <a:p>
            <a:pPr algn="ctr"/>
            <a:r>
              <a:rPr sz="1000" b="0" i="0">
                <a:solidFill>
                  <a:srgbClr val="333333"/>
                </a:solidFill>
                <a:latin typeface="Segoe UI"/>
              </a:rPr>
              <a:t>attention-weighted twin vector</a:t>
            </a:r>
          </a:p>
        </p:txBody>
      </p:sp>
      <p:sp>
        <p:nvSpPr>
          <p:cNvPr id="18" name="Rectangle 17"/>
          <p:cNvSpPr/>
          <p:nvPr/>
        </p:nvSpPr>
        <p:spPr>
          <a:xfrm>
            <a:off x="6922008" y="2286000"/>
            <a:ext cx="1517904" cy="2194560"/>
          </a:xfrm>
          <a:prstGeom prst="rect">
            <a:avLst/>
          </a:prstGeom>
          <a:solidFill>
            <a:srgbClr val="ECF4FC"/>
          </a:solidFill>
          <a:ln w="12700">
            <a:solidFill>
              <a:srgbClr val="1F5E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6016" y="2395728"/>
            <a:ext cx="1389888" cy="777240"/>
          </a:xfrm>
          <a:prstGeom prst="rect">
            <a:avLst/>
          </a:prstGeom>
          <a:noFill/>
        </p:spPr>
        <p:txBody>
          <a:bodyPr wrap="square" anchor="t">
            <a:spAutoFit/>
          </a:bodyPr>
          <a:lstStyle/>
          <a:p>
            <a:pPr algn="ctr"/>
            <a:r>
              <a:rPr sz="1250" b="1" i="0">
                <a:solidFill>
                  <a:srgbClr val="102A4C"/>
                </a:solidFill>
                <a:latin typeface="Segoe UI"/>
              </a:rPr>
              <a:t>Trajectory</a:t>
            </a:r>
          </a:p>
        </p:txBody>
      </p:sp>
      <p:sp>
        <p:nvSpPr>
          <p:cNvPr id="20" name="TextBox 19"/>
          <p:cNvSpPr txBox="1"/>
          <p:nvPr/>
        </p:nvSpPr>
        <p:spPr>
          <a:xfrm>
            <a:off x="6986016" y="3200400"/>
            <a:ext cx="1389888" cy="1188720"/>
          </a:xfrm>
          <a:prstGeom prst="rect">
            <a:avLst/>
          </a:prstGeom>
          <a:noFill/>
        </p:spPr>
        <p:txBody>
          <a:bodyPr wrap="square" anchor="t">
            <a:spAutoFit/>
          </a:bodyPr>
          <a:lstStyle/>
          <a:p>
            <a:pPr algn="ctr"/>
            <a:r>
              <a:rPr sz="1000" b="0" i="0">
                <a:solidFill>
                  <a:srgbClr val="333333"/>
                </a:solidFill>
                <a:latin typeface="Segoe UI"/>
              </a:rPr>
              <a:t>one composite per week</a:t>
            </a:r>
          </a:p>
        </p:txBody>
      </p:sp>
      <p:sp>
        <p:nvSpPr>
          <p:cNvPr id="21" name="Rectangle 20"/>
          <p:cNvSpPr/>
          <p:nvPr/>
        </p:nvSpPr>
        <p:spPr>
          <a:xfrm>
            <a:off x="8549640" y="2286000"/>
            <a:ext cx="1517904" cy="2194560"/>
          </a:xfrm>
          <a:prstGeom prst="rect">
            <a:avLst/>
          </a:prstGeom>
          <a:solidFill>
            <a:srgbClr val="ECF4FC"/>
          </a:solidFill>
          <a:ln w="12700">
            <a:solidFill>
              <a:srgbClr val="1F5E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13648" y="2395728"/>
            <a:ext cx="1389888" cy="777240"/>
          </a:xfrm>
          <a:prstGeom prst="rect">
            <a:avLst/>
          </a:prstGeom>
          <a:noFill/>
        </p:spPr>
        <p:txBody>
          <a:bodyPr wrap="square" anchor="t">
            <a:spAutoFit/>
          </a:bodyPr>
          <a:lstStyle/>
          <a:p>
            <a:pPr algn="ctr"/>
            <a:r>
              <a:rPr sz="1250" b="1" i="0">
                <a:solidFill>
                  <a:srgbClr val="102A4C"/>
                </a:solidFill>
                <a:latin typeface="Segoe UI"/>
              </a:rPr>
              <a:t>Drift + direction</a:t>
            </a:r>
          </a:p>
        </p:txBody>
      </p:sp>
      <p:sp>
        <p:nvSpPr>
          <p:cNvPr id="23" name="TextBox 22"/>
          <p:cNvSpPr txBox="1"/>
          <p:nvPr/>
        </p:nvSpPr>
        <p:spPr>
          <a:xfrm>
            <a:off x="8613648" y="3200400"/>
            <a:ext cx="1389888" cy="1188720"/>
          </a:xfrm>
          <a:prstGeom prst="rect">
            <a:avLst/>
          </a:prstGeom>
          <a:noFill/>
        </p:spPr>
        <p:txBody>
          <a:bodyPr wrap="square" anchor="t">
            <a:spAutoFit/>
          </a:bodyPr>
          <a:lstStyle/>
          <a:p>
            <a:pPr algn="ctr"/>
            <a:r>
              <a:rPr sz="1000" b="0" i="0">
                <a:solidFill>
                  <a:srgbClr val="333333"/>
                </a:solidFill>
                <a:latin typeface="Segoe UI"/>
              </a:rPr>
              <a:t>CUSUM + MITRE projection</a:t>
            </a:r>
          </a:p>
        </p:txBody>
      </p:sp>
      <p:sp>
        <p:nvSpPr>
          <p:cNvPr id="24" name="Rectangle 23"/>
          <p:cNvSpPr/>
          <p:nvPr/>
        </p:nvSpPr>
        <p:spPr>
          <a:xfrm>
            <a:off x="10177272" y="2286000"/>
            <a:ext cx="1517904" cy="2194560"/>
          </a:xfrm>
          <a:prstGeom prst="rect">
            <a:avLst/>
          </a:prstGeom>
          <a:solidFill>
            <a:srgbClr val="ECF4FC"/>
          </a:solidFill>
          <a:ln w="12700">
            <a:solidFill>
              <a:srgbClr val="1F5E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0" y="2395728"/>
            <a:ext cx="1389888" cy="777240"/>
          </a:xfrm>
          <a:prstGeom prst="rect">
            <a:avLst/>
          </a:prstGeom>
          <a:noFill/>
        </p:spPr>
        <p:txBody>
          <a:bodyPr wrap="square" anchor="t">
            <a:spAutoFit/>
          </a:bodyPr>
          <a:lstStyle/>
          <a:p>
            <a:pPr algn="ctr"/>
            <a:r>
              <a:rPr sz="1250" b="1" i="0">
                <a:solidFill>
                  <a:srgbClr val="102A4C"/>
                </a:solidFill>
                <a:latin typeface="Segoe UI"/>
              </a:rPr>
              <a:t>Verdict</a:t>
            </a:r>
          </a:p>
        </p:txBody>
      </p:sp>
      <p:sp>
        <p:nvSpPr>
          <p:cNvPr id="26" name="TextBox 25"/>
          <p:cNvSpPr txBox="1"/>
          <p:nvPr/>
        </p:nvSpPr>
        <p:spPr>
          <a:xfrm>
            <a:off x="10241280" y="3200400"/>
            <a:ext cx="1389888" cy="1188720"/>
          </a:xfrm>
          <a:prstGeom prst="rect">
            <a:avLst/>
          </a:prstGeom>
          <a:noFill/>
        </p:spPr>
        <p:txBody>
          <a:bodyPr wrap="square" anchor="t">
            <a:spAutoFit/>
          </a:bodyPr>
          <a:lstStyle/>
          <a:p>
            <a:pPr algn="ctr"/>
            <a:r>
              <a:rPr sz="1000" b="0" i="0">
                <a:solidFill>
                  <a:srgbClr val="333333"/>
                </a:solidFill>
                <a:latin typeface="Segoe UI"/>
              </a:rPr>
              <a:t>one ranked, explainable score</a:t>
            </a:r>
          </a:p>
        </p:txBody>
      </p:sp>
      <p:sp>
        <p:nvSpPr>
          <p:cNvPr id="27" name="TextBox 26"/>
          <p:cNvSpPr txBox="1"/>
          <p:nvPr/>
        </p:nvSpPr>
        <p:spPr>
          <a:xfrm>
            <a:off x="457200" y="4937760"/>
            <a:ext cx="11247120" cy="914400"/>
          </a:xfrm>
          <a:prstGeom prst="rect">
            <a:avLst/>
          </a:prstGeom>
          <a:noFill/>
        </p:spPr>
        <p:txBody>
          <a:bodyPr wrap="square" anchor="t">
            <a:spAutoFit/>
          </a:bodyPr>
          <a:lstStyle/>
          <a:p>
            <a:pPr algn="l"/>
            <a:r>
              <a:rPr sz="1400" b="1" i="0">
                <a:solidFill>
                  <a:srgbClr val="1A724E"/>
                </a:solidFill>
                <a:latin typeface="Segoe UI"/>
              </a:rPr>
              <a:t>The same transformation runs on real customer logs; only the source of the raw events changes. Every step in this pipeline runs today.</a:t>
            </a:r>
          </a:p>
        </p:txBody>
      </p:sp>
      <p:sp>
        <p:nvSpPr>
          <p:cNvPr id="28" name="Rectangle 27"/>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30" name="TextBox 29"/>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Digital Twin in Detail: The Five Behavioral Zones</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23 numeric features across four action zones, plus identity as context</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11064240" cy="86868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71600"/>
            <a:ext cx="2377440" cy="868680"/>
          </a:xfrm>
          <a:prstGeom prst="rect">
            <a:avLst/>
          </a:prstGeom>
          <a:solidFill>
            <a:srgbClr val="5E6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71600"/>
            <a:ext cx="2194560" cy="868680"/>
          </a:xfrm>
          <a:prstGeom prst="rect">
            <a:avLst/>
          </a:prstGeom>
          <a:noFill/>
        </p:spPr>
        <p:txBody>
          <a:bodyPr wrap="square" anchor="ctr">
            <a:spAutoFit/>
          </a:bodyPr>
          <a:lstStyle/>
          <a:p>
            <a:pPr algn="l"/>
            <a:r>
              <a:rPr sz="1400" b="1" i="0">
                <a:solidFill>
                  <a:srgbClr val="FFFFFF"/>
                </a:solidFill>
                <a:latin typeface="Segoe UI"/>
              </a:rPr>
              <a:t>identity</a:t>
            </a:r>
          </a:p>
        </p:txBody>
      </p:sp>
      <p:sp>
        <p:nvSpPr>
          <p:cNvPr id="9" name="TextBox 8"/>
          <p:cNvSpPr txBox="1"/>
          <p:nvPr/>
        </p:nvSpPr>
        <p:spPr>
          <a:xfrm>
            <a:off x="3108960" y="1426464"/>
            <a:ext cx="4754880" cy="777240"/>
          </a:xfrm>
          <a:prstGeom prst="rect">
            <a:avLst/>
          </a:prstGeom>
          <a:noFill/>
        </p:spPr>
        <p:txBody>
          <a:bodyPr wrap="square" anchor="ctr">
            <a:spAutoFit/>
          </a:bodyPr>
          <a:lstStyle/>
          <a:p>
            <a:pPr algn="l"/>
            <a:r>
              <a:rPr sz="1150" b="0" i="0">
                <a:solidFill>
                  <a:srgbClr val="333333"/>
                </a:solidFill>
                <a:latin typeface="Segoe UI"/>
              </a:rPr>
              <a:t>role, department, clearance, tenure</a:t>
            </a:r>
          </a:p>
        </p:txBody>
      </p:sp>
      <p:sp>
        <p:nvSpPr>
          <p:cNvPr id="10" name="TextBox 9"/>
          <p:cNvSpPr txBox="1"/>
          <p:nvPr/>
        </p:nvSpPr>
        <p:spPr>
          <a:xfrm>
            <a:off x="8046720" y="1426464"/>
            <a:ext cx="3474720" cy="777240"/>
          </a:xfrm>
          <a:prstGeom prst="rect">
            <a:avLst/>
          </a:prstGeom>
          <a:noFill/>
        </p:spPr>
        <p:txBody>
          <a:bodyPr wrap="square" anchor="ctr">
            <a:spAutoFit/>
          </a:bodyPr>
          <a:lstStyle/>
          <a:p>
            <a:pPr algn="l"/>
            <a:r>
              <a:rPr sz="1150" b="0" i="0">
                <a:solidFill>
                  <a:srgbClr val="102A4C"/>
                </a:solidFill>
                <a:latin typeface="Segoe UI"/>
              </a:rPr>
              <a:t>context: what normal looks like here</a:t>
            </a:r>
          </a:p>
        </p:txBody>
      </p:sp>
      <p:sp>
        <p:nvSpPr>
          <p:cNvPr id="11" name="Rectangle 10"/>
          <p:cNvSpPr/>
          <p:nvPr/>
        </p:nvSpPr>
        <p:spPr>
          <a:xfrm>
            <a:off x="548640" y="2304288"/>
            <a:ext cx="11064240" cy="86868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304288"/>
            <a:ext cx="2377440" cy="868680"/>
          </a:xfrm>
          <a:prstGeom prst="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04288"/>
            <a:ext cx="2194560" cy="868680"/>
          </a:xfrm>
          <a:prstGeom prst="rect">
            <a:avLst/>
          </a:prstGeom>
          <a:noFill/>
        </p:spPr>
        <p:txBody>
          <a:bodyPr wrap="square" anchor="ctr">
            <a:spAutoFit/>
          </a:bodyPr>
          <a:lstStyle/>
          <a:p>
            <a:pPr algn="l"/>
            <a:r>
              <a:rPr sz="1400" b="1" i="0">
                <a:solidFill>
                  <a:srgbClr val="FFFFFF"/>
                </a:solidFill>
                <a:latin typeface="Segoe UI"/>
              </a:rPr>
              <a:t>access_pattern</a:t>
            </a:r>
          </a:p>
        </p:txBody>
      </p:sp>
      <p:sp>
        <p:nvSpPr>
          <p:cNvPr id="14" name="TextBox 13"/>
          <p:cNvSpPr txBox="1"/>
          <p:nvPr/>
        </p:nvSpPr>
        <p:spPr>
          <a:xfrm>
            <a:off x="3108960" y="2359152"/>
            <a:ext cx="4754880" cy="777240"/>
          </a:xfrm>
          <a:prstGeom prst="rect">
            <a:avLst/>
          </a:prstGeom>
          <a:noFill/>
        </p:spPr>
        <p:txBody>
          <a:bodyPr wrap="square" anchor="ctr">
            <a:spAutoFit/>
          </a:bodyPr>
          <a:lstStyle/>
          <a:p>
            <a:pPr algn="l"/>
            <a:r>
              <a:rPr sz="1150" b="0" i="0">
                <a:solidFill>
                  <a:srgbClr val="333333"/>
                </a:solidFill>
                <a:latin typeface="Segoe UI"/>
              </a:rPr>
              <a:t>auth volume, fail rate, off-hours, unique destinations</a:t>
            </a:r>
          </a:p>
        </p:txBody>
      </p:sp>
      <p:sp>
        <p:nvSpPr>
          <p:cNvPr id="15" name="TextBox 14"/>
          <p:cNvSpPr txBox="1"/>
          <p:nvPr/>
        </p:nvSpPr>
        <p:spPr>
          <a:xfrm>
            <a:off x="8046720" y="2359152"/>
            <a:ext cx="3474720" cy="777240"/>
          </a:xfrm>
          <a:prstGeom prst="rect">
            <a:avLst/>
          </a:prstGeom>
          <a:noFill/>
        </p:spPr>
        <p:txBody>
          <a:bodyPr wrap="square" anchor="ctr">
            <a:spAutoFit/>
          </a:bodyPr>
          <a:lstStyle/>
          <a:p>
            <a:pPr algn="l"/>
            <a:r>
              <a:rPr sz="1150" b="0" i="0">
                <a:solidFill>
                  <a:srgbClr val="102A4C"/>
                </a:solidFill>
                <a:latin typeface="Segoe UI"/>
              </a:rPr>
              <a:t>credential abuse, lateral movement</a:t>
            </a:r>
          </a:p>
        </p:txBody>
      </p:sp>
      <p:sp>
        <p:nvSpPr>
          <p:cNvPr id="16" name="Rectangle 15"/>
          <p:cNvSpPr/>
          <p:nvPr/>
        </p:nvSpPr>
        <p:spPr>
          <a:xfrm>
            <a:off x="548640" y="3236976"/>
            <a:ext cx="11064240" cy="86868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236976"/>
            <a:ext cx="2377440" cy="868680"/>
          </a:xfrm>
          <a:prstGeom prst="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236976"/>
            <a:ext cx="2194560" cy="868680"/>
          </a:xfrm>
          <a:prstGeom prst="rect">
            <a:avLst/>
          </a:prstGeom>
          <a:noFill/>
        </p:spPr>
        <p:txBody>
          <a:bodyPr wrap="square" anchor="ctr">
            <a:spAutoFit/>
          </a:bodyPr>
          <a:lstStyle/>
          <a:p>
            <a:pPr algn="l"/>
            <a:r>
              <a:rPr sz="1400" b="1" i="0">
                <a:solidFill>
                  <a:srgbClr val="FFFFFF"/>
                </a:solidFill>
                <a:latin typeface="Segoe UI"/>
              </a:rPr>
              <a:t>data_behavior</a:t>
            </a:r>
          </a:p>
        </p:txBody>
      </p:sp>
      <p:sp>
        <p:nvSpPr>
          <p:cNvPr id="19" name="TextBox 18"/>
          <p:cNvSpPr txBox="1"/>
          <p:nvPr/>
        </p:nvSpPr>
        <p:spPr>
          <a:xfrm>
            <a:off x="3108960" y="3291840"/>
            <a:ext cx="4754880" cy="777240"/>
          </a:xfrm>
          <a:prstGeom prst="rect">
            <a:avLst/>
          </a:prstGeom>
          <a:noFill/>
        </p:spPr>
        <p:txBody>
          <a:bodyPr wrap="square" anchor="ctr">
            <a:spAutoFit/>
          </a:bodyPr>
          <a:lstStyle/>
          <a:p>
            <a:pPr algn="l"/>
            <a:r>
              <a:rPr sz="1150" b="0" i="0">
                <a:solidFill>
                  <a:srgbClr val="333333"/>
                </a:solidFill>
                <a:latin typeface="Segoe UI"/>
              </a:rPr>
              <a:t>file count, restricted and confidential ratios, bytes</a:t>
            </a:r>
          </a:p>
        </p:txBody>
      </p:sp>
      <p:sp>
        <p:nvSpPr>
          <p:cNvPr id="20" name="TextBox 19"/>
          <p:cNvSpPr txBox="1"/>
          <p:nvPr/>
        </p:nvSpPr>
        <p:spPr>
          <a:xfrm>
            <a:off x="8046720" y="3291840"/>
            <a:ext cx="3474720" cy="777240"/>
          </a:xfrm>
          <a:prstGeom prst="rect">
            <a:avLst/>
          </a:prstGeom>
          <a:noFill/>
        </p:spPr>
        <p:txBody>
          <a:bodyPr wrap="square" anchor="ctr">
            <a:spAutoFit/>
          </a:bodyPr>
          <a:lstStyle/>
          <a:p>
            <a:pPr algn="l"/>
            <a:r>
              <a:rPr sz="1150" b="0" i="0">
                <a:solidFill>
                  <a:srgbClr val="102A4C"/>
                </a:solidFill>
                <a:latin typeface="Segoe UI"/>
              </a:rPr>
              <a:t>collection and exfiltration staging</a:t>
            </a:r>
          </a:p>
        </p:txBody>
      </p:sp>
      <p:sp>
        <p:nvSpPr>
          <p:cNvPr id="21" name="Rectangle 20"/>
          <p:cNvSpPr/>
          <p:nvPr/>
        </p:nvSpPr>
        <p:spPr>
          <a:xfrm>
            <a:off x="548640" y="4169664"/>
            <a:ext cx="11064240" cy="86868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169664"/>
            <a:ext cx="2377440" cy="868680"/>
          </a:xfrm>
          <a:prstGeom prst="rect">
            <a:avLst/>
          </a:prstGeom>
          <a:solidFill>
            <a:srgbClr val="1A7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169664"/>
            <a:ext cx="2194560" cy="868680"/>
          </a:xfrm>
          <a:prstGeom prst="rect">
            <a:avLst/>
          </a:prstGeom>
          <a:noFill/>
        </p:spPr>
        <p:txBody>
          <a:bodyPr wrap="square" anchor="ctr">
            <a:spAutoFit/>
          </a:bodyPr>
          <a:lstStyle/>
          <a:p>
            <a:pPr algn="l"/>
            <a:r>
              <a:rPr sz="1400" b="1" i="0">
                <a:solidFill>
                  <a:srgbClr val="FFFFFF"/>
                </a:solidFill>
                <a:latin typeface="Segoe UI"/>
              </a:rPr>
              <a:t>network_footprint</a:t>
            </a:r>
          </a:p>
        </p:txBody>
      </p:sp>
      <p:sp>
        <p:nvSpPr>
          <p:cNvPr id="24" name="TextBox 23"/>
          <p:cNvSpPr txBox="1"/>
          <p:nvPr/>
        </p:nvSpPr>
        <p:spPr>
          <a:xfrm>
            <a:off x="3108960" y="4224528"/>
            <a:ext cx="4754880" cy="777240"/>
          </a:xfrm>
          <a:prstGeom prst="rect">
            <a:avLst/>
          </a:prstGeom>
          <a:noFill/>
        </p:spPr>
        <p:txBody>
          <a:bodyPr wrap="square" anchor="ctr">
            <a:spAutoFit/>
          </a:bodyPr>
          <a:lstStyle/>
          <a:p>
            <a:pPr algn="l"/>
            <a:r>
              <a:rPr sz="1150" b="0" i="0">
                <a:solidFill>
                  <a:srgbClr val="333333"/>
                </a:solidFill>
                <a:latin typeface="Segoe UI"/>
              </a:rPr>
              <a:t>bytes out, unique destinations, external ratio, DNS</a:t>
            </a:r>
          </a:p>
        </p:txBody>
      </p:sp>
      <p:sp>
        <p:nvSpPr>
          <p:cNvPr id="25" name="TextBox 24"/>
          <p:cNvSpPr txBox="1"/>
          <p:nvPr/>
        </p:nvSpPr>
        <p:spPr>
          <a:xfrm>
            <a:off x="8046720" y="4224528"/>
            <a:ext cx="3474720" cy="777240"/>
          </a:xfrm>
          <a:prstGeom prst="rect">
            <a:avLst/>
          </a:prstGeom>
          <a:noFill/>
        </p:spPr>
        <p:txBody>
          <a:bodyPr wrap="square" anchor="ctr">
            <a:spAutoFit/>
          </a:bodyPr>
          <a:lstStyle/>
          <a:p>
            <a:pPr algn="l"/>
            <a:r>
              <a:rPr sz="1150" b="0" i="0">
                <a:solidFill>
                  <a:srgbClr val="102A4C"/>
                </a:solidFill>
                <a:latin typeface="Segoe UI"/>
              </a:rPr>
              <a:t>C2 beaconing, tunneling, exfiltration</a:t>
            </a:r>
          </a:p>
        </p:txBody>
      </p:sp>
      <p:sp>
        <p:nvSpPr>
          <p:cNvPr id="26" name="Rectangle 25"/>
          <p:cNvSpPr/>
          <p:nvPr/>
        </p:nvSpPr>
        <p:spPr>
          <a:xfrm>
            <a:off x="548640" y="5102352"/>
            <a:ext cx="11064240" cy="86868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102352"/>
            <a:ext cx="2377440" cy="868680"/>
          </a:xfrm>
          <a:prstGeom prst="rect">
            <a:avLst/>
          </a:prstGeom>
          <a:solidFill>
            <a:srgbClr val="C9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102352"/>
            <a:ext cx="2194560" cy="868680"/>
          </a:xfrm>
          <a:prstGeom prst="rect">
            <a:avLst/>
          </a:prstGeom>
          <a:noFill/>
        </p:spPr>
        <p:txBody>
          <a:bodyPr wrap="square" anchor="ctr">
            <a:spAutoFit/>
          </a:bodyPr>
          <a:lstStyle/>
          <a:p>
            <a:pPr algn="l"/>
            <a:r>
              <a:rPr sz="1400" b="1" i="0">
                <a:solidFill>
                  <a:srgbClr val="FFFFFF"/>
                </a:solidFill>
                <a:latin typeface="Segoe UI"/>
              </a:rPr>
              <a:t>risk_posture</a:t>
            </a:r>
          </a:p>
        </p:txBody>
      </p:sp>
      <p:sp>
        <p:nvSpPr>
          <p:cNvPr id="29" name="TextBox 28"/>
          <p:cNvSpPr txBox="1"/>
          <p:nvPr/>
        </p:nvSpPr>
        <p:spPr>
          <a:xfrm>
            <a:off x="3108960" y="5157216"/>
            <a:ext cx="4754880" cy="777240"/>
          </a:xfrm>
          <a:prstGeom prst="rect">
            <a:avLst/>
          </a:prstGeom>
          <a:noFill/>
        </p:spPr>
        <p:txBody>
          <a:bodyPr wrap="square" anchor="ctr">
            <a:spAutoFit/>
          </a:bodyPr>
          <a:lstStyle/>
          <a:p>
            <a:pPr algn="l"/>
            <a:r>
              <a:rPr sz="1150" b="0" i="0">
                <a:solidFill>
                  <a:srgbClr val="333333"/>
                </a:solidFill>
                <a:latin typeface="Segoe UI"/>
              </a:rPr>
              <a:t>endpoint events, suspicious ratio, unique processes</a:t>
            </a:r>
          </a:p>
        </p:txBody>
      </p:sp>
      <p:sp>
        <p:nvSpPr>
          <p:cNvPr id="30" name="TextBox 29"/>
          <p:cNvSpPr txBox="1"/>
          <p:nvPr/>
        </p:nvSpPr>
        <p:spPr>
          <a:xfrm>
            <a:off x="8046720" y="5157216"/>
            <a:ext cx="3474720" cy="777240"/>
          </a:xfrm>
          <a:prstGeom prst="rect">
            <a:avLst/>
          </a:prstGeom>
          <a:noFill/>
        </p:spPr>
        <p:txBody>
          <a:bodyPr wrap="square" anchor="ctr">
            <a:spAutoFit/>
          </a:bodyPr>
          <a:lstStyle/>
          <a:p>
            <a:pPr algn="l"/>
            <a:r>
              <a:rPr sz="1150" b="0" i="0">
                <a:solidFill>
                  <a:srgbClr val="102A4C"/>
                </a:solidFill>
                <a:latin typeface="Segoe UI"/>
              </a:rPr>
              <a:t>living-off-the-land tooling, malware</a:t>
            </a:r>
          </a:p>
        </p:txBody>
      </p:sp>
      <p:sp>
        <p:nvSpPr>
          <p:cNvPr id="31" name="Rectangle 30"/>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33" name="TextBox 32"/>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Digital Twin in Detail: Meaning Over Magnitude</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Why prose and embedding, not raw counts</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6583680" cy="4572000"/>
          </a:xfrm>
          <a:prstGeom prst="rect">
            <a:avLst/>
          </a:prstGeom>
          <a:noFill/>
        </p:spPr>
        <p:txBody>
          <a:bodyPr wrap="square">
            <a:spAutoFit/>
          </a:bodyPr>
          <a:lstStyle/>
          <a:p>
            <a:pPr>
              <a:spcAft>
                <a:spcPts val="1200"/>
              </a:spcAft>
            </a:pPr>
            <a:r>
              <a:rPr sz="1500" b="1">
                <a:solidFill>
                  <a:srgbClr val="102A4C"/>
                </a:solidFill>
                <a:latin typeface="Segoe UI"/>
              </a:rPr>
              <a:t>• Each zone's attributes fuse into one sentence, then embed; the meaning of every feature is carried into one vector.</a:t>
            </a:r>
          </a:p>
          <a:p>
            <a:pPr>
              <a:spcAft>
                <a:spcPts val="1200"/>
              </a:spcAft>
            </a:pPr>
            <a:r>
              <a:rPr sz="1500">
                <a:solidFill>
                  <a:srgbClr val="222222"/>
                </a:solidFill>
                <a:latin typeface="Segoe UI"/>
              </a:rPr>
              <a:t>• Meaning lives in the relationships among attributes, not any single number.</a:t>
            </a:r>
          </a:p>
          <a:p>
            <a:pPr>
              <a:spcAft>
                <a:spcPts val="1200"/>
              </a:spcAft>
            </a:pPr>
            <a:r>
              <a:rPr sz="1500">
                <a:solidFill>
                  <a:srgbClr val="222222"/>
                </a:solidFill>
                <a:latin typeface="Segoe UI"/>
              </a:rPr>
              <a:t>• Same 250 MB of file activity: 180 public files (benign) versus 6 restricted files with high write (exfil staging) embed in completely different regions.</a:t>
            </a:r>
          </a:p>
          <a:p>
            <a:pPr>
              <a:spcAft>
                <a:spcPts val="1200"/>
              </a:spcAft>
            </a:pPr>
            <a:r>
              <a:rPr sz="1500">
                <a:solidFill>
                  <a:srgbClr val="222222"/>
                </a:solidFill>
                <a:latin typeface="Segoe UI"/>
              </a:rPr>
              <a:t>• Individually benign access signals (off-hours, broad, error-free) only read as lateral movement once fused.</a:t>
            </a:r>
          </a:p>
        </p:txBody>
      </p:sp>
      <p:sp>
        <p:nvSpPr>
          <p:cNvPr id="7" name="Rectangle 6"/>
          <p:cNvSpPr/>
          <p:nvPr/>
        </p:nvSpPr>
        <p:spPr>
          <a:xfrm>
            <a:off x="7498079" y="1463040"/>
            <a:ext cx="4206240" cy="411480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645920"/>
            <a:ext cx="3840480" cy="457200"/>
          </a:xfrm>
          <a:prstGeom prst="rect">
            <a:avLst/>
          </a:prstGeom>
          <a:noFill/>
        </p:spPr>
        <p:txBody>
          <a:bodyPr wrap="square" anchor="t">
            <a:spAutoFit/>
          </a:bodyPr>
          <a:lstStyle/>
          <a:p>
            <a:pPr algn="l"/>
            <a:r>
              <a:rPr sz="1500" b="1" i="0">
                <a:solidFill>
                  <a:srgbClr val="1F5E9C"/>
                </a:solidFill>
                <a:latin typeface="Segoe UI"/>
              </a:rPr>
              <a:t>Direction, not just magnitude</a:t>
            </a:r>
          </a:p>
        </p:txBody>
      </p:sp>
      <p:sp>
        <p:nvSpPr>
          <p:cNvPr id="9" name="TextBox 8"/>
          <p:cNvSpPr txBox="1"/>
          <p:nvPr/>
        </p:nvSpPr>
        <p:spPr>
          <a:xfrm>
            <a:off x="7680960" y="2286000"/>
            <a:ext cx="3840480" cy="3108960"/>
          </a:xfrm>
          <a:prstGeom prst="rect">
            <a:avLst/>
          </a:prstGeom>
          <a:noFill/>
        </p:spPr>
        <p:txBody>
          <a:bodyPr wrap="square" anchor="t">
            <a:spAutoFit/>
          </a:bodyPr>
          <a:lstStyle/>
          <a:p>
            <a:pPr algn="l"/>
            <a:r>
              <a:rPr sz="1400" b="0" i="0">
                <a:solidFill>
                  <a:srgbClr val="333333"/>
                </a:solidFill>
                <a:latin typeface="Segoe UI"/>
              </a:rPr>
              <a:t>We do not say '87 percent anomalous'. We say the entity is drifting toward a named MITRE threat concept, for example living-off-the-land [T1218, T1053] or c2_beacon [T1071, T1573].</a:t>
            </a:r>
          </a:p>
        </p:txBody>
      </p:sp>
      <p:sp>
        <p:nvSpPr>
          <p:cNvPr id="10" name="Rectangle 9"/>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12" name="TextBox 11"/>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Digital Twin in Detail: Detection Over Time</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Drift, CUSUM, direction, composite, novelty</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0972800" cy="4572000"/>
          </a:xfrm>
          <a:prstGeom prst="rect">
            <a:avLst/>
          </a:prstGeom>
          <a:noFill/>
        </p:spPr>
        <p:txBody>
          <a:bodyPr wrap="square">
            <a:spAutoFit/>
          </a:bodyPr>
          <a:lstStyle/>
          <a:p>
            <a:pPr>
              <a:spcAft>
                <a:spcPts val="1200"/>
              </a:spcAft>
            </a:pPr>
            <a:r>
              <a:rPr sz="1500">
                <a:solidFill>
                  <a:srgbClr val="222222"/>
                </a:solidFill>
                <a:latin typeface="Segoe UI"/>
              </a:rPr>
              <a:t>• Drift: how far the twin moved week to week (cosine distance between weekly composites).</a:t>
            </a:r>
          </a:p>
          <a:p>
            <a:pPr>
              <a:spcAft>
                <a:spcPts val="1200"/>
              </a:spcAft>
            </a:pPr>
            <a:r>
              <a:rPr sz="1500" b="1">
                <a:solidFill>
                  <a:srgbClr val="102A4C"/>
                </a:solidFill>
                <a:latin typeface="Segoe UI"/>
              </a:rPr>
              <a:t>• CUSUM: accumulates small, sub-threshold drift above a noise floor; a slow APT that never trips a per-week line still fires.</a:t>
            </a:r>
          </a:p>
          <a:p>
            <a:pPr>
              <a:spcAft>
                <a:spcPts val="1200"/>
              </a:spcAft>
            </a:pPr>
            <a:r>
              <a:rPr sz="1500">
                <a:solidFill>
                  <a:srgbClr val="222222"/>
                </a:solidFill>
                <a:latin typeface="Segoe UI"/>
              </a:rPr>
              <a:t>• Direction: the drift vector is projected onto 14 threat and 2 benign concepts; the best match names the MITRE technique.</a:t>
            </a:r>
          </a:p>
          <a:p>
            <a:pPr>
              <a:spcAft>
                <a:spcPts val="1200"/>
              </a:spcAft>
            </a:pPr>
            <a:r>
              <a:rPr sz="1500">
                <a:solidFill>
                  <a:srgbClr val="222222"/>
                </a:solidFill>
                <a:latin typeface="Segoe UI"/>
              </a:rPr>
              <a:t>• Composite: a five-phase score (signal strength, breadth, sustained, context divergence, novelty) yields one ranked verdict.</a:t>
            </a:r>
          </a:p>
          <a:p>
            <a:pPr>
              <a:spcAft>
                <a:spcPts val="1200"/>
              </a:spcAft>
            </a:pPr>
            <a:r>
              <a:rPr sz="1500" b="1">
                <a:solidFill>
                  <a:srgbClr val="1A724E"/>
                </a:solidFill>
                <a:latin typeface="Segoe UI"/>
              </a:rPr>
              <a:t>• Novelty: a novel command-and-control IP recurring week after week is the beacon signature, and it is what catches the stealthiest attacker.</a:t>
            </a:r>
          </a:p>
        </p:txBody>
      </p:sp>
      <p:sp>
        <p:nvSpPr>
          <p:cNvPr id="7" name="Rectangle 6"/>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9" name="TextBox 8"/>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Digital Twin in Detail: From Raw Logs to a Vector</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Each zone fuses its attributes into one sentence, then embeds into 1536-d</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10972800" cy="365760"/>
          </a:xfrm>
          <a:prstGeom prst="rect">
            <a:avLst/>
          </a:prstGeom>
          <a:noFill/>
        </p:spPr>
        <p:txBody>
          <a:bodyPr wrap="square" anchor="t">
            <a:spAutoFit/>
          </a:bodyPr>
          <a:lstStyle/>
          <a:p>
            <a:pPr algn="l"/>
            <a:r>
              <a:rPr sz="1400" b="1" i="0">
                <a:solidFill>
                  <a:srgbClr val="102A4C"/>
                </a:solidFill>
                <a:latin typeface="Segoe UI"/>
              </a:rPr>
              <a:t>Real zone serializations (verbatim, entity USR-156):</a:t>
            </a:r>
          </a:p>
        </p:txBody>
      </p:sp>
      <p:sp>
        <p:nvSpPr>
          <p:cNvPr id="7" name="Rectangle 6"/>
          <p:cNvSpPr/>
          <p:nvPr/>
        </p:nvSpPr>
        <p:spPr>
          <a:xfrm>
            <a:off x="548640" y="1783080"/>
            <a:ext cx="11064240" cy="246888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65960"/>
            <a:ext cx="10698480" cy="2194560"/>
          </a:xfrm>
          <a:prstGeom prst="rect">
            <a:avLst/>
          </a:prstGeom>
          <a:noFill/>
        </p:spPr>
        <p:txBody>
          <a:bodyPr wrap="square" anchor="t">
            <a:spAutoFit/>
          </a:bodyPr>
          <a:lstStyle/>
          <a:p>
            <a:pPr algn="l"/>
            <a:r>
              <a:rPr sz="1200" b="0" i="0">
                <a:solidFill>
                  <a:srgbClr val="222222"/>
                </a:solidFill>
                <a:latin typeface="Consolas"/>
              </a:rPr>
              <a:t>identity:  User USR-156: role=Analyst, dept=Marketing, clearance=internal</a:t>
            </a:r>
          </a:p>
          <a:p>
            <a:pPr algn="l"/>
            <a:r>
              <a:rPr sz="1200" b="0" i="0">
                <a:solidFill>
                  <a:srgbClr val="222222"/>
                </a:solidFill>
                <a:latin typeface="Consolas"/>
              </a:rPr>
              <a:t>access:    auth_events=16, fail_rate=0.0625, off_hours=0.1250, unique_dests=5</a:t>
            </a:r>
          </a:p>
          <a:p>
            <a:pPr algn="l"/>
            <a:r>
              <a:rPr sz="1200" b="0" i="0">
                <a:solidFill>
                  <a:srgbClr val="222222"/>
                </a:solidFill>
                <a:latin typeface="Consolas"/>
              </a:rPr>
              <a:t>data:      file_accesses=10, restricted=0.0, confidential=0.2, bytes=124,933,027</a:t>
            </a:r>
          </a:p>
          <a:p>
            <a:pPr algn="l"/>
            <a:r>
              <a:rPr sz="1200" b="0" i="0">
                <a:solidFill>
                  <a:srgbClr val="222222"/>
                </a:solidFill>
                <a:latin typeface="Consolas"/>
              </a:rPr>
              <a:t>network:   bytes_out=125,407,529, unique_dsts=22, external_ratio=0.1042</a:t>
            </a:r>
          </a:p>
          <a:p>
            <a:pPr algn="l"/>
            <a:r>
              <a:rPr sz="1200" b="0" i="0">
                <a:solidFill>
                  <a:srgbClr val="222222"/>
                </a:solidFill>
                <a:latin typeface="Consolas"/>
              </a:rPr>
              <a:t>risk:      endpoint_events=8, suspicious=0.0, max_risk=30.0, processes=7</a:t>
            </a:r>
          </a:p>
        </p:txBody>
      </p:sp>
      <p:sp>
        <p:nvSpPr>
          <p:cNvPr id="9" name="TextBox 8"/>
          <p:cNvSpPr txBox="1"/>
          <p:nvPr/>
        </p:nvSpPr>
        <p:spPr>
          <a:xfrm>
            <a:off x="548640" y="4480560"/>
            <a:ext cx="10972800" cy="822960"/>
          </a:xfrm>
          <a:prstGeom prst="rect">
            <a:avLst/>
          </a:prstGeom>
          <a:noFill/>
        </p:spPr>
        <p:txBody>
          <a:bodyPr wrap="square" anchor="t">
            <a:spAutoFit/>
          </a:bodyPr>
          <a:lstStyle/>
          <a:p>
            <a:pPr algn="l"/>
            <a:r>
              <a:rPr sz="1400" b="1" i="0">
                <a:solidFill>
                  <a:srgbClr val="1A724E"/>
                </a:solidFill>
                <a:latin typeface="Segoe UI"/>
              </a:rPr>
              <a:t>Each line becomes one 1536-d vector. Five zones, five vectors, composed into one twin. The meaning of every feature in a zone is carried into that zone's embedding.</a:t>
            </a:r>
          </a:p>
        </p:txBody>
      </p:sp>
      <p:sp>
        <p:nvSpPr>
          <p:cNvPr id="10" name="Rectangle 9"/>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12" name="TextBox 11"/>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Digital Twin in Detail: The Composite Score, Worked</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Group-relative z-scores, fused by one formula</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10972800" cy="457200"/>
          </a:xfrm>
          <a:prstGeom prst="rect">
            <a:avLst/>
          </a:prstGeom>
          <a:noFill/>
        </p:spPr>
        <p:txBody>
          <a:bodyPr wrap="square" anchor="t">
            <a:spAutoFit/>
          </a:bodyPr>
          <a:lstStyle/>
          <a:p>
            <a:pPr algn="l"/>
            <a:r>
              <a:rPr sz="1300" b="1" i="0">
                <a:solidFill>
                  <a:srgbClr val="102A4C"/>
                </a:solidFill>
                <a:latin typeface="Segoe UI"/>
              </a:rPr>
              <a:t>Each user's features become z-scores versus the normals in their OWN role group (a higher bar than a global threshold).</a:t>
            </a:r>
          </a:p>
        </p:txBody>
      </p:sp>
      <p:sp>
        <p:nvSpPr>
          <p:cNvPr id="7" name="Rectangle 6"/>
          <p:cNvSpPr/>
          <p:nvPr/>
        </p:nvSpPr>
        <p:spPr>
          <a:xfrm>
            <a:off x="548640" y="1874519"/>
            <a:ext cx="11064240" cy="91440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11680"/>
            <a:ext cx="10698480" cy="685800"/>
          </a:xfrm>
          <a:prstGeom prst="rect">
            <a:avLst/>
          </a:prstGeom>
          <a:noFill/>
        </p:spPr>
        <p:txBody>
          <a:bodyPr wrap="square" anchor="t">
            <a:spAutoFit/>
          </a:bodyPr>
          <a:lstStyle/>
          <a:p>
            <a:pPr algn="l"/>
            <a:r>
              <a:rPr sz="1350" b="1" i="0">
                <a:solidFill>
                  <a:srgbClr val="102A4C"/>
                </a:solidFill>
                <a:latin typeface="Consolas"/>
              </a:rPr>
              <a:t>composite = signal_strength + 0.5 x breadth + 0.3 x sustained + 0.5 x ctx_spread + 0.3 x ctx_max + novelty</a:t>
            </a:r>
          </a:p>
        </p:txBody>
      </p:sp>
      <p:sp>
        <p:nvSpPr>
          <p:cNvPr id="9" name="Rectangle 8"/>
          <p:cNvSpPr/>
          <p:nvPr/>
        </p:nvSpPr>
        <p:spPr>
          <a:xfrm>
            <a:off x="548640" y="3063240"/>
            <a:ext cx="11064240" cy="1371600"/>
          </a:xfrm>
          <a:prstGeom prst="rect">
            <a:avLst/>
          </a:prstGeom>
          <a:solidFill>
            <a:srgbClr val="F2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246120"/>
            <a:ext cx="10698480" cy="1005840"/>
          </a:xfrm>
          <a:prstGeom prst="rect">
            <a:avLst/>
          </a:prstGeom>
          <a:noFill/>
        </p:spPr>
        <p:txBody>
          <a:bodyPr wrap="square" anchor="t">
            <a:spAutoFit/>
          </a:bodyPr>
          <a:lstStyle/>
          <a:p>
            <a:pPr algn="l"/>
            <a:r>
              <a:rPr sz="1300" b="0" i="0">
                <a:solidFill>
                  <a:srgbClr val="222222"/>
                </a:solidFill>
                <a:latin typeface="Consolas"/>
              </a:rPr>
              <a:t>Volt:   6.20 + 5.00 + 1.11 + 0.20 + 0.42 + 0.00  =  12.93   (rank #30, stealthiest)</a:t>
            </a:r>
          </a:p>
          <a:p>
            <a:pPr algn="l"/>
            <a:r>
              <a:rPr sz="1300" b="0" i="0">
                <a:solidFill>
                  <a:srgbClr val="222222"/>
                </a:solidFill>
                <a:latin typeface="Consolas"/>
              </a:rPr>
              <a:t>Salt:  30.60 + 8.50 + 2.88 + 4.50 + 2.43 + 2.80  =  51.71   (rank #1)</a:t>
            </a:r>
          </a:p>
        </p:txBody>
      </p:sp>
      <p:sp>
        <p:nvSpPr>
          <p:cNvPr id="11" name="TextBox 10"/>
          <p:cNvSpPr txBox="1"/>
          <p:nvPr/>
        </p:nvSpPr>
        <p:spPr>
          <a:xfrm>
            <a:off x="548640" y="4663440"/>
            <a:ext cx="10972800" cy="731520"/>
          </a:xfrm>
          <a:prstGeom prst="rect">
            <a:avLst/>
          </a:prstGeom>
          <a:noFill/>
        </p:spPr>
        <p:txBody>
          <a:bodyPr wrap="square" anchor="t">
            <a:spAutoFit/>
          </a:bodyPr>
          <a:lstStyle/>
          <a:p>
            <a:pPr algn="l"/>
            <a:r>
              <a:rPr sz="1400" b="1" i="0">
                <a:solidFill>
                  <a:srgbClr val="1A724E"/>
                </a:solidFill>
                <a:latin typeface="Segoe UI"/>
              </a:rPr>
              <a:t>Every composite re-derives live from the formula, in front of the room, from the results file.</a:t>
            </a:r>
          </a:p>
        </p:txBody>
      </p:sp>
      <p:sp>
        <p:nvSpPr>
          <p:cNvPr id="12" name="Rectangle 11"/>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14" name="TextBox 13"/>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Digital Twin in Detail: The Four Attackers, by the Numbers</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Why each scored where it did</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371600"/>
          <a:ext cx="11247120" cy="2286000"/>
        </p:xfrm>
        <a:graphic>
          <a:graphicData uri="http://schemas.openxmlformats.org/drawingml/2006/table">
            <a:tbl>
              <a:tblPr firstRow="1" bandRow="1">
                <a:tableStyleId>{5C22544A-7EE6-4342-B048-85BDC9FD1C3A}</a:tableStyleId>
              </a:tblPr>
              <a:tblGrid>
                <a:gridCol w="1606731"/>
                <a:gridCol w="1606731"/>
                <a:gridCol w="1606731"/>
                <a:gridCol w="1606731"/>
                <a:gridCol w="1606731"/>
                <a:gridCol w="1606731"/>
                <a:gridCol w="1606734"/>
              </a:tblGrid>
              <a:tr h="457200">
                <a:tc>
                  <a:txBody>
                    <a:bodyPr/>
                    <a:lstStyle/>
                    <a:p>
                      <a:r>
                        <a:rPr sz="1200" b="1">
                          <a:latin typeface="Segoe UI"/>
                        </a:rPr>
                        <a:t>Attacker</a:t>
                      </a:r>
                    </a:p>
                  </a:txBody>
                  <a:tcPr/>
                </a:tc>
                <a:tc>
                  <a:txBody>
                    <a:bodyPr/>
                    <a:lstStyle/>
                    <a:p>
                      <a:r>
                        <a:rPr sz="1200" b="1">
                          <a:latin typeface="Segoe UI"/>
                        </a:rPr>
                        <a:t>signal</a:t>
                      </a:r>
                    </a:p>
                  </a:txBody>
                  <a:tcPr/>
                </a:tc>
                <a:tc>
                  <a:txBody>
                    <a:bodyPr/>
                    <a:lstStyle/>
                    <a:p>
                      <a:r>
                        <a:rPr sz="1200" b="1">
                          <a:latin typeface="Segoe UI"/>
                        </a:rPr>
                        <a:t>breadth</a:t>
                      </a:r>
                    </a:p>
                  </a:txBody>
                  <a:tcPr/>
                </a:tc>
                <a:tc>
                  <a:txBody>
                    <a:bodyPr/>
                    <a:lstStyle/>
                    <a:p>
                      <a:r>
                        <a:rPr sz="1200" b="1">
                          <a:latin typeface="Segoe UI"/>
                        </a:rPr>
                        <a:t>sustained</a:t>
                      </a:r>
                    </a:p>
                  </a:txBody>
                  <a:tcPr/>
                </a:tc>
                <a:tc>
                  <a:txBody>
                    <a:bodyPr/>
                    <a:lstStyle/>
                    <a:p>
                      <a:r>
                        <a:rPr sz="1200" b="1">
                          <a:latin typeface="Segoe UI"/>
                        </a:rPr>
                        <a:t>ctx spr/max</a:t>
                      </a:r>
                    </a:p>
                  </a:txBody>
                  <a:tcPr/>
                </a:tc>
                <a:tc>
                  <a:txBody>
                    <a:bodyPr/>
                    <a:lstStyle/>
                    <a:p>
                      <a:r>
                        <a:rPr sz="1200" b="1">
                          <a:latin typeface="Segoe UI"/>
                        </a:rPr>
                        <a:t>novelty</a:t>
                      </a:r>
                    </a:p>
                  </a:txBody>
                  <a:tcPr/>
                </a:tc>
                <a:tc>
                  <a:txBody>
                    <a:bodyPr/>
                    <a:lstStyle/>
                    <a:p>
                      <a:r>
                        <a:rPr sz="1200" b="1">
                          <a:latin typeface="Segoe UI"/>
                        </a:rPr>
                        <a:t>composite (rank)</a:t>
                      </a:r>
                    </a:p>
                  </a:txBody>
                  <a:tcPr/>
                </a:tc>
              </a:tr>
              <a:tr h="457200">
                <a:tc>
                  <a:txBody>
                    <a:bodyPr/>
                    <a:lstStyle/>
                    <a:p>
                      <a:r>
                        <a:rPr sz="1200">
                          <a:latin typeface="Segoe UI"/>
                        </a:rPr>
                        <a:t>Salt</a:t>
                      </a:r>
                    </a:p>
                  </a:txBody>
                  <a:tcPr/>
                </a:tc>
                <a:tc>
                  <a:txBody>
                    <a:bodyPr/>
                    <a:lstStyle/>
                    <a:p>
                      <a:r>
                        <a:rPr sz="1200">
                          <a:latin typeface="Segoe UI"/>
                        </a:rPr>
                        <a:t>30.60</a:t>
                      </a:r>
                    </a:p>
                  </a:txBody>
                  <a:tcPr/>
                </a:tc>
                <a:tc>
                  <a:txBody>
                    <a:bodyPr/>
                    <a:lstStyle/>
                    <a:p>
                      <a:r>
                        <a:rPr sz="1200">
                          <a:latin typeface="Segoe UI"/>
                        </a:rPr>
                        <a:t>17</a:t>
                      </a:r>
                    </a:p>
                  </a:txBody>
                  <a:tcPr/>
                </a:tc>
                <a:tc>
                  <a:txBody>
                    <a:bodyPr/>
                    <a:lstStyle/>
                    <a:p>
                      <a:r>
                        <a:rPr sz="1200">
                          <a:latin typeface="Segoe UI"/>
                        </a:rPr>
                        <a:t>9.58</a:t>
                      </a:r>
                    </a:p>
                  </a:txBody>
                  <a:tcPr/>
                </a:tc>
                <a:tc>
                  <a:txBody>
                    <a:bodyPr/>
                    <a:lstStyle/>
                    <a:p>
                      <a:r>
                        <a:rPr sz="1200">
                          <a:latin typeface="Segoe UI"/>
                        </a:rPr>
                        <a:t>9.00 / 8.10</a:t>
                      </a:r>
                    </a:p>
                  </a:txBody>
                  <a:tcPr/>
                </a:tc>
                <a:tc>
                  <a:txBody>
                    <a:bodyPr/>
                    <a:lstStyle/>
                    <a:p>
                      <a:r>
                        <a:rPr sz="1200">
                          <a:latin typeface="Segoe UI"/>
                        </a:rPr>
                        <a:t>2.8</a:t>
                      </a:r>
                    </a:p>
                  </a:txBody>
                  <a:tcPr/>
                </a:tc>
                <a:tc>
                  <a:txBody>
                    <a:bodyPr/>
                    <a:lstStyle/>
                    <a:p>
                      <a:r>
                        <a:rPr sz="1200">
                          <a:latin typeface="Segoe UI"/>
                        </a:rPr>
                        <a:t>51.71 (#1)</a:t>
                      </a:r>
                    </a:p>
                  </a:txBody>
                  <a:tcPr/>
                </a:tc>
              </a:tr>
              <a:tr h="457200">
                <a:tc>
                  <a:txBody>
                    <a:bodyPr/>
                    <a:lstStyle/>
                    <a:p>
                      <a:r>
                        <a:rPr sz="1200">
                          <a:latin typeface="Segoe UI"/>
                        </a:rPr>
                        <a:t>Insider</a:t>
                      </a:r>
                    </a:p>
                  </a:txBody>
                  <a:tcPr/>
                </a:tc>
                <a:tc>
                  <a:txBody>
                    <a:bodyPr/>
                    <a:lstStyle/>
                    <a:p>
                      <a:r>
                        <a:rPr sz="1200">
                          <a:latin typeface="Segoe UI"/>
                        </a:rPr>
                        <a:t>30.02</a:t>
                      </a:r>
                    </a:p>
                  </a:txBody>
                  <a:tcPr/>
                </a:tc>
                <a:tc>
                  <a:txBody>
                    <a:bodyPr/>
                    <a:lstStyle/>
                    <a:p>
                      <a:r>
                        <a:rPr sz="1200">
                          <a:latin typeface="Segoe UI"/>
                        </a:rPr>
                        <a:t>19</a:t>
                      </a:r>
                    </a:p>
                  </a:txBody>
                  <a:tcPr/>
                </a:tc>
                <a:tc>
                  <a:txBody>
                    <a:bodyPr/>
                    <a:lstStyle/>
                    <a:p>
                      <a:r>
                        <a:rPr sz="1200">
                          <a:latin typeface="Segoe UI"/>
                        </a:rPr>
                        <a:t>8.37</a:t>
                      </a:r>
                    </a:p>
                  </a:txBody>
                  <a:tcPr/>
                </a:tc>
                <a:tc>
                  <a:txBody>
                    <a:bodyPr/>
                    <a:lstStyle/>
                    <a:p>
                      <a:r>
                        <a:rPr sz="1200">
                          <a:latin typeface="Segoe UI"/>
                        </a:rPr>
                        <a:t>4.34 / 6.80</a:t>
                      </a:r>
                    </a:p>
                  </a:txBody>
                  <a:tcPr/>
                </a:tc>
                <a:tc>
                  <a:txBody>
                    <a:bodyPr/>
                    <a:lstStyle/>
                    <a:p>
                      <a:r>
                        <a:rPr sz="1200">
                          <a:latin typeface="Segoe UI"/>
                        </a:rPr>
                        <a:t>0.0</a:t>
                      </a:r>
                    </a:p>
                  </a:txBody>
                  <a:tcPr/>
                </a:tc>
                <a:tc>
                  <a:txBody>
                    <a:bodyPr/>
                    <a:lstStyle/>
                    <a:p>
                      <a:r>
                        <a:rPr sz="1200">
                          <a:latin typeface="Segoe UI"/>
                        </a:rPr>
                        <a:t>46.24 (#2)</a:t>
                      </a:r>
                    </a:p>
                  </a:txBody>
                  <a:tcPr/>
                </a:tc>
              </a:tr>
              <a:tr h="457200">
                <a:tc>
                  <a:txBody>
                    <a:bodyPr/>
                    <a:lstStyle/>
                    <a:p>
                      <a:r>
                        <a:rPr sz="1200">
                          <a:latin typeface="Segoe UI"/>
                        </a:rPr>
                        <a:t>Slow APT</a:t>
                      </a:r>
                    </a:p>
                  </a:txBody>
                  <a:tcPr/>
                </a:tc>
                <a:tc>
                  <a:txBody>
                    <a:bodyPr/>
                    <a:lstStyle/>
                    <a:p>
                      <a:r>
                        <a:rPr sz="1200">
                          <a:latin typeface="Segoe UI"/>
                        </a:rPr>
                        <a:t>4.50</a:t>
                      </a:r>
                    </a:p>
                  </a:txBody>
                  <a:tcPr/>
                </a:tc>
                <a:tc>
                  <a:txBody>
                    <a:bodyPr/>
                    <a:lstStyle/>
                    <a:p>
                      <a:r>
                        <a:rPr sz="1200">
                          <a:latin typeface="Segoe UI"/>
                        </a:rPr>
                        <a:t>2</a:t>
                      </a:r>
                    </a:p>
                  </a:txBody>
                  <a:tcPr/>
                </a:tc>
                <a:tc>
                  <a:txBody>
                    <a:bodyPr/>
                    <a:lstStyle/>
                    <a:p>
                      <a:r>
                        <a:rPr sz="1200">
                          <a:latin typeface="Segoe UI"/>
                        </a:rPr>
                        <a:t>1.57</a:t>
                      </a:r>
                    </a:p>
                  </a:txBody>
                  <a:tcPr/>
                </a:tc>
                <a:tc>
                  <a:txBody>
                    <a:bodyPr/>
                    <a:lstStyle/>
                    <a:p>
                      <a:r>
                        <a:rPr sz="1200">
                          <a:latin typeface="Segoe UI"/>
                        </a:rPr>
                        <a:t>1.48 / 0.85</a:t>
                      </a:r>
                    </a:p>
                  </a:txBody>
                  <a:tcPr/>
                </a:tc>
                <a:tc>
                  <a:txBody>
                    <a:bodyPr/>
                    <a:lstStyle/>
                    <a:p>
                      <a:r>
                        <a:rPr sz="1200">
                          <a:latin typeface="Segoe UI"/>
                        </a:rPr>
                        <a:t>13.0</a:t>
                      </a:r>
                    </a:p>
                  </a:txBody>
                  <a:tcPr/>
                </a:tc>
                <a:tc>
                  <a:txBody>
                    <a:bodyPr/>
                    <a:lstStyle/>
                    <a:p>
                      <a:r>
                        <a:rPr sz="1200">
                          <a:latin typeface="Segoe UI"/>
                        </a:rPr>
                        <a:t>20.00 (#7)</a:t>
                      </a:r>
                    </a:p>
                  </a:txBody>
                  <a:tcPr/>
                </a:tc>
              </a:tr>
              <a:tr h="457200">
                <a:tc>
                  <a:txBody>
                    <a:bodyPr/>
                    <a:lstStyle/>
                    <a:p>
                      <a:r>
                        <a:rPr sz="1200">
                          <a:latin typeface="Segoe UI"/>
                        </a:rPr>
                        <a:t>Volt</a:t>
                      </a:r>
                    </a:p>
                  </a:txBody>
                  <a:tcPr/>
                </a:tc>
                <a:tc>
                  <a:txBody>
                    <a:bodyPr/>
                    <a:lstStyle/>
                    <a:p>
                      <a:r>
                        <a:rPr sz="1200">
                          <a:latin typeface="Segoe UI"/>
                        </a:rPr>
                        <a:t>6.20</a:t>
                      </a:r>
                    </a:p>
                  </a:txBody>
                  <a:tcPr/>
                </a:tc>
                <a:tc>
                  <a:txBody>
                    <a:bodyPr/>
                    <a:lstStyle/>
                    <a:p>
                      <a:r>
                        <a:rPr sz="1200">
                          <a:latin typeface="Segoe UI"/>
                        </a:rPr>
                        <a:t>10</a:t>
                      </a:r>
                    </a:p>
                  </a:txBody>
                  <a:tcPr/>
                </a:tc>
                <a:tc>
                  <a:txBody>
                    <a:bodyPr/>
                    <a:lstStyle/>
                    <a:p>
                      <a:r>
                        <a:rPr sz="1200">
                          <a:latin typeface="Segoe UI"/>
                        </a:rPr>
                        <a:t>3.70</a:t>
                      </a:r>
                    </a:p>
                  </a:txBody>
                  <a:tcPr/>
                </a:tc>
                <a:tc>
                  <a:txBody>
                    <a:bodyPr/>
                    <a:lstStyle/>
                    <a:p>
                      <a:r>
                        <a:rPr sz="1200">
                          <a:latin typeface="Segoe UI"/>
                        </a:rPr>
                        <a:t>0.40 / 1.40</a:t>
                      </a:r>
                    </a:p>
                  </a:txBody>
                  <a:tcPr/>
                </a:tc>
                <a:tc>
                  <a:txBody>
                    <a:bodyPr/>
                    <a:lstStyle/>
                    <a:p>
                      <a:r>
                        <a:rPr sz="1200">
                          <a:latin typeface="Segoe UI"/>
                        </a:rPr>
                        <a:t>0.0</a:t>
                      </a:r>
                    </a:p>
                  </a:txBody>
                  <a:tcPr/>
                </a:tc>
                <a:tc>
                  <a:txBody>
                    <a:bodyPr/>
                    <a:lstStyle/>
                    <a:p>
                      <a:r>
                        <a:rPr sz="1200">
                          <a:latin typeface="Segoe UI"/>
                        </a:rPr>
                        <a:t>12.90 (#30)</a:t>
                      </a:r>
                    </a:p>
                  </a:txBody>
                  <a:tcPr/>
                </a:tc>
              </a:tr>
            </a:tbl>
          </a:graphicData>
        </a:graphic>
      </p:graphicFrame>
      <p:sp>
        <p:nvSpPr>
          <p:cNvPr id="7" name="TextBox 6"/>
          <p:cNvSpPr txBox="1"/>
          <p:nvPr/>
        </p:nvSpPr>
        <p:spPr>
          <a:xfrm>
            <a:off x="548640" y="4206240"/>
            <a:ext cx="11064240" cy="1554480"/>
          </a:xfrm>
          <a:prstGeom prst="rect">
            <a:avLst/>
          </a:prstGeom>
          <a:noFill/>
        </p:spPr>
        <p:txBody>
          <a:bodyPr wrap="square" anchor="t">
            <a:spAutoFit/>
          </a:bodyPr>
          <a:lstStyle/>
          <a:p>
            <a:pPr algn="l"/>
            <a:r>
              <a:rPr sz="1500" b="0" i="0">
                <a:solidFill>
                  <a:srgbClr val="102A4C"/>
                </a:solidFill>
                <a:latin typeface="Segoe UI"/>
              </a:rPr>
              <a:t>Read it: Slow APT is invisible on every magnitude column (signal 4.50, breadth 2) and is caught by novelty ALONE (13.0, a novel C2 IP every week for 60 weeks). Volt has breadth (10) of small signals and no novelty: the living-off-the-land signature. No single number flags either; the twin separates them by the full picture.</a:t>
            </a:r>
          </a:p>
        </p:txBody>
      </p:sp>
      <p:sp>
        <p:nvSpPr>
          <p:cNvPr id="8" name="Rectangle 7"/>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10" name="TextBox 9"/>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Layer 2 - The Discovery Net (the twin)</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Unsupervised, by rank: 4 of 4 surfaced at a 10.6% operating point</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6675120" cy="429768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08760"/>
            <a:ext cx="6400800" cy="365760"/>
          </a:xfrm>
          <a:prstGeom prst="rect">
            <a:avLst/>
          </a:prstGeom>
          <a:noFill/>
        </p:spPr>
        <p:txBody>
          <a:bodyPr wrap="square" anchor="t">
            <a:spAutoFit/>
          </a:bodyPr>
          <a:lstStyle/>
          <a:p>
            <a:pPr algn="l"/>
            <a:r>
              <a:rPr sz="1400" b="1" i="0">
                <a:solidFill>
                  <a:srgbClr val="102A4C"/>
                </a:solidFill>
                <a:latin typeface="Segoe UI"/>
              </a:rPr>
              <a:t>Four-attacker blind test (risk-ranked of 250)</a:t>
            </a:r>
          </a:p>
        </p:txBody>
      </p:sp>
      <p:sp>
        <p:nvSpPr>
          <p:cNvPr id="8" name="TextBox 7"/>
          <p:cNvSpPr txBox="1"/>
          <p:nvPr/>
        </p:nvSpPr>
        <p:spPr>
          <a:xfrm>
            <a:off x="822960" y="2011680"/>
            <a:ext cx="3200400" cy="457200"/>
          </a:xfrm>
          <a:prstGeom prst="rect">
            <a:avLst/>
          </a:prstGeom>
          <a:noFill/>
        </p:spPr>
        <p:txBody>
          <a:bodyPr wrap="square" anchor="t">
            <a:spAutoFit/>
          </a:bodyPr>
          <a:lstStyle/>
          <a:p>
            <a:pPr algn="l"/>
            <a:r>
              <a:rPr sz="1500" b="1" i="0">
                <a:solidFill>
                  <a:srgbClr val="118484"/>
                </a:solidFill>
                <a:latin typeface="Segoe UI"/>
              </a:rPr>
              <a:t>Salt Typhoon</a:t>
            </a:r>
          </a:p>
        </p:txBody>
      </p:sp>
      <p:sp>
        <p:nvSpPr>
          <p:cNvPr id="9" name="TextBox 8"/>
          <p:cNvSpPr txBox="1"/>
          <p:nvPr/>
        </p:nvSpPr>
        <p:spPr>
          <a:xfrm>
            <a:off x="4206240" y="2011680"/>
            <a:ext cx="1097280" cy="457200"/>
          </a:xfrm>
          <a:prstGeom prst="rect">
            <a:avLst/>
          </a:prstGeom>
          <a:noFill/>
        </p:spPr>
        <p:txBody>
          <a:bodyPr wrap="square" anchor="t">
            <a:spAutoFit/>
          </a:bodyPr>
          <a:lstStyle/>
          <a:p>
            <a:pPr algn="l"/>
            <a:r>
              <a:rPr sz="1500" b="1" i="0">
                <a:solidFill>
                  <a:srgbClr val="102A4C"/>
                </a:solidFill>
                <a:latin typeface="Segoe UI"/>
              </a:rPr>
              <a:t>#1</a:t>
            </a:r>
          </a:p>
        </p:txBody>
      </p:sp>
      <p:sp>
        <p:nvSpPr>
          <p:cNvPr id="10" name="TextBox 9"/>
          <p:cNvSpPr txBox="1"/>
          <p:nvPr/>
        </p:nvSpPr>
        <p:spPr>
          <a:xfrm>
            <a:off x="5486400" y="2011680"/>
            <a:ext cx="1463040" cy="457200"/>
          </a:xfrm>
          <a:prstGeom prst="rect">
            <a:avLst/>
          </a:prstGeom>
          <a:noFill/>
        </p:spPr>
        <p:txBody>
          <a:bodyPr wrap="square" anchor="t">
            <a:spAutoFit/>
          </a:bodyPr>
          <a:lstStyle/>
          <a:p>
            <a:pPr algn="l"/>
            <a:r>
              <a:rPr sz="1500" b="0" i="0">
                <a:solidFill>
                  <a:srgbClr val="5E6A75"/>
                </a:solidFill>
                <a:latin typeface="Segoe UI"/>
              </a:rPr>
              <a:t>51.71</a:t>
            </a:r>
          </a:p>
        </p:txBody>
      </p:sp>
      <p:sp>
        <p:nvSpPr>
          <p:cNvPr id="11" name="TextBox 10"/>
          <p:cNvSpPr txBox="1"/>
          <p:nvPr/>
        </p:nvSpPr>
        <p:spPr>
          <a:xfrm>
            <a:off x="822960" y="2578608"/>
            <a:ext cx="3200400" cy="457200"/>
          </a:xfrm>
          <a:prstGeom prst="rect">
            <a:avLst/>
          </a:prstGeom>
          <a:noFill/>
        </p:spPr>
        <p:txBody>
          <a:bodyPr wrap="square" anchor="t">
            <a:spAutoFit/>
          </a:bodyPr>
          <a:lstStyle/>
          <a:p>
            <a:pPr algn="l"/>
            <a:r>
              <a:rPr sz="1500" b="1" i="0">
                <a:solidFill>
                  <a:srgbClr val="118484"/>
                </a:solidFill>
                <a:latin typeface="Segoe UI"/>
              </a:rPr>
              <a:t>Insider</a:t>
            </a:r>
          </a:p>
        </p:txBody>
      </p:sp>
      <p:sp>
        <p:nvSpPr>
          <p:cNvPr id="12" name="TextBox 11"/>
          <p:cNvSpPr txBox="1"/>
          <p:nvPr/>
        </p:nvSpPr>
        <p:spPr>
          <a:xfrm>
            <a:off x="4206240" y="2578608"/>
            <a:ext cx="1097280" cy="457200"/>
          </a:xfrm>
          <a:prstGeom prst="rect">
            <a:avLst/>
          </a:prstGeom>
          <a:noFill/>
        </p:spPr>
        <p:txBody>
          <a:bodyPr wrap="square" anchor="t">
            <a:spAutoFit/>
          </a:bodyPr>
          <a:lstStyle/>
          <a:p>
            <a:pPr algn="l"/>
            <a:r>
              <a:rPr sz="1500" b="1" i="0">
                <a:solidFill>
                  <a:srgbClr val="102A4C"/>
                </a:solidFill>
                <a:latin typeface="Segoe UI"/>
              </a:rPr>
              <a:t>#2</a:t>
            </a:r>
          </a:p>
        </p:txBody>
      </p:sp>
      <p:sp>
        <p:nvSpPr>
          <p:cNvPr id="13" name="TextBox 12"/>
          <p:cNvSpPr txBox="1"/>
          <p:nvPr/>
        </p:nvSpPr>
        <p:spPr>
          <a:xfrm>
            <a:off x="5486400" y="2578608"/>
            <a:ext cx="1463040" cy="457200"/>
          </a:xfrm>
          <a:prstGeom prst="rect">
            <a:avLst/>
          </a:prstGeom>
          <a:noFill/>
        </p:spPr>
        <p:txBody>
          <a:bodyPr wrap="square" anchor="t">
            <a:spAutoFit/>
          </a:bodyPr>
          <a:lstStyle/>
          <a:p>
            <a:pPr algn="l"/>
            <a:r>
              <a:rPr sz="1500" b="0" i="0">
                <a:solidFill>
                  <a:srgbClr val="5E6A75"/>
                </a:solidFill>
                <a:latin typeface="Segoe UI"/>
              </a:rPr>
              <a:t>46.24</a:t>
            </a:r>
          </a:p>
        </p:txBody>
      </p:sp>
      <p:sp>
        <p:nvSpPr>
          <p:cNvPr id="14" name="TextBox 13"/>
          <p:cNvSpPr txBox="1"/>
          <p:nvPr/>
        </p:nvSpPr>
        <p:spPr>
          <a:xfrm>
            <a:off x="822960" y="3145536"/>
            <a:ext cx="3200400" cy="457200"/>
          </a:xfrm>
          <a:prstGeom prst="rect">
            <a:avLst/>
          </a:prstGeom>
          <a:noFill/>
        </p:spPr>
        <p:txBody>
          <a:bodyPr wrap="square" anchor="t">
            <a:spAutoFit/>
          </a:bodyPr>
          <a:lstStyle/>
          <a:p>
            <a:pPr algn="l"/>
            <a:r>
              <a:rPr sz="1500" b="1" i="0">
                <a:solidFill>
                  <a:srgbClr val="E87722"/>
                </a:solidFill>
                <a:latin typeface="Segoe UI"/>
              </a:rPr>
              <a:t>Slow APT</a:t>
            </a:r>
          </a:p>
        </p:txBody>
      </p:sp>
      <p:sp>
        <p:nvSpPr>
          <p:cNvPr id="15" name="TextBox 14"/>
          <p:cNvSpPr txBox="1"/>
          <p:nvPr/>
        </p:nvSpPr>
        <p:spPr>
          <a:xfrm>
            <a:off x="4206240" y="3145536"/>
            <a:ext cx="1097280" cy="457200"/>
          </a:xfrm>
          <a:prstGeom prst="rect">
            <a:avLst/>
          </a:prstGeom>
          <a:noFill/>
        </p:spPr>
        <p:txBody>
          <a:bodyPr wrap="square" anchor="t">
            <a:spAutoFit/>
          </a:bodyPr>
          <a:lstStyle/>
          <a:p>
            <a:pPr algn="l"/>
            <a:r>
              <a:rPr sz="1500" b="1" i="0">
                <a:solidFill>
                  <a:srgbClr val="102A4C"/>
                </a:solidFill>
                <a:latin typeface="Segoe UI"/>
              </a:rPr>
              <a:t>#7</a:t>
            </a:r>
          </a:p>
        </p:txBody>
      </p:sp>
      <p:sp>
        <p:nvSpPr>
          <p:cNvPr id="16" name="TextBox 15"/>
          <p:cNvSpPr txBox="1"/>
          <p:nvPr/>
        </p:nvSpPr>
        <p:spPr>
          <a:xfrm>
            <a:off x="5486400" y="3145536"/>
            <a:ext cx="1463040" cy="457200"/>
          </a:xfrm>
          <a:prstGeom prst="rect">
            <a:avLst/>
          </a:prstGeom>
          <a:noFill/>
        </p:spPr>
        <p:txBody>
          <a:bodyPr wrap="square" anchor="t">
            <a:spAutoFit/>
          </a:bodyPr>
          <a:lstStyle/>
          <a:p>
            <a:pPr algn="l"/>
            <a:r>
              <a:rPr sz="1500" b="0" i="0">
                <a:solidFill>
                  <a:srgbClr val="5E6A75"/>
                </a:solidFill>
                <a:latin typeface="Segoe UI"/>
              </a:rPr>
              <a:t>20.00</a:t>
            </a:r>
          </a:p>
        </p:txBody>
      </p:sp>
      <p:sp>
        <p:nvSpPr>
          <p:cNvPr id="17" name="TextBox 16"/>
          <p:cNvSpPr txBox="1"/>
          <p:nvPr/>
        </p:nvSpPr>
        <p:spPr>
          <a:xfrm>
            <a:off x="822960" y="3712464"/>
            <a:ext cx="3200400" cy="457200"/>
          </a:xfrm>
          <a:prstGeom prst="rect">
            <a:avLst/>
          </a:prstGeom>
          <a:noFill/>
        </p:spPr>
        <p:txBody>
          <a:bodyPr wrap="square" anchor="t">
            <a:spAutoFit/>
          </a:bodyPr>
          <a:lstStyle/>
          <a:p>
            <a:pPr algn="l"/>
            <a:r>
              <a:rPr sz="1500" b="1" i="0">
                <a:solidFill>
                  <a:srgbClr val="A61B1B"/>
                </a:solidFill>
                <a:latin typeface="Segoe UI"/>
              </a:rPr>
              <a:t>Volt Typhoon</a:t>
            </a:r>
          </a:p>
        </p:txBody>
      </p:sp>
      <p:sp>
        <p:nvSpPr>
          <p:cNvPr id="18" name="TextBox 17"/>
          <p:cNvSpPr txBox="1"/>
          <p:nvPr/>
        </p:nvSpPr>
        <p:spPr>
          <a:xfrm>
            <a:off x="4206240" y="3712464"/>
            <a:ext cx="1097280" cy="457200"/>
          </a:xfrm>
          <a:prstGeom prst="rect">
            <a:avLst/>
          </a:prstGeom>
          <a:noFill/>
        </p:spPr>
        <p:txBody>
          <a:bodyPr wrap="square" anchor="t">
            <a:spAutoFit/>
          </a:bodyPr>
          <a:lstStyle/>
          <a:p>
            <a:pPr algn="l"/>
            <a:r>
              <a:rPr sz="1500" b="1" i="0">
                <a:solidFill>
                  <a:srgbClr val="102A4C"/>
                </a:solidFill>
                <a:latin typeface="Segoe UI"/>
              </a:rPr>
              <a:t>#30</a:t>
            </a:r>
          </a:p>
        </p:txBody>
      </p:sp>
      <p:sp>
        <p:nvSpPr>
          <p:cNvPr id="19" name="TextBox 18"/>
          <p:cNvSpPr txBox="1"/>
          <p:nvPr/>
        </p:nvSpPr>
        <p:spPr>
          <a:xfrm>
            <a:off x="5486400" y="3712464"/>
            <a:ext cx="1463040" cy="457200"/>
          </a:xfrm>
          <a:prstGeom prst="rect">
            <a:avLst/>
          </a:prstGeom>
          <a:noFill/>
        </p:spPr>
        <p:txBody>
          <a:bodyPr wrap="square" anchor="t">
            <a:spAutoFit/>
          </a:bodyPr>
          <a:lstStyle/>
          <a:p>
            <a:pPr algn="l"/>
            <a:r>
              <a:rPr sz="1500" b="0" i="0">
                <a:solidFill>
                  <a:srgbClr val="5E6A75"/>
                </a:solidFill>
                <a:latin typeface="Segoe UI"/>
              </a:rPr>
              <a:t>12.90</a:t>
            </a:r>
          </a:p>
        </p:txBody>
      </p:sp>
      <p:sp>
        <p:nvSpPr>
          <p:cNvPr id="20" name="Rectangle 19"/>
          <p:cNvSpPr/>
          <p:nvPr/>
        </p:nvSpPr>
        <p:spPr>
          <a:xfrm>
            <a:off x="7498079" y="1371600"/>
            <a:ext cx="4206240" cy="429768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1737360"/>
            <a:ext cx="3840480" cy="914400"/>
          </a:xfrm>
          <a:prstGeom prst="rect">
            <a:avLst/>
          </a:prstGeom>
          <a:noFill/>
        </p:spPr>
        <p:txBody>
          <a:bodyPr wrap="square" anchor="t">
            <a:spAutoFit/>
          </a:bodyPr>
          <a:lstStyle/>
          <a:p>
            <a:pPr algn="ctr"/>
            <a:r>
              <a:rPr sz="4400" b="1" i="0">
                <a:solidFill>
                  <a:srgbClr val="FFFFFF"/>
                </a:solidFill>
                <a:latin typeface="Segoe UI"/>
              </a:rPr>
              <a:t>4 of 4</a:t>
            </a:r>
          </a:p>
        </p:txBody>
      </p:sp>
      <p:sp>
        <p:nvSpPr>
          <p:cNvPr id="22" name="TextBox 21"/>
          <p:cNvSpPr txBox="1"/>
          <p:nvPr/>
        </p:nvSpPr>
        <p:spPr>
          <a:xfrm>
            <a:off x="7680960" y="2743200"/>
            <a:ext cx="3840480" cy="731520"/>
          </a:xfrm>
          <a:prstGeom prst="rect">
            <a:avLst/>
          </a:prstGeom>
          <a:noFill/>
        </p:spPr>
        <p:txBody>
          <a:bodyPr wrap="square" anchor="t">
            <a:spAutoFit/>
          </a:bodyPr>
          <a:lstStyle/>
          <a:p>
            <a:pPr algn="ctr"/>
            <a:r>
              <a:rPr sz="1400" b="0" i="0">
                <a:solidFill>
                  <a:srgbClr val="CFDDF2"/>
                </a:solidFill>
                <a:latin typeface="Segoe UI"/>
              </a:rPr>
              <a:t>surfaced by rank at a 10.6% operating point (value is coverage + MITRE direction)</a:t>
            </a:r>
          </a:p>
        </p:txBody>
      </p:sp>
      <p:sp>
        <p:nvSpPr>
          <p:cNvPr id="23" name="TextBox 22"/>
          <p:cNvSpPr txBox="1"/>
          <p:nvPr/>
        </p:nvSpPr>
        <p:spPr>
          <a:xfrm>
            <a:off x="7680960" y="3566160"/>
            <a:ext cx="3840480" cy="1371600"/>
          </a:xfrm>
          <a:prstGeom prst="rect">
            <a:avLst/>
          </a:prstGeom>
          <a:noFill/>
        </p:spPr>
        <p:txBody>
          <a:bodyPr wrap="square" anchor="t">
            <a:spAutoFit/>
          </a:bodyPr>
          <a:lstStyle/>
          <a:p>
            <a:pPr algn="ctr"/>
            <a:r>
              <a:rPr sz="1500" b="1" i="0">
                <a:solidFill>
                  <a:srgbClr val="FFE0E0"/>
                </a:solidFill>
                <a:latin typeface="Segoe UI"/>
              </a:rPr>
              <a:t>Classical methods (Isolation Forest, One-Class SVM, LOF): 0 of 4.  z-score: 1 of 4.</a:t>
            </a:r>
          </a:p>
        </p:txBody>
      </p:sp>
      <p:sp>
        <p:nvSpPr>
          <p:cNvPr id="24" name="TextBox 23"/>
          <p:cNvSpPr txBox="1"/>
          <p:nvPr/>
        </p:nvSpPr>
        <p:spPr>
          <a:xfrm>
            <a:off x="548640" y="5852160"/>
            <a:ext cx="10972800" cy="457200"/>
          </a:xfrm>
          <a:prstGeom prst="rect">
            <a:avLst/>
          </a:prstGeom>
          <a:noFill/>
        </p:spPr>
        <p:txBody>
          <a:bodyPr wrap="square" anchor="t">
            <a:spAutoFit/>
          </a:bodyPr>
          <a:lstStyle/>
          <a:p>
            <a:pPr algn="l"/>
            <a:r>
              <a:rPr sz="1200" b="0" i="1">
                <a:solidFill>
                  <a:srgbClr val="5E6A75"/>
                </a:solidFill>
                <a:latin typeface="Segoe UI"/>
              </a:rPr>
              <a:t>Controlled, synthetic-data proof of concept, indicative rather than a guarantee of field performance.</a:t>
            </a:r>
          </a:p>
        </p:txBody>
      </p:sp>
      <p:sp>
        <p:nvSpPr>
          <p:cNvPr id="25" name="Rectangle 24"/>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27" name="TextBox 26"/>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Layer 2 - The Two Data Points That Carry the Room</a:t>
            </a:r>
          </a:p>
        </p:txBody>
      </p:sp>
      <p:sp>
        <p:nvSpPr>
          <p:cNvPr id="4" name="Rectangle 3"/>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5394960" cy="402336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5394960" cy="73152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54480"/>
            <a:ext cx="5029200" cy="548640"/>
          </a:xfrm>
          <a:prstGeom prst="rect">
            <a:avLst/>
          </a:prstGeom>
          <a:noFill/>
        </p:spPr>
        <p:txBody>
          <a:bodyPr wrap="square" anchor="ctr">
            <a:spAutoFit/>
          </a:bodyPr>
          <a:lstStyle/>
          <a:p>
            <a:pPr algn="l"/>
            <a:r>
              <a:rPr sz="1700" b="1" i="0">
                <a:solidFill>
                  <a:srgbClr val="FFFFFF"/>
                </a:solidFill>
                <a:latin typeface="Segoe UI"/>
              </a:rPr>
              <a:t>Slow APT: invisible to thresholds</a:t>
            </a:r>
          </a:p>
        </p:txBody>
      </p:sp>
      <p:sp>
        <p:nvSpPr>
          <p:cNvPr id="8" name="TextBox 7"/>
          <p:cNvSpPr txBox="1"/>
          <p:nvPr/>
        </p:nvSpPr>
        <p:spPr>
          <a:xfrm>
            <a:off x="731520" y="2377440"/>
            <a:ext cx="5029200" cy="2926080"/>
          </a:xfrm>
          <a:prstGeom prst="rect">
            <a:avLst/>
          </a:prstGeom>
          <a:noFill/>
        </p:spPr>
        <p:txBody>
          <a:bodyPr wrap="square" anchor="t">
            <a:spAutoFit/>
          </a:bodyPr>
          <a:lstStyle/>
          <a:p>
            <a:pPr algn="l"/>
            <a:r>
              <a:rPr sz="1500" b="0" i="0">
                <a:solidFill>
                  <a:srgbClr val="333333"/>
                </a:solidFill>
                <a:latin typeface="Segoe UI"/>
              </a:rPr>
              <a:t>Signal strength 4.50, breadth 2: invisible to every magnitude method. Caught by novelty alone, a novel command-and-control IP recurring every week for 60 weeks. That one signal lifts it to rank #7.</a:t>
            </a:r>
          </a:p>
        </p:txBody>
      </p:sp>
      <p:sp>
        <p:nvSpPr>
          <p:cNvPr id="9" name="Rectangle 8"/>
          <p:cNvSpPr/>
          <p:nvPr/>
        </p:nvSpPr>
        <p:spPr>
          <a:xfrm>
            <a:off x="6217920" y="1463040"/>
            <a:ext cx="5394960" cy="402336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463040"/>
            <a:ext cx="5394960" cy="731520"/>
          </a:xfrm>
          <a:prstGeom prst="rect">
            <a:avLst/>
          </a:prstGeom>
          <a:solidFill>
            <a:srgbClr val="A6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554480"/>
            <a:ext cx="5029200" cy="548640"/>
          </a:xfrm>
          <a:prstGeom prst="rect">
            <a:avLst/>
          </a:prstGeom>
          <a:noFill/>
        </p:spPr>
        <p:txBody>
          <a:bodyPr wrap="square" anchor="ctr">
            <a:spAutoFit/>
          </a:bodyPr>
          <a:lstStyle/>
          <a:p>
            <a:pPr algn="l"/>
            <a:r>
              <a:rPr sz="1700" b="1" i="0">
                <a:solidFill>
                  <a:srgbClr val="FFFFFF"/>
                </a:solidFill>
                <a:latin typeface="Segoe UI"/>
              </a:rPr>
              <a:t>Volt: living off the land</a:t>
            </a:r>
          </a:p>
        </p:txBody>
      </p:sp>
      <p:sp>
        <p:nvSpPr>
          <p:cNvPr id="12" name="TextBox 11"/>
          <p:cNvSpPr txBox="1"/>
          <p:nvPr/>
        </p:nvSpPr>
        <p:spPr>
          <a:xfrm>
            <a:off x="6400800" y="2377440"/>
            <a:ext cx="5029200" cy="2926080"/>
          </a:xfrm>
          <a:prstGeom prst="rect">
            <a:avLst/>
          </a:prstGeom>
          <a:noFill/>
        </p:spPr>
        <p:txBody>
          <a:bodyPr wrap="square" anchor="t">
            <a:spAutoFit/>
          </a:bodyPr>
          <a:lstStyle/>
          <a:p>
            <a:pPr algn="l"/>
            <a:r>
              <a:rPr sz="1500" b="0" i="0">
                <a:solidFill>
                  <a:srgbClr val="333333"/>
                </a:solidFill>
                <a:latin typeface="Segoe UI"/>
              </a:rPr>
              <a:t>Many small elevations, no single dramatic one, no novelty. Caught by breadth across fronts, the signature of legitimate admin tooling used maliciously. The stealthiest scorer, and still surfaced.</a:t>
            </a:r>
          </a:p>
        </p:txBody>
      </p:sp>
      <p:sp>
        <p:nvSpPr>
          <p:cNvPr id="13" name="TextBox 12"/>
          <p:cNvSpPr txBox="1"/>
          <p:nvPr/>
        </p:nvSpPr>
        <p:spPr>
          <a:xfrm>
            <a:off x="548640" y="5760720"/>
            <a:ext cx="10972800" cy="457200"/>
          </a:xfrm>
          <a:prstGeom prst="rect">
            <a:avLst/>
          </a:prstGeom>
          <a:noFill/>
        </p:spPr>
        <p:txBody>
          <a:bodyPr wrap="square" anchor="t">
            <a:spAutoFit/>
          </a:bodyPr>
          <a:lstStyle/>
          <a:p>
            <a:pPr algn="l"/>
            <a:r>
              <a:rPr sz="1400" b="1" i="0">
                <a:solidFill>
                  <a:srgbClr val="102A4C"/>
                </a:solidFill>
                <a:latin typeface="Segoe UI"/>
              </a:rPr>
              <a:t>We present a risk-ranked list, not a threshold. The claim is recall at the top of the ranking.</a:t>
            </a:r>
          </a:p>
        </p:txBody>
      </p:sp>
      <p:sp>
        <p:nvSpPr>
          <p:cNvPr id="14" name="Rectangle 13"/>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16" name="TextBox 15"/>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Layer 1 - Preemptive Network Assurance</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The prevention half: prove the edge is closed before traffic flows</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0972800" cy="4572000"/>
          </a:xfrm>
          <a:prstGeom prst="rect">
            <a:avLst/>
          </a:prstGeom>
          <a:noFill/>
        </p:spPr>
        <p:txBody>
          <a:bodyPr wrap="square">
            <a:spAutoFit/>
          </a:bodyPr>
          <a:lstStyle/>
          <a:p>
            <a:pPr>
              <a:spcAft>
                <a:spcPts val="1200"/>
              </a:spcAft>
            </a:pPr>
            <a:r>
              <a:rPr sz="1600">
                <a:solidFill>
                  <a:srgbClr val="222222"/>
                </a:solidFill>
                <a:latin typeface="Segoe UI"/>
              </a:rPr>
              <a:t>• Incumbents sample the configuration state space; they cannot prove segmentation is correct.</a:t>
            </a:r>
          </a:p>
          <a:p>
            <a:pPr>
              <a:spcAft>
                <a:spcPts val="1200"/>
              </a:spcAft>
            </a:pPr>
            <a:r>
              <a:rPr sz="1600" b="1">
                <a:solidFill>
                  <a:srgbClr val="A61B1B"/>
                </a:solidFill>
                <a:latin typeface="Segoe UI"/>
              </a:rPr>
              <a:t>• 99% of firewall breaches are misconfiguration; the state space is too large to sample.</a:t>
            </a:r>
          </a:p>
          <a:p>
            <a:pPr>
              <a:spcAft>
                <a:spcPts val="1200"/>
              </a:spcAft>
            </a:pPr>
            <a:r>
              <a:rPr sz="1600" b="1">
                <a:solidFill>
                  <a:srgbClr val="102A4C"/>
                </a:solidFill>
                <a:latin typeface="Segoe UI"/>
              </a:rPr>
              <a:t>• Our wedge: an exhaustive formal model of the control estate, queried against MITRE-enriched attack models.</a:t>
            </a:r>
          </a:p>
          <a:p>
            <a:pPr>
              <a:spcAft>
                <a:spcPts val="1200"/>
              </a:spcAft>
            </a:pPr>
            <a:r>
              <a:rPr sz="1600">
                <a:solidFill>
                  <a:srgbClr val="222222"/>
                </a:solidFill>
                <a:latin typeface="Segoe UI"/>
              </a:rPr>
              <a:t>• Uses residual capacity in the estate to block attacks from live intelligence; drift caught within the hour.</a:t>
            </a:r>
          </a:p>
          <a:p>
            <a:pPr>
              <a:spcAft>
                <a:spcPts val="1200"/>
              </a:spcAft>
            </a:pPr>
            <a:r>
              <a:rPr sz="1600" b="1">
                <a:solidFill>
                  <a:srgbClr val="1A724E"/>
                </a:solidFill>
                <a:latin typeface="Segoe UI"/>
              </a:rPr>
              <a:t>• Agentless, configuration-only; first actionable findings in under 15 days.</a:t>
            </a:r>
          </a:p>
        </p:txBody>
      </p:sp>
      <p:sp>
        <p:nvSpPr>
          <p:cNvPr id="7" name="Rectangle 6"/>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9" name="TextBox 8"/>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Layer 1 - Verified Preemptive Findings</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Real findings human review and existing tools had missed</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0972800" cy="4572000"/>
          </a:xfrm>
          <a:prstGeom prst="rect">
            <a:avLst/>
          </a:prstGeom>
          <a:noFill/>
        </p:spPr>
        <p:txBody>
          <a:bodyPr wrap="square">
            <a:spAutoFit/>
          </a:bodyPr>
          <a:lstStyle/>
          <a:p>
            <a:pPr>
              <a:spcAft>
                <a:spcPts val="1100"/>
              </a:spcAft>
            </a:pPr>
            <a:r>
              <a:rPr sz="1500">
                <a:solidFill>
                  <a:srgbClr val="222222"/>
                </a:solidFill>
                <a:latin typeface="Segoe UI"/>
              </a:rPr>
              <a:t>• Credential and IP-theft path closed: a shadowed, incomplete rule set allowed an unsanctioned app from internal subnets, against CISO intent.</a:t>
            </a:r>
          </a:p>
          <a:p>
            <a:pPr>
              <a:spcAft>
                <a:spcPts val="1100"/>
              </a:spcAft>
            </a:pPr>
            <a:r>
              <a:rPr sz="1500">
                <a:solidFill>
                  <a:srgbClr val="222222"/>
                </a:solidFill>
                <a:latin typeface="Segoe UI"/>
              </a:rPr>
              <a:t>• Lateral-movement path closed: three higher-priority rules formed a group shadow letting legacy SMBv1.0 pass without inspection.</a:t>
            </a:r>
          </a:p>
          <a:p>
            <a:pPr>
              <a:spcAft>
                <a:spcPts val="1100"/>
              </a:spcAft>
            </a:pPr>
            <a:r>
              <a:rPr sz="1500">
                <a:solidFill>
                  <a:srgbClr val="222222"/>
                </a:solidFill>
                <a:latin typeface="Segoe UI"/>
              </a:rPr>
              <a:t>• External attack surface formally assured for a national cyber-defense agency, beyond what EASM can simulate.</a:t>
            </a:r>
          </a:p>
          <a:p>
            <a:pPr>
              <a:spcAft>
                <a:spcPts val="1100"/>
              </a:spcAft>
            </a:pPr>
            <a:r>
              <a:rPr sz="1500">
                <a:solidFill>
                  <a:srgbClr val="222222"/>
                </a:solidFill>
                <a:latin typeface="Segoe UI"/>
              </a:rPr>
              <a:t>• Regulatory compliance verified against a live national malicious-IP and domain threat feed.</a:t>
            </a:r>
          </a:p>
          <a:p>
            <a:pPr>
              <a:spcAft>
                <a:spcPts val="1100"/>
              </a:spcAft>
            </a:pPr>
            <a:r>
              <a:rPr sz="1500">
                <a:solidFill>
                  <a:srgbClr val="222222"/>
                </a:solidFill>
                <a:latin typeface="Segoe UI"/>
              </a:rPr>
              <a:t>• Infosec compliance gaps diagnosed by formal verification of firewall configurations.</a:t>
            </a:r>
          </a:p>
        </p:txBody>
      </p:sp>
      <p:sp>
        <p:nvSpPr>
          <p:cNvPr id="7" name="Rectangle 6"/>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9" name="TextBox 8"/>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Layer 3 - Application, API &amp; Data Runtime + Agentic AI</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The exfiltration altitude, and the agentic-AI blind spot</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0972800" cy="4572000"/>
          </a:xfrm>
          <a:prstGeom prst="rect">
            <a:avLst/>
          </a:prstGeom>
          <a:noFill/>
        </p:spPr>
        <p:txBody>
          <a:bodyPr wrap="square">
            <a:spAutoFit/>
          </a:bodyPr>
          <a:lstStyle/>
          <a:p>
            <a:pPr>
              <a:spcAft>
                <a:spcPts val="1200"/>
              </a:spcAft>
            </a:pPr>
            <a:r>
              <a:rPr sz="1600" b="1">
                <a:solidFill>
                  <a:srgbClr val="102A4C"/>
                </a:solidFill>
                <a:latin typeface="Segoe UI"/>
              </a:rPr>
              <a:t>• Where Salt actually collects and exfiltrates: APIs, microservices, data, and AI-agent pathways.</a:t>
            </a:r>
          </a:p>
          <a:p>
            <a:pPr>
              <a:spcAft>
                <a:spcPts val="1200"/>
              </a:spcAft>
            </a:pPr>
            <a:r>
              <a:rPr sz="1600">
                <a:solidFill>
                  <a:srgbClr val="222222"/>
                </a:solidFill>
                <a:latin typeface="Segoe UI"/>
              </a:rPr>
              <a:t>• WAFs miss API nuance and business-logic abuse; 95% of API attacks come from authenticated sources.</a:t>
            </a:r>
          </a:p>
          <a:p>
            <a:pPr>
              <a:spcAft>
                <a:spcPts val="1200"/>
              </a:spcAft>
            </a:pPr>
            <a:r>
              <a:rPr sz="1600" b="1">
                <a:solidFill>
                  <a:srgbClr val="A61B1B"/>
                </a:solidFill>
                <a:latin typeface="Segoe UI"/>
              </a:rPr>
              <a:t>• Agentic AI is the new blind spot: AI agents talk over APIs; ~99% of AI-related vulnerabilities are API-related.</a:t>
            </a:r>
          </a:p>
          <a:p>
            <a:pPr>
              <a:spcAft>
                <a:spcPts val="1200"/>
              </a:spcAft>
            </a:pPr>
            <a:r>
              <a:rPr sz="1600" b="1">
                <a:solidFill>
                  <a:srgbClr val="1A724E"/>
                </a:solidFill>
                <a:latin typeface="Segoe UI"/>
              </a:rPr>
              <a:t>• Our wedge: unified discover-comply-protect on a behavioral/identity core, with runtime-native mitigation.</a:t>
            </a:r>
          </a:p>
          <a:p>
            <a:pPr>
              <a:spcAft>
                <a:spcPts val="1200"/>
              </a:spcAft>
            </a:pPr>
            <a:r>
              <a:rPr sz="1600">
                <a:solidFill>
                  <a:srgbClr val="222222"/>
                </a:solidFill>
                <a:latin typeface="Segoe UI"/>
              </a:rPr>
              <a:t>• Agentic-AI governance: secure agent access, block AI-driven bots, real-time PII and credential redaction.</a:t>
            </a:r>
          </a:p>
          <a:p>
            <a:pPr>
              <a:spcAft>
                <a:spcPts val="1200"/>
              </a:spcAft>
            </a:pPr>
            <a:r>
              <a:rPr sz="1600" b="1">
                <a:solidFill>
                  <a:srgbClr val="E87722"/>
                </a:solidFill>
                <a:latin typeface="Segoe UI"/>
              </a:rPr>
              <a:t>• Maturity: integrated capability, presented as architecture; not a live demo in this session.</a:t>
            </a:r>
          </a:p>
        </p:txBody>
      </p:sp>
      <p:sp>
        <p:nvSpPr>
          <p:cNvPr id="7" name="Rectangle 6"/>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9" name="TextBox 8"/>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Layer 4 - Code &amp; Supply-Chain Assurance</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Close the lifecycle at the source (presented as in development)</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0972800" cy="4572000"/>
          </a:xfrm>
          <a:prstGeom prst="rect">
            <a:avLst/>
          </a:prstGeom>
          <a:noFill/>
        </p:spPr>
        <p:txBody>
          <a:bodyPr wrap="square">
            <a:spAutoFit/>
          </a:bodyPr>
          <a:lstStyle/>
          <a:p>
            <a:pPr>
              <a:spcAft>
                <a:spcPts val="1200"/>
              </a:spcAft>
            </a:pPr>
            <a:r>
              <a:rPr sz="1600" b="1">
                <a:solidFill>
                  <a:srgbClr val="102A4C"/>
                </a:solidFill>
                <a:latin typeface="Segoe UI"/>
              </a:rPr>
              <a:t>• The exploitable code or dependency that grants initial access in the first place.</a:t>
            </a:r>
          </a:p>
          <a:p>
            <a:pPr>
              <a:spcAft>
                <a:spcPts val="1200"/>
              </a:spcAft>
            </a:pPr>
            <a:r>
              <a:rPr sz="1600">
                <a:solidFill>
                  <a:srgbClr val="222222"/>
                </a:solidFill>
                <a:latin typeface="Segoe UI"/>
              </a:rPr>
              <a:t>• Incumbents match known CVEs; they cannot find novel zero-days and are reactive to disclosure.</a:t>
            </a:r>
          </a:p>
          <a:p>
            <a:pPr>
              <a:spcAft>
                <a:spcPts val="1200"/>
              </a:spcAft>
            </a:pPr>
            <a:r>
              <a:rPr sz="1600">
                <a:solidFill>
                  <a:srgbClr val="222222"/>
                </a:solidFill>
                <a:latin typeface="Segoe UI"/>
              </a:rPr>
              <a:t>• Supply-chain injection (SolarWinds, XZ Utils) slips past dependency scanners checking known-bad versions.</a:t>
            </a:r>
          </a:p>
          <a:p>
            <a:pPr>
              <a:spcAft>
                <a:spcPts val="1200"/>
              </a:spcAft>
            </a:pPr>
            <a:r>
              <a:rPr sz="1600" b="1">
                <a:solidFill>
                  <a:srgbClr val="1A724E"/>
                </a:solidFill>
                <a:latin typeface="Segoe UI"/>
              </a:rPr>
              <a:t>• Our wedge: AI-driven novel zero-day discovery pre-deploy, gated through multi-stage CI/CD assurance.</a:t>
            </a:r>
          </a:p>
          <a:p>
            <a:pPr>
              <a:spcAft>
                <a:spcPts val="1200"/>
              </a:spcAft>
            </a:pPr>
            <a:r>
              <a:rPr sz="1600" b="1">
                <a:solidFill>
                  <a:srgbClr val="E87722"/>
                </a:solidFill>
                <a:latin typeface="Segoe UI"/>
              </a:rPr>
              <a:t>• Honest maturity: this layer is in development. We present the approach, not a running product.</a:t>
            </a:r>
          </a:p>
        </p:txBody>
      </p:sp>
      <p:sp>
        <p:nvSpPr>
          <p:cNvPr id="7" name="Rectangle 6"/>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9" name="TextBox 8"/>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Integration: One Typhoon Across All Four Layers</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The hand-off is the moat no point tool can claim</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2606040" cy="2560320"/>
          </a:xfrm>
          <a:prstGeom prst="rect">
            <a:avLst/>
          </a:prstGeom>
          <a:solidFill>
            <a:srgbClr val="C9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65960"/>
            <a:ext cx="2331720" cy="640080"/>
          </a:xfrm>
          <a:prstGeom prst="rect">
            <a:avLst/>
          </a:prstGeom>
          <a:noFill/>
        </p:spPr>
        <p:txBody>
          <a:bodyPr wrap="square" anchor="t">
            <a:spAutoFit/>
          </a:bodyPr>
          <a:lstStyle/>
          <a:p>
            <a:pPr algn="l"/>
            <a:r>
              <a:rPr sz="1500" b="1" i="0">
                <a:solidFill>
                  <a:srgbClr val="FFFFFF"/>
                </a:solidFill>
                <a:latin typeface="Segoe UI"/>
              </a:rPr>
              <a:t>Layer 4 - Code</a:t>
            </a:r>
          </a:p>
        </p:txBody>
      </p:sp>
      <p:sp>
        <p:nvSpPr>
          <p:cNvPr id="8" name="TextBox 7"/>
          <p:cNvSpPr txBox="1"/>
          <p:nvPr/>
        </p:nvSpPr>
        <p:spPr>
          <a:xfrm>
            <a:off x="685800" y="2651760"/>
            <a:ext cx="2331720" cy="1645920"/>
          </a:xfrm>
          <a:prstGeom prst="rect">
            <a:avLst/>
          </a:prstGeom>
          <a:noFill/>
        </p:spPr>
        <p:txBody>
          <a:bodyPr wrap="square" anchor="t">
            <a:spAutoFit/>
          </a:bodyPr>
          <a:lstStyle/>
          <a:p>
            <a:pPr algn="l"/>
            <a:r>
              <a:rPr sz="1300" b="0" i="0">
                <a:solidFill>
                  <a:srgbClr val="FFFFFF"/>
                </a:solidFill>
                <a:latin typeface="Segoe UI"/>
              </a:rPr>
              <a:t>Removes the exploitable code that grants initial access</a:t>
            </a:r>
          </a:p>
        </p:txBody>
      </p:sp>
      <p:sp>
        <p:nvSpPr>
          <p:cNvPr id="9" name="Rectangle 8"/>
          <p:cNvSpPr/>
          <p:nvPr/>
        </p:nvSpPr>
        <p:spPr>
          <a:xfrm>
            <a:off x="3337560" y="1828800"/>
            <a:ext cx="2606040" cy="2560320"/>
          </a:xfrm>
          <a:prstGeom prst="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1965960"/>
            <a:ext cx="2331720" cy="640080"/>
          </a:xfrm>
          <a:prstGeom prst="rect">
            <a:avLst/>
          </a:prstGeom>
          <a:noFill/>
        </p:spPr>
        <p:txBody>
          <a:bodyPr wrap="square" anchor="t">
            <a:spAutoFit/>
          </a:bodyPr>
          <a:lstStyle/>
          <a:p>
            <a:pPr algn="l"/>
            <a:r>
              <a:rPr sz="1500" b="1" i="0">
                <a:solidFill>
                  <a:srgbClr val="FFFFFF"/>
                </a:solidFill>
                <a:latin typeface="Segoe UI"/>
              </a:rPr>
              <a:t>Layer 1 - Edge</a:t>
            </a:r>
          </a:p>
        </p:txBody>
      </p:sp>
      <p:sp>
        <p:nvSpPr>
          <p:cNvPr id="11" name="TextBox 10"/>
          <p:cNvSpPr txBox="1"/>
          <p:nvPr/>
        </p:nvSpPr>
        <p:spPr>
          <a:xfrm>
            <a:off x="3474720" y="2651760"/>
            <a:ext cx="2331720" cy="1645920"/>
          </a:xfrm>
          <a:prstGeom prst="rect">
            <a:avLst/>
          </a:prstGeom>
          <a:noFill/>
        </p:spPr>
        <p:txBody>
          <a:bodyPr wrap="square" anchor="t">
            <a:spAutoFit/>
          </a:bodyPr>
          <a:lstStyle/>
          <a:p>
            <a:pPr algn="l"/>
            <a:r>
              <a:rPr sz="1300" b="0" i="0">
                <a:solidFill>
                  <a:srgbClr val="FFFFFF"/>
                </a:solidFill>
                <a:latin typeface="Segoe UI"/>
              </a:rPr>
              <a:t>Proves the misconfigured edge path is closed</a:t>
            </a:r>
          </a:p>
        </p:txBody>
      </p:sp>
      <p:sp>
        <p:nvSpPr>
          <p:cNvPr id="12" name="Rectangle 11"/>
          <p:cNvSpPr/>
          <p:nvPr/>
        </p:nvSpPr>
        <p:spPr>
          <a:xfrm>
            <a:off x="6126480" y="1828800"/>
            <a:ext cx="2606040" cy="2560320"/>
          </a:xfrm>
          <a:prstGeom prst="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1965960"/>
            <a:ext cx="2331720" cy="640080"/>
          </a:xfrm>
          <a:prstGeom prst="rect">
            <a:avLst/>
          </a:prstGeom>
          <a:noFill/>
        </p:spPr>
        <p:txBody>
          <a:bodyPr wrap="square" anchor="t">
            <a:spAutoFit/>
          </a:bodyPr>
          <a:lstStyle/>
          <a:p>
            <a:pPr algn="l"/>
            <a:r>
              <a:rPr sz="1500" b="1" i="0">
                <a:solidFill>
                  <a:srgbClr val="FFFFFF"/>
                </a:solidFill>
                <a:latin typeface="Segoe UI"/>
              </a:rPr>
              <a:t>Layer 2 - Behavior</a:t>
            </a:r>
          </a:p>
        </p:txBody>
      </p:sp>
      <p:sp>
        <p:nvSpPr>
          <p:cNvPr id="14" name="TextBox 13"/>
          <p:cNvSpPr txBox="1"/>
          <p:nvPr/>
        </p:nvSpPr>
        <p:spPr>
          <a:xfrm>
            <a:off x="6263640" y="2651760"/>
            <a:ext cx="2331720" cy="1645920"/>
          </a:xfrm>
          <a:prstGeom prst="rect">
            <a:avLst/>
          </a:prstGeom>
          <a:noFill/>
        </p:spPr>
        <p:txBody>
          <a:bodyPr wrap="square" anchor="t">
            <a:spAutoFit/>
          </a:bodyPr>
          <a:lstStyle/>
          <a:p>
            <a:pPr algn="l"/>
            <a:r>
              <a:rPr sz="1300" b="0" i="0">
                <a:solidFill>
                  <a:srgbClr val="FFFFFF"/>
                </a:solidFill>
                <a:latin typeface="Segoe UI"/>
              </a:rPr>
              <a:t>Catches the valid-account behavior once inside</a:t>
            </a:r>
          </a:p>
        </p:txBody>
      </p:sp>
      <p:sp>
        <p:nvSpPr>
          <p:cNvPr id="15" name="Rectangle 14"/>
          <p:cNvSpPr/>
          <p:nvPr/>
        </p:nvSpPr>
        <p:spPr>
          <a:xfrm>
            <a:off x="8915400" y="1828800"/>
            <a:ext cx="2606040" cy="2560320"/>
          </a:xfrm>
          <a:prstGeom prst="rect">
            <a:avLst/>
          </a:prstGeom>
          <a:solidFill>
            <a:srgbClr val="1A7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1965960"/>
            <a:ext cx="2331720" cy="640080"/>
          </a:xfrm>
          <a:prstGeom prst="rect">
            <a:avLst/>
          </a:prstGeom>
          <a:noFill/>
        </p:spPr>
        <p:txBody>
          <a:bodyPr wrap="square" anchor="t">
            <a:spAutoFit/>
          </a:bodyPr>
          <a:lstStyle/>
          <a:p>
            <a:pPr algn="l"/>
            <a:r>
              <a:rPr sz="1500" b="1" i="0">
                <a:solidFill>
                  <a:srgbClr val="FFFFFF"/>
                </a:solidFill>
                <a:latin typeface="Segoe UI"/>
              </a:rPr>
              <a:t>Layer 3 - API/Data</a:t>
            </a:r>
          </a:p>
        </p:txBody>
      </p:sp>
      <p:sp>
        <p:nvSpPr>
          <p:cNvPr id="17" name="TextBox 16"/>
          <p:cNvSpPr txBox="1"/>
          <p:nvPr/>
        </p:nvSpPr>
        <p:spPr>
          <a:xfrm>
            <a:off x="9052560" y="2651760"/>
            <a:ext cx="2331720" cy="1645920"/>
          </a:xfrm>
          <a:prstGeom prst="rect">
            <a:avLst/>
          </a:prstGeom>
          <a:noFill/>
        </p:spPr>
        <p:txBody>
          <a:bodyPr wrap="square" anchor="t">
            <a:spAutoFit/>
          </a:bodyPr>
          <a:lstStyle/>
          <a:p>
            <a:pPr algn="l"/>
            <a:r>
              <a:rPr sz="1300" b="0" i="0">
                <a:solidFill>
                  <a:srgbClr val="FFFFFF"/>
                </a:solidFill>
                <a:latin typeface="Segoe UI"/>
              </a:rPr>
              <a:t>Catches the API and data exfiltration, and the agents</a:t>
            </a:r>
          </a:p>
        </p:txBody>
      </p:sp>
      <p:sp>
        <p:nvSpPr>
          <p:cNvPr id="18" name="TextBox 17"/>
          <p:cNvSpPr txBox="1"/>
          <p:nvPr/>
        </p:nvSpPr>
        <p:spPr>
          <a:xfrm>
            <a:off x="548640" y="4846320"/>
            <a:ext cx="10972800" cy="914400"/>
          </a:xfrm>
          <a:prstGeom prst="rect">
            <a:avLst/>
          </a:prstGeom>
          <a:noFill/>
        </p:spPr>
        <p:txBody>
          <a:bodyPr wrap="square" anchor="t">
            <a:spAutoFit/>
          </a:bodyPr>
          <a:lstStyle/>
          <a:p>
            <a:pPr algn="l"/>
            <a:r>
              <a:rPr sz="1600" b="1" i="0">
                <a:solidFill>
                  <a:srgbClr val="102A4C"/>
                </a:solidFill>
                <a:latin typeface="Segoe UI"/>
              </a:rPr>
              <a:t>Each layer catches what the others structurally cannot. Covering all four is completeness, not redundancy. Anything less leaves a seam the adversary already knows how to use.</a:t>
            </a:r>
          </a:p>
        </p:txBody>
      </p:sp>
      <p:sp>
        <p:nvSpPr>
          <p:cNvPr id="19" name="Rectangle 18"/>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21" name="TextBox 20"/>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Federal Fit</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Fieldable on what ARCYBER already collects</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0972800" cy="4572000"/>
          </a:xfrm>
          <a:prstGeom prst="rect">
            <a:avLst/>
          </a:prstGeom>
          <a:noFill/>
        </p:spPr>
        <p:txBody>
          <a:bodyPr wrap="square">
            <a:spAutoFit/>
          </a:bodyPr>
          <a:lstStyle/>
          <a:p>
            <a:pPr>
              <a:spcAft>
                <a:spcPts val="1200"/>
              </a:spcAft>
            </a:pPr>
            <a:r>
              <a:rPr sz="1600" b="1">
                <a:solidFill>
                  <a:srgbClr val="102A4C"/>
                </a:solidFill>
                <a:latin typeface="Segoe UI"/>
              </a:rPr>
              <a:t>• Runs on the logs you already collect: sign-in, network, endpoint, file, identity.</a:t>
            </a:r>
          </a:p>
          <a:p>
            <a:pPr>
              <a:spcAft>
                <a:spcPts val="1200"/>
              </a:spcAft>
            </a:pPr>
            <a:r>
              <a:rPr sz="1600">
                <a:solidFill>
                  <a:srgbClr val="222222"/>
                </a:solidFill>
                <a:latin typeface="Segoe UI"/>
              </a:rPr>
              <a:t>• Containerized; deployable across IL5, IL6, and JWICS enclaves.</a:t>
            </a:r>
          </a:p>
          <a:p>
            <a:pPr>
              <a:spcAft>
                <a:spcPts val="1200"/>
              </a:spcAft>
            </a:pPr>
            <a:r>
              <a:rPr sz="1600">
                <a:solidFill>
                  <a:srgbClr val="222222"/>
                </a:solidFill>
                <a:latin typeface="Segoe UI"/>
              </a:rPr>
              <a:t>• No PII held in the behavioral vector; offline embedding today, local semantic model as a Phase-1 build.</a:t>
            </a:r>
          </a:p>
          <a:p>
            <a:pPr>
              <a:spcAft>
                <a:spcPts val="1200"/>
              </a:spcAft>
            </a:pPr>
            <a:r>
              <a:rPr sz="1600" b="1">
                <a:solidFill>
                  <a:srgbClr val="1A724E"/>
                </a:solidFill>
                <a:latin typeface="Segoe UI"/>
              </a:rPr>
              <a:t>• Layer 1 is agentless and configuration-only; first findings in under 15 days.</a:t>
            </a:r>
          </a:p>
          <a:p>
            <a:pPr>
              <a:spcAft>
                <a:spcPts val="1200"/>
              </a:spcAft>
            </a:pPr>
            <a:r>
              <a:rPr sz="1600" b="1">
                <a:solidFill>
                  <a:srgbClr val="1F5E9C"/>
                </a:solidFill>
                <a:latin typeface="Segoe UI"/>
              </a:rPr>
              <a:t>• One platform, one vendor, one accountable integrator: not four separate procurements.</a:t>
            </a:r>
          </a:p>
        </p:txBody>
      </p:sp>
      <p:sp>
        <p:nvSpPr>
          <p:cNvPr id="7" name="Rectangle 6"/>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9" name="TextBox 8"/>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Validation Boundaries (stated up front)</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Candor is our advantage; this room punishes overclaim</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0972800" cy="4572000"/>
          </a:xfrm>
          <a:prstGeom prst="rect">
            <a:avLst/>
          </a:prstGeom>
          <a:noFill/>
        </p:spPr>
        <p:txBody>
          <a:bodyPr wrap="square">
            <a:spAutoFit/>
          </a:bodyPr>
          <a:lstStyle/>
          <a:p>
            <a:pPr>
              <a:spcAft>
                <a:spcPts val="1200"/>
              </a:spcAft>
            </a:pPr>
            <a:r>
              <a:rPr sz="1600">
                <a:solidFill>
                  <a:srgbClr val="222222"/>
                </a:solidFill>
                <a:latin typeface="Segoe UI"/>
              </a:rPr>
              <a:t>• Layer 2: the 4-of-4 result is a synthetic-data proof of concept on 250 entities, not yet field-validated.</a:t>
            </a:r>
          </a:p>
          <a:p>
            <a:pPr>
              <a:spcAft>
                <a:spcPts val="1200"/>
              </a:spcAft>
            </a:pPr>
            <a:r>
              <a:rPr sz="1600">
                <a:solidFill>
                  <a:srgbClr val="222222"/>
                </a:solidFill>
                <a:latin typeface="Segoe UI"/>
              </a:rPr>
              <a:t>• Layer 1: customer findings are representative engagements; they demonstrate the method, not a guarantee.</a:t>
            </a:r>
          </a:p>
          <a:p>
            <a:pPr>
              <a:spcAft>
                <a:spcPts val="1200"/>
              </a:spcAft>
            </a:pPr>
            <a:r>
              <a:rPr sz="1600">
                <a:solidFill>
                  <a:srgbClr val="222222"/>
                </a:solidFill>
                <a:latin typeface="Segoe UI"/>
              </a:rPr>
              <a:t>• Layer 4: in development; the approach, not a running product.</a:t>
            </a:r>
          </a:p>
          <a:p>
            <a:pPr>
              <a:spcAft>
                <a:spcPts val="1200"/>
              </a:spcAft>
            </a:pPr>
            <a:r>
              <a:rPr sz="1600">
                <a:solidFill>
                  <a:srgbClr val="222222"/>
                </a:solidFill>
                <a:latin typeface="Segoe UI"/>
              </a:rPr>
              <a:t>• Identity fusion, tamper-evident forensics, automated response: roadmap, not running today.</a:t>
            </a:r>
          </a:p>
          <a:p>
            <a:pPr>
              <a:spcAft>
                <a:spcPts val="1200"/>
              </a:spcAft>
            </a:pPr>
            <a:r>
              <a:rPr sz="1600">
                <a:solidFill>
                  <a:srgbClr val="222222"/>
                </a:solidFill>
                <a:latin typeface="Segoe UI"/>
              </a:rPr>
              <a:t>• Everything maps to MITRE ATT&amp;CK and ATLAS, but is not yet third-party audited.</a:t>
            </a:r>
          </a:p>
        </p:txBody>
      </p:sp>
      <p:sp>
        <p:nvSpPr>
          <p:cNvPr id="7" name="Rectangle 6"/>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9" name="TextBox 8"/>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88720"/>
            <a:ext cx="10515600" cy="457200"/>
          </a:xfrm>
          <a:prstGeom prst="rect">
            <a:avLst/>
          </a:prstGeom>
          <a:noFill/>
        </p:spPr>
        <p:txBody>
          <a:bodyPr wrap="square" anchor="t">
            <a:spAutoFit/>
          </a:bodyPr>
          <a:lstStyle/>
          <a:p>
            <a:pPr algn="l"/>
            <a:r>
              <a:rPr sz="1800" b="1" i="0">
                <a:solidFill>
                  <a:srgbClr val="E87722"/>
                </a:solidFill>
                <a:latin typeface="Segoe UI"/>
              </a:rPr>
              <a:t>THE ASK</a:t>
            </a:r>
          </a:p>
        </p:txBody>
      </p:sp>
      <p:sp>
        <p:nvSpPr>
          <p:cNvPr id="5" name="TextBox 4"/>
          <p:cNvSpPr txBox="1"/>
          <p:nvPr/>
        </p:nvSpPr>
        <p:spPr>
          <a:xfrm>
            <a:off x="822960" y="1828800"/>
            <a:ext cx="10515600" cy="1828800"/>
          </a:xfrm>
          <a:prstGeom prst="rect">
            <a:avLst/>
          </a:prstGeom>
          <a:noFill/>
        </p:spPr>
        <p:txBody>
          <a:bodyPr wrap="square" anchor="t">
            <a:spAutoFit/>
          </a:bodyPr>
          <a:lstStyle/>
          <a:p>
            <a:pPr algn="l"/>
            <a:r>
              <a:rPr sz="2600" b="1" i="0">
                <a:solidFill>
                  <a:srgbClr val="FFFFFF"/>
                </a:solidFill>
                <a:latin typeface="Segoe UI"/>
              </a:rPr>
              <a:t>A bounded Phase-1 pilot on real Army telemetry: advisory, human-in-the-loop, measured side by side against current tooling.</a:t>
            </a:r>
          </a:p>
        </p:txBody>
      </p:sp>
      <p:sp>
        <p:nvSpPr>
          <p:cNvPr id="6" name="TextBox 5"/>
          <p:cNvSpPr txBox="1"/>
          <p:nvPr/>
        </p:nvSpPr>
        <p:spPr>
          <a:xfrm>
            <a:off x="822960" y="3840480"/>
            <a:ext cx="10515600" cy="2286000"/>
          </a:xfrm>
          <a:prstGeom prst="rect">
            <a:avLst/>
          </a:prstGeom>
          <a:noFill/>
        </p:spPr>
        <p:txBody>
          <a:bodyPr wrap="square">
            <a:spAutoFit/>
          </a:bodyPr>
          <a:lstStyle/>
          <a:p>
            <a:pPr>
              <a:spcAft>
                <a:spcPts val="1000"/>
              </a:spcAft>
            </a:pPr>
            <a:r>
              <a:rPr sz="1500">
                <a:solidFill>
                  <a:srgbClr val="FFFFFF"/>
                </a:solidFill>
                <a:latin typeface="Segoe UI"/>
              </a:rPr>
              <a:t>• Layer 1: agentless config-only assessment of one enclave's edge estate; first findings in under 15 days.</a:t>
            </a:r>
          </a:p>
          <a:p>
            <a:pPr>
              <a:spcAft>
                <a:spcPts val="1000"/>
              </a:spcAft>
            </a:pPr>
            <a:r>
              <a:rPr sz="1500">
                <a:solidFill>
                  <a:srgbClr val="FFFFFF"/>
                </a:solidFill>
                <a:latin typeface="Segoe UI"/>
              </a:rPr>
              <a:t>• Layer 2: blind behavioral evaluation on a bounded Army enclave dataset at a fixed false-positive point.</a:t>
            </a:r>
          </a:p>
          <a:p>
            <a:pPr>
              <a:spcAft>
                <a:spcPts val="1000"/>
              </a:spcAft>
            </a:pPr>
            <a:r>
              <a:rPr sz="1500">
                <a:solidFill>
                  <a:srgbClr val="FFFFFF"/>
                </a:solidFill>
                <a:latin typeface="Segoe UI"/>
              </a:rPr>
              <a:t>• Environment: an IL5 or IL6 enclave, extensible to JWICS. Path: OTA prototype maturing toward a program of record.</a:t>
            </a:r>
          </a:p>
        </p:txBody>
      </p:sp>
      <p:sp>
        <p:nvSpPr>
          <p:cNvPr id="7" name="Rectangle 6"/>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9" name="TextBox 8"/>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Why This Matters</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It satisfies all three seats at once</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63040"/>
            <a:ext cx="3657600" cy="402336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657600" cy="731520"/>
          </a:xfrm>
          <a:prstGeom prst="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54480"/>
            <a:ext cx="3291840" cy="548640"/>
          </a:xfrm>
          <a:prstGeom prst="rect">
            <a:avLst/>
          </a:prstGeom>
          <a:noFill/>
        </p:spPr>
        <p:txBody>
          <a:bodyPr wrap="square" anchor="ctr">
            <a:spAutoFit/>
          </a:bodyPr>
          <a:lstStyle/>
          <a:p>
            <a:pPr algn="l"/>
            <a:r>
              <a:rPr sz="1800" b="1" i="0">
                <a:solidFill>
                  <a:srgbClr val="FFFFFF"/>
                </a:solidFill>
                <a:latin typeface="Segoe UI"/>
              </a:rPr>
              <a:t>Esquibel</a:t>
            </a:r>
          </a:p>
        </p:txBody>
      </p:sp>
      <p:sp>
        <p:nvSpPr>
          <p:cNvPr id="9" name="TextBox 8"/>
          <p:cNvSpPr txBox="1"/>
          <p:nvPr/>
        </p:nvSpPr>
        <p:spPr>
          <a:xfrm>
            <a:off x="640080" y="2468880"/>
            <a:ext cx="3291840" cy="2743200"/>
          </a:xfrm>
          <a:prstGeom prst="rect">
            <a:avLst/>
          </a:prstGeom>
          <a:noFill/>
        </p:spPr>
        <p:txBody>
          <a:bodyPr wrap="square" anchor="t">
            <a:spAutoFit/>
          </a:bodyPr>
          <a:lstStyle/>
          <a:p>
            <a:pPr algn="l"/>
            <a:r>
              <a:rPr sz="1400" b="0" i="0">
                <a:solidFill>
                  <a:srgbClr val="333333"/>
                </a:solidFill>
                <a:latin typeface="Segoe UI"/>
              </a:rPr>
              <a:t>Measured detection fidelity: 4 of 4 at 10.6% where classical methods catch 0 of 4, on the logs she already has.</a:t>
            </a:r>
          </a:p>
        </p:txBody>
      </p:sp>
      <p:sp>
        <p:nvSpPr>
          <p:cNvPr id="10" name="Rectangle 9"/>
          <p:cNvSpPr/>
          <p:nvPr/>
        </p:nvSpPr>
        <p:spPr>
          <a:xfrm>
            <a:off x="4361687" y="1463040"/>
            <a:ext cx="3657600" cy="402336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61687" y="1463040"/>
            <a:ext cx="3657600" cy="731520"/>
          </a:xfrm>
          <a:prstGeom prst="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7" y="1554480"/>
            <a:ext cx="3291840" cy="548640"/>
          </a:xfrm>
          <a:prstGeom prst="rect">
            <a:avLst/>
          </a:prstGeom>
          <a:noFill/>
        </p:spPr>
        <p:txBody>
          <a:bodyPr wrap="square" anchor="ctr">
            <a:spAutoFit/>
          </a:bodyPr>
          <a:lstStyle/>
          <a:p>
            <a:pPr algn="l"/>
            <a:r>
              <a:rPr sz="1800" b="1" i="0">
                <a:solidFill>
                  <a:srgbClr val="FFFFFF"/>
                </a:solidFill>
                <a:latin typeface="Segoe UI"/>
              </a:rPr>
              <a:t>DiGrezio</a:t>
            </a:r>
          </a:p>
        </p:txBody>
      </p:sp>
      <p:sp>
        <p:nvSpPr>
          <p:cNvPr id="13" name="TextBox 12"/>
          <p:cNvSpPr txBox="1"/>
          <p:nvPr/>
        </p:nvSpPr>
        <p:spPr>
          <a:xfrm>
            <a:off x="4544567" y="2468880"/>
            <a:ext cx="3291840" cy="2743200"/>
          </a:xfrm>
          <a:prstGeom prst="rect">
            <a:avLst/>
          </a:prstGeom>
          <a:noFill/>
        </p:spPr>
        <p:txBody>
          <a:bodyPr wrap="square" anchor="t">
            <a:spAutoFit/>
          </a:bodyPr>
          <a:lstStyle/>
          <a:p>
            <a:pPr algn="l"/>
            <a:r>
              <a:rPr sz="1400" b="0" i="0">
                <a:solidFill>
                  <a:srgbClr val="333333"/>
                </a:solidFill>
                <a:latin typeface="Segoe UI"/>
              </a:rPr>
              <a:t>One fieldable platform from one vendor, not four procurements. Agentless start, clear acquisition path.</a:t>
            </a:r>
          </a:p>
        </p:txBody>
      </p:sp>
      <p:sp>
        <p:nvSpPr>
          <p:cNvPr id="14" name="Rectangle 13"/>
          <p:cNvSpPr/>
          <p:nvPr/>
        </p:nvSpPr>
        <p:spPr>
          <a:xfrm>
            <a:off x="8266174" y="1463040"/>
            <a:ext cx="3657600" cy="4023360"/>
          </a:xfrm>
          <a:prstGeom prst="rect">
            <a:avLst/>
          </a:prstGeom>
          <a:solidFill>
            <a:srgbClr val="EC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66174" y="1463040"/>
            <a:ext cx="3657600" cy="731520"/>
          </a:xfrm>
          <a:prstGeom prst="rect">
            <a:avLst/>
          </a:prstGeom>
          <a:solidFill>
            <a:srgbClr val="1A7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49054" y="1554480"/>
            <a:ext cx="3291840" cy="548640"/>
          </a:xfrm>
          <a:prstGeom prst="rect">
            <a:avLst/>
          </a:prstGeom>
          <a:noFill/>
        </p:spPr>
        <p:txBody>
          <a:bodyPr wrap="square" anchor="ctr">
            <a:spAutoFit/>
          </a:bodyPr>
          <a:lstStyle/>
          <a:p>
            <a:pPr algn="l"/>
            <a:r>
              <a:rPr sz="1800" b="1" i="0">
                <a:solidFill>
                  <a:srgbClr val="FFFFFF"/>
                </a:solidFill>
                <a:latin typeface="Segoe UI"/>
              </a:rPr>
              <a:t>Herrmann</a:t>
            </a:r>
          </a:p>
        </p:txBody>
      </p:sp>
      <p:sp>
        <p:nvSpPr>
          <p:cNvPr id="17" name="TextBox 16"/>
          <p:cNvSpPr txBox="1"/>
          <p:nvPr/>
        </p:nvSpPr>
        <p:spPr>
          <a:xfrm>
            <a:off x="8449054" y="2468880"/>
            <a:ext cx="3291840" cy="2743200"/>
          </a:xfrm>
          <a:prstGeom prst="rect">
            <a:avLst/>
          </a:prstGeom>
          <a:noFill/>
        </p:spPr>
        <p:txBody>
          <a:bodyPr wrap="square" anchor="t">
            <a:spAutoFit/>
          </a:bodyPr>
          <a:lstStyle/>
          <a:p>
            <a:pPr algn="l"/>
            <a:r>
              <a:rPr sz="1400" b="0" i="0">
                <a:solidFill>
                  <a:srgbClr val="333333"/>
                </a:solidFill>
                <a:latin typeface="Segoe UI"/>
              </a:rPr>
              <a:t>A complete answer to the national valid-account / critical-infrastructure gap she can carry upward.</a:t>
            </a:r>
          </a:p>
        </p:txBody>
      </p:sp>
      <p:sp>
        <p:nvSpPr>
          <p:cNvPr id="18" name="TextBox 17"/>
          <p:cNvSpPr txBox="1"/>
          <p:nvPr/>
        </p:nvSpPr>
        <p:spPr>
          <a:xfrm>
            <a:off x="457200" y="5760720"/>
            <a:ext cx="10972800" cy="457200"/>
          </a:xfrm>
          <a:prstGeom prst="rect">
            <a:avLst/>
          </a:prstGeom>
          <a:noFill/>
        </p:spPr>
        <p:txBody>
          <a:bodyPr wrap="square" anchor="t">
            <a:spAutoFit/>
          </a:bodyPr>
          <a:lstStyle/>
          <a:p>
            <a:pPr algn="l"/>
            <a:r>
              <a:rPr sz="1400" b="1" i="0">
                <a:solidFill>
                  <a:srgbClr val="102A4C"/>
                </a:solidFill>
                <a:latin typeface="Segoe UI"/>
              </a:rPr>
              <a:t>Mapped 1:1 to how the adversary operates. The whole lifecycle, one vocabulary, under human control.</a:t>
            </a:r>
          </a:p>
        </p:txBody>
      </p:sp>
      <p:sp>
        <p:nvSpPr>
          <p:cNvPr id="19" name="Rectangle 18"/>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21" name="TextBox 20"/>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8900"/>
          </a:xfrm>
          <a:prstGeom prst="rect">
            <a:avLst/>
          </a:prstGeom>
          <a:solidFill>
            <a:srgbClr val="062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47120" cy="640080"/>
          </a:xfrm>
          <a:prstGeom prst="rect">
            <a:avLst/>
          </a:prstGeom>
          <a:noFill/>
        </p:spPr>
        <p:txBody>
          <a:bodyPr wrap="square" anchor="t">
            <a:spAutoFit/>
          </a:bodyPr>
          <a:lstStyle/>
          <a:p>
            <a:pPr algn="l"/>
            <a:r>
              <a:rPr sz="2300" b="1" i="0">
                <a:solidFill>
                  <a:srgbClr val="102A4C"/>
                </a:solidFill>
                <a:latin typeface="Segoe UI"/>
              </a:rPr>
              <a:t>Numbers to Keep Straight</a:t>
            </a:r>
          </a:p>
        </p:txBody>
      </p:sp>
      <p:sp>
        <p:nvSpPr>
          <p:cNvPr id="4" name="TextBox 3"/>
          <p:cNvSpPr txBox="1"/>
          <p:nvPr/>
        </p:nvSpPr>
        <p:spPr>
          <a:xfrm>
            <a:off x="457200" y="896112"/>
            <a:ext cx="11247120" cy="320040"/>
          </a:xfrm>
          <a:prstGeom prst="rect">
            <a:avLst/>
          </a:prstGeom>
          <a:noFill/>
        </p:spPr>
        <p:txBody>
          <a:bodyPr wrap="square" anchor="t">
            <a:spAutoFit/>
          </a:bodyPr>
          <a:lstStyle/>
          <a:p>
            <a:pPr algn="l"/>
            <a:r>
              <a:rPr sz="1200" b="0" i="0">
                <a:solidFill>
                  <a:srgbClr val="5E6A75"/>
                </a:solidFill>
                <a:latin typeface="Segoe UI"/>
              </a:rPr>
              <a:t>The reference card</a:t>
            </a:r>
          </a:p>
        </p:txBody>
      </p:sp>
      <p:sp>
        <p:nvSpPr>
          <p:cNvPr id="5" name="Rectangle 4"/>
          <p:cNvSpPr/>
          <p:nvPr/>
        </p:nvSpPr>
        <p:spPr>
          <a:xfrm>
            <a:off x="457200" y="1280160"/>
            <a:ext cx="2377440"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0972800" cy="4572000"/>
          </a:xfrm>
          <a:prstGeom prst="rect">
            <a:avLst/>
          </a:prstGeom>
          <a:noFill/>
        </p:spPr>
        <p:txBody>
          <a:bodyPr wrap="square">
            <a:spAutoFit/>
          </a:bodyPr>
          <a:lstStyle/>
          <a:p>
            <a:pPr>
              <a:spcAft>
                <a:spcPts val="1100"/>
              </a:spcAft>
            </a:pPr>
            <a:r>
              <a:rPr sz="1500">
                <a:solidFill>
                  <a:srgbClr val="222222"/>
                </a:solidFill>
                <a:latin typeface="Segoe UI"/>
              </a:rPr>
              <a:t>• Dataset: 250 entities, 485 days (70 weekly snapshots), ~14M events, 5 log sources.</a:t>
            </a:r>
          </a:p>
          <a:p>
            <a:pPr>
              <a:spcAft>
                <a:spcPts val="1100"/>
              </a:spcAft>
            </a:pPr>
            <a:r>
              <a:rPr sz="1500" b="1">
                <a:solidFill>
                  <a:srgbClr val="102A4C"/>
                </a:solidFill>
                <a:latin typeface="Segoe UI"/>
              </a:rPr>
              <a:t>• Production (threat-profile detector): 4 of 4 at 0 false positives, by named fingerprint. Discovery (twin): 4 of 4 by rank at 10.6% FP; classical baselines 0 of 4, z-score 1 of 4.</a:t>
            </a:r>
          </a:p>
          <a:p>
            <a:pPr>
              <a:spcAft>
                <a:spcPts val="1100"/>
              </a:spcAft>
            </a:pPr>
            <a:r>
              <a:rPr sz="1500">
                <a:solidFill>
                  <a:srgbClr val="222222"/>
                </a:solidFill>
                <a:latin typeface="Segoe UI"/>
              </a:rPr>
              <a:t>• Ranks: Salt #1 (51.71), Insider #2 (46.24), Slow APT #7 (20.00), Volt #30 (12.90).</a:t>
            </a:r>
          </a:p>
          <a:p>
            <a:pPr>
              <a:spcAft>
                <a:spcPts val="1100"/>
              </a:spcAft>
            </a:pPr>
            <a:r>
              <a:rPr sz="1500" b="1">
                <a:solidFill>
                  <a:srgbClr val="E87722"/>
                </a:solidFill>
                <a:latin typeface="Segoe UI"/>
              </a:rPr>
              <a:t>• Separation is by rank, not a clean gap: top normal user outscores Slow APT and Volt; present a ranked list.</a:t>
            </a:r>
          </a:p>
          <a:p>
            <a:pPr>
              <a:spcAft>
                <a:spcPts val="1100"/>
              </a:spcAft>
            </a:pPr>
            <a:r>
              <a:rPr sz="1500">
                <a:solidFill>
                  <a:srgbClr val="222222"/>
                </a:solidFill>
                <a:latin typeface="Segoe UI"/>
              </a:rPr>
              <a:t>• Layer 1: 99% of firewall breaches are misconfiguration; first findings in under 15 days.</a:t>
            </a:r>
          </a:p>
          <a:p>
            <a:pPr>
              <a:spcAft>
                <a:spcPts val="1100"/>
              </a:spcAft>
            </a:pPr>
            <a:r>
              <a:rPr sz="1500">
                <a:solidFill>
                  <a:srgbClr val="222222"/>
                </a:solidFill>
                <a:latin typeface="Segoe UI"/>
              </a:rPr>
              <a:t>• Layer 3: ~99% of AI-related vulnerabilities are API-related; 95% of API attacks are authenticated.</a:t>
            </a:r>
          </a:p>
        </p:txBody>
      </p:sp>
      <p:sp>
        <p:nvSpPr>
          <p:cNvPr id="7" name="Rectangle 6"/>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9" name="TextBox 8"/>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38100"/>
          </a:xfrm>
          <a:prstGeom prst="rect">
            <a:avLst/>
          </a:prstGeom>
          <a:solidFill>
            <a:srgbClr val="E87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515600" cy="2011680"/>
          </a:xfrm>
          <a:prstGeom prst="rect">
            <a:avLst/>
          </a:prstGeom>
          <a:noFill/>
        </p:spPr>
        <p:txBody>
          <a:bodyPr wrap="square" anchor="t">
            <a:spAutoFit/>
          </a:bodyPr>
          <a:lstStyle/>
          <a:p>
            <a:pPr algn="l"/>
            <a:r>
              <a:rPr sz="2400" b="1" i="0">
                <a:solidFill>
                  <a:srgbClr val="FFFFFF"/>
                </a:solidFill>
                <a:latin typeface="Segoe UI"/>
              </a:rPr>
              <a:t>One platform, four layers, one MITRE vocabulary, covering the full attack lifecycle. The behavioral core is ours and runs live, on the logs you already collect, catching four nation-state campaigns your current tools score as normal.</a:t>
            </a:r>
          </a:p>
        </p:txBody>
      </p:sp>
      <p:sp>
        <p:nvSpPr>
          <p:cNvPr id="5" name="TextBox 4"/>
          <p:cNvSpPr txBox="1"/>
          <p:nvPr/>
        </p:nvSpPr>
        <p:spPr>
          <a:xfrm>
            <a:off x="822960" y="4023360"/>
            <a:ext cx="10515600" cy="914400"/>
          </a:xfrm>
          <a:prstGeom prst="rect">
            <a:avLst/>
          </a:prstGeom>
          <a:noFill/>
        </p:spPr>
        <p:txBody>
          <a:bodyPr wrap="square" anchor="t">
            <a:spAutoFit/>
          </a:bodyPr>
          <a:lstStyle/>
          <a:p>
            <a:pPr algn="l"/>
            <a:r>
              <a:rPr sz="1800" b="0" i="0">
                <a:solidFill>
                  <a:srgbClr val="CFDDF2"/>
                </a:solidFill>
                <a:latin typeface="Segoe UI"/>
              </a:rPr>
              <a:t>The other layers close the rest of the lifecycle. Layer 4 is the honest roadmap. The right next step is a bounded pilot on real Army telemetry.</a:t>
            </a:r>
          </a:p>
        </p:txBody>
      </p:sp>
      <p:sp>
        <p:nvSpPr>
          <p:cNvPr id="6" name="TextBox 5"/>
          <p:cNvSpPr txBox="1"/>
          <p:nvPr/>
        </p:nvSpPr>
        <p:spPr>
          <a:xfrm>
            <a:off x="822960" y="5669280"/>
            <a:ext cx="10515600" cy="457200"/>
          </a:xfrm>
          <a:prstGeom prst="rect">
            <a:avLst/>
          </a:prstGeom>
          <a:noFill/>
        </p:spPr>
        <p:txBody>
          <a:bodyPr wrap="square" anchor="t">
            <a:spAutoFit/>
          </a:bodyPr>
          <a:lstStyle/>
          <a:p>
            <a:pPr algn="l"/>
            <a:r>
              <a:rPr sz="1600" b="1" i="0">
                <a:solidFill>
                  <a:srgbClr val="E87722"/>
                </a:solidFill>
                <a:latin typeface="Segoe UI"/>
              </a:rPr>
              <a:t>Thank you.  |  V-Intelligence</a:t>
            </a:r>
          </a:p>
        </p:txBody>
      </p:sp>
      <p:sp>
        <p:nvSpPr>
          <p:cNvPr id="7" name="Rectangle 6"/>
          <p:cNvSpPr/>
          <p:nvPr/>
        </p:nvSpPr>
        <p:spPr>
          <a:xfrm>
            <a:off x="0" y="6702552"/>
            <a:ext cx="12191695" cy="15240"/>
          </a:xfrm>
          <a:prstGeom prst="rect">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55664"/>
            <a:ext cx="10058400" cy="274320"/>
          </a:xfrm>
          <a:prstGeom prst="rect">
            <a:avLst/>
          </a:prstGeom>
          <a:noFill/>
        </p:spPr>
        <p:txBody>
          <a:bodyPr wrap="square" anchor="t">
            <a:spAutoFit/>
          </a:bodyPr>
          <a:lstStyle/>
          <a:p>
            <a:pPr algn="l"/>
            <a:r>
              <a:rPr sz="900" b="0" i="0">
                <a:solidFill>
                  <a:srgbClr val="5E6A75"/>
                </a:solidFill>
                <a:latin typeface="Segoe UI"/>
              </a:rPr>
              <a:t>CONFIDENTIAL  |  22nd Century Technologies  |  V-Intelligence Army Cyber Working Session</a:t>
            </a:r>
          </a:p>
        </p:txBody>
      </p:sp>
      <p:sp>
        <p:nvSpPr>
          <p:cNvPr id="9" name="TextBox 8"/>
          <p:cNvSpPr txBox="1"/>
          <p:nvPr/>
        </p:nvSpPr>
        <p:spPr>
          <a:xfrm>
            <a:off x="11338560" y="6455664"/>
            <a:ext cx="640080" cy="274320"/>
          </a:xfrm>
          <a:prstGeom prst="rect">
            <a:avLst/>
          </a:prstGeom>
          <a:noFill/>
        </p:spPr>
        <p:txBody>
          <a:bodyPr wrap="square" anchor="t">
            <a:spAutoFit/>
          </a:bodyPr>
          <a:lstStyle/>
          <a:p>
            <a:pPr algn="r"/>
            <a:r>
              <a:rPr sz="900" b="0" i="0">
                <a:solidFill>
                  <a:srgbClr val="5E6A75"/>
                </a:solidFill>
                <a:latin typeface="Segoe UI"/>
              </a:rPr>
              <a:t>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