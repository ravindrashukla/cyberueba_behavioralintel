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Containerized Behavioral Cyber Defense</a:t>
            </a:r>
            <a:br/>
            <a:r>
              <a:t>for Gabriel Nimbus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AE"/>
                </a:solidFill>
                <a:latin typeface="Calibri"/>
              </a:defRPr>
            </a:pPr>
            <a:r>
              <a:t>Preemptive Posture Verification  +  ACECARD UEBA Behavioral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27432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7B8E"/>
                </a:solidFill>
                <a:latin typeface="Calibri"/>
              </a:defRPr>
            </a:pPr>
            <a:r>
              <a:t>CFIC Collaboration Event  |  Augusta, GA  |  May 6,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PROBLEM STATEMENT BRIEFS  |  PROPRIETARY // NOT FOR PUBLIC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3200400" cy="475488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320040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Nation-state adversaries (Volt Typhoon, Salt Typhoon) have dwelled inside U.S. critical infrastructure for years.</a:t>
            </a:r>
          </a:p>
          <a:p>
            <a:pPr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AI-enabled reconnaissance and evasion make these campaigns harder to detect with each cycle.</a:t>
            </a:r>
          </a:p>
          <a:p>
            <a:pPr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ARCYBER needs behavioral intelligence inside the Gabriel Nimbus classified big data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188720"/>
            <a:ext cx="3200400" cy="475488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188720"/>
            <a:ext cx="3200400" cy="381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280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COMPLICATION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6459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Configuration gaps are never PROVEN closed. Pentests sample; nobody exhaustively verifies.</a:t>
            </a:r>
          </a:p>
          <a:p>
            <a:pPr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Current UEBA uses fixed thresholds. Living-off-the-Land tradecraft operates below every threshold.</a:t>
            </a:r>
          </a:p>
          <a:p>
            <a:pPr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Identity is fragmented across 10+ systems. No cross-domain behavioral trajectory exists.</a:t>
            </a:r>
          </a:p>
          <a:p>
            <a:pPr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 containerized, K8s-native UEBA exists for classified enclaves.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188720"/>
            <a:ext cx="3200400" cy="475488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188720"/>
            <a:ext cx="3200400" cy="381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80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22CT Preemptive: Formal mathematical verification of every defensive config. Zero FP/FN within model scope.</a:t>
            </a:r>
          </a:p>
          <a:p>
            <a:pPr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ACECARD UEBA: 1536-d behavioral embeddings + CUSUM change-point + MITRE-mapped drift direction.</a:t>
            </a:r>
          </a:p>
          <a:p>
            <a:pPr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OR behavioral drift detected in hours, not years.</a:t>
            </a:r>
          </a:p>
          <a:p>
            <a:pPr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Containerized, K8s-native, Iron Bank, IL5/IL6/JWICS. 90 days to first detection.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6D7E"/>
                </a:solidFill>
                <a:latin typeface="Calibri"/>
              </a:defRPr>
            </a:pPr>
            <a:r>
              <a:t>Aligned with DoD Zero Trust Reference Architecture (Pillars 4: Data, 7: Visibility &amp; Analytics)  |  NIST 800-53 Rev 5  |  cATO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AE"/>
                </a:solidFill>
                <a:latin typeface="Calibri"/>
              </a:defRPr>
            </a:pPr>
            <a:r>
              <a:t>AI-enabled adversaries dwell for years. Current defenses detect neither the entry nor the evolution.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AI-Enabled Adversaries Have Changed the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Nation-state actors use AI for reconnaissance, evasion, and adaptive persistence.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3383280" cy="2743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33832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392B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50876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AI-Powered Reconnaissance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74520"/>
            <a:ext cx="3017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LLMs generate exploit code from CVE descriptions in minutes.</a:t>
            </a:r>
            <a:br/>
            <a:r>
              <a:t>AI scans 100K+ endpoints for misconfiguration patterns.</a:t>
            </a:r>
            <a:br/>
            <a:r>
              <a:t>Automated supply-chain mapping identifies weakest links.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371600"/>
            <a:ext cx="3383280" cy="2743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371600"/>
            <a:ext cx="33832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392B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50876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AI-Assisted Evasion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874520"/>
            <a:ext cx="3017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Adversary AI mutates C2 traffic to evade signature detection.</a:t>
            </a:r>
            <a:br/>
            <a:r>
              <a:t>ML models test payloads against defender rules pre-campaign.</a:t>
            </a:r>
            <a:br/>
            <a:r>
              <a:t>Generative AI produces convincing phishing at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383280" cy="2743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3832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392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50876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AI-Extended Dwell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874520"/>
            <a:ext cx="3017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Adaptive beaconing avoids pattern-based detection.</a:t>
            </a:r>
            <a:br/>
            <a:r>
              <a:t>AI decides when to move laterally based on defender activity.</a:t>
            </a:r>
            <a:br/>
            <a:r>
              <a:t>Automated credential rotation maintains persistence.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The result: two active campaigns operated inside U.S. critical infrastructure for years.</a:t>
            </a:r>
          </a:p>
          <a:p>
            <a:pPr>
              <a:spcBef>
                <a:spcPts val="6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Volt Typhoon (MITRE G1017): active since at least mid-2021, pre-positioned in critical infrastructure.</a:t>
            </a:r>
          </a:p>
          <a:p>
            <a:pPr>
              <a:spcBef>
                <a:spcPts val="6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Salt Typhoon: 9+ U.S. telecoms and dozens of global carriers compromised. Multi-year dwell.</a:t>
            </a:r>
          </a:p>
          <a:p>
            <a:pPr>
              <a:spcBef>
                <a:spcPts val="600"/>
              </a:spcBef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00" b="0">
                <a:solidFill>
                  <a:srgbClr val="5D6D7E"/>
                </a:solidFill>
                <a:latin typeface="Calibri"/>
              </a:defRPr>
            </a:pPr>
            <a:r>
              <a:t>Sources: CISA AA24-038A, FBI/NSA/CISA Joint Advisory (Dec 2024), Microsoft Threat Intelligence, Cisco Talos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Case Study: Volt Typhoon (MITRE G1017)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Pre-positioned in U.S. critical infrastructure for future sabotage. Active since at least mid-2021.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097280" cy="7772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17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Initial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Exploits unpatched Fortinet, Ivanti, Cisco IOS XE, PAN edge devices. CVE-2023-20198, CVE-2024-3400.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12848"/>
            <a:ext cx="1097280" cy="7772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212848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2585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87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Credential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3500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ntdsutil.exe dumps NTDS.dit. LSASS memory extraction. All tools are legitimate Windows admin binaries.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054096"/>
            <a:ext cx="1097280" cy="7772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054096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09981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284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Lateral Movement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19125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RDP, WinRM, SMB to domain controllers. Routes C2 through KV botnet (compromised SOHO routers).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895344"/>
            <a:ext cx="1097280" cy="7772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895344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94106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1696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0325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Web shells (.aspx/.jspx). Scheduled tasks. Registry modification. Multi-year pre-positioning.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736592"/>
            <a:ext cx="1097280" cy="7772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736592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8231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0109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8737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Clears event logs. Deletes MRU keys. Living-off-the-Land only — no malware to detect.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KEY INSIGHT:  Every tool used is a legitimate admin binary. Every login uses valid credentials. No malware signature exists. Traditional detection is structurally blind.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Case Study: Salt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Carrier-scale telecom intrusions. 9+ U.S. telecoms compromised. Multi-year dwell. CALEA lawful-intercept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097280" cy="7772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17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Edge Exploitation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508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CVE-2023-20198 (Cisco IOS XE), CVE-2018-0171 (Smart Install), CVE-2024-21887 (Ivanti). 1,000+ Cisco devices targeted.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12848"/>
            <a:ext cx="1097280" cy="7772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212848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2585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87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35000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Creates local privileged accounts on routers. Modifies ACLs to whitelist attacker IPs. Enables Guest Shell. Config-resident.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054096"/>
            <a:ext cx="1097280" cy="7772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054096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09981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284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TACACS+ Harvest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19125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On-box packet capture of TACACS+ (TCP/49). Harvests network engineer credentials. JumbledPath chains connections.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895344"/>
            <a:ext cx="1097280" cy="7772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895344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94106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1696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Collection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0325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GRE tunnels siphon CDR/metadata. Targets CALEA lawful-intercept systems. GhostSpider + Demodex implants (per Trend Micro).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736592"/>
            <a:ext cx="1097280" cy="7772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736592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8231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0109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Long-Term Espionage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8737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Slow, persistent CDR exfiltration over months/years. Encrypted C2. Uses LOTL on network gear (Guest Shell).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KEY INSIGHT:  Salt Typhoon lives in router configs and ACLs — not in files. Their persistence mechanism IS the network configuration. Only continuous config verification surfaces this.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2. Why Current Tools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AE"/>
                </a:solidFill>
                <a:latin typeface="Calibri"/>
              </a:defRPr>
            </a:pPr>
            <a:r>
              <a:t>Neither configuration-only nor behavior-only defenses can detect these campaigns.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Four Structural Gaps Exploited by Both Campaigns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Each gap is a design limitation, not a tuning problem. No amount of rules or thresholds closes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0332720" cy="10515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17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Configuration Gaps Are Never PROVEN 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373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99% of firewall breaches are misconfiguration (Gartner). Pentests sample. ASM enumerates. Nobody PROVES coverage across the combinatorially explosive config state space. Both Typhoons enter via misconfigured edge devices.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487168"/>
            <a:ext cx="10332720" cy="10515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487168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328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3288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Behavioral Detection Has No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85292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"User is 87% anomalous" — anomalous HOW? Threshold-based UEBA misses Living-off-the-Land because every tool used (ntdsutil, wmic, netsh) is a legitimate admin binary. Volt Typhoon operated BELOW all thresholds for years.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602736"/>
            <a:ext cx="10332720" cy="10515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602736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484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64845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Identity Is Fragmented Across 10+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68496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AD, AAD, Okta, AWS IAM, K8s, CrowdStrike, VPN, Splunk, PKI, TACACS+. Each sees one identifier. Cross-domain lateral movement reads as 4 unrelated weak signals. No composite trajectory exists.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718304"/>
            <a:ext cx="10332720" cy="10515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718304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7640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76402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No Cloud-Native UEBA for Gabriel Nimbus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084064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Current UEBA tools are SaaS-only or legacy on-prem. No containerized, K8s-native behavioral platform exists that can deploy into Gabriel Nimbus at IL5/IL6/JWICS with cATO alignment.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Why Existing Security Stack Cannot Catch These Adversaries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Tool-by-tool assessment against Volt Typhoon and Salt Typhoon tradecraft.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371600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50876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Correlates known patterns. Cannot detect novel combinations of legitimate tool usage. Alert fatigue from 10K+ daily events. No behavioral trajectory.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12848"/>
            <a:ext cx="1371600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500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EDR/XDR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50008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Catches known malware. LOTL binaries (wmic, ntdsutil) are allowlisted. Cannot reason about cross-host behavioral evolution. Blind on network gear.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54096"/>
            <a:ext cx="1371600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Commercial</a:t>
            </a:r>
            <a:br/>
            <a:r>
              <a:t>UEBA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191256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Fixed thresholds. Per-source silos. No cross-system identity fusion. No drift direction. Cannot explain WHY something is anomalous.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895344"/>
            <a:ext cx="1371600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3250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Pentest /</a:t>
            </a:r>
            <a:br/>
            <a:r>
              <a:t>Red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032504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Point-in-time sample. Cannot cover combinatorial config state space. Exercises known TTPs, not novel chains. Annual cadence vs. continuous adversary.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736592"/>
            <a:ext cx="1371600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737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ASM / BAS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8737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Enumerates attack surface. Cannot PROVE controls block every path. Statistical confidence, not mathematical certainty. Misses config-resident persistence.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CONCLUSION:  The gap is structural, not operational. More rules, more alerts, more tools will not close it. A fundamentally different approach is required — one that PROVES and one that detects DIRECTION.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3. Our Solution: Two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AE"/>
                </a:solidFill>
                <a:latin typeface="Calibri"/>
              </a:defRPr>
            </a:pPr>
            <a:r>
              <a:t>Preemptive verification + behavioral trajectory intelligence. Together, they close all four gaps.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Two-Layer Defense: Preemptive + Behavioral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Layer 1 eliminates the attack surface mathematically. Layer 2 detects what remains behaviorally.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5029200" cy="4572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50292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alibri"/>
              </a:defRPr>
            </a:pPr>
            <a:r>
              <a:t>LAYER 1 — 22CT PREEMPTIVE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Calibri"/>
              </a:defRPr>
            </a:pPr>
            <a:r>
              <a:t>Closes Gap #1: Configuration never proven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-- Formal mathematical model of every NGFW, IPS, IdP, SASE, WAF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-- Exhaustively reasons over combinatorial config state space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-- Three Intelligences: Attack, Defense, Remediation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-- Re-verified hourly + on every config change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-- Supports PAN, Fortinet, Cisco, Check Point</a:t>
            </a:r>
          </a:p>
          <a:p>
            <a:pPr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1B4F72"/>
                </a:solidFill>
                <a:latin typeface="Calibri"/>
              </a:defRPr>
            </a:pPr>
            <a:r>
              <a:t>MATHEMATICAL GUARANTEE: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Zero FP/FN within formal model scope.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Complete reasoning, not sampling.</a:t>
            </a:r>
          </a:p>
          <a:p>
            <a:pPr>
              <a:spcBef>
                <a:spcPts val="600"/>
              </a:spcBef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00" b="0">
                <a:solidFill>
                  <a:srgbClr val="5D6D7E"/>
                </a:solidFill>
                <a:latin typeface="Calibri"/>
              </a:defRPr>
            </a:pPr>
            <a:r>
              <a:t>Powered by Rigor AI (innovation partner).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381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6B8A"/>
                </a:solidFill>
                <a:latin typeface="Calibri"/>
              </a:defRPr>
            </a:pPr>
            <a:r>
              <a:t>LAYER 2 — ACECARD UEBA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Calibri"/>
              </a:defRPr>
            </a:pPr>
            <a:r>
              <a:t>Closes Gaps #2, #3, 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-- 5 behavioral signals embedded into 1536-d vectors per entity/hour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-- CUSUM change-point catches sub-threshold drift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-- Drift DIRECTION with MITRE ATT&amp;CK mapping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-- Entity fusion across 10+ identity systems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-- Containerized K8s-native for Gabriel Nimbus</a:t>
            </a:r>
          </a:p>
          <a:p>
            <a:pPr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STRUCTURAL INNOVATION: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Not what is anomalous — what they are BECOMING.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Direction, not just magnitude.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(Preemptive) OR attack detected and contained within hours (ACECARD + ABAC)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Layer 1: Preemptive — Three Intelligences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From threat intel ingestion to verified remediation. Continuous, not periodic.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3383280" cy="411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338328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B4F72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50876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74520"/>
            <a:ext cx="3017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MITRE-enriched attack graphs built by ML/NLP/LLM pipeline.</a:t>
            </a:r>
            <a:br/>
            <a:br/>
            <a:r>
              <a:t>Ingests: CVE, CISA advisories, CTI, IOCs, PSIRTs</a:t>
            </a:r>
            <a:br/>
            <a:r>
              <a:t>Covers: Full TTP graph for Volt Typhoon (G1017) and Salt Typhoon</a:t>
            </a:r>
            <a:br/>
            <a:r>
              <a:t>Updates: Automatically on every new advisory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371600"/>
            <a:ext cx="3383280" cy="411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371600"/>
            <a:ext cx="338328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B4F72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50876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874520"/>
            <a:ext cx="3017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Symbolic Model of Computation.</a:t>
            </a:r>
            <a:br/>
            <a:br/>
            <a:r>
              <a:t>Models: Every NGFW, IPS, IdP, SASE, WAF config as formal logic</a:t>
            </a:r>
            <a:br/>
            <a:r>
              <a:t>Reasons: Exhaustively over combinatorial state space</a:t>
            </a:r>
            <a:br/>
            <a:r>
              <a:t>Proves: Every attack path is blocked — or surfaces the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383280" cy="411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38328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B4F72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50876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874520"/>
            <a:ext cx="3017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Guardrailed agentic-AI reasoners.</a:t>
            </a:r>
            <a:br/>
            <a:br/>
            <a:r>
              <a:t>Generates: Risk-prioritized, vendor-specific config fixes</a:t>
            </a:r>
            <a:br/>
            <a:r>
              <a:t>Validates: Fix introduces no new gaps or business disruption</a:t>
            </a:r>
            <a:br/>
            <a:r>
              <a:t>Delivers: SOC playbooks + ServiceNow/JIRA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OUTPUT:  Mathematical proof that every known TTP path is blocked. Re-verified hourly. Config drift caught within 1 hour. Vendor-specific fix generated automatically.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Layer 2: ACECARD UEBA — Core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Behavioral trajectory intelligence. Not anomaly scores — directional, MITRE-mapped drift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481328"/>
            <a:ext cx="36576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4996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41732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1536-d Behavioral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19072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5 signals (Auth, Process, Network, File, Identity) summarized as text, embedded into unified vector space. Captures the SHAPE of behavior, not just metrics. 5 individual + 1 composite = 6 vectors stored per entity per window.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450592"/>
            <a:ext cx="10332720" cy="10058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450592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36576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496312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CUSUM Change-Point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798064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Page's Cumulative Sum (1954): S(t) = max(0, S(t-1) + drift(t) - mu - k). Alarm at h = 4*sigma. Catches slow, sustained drift that NEVER crosses fixed thresholds. Minimax optimal for i.i.d. shift detection (Moustakides 1986).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529584"/>
            <a:ext cx="10332720" cy="10058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529584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3639312"/>
            <a:ext cx="36576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365760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575304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Drift Direction + MITRE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877056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Drift vector projected onto 8 threat concepts via cosine similarity. Output: "drifting toward lateral_movement (0.78, T1021)" — not "87% anomalous." Empirically validated on synthetic adversary replays.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608576"/>
            <a:ext cx="10332720" cy="10058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608576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" y="4718304"/>
            <a:ext cx="36576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73659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654296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Entity Fusion (10+ Systems)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956048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One entity_uuid resolves AD, AAD, Okta, AWS, K8s, CrowdStrike, VPN, Splunk, PKI, TACACS+. Without fusion: 4 weak signals, no alert. With fusion: 1 strong trajectory, HIGH alert.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Calibri"/>
              </a:defRPr>
            </a:pPr>
            <a:r>
              <a:t>NO COMMERCIAL UEBA combines: behavioral embeddings + CUSUM on vectors + drift direction onto MITRE techniques + entity fusion across 10+ sources.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ACECARD: Five Behavioral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Each signal captures a distinct attack dimension. Together they form a complete behavioral fingerprint.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371600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41732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Calibri"/>
              </a:defRPr>
            </a:pPr>
            <a:r>
              <a:t>Win 4624/4625/4768, Okta, AAD, CloudTrail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9164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onsolas"/>
              </a:defRPr>
            </a:pPr>
            <a:r>
              <a:t>logon_count, failure_rate, unique_hosts, off_hours_ratio, impossible_travel, mfa_skip_ratio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12848"/>
            <a:ext cx="1371600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957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5856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Calibri"/>
              </a:defRPr>
            </a:pPr>
            <a:r>
              <a:t>Sysmon EID 1/3, CrowdStrike, Defender, auditd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532888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onsolas"/>
              </a:defRPr>
            </a:pPr>
            <a:r>
              <a:t>unique_processes, cmdline_entropy, lolbin_count, parent_child_depth, unsigned_ratio, encoded_cmd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54096"/>
            <a:ext cx="1371600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369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099816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Calibri"/>
              </a:defRPr>
            </a:pPr>
            <a:r>
              <a:t>NetFlow/IPFIX, Zeek, PAN-OS, FortiGate, VPC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374136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onsolas"/>
              </a:defRPr>
            </a:pPr>
            <a:r>
              <a:t>unique_dest_ips, bytes_out_ratio, beacon_score, dns_query_rate, geo_anomaly, admin_share_access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895344"/>
            <a:ext cx="1371600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782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9410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Calibri"/>
              </a:defRPr>
            </a:pPr>
            <a:r>
              <a:t>Sysmon EID 11, Win 4663, DLP, cloud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215384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onsolas"/>
              </a:defRPr>
            </a:pPr>
            <a:r>
              <a:t>files_created, files_deleted, sensitive_access, archive_creates, extension_changes, shadow_copy_ops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736592"/>
            <a:ext cx="1371600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194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782312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Calibri"/>
              </a:defRPr>
            </a:pPr>
            <a:r>
              <a:t>Win 4672/4728, CloudTrail IAM, K8s audit, AD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056632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onsolas"/>
              </a:defRPr>
            </a:pPr>
            <a:r>
              <a:t>priv_escalations, group_adds, mfa_bypass, role_changes, service_acct_use, admin_actions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All 5 signals concatenated and embedded into 1536-d vector. Air-gapped default: local embedding model (E5-Mistral / nomic-embed-text). IL5 option: Azure OpenAI GovCloud. No raw event content sent. No PII.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4. How It Stops These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AE"/>
                </a:solidFill>
                <a:latin typeface="Calibri"/>
              </a:defRPr>
            </a:pPr>
            <a:r>
              <a:t>Phase-by-phase: what Preemptive eliminates and what ACECARD catches if preemption is bypassed.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Stopping Volt Typhoon: Both Layers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Each kill-chain phase is addressed by the appropriate layer. Defense-in-depth, not either/or.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109728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98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280160"/>
            <a:ext cx="274320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298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VOLT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80160"/>
            <a:ext cx="329184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298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 STOPS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280160"/>
            <a:ext cx="320040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2984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691640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7830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Initial</a:t>
            </a:r>
            <a:br/>
            <a:r>
              <a:t>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1783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Edge CVE exploit</a:t>
            </a:r>
            <a:br/>
            <a:r>
              <a:t>(Fortinet, Cisco, Ivanti, PAN)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783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IPS + WAF verified;</a:t>
            </a:r>
            <a:br/>
            <a:r>
              <a:t>compensating controls proven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783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Auth: anomalous mgmt-plane</a:t>
            </a:r>
            <a:br/>
            <a:r>
              <a:t>source IP, drift 0.08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542032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63347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Credential</a:t>
            </a:r>
            <a:br/>
            <a:r>
              <a:t>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6334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ntdsutil NTDS.dit dump;</a:t>
            </a:r>
            <a:br/>
            <a:r>
              <a:t>LSASS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63347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EDR coverage verified;</a:t>
            </a:r>
            <a:br/>
            <a:r>
              <a:t>script-control blocks ntdsutil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3347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Process: lolbin_count 0-&gt;7,</a:t>
            </a:r>
            <a:br/>
            <a:r>
              <a:t>CUSUM alarm @ T+47min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392424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483864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Lateral</a:t>
            </a:r>
            <a:br/>
            <a:r>
              <a:t>Movement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483864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SMB/RDP/WinRM to DCs;</a:t>
            </a:r>
            <a:br/>
            <a:r>
              <a:t>cross-tenant pivots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48386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SMB shadow detected;</a:t>
            </a:r>
            <a:br/>
            <a:r>
              <a:t>micro-segmentation proven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483864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Network: unique_dest 3-&gt;18,</a:t>
            </a:r>
            <a:br/>
            <a:r>
              <a:t>cohort z=6.17, HIGH alert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242816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334256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33425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Web shells; local accounts;</a:t>
            </a:r>
            <a:br/>
            <a:r>
              <a:t>ACL modification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334256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Config Drift catches</a:t>
            </a:r>
            <a:br/>
            <a:r>
              <a:t>baseline deviation in &lt;1hr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334256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Identity: svc_acct spikes,</a:t>
            </a:r>
            <a:br/>
            <a:r>
              <a:t>drift toward T1078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093208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184648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Pre-</a:t>
            </a:r>
            <a:br/>
            <a:r>
              <a:t>positioning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51846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Credential harvest;</a:t>
            </a:r>
            <a:br/>
            <a:r>
              <a:t>C2 to KV botnet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518464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Egress filtering proven;</a:t>
            </a:r>
            <a:br/>
            <a:r>
              <a:t>C2 IPs blocked all zones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18464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File: sensitive_access rises,</a:t>
            </a:r>
            <a:br/>
            <a:r>
              <a:t>CRITICAL -&gt; ABAC BLOCKED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Stopping Salt Typhoon: Both Layers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Config-resident adversary. Preemptive catches config drift. ACECARD catches behavioral drift.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109728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98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280160"/>
            <a:ext cx="274320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298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SALT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80160"/>
            <a:ext cx="329184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298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 STOPS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280160"/>
            <a:ext cx="320040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2984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691640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7830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Edge CVE</a:t>
            </a:r>
            <a:br/>
            <a:r>
              <a:t>Exploit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1783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CVE-2023-20198 vs Cisco IOS XE;</a:t>
            </a:r>
            <a:br/>
            <a:r>
              <a:t>level-15 admin obtained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783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WAF blocks /webui/ public;</a:t>
            </a:r>
            <a:br/>
            <a:r>
              <a:t>mgmt-plane ACL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783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Network: anomalous mgmt-plane</a:t>
            </a:r>
            <a:br/>
            <a:r>
              <a:t>source IP, drift 0.09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542032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63347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Account</a:t>
            </a:r>
            <a:br/>
            <a:r>
              <a:t>Creation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6334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Local privileged account;</a:t>
            </a:r>
            <a:br/>
            <a:r>
              <a:t>AAA config modified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63347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Config Drift detects</a:t>
            </a:r>
            <a:br/>
            <a:r>
              <a:t>baseline diff in &lt;1 hour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3347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Identity: graph hash changes;</a:t>
            </a:r>
            <a:br/>
            <a:r>
              <a:t>new SID linked to router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392424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483864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TACACS+</a:t>
            </a:r>
            <a:br/>
            <a:r>
              <a:t>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483864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On-box PCAP captures TCP/49;</a:t>
            </a:r>
            <a:br/>
            <a:r>
              <a:t>credentials harvested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48386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Capture restricted to</a:t>
            </a:r>
            <a:br/>
            <a:r>
              <a:t>authorized roles; mgmt VRF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483864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Process: tcpdump outside</a:t>
            </a:r>
            <a:br/>
            <a:r>
              <a:t>change window, CUSUM alarm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242816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334256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JumbledPath</a:t>
            </a:r>
            <a:br/>
            <a:r>
              <a:t>Pivot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33425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ELF binary chains connections</a:t>
            </a:r>
            <a:br/>
            <a:r>
              <a:t>across compromised routers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334256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Outbound to JumbledPath C2</a:t>
            </a:r>
            <a:br/>
            <a:r>
              <a:t>blocked all internal zones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334256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Composite signature: same</a:t>
            </a:r>
            <a:br/>
            <a:r>
              <a:t>uuid across 4 router hops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093208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184648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GRE Tunnel</a:t>
            </a:r>
            <a:br/>
            <a:r>
              <a:t>+ Exfil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518464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GRE tunnel; slow CDR/metadata</a:t>
            </a:r>
            <a:br/>
            <a:r>
              <a:t>exfil over months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518464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GRE peer auth verified;</a:t>
            </a:r>
            <a:br/>
            <a:r>
              <a:t>CALEA-zone segmentation proven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18464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data_exfiltration concept 0.44;</a:t>
            </a:r>
            <a:br/>
            <a:r>
              <a:t>slow drift caught by CUSUM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Why CUSUM Catches What Thresholds Cannot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Volt Typhoon never crosses any fixed threshold. CUSUM accumulates small drifts until alarm.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5029200" cy="2286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5029200" cy="254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THE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onsolas"/>
              </a:defRPr>
            </a:pPr>
            <a:r>
              <a:t>S(t) = max(0, S(t-1) + drift(t) - (mu + k))</a:t>
            </a:r>
          </a:p>
          <a:p>
            <a:pPr>
              <a:spcBef>
                <a:spcPts val="600"/>
              </a:spcBef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S(t) = cumulative sum statistic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drift(t) = cosine distance from baseline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mu = expected baseline drift (calibrated)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k = slack = 0.5 * sigma (allowable noise)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ALARM when S(t) &gt; h = 4 * sigma (configurable)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029200" cy="2286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Calibri"/>
              </a:defRPr>
            </a:pPr>
            <a:r>
              <a:t>WORKED EXAMPLE: VOLT TYPHOON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Baseline: mu = 0.03, sigma = 0.03</a:t>
            </a:r>
          </a:p>
          <a:p>
            <a:pPr>
              <a:spcBef>
                <a:spcPts val="600"/>
              </a:spcBef>
              <a:defRPr sz="1050" b="1">
                <a:solidFill>
                  <a:srgbClr val="0D1B2A"/>
                </a:solidFill>
                <a:latin typeface="Calibri"/>
              </a:defRPr>
            </a:pPr>
            <a:r>
              <a:t>k = 0.5 * 0.03 = 0.015  |  h = 4 * 0.03 = 0.12</a:t>
            </a:r>
          </a:p>
          <a:p>
            <a:pPr>
              <a:spcBef>
                <a:spcPts val="600"/>
              </a:spcBef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APT drift per window = 0.06 (below any threshold)</a:t>
            </a:r>
          </a:p>
          <a:p>
            <a:pPr>
              <a:spcBef>
                <a:spcPts val="6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Fixed threshold = 0.15 -&gt; NEVER fires</a:t>
            </a:r>
          </a:p>
          <a:p>
            <a:pPr>
              <a:spcBef>
                <a:spcPts val="600"/>
              </a:spcBef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CUSUM: excess/window = 0.06 - 0.03 - 0.015 = 0.015</a:t>
            </a:r>
          </a:p>
          <a:p>
            <a:pPr>
              <a:spcBef>
                <a:spcPts val="6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Alarm in 0.12 / 0.015 = 8 windows (8 hours at 1-hr cadence)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31920"/>
            <a:ext cx="5029200" cy="210312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931920"/>
            <a:ext cx="5029200" cy="25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23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FIXED THRESHOLD (Current UEBA)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Volt Typhoon drift per window: 0.01 - 0.04</a:t>
            </a:r>
          </a:p>
          <a:p>
            <a:pPr>
              <a:spcBef>
                <a:spcPts val="6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NEVER crosses 0.15. Ever.</a:t>
            </a:r>
          </a:p>
          <a:p>
            <a:pPr>
              <a:spcBef>
                <a:spcPts val="6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Attacker operates for YEARS undetected.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Every commercial UEBA uses fixed thresholds.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5029200" cy="210312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029200" cy="254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23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CUSUM (Our Approach)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2E"/>
                </a:solidFill>
                <a:latin typeface="Calibri"/>
              </a:defRPr>
            </a:pPr>
            <a:r>
              <a:t>Same drift 0.03-0.04 ACCUMULATES over windows.</a:t>
            </a:r>
          </a:p>
          <a:p>
            <a:pPr>
              <a:spcBef>
                <a:spcPts val="6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CUSUM alarm in 4-8 hours. Dwell: YEARS -&gt; HOURS.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Minimax optimal for i.i.d. shift detection</a:t>
            </a:r>
          </a:p>
          <a:p>
            <a:pPr>
              <a:spcBef>
                <a:spcPts val="600"/>
              </a:spcBef>
              <a:defRPr sz="1050" b="0">
                <a:solidFill>
                  <a:srgbClr val="1A1A2E"/>
                </a:solidFill>
                <a:latin typeface="Calibri"/>
              </a:defRPr>
            </a:pPr>
            <a:r>
              <a:t>(Lorden 1971, Moustakides 1986).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5. Architecture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AE"/>
                </a:solidFill>
                <a:latin typeface="Calibri"/>
              </a:defRPr>
            </a:pPr>
            <a:r>
              <a:t>How the two layers feed each other. High-level architecture and data 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Four Integration Points: Better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Each layer makes the other stronger. Shared vocabulary: MITRE ATT&amp;CK technique IDs.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41148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481328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17320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Preemptive Coverage Map -&gt; ACECARD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3736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Preemptive publishes which MITRE techniques are config-blocked. ACECARD raises thresholds on covered concepts (less noise) and lowers on uncovered (more sensitivity). Alert load drops 30-50% on mitigated TTPs.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450592"/>
            <a:ext cx="10332720" cy="10058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542032"/>
            <a:ext cx="41148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560320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96312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Preemptive Gaps -&gt; ACECARD Trust Floor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16352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Unmitigated control gap found -&gt; ACECARD lowers trust floor for entities in that segment. Until gap closed: ELEVATED_WATCH instead of TRUSTED. Step-up MFA, tighter logging applied automatically.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529584"/>
            <a:ext cx="10332720" cy="10058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621024"/>
            <a:ext cx="41148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639312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75304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ACECARD Confirmed Alerts -&gt; Preemptive Threat Feed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895344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Analyst-confirmed true positives (with MITRE IDs + entity context) feed into Preemptive Attack Intelligence. Field-observed TTPs drive preemptive policy changes. Detection-to-prevention loop closes.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608576"/>
            <a:ext cx="10332720" cy="100584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4700016"/>
            <a:ext cx="41148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718304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54296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Shared Vocabulary: MITRE IDs + Entity UUIDs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974336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Both layers use MITRE ATT&amp;CK. ACECARD outputs T1003, T1021, T1041 — same IDs Preemptive uses. Entity UUIDs become the join key for SOAR playbooks. One alert = what, which TTP, which entity, is config covered.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22CT Preemptive + ACECARD is a system, not a bundle of two products.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High-Level Architecture: Gabriel Nimbus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Five-layer stack. Kubernetes-native. Iron Bank hardened. IL5 (CUI), IL6 (Secret), JWICS (TS/SCI).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645920" cy="80467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447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544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Plotly Dash / React UI  |  7-chart dashboard  |  Alert feed  |  Kill-chain viz  |  ABAC admin  |  CAC/PIV auth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40280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1645920" cy="804672"/>
          </a:xfrm>
          <a:prstGeom prst="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134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560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API +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2316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FastAPI (async)  |  REST + WebSocket  |  Istio mTLS  |  SOAR webhooks  |  ServiceNow/JIRA  |  RBAC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108960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108960"/>
            <a:ext cx="1645920" cy="804672"/>
          </a:xfrm>
          <a:prstGeom prst="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1821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429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BEHAVIORAL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29184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5 Signal Summarizers  |  Embedding Pipeline  |  Trajectory  |  CUSUM  |  Drift Direction  |  Entity Fusion  |  ABAC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77640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77640"/>
            <a:ext cx="1645920" cy="804672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507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297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 PLANE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16052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PostgreSQL + pgvector (HNSW)  |  TimescaleDB  |  Redis (cache + pub/sub)  |  S3 object store  |  Encryption at 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846320"/>
            <a:ext cx="10332720" cy="80467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846320"/>
            <a:ext cx="164592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9194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166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02920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Kubernetes (Big Bang / RKE2)  |  Iron Bank containers  |  Istio  |  Fluentd  |  Prometheus + Grafana  |  FIPS 140-2/140-3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Deploys via single Helm chart. Air-gapped: same containers, local embedding model, zero external calls. cATO artifacts: OSCAL-format SSP, eMASS data feeds, automated STIG scans, POA&amp;M auto-generation.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Data Flow: Raw Telemetry to Actionable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End-to-end inside Gabriel Nimbus. No data leaves the enclave.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0332720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481328"/>
            <a:ext cx="41148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499616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63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ECS / OCSF / STIX 2.1 normalized events from SIEM, EDR, NetFlow, IdP, K8s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508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Calibri"/>
              </a:defRPr>
            </a:pPr>
            <a:r>
              <a:t>Kafka / Fluentd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03120"/>
            <a:ext cx="10332720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2212848"/>
            <a:ext cx="41148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231136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Aggregate into 1-hour windows per entity_uuid. Entity fusion resolves 10+ identity systems.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Calibri"/>
              </a:defRPr>
            </a:pPr>
            <a:r>
              <a:t>TimescaleDB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834640"/>
            <a:ext cx="10332720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2944368"/>
            <a:ext cx="41148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2962656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SUMMARIZE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5 signal summarizers produce structured text (metrics only). No raw content. No PII.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971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Python workers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566160"/>
            <a:ext cx="10332720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3675888"/>
            <a:ext cx="41148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3694176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EMBED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Concatenated text embedded into 1536-d vector. Default: local embedding model. IL5 option: Azure OpenAI GovCloud.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703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pgvector HNSW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297680"/>
            <a:ext cx="10332720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" y="4407408"/>
            <a:ext cx="41148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425696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343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Trajectory: cosine drift, velocity, acceleration. CUSUM 4-sigma. Drift direction onto 8 concepts.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434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Calibri"/>
              </a:defRPr>
            </a:pPr>
            <a:r>
              <a:t>Per-entity/window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029200"/>
            <a:ext cx="10332720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5840" y="5138928"/>
            <a:ext cx="41148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" y="5157216"/>
            <a:ext cx="37490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ALERT + ENFORCE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5120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Alert tiers (CRITICAL-&gt;INFO) with MITRE IDs, cohort z-score. ABAC trust state update.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166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Calibri"/>
              </a:defRPr>
            </a:pPr>
            <a:r>
              <a:t>WebSocket + SOAR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PERFORMANCE:  &lt;3 sec per entity (API)  |  10K entities/hour per 4-vCPU pod (API-backed)  |  2K/hour (local model, CPU)  |  Horizontal autoscale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Coverage Matrix: Which Layer Owns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Preemptive handles config-resident threats. ACECARD handles behavior-resident threats.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39319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Adversary 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280160"/>
            <a:ext cx="13716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298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Why This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691640"/>
            <a:ext cx="10332720" cy="384048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170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Edge-device CVE exploitation (VT + 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737360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74650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17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Formal proof: patch enforced or compensating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093976"/>
            <a:ext cx="10332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11937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Misconfigured / shadowed FW rules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139696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21488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193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Math model finds shadows across multi-vendor config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496312"/>
            <a:ext cx="10332720" cy="384048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5217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Router ACL tampering / config drift (ST)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542032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255117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5217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Config drift re-verifies hourly vs approved baseline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898648"/>
            <a:ext cx="10332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29240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Compromised valid accounts (VT + ST)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2944368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295351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9240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Policy-allowed traffic; only drift reveals abuse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300984"/>
            <a:ext cx="10332720" cy="384048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3263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Living-off-the-Land binaries (VT)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334670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335584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3263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lotl_execution concept + process signal structural shift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3703320"/>
            <a:ext cx="10332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37287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Cross-domain lateral movement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3749040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2040" y="375818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728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Entity fusion joins all identities into one drift trajectory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105656"/>
            <a:ext cx="10332720" cy="384048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3105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Slow APT dwell (months/years)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415137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2040" y="416052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1310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CUSUM accumulates sub-threshold drift; alarm in hours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4507992"/>
            <a:ext cx="10332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453339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C2 to known malicious infra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553712"/>
            <a:ext cx="137160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2040" y="456285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45333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Preemptive blocks known; ACECARD catches unknown via beacon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4910328"/>
            <a:ext cx="10332720" cy="384048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5840" y="49357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Zero-day / unmapped TTPs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4956048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92040" y="496519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49357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Behavioral anomaly detected even with no MITRE label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5312664"/>
            <a:ext cx="10332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40" y="533806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Insider threat / data hoarding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46320" y="535838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92040" y="5367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53380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insider_hoarding (T1074) + cohort z-score outlier detection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6. MVP Timeline &amp; Qualifications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AE"/>
                </a:solidFill>
                <a:latin typeface="Calibri"/>
              </a:defRPr>
            </a:pPr>
            <a:r>
              <a:t>90 days from authorization to first detection. Phased deployment with incremental capability.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90 Days: Authorization to First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Calibri"/>
              </a:defRPr>
            </a:pPr>
            <a:r>
              <a:t>Phased deployment into Gabriel Nimbus. Assumes AO-approved pilot authorization or existing cATO reciprocity.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10332720" cy="10515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280160"/>
            <a:ext cx="54864" cy="10515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325880"/>
            <a:ext cx="164592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344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1: Weeks 1-4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344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9164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Deploy K8s containers (Iron Bank) into Gabriel Nimbus</a:t>
            </a:r>
          </a:p>
          <a:p>
            <a:pPr>
              <a:spcBef>
                <a:spcPts val="4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  <a:r>
              <a:t>Connect SIEM/EDR/NetFlow via ECS/OCSF connectors</a:t>
            </a:r>
          </a:p>
          <a:p>
            <a:pPr>
              <a:spcBef>
                <a:spcPts val="4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  <a:r>
              <a:t>Configure entity fusion rules (AD/AAD/Okta/AWS)</a:t>
            </a:r>
          </a:p>
          <a:p>
            <a:pPr>
              <a:spcBef>
                <a:spcPts val="4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DELIVERABLE: Data flowing, entities resolved, baselines computing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95728"/>
            <a:ext cx="10332720" cy="10515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395728"/>
            <a:ext cx="54864" cy="10515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441448"/>
            <a:ext cx="164592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4597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2: Weeks 5-8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4597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07208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Enable 5-signal embedding pipeline + trajectory analysis</a:t>
            </a:r>
          </a:p>
          <a:p>
            <a:pPr>
              <a:spcBef>
                <a:spcPts val="4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  <a:r>
              <a:t>Activate CUSUM 4-sigma + drift direction (8 concepts)</a:t>
            </a:r>
          </a:p>
          <a:p>
            <a:pPr>
              <a:spcBef>
                <a:spcPts val="4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  <a:r>
              <a:t>Configure cohort definitions from AD/LDAP</a:t>
            </a:r>
          </a:p>
          <a:p>
            <a:pPr>
              <a:spcBef>
                <a:spcPts val="4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DELIVERABLE: Alerts firing, drift direction operational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511296"/>
            <a:ext cx="10332720" cy="10515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511296"/>
            <a:ext cx="54864" cy="10515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3557016"/>
            <a:ext cx="164592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575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3: Weeks 9-12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753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922776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SOC integration (SOAR webhooks, ServiceNow)</a:t>
            </a:r>
          </a:p>
          <a:p>
            <a:pPr>
              <a:spcBef>
                <a:spcPts val="4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  <a:r>
              <a:t>Threshold tuning via analyst TP/FP feedback</a:t>
            </a:r>
          </a:p>
          <a:p>
            <a:pPr>
              <a:spcBef>
                <a:spcPts val="4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  <a:r>
              <a:t>Enable ABAC + replay Volt/Salt scenarios for validation</a:t>
            </a:r>
          </a:p>
          <a:p>
            <a:pPr>
              <a:spcBef>
                <a:spcPts val="4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DELIVERABLE: Full capability, ABAC enforcing, validated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626864"/>
            <a:ext cx="10332720" cy="10515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626864"/>
            <a:ext cx="54864" cy="10515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" y="4672584"/>
            <a:ext cx="1645920" cy="3200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6908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 4: Week 13+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690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Calibri"/>
              </a:defRPr>
            </a:pPr>
            <a:r>
              <a:t>PREEMPTIVE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038344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Integrate 22CT Preemptive config verification layer</a:t>
            </a:r>
          </a:p>
          <a:p>
            <a:pPr>
              <a:spcBef>
                <a:spcPts val="4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  <a:r>
              <a:t>Connect NGFW/IPS/SASE for formal analysis</a:t>
            </a:r>
          </a:p>
          <a:p>
            <a:pPr>
              <a:spcBef>
                <a:spcPts val="4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  <a:r>
              <a:t>Trust-floor coupling + continuous re-verification</a:t>
            </a:r>
          </a:p>
          <a:p>
            <a:pPr>
              <a:spcBef>
                <a:spcPts val="4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DELIVERABLE: Both layers operational, closed-loop defense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RISKS:  ATO timeline (mitigated: cATO path + existing reciprocity)  |  Data quality from legacy SIEM (mitigated: 2-week connector validation sprint)  |  Red team exercise planned within 60 days of deployment.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22960"/>
            <a:ext cx="10332720" cy="25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Georgia"/>
              </a:defRPr>
            </a:pPr>
            <a:r>
              <a:t>Key Numbers &amp; 22CT Qualifications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502920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3716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618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FW breaches = misconfiguration (Gartner)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691640"/>
            <a:ext cx="502920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691640"/>
            <a:ext cx="13716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647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0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783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FP / FN within formal model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194560"/>
            <a:ext cx="13716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267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&lt;1 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Config drift detection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697480"/>
            <a:ext cx="502920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697480"/>
            <a:ext cx="13716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7706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1,536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Embedding dims per signal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200400"/>
            <a:ext cx="502920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200400"/>
            <a:ext cx="13716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735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291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Behavioral signals per 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703320"/>
            <a:ext cx="502920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3703320"/>
            <a:ext cx="13716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7764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MITRE threat concepts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206240"/>
            <a:ext cx="502920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206240"/>
            <a:ext cx="13716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279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4-sigma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CUSUM alarm threshold (configurable)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4709160"/>
            <a:ext cx="502920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709160"/>
            <a:ext cx="13716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782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&lt;3 sec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800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Event-to-analysis per 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5212080"/>
            <a:ext cx="502920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5212080"/>
            <a:ext cx="13716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2852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90 days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Authorization to first detection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188720"/>
            <a:ext cx="5029200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1188720"/>
            <a:ext cx="54864" cy="6858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2344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$90M Army SOC/MDR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1463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800+ cleared analysts. 24x7x365. Proven IR at scale.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1920240"/>
            <a:ext cx="5029200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1920240"/>
            <a:ext cx="54864" cy="6858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19659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USAF $108M | FBI TSC $56M | NAVAIR $145M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194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Active federal cyber contracts across DoD and IC.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2651760"/>
            <a:ext cx="5029200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2651760"/>
            <a:ext cx="54864" cy="6858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26974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Cleared Workforce (Secret - TS/SCI)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2926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MITRE ATT&amp;CK, NIST 800-53, DoD RMF trained. Day-1 ready.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3383280"/>
            <a:ext cx="5029200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3383280"/>
            <a:ext cx="54864" cy="6858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4290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IL5 / IL6 / JWICS Experience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657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ATO artifacts, air-gapped ops validated. cATO alignment.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4114800"/>
            <a:ext cx="5029200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4114800"/>
            <a:ext cx="54864" cy="6858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ACECARD: Built and Tested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389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Working prototype. Synthetic Volt/Salt replay validated.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4846320"/>
            <a:ext cx="5029200" cy="685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4846320"/>
            <a:ext cx="54864" cy="6858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48920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Innovation Partner: Rigor 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120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2E"/>
                </a:solidFill>
                <a:latin typeface="Calibri"/>
              </a:defRPr>
            </a:pPr>
            <a:r>
              <a:t>Preemptive layer powered by Rigor AI technology.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COMPLIANCE:  NIST 800-53 Rev 5 (SI-4, AU-6, IR-4, SC-7)  |  DoD ZT RA Pillars 4 &amp; 7  |  DISA STIGs  |  RMF / eMASS ready  |  OSCAL-format SSP  |  DCO-IDM compatible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From Detection to Preemption in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AE"/>
                </a:solidFill>
                <a:latin typeface="Calibri"/>
              </a:defRPr>
            </a:pPr>
            <a:r>
              <a:t>Preemptive closes the door. ACECARD watches the room.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27432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  Pilot 22CT Preemptive — Formal Policy Analysis on edge defense estate against Volt + Salt Typhoon TTPs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2.  Pilot ACECARD UEBA — Replay Volt + Salt scenarios on your telemetry; tune thresholds + cohorts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3.  Integrate — Preemptive findings raise ACECARD trust floor on entities traversing closed gaps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4.  Deploy to Gabriel Nimbus — K8s / Iron Bank / IL5-IL6-JWICS / cATO / continuous re-verification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AE"/>
                </a:solidFill>
                <a:latin typeface="Calibri"/>
              </a:defRPr>
            </a:pPr>
            <a:r>
              <a:t>Ravindra Shukla, Head of AI  |  22nd Century Technologies Inc. (TSCTI)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126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B7E"/>
                </a:solidFill>
                <a:latin typeface="Calibri"/>
              </a:defRPr>
            </a:pPr>
            <a:r>
              <a:t>CFIC Collaboration Event  |  Augusta, GA  |  May 6, 2026  |  PROPRIETARY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