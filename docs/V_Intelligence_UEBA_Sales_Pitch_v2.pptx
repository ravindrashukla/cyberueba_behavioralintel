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Detecting the Undetectable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2743200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C8E0"/>
                </a:solidFill>
                <a:latin typeface="Calibri"/>
              </a:defRPr>
            </a:pPr>
            <a:r>
              <a:t>How Nation-State Attackers Operate Undetected for Years</a:t>
            </a:r>
            <a:br/>
            <a:r>
              <a:t>Inside Critical Infrastructure — and How AI Changes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V-Intelligence UEBA: The Behavioral Digital Twin for Cyber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Threat Landscape Has Changed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Calibri"/>
              </a:defRPr>
            </a:pPr>
            <a:r>
              <a:t>Nation-state attackers no longer break in — they blend in. They use legitimate credentials, standard protocols, and built-in system tools. They look exactly like your employees.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5603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11680"/>
            <a:ext cx="24688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392B"/>
                </a:solidFill>
                <a:latin typeface="Calibri"/>
              </a:defRPr>
            </a:pPr>
            <a:r>
              <a:t>287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05050"/>
                </a:solidFill>
                <a:latin typeface="Calibri"/>
              </a:defRPr>
            </a:pPr>
            <a:r>
              <a:t>Average time to</a:t>
            </a:r>
            <a:br/>
            <a:r>
              <a:t>detect a breach</a:t>
            </a:r>
            <a:br/>
            <a:r>
              <a:t>(IBM 2024)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011680"/>
            <a:ext cx="25603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2011680"/>
            <a:ext cx="24688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392B"/>
                </a:solidFill>
                <a:latin typeface="Calibri"/>
              </a:defRPr>
            </a:pPr>
            <a:r>
              <a:t>$4.88M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834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05050"/>
                </a:solidFill>
                <a:latin typeface="Calibri"/>
              </a:defRPr>
            </a:pPr>
            <a:r>
              <a:t>Average cost of</a:t>
            </a:r>
            <a:br/>
            <a:r>
              <a:t>a data breach</a:t>
            </a:r>
            <a:br/>
            <a:r>
              <a:t>(IBM 2024)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5603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011680"/>
            <a:ext cx="246888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7E22"/>
                </a:solidFill>
                <a:latin typeface="Calibri"/>
              </a:defRPr>
            </a:pPr>
            <a:r>
              <a:t>5+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834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05050"/>
                </a:solidFill>
                <a:latin typeface="Calibri"/>
              </a:defRPr>
            </a:pPr>
            <a:r>
              <a:t>Salt Typhoon in</a:t>
            </a:r>
            <a:br/>
            <a:r>
              <a:t>US telecom before</a:t>
            </a:r>
            <a:br/>
            <a:r>
              <a:t>discovery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011680"/>
            <a:ext cx="25603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2011680"/>
            <a:ext cx="246888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7E22"/>
                </a:solidFill>
                <a:latin typeface="Calibri"/>
              </a:defRPr>
            </a:pPr>
            <a:r>
              <a:t>5+ 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834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05050"/>
                </a:solidFill>
                <a:latin typeface="Calibri"/>
              </a:defRPr>
            </a:pPr>
            <a:r>
              <a:t>Volt Typhoon in</a:t>
            </a:r>
            <a:br/>
            <a:r>
              <a:t>US critical infra</a:t>
            </a:r>
            <a:br/>
            <a:r>
              <a:t>before discovery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11064240" cy="228600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Calibri"/>
              </a:defRPr>
            </a:pPr>
            <a:r>
              <a:t>The New Reality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These are not hypothetical scenarios. In 2024, the US government disclosed that Chinese state-sponsored groups had been operating undetected inside American telecom and critical infrastructure for years.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Traditional cybersecurity tools — SIEM rules, anomaly detection algorithms, threshold-based alerts — were deployed at every compromised organization. None of them detected the intrusion.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The attackers were not invisible because they were sophisticated. They were invisible because the detection methods are fundamentally blind to their approach.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Case Study: Salt Typhoon — 5 Years Inside US Telecom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4864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80160"/>
            <a:ext cx="5394960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80B9"/>
                </a:solidFill>
                <a:latin typeface="Calibri"/>
              </a:defRPr>
            </a:pPr>
            <a:r>
              <a:t>What Happened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Calibri"/>
              </a:defRPr>
            </a:pPr>
            <a:r>
              <a:t>~2019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Reconnaissance begins against US telecom providers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Calibri"/>
              </a:defRPr>
            </a:pPr>
            <a:r>
              <a:t>~2021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Active penetration of telecom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Calibri"/>
              </a:defRPr>
            </a:pPr>
            <a:r>
              <a:t>2021-2024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Persistent access to AT&amp;T, Verizon, T-Mobile, Lumen, Charter, Windstream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5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56615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Accessed CALEA lawful intercept / wiretap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114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Harvested call metadata of 1M+ users, including senior US officials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Calibri"/>
              </a:defRPr>
            </a:pPr>
            <a:r>
              <a:t>Sept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FBI and CISA discover the breach — not the telecom companies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120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Calibri"/>
              </a:defRPr>
            </a:pPr>
            <a:r>
              <a:t>Oct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2120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Public disclosure; 9 US telecoms confirmed compromised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280160"/>
            <a:ext cx="52120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Calibri"/>
              </a:defRPr>
            </a:pPr>
            <a:r>
              <a:t>Why Every Detection System Failed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Used legitimate network protocols — no malware signatures to detect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Maintained normal traffic volumes — never spiked bandwidth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017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Operated with valid credentials — no brute force, no credential stuffing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56615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Exploited lawful intercept systems — outside standard SIEM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114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CALEA systems managed separately from customer-facing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6634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✗ Every traditional SIEM rule, IDS signature, and anomaly threshold was in place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21207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✗ None detected the intrusion — for over five years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Case Study: Volt Typhoon — 5 Years in Critical 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4864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80160"/>
            <a:ext cx="539496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E44AD"/>
                </a:solidFill>
                <a:latin typeface="Calibri"/>
              </a:defRPr>
            </a:pPr>
            <a:r>
              <a:t>What Happened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~2019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Initial access to US critical infrastructure 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2019-2023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Persistent presence in energy, water, telecom, transportation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Ongoing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Pre-positioned for disrupting US-Asia communications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5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May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56615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Microsoft Threat Intelligence publicly discloses the campaign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May 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114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CISA/NSA/FBI publish Joint Advisory AA23-144A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Feb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CISA confirms 5 years of persistent access in some targets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120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2120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Follow-up Advisory AA24-038A documents full scope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280160"/>
            <a:ext cx="52120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Calibri"/>
              </a:defRPr>
            </a:pPr>
            <a:r>
              <a:t>Why "Living Off the Land" Is Undetectable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Zero malware deployed — used only built-in OS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PowerShell, WMI, cmd, netsh — tools every admin uses daily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017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Authenticated with stolen valid credentials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56615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Lateral movement looked identical to IT maintenance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114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No anomalous traffic patterns — everything within normal bounds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6634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✗ EDR, SIEM, IDS all deployed — all failed to detect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21207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✗ Discovered by Microsoft threat researchers, not by deployed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6400"/>
            <a:ext cx="11064240" cy="73152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5050"/>
                </a:solidFill>
                <a:latin typeface="Calibri"/>
              </a:defRPr>
            </a:pPr>
            <a:r>
              <a:t>Common thread: Both Salt Typhoon and Volt Typhoon were discovered by external researchers — not by any security tool deployed at the compromised organizations. The tools were there. They simply cannot see this type of attack.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Full Threat Spectrum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8E0"/>
                </a:solidFill>
                <a:latin typeface="Calibri"/>
              </a:defRPr>
            </a:pPr>
            <a:r>
              <a:t>Nation-state actors, insiders, and patient adversaries each exploit a different blind spot. No organization faces just one threat category.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03520" cy="1828800"/>
          </a:xfrm>
          <a:prstGeom prst="round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11680"/>
            <a:ext cx="64008" cy="1645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Nation-State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Salt Typhoon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DC"/>
                </a:solidFill>
                <a:latin typeface="Calibri"/>
              </a:defRPr>
            </a:pPr>
            <a:r>
              <a:t>5+ years undetected  |  Wiretap compromise</a:t>
            </a:r>
            <a:br/>
            <a:r>
              <a:t>9 US telecom providers  |  Call metadata of senior officials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303520" cy="1828800"/>
          </a:xfrm>
          <a:prstGeom prst="round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011680"/>
            <a:ext cx="64008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Nation-State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Calibri"/>
              </a:defRPr>
            </a:pPr>
            <a:r>
              <a:t>Volt Typhoon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DC"/>
                </a:solidFill>
                <a:latin typeface="Calibri"/>
              </a:defRPr>
            </a:pPr>
            <a:r>
              <a:t>5+ years undetected  |  Critical infrastructure</a:t>
            </a:r>
            <a:br/>
            <a:r>
              <a:t>Living Off the Land  |  Pre-positioned for disruption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5303520" cy="1828800"/>
          </a:xfrm>
          <a:prstGeom prst="round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4114800"/>
            <a:ext cx="64008" cy="1645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Insider Threat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Trusted Employee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DC"/>
                </a:solidFill>
                <a:latin typeface="Calibri"/>
              </a:defRPr>
            </a:pPr>
            <a:r>
              <a:t>8-month gradual escalation  |  Authorized credentials</a:t>
            </a:r>
            <a:br/>
            <a:r>
              <a:t>All actions individually legitimate  |  Slow data exfiltration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23360"/>
            <a:ext cx="5303520" cy="1828800"/>
          </a:xfrm>
          <a:prstGeom prst="round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114800"/>
            <a:ext cx="64008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160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Slow APT Campaign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805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Calibri"/>
              </a:defRPr>
            </a:pPr>
            <a:r>
              <a:t>Patient Attacker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006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2DC"/>
                </a:solidFill>
                <a:latin typeface="Calibri"/>
              </a:defRPr>
            </a:pPr>
            <a:r>
              <a:t>180-day campaign  |  Below every threshold</a:t>
            </a:r>
            <a:br/>
            <a:r>
              <a:t>No single anomalous week  |  Credential harvesting + lateral movement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6035040"/>
            <a:ext cx="11064240" cy="548640"/>
          </a:xfrm>
          <a:prstGeom prst="roundRect">
            <a:avLst/>
          </a:prstGeom>
          <a:solidFill>
            <a:srgbClr val="14283C"/>
          </a:solidFill>
          <a:ln w="2540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080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7950B"/>
                </a:solidFill>
                <a:latin typeface="Calibri"/>
              </a:defRPr>
            </a:pPr>
            <a:r>
              <a:t>Each exploits a different blind spot. No single tool covers all four.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Every Traditional Approach Fails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Calibri"/>
              </a:defRPr>
            </a:pPr>
            <a:r>
              <a:t>Traditional cybersecurity tools are designed for a threat model that no longer exists.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0392B"/>
                </a:solidFill>
                <a:latin typeface="Calibri"/>
              </a:defRPr>
            </a:pPr>
            <a:r>
              <a:t>Signature-Based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9696"/>
                </a:solidFill>
                <a:latin typeface="Calibri"/>
              </a:defRPr>
            </a:pPr>
            <a:r>
              <a:t>IDS / Antivirus / EDR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Looks for known malware patterns and attack signatures.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74720"/>
            <a:ext cx="3291840" cy="82296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204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Fails when: Attacker uses no malware — only legitimate tools that are already whitelisted.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Salt Typhoon and Volt Typhoon deployed zero malware. Every file on disk was legitimate.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828800"/>
            <a:ext cx="34747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  <a:latin typeface="Calibri"/>
              </a:defRPr>
            </a:pPr>
            <a:r>
              <a:t>Rule-Based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331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9696"/>
                </a:solidFill>
                <a:latin typeface="Calibri"/>
              </a:defRPr>
            </a:pPr>
            <a:r>
              <a:t>SIEM Rules / 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Triggers on predefined conditions — failed logins, privilege escalation, data thresholds.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74720"/>
            <a:ext cx="3291840" cy="82296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5204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Fails when: Attacker stays below every threshold. 5% more data each week never triggers a rule.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Every rule at AT&amp;T, Verizon, and 7 other telecoms was in place. None fired for 5+ years.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828800"/>
            <a:ext cx="35661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1828800"/>
            <a:ext cx="34747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E44AD"/>
                </a:solidFill>
                <a:latin typeface="Calibri"/>
              </a:defRPr>
            </a:pPr>
            <a:r>
              <a:t>Statistical Anomaly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331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9696"/>
                </a:solidFill>
                <a:latin typeface="Calibri"/>
              </a:defRPr>
            </a:pPr>
            <a:r>
              <a:t>Isolation Forest / SVM / LOF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Flags users whose individual metrics deviate from the statistical mean.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474720"/>
            <a:ext cx="3291840" cy="82296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5204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Fails when: No single metric is abnormal enough. The attack is in the combination, not any one number.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Our testing: 4 simulated nation-state attacks — Isolation Forest, SVM, and LOF detect zero.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760720"/>
            <a:ext cx="11064240" cy="6400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7950B"/>
                </a:solidFill>
                <a:latin typeface="Calibri"/>
              </a:defRPr>
            </a:pPr>
            <a:r>
              <a:t>The fundamental problem: These tools ask "is any one number abnormal?" — but modern attackers ensure that no single number ever is. The attack is invisible to every tool that looks at individual metrics.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Innovation: Behavioral Digital Twin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Calibri"/>
              </a:defRPr>
            </a:pPr>
            <a:r>
              <a:t>V-Intelligence UEBA creates a behavioral digital twin for every entity in your environment — a rich, multi-dimensional representation of how each user, device, and application behaves. Not what numbers they generate. How they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103120"/>
            <a:ext cx="52120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Calibri"/>
              </a:defRPr>
            </a:pPr>
            <a:r>
              <a:t>Traditional: Raw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✗  Monitors individual numbers: login count, bytes transferred, failed auths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✗  Each metric checked independently against static thresholds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✗  No understanding of relationships between behaviors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✗  No context: "50 logins" means the same whether you're IT or 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✗  Attacker stays below threshold on every metric → invisible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0312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103120"/>
            <a:ext cx="52120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V-Intelligence UEBA: Behavioral Digital Twin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✓  Creates a unified behavioral profile capturing all activity dimensions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46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✓  Understands the meaning of actions — not just the magnitude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49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✓  Captures cross-dimensional relationships (access + data + network)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51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✓  Context-aware: knows what "normal" means for each individual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✓  Detects behavioral change patterns invisible to metric-by-metric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43600"/>
            <a:ext cx="11064240" cy="6400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7950B"/>
                </a:solidFill>
                <a:latin typeface="Calibri"/>
              </a:defRPr>
            </a:pPr>
            <a:r>
              <a:t>The digital twin doesn't ask "is this number abnormal?" — it asks "has this person fundamentally changed how they work?" That is the question Salt Typhoon and Volt Typhoon attackers cannot evade.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Multi-Tier Detection: Progressive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Calibri"/>
              </a:defRPr>
            </a:pPr>
            <a:r>
              <a:t>V-Intelligence UEBA employs a multi-tier approach — each layer adds detection capability that the previous layer cannot achieve.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35661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0392B"/>
                </a:solidFill>
                <a:latin typeface="Calibri"/>
              </a:defRPr>
            </a:pPr>
            <a:r>
              <a:t>Traditional SIEM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Isolation Forest / SVM / LOF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651760"/>
            <a:ext cx="210312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0 of 4 attacks 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▸ Threshold-based anomaly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▸ Checks individual metrics independently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▸ Misses attacks where no single metric spikes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▸ Every deployed tool uses this approach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92040"/>
            <a:ext cx="3291840" cy="5029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Result: Catches nothing. Every attacker stays below every threshold.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828800"/>
            <a:ext cx="35661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828800"/>
            <a:ext cx="34747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  <a:latin typeface="Calibri"/>
              </a:defRPr>
            </a:pPr>
            <a:r>
              <a:t>Intermediate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3317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Statistical Pattern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2651760"/>
            <a:ext cx="210312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1 of 4 attacks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▸ Multi-dimensional statistical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▸ Cross-correlates feature combinations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▸ Catches louder anomalies that cross statistical bounds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▸ Detects Volt Typhoon (noisier LotL campaign)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892040"/>
            <a:ext cx="3291840" cy="5029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937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7E22"/>
                </a:solidFill>
                <a:latin typeface="Calibri"/>
              </a:defRPr>
            </a:pPr>
            <a:r>
              <a:t>Result: Catches Volt Typhoon only. 3 stealthier attacks remain invisible.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828800"/>
            <a:ext cx="35661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1828800"/>
            <a:ext cx="34747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V-INTELLIGENCE UEBA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23317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Threat-Profile Detector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2651760"/>
            <a:ext cx="210312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  4 of 4 attacks detected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▸ Known-bad profile matching per entity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▸ Cohort-relative, raw-event, label-free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▸ C2-beacon, DGA-DNS, LOTL-process, recon-fanout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▸ Catches Salt Typhoon, Insider, Slow APT, Volt Typhoon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4892040"/>
            <a:ext cx="3291840" cy="5029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4937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Result: All 4 attacks detected at 0 false positives.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06440"/>
            <a:ext cx="11064240" cy="59436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8338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7950B"/>
                </a:solidFill>
                <a:latin typeface="Calibri"/>
              </a:defRPr>
            </a:pPr>
            <a:r>
              <a:t>0 / 4  →  1 / 4  →  4 / 4    |    Each tier catches what the previous tier cannot see. The behavioral digital twin is the breakthrough layer.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V-Intelligence UEBA Works — High-Level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Calibri"/>
              </a:defRPr>
            </a:pPr>
            <a:r>
              <a:t>V-Intelligence UEBA transforms raw security telemetry into behavioral intelligence through a multi-stage pipeline: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457200" cy="457200"/>
          </a:xfrm>
          <a:prstGeom prst="round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470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6B8A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847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Security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82880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Authentication logs, file access, network traffic, endpoint events, DNS queries — the same data your SIEM already collects.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457200" cy="45720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243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F72"/>
                </a:solidFill>
                <a:latin typeface="Calibri"/>
              </a:defRPr>
            </a:pPr>
            <a:r>
              <a:t>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243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Behavioral Digital Twin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6060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AI creates a multi-dimensional behavioral profile for every user, device, and application. Captures HOW entities behave, not just WHAT numbers they generate.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83280"/>
            <a:ext cx="45720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015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44AD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4015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Behavioral Change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38328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Continuously monitors each entity's digital twin for meaningful behavioral changes. Detects when behavior shifts — even when no individual metric is abnormal.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788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1788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Composite Risk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1605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Multi-phase scoring evaluates signal strength, breadth, sustained deviation, and behavioral context to produce a single composite risk score per entity.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457200" cy="457200"/>
          </a:xfrm>
          <a:prstGeom prst="round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9560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7950B"/>
                </a:solidFill>
                <a:latin typeface="Calibri"/>
              </a:defRPr>
            </a:pPr>
            <a:r>
              <a:t>RANK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9560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Analyst Priority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9377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All entities ranked by composite score. Analysts start at #1 and work down. No threshold tuning. No alert fatigue. No false alarm floods.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943600"/>
            <a:ext cx="11064240" cy="4572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9710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05050"/>
                </a:solidFill>
                <a:latin typeface="Calibri"/>
              </a:defRPr>
            </a:pPr>
            <a:r>
              <a:t>No new data sources required — V-Intelligence UEBA works with the telemetry your environment already produces.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Detection Results: Who Catches What?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Calibri"/>
              </a:defRPr>
            </a:pPr>
            <a:r>
              <a:t>250 users, 70 weeks, 4 attack campaigns — traditional methods vs V-Intelligence UEBA: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029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TRADITIONAL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276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5050"/>
                </a:solidFill>
                <a:latin typeface="Calibri"/>
              </a:defRPr>
            </a:pPr>
            <a:r>
              <a:t>Isolation Forest  /  One-Class SVM  /  LOF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USR-156</a:t>
            </a:r>
            <a:br/>
            <a:r>
              <a:t>Insider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USR-234</a:t>
            </a:r>
            <a:br/>
            <a:r>
              <a:t>APT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USR-042</a:t>
            </a:r>
            <a:br/>
            <a:r>
              <a:t>Volt Typhoon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920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USR-118</a:t>
            </a:r>
            <a:br/>
            <a:r>
              <a:t>Salt Typhoon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FP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1B2A"/>
                </a:solidFill>
                <a:latin typeface="Calibri"/>
              </a:defRPr>
            </a:pPr>
            <a:r>
              <a:t>Isolation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331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050"/>
                </a:solidFill>
                <a:latin typeface="Calibri"/>
              </a:defRPr>
            </a:pPr>
            <a:r>
              <a:t>5.3%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1B2A"/>
                </a:solidFill>
                <a:latin typeface="Calibri"/>
              </a:defRPr>
            </a:pPr>
            <a:r>
              <a:t>One-Class SVM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2651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050"/>
                </a:solidFill>
                <a:latin typeface="Calibri"/>
              </a:defRPr>
            </a:pPr>
            <a:r>
              <a:t>14.6%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1B2A"/>
                </a:solidFill>
                <a:latin typeface="Calibri"/>
              </a:defRPr>
            </a:pPr>
            <a:r>
              <a:t>LOF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971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971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971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971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050"/>
                </a:solidFill>
                <a:latin typeface="Calibri"/>
              </a:defRPr>
            </a:pPr>
            <a:r>
              <a:t>4.5%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1600200"/>
            <a:ext cx="1645920" cy="3200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16184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 of 4 detected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383280"/>
            <a:ext cx="50292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OUR INTERMEDIATE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3502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5050"/>
                </a:solidFill>
                <a:latin typeface="Calibri"/>
              </a:defRPr>
            </a:pPr>
            <a:r>
              <a:t>Statistical Pattern Detection (Z-Score |z|&gt;3)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1B2A"/>
                </a:solidFill>
                <a:latin typeface="Calibri"/>
              </a:defRPr>
            </a:pPr>
            <a:r>
              <a:t>Z-Score (|z| &gt; 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3794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794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794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794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3794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050"/>
                </a:solidFill>
                <a:latin typeface="Calibri"/>
              </a:defRPr>
            </a:pPr>
            <a:r>
              <a:t>9.8%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3474720"/>
            <a:ext cx="164592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04120" y="34930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 of 4 detected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1148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7E22"/>
                </a:solidFill>
                <a:latin typeface="Calibri"/>
              </a:defRPr>
            </a:pPr>
            <a:r>
              <a:t>Catches Volt Typhoon only — Insider, Slow APT, and Salt Typhoon remain invisible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572000"/>
            <a:ext cx="50292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V-INTELLIGENCE UEBA + THREAT-PROFILE DETECTOR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46908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5050"/>
                </a:solidFill>
                <a:latin typeface="Calibri"/>
              </a:defRPr>
            </a:pPr>
            <a:r>
              <a:t>Known-Bad Profile Matching → Multi-Front Detection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1B2A"/>
                </a:solidFill>
                <a:latin typeface="Calibri"/>
              </a:defRPr>
            </a:pPr>
            <a:r>
              <a:t>Threat-Profile Match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4983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050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58400" y="4663440"/>
            <a:ext cx="164592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04120" y="46817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 of 4 detected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394960"/>
            <a:ext cx="11247120" cy="5029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440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392B"/>
                </a:solidFill>
                <a:latin typeface="Calibri"/>
              </a:defRPr>
            </a:pPr>
            <a:r>
              <a:t>Traditional: 0 / 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5486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8E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80" y="5440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7E22"/>
                </a:solidFill>
                <a:latin typeface="Calibri"/>
              </a:defRPr>
            </a:pPr>
            <a:r>
              <a:t>Intermediate: 1 /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5486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8E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54406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  <a:latin typeface="Calibri"/>
              </a:defRPr>
            </a:pPr>
            <a:r>
              <a:t>V-Intelligence UEBA: 4 / 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68756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C8E0"/>
                </a:solidFill>
                <a:latin typeface="Calibri"/>
              </a:defRPr>
            </a:pPr>
            <a:r>
              <a:t>Each tier catches what the previous tier cannot see.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V-Intelligence UEBA: Composite Cleanly Separates 2 of 4 Attackers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Calibri"/>
              </a:defRPr>
            </a:pPr>
            <a:r>
              <a:t>Same 250 users, same data. The composite score lifts USR-156 and USR-118 above all normal users; USR-234 and USR-042 stay below normal and are caught by the threat-profile detector:</a:t>
            </a:r>
          </a:p>
        </p:txBody>
      </p:sp>
      <p:pic>
        <p:nvPicPr>
          <p:cNvPr id="5" name="Picture 4" descr="tier3_sec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1069848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V-Intelligence UEBA Separates Attackers from Normal Users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Calibri"/>
              </a:defRPr>
            </a:pPr>
            <a:r>
              <a:t>The composite score lifts the insider (USR-156) and Salt Typhoon (USR-118) clearly above the normal population; the threat-profile detector closes the gap on the two stealthiest campaigns:</a:t>
            </a:r>
          </a:p>
        </p:txBody>
      </p:sp>
      <p:pic>
        <p:nvPicPr>
          <p:cNvPr id="5" name="Picture 4" descr="tier3_sec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1106424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Verdict: Traditional 0/4 — Intermediate 1/4 — V-Intelligence UEBA 4/4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Calibri"/>
              </a:defRPr>
            </a:pPr>
            <a:r>
              <a:t>Same data, same users — three fundamentally different outcomes: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52044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429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  <a:latin typeface="Calibri"/>
              </a:defRPr>
            </a:pPr>
            <a:r>
              <a:t>TRADITIONAL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050"/>
                </a:solidFill>
                <a:latin typeface="Calibri"/>
              </a:defRPr>
            </a:pPr>
            <a:r>
              <a:t>Isolation Forest / SVM / LOF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0392B"/>
                </a:solidFill>
                <a:latin typeface="Calibri"/>
              </a:defRPr>
            </a:pPr>
            <a:r>
              <a:t>0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05050"/>
                </a:solidFill>
                <a:latin typeface="Calibri"/>
              </a:defRPr>
            </a:pPr>
            <a:r>
              <a:t>attacks detected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5050"/>
                </a:solidFill>
                <a:latin typeface="Calibri"/>
              </a:defRPr>
            </a:pPr>
            <a:r>
              <a:t>Fixed thresholds on 23 scalar features. Attackers who stay within normal statistical ranges are invisible — no individual metric is abnormal enough to cross a detection boundary.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60520"/>
            <a:ext cx="324612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Best FP: 4.5% (LOF) — but detects nothing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554480"/>
            <a:ext cx="352044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34290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66420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Calibri"/>
              </a:defRPr>
            </a:pPr>
            <a:r>
              <a:t>INTERMEDIATE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385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050"/>
                </a:solidFill>
                <a:latin typeface="Calibri"/>
              </a:defRPr>
            </a:pPr>
            <a:r>
              <a:t>Z-Score (|z|&gt;3) — Our Statistical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2402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67E22"/>
                </a:solidFill>
                <a:latin typeface="Calibri"/>
              </a:defRPr>
            </a:pPr>
            <a:r>
              <a:t>1 of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83464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05050"/>
                </a:solidFill>
                <a:latin typeface="Calibri"/>
              </a:defRPr>
            </a:pPr>
            <a:r>
              <a:t>attacks detected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15468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5050"/>
                </a:solidFill>
                <a:latin typeface="Calibri"/>
              </a:defRPr>
            </a:pPr>
            <a:r>
              <a:t>Detects single-feature spikes beyond 3 standard deviations. Catches the most aggressive attacker (Volt Typhoon) but misses slow, distributed campaigns that stay below the threshold on every individual metric.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160520"/>
            <a:ext cx="324612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2062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FP: 9.8% — catches Volt Typhoon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554480"/>
            <a:ext cx="352044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554480"/>
            <a:ext cx="34290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66420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V-INTELLIGENCE UEBA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19385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5050"/>
                </a:solidFill>
                <a:latin typeface="Calibri"/>
              </a:defRPr>
            </a:pPr>
            <a:r>
              <a:t>Threat-Profile Detector (multi-front)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2402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7AE60"/>
                </a:solidFill>
                <a:latin typeface="Calibri"/>
              </a:defRPr>
            </a:pPr>
            <a:r>
              <a:t>4 of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83464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05050"/>
                </a:solidFill>
                <a:latin typeface="Calibri"/>
              </a:defRPr>
            </a:pPr>
            <a:r>
              <a:t>attacks detected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315468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5050"/>
                </a:solidFill>
                <a:latin typeface="Calibri"/>
              </a:defRPr>
            </a:pPr>
            <a:r>
              <a:t>Matches raw events against known-bad profiles — C2-beacon, DGA-DNS, LOTL-process, cohort-rare access, recon-fanout, insider-collection — cohort-relative and label-free. Composite scoring separates 2 of 4 on its own; the profile detector catches all four.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160520"/>
            <a:ext cx="324612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2062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FP: 0% — all 4 attacks detected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029200"/>
            <a:ext cx="11247120" cy="59436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07492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7950B"/>
                </a:solidFill>
                <a:latin typeface="Calibri"/>
              </a:defRPr>
            </a:pPr>
            <a:r>
              <a:t>V-Intelligence UEBA builds the behavioral profile. The threat-profile detector catches the attack.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21808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0C8E0"/>
                </a:solidFill>
                <a:latin typeface="Calibri"/>
              </a:defRPr>
            </a:pPr>
            <a:r>
              <a:t>4/4 attacks detected at 0 FP — vs 0/4 traditional, 1/4 intermediate.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760720"/>
            <a:ext cx="11247120" cy="548640"/>
          </a:xfrm>
          <a:prstGeom prst="round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779008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Real-World Validation: Salt Typhoon (USR-118)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C8E0"/>
                </a:solidFill>
                <a:latin typeface="Calibri"/>
              </a:defRPr>
            </a:pPr>
            <a:r>
              <a:t>5+ years undetected by every traditional tool. V-Intelligence UEBA ranks it #1 out of 250 users (score: 51.7).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Unique Results: What V-Intelligence UEBA Achieved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Calibri"/>
              </a:defRPr>
            </a:pPr>
            <a:r>
              <a:t>Four distinct attack campaigns. Composite cleanly separates 2; the threat-profile detector catches all 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47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11556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USR-118 — Salt Typhoon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5050"/>
                </a:solidFill>
                <a:latin typeface="Calibri"/>
              </a:defRPr>
            </a:pPr>
            <a:r>
              <a:t>Telecom infrastructure pivot — router config exfiltration, call metadata harvesting, DNS tunneling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783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51.7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1488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COMPOSITE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#1 / 250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69696"/>
                </a:solidFill>
                <a:latin typeface="Calibri"/>
              </a:defRPr>
            </a:pPr>
            <a:r>
              <a:t>100th percentile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Mirrors real Salt Typhoon — 5+ years undetected worldwide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88920"/>
            <a:ext cx="11247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88920"/>
            <a:ext cx="11155680" cy="54864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6B8A"/>
                </a:solidFill>
                <a:latin typeface="Calibri"/>
              </a:defRPr>
            </a:pPr>
            <a:r>
              <a:t>USR-156 — Insider Threat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5050"/>
                </a:solidFill>
                <a:latin typeface="Calibri"/>
              </a:defRPr>
            </a:pPr>
            <a:r>
              <a:t>Gradual privilege escalation — restricted file access, off-hours activity, slow data exfiltration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926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E6B8A"/>
                </a:solidFill>
                <a:latin typeface="Calibri"/>
              </a:defRPr>
            </a:pPr>
            <a:r>
              <a:t>46.2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2918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COMPOSITE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#2 / 250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91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69696"/>
                </a:solidFill>
                <a:latin typeface="Calibri"/>
              </a:defRPr>
            </a:pPr>
            <a:r>
              <a:t>99th percentile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971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8A"/>
                </a:solidFill>
                <a:latin typeface="Calibri"/>
              </a:defRPr>
            </a:pPr>
            <a:r>
              <a:t>Slow 8-month escalation — no single week anomalous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31920"/>
            <a:ext cx="11247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931920"/>
            <a:ext cx="11155680" cy="5486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72"/>
                </a:solidFill>
                <a:latin typeface="Calibri"/>
              </a:defRPr>
            </a:pPr>
            <a:r>
              <a:t>USR-234 — Slow APT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43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5050"/>
                </a:solidFill>
                <a:latin typeface="Calibri"/>
              </a:defRPr>
            </a:pPr>
            <a:r>
              <a:t>Low-and-slow persistent access — credential harvesting, lateral movement across network segments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069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4F72"/>
                </a:solidFill>
                <a:latin typeface="Calibri"/>
              </a:defRPr>
            </a:pPr>
            <a:r>
              <a:t>C2-beacon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4348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COMPOSITE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below norm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34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69696"/>
                </a:solidFill>
                <a:latin typeface="Calibri"/>
              </a:defRPr>
            </a:pPr>
            <a:r>
              <a:t>profile percentile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114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Calibri"/>
              </a:defRPr>
            </a:pPr>
            <a:r>
              <a:t>Composite ranks below normal — caught by C2-beacon profile front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074920"/>
            <a:ext cx="11247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074920"/>
            <a:ext cx="1115568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Calibri"/>
              </a:defRPr>
            </a:pPr>
            <a:r>
              <a:t>USR-042 — Volt Typhoon LOTL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5050"/>
                </a:solidFill>
                <a:latin typeface="Calibri"/>
              </a:defRPr>
            </a:pPr>
            <a:r>
              <a:t>Living-off-the-land — PowerShell, WMI, legitimate tools, no malware deployed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5212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E44AD"/>
                </a:solidFill>
                <a:latin typeface="Calibri"/>
              </a:defRPr>
            </a:pPr>
            <a:r>
              <a:t>LOTL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5778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69696"/>
                </a:solidFill>
                <a:latin typeface="Calibri"/>
              </a:defRPr>
            </a:pPr>
            <a:r>
              <a:t>COMPOSITE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212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below norm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577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69696"/>
                </a:solidFill>
                <a:latin typeface="Calibri"/>
              </a:defRPr>
            </a:pPr>
            <a:r>
              <a:t>profile percentile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257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E44AD"/>
                </a:solidFill>
                <a:latin typeface="Calibri"/>
              </a:defRPr>
            </a:pPr>
            <a:r>
              <a:t>Composite ranks below normal — caught by LOTL-process profile front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6263640"/>
            <a:ext cx="11064240" cy="5029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62910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7950B"/>
                </a:solidFill>
                <a:latin typeface="Calibri"/>
              </a:defRPr>
            </a:pPr>
            <a:r>
              <a:t>All 4 attackers detected  |  0 false positives (threat-profile detector)  |  Zero threshold tuning  |  Traditional methods: 0 of 4 detected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Real-World Validation: Salt Typhoon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C8E0"/>
                </a:solidFill>
                <a:latin typeface="Calibri"/>
              </a:defRPr>
            </a:pPr>
            <a:r>
              <a:t>Our simulation replicates Salt Typhoon's exact attack pattern. The results confirm reality.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In the Real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Salt Typhoon operated inside US telecom for 5+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Accessed wiretap systems of senior government officials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9 telecom providers compromised (AT&amp;T, Verizon, T-Mobile...)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899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Discovered by FBI/CISA — not by any deployed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Every SIEM rule, IDS, and anomaly algorithm was in 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In Our 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06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Same attack pattern simulated among 250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80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▸ All traditional algorithms: MISSED (max z-score = 1.71)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54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▸ V-Intelligence UEBA Composite Score: 51.7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2899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★ V-Intelligence UEBA Rank: #1 out of 250 users (100th percentile)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03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★ Strongest behavioral anomaly in the entire population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72000"/>
            <a:ext cx="11064240" cy="1097280"/>
          </a:xfrm>
          <a:prstGeom prst="roundRect">
            <a:avLst/>
          </a:prstGeom>
          <a:solidFill>
            <a:srgbClr val="14283C"/>
          </a:solidFill>
          <a:ln w="2540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7950B"/>
                </a:solidFill>
                <a:latin typeface="Calibri"/>
              </a:defRPr>
            </a:pPr>
            <a:r>
              <a:t>The Bottom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The same threshold-based detection that failed for 5+ years in the real world fails identically in our simulation. V-Intelligence UEBA's behavioral digital twin ranks the identical attack pattern as the #1 anomaly — not because any single number is abnormal, but because the digital twin understands that the overall behavior has fundamentally changed.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7950B"/>
                </a:solidFill>
                <a:latin typeface="Calibri"/>
              </a:defRPr>
            </a:pPr>
            <a:r>
              <a:t>5+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5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C8E0"/>
                </a:solidFill>
                <a:latin typeface="Calibri"/>
              </a:defRPr>
            </a:pPr>
            <a:r>
              <a:t>undetected by</a:t>
            </a:r>
            <a:br/>
            <a:r>
              <a:t>traditional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715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7950B"/>
                </a:solidFill>
                <a:latin typeface="Calibri"/>
              </a:defRPr>
            </a:pPr>
            <a:r>
              <a:t>#1 / 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6035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C8E0"/>
                </a:solidFill>
                <a:latin typeface="Calibri"/>
              </a:defRPr>
            </a:pPr>
            <a:r>
              <a:t>V-Intelligence UEBA rank</a:t>
            </a:r>
            <a:br/>
            <a:r>
              <a:t>(highest anomaly)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715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7950B"/>
                </a:solidFill>
                <a:latin typeface="Calibri"/>
              </a:defRPr>
            </a:pPr>
            <a:r>
              <a:t>51.7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035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C8E0"/>
                </a:solidFill>
                <a:latin typeface="Calibri"/>
              </a:defRPr>
            </a:pPr>
            <a:r>
              <a:t>composite</a:t>
            </a:r>
            <a:br/>
            <a:r>
              <a:t>behavioral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5715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7950B"/>
                </a:solidFill>
                <a:latin typeface="Calibri"/>
              </a:defRPr>
            </a:pPr>
            <a:r>
              <a:t>0 of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6035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C8E0"/>
                </a:solidFill>
                <a:latin typeface="Calibri"/>
              </a:defRPr>
            </a:pPr>
            <a:r>
              <a:t>traditional methods</a:t>
            </a:r>
            <a:br/>
            <a:r>
              <a:t>that detected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V-Intelligence UEBA Succeeds Where Others Fail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Calibri"/>
              </a:defRPr>
            </a:pPr>
            <a:r>
              <a:t>Every existing approach has a structural blind spot. V-Intelligence UEBA's behavioral digital twin eliminates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21945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Traditional SIEM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69696"/>
                </a:solidFill>
                <a:latin typeface="Calibri"/>
              </a:defRPr>
            </a:pPr>
            <a:r>
              <a:t>Checks thresholds on individual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828800"/>
            <a:ext cx="3657600" cy="9144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87452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Blind Spot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103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Misses attacks where no metric exceeds its threshold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828800"/>
            <a:ext cx="4937760" cy="91440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87452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V-Intelligence UEBA Advantage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1031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Understands behavior holistically — no threshold to stay below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26080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26080"/>
            <a:ext cx="21945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EDR / XDR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37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69696"/>
                </a:solidFill>
                <a:latin typeface="Calibri"/>
              </a:defRPr>
            </a:pPr>
            <a:r>
              <a:t>Monitors endpoint activity for known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2926080"/>
            <a:ext cx="3657600" cy="9144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297180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Blind Spot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004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Misses credential-based attacks using legitimate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2926080"/>
            <a:ext cx="4937760" cy="91440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97180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V-Intelligence UEBA Advantage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2004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Profiles the entity, not the tool — detects behavioral change regardless of tooling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23360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23360"/>
            <a:ext cx="21945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160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Network Detection (NDR)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34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69696"/>
                </a:solidFill>
                <a:latin typeface="Calibri"/>
              </a:defRPr>
            </a:pPr>
            <a:r>
              <a:t>Inspects traffic for signatures and anomalies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4023360"/>
            <a:ext cx="3657600" cy="9144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406908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Blind Spot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42976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Misses attacks using legitimate protocols at normal volumes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4023360"/>
            <a:ext cx="4937760" cy="91440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406908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V-Intelligence UEBA Advantage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2976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Captures network behavior as one dimension of a multi-dimensional behavioral twin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120639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120639"/>
            <a:ext cx="21945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25779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Existing UEBA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53211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69696"/>
                </a:solidFill>
                <a:latin typeface="Calibri"/>
              </a:defRPr>
            </a:pPr>
            <a:r>
              <a:t>Statistical deviation on aggregated user metrics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26080" y="5120639"/>
            <a:ext cx="3657600" cy="9144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63240" y="5166359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Blind Spot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63240" y="539495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Fails when no single metric deviates enough — the "combination" problem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66560" y="5120639"/>
            <a:ext cx="4937760" cy="91440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5166359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Calibri"/>
              </a:defRPr>
            </a:pPr>
            <a:r>
              <a:t>V-Intelligence UEBA Advantage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394959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Digital twin captures cross-dimensional behavioral patterns that scalar metrics miss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943600"/>
            <a:ext cx="11064240" cy="6400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7950B"/>
                </a:solidFill>
                <a:latin typeface="Calibri"/>
              </a:defRPr>
            </a:pPr>
            <a:r>
              <a:t>V-Intelligence UEBA is not an incremental improvement — it is a new class of detection. The behavioral digital twin sees what no threshold-based system can.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Deployment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Calibri"/>
              </a:defRPr>
            </a:pPr>
            <a:r>
              <a:t>V-Intelligence UEBA integrates with your existing security infrastructure — no new sensors, no new data collection agents.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31089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3017520" cy="54864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E6B8A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2651760" cy="36576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D1B2A"/>
                </a:solidFill>
                <a:latin typeface="Calibri"/>
              </a:defRPr>
            </a:pPr>
            <a:r>
              <a:t>  Authentication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2651760" cy="36576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D1B2A"/>
                </a:solidFill>
                <a:latin typeface="Calibri"/>
              </a:defRPr>
            </a:pPr>
            <a:r>
              <a:t>  File Access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2651760" cy="36576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D1B2A"/>
                </a:solidFill>
                <a:latin typeface="Calibri"/>
              </a:defRPr>
            </a:pPr>
            <a:r>
              <a:t>  Network Traffic 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2651760" cy="36576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D1B2A"/>
                </a:solidFill>
                <a:latin typeface="Calibri"/>
              </a:defRPr>
            </a:pPr>
            <a:r>
              <a:t>  Endpoint 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2651760" cy="36576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D1B2A"/>
                </a:solidFill>
                <a:latin typeface="Calibri"/>
              </a:defRPr>
            </a:pPr>
            <a:r>
              <a:t>  DNS Query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383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E6B8A"/>
                </a:solidFill>
                <a:latin typeface="Calibri"/>
              </a:defRPr>
            </a:pPr>
            <a:r>
              <a:t>&gt;&gt;&gt;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920240"/>
            <a:ext cx="38404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920240"/>
            <a:ext cx="374904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103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V-Intelligence UEBA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606040"/>
            <a:ext cx="3291840" cy="68580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  Behavioral Profiling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505050"/>
                </a:solidFill>
                <a:latin typeface="Calibri"/>
              </a:defRPr>
            </a:pPr>
            <a:r>
              <a:t>  Digital twin per entity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474720"/>
            <a:ext cx="3291840" cy="68580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  Continuous Monitoring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505050"/>
                </a:solidFill>
                <a:latin typeface="Calibri"/>
              </a:defRPr>
            </a:pPr>
            <a:r>
              <a:t>  Real-time behavioral change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4343400"/>
            <a:ext cx="3291840" cy="68580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  Composite Scoring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505050"/>
                </a:solidFill>
                <a:latin typeface="Calibri"/>
              </a:defRPr>
            </a:pPr>
            <a:r>
              <a:t>  Multi-phase risk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383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&gt;&gt;&gt;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1920240"/>
            <a:ext cx="31089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32520" y="1920240"/>
            <a:ext cx="3017520" cy="54864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7950B"/>
                </a:solidFill>
                <a:latin typeface="Calibri"/>
              </a:defRPr>
            </a:pPr>
            <a:r>
              <a:t>Analyst Output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560320"/>
            <a:ext cx="2651760" cy="36576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D1B2A"/>
                </a:solidFill>
                <a:latin typeface="Calibri"/>
              </a:defRPr>
            </a:pPr>
            <a:r>
              <a:t>  Ranked Priority List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3063240"/>
            <a:ext cx="2651760" cy="36576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D1B2A"/>
                </a:solidFill>
                <a:latin typeface="Calibri"/>
              </a:defRPr>
            </a:pPr>
            <a:r>
              <a:t>  Risk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566160"/>
            <a:ext cx="2651760" cy="36576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D1B2A"/>
                </a:solidFill>
                <a:latin typeface="Calibri"/>
              </a:defRPr>
            </a:pPr>
            <a:r>
              <a:t>  Alert Integration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4069080"/>
            <a:ext cx="2651760" cy="36576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D1B2A"/>
                </a:solidFill>
                <a:latin typeface="Calibri"/>
              </a:defRPr>
            </a:pPr>
            <a:r>
              <a:t>  Investigation Context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4572000"/>
            <a:ext cx="2651760" cy="36576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D1B2A"/>
                </a:solidFill>
                <a:latin typeface="Calibri"/>
              </a:defRPr>
            </a:pPr>
            <a:r>
              <a:t>  Compliance Reporting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943600"/>
            <a:ext cx="11064240" cy="5486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7950B"/>
                </a:solidFill>
                <a:latin typeface="Calibri"/>
              </a:defRPr>
            </a:pPr>
            <a:r>
              <a:t>Cloud or on-premise deployment  |  Works with existing security infrastructure  |  No new sensors required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Federal &amp; Critical Infrastructure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Calibri"/>
              </a:defRPr>
            </a:pPr>
            <a:r>
              <a:t>V-Intelligence UEBA directly addresses the mandates and frameworks that govern federal and critical infrastructure cybersecurity.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949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303520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80B9"/>
                </a:solidFill>
                <a:latin typeface="Calibri"/>
              </a:defRPr>
            </a:pPr>
            <a:r>
              <a:t>Executive Order 14028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69696"/>
                </a:solidFill>
                <a:latin typeface="Calibri"/>
              </a:defRPr>
            </a:pPr>
            <a:r>
              <a:t>Improving the Nation's Cybersecurity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Mandates enhanced detection capabilities and continuous monitoring across federal agencies. Requires visibility into advanced persistent threats that evade traditional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53949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828800"/>
            <a:ext cx="5303520" cy="54864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6B8A"/>
                </a:solidFill>
                <a:latin typeface="Calibri"/>
              </a:defRPr>
            </a:pPr>
            <a:r>
              <a:t>NIST SP 800-53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40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69696"/>
                </a:solidFill>
                <a:latin typeface="Calibri"/>
              </a:defRPr>
            </a:pPr>
            <a:r>
              <a:t>Continuous Monitoring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5146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Behavioral analytics for insider threat and APT detection. V-Intelligence UEBA provides the continuous behavioral monitoring that AU, SI, and CA control families require.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53949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40480"/>
            <a:ext cx="53035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44AD"/>
                </a:solidFill>
                <a:latin typeface="Calibri"/>
              </a:defRPr>
            </a:pPr>
            <a:r>
              <a:t>NIST SP 800-207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69696"/>
                </a:solidFill>
                <a:latin typeface="Calibri"/>
              </a:defRPr>
            </a:pPr>
            <a:r>
              <a:t>Zero Trust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Continuous behavioral verification beyond initial authentication. The behavioral digital twin provides ongoing trust assessment that Zero Trust demands.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840480"/>
            <a:ext cx="53949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840480"/>
            <a:ext cx="53035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977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CISA LOTL 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251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69696"/>
                </a:solidFill>
                <a:latin typeface="Calibri"/>
              </a:defRPr>
            </a:pPr>
            <a:r>
              <a:t>Living Off the Land Mitigation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5262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Directly addresses Salt Typhoon and Volt Typhoon TTPs. V-Intelligence UEBA detects the behavioral patterns of credential-based, tool-free attack campaigns.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943600"/>
            <a:ext cx="11064240" cy="6400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7950B"/>
                </a:solidFill>
                <a:latin typeface="Calibri"/>
              </a:defRPr>
            </a:pPr>
            <a:r>
              <a:t>V-Intelligence UEBA provides the behavioral intelligence layer that existing perimeter and endpoint tools cannot.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64592"/>
          <a:lstStyle/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Business Impact: What V-Intelligence UEBA Means for Your Organization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Detect Nation-State Threats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50"/>
                </a:solidFill>
                <a:latin typeface="Calibri"/>
              </a:defRPr>
            </a:pPr>
            <a:r>
              <a:t>Identify Salt Typhoon-class and Volt Typhoon-class attacks that have operated undetected at major US organizations for years. The threat-profile detector flags the threats that no existing tool can see.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45920"/>
            <a:ext cx="36576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4 of 4 attack types detected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0642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73152" cy="1097280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791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6B8A"/>
                </a:solidFill>
                <a:latin typeface="Calibri"/>
              </a:defRPr>
            </a:pPr>
            <a:r>
              <a:t>Eliminate the Detection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9008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50"/>
                </a:solidFill>
                <a:latin typeface="Calibri"/>
              </a:defRPr>
            </a:pPr>
            <a:r>
              <a:t>Close the gap between attacker dwell time (287 days industry average) and detection. V-Intelligence UEBA's digital twin identifies behavioral anomalies within weeks, not years.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880360"/>
            <a:ext cx="3657600" cy="457200"/>
          </a:xfrm>
          <a:prstGeom prst="round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Weeks vs 5-year dwell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110642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73152" cy="10972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13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F72"/>
                </a:solidFill>
                <a:latin typeface="Calibri"/>
              </a:defRPr>
            </a:pPr>
            <a:r>
              <a:t>Reduce SOC Burden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2452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50"/>
                </a:solidFill>
                <a:latin typeface="Calibri"/>
              </a:defRPr>
            </a:pPr>
            <a:r>
              <a:t>One ranked list replaces thousands of uncorrelated alerts. Your analysts investigate the highest-risk entities first — not the loudest false alarms.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114800"/>
            <a:ext cx="3657600" cy="45720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Single ranked priority 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74920"/>
            <a:ext cx="110642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074920"/>
            <a:ext cx="73152" cy="1097280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48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Future-Proof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5896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50"/>
                </a:solidFill>
                <a:latin typeface="Calibri"/>
              </a:defRPr>
            </a:pPr>
            <a:r>
              <a:t>The behavioral digital twin adapts as user behavior naturally evolves. No signature updates, no threshold tuning, no rules to maintain.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5349240"/>
            <a:ext cx="3657600" cy="457200"/>
          </a:xfrm>
          <a:prstGeom prst="round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Zero manual tuning required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035040"/>
            <a:ext cx="11064240" cy="5486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7950B"/>
                </a:solidFill>
                <a:latin typeface="Calibri"/>
              </a:defRPr>
            </a:pPr>
            <a:r>
              <a:t>V-Intelligence UEBA detects the threats that made headlines — before they make yours.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A0C8E0"/>
                </a:solidFill>
                <a:latin typeface="Calibri"/>
              </a:defRPr>
            </a:pPr>
            <a:r>
              <a:t>Salt Typhoon: 5 years undetected.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A0C8E0"/>
                </a:solidFill>
                <a:latin typeface="Calibri"/>
              </a:defRPr>
            </a:pPr>
            <a:r>
              <a:t>Volt Typhoon: 5 years undetected.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B7950B"/>
                </a:solidFill>
                <a:latin typeface="Calibri"/>
              </a:defRPr>
            </a:pPr>
            <a:r>
              <a:t>V-Intelligence UEBA: Detected immediately.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566160"/>
            <a:ext cx="2743200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The Behavioral Digital Twin for Cyber Defense</a:t>
            </a:r>
            <a:br/>
            <a:r>
              <a:t>AI-Powered Intelligence for Threats That Traditional Tools Cannot 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Calibri"/>
              </a:defRPr>
            </a:pPr>
            <a:r>
              <a:t>4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C8E0"/>
                </a:solidFill>
                <a:latin typeface="Calibri"/>
              </a:defRPr>
            </a:pPr>
            <a:r>
              <a:t>attack types</a:t>
            </a:r>
            <a:br/>
            <a:r>
              <a:t>detected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Calibri"/>
              </a:defRPr>
            </a:pPr>
            <a:r>
              <a:t>#1 / 250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C8E0"/>
                </a:solidFill>
                <a:latin typeface="Calibri"/>
              </a:defRPr>
            </a:pPr>
            <a:r>
              <a:t>Salt Typhoon</a:t>
            </a:r>
            <a:br/>
            <a:r>
              <a:t>ranked highest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C8E0"/>
                </a:solidFill>
                <a:latin typeface="Calibri"/>
              </a:defRPr>
            </a:pPr>
            <a:r>
              <a:t>false positive</a:t>
            </a:r>
            <a:br/>
            <a:r>
              <a:t>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C8E0"/>
                </a:solidFill>
                <a:latin typeface="Calibri"/>
              </a:defRPr>
            </a:pPr>
            <a:r>
              <a:t>threshold tuning</a:t>
            </a:r>
            <a:br/>
            <a:r>
              <a:t>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96"/>
                </a:solidFill>
                <a:latin typeface="Calibri"/>
              </a:defRPr>
            </a:pPr>
            <a:r>
              <a:t>22nd Century Technologies, Inc.  |  V-Intelligence UEBA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