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377440"/>
            <a:ext cx="914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Preemptive Cyber Defense</a:t>
            </a:r>
            <a:br/>
            <a:r>
              <a:t>&amp; Behavioral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0B8D0"/>
                </a:solidFill>
                <a:latin typeface="Calibri"/>
              </a:defRPr>
            </a:pPr>
            <a:r>
              <a:t>Solution Overview  |  Architecture  |  Implementation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4846320"/>
            <a:ext cx="32004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51206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7A8B9E"/>
                </a:solidFill>
                <a:latin typeface="Calibri"/>
              </a:defRPr>
            </a:pPr>
            <a:r>
              <a:t>Stopping Nation-State Adversaries Before They Strike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6B7E"/>
                </a:solidFill>
                <a:latin typeface="Calibri"/>
              </a:defRPr>
            </a:pPr>
            <a:r>
              <a:t>PROPRIETARY  //  NOT FOR PUBLIC RELEASE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The Threat Landscape: Why This Matters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Nation-state adversaries are already inside U.S. critical infrastructure — undetected for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4846320" cy="22860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84632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3619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VOLT TYPHOON (G1017)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1168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PRC state-sponsored. Active since mid-2021.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Pre-positioned in power, water, telecom for future disruption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Living-off-the-Land: uses only legitimate admin tools</a:t>
            </a:r>
          </a:p>
          <a:p>
            <a:pPr>
              <a:spcBef>
                <a:spcPts val="6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5+ year undetected dwell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4846320" cy="22860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484632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3619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SALT TYPHOON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200+ telecoms compromised across 80+ countries.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9 U.S. carriers. CALEA wiretap access.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Persistence IS the network configuration itself</a:t>
            </a:r>
          </a:p>
          <a:p>
            <a:pPr>
              <a:spcBef>
                <a:spcPts val="6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4+ year undetected dwell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023360"/>
            <a:ext cx="1005840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402336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11480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WHY CURRENT DEFENSES FAIL: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Configuration gaps are never mathematically proven closed — pentests only sample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Behavioral detection uses fixed thresholds — LOTL tradecraft operates below every one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Identity fragmented across 10+ systems — cross-domain movement reads as unrelated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692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Sources: CISA AA24-038A  |  FBI/NSA/CISA Joint Advisory (Dec 2024)  |  Microsoft Threat Intel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Why Current Tools Cannot Solve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Each tool class has a structural limitation that these adversaries exploit by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5544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SIEM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4475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Correlates known patterns from log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44475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Cannot detect novel combinations of legitimate tool usage. Volt Typhoon uses only approved admin binaries.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24028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24028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4231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EDR / XDR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31343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Detects malware and known-bad executables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1343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Every binary Volt Typhoon uses is allowlisted. Salt Typhoon lives on routers where EDR cannot deploy.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10896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310896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2918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Commercial UEBA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18211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Fixed thresholds per data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18211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LOTL operates below every threshold. No cross-system identity fusion. No drift direction.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97764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97764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1605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Pentest / Red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05079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Manual testing of known attack paths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5079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Point-in-time sample. Cannot cover combinatorial config space. Annual cadence vs continuous adversary.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84632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484632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0292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Vuln Scanner / ASM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1947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Enumerates assets and known CVEs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91947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Sees what EXISTS, not what is REACHABLE through config. Statistical confidence, not mathematical certainty.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C0392B"/>
                </a:solidFill>
                <a:latin typeface="Calibri"/>
              </a:defRPr>
            </a:pPr>
            <a:r>
              <a:t>The gap is structural, not operational. A fundamentally different approach is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Our Approach: Two Complementary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Mathematical certainty meets advanced behavioral intelligence — together, complete defense.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4846320" cy="4114800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84632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5361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1 — PREEMPTIVE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43891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Calibri"/>
              </a:defRPr>
            </a:pPr>
            <a:r>
              <a:t>We define a Formal Mathematical Model that reasons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exhaustively over your entire defensive configuration.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Ingests all threat intelligence continuously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Models every defensive control formally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Proves whether attack paths exist or are blocked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Prescribes vendor-specific remediations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Re-verifies continuously (hourly + on change)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1B4F72"/>
                </a:solidFill>
                <a:latin typeface="Calibri"/>
              </a:defRPr>
            </a:pPr>
            <a:r>
              <a:t>GUARANTEE: Zero false positives. Zero false negatives.</a:t>
            </a: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Formal mathematical certainty within model scope.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4846320" cy="411480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484632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361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2 — BEHAVIORAL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43891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Calibri"/>
              </a:defRPr>
            </a:pPr>
            <a:r>
              <a:t>We create a Digital Twin of each entity instance.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User interaction is a living entity with a time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dimension — capturing behavioral evolution continuously.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Multi-signal behavioral profiling per entity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Advanced change-point detection (sub-threshold)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Drift direction mapped to MITRE ATT&amp;CK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Cross-system entity fusion (10+ identity sources)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Automated trust scoring and adaptive access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0E6B8A"/>
                </a:solidFill>
                <a:latin typeface="Calibri"/>
              </a:defRPr>
            </a:pPr>
            <a:r>
              <a:t>DETECTS: LOTL, credential abuse, insider threat.</a:t>
            </a: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Catches what no threshold system can.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Together: attack surface never exists (Layer 1)  OR  adversary detected in hours, not years (Layer 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Preemptive Layer: Three Intelligences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Attack Intelligence → Defense Intelligence → Remediation Intelligence. Continuous closed loop.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3108960" cy="41148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310896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ATTACK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C3E50"/>
                </a:solidFill>
                <a:latin typeface="Calibri"/>
              </a:defRPr>
            </a:pPr>
            <a:r>
              <a:t>Analyze all known threat intelligence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Ingests terabytes of CVE, advisories, CTI, IOCs, IOAs, PSIRTs continuously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MITRE-enriched attack graphs built by ML/NLP pipeline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Full TTP coverage of Volt Typhoon and Salt Typhoon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Auto-updates on every new advisory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950" b="1">
                <a:solidFill>
                  <a:srgbClr val="6C757D"/>
                </a:solidFill>
                <a:latin typeface="Calibri"/>
              </a:defRPr>
            </a:pPr>
            <a:r>
              <a:t>Sources:</a:t>
            </a:r>
          </a:p>
          <a:p>
            <a:pPr>
              <a:spcBef>
                <a:spcPts val="600"/>
              </a:spcBef>
              <a:defRPr sz="900" b="0">
                <a:solidFill>
                  <a:srgbClr val="6C757D"/>
                </a:solidFill>
                <a:latin typeface="Calibri"/>
              </a:defRPr>
            </a:pPr>
            <a:r>
              <a:t>CISA KEV, NVD, NSA advisories, vendor PSIRTs, MITRE ATT&amp;CK, classified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63040"/>
            <a:ext cx="3108960" cy="41148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463040"/>
            <a:ext cx="310896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DEFENSE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C3E50"/>
                </a:solidFill>
                <a:latin typeface="Calibri"/>
              </a:defRPr>
            </a:pPr>
            <a:r>
              <a:t>Identify every defensive control gap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Formal Mathematical Model of every NGFW rule, ACL, IPS profile, identity policy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Exhaustively reasons over the complete configuration state space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No sampling — complete mathematical reasoning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Every path analyzed. Every combination verified.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950" b="1">
                <a:solidFill>
                  <a:srgbClr val="6C757D"/>
                </a:solidFill>
                <a:latin typeface="Calibri"/>
              </a:defRPr>
            </a:pPr>
            <a:r>
              <a:t>Supports:</a:t>
            </a:r>
          </a:p>
          <a:p>
            <a:pPr>
              <a:spcBef>
                <a:spcPts val="600"/>
              </a:spcBef>
              <a:defRPr sz="900" b="0">
                <a:solidFill>
                  <a:srgbClr val="6C757D"/>
                </a:solidFill>
                <a:latin typeface="Calibri"/>
              </a:defRPr>
            </a:pPr>
            <a:r>
              <a:t>Palo Alto, Fortinet, Cisco, Check Point (N-S and E-W NGFWs)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463040"/>
            <a:ext cx="310896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463040"/>
            <a:ext cx="310896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REMEDIATION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C3E50"/>
                </a:solidFill>
                <a:latin typeface="Calibri"/>
              </a:defRPr>
            </a:pPr>
            <a:r>
              <a:t>Prescribe correct configurations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Risk-prioritized, vendor-specific remediation playbooks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No false positives (mathematically proven)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No false negatives (exhaustive reasoning)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Auto-push to ServiceNow, JIRA, SOC ticketing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Optional auto-apply + re-verify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950" b="1">
                <a:solidFill>
                  <a:srgbClr val="6C757D"/>
                </a:solidFill>
                <a:latin typeface="Calibri"/>
              </a:defRPr>
            </a:pPr>
            <a:r>
              <a:t>Guarantees:</a:t>
            </a:r>
          </a:p>
          <a:p>
            <a:pPr>
              <a:spcBef>
                <a:spcPts val="600"/>
              </a:spcBef>
              <a:defRPr sz="900" b="0">
                <a:solidFill>
                  <a:srgbClr val="6C757D"/>
                </a:solidFill>
                <a:latin typeface="Calibri"/>
              </a:defRPr>
            </a:pPr>
            <a:r>
              <a:t>No new errors, no broken connectivity, no business disruption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200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200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Continuous loop: new threat → model attack → verify defense → prescribe fix → re-verify. Every hour and on every config 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Layered Defense: Where Attacks Are Stopped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80% of attacks are eliminated at the network/firewall layer — before they ever reach endpoints or users.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10058400" cy="822960"/>
          </a:xfrm>
          <a:prstGeom prst="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73152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554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100% of Attacks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19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CVE exploits, C2 traffic, lateral movement, config abuse, credential theft, data exfiltration, zero-days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331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D1B2A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651760"/>
            <a:ext cx="10058400" cy="1371600"/>
          </a:xfrm>
          <a:prstGeom prst="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651760"/>
            <a:ext cx="73152" cy="13716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7432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Calibri"/>
              </a:defRPr>
            </a:pPr>
            <a:r>
              <a:t>NETWORK / FIREWALL LAYER — PREEMPTIVE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743200"/>
            <a:ext cx="164592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276148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80% STOPPED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10896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Formal model proves every CVE exploit path is blocked across all NGFW/IPS/WAF configs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Threat-feed C2 IPs/domains denied (50M+ rule combinations verified)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Config drift caught within 1 hour — unauthorized ACL changes, shadow rules, weak inspection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Compensating controls identified for unpatchable CVEs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069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▼  20% pass through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4389120"/>
            <a:ext cx="768096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0" y="4389120"/>
            <a:ext cx="73152" cy="13716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44805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6B8A"/>
                </a:solidFill>
                <a:latin typeface="Calibri"/>
              </a:defRPr>
            </a:pPr>
            <a:r>
              <a:t>BEHAVIORAL LAYER — ACECARD UEBA (Digital Twin)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4480560"/>
            <a:ext cx="2011680" cy="3200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44988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15-18% DETECTED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846320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Compromised valid credentials — traffic is policy-allowed but behaviorally abnormal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Living-off-the-Land — legitimate binaries used in malicious combinations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Zero-day post-exploitation — no signature exists yet, but drift is detectable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Slow lateral movement — sub-threshold drift accumulated over weeks/months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806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Calibri"/>
              </a:defRPr>
            </a:pPr>
            <a:r>
              <a:t>▼  2-5% residual risk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6035040"/>
            <a:ext cx="10058400" cy="32004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60533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Combined: 95-98% coverage.  Preemptive eliminates the majority.  UEBA catches what passes through.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How Preemptive &amp; UEBA Work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Closed-loop architecture: each layer feeds intelligence to the other continuously.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4389120" cy="4389120"/>
          </a:xfrm>
          <a:prstGeom prst="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389120" cy="4114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9903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PREEMPTIVE VERIFICATION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920240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9659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Calibri"/>
              </a:defRPr>
            </a:pPr>
            <a:r>
              <a:t>Attack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40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Threat feeds → MITRE attack graphs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633472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6791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Calibri"/>
              </a:defRPr>
            </a:pPr>
            <a:r>
              <a:t>Defense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5351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Formal model of all configs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346704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39242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Calibri"/>
              </a:defRPr>
            </a:pPr>
            <a:r>
              <a:t>Remediation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6674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Vendor-specific fixes + verify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059936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10565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Calibri"/>
              </a:defRPr>
            </a:pPr>
            <a:r>
              <a:t>Continuous Re-verification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3799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Hourly + on every change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1371600"/>
            <a:ext cx="4389120" cy="4389120"/>
          </a:xfrm>
          <a:prstGeom prst="rect">
            <a:avLst/>
          </a:prstGeom>
          <a:solidFill>
            <a:srgbClr val="E8F4F8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1371600"/>
            <a:ext cx="4389120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139903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ACECARD UEBA ENGINE (Digital Twin)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1920240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19659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E6B8A"/>
                </a:solidFill>
                <a:latin typeface="Calibri"/>
              </a:defRPr>
            </a:pPr>
            <a:r>
              <a:t>Entity Fusion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240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10+ identity sources → one entity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2633472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26791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E6B8A"/>
                </a:solidFill>
                <a:latin typeface="Calibri"/>
              </a:defRPr>
            </a:pPr>
            <a:r>
              <a:t>Behavioral Profiling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95351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5 signals × time dimension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3346704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339242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E6B8A"/>
                </a:solidFill>
                <a:latin typeface="Calibri"/>
              </a:defRPr>
            </a:pPr>
            <a:r>
              <a:t>Change-Point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66674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Sub-threshold drift alarm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4059936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410565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E6B8A"/>
                </a:solidFill>
                <a:latin typeface="Calibri"/>
              </a:defRPr>
            </a:pPr>
            <a:r>
              <a:t>Drift Direction + ABAC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3799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MITRE mapping → trust action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2103120"/>
            <a:ext cx="1554480" cy="4572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57800" y="212140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GAP FOUND 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800" y="233172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FFFFFF"/>
                </a:solidFill>
                <a:latin typeface="Calibri"/>
              </a:defRPr>
            </a:pPr>
            <a:r>
              <a:t>Raise sensitivity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3200400"/>
            <a:ext cx="1554480" cy="4572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321868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← CONFIRMED TP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342900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FFFFFF"/>
                </a:solidFill>
                <a:latin typeface="Calibri"/>
              </a:defRPr>
            </a:pPr>
            <a:r>
              <a:t>Re-verify globally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4297680"/>
            <a:ext cx="155448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57800" y="431596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SHARED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800" y="452628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FFFFFF"/>
                </a:solidFill>
                <a:latin typeface="Calibri"/>
              </a:defRPr>
            </a:pPr>
            <a:r>
              <a:t>MITRE + Entity IDs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943600"/>
            <a:ext cx="1051560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1520" y="5943600"/>
            <a:ext cx="105156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6016752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SOC OUTPUT:  Correlated findings  •  Kill-chain reconstruction  •  ServiceNow/JIRA  •  ABAC policy enforcement  •  IR automation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Stopping Volt Typhoon: Preemptive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Volt Typhoon needs configuration weakness to enter and pivot. We prove those weaknesses do not exist.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9844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VOLT TYPHOON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298448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HOW OUR PREEMPTIVE LAYER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37360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Initial Access</a:t>
            </a:r>
            <a:br/>
            <a:r>
              <a:t>(0-12h)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64792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Exploits unpatched Fortinet, Ivanti, PAN edge devices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764792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Maps every CVE to control verification. Proves IPS/threat-feed blocks exploit. If no patch, identifies compensating control.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569464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615184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Persistence</a:t>
            </a:r>
            <a:br/>
            <a:r>
              <a:t>(12-48h)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642616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Drops web shells. Routes C2 through compromised SOHO routers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42616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Models all threat-feed IPs/domains as denied. Proves 50M+ rule combinations block C2 flows. WAF verified for upload inspection.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447288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493008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Credential Access</a:t>
            </a:r>
            <a:br/>
            <a:r>
              <a:t>(48-96h)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204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ntdsutil to dump AD. LSASS memory extraction.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52044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Verifies EDR/EPP coverage on every DC. Script-control blocking validated. Egress blocks cred exfil to C2.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325112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370832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Lateral Movement</a:t>
            </a:r>
            <a:br/>
            <a:r>
              <a:t>(96h+)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398264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SMB/RDP/WinRM to DCs and file servers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398264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Real finding: 3 rules shadowed SMB IPS profile. Model closed lateral path no scanner found. Segmentation proven.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02936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248656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Pre-positioning</a:t>
            </a:r>
            <a:br/>
            <a:r>
              <a:t>(Weeks-Years)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276088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Maps network for future sabotage during crisis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276088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Continuous re-verification on every config change. Zero-trust segmentation re-proven hourly. Drift = immediate alert.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B4F72"/>
                </a:solidFill>
                <a:latin typeface="Calibri"/>
              </a:defRPr>
            </a:pPr>
            <a:r>
              <a:t>Volt Typhoon (G1017): PRC state-sponsored. 5+ year dwell. LOTL tradecraft. Critical infrastructure targeting.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Stopping Salt Typhoon: Preemptive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Salt Typhoon lives on misconfigured edge gear. We verify every configuration every hour.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9844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SALT TYPHOON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298448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HOW OUR PREEMPTIVE LAYER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37360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Edge CVE Exploit</a:t>
            </a:r>
            <a:br/>
            <a:r>
              <a:t>(0-24h)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64792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Exploits Cisco IOS XE web UI (CVE-2023-20198). 1000+ devices.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764792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Every exposed management interface flagged. Proves ACL blocks /webui/. Identifies compensating control for unpatched CVEs.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569464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615184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Persistence</a:t>
            </a:r>
            <a:br/>
            <a:r>
              <a:t>(1-7d)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642616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Creates local admin. Modifies router ACLs. Enables Guest Shell.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42616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Config drift: hourly comparison to approved AAA baseline. Any new account or ACL change = immediate gap finding with exact diff.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447288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493008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TACACS+ Capture</a:t>
            </a:r>
            <a:br/>
            <a:r>
              <a:t>(7-30d)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204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Captures credential traffic on TCP/49. Harvests admin passwords.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52044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Mgmt-plane segmentation verified. On-box capture permissions modeled. TACACS+ encryption enforcement validated.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325112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370832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GRE Tunneling</a:t>
            </a:r>
            <a:br/>
            <a:r>
              <a:t>(30-90d)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398264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Configures GRE tunnels between compromised routers for C2.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398264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GRE peer authorization verified in routing config. Unauthorized tunnel endpoints flagged. Egress policy proven.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02936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248656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CALEA Exfil</a:t>
            </a:r>
            <a:br/>
            <a:r>
              <a:t>(90d+)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276088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Accesses lawful intercept. Steady CDR/metadata exfil over months.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276088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CALEA-zone segmentation proven end-to-end. Privilege verification on intercept systems. Outbound restrictions verified.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B4F72"/>
                </a:solidFill>
                <a:latin typeface="Calibri"/>
              </a:defRPr>
            </a:pPr>
            <a:r>
              <a:t>Salt Typhoon: PRC state-sponsored. 4+ years. 200+ telcos. CVE-2023-20198. CALEA wiretap access.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The Residual Threat: What Config Alone Cannot Stop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Three attack classes remain even with perfect configuration — behavioral intelligence completes the defense.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005840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41732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1. Zero-Day &amp; Unknown TTPs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5564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Preemptive verifies every TTP in MITRE ATT&amp;CK. A genuine zero-day with no signature and no MITRE mapping has nothing to verify against.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24028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24028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E6B8A"/>
                </a:solidFill>
                <a:latin typeface="Calibri"/>
              </a:defRPr>
            </a:pPr>
            <a:r>
              <a:t>ACECARD response:  ACECARD detects resulting behavioral drift even without a MITRE label. Post-exploitation always creates structural shifts.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88036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880360"/>
            <a:ext cx="10058400" cy="3200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92608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2. Compromised Valid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6440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Both Typhoons abuse stolen, valid credentials. A correctly-configured firewall ALLOWS that traffic — by design. Config is correct; behavior is the threat.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74904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374904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E6B8A"/>
                </a:solidFill>
                <a:latin typeface="Calibri"/>
              </a:defRPr>
            </a:pPr>
            <a:r>
              <a:t>ACECARD response:  ACECARD catches the abuse: same credentials, structurally different usage from the real user. Peer cohort comparison surfaces deviation.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38912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389120"/>
            <a:ext cx="1005840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43484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3. Living-off-the-Land Tradecraft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7316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ntdsutil, wmic, netsh, PowerShell — every binary Volt Typhoon uses is a legitimate admin tool. Blocking them entirely is infeasible.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25780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25780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E6B8A"/>
                </a:solidFill>
                <a:latin typeface="Calibri"/>
              </a:defRPr>
            </a:pPr>
            <a:r>
              <a:t>ACECARD response:  ACECARD captures the COMBINATION of LOTL tools, timing, targets. Only behavioral context separates admin from adversary.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943600"/>
            <a:ext cx="10058400" cy="3657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97103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D1B2A"/>
                </a:solidFill>
                <a:latin typeface="Calibri"/>
              </a:defRPr>
            </a:pPr>
            <a:r>
              <a:t>Preemptive eliminates configuration attack surface.  Behavioral catches what remains.  Together = complete.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How ACECARD Detects Volt Typhoon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Even when config is bypassed, behavioral trajectory reveals the adversary within hours.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9844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WHAT EXISTING TOOLS MISS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98448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HOW ACECARD DETECTS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6479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Credential abuse</a:t>
            </a:r>
            <a:br/>
            <a:r>
              <a:t>(T1078)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76479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Valid credentials. Every control says "approved." No alert fires.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6479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Multi-signal model detects: new source + off-hours + unusual targets. Structural shift in auth pattern triggers change-point alarm.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69748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77063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LOTL execution</a:t>
            </a:r>
            <a:br/>
            <a:r>
              <a:t>(T1059)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77063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ntdsutil + wmic + netsh. All legitimate binaries. No malware signature.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063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Process signal captures tool combination and sequence. Drift direction maps to "LOTL execution." Peer cohort shows no admin matches.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0332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77647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Slow lateral</a:t>
            </a:r>
            <a:br/>
            <a:r>
              <a:t>(T1021)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77647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Moves 1-2 new hosts/week. Never crosses any single threshold.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7647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Change-point accumulates sub-threshold drift over time. What never triggers a fixed threshold eventually crosses our alarm boundary.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70916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78231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Unknown C2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78231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Routes through newly compromised SOHO routers — not in any threat feed.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78231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Network signal detects structural change: new persistent outbound to unusual destination. Direction: "C2 beaconing."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6B8A"/>
                </a:solidFill>
                <a:latin typeface="Calibri"/>
              </a:defRPr>
            </a:pPr>
            <a:r>
              <a:t>Every detection includes: trust score adjustment + MITRE mapping + automated response + SOC enrichment.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How ACECARD Detects Salt Typhoon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Salt Typhoon abuses legitimate network admin access. Only behavioral intelligence reveals the difference.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9844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WHAT EXISTING TOOLS MISS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98448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HOW ACECARD DETECTS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6479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TACACS+ reuse</a:t>
            </a:r>
            <a:br/>
            <a:r>
              <a:t>(T1078)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76479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Harvested admin creds used as legitimate sessions. Correct username, correct permissions.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6479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Same creds, different trajectory: unusual device sequence, off-pattern timing, novel destinations. Multi-signal drift triggers alarm.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69748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77063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ACL tampering</a:t>
            </a:r>
            <a:br/>
            <a:r>
              <a:t>(T1556)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77063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Modifies router ACLs to whitelist attacker IPs. Looks like routine config maintenance.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063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Identity + network signals combined: config change correlates with new outbound to unusual destinations. Diverges from peer cohort.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0332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77647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GRE tunnels</a:t>
            </a:r>
            <a:br/>
            <a:r>
              <a:t>(T1572)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77647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Configures tunnels between routers. Normal action for some operators.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7647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This admin never creates GRE tunnels; this device never had tunnel activity. Direction: "protocol tunneling."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70916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78231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CDR exfiltration</a:t>
            </a:r>
            <a:br/>
            <a:r>
              <a:t>(T1041)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78231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Slow steady data movement. Under volume thresholds. Months-long.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78231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Change-point accumulates gradual shift in data access. Peer comparison: no other admin shows this trajectory over same timeframe.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6B8A"/>
                </a:solidFill>
                <a:latin typeface="Calibri"/>
              </a:defRPr>
            </a:pPr>
            <a:r>
              <a:t>Salt Typhoon has dwelled 4+ years because no tool fuses identity + behavior across network gear. ACECARD does.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Combined Detection Timeline: Both Layers Working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Real scenario: Volt Typhoon campaign. Preemptive finds the gap. ACECARD catches the exploitation.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34440"/>
            <a:ext cx="10058400" cy="32004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2527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Scenario: Volt Typhoon targets Air Force network via Fortinet VPN CVE + LOTL credential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64592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175564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177393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T-30d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1755648"/>
            <a:ext cx="137160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92807" y="177393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PREEMPTIVE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73736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Identifies missing IPS signature on VPN concentrator. Gap finding pushed to ticketing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221992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2331720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2350008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T-30d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2331720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92807" y="2350008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313432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Gap finding triggers trust floor reduction. Behavioral sensitivity automatically heightened for VPN zone.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798064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3000" y="2907792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" y="2926080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T+0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2907792"/>
            <a:ext cx="137160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92807" y="2926080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ATTACKER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889504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Exploits CVE. Lands on device. Creates local admin. Begins LOTL reconnaissance.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374136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3483864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1288" y="3502152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T+2h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74519" y="3483864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92807" y="3502152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465576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Entity enters with reduced trust. Auth signal: new source, off-hours. Drift detected and accumulating.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3950208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3000" y="4059936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1288" y="4078224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T+6h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059936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92807" y="4078224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041648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Process signal: wmic + ntdsutil chain. Change-point accumulating. Direction: LOTL execution.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4526280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43000" y="463600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1288" y="465429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T+8h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636008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92807" y="465429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61772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Change-point crosses alarm. Entity BLOCKED. Access revoked. IR ticket auto-created.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102352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43000" y="5212080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1288" y="5230368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T+9h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74519" y="5212080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92807" y="5230368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5193792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Confirmed detection feeds back. Preemptive re-verifies all related configs. Similar gaps found and closed.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D1B2A"/>
                </a:solidFill>
                <a:latin typeface="Calibri"/>
              </a:defRPr>
            </a:pPr>
            <a:r>
              <a:t>Result: 8-hour dwell time (vs. 5+ years).  Preemptive found the gap.  ACECARD caught the exploitation.  Together: complete defense.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Architecture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Platform architecture designed for scalability, security, and classified-enclave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2026: Hyperscaler Agentic Security Platforms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AWS, Microsoft, and Google all shipped managed agent platforms with security-ops use cases.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310896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3108960" cy="36576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39903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AWS Bedrock AgentCore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2880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Multi-agent collaboration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MicroVM session isolation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Memory, Gateway, Observability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Security Lake (OCSF native)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Guardrails + Policy (GA 2026)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71600"/>
            <a:ext cx="310896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371600"/>
            <a:ext cx="3108960" cy="3657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39903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Microsoft Foundry + Agent 365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2880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Security Copilot integration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Agent 365 governance plane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Entra Agent IDs (SPIFFE)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70+ pre-built agents in store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Purview + Defender for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371600"/>
            <a:ext cx="310896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371600"/>
            <a:ext cx="3108960" cy="3657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139903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Google Gemini Enterprise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182880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Cryptographic agent identity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Zero-trust per orchestration step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Model Armor + Agent Compliance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ADK multi-agent loops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Google SecOps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56616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What they all converge on (2026 primitives):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3886200"/>
            <a:ext cx="10058400" cy="16459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9319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B4F72"/>
                </a:solidFill>
                <a:latin typeface="Calibri"/>
              </a:defRPr>
            </a:pPr>
            <a:r>
              <a:t>•  Agent Runtime &amp; Orchestration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93192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Multi-agent supervisor + specialist pattern. Hierarchical routing.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0624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B4F72"/>
                </a:solidFill>
                <a:latin typeface="Calibri"/>
              </a:defRPr>
            </a:pPr>
            <a:r>
              <a:t>•  Tool Gateway (MCP)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20624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Structured tool surface with schema validation. Deterministic I/O.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8056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B4F72"/>
                </a:solidFill>
                <a:latin typeface="Calibri"/>
              </a:defRPr>
            </a:pPr>
            <a:r>
              <a:t>•  Agent Identity &amp;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48056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SPIFFE-based IDs, policy enforcement, audit logs, HITL gates.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7548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B4F72"/>
                </a:solidFill>
                <a:latin typeface="Calibri"/>
              </a:defRPr>
            </a:pPr>
            <a:r>
              <a:t>•  Memory &amp; 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75488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Working memory, episodic memory, semantic memory. Vector stores.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0292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1B4F72"/>
                </a:solidFill>
                <a:latin typeface="Calibri"/>
              </a:defRPr>
            </a:pPr>
            <a:r>
              <a:t>•  Guardrails &amp;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02920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Input/output filtering, prompt injection defense, cost budgets.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D1B2A"/>
                </a:solidFill>
                <a:latin typeface="Calibri"/>
              </a:defRPr>
            </a:pPr>
            <a:r>
              <a:t>These platforms provide the plumbing — runtime, identity, governance. They do NOT provide the detection intelligence.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What Preemptive + UEBA Deliver That Hyperscalers Cannot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Agent platforms need domain intelligence to act on. We provide what no platform ships.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4572000" cy="2743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9903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  HYPERSCALER PLATFORMS PROVIDE: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42062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Agent runtime and orchestration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Tool gateway (MCP) and structured I/O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Identity, governance, guardrails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Memory stores and RAG infrastructure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Model catalog and routing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Observability and eval frameworks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This is PLUMBING — not intelligence.</a:t>
            </a:r>
          </a:p>
          <a:p>
            <a:pPr>
              <a:spcBef>
                <a:spcPts val="600"/>
              </a:spcBef>
              <a:defRPr sz="950" b="0">
                <a:solidFill>
                  <a:srgbClr val="6C757D"/>
                </a:solidFill>
                <a:latin typeface="Calibri"/>
              </a:defRPr>
            </a:pPr>
            <a:r>
              <a:t>Agents without domain logic are just expensive chatbots.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371600"/>
            <a:ext cx="5486400" cy="2743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0" y="1371600"/>
            <a:ext cx="548640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1399032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  22CT DELIVERS THE INTELLIGENCE: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874519"/>
            <a:ext cx="5120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Formal Mathematical Model — proves config blocks attacks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Digital Twin — living behavioral entity with time dimension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Exhaustive reasoning (not sampling, not probabilistic)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Change-point detection (sub-threshold drift alarm)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Drift direction → MITRE ATT&amp;CK (explains WHY)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Entity fusion across 10+ systems (one trajectory)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00" b="1">
                <a:solidFill>
                  <a:srgbClr val="1B4F72"/>
                </a:solidFill>
                <a:latin typeface="Calibri"/>
              </a:defRPr>
            </a:pPr>
            <a:r>
              <a:t>This is DOMAIN INTELLIGENCE — what agents act on.</a:t>
            </a:r>
          </a:p>
          <a:p>
            <a:pPr>
              <a:spcBef>
                <a:spcPts val="600"/>
              </a:spcBef>
              <a:defRPr sz="950" b="0">
                <a:solidFill>
                  <a:srgbClr val="6C757D"/>
                </a:solidFill>
                <a:latin typeface="Calibri"/>
              </a:defRPr>
            </a:pPr>
            <a:r>
              <a:t>Without this, agents have nothing reliable to consume.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Specific capabilities NO hyperscaler platform provides: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17720"/>
            <a:ext cx="1042416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36008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CAPABILITY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636008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HYPERSCALER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636008"/>
            <a:ext cx="3840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22CT PREEMPTIVE + UEBA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83480"/>
            <a:ext cx="1042416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Prove all config paths block an attack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029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Cannot 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50292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B4F72"/>
                </a:solidFill>
                <a:latin typeface="Calibri"/>
              </a:defRPr>
            </a:pPr>
            <a:r>
              <a:t>Formal model — mathematical proof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49240"/>
            <a:ext cx="104241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9496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Detect sub-threshold behavioral 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3949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Cannot 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39496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B4F72"/>
                </a:solidFill>
                <a:latin typeface="Calibri"/>
              </a:defRPr>
            </a:pPr>
            <a:r>
              <a:t>Change-point detection on Digital Twin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715000"/>
            <a:ext cx="1042416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76072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Map drift direction to MITRE technique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7607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Cannot 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7607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B4F72"/>
                </a:solidFill>
                <a:latin typeface="Calibri"/>
              </a:defRPr>
            </a:pPr>
            <a:r>
              <a:t>Drift direction classifier (8 threat concepts)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6080760"/>
            <a:ext cx="104241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612648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Fuse identity across 10+ systems into one entity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1264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Partial (per-cloud only)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612648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B4F72"/>
                </a:solidFill>
                <a:latin typeface="Calibri"/>
              </a:defRPr>
            </a:pPr>
            <a:r>
              <a:t>Cross-cloud, cross-domain entity fusion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6400800"/>
            <a:ext cx="10424160" cy="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Platform Architecture: Five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Kubernetes-native. Iron Bank hardened. Same architecture across all classification levels.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0058400" cy="8686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63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Presentation &amp;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SOC Dashboard  •  ServiceNow  •  JIRA  •  SOAR  •  API Gateway  •  ABAC Policy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286000"/>
            <a:ext cx="10058400" cy="868680"/>
          </a:xfrm>
          <a:prstGeom prst="rect">
            <a:avLst/>
          </a:prstGeom>
          <a:solidFill>
            <a:srgbClr val="1B6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3774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77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Analytics &amp;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743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Preemptive Engine  •  Behavioral Engine  •  Kill-Chain Reconstruction  •  Alert Correlation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200400"/>
            <a:ext cx="10058400" cy="868680"/>
          </a:xfrm>
          <a:prstGeom prst="rect">
            <a:avLst/>
          </a:prstGeom>
          <a:solidFill>
            <a:srgbClr val="14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2918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2918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Intelligence &amp; Modeling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6576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Threat Intel Pipeline  •  Math Model Builder  •  Behavioral Profiling  •  Entity Fusion  •  MITRE Mapping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114800"/>
            <a:ext cx="10058400" cy="86868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062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2062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Data &amp;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720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Vector Database (pgvector)  •  Time-Series Store  •  Config Repository  •  Baseline Library  •  Entity Graph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5029200"/>
            <a:ext cx="10058400" cy="868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120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4864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Kubernetes (EKS/AKS/On-Prem)  •  Iron Bank Containers  •  Istio Service Mesh  •  Vault Secrets  •  Monitoring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All containers Iron Bank certified  •  Helm charts for repeatable deployment  •  Horizontal pod autoscaling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Deployment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One codebase, three deployment targets. Environment configuration only — no code forking.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329184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COMMERCIAL / IL5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NIPR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Cloud-hosted (AWS GovCloud / Azure Gov)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API-based config 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Auto-updated threat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Cloud-native AI/ML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Fastest time-to-value: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371600"/>
            <a:ext cx="329184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ON-PREMISES / IL6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SIPR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On-site VM or K8s cluster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Local device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Classified threat feeds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Local AI inference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8 vCPU / 32GB per node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80" y="1371600"/>
            <a:ext cx="329184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AIR-GAPPED / JWICS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TS-SCI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Fully disconnected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Manual STIX/TAXII import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Local file ingest / SNMP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Local language model for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SCIF-deployable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394960"/>
            <a:ext cx="1033272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42239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D1B2A"/>
                </a:solidFill>
                <a:latin typeface="Calibri"/>
              </a:defRPr>
            </a:pPr>
            <a:r>
              <a:t>Switch between modes via environment variable. Same containers, same Helm charts, same security posture.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Implementation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Three phases. Value within 90 days. Full operational capability within 9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1: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0–90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K8s provisioning, secrets, networking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Data connectors (NGFW, IPS, IdP)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Baseline config ingestion + model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First preemptive findings delivered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Entity fusion pipeline operational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B4F72"/>
                </a:solidFill>
                <a:latin typeface="Calibri"/>
              </a:defRPr>
            </a:pPr>
            <a:r>
              <a:t>Milestone: First verified gap findings + playbooks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1371600"/>
            <a:ext cx="3566160" cy="5486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2: Operational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90–180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Behavioral baselines established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Change-point detection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SOC integration (SNOW/JIRA/SOAR)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Continuous re-verification enabled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ABAC trust scoring live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39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79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B4F72"/>
                </a:solidFill>
                <a:latin typeface="Calibri"/>
              </a:defRPr>
            </a:pPr>
            <a:r>
              <a:t>Milestone: Full two-layer detection active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8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18" y="1371600"/>
            <a:ext cx="3566160" cy="5486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8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3: Optimization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8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180–270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8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Kill-chain reconstruction 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8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Cohort model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38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Additional vendor integrations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38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Compliance reporting automation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38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SOC training and handoff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78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18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B4F72"/>
                </a:solidFill>
                <a:latin typeface="Calibri"/>
              </a:defRPr>
            </a:pPr>
            <a:r>
              <a:t>Milestone: Full capability + cATO artifacts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Product Roadmap 2026–2027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Expanding coverage, intelligence, and autonomy across both layers.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69748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Calibri"/>
              </a:defRPr>
            </a:pPr>
            <a:r>
              <a:t>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PAN, Fortinet, Cisco, CP NGFW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N-S firewall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Behavioral UEBA core (5 signals)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Entity fusion (AD, AAD, Okta)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IL5 / NIPR deployment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9000" y="1371600"/>
            <a:ext cx="269748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E-W micro-segmentation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SASE / SD-WAN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Additional identity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Expanded MITRE (140+ TTPs)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On-prem IL6 certified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1371600"/>
            <a:ext cx="2697480" cy="5029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Cloud posture (AWS/Azure/GCP)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WAF / API gateway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Automated remediation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Enhanced kill-chain reconstruction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JWICS air-gapped deployment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89720" y="1371600"/>
            <a:ext cx="269748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OT / ICS protocol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Autonomous threat hunting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Cross-org threat sharing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AI-verified remediation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Full autonomous defense loop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Calibri"/>
              </a:defRPr>
            </a:pPr>
            <a:r>
              <a:t>Roadmap is outcome-driven. Prioritization informed by active customer engagements and threat landscape.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Nine pre-built use cases spanning preemptive defense, compliance, and risk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463040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481328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447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Preemptive Cyber Defense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Continuous verification that every known TTP path is blocked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1901952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1993392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011680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197510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Configuration Drift Mgmt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9339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Hourly comparison to approved baseline; surfaces unauthorized 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432304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2523744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2542032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50545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Formal Policy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52374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Shadow rules, conflicts, weak inspection across multi-vendor stack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2962656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3054096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3072384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03580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External Attack Surface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05409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Maps exposed assets to compensating controls; proves coverage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493008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3584448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3602736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35661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Internal Attack Surface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58444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Models paths from compromised host to crown-jewel assets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023360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000" y="4114800"/>
            <a:ext cx="4572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4133088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40965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Behavioral Threat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11480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LOTL, credential abuse, insider threat, slow lateral movement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553712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3000" y="4645152"/>
            <a:ext cx="4572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4663440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462686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Zero-Trust Verification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64515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Proves segmentation holds end-to-end (NIST 800-53 / SP 800-207)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084064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43000" y="5175504"/>
            <a:ext cx="457200" cy="2743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88720" y="5193792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515721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Vendor Migration Safety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517550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Proves no regression during NGFW vendor migration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7280" y="5614416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43000" y="5705856"/>
            <a:ext cx="457200" cy="2743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5724144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37360" y="56875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M&amp;A / Third-Party Risk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570585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Models combined posture pre-merger; verifies isolation controls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Production Proof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Selected findings from financial services, telecom, government, and critical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54864" cy="65836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80160" y="1463040"/>
            <a:ext cx="201168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48132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FinTech | Asia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50876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Closed lateral movement path hidden by shadowed rules across multi-vendor NGFW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084832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084832"/>
            <a:ext cx="54864" cy="658368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" y="2176272"/>
            <a:ext cx="201168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2194560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Communications | 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221992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Eliminated RCE exposure from missing IPS inspection on critical protocol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798064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2798064"/>
            <a:ext cx="54864" cy="65836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0160" y="2889504"/>
            <a:ext cx="201168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2907792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Regional Bank | E. Asia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935224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Closed cross-vendor policy inconsistency exposing PAN and Fortinet NGFWs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511296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511296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80160" y="3602736"/>
            <a:ext cx="201168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3621024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Critical Infra | SE Asia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648456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Detected application obfuscation paths from DMZ rule misconfiguration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224528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4224528"/>
            <a:ext cx="54864" cy="65836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80160" y="4315968"/>
            <a:ext cx="20116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5880" y="4334256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Finance | E. Asia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361688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Identified NIST 800-53 compliance gap on email traffic inspection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937760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97280" y="4937760"/>
            <a:ext cx="54864" cy="65836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80160" y="5029200"/>
            <a:ext cx="201168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504748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EU Sovereign Govt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07492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National-scale attack surface management across 12 government agencies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669280"/>
            <a:ext cx="10058400" cy="4572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" y="57150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20+ design partners across F500, federal, critical infrastructure, MSSPs, and nation states (NA, EU, ME, Asia, Pacific).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22CT: Proven Capability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Large-scale DoD cybersecurity delivery with cleared workforce and active contracts.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51460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251460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087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B4F72"/>
                </a:solidFill>
                <a:latin typeface="Calibri"/>
              </a:defRPr>
            </a:pPr>
            <a:r>
              <a:t>$90M+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E50"/>
                </a:solidFill>
                <a:latin typeface="Calibri"/>
              </a:defRPr>
            </a:pPr>
            <a:r>
              <a:t>Active Army</a:t>
            </a:r>
            <a:br/>
            <a:r>
              <a:t>SOC/MDR Contract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371600"/>
            <a:ext cx="251460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371600"/>
            <a:ext cx="251460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5087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E6B8A"/>
                </a:solidFill>
                <a:latin typeface="Calibri"/>
              </a:defRPr>
            </a:pPr>
            <a:r>
              <a:t>800+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1945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E50"/>
                </a:solidFill>
                <a:latin typeface="Calibri"/>
              </a:defRPr>
            </a:pPr>
            <a:r>
              <a:t>Cleared Analysts</a:t>
            </a:r>
            <a:br/>
            <a:r>
              <a:t>on Staff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71600"/>
            <a:ext cx="251460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371600"/>
            <a:ext cx="2514600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087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B7950B"/>
                </a:solidFill>
                <a:latin typeface="Calibri"/>
              </a:defRPr>
            </a:pPr>
            <a:r>
              <a:t>20+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1945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E50"/>
                </a:solidFill>
                <a:latin typeface="Calibri"/>
              </a:defRPr>
            </a:pPr>
            <a:r>
              <a:t>Design Partners</a:t>
            </a:r>
            <a:br/>
            <a:r>
              <a:t>(F500, Fed, Nation)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371600"/>
            <a:ext cx="251460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1371600"/>
            <a:ext cx="25146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15087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Calibri"/>
              </a:defRPr>
            </a:pPr>
            <a:r>
              <a:t>IL5/IL6/JWICS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1945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E50"/>
                </a:solidFill>
                <a:latin typeface="Calibri"/>
              </a:defRPr>
            </a:pPr>
            <a:r>
              <a:t>Three Enclave</a:t>
            </a:r>
            <a:br/>
            <a:r>
              <a:t>Deployment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200400"/>
            <a:ext cx="10058400" cy="2560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32918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Compliance alignment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6576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DoD Zero Trust RA: Pillars 4 &amp;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977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NIST 800-53 Rev 5 (CA-7, RA-5, SI-4)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2976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NIST SP 800-207 Zero Trust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177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cATO pathway: artifacts auto-generated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937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Iron Bank certified containers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2578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eMASS / RMF 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2918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Contract vehicles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576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GSA MAS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977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CIO-SP3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2976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SEWP 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6177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Direct Award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937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8(a) / SDVOSB options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Why 22CT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Unique combination of capabilities no competitor can match.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54864" cy="7132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4475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Calibri"/>
              </a:defRPr>
            </a:pPr>
            <a:r>
              <a:t>Mathematical 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481328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Not sampling — exhaustive reasoning over the complete config state space. Zero FP, zero FN.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139696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2139696"/>
            <a:ext cx="54864" cy="7132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21284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6B8A"/>
                </a:solidFill>
                <a:latin typeface="Calibri"/>
              </a:defRPr>
            </a:pPr>
            <a:r>
              <a:t>Behavioral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49424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Not just "anomaly score" — tells you exactly WHAT threat type and maps to MITRE ATT&amp;CK.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907792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2907792"/>
            <a:ext cx="54864" cy="7132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98094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B7950B"/>
                </a:solidFill>
                <a:latin typeface="Calibri"/>
              </a:defRPr>
            </a:pPr>
            <a:r>
              <a:t>Continuous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1752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Re-verified hourly + on every change. Behavioral baselines adapt in real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675888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675888"/>
            <a:ext cx="54864" cy="7132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749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Calibri"/>
              </a:defRPr>
            </a:pPr>
            <a:r>
              <a:t>Cross-domain entity 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85616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Identity stitched across 10+ systems. Lateral movement = one correlated trajectory.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443984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4443984"/>
            <a:ext cx="54864" cy="7132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51713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Classified enclave 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553712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Same code: SaaS / SIPR / JWICS. No forking. Environment variable only.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12080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5212080"/>
            <a:ext cx="54864" cy="7132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528523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6B8A"/>
                </a:solidFill>
                <a:latin typeface="Calibri"/>
              </a:defRPr>
            </a:pPr>
            <a:r>
              <a:t>Proven at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321808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$90M Army contract. 800+ analysts. 20+ design partners. Real findings in production.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22860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950B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7432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Technical Deep-Dive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7432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0B8D0"/>
                </a:solidFill>
                <a:latin typeface="Calibri"/>
              </a:defRPr>
            </a:pPr>
            <a:r>
              <a:t>Schedule hands-on demonstration with your security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3832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950B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3832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Proof of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3832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0B8D0"/>
                </a:solidFill>
                <a:latin typeface="Calibri"/>
              </a:defRPr>
            </a:pPr>
            <a:r>
              <a:t>30-day pilot against live configuration — findings within 2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0233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950B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0233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Architecture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02336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0B8D0"/>
                </a:solidFill>
                <a:latin typeface="Calibri"/>
              </a:defRPr>
            </a:pPr>
            <a:r>
              <a:t>Joint review of deployment model and SOC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66344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950B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6634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Contract Vehicle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66344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0B8D0"/>
                </a:solidFill>
                <a:latin typeface="Calibri"/>
              </a:defRPr>
            </a:pPr>
            <a:r>
              <a:t>GSA MAS  •  CIO-SP3  •  SEWP V  •  Direct Award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4864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9436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6B7E"/>
                </a:solidFill>
                <a:latin typeface="Calibri"/>
              </a:defRPr>
            </a:pPr>
            <a:r>
              <a:t>PROPRIETARY  //  NOT FOR PUBLIC RELEASE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