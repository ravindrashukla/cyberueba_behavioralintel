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C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67665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 i="0">
                <a:solidFill>
                  <a:srgbClr val="102A4C"/>
                </a:solidFill>
                <a:latin typeface="Segoe UI"/>
              </a:rPr>
              <a:t>Behavioral UEBA for the Age of AI-Enabled Threats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6766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F5E9C"/>
                </a:solidFill>
                <a:latin typeface="Segoe UI"/>
              </a:rPr>
              <a:t>Why detect-and-respond no longer defends critical infrastructure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840480"/>
            <a:ext cx="2194560" cy="3810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212080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102A4C"/>
                </a:solidFill>
                <a:latin typeface="Segoe UI"/>
              </a:rPr>
              <a:t>V-Intelligence  |  22nd Century Technologies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6766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E6A75"/>
                </a:solidFill>
                <a:latin typeface="Segoe UI"/>
              </a:rPr>
              <a:t>Part 1: The Problem  -  why an advanced solution is needed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2011680"/>
            <a:ext cx="3017520" cy="731520"/>
          </a:xfrm>
          <a:prstGeom prst="rect">
            <a:avLst/>
          </a:prstGeom>
          <a:solidFill>
            <a:srgbClr val="1F5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2011680"/>
            <a:ext cx="26517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Valid-account attacks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2971800"/>
            <a:ext cx="3017520" cy="731520"/>
          </a:xfrm>
          <a:prstGeom prst="rect">
            <a:avLst/>
          </a:prstGeom>
          <a:solidFill>
            <a:srgbClr val="1184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971800"/>
            <a:ext cx="26517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AI-speed adversaries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3931920"/>
            <a:ext cx="3017520" cy="73152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3931920"/>
            <a:ext cx="26517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Alert-fatigued SOCs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702552"/>
            <a:ext cx="12191695" cy="15240"/>
          </a:xfrm>
          <a:prstGeom prst="rect">
            <a:avLst/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5566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E6A75"/>
                </a:solidFill>
                <a:latin typeface="Segoe UI"/>
              </a:rPr>
              <a:t>CONFIDENTIAL  |  22nd Century Technologies  |  V-Intelligence Behavioral UEBA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E6A75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062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02A4C"/>
                </a:solidFill>
                <a:latin typeface="Segoe UI"/>
              </a:rPr>
              <a:t>The SOC Runs on SIEM and UEBA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5E6A75"/>
                </a:solidFill>
                <a:latin typeface="Segoe UI"/>
              </a:rPr>
              <a:t>Collect, correlate, alert, triage, respond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377440" cy="3810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755648" cy="1371600"/>
          </a:xfrm>
          <a:prstGeom prst="rect">
            <a:avLst/>
          </a:prstGeom>
          <a:solidFill>
            <a:srgbClr val="ECF4FC"/>
          </a:solidFill>
          <a:ln w="12700">
            <a:solidFill>
              <a:srgbClr val="1F5E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965960"/>
            <a:ext cx="160934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102A4C"/>
                </a:solidFill>
                <a:latin typeface="Segoe UI"/>
              </a:rPr>
              <a:t>Collect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514600"/>
            <a:ext cx="160934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0">
                <a:solidFill>
                  <a:srgbClr val="1D2430"/>
                </a:solidFill>
                <a:latin typeface="Segoe UI"/>
              </a:rPr>
              <a:t>logs from many sources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331719" y="1828800"/>
            <a:ext cx="1755648" cy="1371600"/>
          </a:xfrm>
          <a:prstGeom prst="rect">
            <a:avLst/>
          </a:prstGeom>
          <a:solidFill>
            <a:srgbClr val="ECF4FC"/>
          </a:solidFill>
          <a:ln w="12700">
            <a:solidFill>
              <a:srgbClr val="1F5E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04871" y="1965960"/>
            <a:ext cx="160934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102A4C"/>
                </a:solidFill>
                <a:latin typeface="Segoe UI"/>
              </a:rPr>
              <a:t>Normalize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04871" y="2514600"/>
            <a:ext cx="160934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0">
                <a:solidFill>
                  <a:srgbClr val="1D2430"/>
                </a:solidFill>
                <a:latin typeface="Segoe UI"/>
              </a:rPr>
              <a:t>parse and enrich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38" y="1828800"/>
            <a:ext cx="1755648" cy="1371600"/>
          </a:xfrm>
          <a:prstGeom prst="rect">
            <a:avLst/>
          </a:prstGeom>
          <a:solidFill>
            <a:srgbClr val="ECF4FC"/>
          </a:solidFill>
          <a:ln w="12700">
            <a:solidFill>
              <a:srgbClr val="1F5E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0" y="1965960"/>
            <a:ext cx="160934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102A4C"/>
                </a:solidFill>
                <a:latin typeface="Segoe UI"/>
              </a:rPr>
              <a:t>Correlate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0" y="2514600"/>
            <a:ext cx="160934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0">
                <a:solidFill>
                  <a:srgbClr val="1D2430"/>
                </a:solidFill>
                <a:latin typeface="Segoe UI"/>
              </a:rPr>
              <a:t>rules + statistical baselines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57" y="1828800"/>
            <a:ext cx="1755648" cy="1371600"/>
          </a:xfrm>
          <a:prstGeom prst="rect">
            <a:avLst/>
          </a:prstGeom>
          <a:solidFill>
            <a:srgbClr val="ECF4FC"/>
          </a:solidFill>
          <a:ln w="12700">
            <a:solidFill>
              <a:srgbClr val="1F5E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09" y="1965960"/>
            <a:ext cx="160934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102A4C"/>
                </a:solidFill>
                <a:latin typeface="Segoe UI"/>
              </a:rPr>
              <a:t>Alert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09" y="2514600"/>
            <a:ext cx="160934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0">
                <a:solidFill>
                  <a:srgbClr val="1D2430"/>
                </a:solidFill>
                <a:latin typeface="Segoe UI"/>
              </a:rPr>
              <a:t>threshold or rule fires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76" y="1828800"/>
            <a:ext cx="1755648" cy="1371600"/>
          </a:xfrm>
          <a:prstGeom prst="rect">
            <a:avLst/>
          </a:prstGeom>
          <a:solidFill>
            <a:srgbClr val="ECF4FC"/>
          </a:solidFill>
          <a:ln w="12700">
            <a:solidFill>
              <a:srgbClr val="1F5E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28" y="1965960"/>
            <a:ext cx="160934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102A4C"/>
                </a:solidFill>
                <a:latin typeface="Segoe UI"/>
              </a:rPr>
              <a:t>Triage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28" y="2514600"/>
            <a:ext cx="160934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0">
                <a:solidFill>
                  <a:srgbClr val="1D2430"/>
                </a:solidFill>
                <a:latin typeface="Segoe UI"/>
              </a:rPr>
              <a:t>analyst investigates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29795" y="1828800"/>
            <a:ext cx="1755648" cy="1371600"/>
          </a:xfrm>
          <a:prstGeom prst="rect">
            <a:avLst/>
          </a:prstGeom>
          <a:solidFill>
            <a:srgbClr val="ECF4FC"/>
          </a:solidFill>
          <a:ln w="12700">
            <a:solidFill>
              <a:srgbClr val="1F5E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02947" y="1965960"/>
            <a:ext cx="160934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102A4C"/>
                </a:solidFill>
                <a:latin typeface="Segoe UI"/>
              </a:rPr>
              <a:t>Respond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02947" y="2514600"/>
            <a:ext cx="160934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0">
                <a:solidFill>
                  <a:srgbClr val="1D2430"/>
                </a:solidFill>
                <a:latin typeface="Segoe UI"/>
              </a:rPr>
              <a:t>contain and remediate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65760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02A4C"/>
                </a:solidFill>
                <a:latin typeface="Segoe UI"/>
              </a:rPr>
              <a:t>•  The model assumes the attack produces a signal that crosses a rule or a threshold.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D2430"/>
                </a:solidFill>
                <a:latin typeface="Segoe UI"/>
              </a:rPr>
              <a:t>•  It assumes a known signature, or a deviation large enough to stand out from a baseline.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D2430"/>
                </a:solidFill>
                <a:latin typeface="Segoe UI"/>
              </a:rPr>
              <a:t>•  And it assumes a human analyst has the time to triage what fires.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702552"/>
            <a:ext cx="12191695" cy="15240"/>
          </a:xfrm>
          <a:prstGeom prst="rect">
            <a:avLst/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45566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E6A75"/>
                </a:solidFill>
                <a:latin typeface="Segoe UI"/>
              </a:rPr>
              <a:t>CONFIDENTIAL  |  22nd Century Technologies  |  V-Intelligence Behavioral UEBA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E6A75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062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02A4C"/>
                </a:solidFill>
                <a:latin typeface="Segoe UI"/>
              </a:rPr>
              <a:t>How Detection Works Today, and Where It Breaks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2377440" cy="3810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394960" cy="4297680"/>
          </a:xfrm>
          <a:prstGeom prst="rect">
            <a:avLst/>
          </a:prstGeom>
          <a:solidFill>
            <a:srgbClr val="EC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640080"/>
          </a:xfrm>
          <a:prstGeom prst="rect">
            <a:avLst/>
          </a:prstGeom>
          <a:solidFill>
            <a:srgbClr val="1F5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5029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7744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1D2430"/>
                </a:solidFill>
                <a:latin typeface="Segoe UI"/>
              </a:rPr>
              <a:t>•  Signature and correlation rules match known-bad patterns.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D2430"/>
                </a:solidFill>
                <a:latin typeface="Segoe UI"/>
              </a:rPr>
              <a:t>•  UEBA adds statistical baselines (peer and self) and risk scores.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D2430"/>
                </a:solidFill>
                <a:latin typeface="Segoe UI"/>
              </a:rPr>
              <a:t>•  Alerts are ranked by severity and pushed to the SOC queue.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554480"/>
            <a:ext cx="5394960" cy="4297680"/>
          </a:xfrm>
          <a:prstGeom prst="rect">
            <a:avLst/>
          </a:prstGeom>
          <a:solidFill>
            <a:srgbClr val="FF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554480"/>
            <a:ext cx="5394960" cy="64008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27632"/>
            <a:ext cx="5029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Where it breaks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37744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A61B1B"/>
                </a:solidFill>
                <a:latin typeface="Segoe UI"/>
              </a:rPr>
              <a:t>•  Magnitude, not meaning: 47 files is 47 files, intent is lost.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A61B1B"/>
                </a:solidFill>
                <a:latin typeface="Segoe UI"/>
              </a:rPr>
              <a:t>•  Thresholds miss slow, valid-account, living-off-the-land attacks that never spike.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D2430"/>
                </a:solidFill>
                <a:latin typeface="Segoe UI"/>
              </a:rPr>
              <a:t>•  Per-source silos make one attacker look like ten users.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D2430"/>
                </a:solidFill>
                <a:latin typeface="Segoe UI"/>
              </a:rPr>
              <a:t>•  Alert fatigue: analysts drown; real signal is buried in noise.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D2430"/>
                </a:solidFill>
                <a:latin typeface="Segoe UI"/>
              </a:rPr>
              <a:t>•  Reactive: it detects after the fact, not before.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02552"/>
            <a:ext cx="12191695" cy="15240"/>
          </a:xfrm>
          <a:prstGeom prst="rect">
            <a:avLst/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5566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E6A75"/>
                </a:solidFill>
                <a:latin typeface="Segoe UI"/>
              </a:rPr>
              <a:t>CONFIDENTIAL  |  22nd Century Technologies  |  V-Intelligence Behavioral UEBA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E6A75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062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02A4C"/>
                </a:solidFill>
                <a:latin typeface="Segoe UI"/>
              </a:rPr>
              <a:t>The SIEM / UEBA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5E6A75"/>
                </a:solidFill>
                <a:latin typeface="Segoe UI"/>
              </a:rPr>
              <a:t>Mature tools, the same structural limits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377440" cy="3810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What it does</a:t>
                      </a:r>
                    </a:p>
                  </a:txBody>
                  <a:tcPr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Splunk Enterprise 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SIEM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log search, correlation rules, dashboards</a:t>
                      </a:r>
                    </a:p>
                  </a:txBody>
                  <a:tcPr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IBM QRadar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SIEM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flow + log correlation, offense scoring</a:t>
                      </a:r>
                    </a:p>
                  </a:txBody>
                  <a:tcPr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Microsoft Sentinel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Cloud SIEM + SOAR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KQL analytics, automation, some UEBA</a:t>
                      </a:r>
                    </a:p>
                  </a:txBody>
                  <a:tcPr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Exabeam / Securonix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UEBA-led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behavioral baselining, risk scoring</a:t>
                      </a:r>
                    </a:p>
                  </a:txBody>
                  <a:tcPr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Elastic Security / Google SecOps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SIEM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search, detections, pipelines at scale</a:t>
                      </a:r>
                    </a:p>
                  </a:txBody>
                  <a:tcPr/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LogRhythm / Devo / Sumo Logic / Rapid7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SIEM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log analytics and detections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120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02A4C"/>
                </a:solidFill>
                <a:latin typeface="Segoe UI"/>
              </a:rPr>
              <a:t>All are excellent at collecting and searching logs and at matching known patterns. All share the same limit: they alert on magnitude and signatures, not on the meaning and direction of behavior, so the valid-account, slow, AI-speed adversary walks past.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02552"/>
            <a:ext cx="12191695" cy="15240"/>
          </a:xfrm>
          <a:prstGeom prst="rect">
            <a:avLst/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5566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E6A75"/>
                </a:solidFill>
                <a:latin typeface="Segoe UI"/>
              </a:rPr>
              <a:t>CONFIDENTIAL  |  22nd Century Technologies  |  V-Intelligence Behavioral UEBA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E6A75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062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02A4C"/>
                </a:solidFill>
                <a:latin typeface="Segoe UI"/>
              </a:rPr>
              <a:t>The Inflection: AI-Enabled (Mythos-Level) Attackers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5E6A75"/>
                </a:solidFill>
                <a:latin typeface="Segoe UI"/>
              </a:rPr>
              <a:t>Adversaries now wield AI that finds and exploits vulnerabilities at machine speed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377440" cy="3810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 b="1">
                <a:solidFill>
                  <a:srgbClr val="102A4C"/>
                </a:solidFill>
                <a:latin typeface="Segoe UI"/>
              </a:rPr>
              <a:t>•  Offensive AI (Mythos-level) autonomously discovers vulnerabilities, chains low-severity weaknesses, and exploits them, faster than humans can respond.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D2430"/>
                </a:solidFill>
                <a:latin typeface="Segoe UI"/>
              </a:rPr>
              <a:t>•  In 2025, an AI-orchestrated espionage campaign (Anthropic GTG-1002) ran largely autonomously against roughly 30 targets at machine speed.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D2430"/>
                </a:solidFill>
                <a:latin typeface="Segoe UI"/>
              </a:rPr>
              <a:t>•  Threats now evolve faster than vulnerability disclosure and patch cycles; attackers exploit before a CVE or patch exists.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A61B1B"/>
                </a:solidFill>
                <a:latin typeface="Segoe UI"/>
              </a:rPr>
              <a:t>•  By the time a detect-and-respond pipeline fires, the breach is already complete.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A61B1B"/>
                </a:solidFill>
                <a:latin typeface="Segoe UI"/>
              </a:rPr>
              <a:t>•  Detect-and-respond, the model every SIEM is built on, cannot defend U.S. infrastructure against this.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02552"/>
            <a:ext cx="12191695" cy="15240"/>
          </a:xfrm>
          <a:prstGeom prst="rect">
            <a:avLst/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E6A75"/>
                </a:solidFill>
                <a:latin typeface="Segoe UI"/>
              </a:rPr>
              <a:t>CONFIDENTIAL  |  22nd Century Technologies  |  V-Intelligence Behavioral UEBA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E6A75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062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02A4C"/>
                </a:solidFill>
                <a:latin typeface="Segoe UI"/>
              </a:rPr>
              <a:t>Mythos-Level Attacks Mean Operational Disruption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5E6A75"/>
                </a:solidFill>
                <a:latin typeface="Segoe UI"/>
              </a:rPr>
              <a:t>Not data loss alone: mission and infrastructure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377440" cy="3810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2743200" cy="2926080"/>
          </a:xfrm>
          <a:prstGeom prst="rect">
            <a:avLst/>
          </a:prstGeom>
          <a:solidFill>
            <a:srgbClr val="EC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2743200" cy="73152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737360"/>
            <a:ext cx="2468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Energy / Water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560320"/>
            <a:ext cx="24688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1D2430"/>
                </a:solidFill>
                <a:latin typeface="Segoe UI"/>
              </a:rPr>
              <a:t>pre-positioned access enables disruption of power, water, and fuel on demand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64408" y="1645920"/>
            <a:ext cx="2743200" cy="2926080"/>
          </a:xfrm>
          <a:prstGeom prst="rect">
            <a:avLst/>
          </a:prstGeom>
          <a:solidFill>
            <a:srgbClr val="EC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64408" y="1645920"/>
            <a:ext cx="2743200" cy="731520"/>
          </a:xfrm>
          <a:prstGeom prst="rect">
            <a:avLst/>
          </a:prstGeom>
          <a:solidFill>
            <a:srgbClr val="1184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01568" y="1737360"/>
            <a:ext cx="2468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Telecom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560320"/>
            <a:ext cx="24688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1D2430"/>
                </a:solidFill>
                <a:latin typeface="Segoe UI"/>
              </a:rPr>
              <a:t>carrier-scale espionage and the ability to degrade communications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71616" y="1645920"/>
            <a:ext cx="2743200" cy="2926080"/>
          </a:xfrm>
          <a:prstGeom prst="rect">
            <a:avLst/>
          </a:prstGeom>
          <a:solidFill>
            <a:srgbClr val="EC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71616" y="1645920"/>
            <a:ext cx="2743200" cy="731520"/>
          </a:xfrm>
          <a:prstGeom prst="rect">
            <a:avLst/>
          </a:prstGeom>
          <a:solidFill>
            <a:srgbClr val="1F5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8776" y="1737360"/>
            <a:ext cx="2468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Transport / Logistics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2560320"/>
            <a:ext cx="24688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1D2430"/>
                </a:solidFill>
                <a:latin typeface="Segoe UI"/>
              </a:rPr>
              <a:t>route, depot, and fulfillment disruption that stalls mobilization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78824" y="1645920"/>
            <a:ext cx="2743200" cy="2926080"/>
          </a:xfrm>
          <a:prstGeom prst="rect">
            <a:avLst/>
          </a:prstGeom>
          <a:solidFill>
            <a:srgbClr val="EC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78824" y="1645920"/>
            <a:ext cx="2743200" cy="73152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15984" y="1737360"/>
            <a:ext cx="2468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Defense / Mission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2560320"/>
            <a:ext cx="24688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1D2430"/>
                </a:solidFill>
                <a:latin typeface="Segoe UI"/>
              </a:rPr>
              <a:t>loss of decision time and readiness when it is needed most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9377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02A4C"/>
                </a:solidFill>
                <a:latin typeface="Segoe UI"/>
              </a:rPr>
              <a:t>Adversaries pre-position quietly, on valid credentials, to disrupt critical infrastructure at the moment of their choosing. The cost of a missed warning is operational, not just informational.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702552"/>
            <a:ext cx="12191695" cy="15240"/>
          </a:xfrm>
          <a:prstGeom prst="rect">
            <a:avLst/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45566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E6A75"/>
                </a:solidFill>
                <a:latin typeface="Segoe UI"/>
              </a:rPr>
              <a:t>CONFIDENTIAL  |  22nd Century Technologies  |  V-Intelligence Behavioral UEBA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E6A75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062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02A4C"/>
                </a:solidFill>
                <a:latin typeface="Segoe UI"/>
              </a:rPr>
              <a:t>Recent Attacks Current Tools Could Not Stop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2377440" cy="3810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471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74765">
                <a:tc>
                  <a:txBody>
                    <a:bodyPr/>
                    <a:lstStyle/>
                    <a:p>
                      <a:r>
                        <a:rPr sz="1100" b="1">
                          <a:latin typeface="Segoe UI"/>
                        </a:rPr>
                        <a:t>Campaign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Segoe UI"/>
                        </a:rPr>
                        <a:t>What it was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Segoe UI"/>
                        </a:rPr>
                        <a:t>Why current tools missed it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100">
                          <a:latin typeface="Segoe UI"/>
                        </a:rPr>
                        <a:t>Volt Typhoon (2023-24)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Segoe UI"/>
                        </a:rPr>
                        <a:t>living-off-the-land pre-positioning in U.S. critical infrastructure, 5+ year dwell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Segoe UI"/>
                        </a:rPr>
                        <a:t>valid accounts, no malware, no signature, sub-threshold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100">
                          <a:latin typeface="Segoe UI"/>
                        </a:rPr>
                        <a:t>Salt Typhoon (2024-25)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Segoe UI"/>
                        </a:rPr>
                        <a:t>telecom espionage at carrier scale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Segoe UI"/>
                        </a:rPr>
                        <a:t>slow, valid-account, below every alert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100">
                          <a:latin typeface="Segoe UI"/>
                        </a:rPr>
                        <a:t>SolarWinds (2020)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Segoe UI"/>
                        </a:rPr>
                        <a:t>trojanized signed update pushed to ~18,000 organizations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Segoe UI"/>
                        </a:rPr>
                        <a:t>trusted, signed update, no anomaly to flag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100">
                          <a:latin typeface="Segoe UI"/>
                        </a:rPr>
                        <a:t>MOVEit (2023)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Segoe UI"/>
                        </a:rPr>
                        <a:t>mass zero-day exploitation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Segoe UI"/>
                        </a:rPr>
                        <a:t>no CVE or signature at time of exploit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100">
                          <a:latin typeface="Segoe UI"/>
                        </a:rPr>
                        <a:t>XZ Utils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Segoe UI"/>
                        </a:rPr>
                        <a:t>multi-year supply-chain backdoor in a core library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Segoe UI"/>
                        </a:rPr>
                        <a:t>trusted dependency, no known-bad version</a:t>
                      </a:r>
                    </a:p>
                  </a:txBody>
                  <a:tcPr/>
                </a:tc>
              </a:tr>
              <a:tr h="574770">
                <a:tc>
                  <a:txBody>
                    <a:bodyPr/>
                    <a:lstStyle/>
                    <a:p>
                      <a:r>
                        <a:rPr sz="1100">
                          <a:latin typeface="Segoe UI"/>
                        </a:rPr>
                        <a:t>Colonial Pipeline (2021)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Segoe UI"/>
                        </a:rPr>
                        <a:t>ransomware, fuel-supply disruption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Segoe UI"/>
                        </a:rPr>
                        <a:t>credential access, detected too late to prevent impact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A61B1B"/>
                </a:solidFill>
                <a:latin typeface="Segoe UI"/>
              </a:rPr>
              <a:t>The common thread: valid credentials, no signature, no spike, or a trusted path. Magnitude-and-signature detection had nothing to fire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02552"/>
            <a:ext cx="12191695" cy="15240"/>
          </a:xfrm>
          <a:prstGeom prst="rect">
            <a:avLst/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E6A75"/>
                </a:solidFill>
                <a:latin typeface="Segoe UI"/>
              </a:rPr>
              <a:t>CONFIDENTIAL  |  22nd Century Technologies  |  V-Intelligence Behavioral UEBA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E6A75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3810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E87722"/>
                </a:solidFill>
                <a:latin typeface="Segoe UI"/>
              </a:rPr>
              <a:t>WHY WE NEED AN ADVANCED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FFFFFF"/>
                </a:solidFill>
                <a:latin typeface="Segoe UI"/>
              </a:rPr>
              <a:t>•  Current SIEM and UEBA detect magnitude and signatures; they miss meaning and direction.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FFFFFF"/>
                </a:solidFill>
                <a:latin typeface="Segoe UI"/>
              </a:rPr>
              <a:t>•  They cannot catch valid-account, living-off-the-land attacks that cross no threshold.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FFFFFF"/>
                </a:solidFill>
                <a:latin typeface="Segoe UI"/>
              </a:rPr>
              <a:t>•  They are reactive, and AI-speed adversaries are gone before detect-and-respond fires.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FFFFFF"/>
                </a:solidFill>
                <a:latin typeface="Segoe UI"/>
              </a:rPr>
              <a:t>•  And they overwhelm the SOC with alerts instead of giving analysts a ranked, explainable verdict.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E87722"/>
                </a:solidFill>
                <a:latin typeface="Segoe UI"/>
              </a:rPr>
              <a:t>We need behavior read as meaning, detection that is preemptive and precise, and a SOC that is helped, not buried.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02552"/>
            <a:ext cx="12191695" cy="15240"/>
          </a:xfrm>
          <a:prstGeom prst="rect">
            <a:avLst/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E6A75"/>
                </a:solidFill>
                <a:latin typeface="Segoe UI"/>
              </a:rPr>
              <a:t>CONFIDENTIAL  |  22nd Century Technologies  |  V-Intelligence Behavioral UEBA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E6A75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E87722"/>
                </a:solidFill>
                <a:latin typeface="Segoe U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889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Segoe UI"/>
              </a:rPr>
              <a:t>The Solution: A Behavioral Digital Twin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BFD4EA"/>
                </a:solidFill>
                <a:latin typeface="Segoe UI"/>
              </a:rPr>
              <a:t>Read behavior as meaning, track where each entity is heading, hand the SOC a ranked, explainable verdict.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02552"/>
            <a:ext cx="12191695" cy="15240"/>
          </a:xfrm>
          <a:prstGeom prst="rect">
            <a:avLst/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E6A75"/>
                </a:solidFill>
                <a:latin typeface="Segoe UI"/>
              </a:rPr>
              <a:t>CONFIDENTIAL  |  22nd Century Technologies  |  V-Intelligence Behavioral UEBA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E6A75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062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02A4C"/>
                </a:solidFill>
                <a:latin typeface="Segoe UI"/>
              </a:rPr>
              <a:t>Input Data: the Logs the SOC Already Collects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5E6A75"/>
                </a:solidFill>
                <a:latin typeface="Segoe UI"/>
              </a:rPr>
              <a:t>No new sensors. The twin sits downstream of your existing SIEM.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377440" cy="3810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08760"/>
          <a:ext cx="67665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3383280"/>
              </a:tblGrid>
              <a:tr h="472440"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Log 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Signal it carries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Identity / auth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who, when, from where, privilege use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File /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access, volume, sensitivity, movement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Network / 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destinations, beaconing, data egress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DNS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resolution patterns, DGA, rare domains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Endpoint / process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process lineage, living-off-the-land tools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498079" y="1508760"/>
            <a:ext cx="4206240" cy="2834640"/>
          </a:xfrm>
          <a:prstGeom prst="rect">
            <a:avLst/>
          </a:prstGeom>
          <a:solidFill>
            <a:srgbClr val="EC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79" y="1508760"/>
            <a:ext cx="4206240" cy="548640"/>
          </a:xfrm>
          <a:prstGeom prst="rect">
            <a:avLst/>
          </a:prstGeom>
          <a:solidFill>
            <a:srgbClr val="1184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563624"/>
            <a:ext cx="3840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Collection stages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194560"/>
            <a:ext cx="3840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>
                <a:solidFill>
                  <a:srgbClr val="1D2430"/>
                </a:solidFill>
                <a:latin typeface="Segoe UI"/>
              </a:rPr>
              <a:t>•  Ingest from the SIEM / forwarders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D2430"/>
                </a:solidFill>
                <a:latin typeface="Segoe UI"/>
              </a:rPr>
              <a:t>•  Normalize and parse to a common schema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D2430"/>
                </a:solidFill>
                <a:latin typeface="Segoe UI"/>
              </a:rPr>
              <a:t>•  Group events into behavioral dimensions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D2430"/>
                </a:solidFill>
                <a:latin typeface="Segoe UI"/>
              </a:rPr>
              <a:t>•  Serialize and embed; store as vectors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7200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102A4C"/>
                </a:solidFill>
                <a:latin typeface="Segoe UI"/>
              </a:rPr>
              <a:t>Scale of the proof-of-concept: 250 entities, 485 days, about 14 million events across five log sources. Behavioral snapshots are stored as 1536-dimension vectors in a PostgreSQL pgvector database, so similarity and drift are queried directly in the database.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02552"/>
            <a:ext cx="12191695" cy="15240"/>
          </a:xfrm>
          <a:prstGeom prst="rect">
            <a:avLst/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45566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E6A75"/>
                </a:solidFill>
                <a:latin typeface="Segoe UI"/>
              </a:rPr>
              <a:t>CONFIDENTIAL  |  22nd Century Technologies  |  V-Intelligence Behavioral UEBA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E6A75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062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02A4C"/>
                </a:solidFill>
                <a:latin typeface="Segoe UI"/>
              </a:rPr>
              <a:t>The Dimensions We Model, and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5E6A75"/>
                </a:solidFill>
                <a:latin typeface="Segoe UI"/>
              </a:rPr>
              <a:t>Five behavioral zones, 23 features; identity as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377440" cy="3810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164592" cy="713232"/>
          </a:xfrm>
          <a:prstGeom prst="rect">
            <a:avLst/>
          </a:prstGeom>
          <a:solidFill>
            <a:srgbClr val="5E6A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600200"/>
            <a:ext cx="10607040" cy="713232"/>
          </a:xfrm>
          <a:prstGeom prst="rect">
            <a:avLst/>
          </a:prstGeom>
          <a:solidFill>
            <a:srgbClr val="EC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55064"/>
            <a:ext cx="2743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02A4C"/>
                </a:solidFill>
                <a:latin typeface="Segoe UI"/>
              </a:rPr>
              <a:t>Identity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655064"/>
            <a:ext cx="6035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D2430"/>
                </a:solidFill>
                <a:latin typeface="Segoe UI"/>
              </a:rPr>
              <a:t>role, department, clearance, user 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1655064"/>
            <a:ext cx="1371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 i="0">
                <a:solidFill>
                  <a:srgbClr val="5E6A75"/>
                </a:solidFill>
                <a:latin typeface="Segoe UI"/>
              </a:rPr>
              <a:t>context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41448"/>
            <a:ext cx="164592" cy="713232"/>
          </a:xfrm>
          <a:prstGeom prst="rect">
            <a:avLst/>
          </a:prstGeom>
          <a:solidFill>
            <a:srgbClr val="1F5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" y="2441448"/>
            <a:ext cx="10607040" cy="713232"/>
          </a:xfrm>
          <a:prstGeom prst="rect">
            <a:avLst/>
          </a:prstGeom>
          <a:solidFill>
            <a:srgbClr val="EC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496312"/>
            <a:ext cx="2743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02A4C"/>
                </a:solidFill>
                <a:latin typeface="Segoe UI"/>
              </a:rPr>
              <a:t>Access pattern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496312"/>
            <a:ext cx="6035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D2430"/>
                </a:solidFill>
                <a:latin typeface="Segoe UI"/>
              </a:rPr>
              <a:t>logins, sources, destinations, off-hours, methods (7 features)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496312"/>
            <a:ext cx="1371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 i="0">
                <a:solidFill>
                  <a:srgbClr val="1F5E9C"/>
                </a:solidFill>
                <a:latin typeface="Segoe UI"/>
              </a:rPr>
              <a:t>action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82696"/>
            <a:ext cx="164592" cy="713232"/>
          </a:xfrm>
          <a:prstGeom prst="rect">
            <a:avLst/>
          </a:prstGeom>
          <a:solidFill>
            <a:srgbClr val="1184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" y="3282696"/>
            <a:ext cx="10607040" cy="713232"/>
          </a:xfrm>
          <a:prstGeom prst="rect">
            <a:avLst/>
          </a:prstGeom>
          <a:solidFill>
            <a:srgbClr val="EC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337560"/>
            <a:ext cx="2743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02A4C"/>
                </a:solidFill>
                <a:latin typeface="Segoe UI"/>
              </a:rPr>
              <a:t>Data behavior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3337560"/>
            <a:ext cx="6035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D2430"/>
                </a:solidFill>
                <a:latin typeface="Segoe UI"/>
              </a:rPr>
              <a:t>file volume, sensitivity, breadth, writes (6 features)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3337560"/>
            <a:ext cx="1371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 i="0">
                <a:solidFill>
                  <a:srgbClr val="118484"/>
                </a:solidFill>
                <a:latin typeface="Segoe UI"/>
              </a:rPr>
              <a:t>action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23944"/>
            <a:ext cx="164592" cy="713232"/>
          </a:xfrm>
          <a:prstGeom prst="rect">
            <a:avLst/>
          </a:prstGeom>
          <a:solidFill>
            <a:srgbClr val="1A7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" y="4123944"/>
            <a:ext cx="10607040" cy="713232"/>
          </a:xfrm>
          <a:prstGeom prst="rect">
            <a:avLst/>
          </a:prstGeom>
          <a:solidFill>
            <a:srgbClr val="EC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178808"/>
            <a:ext cx="2743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02A4C"/>
                </a:solidFill>
                <a:latin typeface="Segoe UI"/>
              </a:rPr>
              <a:t>Network footprint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4178808"/>
            <a:ext cx="6035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D2430"/>
                </a:solidFill>
                <a:latin typeface="Segoe UI"/>
              </a:rPr>
              <a:t>egress bytes, destinations, DNS patterns (5 features)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4178808"/>
            <a:ext cx="1371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 i="0">
                <a:solidFill>
                  <a:srgbClr val="1A724E"/>
                </a:solidFill>
                <a:latin typeface="Segoe UI"/>
              </a:rPr>
              <a:t>action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65192"/>
            <a:ext cx="164592" cy="713232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" y="4965192"/>
            <a:ext cx="10607040" cy="713232"/>
          </a:xfrm>
          <a:prstGeom prst="rect">
            <a:avLst/>
          </a:prstGeom>
          <a:solidFill>
            <a:srgbClr val="EC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020056"/>
            <a:ext cx="2743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02A4C"/>
                </a:solidFill>
                <a:latin typeface="Segoe UI"/>
              </a:rPr>
              <a:t>Risk posture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5020056"/>
            <a:ext cx="6035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D2430"/>
                </a:solidFill>
                <a:latin typeface="Segoe UI"/>
              </a:rPr>
              <a:t>endpoint and process risk scores (5 features)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5020056"/>
            <a:ext cx="1371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 i="0">
                <a:solidFill>
                  <a:srgbClr val="E87722"/>
                </a:solidFill>
                <a:latin typeface="Segoe UI"/>
              </a:rPr>
              <a:t>action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Segoe UI"/>
              </a:rPr>
              <a:t>Why these: an attacker on valid credentials betrays themselves not in one number but across zones at once. Identity sets the peer group; the four action zones carry the behavior we score against it.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702552"/>
            <a:ext cx="12191695" cy="15240"/>
          </a:xfrm>
          <a:prstGeom prst="rect">
            <a:avLst/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45566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E6A75"/>
                </a:solidFill>
                <a:latin typeface="Segoe UI"/>
              </a:rPr>
              <a:t>CONFIDENTIAL  |  22nd Century Technologies  |  V-Intelligence Behavioral UEBA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E6A75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062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02A4C"/>
                </a:solidFill>
                <a:latin typeface="Segoe UI"/>
              </a:rPr>
              <a:t>Aggregation: from Activity to a Comparable Window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5E6A75"/>
                </a:solidFill>
                <a:latin typeface="Segoe UI"/>
              </a:rPr>
              <a:t>Windowed so behavior can be compared over time and across peers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377440" cy="3810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5349240" cy="2743200"/>
          </a:xfrm>
          <a:prstGeom prst="rect">
            <a:avLst/>
          </a:prstGeom>
          <a:solidFill>
            <a:srgbClr val="EA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5349240" cy="594360"/>
          </a:xfrm>
          <a:prstGeom prst="rect">
            <a:avLst/>
          </a:prstGeom>
          <a:solidFill>
            <a:srgbClr val="1184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00784"/>
            <a:ext cx="5029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Today (proof-of-concept)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>
                <a:solidFill>
                  <a:srgbClr val="1D2430"/>
                </a:solidFill>
                <a:latin typeface="Segoe UI"/>
              </a:rPr>
              <a:t>•  Weekly aggregation across 485 days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1D2430"/>
                </a:solidFill>
                <a:latin typeface="Segoe UI"/>
              </a:rPr>
              <a:t>•  Long horizon proves slow-drift detection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1D2430"/>
                </a:solidFill>
                <a:latin typeface="Segoe UI"/>
              </a:rPr>
              <a:t>•  One trajectory point per entity per week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45920"/>
            <a:ext cx="5440680" cy="2743200"/>
          </a:xfrm>
          <a:prstGeom prst="rect">
            <a:avLst/>
          </a:prstGeom>
          <a:solidFill>
            <a:srgbClr val="FF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645920"/>
            <a:ext cx="5440680" cy="59436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00784"/>
            <a:ext cx="5029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Design 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4231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b="1">
                <a:solidFill>
                  <a:srgbClr val="E87722"/>
                </a:solidFill>
                <a:latin typeface="Segoe UI"/>
              </a:rPr>
              <a:t>•  Hourly aggregation for near-real-time detection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1D2430"/>
                </a:solidFill>
                <a:latin typeface="Segoe UI"/>
              </a:rPr>
              <a:t>•  Same pipeline, finer window: faster warning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1D2430"/>
                </a:solidFill>
                <a:latin typeface="Segoe UI"/>
              </a:rPr>
              <a:t>•  Shrinks dwell time from weeks toward hours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6344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102A4C"/>
                </a:solidFill>
                <a:latin typeface="Segoe UI"/>
              </a:rPr>
              <a:t>The method is window-agnostic. The current build aggregates weekly because the study spans 485 days and targets slow living-off-the-land drift; the same serialize-embed-compose-score pipeline runs at an hourly cadence to move detection closer to real time.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702552"/>
            <a:ext cx="12191695" cy="15240"/>
          </a:xfrm>
          <a:prstGeom prst="rect">
            <a:avLst/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5566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E6A75"/>
                </a:solidFill>
                <a:latin typeface="Segoe UI"/>
              </a:rPr>
              <a:t>CONFIDENTIAL  |  22nd Century Technologies  |  V-Intelligence Behavioral UEBA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E6A75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062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02A4C"/>
                </a:solidFill>
                <a:latin typeface="Segoe UI"/>
              </a:rPr>
              <a:t>End-to-End Flow: Activity to Verdict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2377440" cy="3810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2377440"/>
            <a:ext cx="1481328" cy="1371600"/>
          </a:xfrm>
          <a:prstGeom prst="rect">
            <a:avLst/>
          </a:prstGeom>
          <a:solidFill>
            <a:srgbClr val="5E6A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2487168"/>
            <a:ext cx="138988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Segoe UI"/>
              </a:rPr>
              <a:t>Activities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017520"/>
            <a:ext cx="13898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Segoe UI"/>
              </a:rPr>
              <a:t>logins, files,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Segoe UI"/>
              </a:rPr>
              <a:t>flows, DNS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847088" y="2880360"/>
            <a:ext cx="123444" cy="365760"/>
          </a:xfrm>
          <a:prstGeom prst="rightArrow">
            <a:avLst/>
          </a:prstGeom>
          <a:solidFill>
            <a:srgbClr val="5E6A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70532" y="2377440"/>
            <a:ext cx="1481328" cy="1371600"/>
          </a:xfrm>
          <a:prstGeom prst="rect">
            <a:avLst/>
          </a:prstGeom>
          <a:solidFill>
            <a:srgbClr val="1F5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6252" y="2487168"/>
            <a:ext cx="138988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Segoe UI"/>
              </a:rPr>
              <a:t>Input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6252" y="3017520"/>
            <a:ext cx="13898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Segoe UI"/>
              </a:rPr>
              <a:t>5 SIEM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Segoe UI"/>
              </a:rPr>
              <a:t>log sources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51860" y="2880360"/>
            <a:ext cx="123444" cy="365760"/>
          </a:xfrm>
          <a:prstGeom prst="rightArrow">
            <a:avLst/>
          </a:prstGeom>
          <a:solidFill>
            <a:srgbClr val="5E6A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75304" y="2377440"/>
            <a:ext cx="1481328" cy="1371600"/>
          </a:xfrm>
          <a:prstGeom prst="rect">
            <a:avLst/>
          </a:prstGeom>
          <a:solidFill>
            <a:srgbClr val="1184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2487168"/>
            <a:ext cx="138988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Segoe UI"/>
              </a:rPr>
              <a:t>Dimensions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3017520"/>
            <a:ext cx="13898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Segoe UI"/>
              </a:rPr>
              <a:t>grouped into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Segoe UI"/>
              </a:rPr>
              <a:t>5 zones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056632" y="2880360"/>
            <a:ext cx="123444" cy="365760"/>
          </a:xfrm>
          <a:prstGeom prst="rightArrow">
            <a:avLst/>
          </a:prstGeom>
          <a:solidFill>
            <a:srgbClr val="5E6A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80076" y="2377440"/>
            <a:ext cx="1481328" cy="1371600"/>
          </a:xfrm>
          <a:prstGeom prst="rect">
            <a:avLst/>
          </a:prstGeom>
          <a:solidFill>
            <a:srgbClr val="1A7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5796" y="2487168"/>
            <a:ext cx="138988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Segoe UI"/>
              </a:rPr>
              <a:t>Entity profile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25796" y="3017520"/>
            <a:ext cx="13898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Segoe UI"/>
              </a:rPr>
              <a:t>23 features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Segoe UI"/>
              </a:rPr>
              <a:t>per window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661404" y="2880360"/>
            <a:ext cx="123444" cy="365760"/>
          </a:xfrm>
          <a:prstGeom prst="rightArrow">
            <a:avLst/>
          </a:prstGeom>
          <a:solidFill>
            <a:srgbClr val="5E6A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84848" y="2377440"/>
            <a:ext cx="1481328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0568" y="2487168"/>
            <a:ext cx="138988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Segoe UI"/>
              </a:rPr>
              <a:t>Digital twin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017520"/>
            <a:ext cx="13898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Segoe UI"/>
              </a:rPr>
              <a:t>prose -&gt; vector,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Segoe UI"/>
              </a:rPr>
              <a:t>attention-fused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266176" y="2880360"/>
            <a:ext cx="123444" cy="365760"/>
          </a:xfrm>
          <a:prstGeom prst="rightArrow">
            <a:avLst/>
          </a:prstGeom>
          <a:solidFill>
            <a:srgbClr val="5E6A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89620" y="2377440"/>
            <a:ext cx="1481328" cy="137160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35340" y="2487168"/>
            <a:ext cx="138988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Segoe UI"/>
              </a:rPr>
              <a:t>Algorithms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35340" y="3017520"/>
            <a:ext cx="13898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Segoe UI"/>
              </a:rPr>
              <a:t>CUSUM + two-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Segoe UI"/>
              </a:rPr>
              <a:t>layer composite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870948" y="2880360"/>
            <a:ext cx="123444" cy="365760"/>
          </a:xfrm>
          <a:prstGeom prst="rightArrow">
            <a:avLst/>
          </a:prstGeom>
          <a:solidFill>
            <a:srgbClr val="5E6A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994392" y="2377440"/>
            <a:ext cx="1481328" cy="1371600"/>
          </a:xfrm>
          <a:prstGeom prst="rect">
            <a:avLst/>
          </a:prstGeom>
          <a:solidFill>
            <a:srgbClr val="C9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40112" y="2487168"/>
            <a:ext cx="138988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Segoe UI"/>
              </a:rPr>
              <a:t>Results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40112" y="3017520"/>
            <a:ext cx="13898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Segoe UI"/>
              </a:rPr>
              <a:t>ranked,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Segoe UI"/>
              </a:rPr>
              <a:t>explainable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20624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02A4C"/>
                </a:solidFill>
                <a:latin typeface="Segoe UI"/>
              </a:rPr>
              <a:t>One unbroken path: the raw events the SOC already has become one ranked, explainable verdict, with the reason and the MITRE direction attached.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937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1D2430"/>
                </a:solidFill>
                <a:latin typeface="Segoe UI"/>
              </a:rPr>
              <a:t>•  No new collection: it consumes existing logs.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D2430"/>
                </a:solidFill>
                <a:latin typeface="Segoe UI"/>
              </a:rPr>
              <a:t>•  No labels required: the twin is unsupervised.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D2430"/>
                </a:solidFill>
                <a:latin typeface="Segoe UI"/>
              </a:rPr>
              <a:t>•  Every score is traceable back to the behavior that caused it.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02552"/>
            <a:ext cx="12191695" cy="15240"/>
          </a:xfrm>
          <a:prstGeom prst="rect">
            <a:avLst/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45566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E6A75"/>
                </a:solidFill>
                <a:latin typeface="Segoe UI"/>
              </a:rPr>
              <a:t>CONFIDENTIAL  |  22nd Century Technologies  |  V-Intelligence Behavioral UEBA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E6A75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062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02A4C"/>
                </a:solidFill>
                <a:latin typeface="Segoe UI"/>
              </a:rPr>
              <a:t>How the Digital Twin Is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5E6A75"/>
                </a:solidFill>
                <a:latin typeface="Segoe UI"/>
              </a:rPr>
              <a:t>Raw metrics become meaning before they become math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377440" cy="3810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2651760" cy="1554480"/>
          </a:xfrm>
          <a:prstGeom prst="rect">
            <a:avLst/>
          </a:prstGeom>
          <a:solidFill>
            <a:srgbClr val="1184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874519"/>
            <a:ext cx="243230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Serialize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377440"/>
            <a:ext cx="24323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Segoe UI"/>
              </a:rPr>
              <a:t>each zone's features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Segoe UI"/>
              </a:rPr>
              <a:t>become a sentence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08960" y="2331720"/>
            <a:ext cx="146304" cy="365760"/>
          </a:xfrm>
          <a:prstGeom prst="rightArrow">
            <a:avLst/>
          </a:prstGeom>
          <a:solidFill>
            <a:srgbClr val="5E6A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55264" y="1737360"/>
            <a:ext cx="2651760" cy="1554480"/>
          </a:xfrm>
          <a:prstGeom prst="rect">
            <a:avLst/>
          </a:prstGeom>
          <a:solidFill>
            <a:srgbClr val="1F5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4992" y="1874519"/>
            <a:ext cx="243230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Embed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4992" y="2377440"/>
            <a:ext cx="24323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Segoe UI"/>
              </a:rPr>
              <a:t>each sentence -&gt;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Segoe UI"/>
              </a:rPr>
              <a:t>1536-d vector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07024" y="2331720"/>
            <a:ext cx="146304" cy="365760"/>
          </a:xfrm>
          <a:prstGeom prst="rightArrow">
            <a:avLst/>
          </a:prstGeom>
          <a:solidFill>
            <a:srgbClr val="5E6A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53328" y="1737360"/>
            <a:ext cx="2651760" cy="155448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63056" y="1874519"/>
            <a:ext cx="243230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Compose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63056" y="2377440"/>
            <a:ext cx="24323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Segoe UI"/>
              </a:rPr>
              <a:t>zones fused by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Segoe UI"/>
              </a:rPr>
              <a:t>attention weight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05088" y="2331720"/>
            <a:ext cx="146304" cy="365760"/>
          </a:xfrm>
          <a:prstGeom prst="rightArrow">
            <a:avLst/>
          </a:prstGeom>
          <a:solidFill>
            <a:srgbClr val="5E6A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51392" y="1737360"/>
            <a:ext cx="2651760" cy="1554480"/>
          </a:xfrm>
          <a:prstGeom prst="rect">
            <a:avLst/>
          </a:prstGeom>
          <a:solidFill>
            <a:srgbClr val="1A7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1874519"/>
            <a:ext cx="243230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Trajectory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377440"/>
            <a:ext cx="24323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Segoe UI"/>
              </a:rPr>
              <a:t>one twin per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Segoe UI"/>
              </a:rPr>
              <a:t>window, over 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749039"/>
            <a:ext cx="11155680" cy="2103120"/>
          </a:xfrm>
          <a:prstGeom prst="rect">
            <a:avLst/>
          </a:prstGeom>
          <a:solidFill>
            <a:srgbClr val="EC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749039"/>
            <a:ext cx="164592" cy="210312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3192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 b="1">
                <a:solidFill>
                  <a:srgbClr val="102A4C"/>
                </a:solidFill>
                <a:latin typeface="Segoe UI"/>
              </a:rPr>
              <a:t>•  Meaning over magnitude: "47 files" becomes "reaching far more sensitive data than peers, and widening."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1D2430"/>
                </a:solidFill>
                <a:latin typeface="Segoe UI"/>
              </a:rPr>
              <a:t>•  Composition, not concatenation: zones are fused by attention weight, so the signal that matters dominates.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1D2430"/>
                </a:solidFill>
                <a:latin typeface="Segoe UI"/>
              </a:rPr>
              <a:t>•  Drift is direction in meaning-space: the cosine distance between successive twins, tracked over time.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02552"/>
            <a:ext cx="12191695" cy="15240"/>
          </a:xfrm>
          <a:prstGeom prst="rect">
            <a:avLst/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45566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E6A75"/>
                </a:solidFill>
                <a:latin typeface="Segoe UI"/>
              </a:rPr>
              <a:t>CONFIDENTIAL  |  22nd Century Technologies  |  V-Intelligence Behavioral UEBA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E6A75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062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02A4C"/>
                </a:solidFill>
                <a:latin typeface="Segoe UI"/>
              </a:rPr>
              <a:t>The Algorithms: Two Complementary Layers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5E6A75"/>
                </a:solidFill>
                <a:latin typeface="Segoe UI"/>
              </a:rPr>
              <a:t>Precision first, discovery alongside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377440" cy="3810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4206240"/>
          </a:xfrm>
          <a:prstGeom prst="rect">
            <a:avLst/>
          </a:prstGeom>
          <a:solidFill>
            <a:srgbClr val="FF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5394960" cy="68580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27632"/>
            <a:ext cx="5029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Layer A -- Precision (production)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102A4C"/>
                </a:solidFill>
                <a:latin typeface="Segoe UI"/>
              </a:rPr>
              <a:t>•  Multi-front threat-profile detector.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D2430"/>
                </a:solidFill>
                <a:latin typeface="Segoe UI"/>
              </a:rPr>
              <a:t>•  Matches entities to named known-bad fingerprints (mass collection, C2 beacon, DGA, recon fan-out, LOTL).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D2430"/>
                </a:solidFill>
                <a:latin typeface="Segoe UI"/>
              </a:rPr>
              <a:t>•  Scored against role-group peers; fires only on a corroborated match.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E87722"/>
                </a:solidFill>
                <a:latin typeface="Segoe UI"/>
              </a:rPr>
              <a:t>•  Result: 4 of 4 attackers at 0 false positives.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554480"/>
            <a:ext cx="5440680" cy="4206240"/>
          </a:xfrm>
          <a:prstGeom prst="rect">
            <a:avLst/>
          </a:prstGeom>
          <a:solidFill>
            <a:srgbClr val="EA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554480"/>
            <a:ext cx="5440680" cy="685800"/>
          </a:xfrm>
          <a:prstGeom prst="rect">
            <a:avLst/>
          </a:prstGeom>
          <a:solidFill>
            <a:srgbClr val="1184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627632"/>
            <a:ext cx="5029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Layer B -- Discovery (the twin)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3774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102A4C"/>
                </a:solidFill>
                <a:latin typeface="Segoe UI"/>
              </a:rPr>
              <a:t>•  CUSUM accumulates slow drift that no single week would trip.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D2430"/>
                </a:solidFill>
                <a:latin typeface="Segoe UI"/>
              </a:rPr>
              <a:t>•  Direction projected onto MITRE ATT&amp;CK concepts: names where the entity is heading.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D2430"/>
                </a:solidFill>
                <a:latin typeface="Segoe UI"/>
              </a:rPr>
              <a:t>•  Composite score ranks every entity, no fingerprint needed.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18484"/>
                </a:solidFill>
                <a:latin typeface="Segoe UI"/>
              </a:rPr>
              <a:t>•  Surfaces 4 of 4 by rank where classical methods catch 0 of 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702552"/>
            <a:ext cx="12191695" cy="15240"/>
          </a:xfrm>
          <a:prstGeom prst="rect">
            <a:avLst/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5566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E6A75"/>
                </a:solidFill>
                <a:latin typeface="Segoe UI"/>
              </a:rPr>
              <a:t>CONFIDENTIAL  |  22nd Century Technologies  |  V-Intelligence Behavioral UEBA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E6A75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062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02A4C"/>
                </a:solidFill>
                <a:latin typeface="Segoe UI"/>
              </a:rPr>
              <a:t>Slow Drift, Made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5E6A75"/>
                </a:solidFill>
                <a:latin typeface="Segoe UI"/>
              </a:rPr>
              <a:t>Real trajectory: what CUSUM accumulates that a weekly threshold never trips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377440" cy="3810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eba_cus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7955279" cy="292188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641080" y="1600200"/>
            <a:ext cx="3063240" cy="3017520"/>
          </a:xfrm>
          <a:prstGeom prst="rect">
            <a:avLst/>
          </a:prstGeom>
          <a:solidFill>
            <a:srgbClr val="EC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41080" y="1600200"/>
            <a:ext cx="146304" cy="301752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102A4C"/>
                </a:solidFill>
                <a:latin typeface="Segoe UI"/>
              </a:rPr>
              <a:t>•  Each week's drift is small, below any alert line.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1D2430"/>
                </a:solidFill>
                <a:latin typeface="Segoe UI"/>
              </a:rPr>
              <a:t>•  CUSUM sums the small, persistent pushes.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E87722"/>
                </a:solidFill>
                <a:latin typeface="Segoe UI"/>
              </a:rPr>
              <a:t>•  It crosses the fire line and stays, so the slow operator is caught while still inside.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76072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102A4C"/>
                </a:solidFill>
                <a:latin typeface="Segoe UI"/>
              </a:rPr>
              <a:t>This is the signal classical point-anomaly methods miss: no single week is anomalous, but the direction is, sustained and accumulating.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02552"/>
            <a:ext cx="12191695" cy="15240"/>
          </a:xfrm>
          <a:prstGeom prst="rect">
            <a:avLst/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45566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E6A75"/>
                </a:solidFill>
                <a:latin typeface="Segoe UI"/>
              </a:rPr>
              <a:t>CONFIDENTIAL  |  22nd Century Technologies  |  V-Intelligence Behavioral UEBA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E6A75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062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02A4C"/>
                </a:solidFill>
                <a:latin typeface="Segoe UI"/>
              </a:rPr>
              <a:t>Results: the Blind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5E6A75"/>
                </a:solidFill>
                <a:latin typeface="Segoe UI"/>
              </a:rPr>
              <a:t>Four nation-state-style attackers hidden among 250 entities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377440" cy="3810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08760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Catches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Note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Precision detector (Layer 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4 of 4 at 0 false positives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named fingerprint per attacker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Discovery twin (Layer 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4 of 4 by rank (10.6% operating point)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no fingerprint; names MITRE direction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Isolation Forest / One-Class SVM / LOF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0 of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point-anomaly, no behavior over time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Z-score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1 of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Segoe UI"/>
                        </a:rPr>
                        <a:t>magnitude only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97680"/>
            <a:ext cx="11155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D2430"/>
                </a:solidFill>
                <a:latin typeface="Segoe UI"/>
              </a:rPr>
              <a:t>•  Insider caught by mass collection + rare destinations; Slow APT by a 386-day C2 beacon + 160 DGA domains.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D2430"/>
                </a:solidFill>
                <a:latin typeface="Segoe UI"/>
              </a:rPr>
              <a:t>•  Living-off-the-land operator caught by anomalous process use; telecom-pivot by reconnaissance fan-out.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5E6A75"/>
                </a:solidFill>
                <a:latin typeface="Segoe UI"/>
              </a:rPr>
              <a:t>Controlled, synthetic-data proof-of-concept (250 entities, 485 days). Indicative, not a guarantee of field performance.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02552"/>
            <a:ext cx="12191695" cy="15240"/>
          </a:xfrm>
          <a:prstGeom prst="rect">
            <a:avLst/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5566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E6A75"/>
                </a:solidFill>
                <a:latin typeface="Segoe UI"/>
              </a:rPr>
              <a:t>CONFIDENTIAL  |  22nd Century Technologies  |  V-Intelligence Behavioral UEBA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E6A75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062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102A4C"/>
                </a:solidFill>
                <a:latin typeface="Segoe UI"/>
              </a:rPr>
              <a:t>What This Gives the SOC Analyst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5E6A75"/>
                </a:solidFill>
                <a:latin typeface="Segoe UI"/>
              </a:rPr>
              <a:t>Less noise, earlier warning, a verdict you can act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377440" cy="3810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3703320" cy="3108960"/>
          </a:xfrm>
          <a:prstGeom prst="rect">
            <a:avLst/>
          </a:prstGeom>
          <a:solidFill>
            <a:srgbClr val="EC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3703320" cy="73152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3383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Workload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3383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D2430"/>
                </a:solidFill>
                <a:latin typeface="Segoe UI"/>
              </a:rPr>
              <a:t>One ranked queue, not a flood. The analyst sees the few entities that matter, each already explained.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24528" y="1645920"/>
            <a:ext cx="3703320" cy="3108960"/>
          </a:xfrm>
          <a:prstGeom prst="rect">
            <a:avLst/>
          </a:prstGeom>
          <a:solidFill>
            <a:srgbClr val="EC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24528" y="1645920"/>
            <a:ext cx="3703320" cy="731520"/>
          </a:xfrm>
          <a:prstGeom prst="rect">
            <a:avLst/>
          </a:prstGeom>
          <a:solidFill>
            <a:srgbClr val="1184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07408" y="1737360"/>
            <a:ext cx="3383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Quick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7408" y="2606040"/>
            <a:ext cx="3383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D2430"/>
                </a:solidFill>
                <a:latin typeface="Segoe UI"/>
              </a:rPr>
              <a:t>Slow, valid-account drift is caught while it builds, not after exfiltration. CUSUM warns weeks early.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91856" y="1645920"/>
            <a:ext cx="3703320" cy="3108960"/>
          </a:xfrm>
          <a:prstGeom prst="rect">
            <a:avLst/>
          </a:prstGeom>
          <a:solidFill>
            <a:srgbClr val="EC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91856" y="1645920"/>
            <a:ext cx="3703320" cy="731520"/>
          </a:xfrm>
          <a:prstGeom prst="rect">
            <a:avLst/>
          </a:prstGeom>
          <a:solidFill>
            <a:srgbClr val="1F5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6" y="1737360"/>
            <a:ext cx="3383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6" y="2606040"/>
            <a:ext cx="3383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D2430"/>
                </a:solidFill>
                <a:latin typeface="Segoe UI"/>
              </a:rPr>
              <a:t>Every alert carries its reason and a MITRE direction, so triage starts at "what and where," not "is this real?"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74920"/>
            <a:ext cx="111556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 i="0">
                <a:solidFill>
                  <a:srgbClr val="102A4C"/>
                </a:solidFill>
                <a:latin typeface="Segoe UI"/>
              </a:rPr>
              <a:t>The shift: from chasing thousands of magnitude alerts to acting on a short, ranked, explainable list, so the analyst spends time on response, not triage.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702552"/>
            <a:ext cx="12191695" cy="15240"/>
          </a:xfrm>
          <a:prstGeom prst="rect">
            <a:avLst/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45566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E6A75"/>
                </a:solidFill>
                <a:latin typeface="Segoe UI"/>
              </a:rPr>
              <a:t>CONFIDENTIAL  |  22nd Century Technologies  |  V-Intelligence Behavioral UEBA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E6A75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2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3810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87722"/>
                </a:solidFill>
                <a:latin typeface="Segoe UI"/>
              </a:rPr>
              <a:t>THE BEHAVIORAL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FFFFFF"/>
                </a:solidFill>
                <a:latin typeface="Segoe UI"/>
              </a:rPr>
              <a:t>•  Reads behavior as meaning, not magnitude, from the logs you already collect.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FFFFFF"/>
                </a:solidFill>
                <a:latin typeface="Segoe UI"/>
              </a:rPr>
              <a:t>•  Catches the valid-account, living-off-the-land attacker that crosses no threshold.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FFFFFF"/>
                </a:solidFill>
                <a:latin typeface="Segoe UI"/>
              </a:rPr>
              <a:t>•  Precision layer at 0 false positives; discovery twin that needs no prior fingerprint.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FFFFFF"/>
                </a:solidFill>
                <a:latin typeface="Segoe UI"/>
              </a:rPr>
              <a:t>•  Hands the analyst a ranked, explainable verdict with its MITRE direction attached.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57784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87722"/>
                </a:solidFill>
                <a:latin typeface="Segoe UI"/>
              </a:rPr>
              <a:t>From detect-and-respond, too late, to read-the-meaning and warn early.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02552"/>
            <a:ext cx="12191695" cy="15240"/>
          </a:xfrm>
          <a:prstGeom prst="rect">
            <a:avLst/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E6A75"/>
                </a:solidFill>
                <a:latin typeface="Segoe UI"/>
              </a:rPr>
              <a:t>CONFIDENTIAL  |  22nd Century Technologies  |  V-Intelligence Behavioral UEBA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E6A75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