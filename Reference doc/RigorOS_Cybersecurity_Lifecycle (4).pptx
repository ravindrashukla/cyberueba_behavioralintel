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12801600"/>
  <p:notesSz cx="128016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The cybersecurity lifecycle: preemptive vs. reactive</a:t>
            </a:r>
            <a:endParaRPr lang="en-US" sz="24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algn="ctr" indent="0" marL="0">
              <a:buNone/>
            </a:pPr>
            <a:r>
              <a:rPr lang="en-US" sz="1200" dirty="0">
                <a:solidFill>
                  <a:srgbClr val="888780"/>
                </a:solidFill>
                <a:latin typeface="Arial" pitchFamily="34" charset="0"/>
                <a:ea typeface="Arial" pitchFamily="34" charset="-122"/>
                <a:cs typeface="Arial" pitchFamily="34" charset="-120"/>
              </a:rPr>
              <a:t>Where attacks are neutralized — and where RigorOS fills the structural gap no reactive tool can address</a:t>
            </a:r>
            <a:endParaRPr lang="en-US" sz="1200" dirty="0"/>
          </a:p>
        </p:txBody>
      </p:sp>
      <p:sp>
        <p:nvSpPr>
          <p:cNvPr id="4" name="Shape 2"/>
          <p:cNvSpPr/>
          <p:nvPr/>
        </p:nvSpPr>
        <p:spPr>
          <a:xfrm>
            <a:off x="457200" y="1097280"/>
            <a:ext cx="8229600" cy="2651760"/>
          </a:xfrm>
          <a:prstGeom prst="roundRect">
            <a:avLst>
              <a:gd name="adj" fmla="val 5172"/>
            </a:avLst>
          </a:prstGeom>
          <a:solidFill>
            <a:srgbClr val="FFFFFF"/>
          </a:solidFill>
          <a:ln w="25400">
            <a:solidFill>
              <a:srgbClr val="1D9E75"/>
            </a:solidFill>
            <a:prstDash val="dash"/>
          </a:ln>
        </p:spPr>
      </p:sp>
      <p:sp>
        <p:nvSpPr>
          <p:cNvPr id="5" name="Text 3"/>
          <p:cNvSpPr/>
          <p:nvPr/>
        </p:nvSpPr>
        <p:spPr>
          <a:xfrm>
            <a:off x="685800" y="1188720"/>
            <a:ext cx="4572000" cy="256032"/>
          </a:xfrm>
          <a:prstGeom prst="rect">
            <a:avLst/>
          </a:prstGeom>
          <a:noFill/>
          <a:ln/>
        </p:spPr>
        <p:txBody>
          <a:bodyPr wrap="square" lIns="0" tIns="0" rIns="0" bIns="0" rtlCol="0" anchor="ctr"/>
          <a:lstStyle/>
          <a:p>
            <a:pPr indent="0" marL="0">
              <a:buNone/>
            </a:pPr>
            <a:r>
              <a:rPr lang="en-US" sz="1400" b="1" dirty="0">
                <a:solidFill>
                  <a:srgbClr val="0F6E56"/>
                </a:solidFill>
                <a:latin typeface="Arial" pitchFamily="34" charset="0"/>
                <a:ea typeface="Arial" pitchFamily="34" charset="-122"/>
                <a:cs typeface="Arial" pitchFamily="34" charset="-120"/>
              </a:rPr>
              <a:t>Stage 1: Preempt &amp; prove</a:t>
            </a:r>
            <a:endParaRPr lang="en-US" sz="1400" dirty="0"/>
          </a:p>
        </p:txBody>
      </p:sp>
      <p:sp>
        <p:nvSpPr>
          <p:cNvPr id="6" name="Text 4"/>
          <p:cNvSpPr/>
          <p:nvPr/>
        </p:nvSpPr>
        <p:spPr>
          <a:xfrm>
            <a:off x="4572000" y="1188720"/>
            <a:ext cx="3931920" cy="256032"/>
          </a:xfrm>
          <a:prstGeom prst="rect">
            <a:avLst/>
          </a:prstGeom>
          <a:noFill/>
          <a:ln/>
        </p:spPr>
        <p:txBody>
          <a:bodyPr wrap="square" lIns="0" tIns="0" rIns="0" bIns="0" rtlCol="0" anchor="ctr"/>
          <a:lstStyle/>
          <a:p>
            <a:pPr algn="r" indent="0" marL="0">
              <a:buNone/>
            </a:pPr>
            <a:r>
              <a:rPr lang="en-US" sz="1100" dirty="0">
                <a:solidFill>
                  <a:srgbClr val="1D9E75"/>
                </a:solidFill>
                <a:latin typeface="Arial" pitchFamily="34" charset="0"/>
                <a:ea typeface="Arial" pitchFamily="34" charset="-122"/>
                <a:cs typeface="Arial" pitchFamily="34" charset="-120"/>
              </a:rPr>
              <a:t>The missing layer — before any traffic flows</a:t>
            </a:r>
            <a:endParaRPr lang="en-US" sz="1100" dirty="0"/>
          </a:p>
        </p:txBody>
      </p:sp>
      <p:sp>
        <p:nvSpPr>
          <p:cNvPr id="7" name="Shape 5"/>
          <p:cNvSpPr/>
          <p:nvPr/>
        </p:nvSpPr>
        <p:spPr>
          <a:xfrm>
            <a:off x="731520" y="1600200"/>
            <a:ext cx="1280160" cy="1280160"/>
          </a:xfrm>
          <a:prstGeom prst="ellipse">
            <a:avLst/>
          </a:prstGeom>
          <a:solidFill>
            <a:srgbClr val="E1F5EE"/>
          </a:solidFill>
          <a:ln w="19050">
            <a:solidFill>
              <a:srgbClr val="1D9E75"/>
            </a:solidFill>
            <a:prstDash val="solid"/>
          </a:ln>
        </p:spPr>
      </p:sp>
      <p:sp>
        <p:nvSpPr>
          <p:cNvPr id="8" name="Text 6"/>
          <p:cNvSpPr/>
          <p:nvPr/>
        </p:nvSpPr>
        <p:spPr>
          <a:xfrm>
            <a:off x="731520" y="1691640"/>
            <a:ext cx="1280160" cy="640080"/>
          </a:xfrm>
          <a:prstGeom prst="rect">
            <a:avLst/>
          </a:prstGeom>
          <a:noFill/>
          <a:ln/>
        </p:spPr>
        <p:txBody>
          <a:bodyPr wrap="square" lIns="0" tIns="0" rIns="0" bIns="0" rtlCol="0" anchor="ctr"/>
          <a:lstStyle/>
          <a:p>
            <a:pPr algn="ctr" indent="0" marL="0">
              <a:buNone/>
            </a:pPr>
            <a:r>
              <a:rPr lang="en-US" sz="2800" b="1" dirty="0">
                <a:solidFill>
                  <a:srgbClr val="0F6E56"/>
                </a:solidFill>
                <a:latin typeface="Arial" pitchFamily="34" charset="0"/>
                <a:ea typeface="Arial" pitchFamily="34" charset="-122"/>
                <a:cs typeface="Arial" pitchFamily="34" charset="-120"/>
              </a:rPr>
              <a:t>~85%</a:t>
            </a:r>
            <a:endParaRPr lang="en-US" sz="2800" dirty="0"/>
          </a:p>
        </p:txBody>
      </p:sp>
      <p:sp>
        <p:nvSpPr>
          <p:cNvPr id="9" name="Text 7"/>
          <p:cNvSpPr/>
          <p:nvPr/>
        </p:nvSpPr>
        <p:spPr>
          <a:xfrm>
            <a:off x="731520" y="2331720"/>
            <a:ext cx="1280160" cy="457200"/>
          </a:xfrm>
          <a:prstGeom prst="rect">
            <a:avLst/>
          </a:prstGeom>
          <a:noFill/>
          <a:ln/>
        </p:spPr>
        <p:txBody>
          <a:bodyPr wrap="square" lIns="0" tIns="0" rIns="0" bIns="0" rtlCol="0" anchor="t"/>
          <a:lstStyle/>
          <a:p>
            <a:pPr algn="ctr" indent="0" marL="0">
              <a:buNone/>
            </a:pPr>
            <a:r>
              <a:rPr lang="en-US" sz="850" dirty="0">
                <a:solidFill>
                  <a:srgbClr val="1D9E75"/>
                </a:solidFill>
                <a:latin typeface="Arial" pitchFamily="34" charset="0"/>
                <a:ea typeface="Arial" pitchFamily="34" charset="-122"/>
                <a:cs typeface="Arial" pitchFamily="34" charset="-120"/>
              </a:rPr>
              <a:t>of attack</a:t>
            </a:r>
            <a:endParaRPr lang="en-US" sz="850" dirty="0"/>
          </a:p>
          <a:p>
            <a:pPr algn="ctr" indent="0" marL="0">
              <a:buNone/>
            </a:pPr>
            <a:r>
              <a:rPr lang="en-US" sz="850" dirty="0">
                <a:solidFill>
                  <a:srgbClr val="1D9E75"/>
                </a:solidFill>
                <a:latin typeface="Arial" pitchFamily="34" charset="0"/>
                <a:ea typeface="Arial" pitchFamily="34" charset="-122"/>
                <a:cs typeface="Arial" pitchFamily="34" charset="-120"/>
              </a:rPr>
              <a:t>surface</a:t>
            </a:r>
            <a:endParaRPr lang="en-US" sz="850" dirty="0"/>
          </a:p>
          <a:p>
            <a:pPr algn="ctr" indent="0" marL="0">
              <a:buNone/>
            </a:pPr>
            <a:r>
              <a:rPr lang="en-US" sz="850" dirty="0">
                <a:solidFill>
                  <a:srgbClr val="1D9E75"/>
                </a:solidFill>
                <a:latin typeface="Arial" pitchFamily="34" charset="0"/>
                <a:ea typeface="Arial" pitchFamily="34" charset="-122"/>
                <a:cs typeface="Arial" pitchFamily="34" charset="-120"/>
              </a:rPr>
              <a:t>eliminated*</a:t>
            </a:r>
            <a:endParaRPr lang="en-US" sz="850" dirty="0"/>
          </a:p>
        </p:txBody>
      </p:sp>
      <p:sp>
        <p:nvSpPr>
          <p:cNvPr id="10" name="Shape 8"/>
          <p:cNvSpPr/>
          <p:nvPr/>
        </p:nvSpPr>
        <p:spPr>
          <a:xfrm>
            <a:off x="2194560" y="1600200"/>
            <a:ext cx="6263640" cy="1965960"/>
          </a:xfrm>
          <a:prstGeom prst="roundRect">
            <a:avLst>
              <a:gd name="adj" fmla="val 4651"/>
            </a:avLst>
          </a:prstGeom>
          <a:solidFill>
            <a:srgbClr val="E1F5EE"/>
          </a:solidFill>
          <a:ln w="9525">
            <a:solidFill>
              <a:srgbClr val="1D9E75"/>
            </a:solidFill>
            <a:prstDash val="solid"/>
          </a:ln>
        </p:spPr>
      </p:sp>
      <p:sp>
        <p:nvSpPr>
          <p:cNvPr id="11" name="Text 9"/>
          <p:cNvSpPr/>
          <p:nvPr/>
        </p:nvSpPr>
        <p:spPr>
          <a:xfrm>
            <a:off x="2377440" y="1664208"/>
            <a:ext cx="5943600" cy="256032"/>
          </a:xfrm>
          <a:prstGeom prst="rect">
            <a:avLst/>
          </a:prstGeom>
          <a:noFill/>
          <a:ln/>
        </p:spPr>
        <p:txBody>
          <a:bodyPr wrap="square" lIns="0" tIns="0" rIns="0" bIns="0" rtlCol="0" anchor="ctr"/>
          <a:lstStyle/>
          <a:p>
            <a:pPr indent="0" marL="0">
              <a:buNone/>
            </a:pPr>
            <a:r>
              <a:rPr lang="en-US" sz="1400" b="1" dirty="0">
                <a:solidFill>
                  <a:srgbClr val="085041"/>
                </a:solidFill>
                <a:latin typeface="Arial" pitchFamily="34" charset="0"/>
                <a:ea typeface="Arial" pitchFamily="34" charset="-122"/>
                <a:cs typeface="Arial" pitchFamily="34" charset="-120"/>
              </a:rPr>
              <a:t>RigorOS — preemptive posture assurance</a:t>
            </a:r>
            <a:endParaRPr lang="en-US" sz="1400" dirty="0"/>
          </a:p>
        </p:txBody>
      </p:sp>
      <p:sp>
        <p:nvSpPr>
          <p:cNvPr id="12" name="Text 10"/>
          <p:cNvSpPr/>
          <p:nvPr/>
        </p:nvSpPr>
        <p:spPr>
          <a:xfrm>
            <a:off x="2377440" y="1938528"/>
            <a:ext cx="5943600" cy="256032"/>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Attack Intelligence: </a:t>
            </a:r>
            <a:pPr indent="0" marL="0">
              <a:buNone/>
            </a:pPr>
            <a:r>
              <a:rPr lang="en-US" sz="950" dirty="0">
                <a:solidFill>
                  <a:srgbClr val="0F6E56"/>
                </a:solidFill>
                <a:latin typeface="Arial" pitchFamily="34" charset="0"/>
                <a:ea typeface="Arial" pitchFamily="34" charset="-122"/>
                <a:cs typeface="Arial" pitchFamily="34" charset="-120"/>
              </a:rPr>
              <a:t>LLMs + NLP ingest threat intel (CVEs, IOCs, IOAs) to build deep MITRE ATT&amp;CK attack graphs</a:t>
            </a:r>
            <a:endParaRPr lang="en-US" sz="950" dirty="0"/>
          </a:p>
        </p:txBody>
      </p:sp>
      <p:sp>
        <p:nvSpPr>
          <p:cNvPr id="13" name="Text 11"/>
          <p:cNvSpPr/>
          <p:nvPr/>
        </p:nvSpPr>
        <p:spPr>
          <a:xfrm>
            <a:off x="2377440" y="2212848"/>
            <a:ext cx="5943600" cy="256032"/>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Defense Intelligence: </a:t>
            </a:r>
            <a:pPr indent="0" marL="0">
              <a:buNone/>
            </a:pPr>
            <a:r>
              <a:rPr lang="en-US" sz="950" dirty="0">
                <a:solidFill>
                  <a:srgbClr val="0F6E56"/>
                </a:solidFill>
                <a:latin typeface="Arial" pitchFamily="34" charset="0"/>
                <a:ea typeface="Arial" pitchFamily="34" charset="-122"/>
                <a:cs typeface="Arial" pitchFamily="34" charset="-120"/>
              </a:rPr>
              <a:t>Formal mathematical model of all NGFW configs (100K+ states, 2⁸⁰⁰⁰ defense space) — no sampling</a:t>
            </a:r>
            <a:endParaRPr lang="en-US" sz="950" dirty="0"/>
          </a:p>
        </p:txBody>
      </p:sp>
      <p:sp>
        <p:nvSpPr>
          <p:cNvPr id="14" name="Text 12"/>
          <p:cNvSpPr/>
          <p:nvPr/>
        </p:nvSpPr>
        <p:spPr>
          <a:xfrm>
            <a:off x="2377440" y="2487168"/>
            <a:ext cx="5943600" cy="256032"/>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Remediation Intelligence: </a:t>
            </a:r>
            <a:pPr indent="0" marL="0">
              <a:buNone/>
            </a:pPr>
            <a:r>
              <a:rPr lang="en-US" sz="950" dirty="0">
                <a:solidFill>
                  <a:srgbClr val="0F6E56"/>
                </a:solidFill>
                <a:latin typeface="Arial" pitchFamily="34" charset="0"/>
                <a:ea typeface="Arial" pitchFamily="34" charset="-122"/>
                <a:cs typeface="Arial" pitchFamily="34" charset="-120"/>
              </a:rPr>
              <a:t>Guardrailed agentic-AI reasoner prescribes vendor-specific, risk-prioritized fixes — no new errors</a:t>
            </a:r>
            <a:endParaRPr lang="en-US" sz="950" dirty="0"/>
          </a:p>
        </p:txBody>
      </p:sp>
      <p:sp>
        <p:nvSpPr>
          <p:cNvPr id="15" name="Text 13"/>
          <p:cNvSpPr/>
          <p:nvPr/>
        </p:nvSpPr>
        <p:spPr>
          <a:xfrm>
            <a:off x="2377440" y="2761488"/>
            <a:ext cx="5943600" cy="256032"/>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Finds: </a:t>
            </a:r>
            <a:pPr indent="0" marL="0">
              <a:buNone/>
            </a:pPr>
            <a:r>
              <a:rPr lang="en-US" sz="900" dirty="0">
                <a:solidFill>
                  <a:srgbClr val="0F6E56"/>
                </a:solidFill>
                <a:latin typeface="Arial" pitchFamily="34" charset="0"/>
                <a:ea typeface="Arial" pitchFamily="34" charset="-122"/>
                <a:cs typeface="Arial" pitchFamily="34" charset="-120"/>
              </a:rPr>
              <a:t>shadows, conflicts, weak rules, redundancies, missing threat profiles, intent errors, translation errors, multi-rule/multi-device errors</a:t>
            </a:r>
            <a:endParaRPr lang="en-US" sz="900" dirty="0"/>
          </a:p>
        </p:txBody>
      </p:sp>
      <p:sp>
        <p:nvSpPr>
          <p:cNvPr id="16" name="Text 14"/>
          <p:cNvSpPr/>
          <p:nvPr/>
        </p:nvSpPr>
        <p:spPr>
          <a:xfrm>
            <a:off x="2377440" y="3063240"/>
            <a:ext cx="5943600" cy="201168"/>
          </a:xfrm>
          <a:prstGeom prst="rect">
            <a:avLst/>
          </a:prstGeom>
          <a:noFill/>
          <a:ln/>
        </p:spPr>
        <p:txBody>
          <a:bodyPr wrap="square" lIns="0" tIns="0" rIns="0" bIns="0" rtlCol="0" anchor="ctr"/>
          <a:lstStyle/>
          <a:p>
            <a:pPr indent="0" marL="0">
              <a:buNone/>
            </a:pPr>
            <a:r>
              <a:rPr lang="en-US" sz="850" i="1" dirty="0">
                <a:solidFill>
                  <a:srgbClr val="1D9E75"/>
                </a:solidFill>
                <a:latin typeface="Arial" pitchFamily="34" charset="0"/>
                <a:ea typeface="Arial" pitchFamily="34" charset="-122"/>
                <a:cs typeface="Arial" pitchFamily="34" charset="-120"/>
              </a:rPr>
              <a:t>99% of firewall breaches are caused by misconfiguration, not flaws in the firewall itself ¹</a:t>
            </a:r>
            <a:endParaRPr lang="en-US" sz="850" dirty="0"/>
          </a:p>
        </p:txBody>
      </p:sp>
      <p:sp>
        <p:nvSpPr>
          <p:cNvPr id="17" name="Text 15"/>
          <p:cNvSpPr/>
          <p:nvPr/>
        </p:nvSpPr>
        <p:spPr>
          <a:xfrm>
            <a:off x="2377440" y="3273552"/>
            <a:ext cx="5943600" cy="201168"/>
          </a:xfrm>
          <a:prstGeom prst="rect">
            <a:avLst/>
          </a:prstGeom>
          <a:noFill/>
          <a:ln/>
        </p:spPr>
        <p:txBody>
          <a:bodyPr wrap="square" lIns="0" tIns="0" rIns="0" bIns="0" rtlCol="0" anchor="ctr"/>
          <a:lstStyle/>
          <a:p>
            <a:pPr indent="0" marL="0">
              <a:buNone/>
            </a:pPr>
            <a:r>
              <a:rPr lang="en-US" sz="850" b="1" dirty="0">
                <a:solidFill>
                  <a:srgbClr val="085041"/>
                </a:solidFill>
                <a:latin typeface="Arial" pitchFamily="34" charset="0"/>
                <a:ea typeface="Arial" pitchFamily="34" charset="-122"/>
                <a:cs typeface="Arial" pitchFamily="34" charset="-120"/>
              </a:rPr>
              <a:t>No telemetry • No agents • Config-only pull • Zero false positives • Time to value &lt; 4 weeks</a:t>
            </a:r>
            <a:endParaRPr lang="en-US" sz="850" dirty="0"/>
          </a:p>
        </p:txBody>
      </p:sp>
      <p:sp>
        <p:nvSpPr>
          <p:cNvPr id="18" name="Shape 16"/>
          <p:cNvSpPr/>
          <p:nvPr/>
        </p:nvSpPr>
        <p:spPr>
          <a:xfrm>
            <a:off x="4572000" y="3749040"/>
            <a:ext cx="0" cy="320040"/>
          </a:xfrm>
          <a:prstGeom prst="line">
            <a:avLst/>
          </a:prstGeom>
          <a:noFill/>
          <a:ln w="25400">
            <a:solidFill>
              <a:srgbClr val="1D9E75"/>
            </a:solidFill>
            <a:prstDash val="solid"/>
            <a:tailEnd type="triangle"/>
          </a:ln>
        </p:spPr>
      </p:sp>
      <p:sp>
        <p:nvSpPr>
          <p:cNvPr id="19" name="Text 17"/>
          <p:cNvSpPr/>
          <p:nvPr/>
        </p:nvSpPr>
        <p:spPr>
          <a:xfrm>
            <a:off x="4754880" y="3794760"/>
            <a:ext cx="3200400" cy="201168"/>
          </a:xfrm>
          <a:prstGeom prst="rect">
            <a:avLst/>
          </a:prstGeom>
          <a:noFill/>
          <a:ln/>
        </p:spPr>
        <p:txBody>
          <a:bodyPr wrap="square" lIns="0" tIns="0" rIns="0" bIns="0" rtlCol="0" anchor="ctr"/>
          <a:lstStyle/>
          <a:p>
            <a:pPr indent="0" marL="0">
              <a:buNone/>
            </a:pPr>
            <a:r>
              <a:rPr lang="en-US" sz="1000" dirty="0">
                <a:solidFill>
                  <a:srgbClr val="1D9E75"/>
                </a:solidFill>
                <a:latin typeface="Arial" pitchFamily="34" charset="0"/>
                <a:ea typeface="Arial" pitchFamily="34" charset="-122"/>
                <a:cs typeface="Arial" pitchFamily="34" charset="-120"/>
              </a:rPr>
              <a:t>Pushes verified, flawless rules down to...</a:t>
            </a:r>
            <a:endParaRPr lang="en-US" sz="1000" dirty="0"/>
          </a:p>
        </p:txBody>
      </p:sp>
      <p:sp>
        <p:nvSpPr>
          <p:cNvPr id="20" name="Shape 18"/>
          <p:cNvSpPr/>
          <p:nvPr/>
        </p:nvSpPr>
        <p:spPr>
          <a:xfrm>
            <a:off x="457200" y="4160520"/>
            <a:ext cx="8229600" cy="6903720"/>
          </a:xfrm>
          <a:prstGeom prst="roundRect">
            <a:avLst>
              <a:gd name="adj" fmla="val 1987"/>
            </a:avLst>
          </a:prstGeom>
          <a:solidFill>
            <a:srgbClr val="FAFAFA"/>
          </a:solidFill>
          <a:ln w="19050">
            <a:solidFill>
              <a:srgbClr val="B4B2A9"/>
            </a:solidFill>
            <a:prstDash val="dash"/>
          </a:ln>
        </p:spPr>
      </p:sp>
      <p:sp>
        <p:nvSpPr>
          <p:cNvPr id="21" name="Text 19"/>
          <p:cNvSpPr/>
          <p:nvPr/>
        </p:nvSpPr>
        <p:spPr>
          <a:xfrm>
            <a:off x="457200" y="4251960"/>
            <a:ext cx="8229600" cy="228600"/>
          </a:xfrm>
          <a:prstGeom prst="rect">
            <a:avLst/>
          </a:prstGeom>
          <a:noFill/>
          <a:ln/>
        </p:spPr>
        <p:txBody>
          <a:bodyPr wrap="square" lIns="0" tIns="0" rIns="0" bIns="0" rtlCol="0" anchor="ctr"/>
          <a:lstStyle/>
          <a:p>
            <a:pPr algn="ctr" indent="0" marL="0">
              <a:buNone/>
            </a:pPr>
            <a:r>
              <a:rPr lang="en-US" sz="1100" dirty="0">
                <a:solidFill>
                  <a:srgbClr val="888780"/>
                </a:solidFill>
                <a:latin typeface="Arial" pitchFamily="34" charset="0"/>
                <a:ea typeface="Arial" pitchFamily="34" charset="-122"/>
                <a:cs typeface="Arial" pitchFamily="34" charset="-120"/>
              </a:rPr>
              <a:t>The live environment — all tools below are reactive (detect &amp; respond after breach)</a:t>
            </a:r>
            <a:endParaRPr lang="en-US" sz="1100" dirty="0"/>
          </a:p>
        </p:txBody>
      </p:sp>
      <p:sp>
        <p:nvSpPr>
          <p:cNvPr id="22" name="Text 20"/>
          <p:cNvSpPr/>
          <p:nvPr/>
        </p:nvSpPr>
        <p:spPr>
          <a:xfrm>
            <a:off x="685800" y="4572000"/>
            <a:ext cx="3657600" cy="256032"/>
          </a:xfrm>
          <a:prstGeom prst="rect">
            <a:avLst/>
          </a:prstGeom>
          <a:noFill/>
          <a:ln/>
        </p:spPr>
        <p:txBody>
          <a:bodyPr wrap="square" lIns="0" tIns="0" rIns="0" bIns="0" rtlCol="0" anchor="ctr"/>
          <a:lstStyle/>
          <a:p>
            <a:pPr indent="0" marL="0">
              <a:buNone/>
            </a:pPr>
            <a:r>
              <a:rPr lang="en-US" sz="1300" b="1" dirty="0">
                <a:solidFill>
                  <a:srgbClr val="444441"/>
                </a:solidFill>
                <a:latin typeface="Arial" pitchFamily="34" charset="0"/>
                <a:ea typeface="Arial" pitchFamily="34" charset="-122"/>
                <a:cs typeface="Arial" pitchFamily="34" charset="-120"/>
              </a:rPr>
              <a:t>Stage 2: Prevent (perimeter)</a:t>
            </a:r>
            <a:endParaRPr lang="en-US" sz="1300" dirty="0"/>
          </a:p>
        </p:txBody>
      </p:sp>
      <p:sp>
        <p:nvSpPr>
          <p:cNvPr id="23" name="Shape 21"/>
          <p:cNvSpPr/>
          <p:nvPr/>
        </p:nvSpPr>
        <p:spPr>
          <a:xfrm>
            <a:off x="7132320" y="4526280"/>
            <a:ext cx="1005840" cy="1005840"/>
          </a:xfrm>
          <a:prstGeom prst="ellipse">
            <a:avLst/>
          </a:prstGeom>
          <a:solidFill>
            <a:srgbClr val="E6F1FB"/>
          </a:solidFill>
          <a:ln w="19050">
            <a:solidFill>
              <a:srgbClr val="85B7EB"/>
            </a:solidFill>
            <a:prstDash val="solid"/>
          </a:ln>
        </p:spPr>
      </p:sp>
      <p:sp>
        <p:nvSpPr>
          <p:cNvPr id="24" name="Text 22"/>
          <p:cNvSpPr/>
          <p:nvPr/>
        </p:nvSpPr>
        <p:spPr>
          <a:xfrm>
            <a:off x="7132320" y="4572000"/>
            <a:ext cx="1005840" cy="502920"/>
          </a:xfrm>
          <a:prstGeom prst="rect">
            <a:avLst/>
          </a:prstGeom>
          <a:noFill/>
          <a:ln/>
        </p:spPr>
        <p:txBody>
          <a:bodyPr wrap="square" lIns="0" tIns="0" rIns="0" bIns="0" rtlCol="0" anchor="ctr"/>
          <a:lstStyle/>
          <a:p>
            <a:pPr algn="ctr" indent="0" marL="0">
              <a:buNone/>
            </a:pPr>
            <a:r>
              <a:rPr lang="en-US" sz="2000" b="1" dirty="0">
                <a:solidFill>
                  <a:srgbClr val="0C447C"/>
                </a:solidFill>
                <a:latin typeface="Arial" pitchFamily="34" charset="0"/>
                <a:ea typeface="Arial" pitchFamily="34" charset="-122"/>
                <a:cs typeface="Arial" pitchFamily="34" charset="-120"/>
              </a:rPr>
              <a:t>~10%</a:t>
            </a:r>
            <a:endParaRPr lang="en-US" sz="2000" dirty="0"/>
          </a:p>
        </p:txBody>
      </p:sp>
      <p:sp>
        <p:nvSpPr>
          <p:cNvPr id="25" name="Text 23"/>
          <p:cNvSpPr/>
          <p:nvPr/>
        </p:nvSpPr>
        <p:spPr>
          <a:xfrm>
            <a:off x="7132320" y="5074920"/>
            <a:ext cx="1005840" cy="320040"/>
          </a:xfrm>
          <a:prstGeom prst="rect">
            <a:avLst/>
          </a:prstGeom>
          <a:noFill/>
          <a:ln/>
        </p:spPr>
        <p:txBody>
          <a:bodyPr wrap="square" lIns="0" tIns="0" rIns="0" bIns="0" rtlCol="0" anchor="t"/>
          <a:lstStyle/>
          <a:p>
            <a:pPr algn="ctr" indent="0" marL="0">
              <a:buNone/>
            </a:pPr>
            <a:r>
              <a:rPr lang="en-US" sz="800" dirty="0">
                <a:solidFill>
                  <a:srgbClr val="185FA5"/>
                </a:solidFill>
                <a:latin typeface="Arial" pitchFamily="34" charset="0"/>
                <a:ea typeface="Arial" pitchFamily="34" charset="-122"/>
                <a:cs typeface="Arial" pitchFamily="34" charset="-120"/>
              </a:rPr>
              <a:t>blocked at</a:t>
            </a:r>
            <a:endParaRPr lang="en-US" sz="800" dirty="0"/>
          </a:p>
          <a:p>
            <a:pPr algn="ctr" indent="0" marL="0">
              <a:buNone/>
            </a:pPr>
            <a:r>
              <a:rPr lang="en-US" sz="800" dirty="0">
                <a:solidFill>
                  <a:srgbClr val="185FA5"/>
                </a:solidFill>
                <a:latin typeface="Arial" pitchFamily="34" charset="0"/>
                <a:ea typeface="Arial" pitchFamily="34" charset="-122"/>
                <a:cs typeface="Arial" pitchFamily="34" charset="-120"/>
              </a:rPr>
              <a:t>perimeter*</a:t>
            </a:r>
            <a:endParaRPr lang="en-US" sz="800" dirty="0"/>
          </a:p>
        </p:txBody>
      </p:sp>
      <p:sp>
        <p:nvSpPr>
          <p:cNvPr id="26" name="Shape 24"/>
          <p:cNvSpPr/>
          <p:nvPr/>
        </p:nvSpPr>
        <p:spPr>
          <a:xfrm>
            <a:off x="685800" y="4892040"/>
            <a:ext cx="3063240" cy="731520"/>
          </a:xfrm>
          <a:prstGeom prst="roundRect">
            <a:avLst>
              <a:gd name="adj" fmla="val 10000"/>
            </a:avLst>
          </a:prstGeom>
          <a:solidFill>
            <a:srgbClr val="E6F1FB"/>
          </a:solidFill>
          <a:ln w="9525">
            <a:solidFill>
              <a:srgbClr val="85B7EB"/>
            </a:solidFill>
            <a:prstDash val="solid"/>
          </a:ln>
        </p:spPr>
      </p:sp>
      <p:sp>
        <p:nvSpPr>
          <p:cNvPr id="27" name="Text 25"/>
          <p:cNvSpPr/>
          <p:nvPr/>
        </p:nvSpPr>
        <p:spPr>
          <a:xfrm>
            <a:off x="822960" y="4919472"/>
            <a:ext cx="2743200" cy="201168"/>
          </a:xfrm>
          <a:prstGeom prst="rect">
            <a:avLst/>
          </a:prstGeom>
          <a:noFill/>
          <a:ln/>
        </p:spPr>
        <p:txBody>
          <a:bodyPr wrap="square" lIns="0" tIns="0" rIns="0" bIns="0" rtlCol="0" anchor="ctr"/>
          <a:lstStyle/>
          <a:p>
            <a:pPr indent="0" marL="0">
              <a:buNone/>
            </a:pPr>
            <a:r>
              <a:rPr lang="en-US" sz="1200" b="1" dirty="0">
                <a:solidFill>
                  <a:srgbClr val="0C447C"/>
                </a:solidFill>
                <a:latin typeface="Arial" pitchFamily="34" charset="0"/>
                <a:ea typeface="Arial" pitchFamily="34" charset="-122"/>
                <a:cs typeface="Arial" pitchFamily="34" charset="-120"/>
              </a:rPr>
              <a:t>NGFW</a:t>
            </a:r>
            <a:endParaRPr lang="en-US" sz="1200" dirty="0"/>
          </a:p>
        </p:txBody>
      </p:sp>
      <p:sp>
        <p:nvSpPr>
          <p:cNvPr id="28" name="Text 26"/>
          <p:cNvSpPr/>
          <p:nvPr/>
        </p:nvSpPr>
        <p:spPr>
          <a:xfrm>
            <a:off x="822960" y="5120640"/>
            <a:ext cx="2743200" cy="411480"/>
          </a:xfrm>
          <a:prstGeom prst="rect">
            <a:avLst/>
          </a:prstGeom>
          <a:noFill/>
          <a:ln/>
        </p:spPr>
        <p:txBody>
          <a:bodyPr wrap="square" lIns="0" tIns="0" rIns="0" bIns="0" rtlCol="0" anchor="ctr"/>
          <a:lstStyle/>
          <a:p>
            <a:pPr indent="0" marL="0">
              <a:buNone/>
            </a:pPr>
            <a:r>
              <a:rPr lang="en-US" sz="950" dirty="0">
                <a:solidFill>
                  <a:srgbClr val="185FA5"/>
                </a:solidFill>
                <a:latin typeface="Arial" pitchFamily="34" charset="0"/>
                <a:ea typeface="Arial" pitchFamily="34" charset="-122"/>
                <a:cs typeface="Arial" pitchFamily="34" charset="-120"/>
              </a:rPr>
              <a:t>Palo Alto, Fortinet, Cisco</a:t>
            </a:r>
            <a:endParaRPr lang="en-US" sz="950" dirty="0"/>
          </a:p>
          <a:p>
            <a:pPr indent="0" marL="0">
              <a:buNone/>
            </a:pPr>
            <a:r>
              <a:rPr lang="en-US" sz="950" dirty="0">
                <a:solidFill>
                  <a:srgbClr val="185FA5"/>
                </a:solidFill>
                <a:latin typeface="Arial" pitchFamily="34" charset="0"/>
                <a:ea typeface="Arial" pitchFamily="34" charset="-122"/>
                <a:cs typeface="Arial" pitchFamily="34" charset="-120"/>
              </a:rPr>
              <a:t>Enforces rules, blocks bad traffic</a:t>
            </a:r>
            <a:endParaRPr lang="en-US" sz="950" dirty="0"/>
          </a:p>
        </p:txBody>
      </p:sp>
      <p:sp>
        <p:nvSpPr>
          <p:cNvPr id="29" name="Shape 27"/>
          <p:cNvSpPr/>
          <p:nvPr/>
        </p:nvSpPr>
        <p:spPr>
          <a:xfrm>
            <a:off x="3931920" y="4892040"/>
            <a:ext cx="3063240" cy="731520"/>
          </a:xfrm>
          <a:prstGeom prst="roundRect">
            <a:avLst>
              <a:gd name="adj" fmla="val 10000"/>
            </a:avLst>
          </a:prstGeom>
          <a:solidFill>
            <a:srgbClr val="E6F1FB"/>
          </a:solidFill>
          <a:ln w="9525">
            <a:solidFill>
              <a:srgbClr val="85B7EB"/>
            </a:solidFill>
            <a:prstDash val="solid"/>
          </a:ln>
        </p:spPr>
      </p:sp>
      <p:sp>
        <p:nvSpPr>
          <p:cNvPr id="30" name="Text 28"/>
          <p:cNvSpPr/>
          <p:nvPr/>
        </p:nvSpPr>
        <p:spPr>
          <a:xfrm>
            <a:off x="4069080" y="4919472"/>
            <a:ext cx="2743200" cy="201168"/>
          </a:xfrm>
          <a:prstGeom prst="rect">
            <a:avLst/>
          </a:prstGeom>
          <a:noFill/>
          <a:ln/>
        </p:spPr>
        <p:txBody>
          <a:bodyPr wrap="square" lIns="0" tIns="0" rIns="0" bIns="0" rtlCol="0" anchor="ctr"/>
          <a:lstStyle/>
          <a:p>
            <a:pPr indent="0" marL="0">
              <a:buNone/>
            </a:pPr>
            <a:r>
              <a:rPr lang="en-US" sz="1200" b="1" dirty="0">
                <a:solidFill>
                  <a:srgbClr val="0C447C"/>
                </a:solidFill>
                <a:latin typeface="Arial" pitchFamily="34" charset="0"/>
                <a:ea typeface="Arial" pitchFamily="34" charset="-122"/>
                <a:cs typeface="Arial" pitchFamily="34" charset="-120"/>
              </a:rPr>
              <a:t>Vulnerability scanners</a:t>
            </a:r>
            <a:endParaRPr lang="en-US" sz="1200" dirty="0"/>
          </a:p>
        </p:txBody>
      </p:sp>
      <p:sp>
        <p:nvSpPr>
          <p:cNvPr id="31" name="Text 29"/>
          <p:cNvSpPr/>
          <p:nvPr/>
        </p:nvSpPr>
        <p:spPr>
          <a:xfrm>
            <a:off x="4069080" y="5120640"/>
            <a:ext cx="2743200" cy="411480"/>
          </a:xfrm>
          <a:prstGeom prst="rect">
            <a:avLst/>
          </a:prstGeom>
          <a:noFill/>
          <a:ln/>
        </p:spPr>
        <p:txBody>
          <a:bodyPr wrap="square" lIns="0" tIns="0" rIns="0" bIns="0" rtlCol="0" anchor="ctr"/>
          <a:lstStyle/>
          <a:p>
            <a:pPr indent="0" marL="0">
              <a:buNone/>
            </a:pPr>
            <a:r>
              <a:rPr lang="en-US" sz="950" dirty="0">
                <a:solidFill>
                  <a:srgbClr val="185FA5"/>
                </a:solidFill>
                <a:latin typeface="Arial" pitchFamily="34" charset="0"/>
                <a:ea typeface="Arial" pitchFamily="34" charset="-122"/>
                <a:cs typeface="Arial" pitchFamily="34" charset="-120"/>
              </a:rPr>
              <a:t>Qualys, Tenable</a:t>
            </a:r>
            <a:endParaRPr lang="en-US" sz="950" dirty="0"/>
          </a:p>
          <a:p>
            <a:pPr indent="0" marL="0">
              <a:buNone/>
            </a:pPr>
            <a:r>
              <a:rPr lang="en-US" sz="950" dirty="0">
                <a:solidFill>
                  <a:srgbClr val="185FA5"/>
                </a:solidFill>
                <a:latin typeface="Arial" pitchFamily="34" charset="0"/>
                <a:ea typeface="Arial" pitchFamily="34" charset="-122"/>
                <a:cs typeface="Arial" pitchFamily="34" charset="-120"/>
              </a:rPr>
              <a:t>Addresses only vulnerability-based attacks ²</a:t>
            </a:r>
            <a:endParaRPr lang="en-US" sz="950" dirty="0"/>
          </a:p>
        </p:txBody>
      </p:sp>
      <p:sp>
        <p:nvSpPr>
          <p:cNvPr id="32" name="Shape 30"/>
          <p:cNvSpPr/>
          <p:nvPr/>
        </p:nvSpPr>
        <p:spPr>
          <a:xfrm>
            <a:off x="685800" y="5715000"/>
            <a:ext cx="1965960" cy="594360"/>
          </a:xfrm>
          <a:prstGeom prst="roundRect">
            <a:avLst>
              <a:gd name="adj" fmla="val 12308"/>
            </a:avLst>
          </a:prstGeom>
          <a:solidFill>
            <a:srgbClr val="E6F1FB"/>
          </a:solidFill>
          <a:ln w="9525">
            <a:solidFill>
              <a:srgbClr val="85B7EB"/>
            </a:solidFill>
            <a:prstDash val="solid"/>
          </a:ln>
        </p:spPr>
      </p:sp>
      <p:sp>
        <p:nvSpPr>
          <p:cNvPr id="33" name="Text 31"/>
          <p:cNvSpPr/>
          <p:nvPr/>
        </p:nvSpPr>
        <p:spPr>
          <a:xfrm>
            <a:off x="822960" y="5760720"/>
            <a:ext cx="1691640" cy="182880"/>
          </a:xfrm>
          <a:prstGeom prst="rect">
            <a:avLst/>
          </a:prstGeom>
          <a:noFill/>
          <a:ln/>
        </p:spPr>
        <p:txBody>
          <a:bodyPr wrap="square" lIns="0" tIns="0" rIns="0" bIns="0" rtlCol="0" anchor="ctr"/>
          <a:lstStyle/>
          <a:p>
            <a:pPr indent="0" marL="0">
              <a:buNone/>
            </a:pPr>
            <a:r>
              <a:rPr lang="en-US" sz="1100" b="1" dirty="0">
                <a:solidFill>
                  <a:srgbClr val="0C447C"/>
                </a:solidFill>
                <a:latin typeface="Arial" pitchFamily="34" charset="0"/>
                <a:ea typeface="Arial" pitchFamily="34" charset="-122"/>
                <a:cs typeface="Arial" pitchFamily="34" charset="-120"/>
              </a:rPr>
              <a:t>IAM / PAM</a:t>
            </a:r>
            <a:endParaRPr lang="en-US" sz="1100" dirty="0"/>
          </a:p>
        </p:txBody>
      </p:sp>
      <p:sp>
        <p:nvSpPr>
          <p:cNvPr id="34" name="Text 32"/>
          <p:cNvSpPr/>
          <p:nvPr/>
        </p:nvSpPr>
        <p:spPr>
          <a:xfrm>
            <a:off x="822960" y="5971032"/>
            <a:ext cx="1691640" cy="164592"/>
          </a:xfrm>
          <a:prstGeom prst="rect">
            <a:avLst/>
          </a:prstGeom>
          <a:noFill/>
          <a:ln/>
        </p:spPr>
        <p:txBody>
          <a:bodyPr wrap="square" lIns="0" tIns="0" rIns="0" bIns="0" rtlCol="0" anchor="ctr"/>
          <a:lstStyle/>
          <a:p>
            <a:pPr indent="0" marL="0">
              <a:buNone/>
            </a:pPr>
            <a:r>
              <a:rPr lang="en-US" sz="900" dirty="0">
                <a:solidFill>
                  <a:srgbClr val="185FA5"/>
                </a:solidFill>
                <a:latin typeface="Arial" pitchFamily="34" charset="0"/>
                <a:ea typeface="Arial" pitchFamily="34" charset="-122"/>
                <a:cs typeface="Arial" pitchFamily="34" charset="-120"/>
              </a:rPr>
              <a:t>CyberArk, Okta</a:t>
            </a:r>
            <a:endParaRPr lang="en-US" sz="900" dirty="0"/>
          </a:p>
        </p:txBody>
      </p:sp>
      <p:sp>
        <p:nvSpPr>
          <p:cNvPr id="35" name="Shape 33"/>
          <p:cNvSpPr/>
          <p:nvPr/>
        </p:nvSpPr>
        <p:spPr>
          <a:xfrm>
            <a:off x="2834640" y="5715000"/>
            <a:ext cx="1965960" cy="594360"/>
          </a:xfrm>
          <a:prstGeom prst="roundRect">
            <a:avLst>
              <a:gd name="adj" fmla="val 12308"/>
            </a:avLst>
          </a:prstGeom>
          <a:solidFill>
            <a:srgbClr val="E6F1FB"/>
          </a:solidFill>
          <a:ln w="9525">
            <a:solidFill>
              <a:srgbClr val="85B7EB"/>
            </a:solidFill>
            <a:prstDash val="solid"/>
          </a:ln>
        </p:spPr>
      </p:sp>
      <p:sp>
        <p:nvSpPr>
          <p:cNvPr id="36" name="Text 34"/>
          <p:cNvSpPr/>
          <p:nvPr/>
        </p:nvSpPr>
        <p:spPr>
          <a:xfrm>
            <a:off x="2971800" y="5760720"/>
            <a:ext cx="1691640" cy="182880"/>
          </a:xfrm>
          <a:prstGeom prst="rect">
            <a:avLst/>
          </a:prstGeom>
          <a:noFill/>
          <a:ln/>
        </p:spPr>
        <p:txBody>
          <a:bodyPr wrap="square" lIns="0" tIns="0" rIns="0" bIns="0" rtlCol="0" anchor="ctr"/>
          <a:lstStyle/>
          <a:p>
            <a:pPr indent="0" marL="0">
              <a:buNone/>
            </a:pPr>
            <a:r>
              <a:rPr lang="en-US" sz="1100" b="1" dirty="0">
                <a:solidFill>
                  <a:srgbClr val="0C447C"/>
                </a:solidFill>
                <a:latin typeface="Arial" pitchFamily="34" charset="0"/>
                <a:ea typeface="Arial" pitchFamily="34" charset="-122"/>
                <a:cs typeface="Arial" pitchFamily="34" charset="-120"/>
              </a:rPr>
              <a:t>ZTNA / CASB</a:t>
            </a:r>
            <a:endParaRPr lang="en-US" sz="1100" dirty="0"/>
          </a:p>
        </p:txBody>
      </p:sp>
      <p:sp>
        <p:nvSpPr>
          <p:cNvPr id="37" name="Text 35"/>
          <p:cNvSpPr/>
          <p:nvPr/>
        </p:nvSpPr>
        <p:spPr>
          <a:xfrm>
            <a:off x="2971800" y="5971032"/>
            <a:ext cx="1691640" cy="164592"/>
          </a:xfrm>
          <a:prstGeom prst="rect">
            <a:avLst/>
          </a:prstGeom>
          <a:noFill/>
          <a:ln/>
        </p:spPr>
        <p:txBody>
          <a:bodyPr wrap="square" lIns="0" tIns="0" rIns="0" bIns="0" rtlCol="0" anchor="ctr"/>
          <a:lstStyle/>
          <a:p>
            <a:pPr indent="0" marL="0">
              <a:buNone/>
            </a:pPr>
            <a:r>
              <a:rPr lang="en-US" sz="900" dirty="0">
                <a:solidFill>
                  <a:srgbClr val="185FA5"/>
                </a:solidFill>
                <a:latin typeface="Arial" pitchFamily="34" charset="0"/>
                <a:ea typeface="Arial" pitchFamily="34" charset="-122"/>
                <a:cs typeface="Arial" pitchFamily="34" charset="-120"/>
              </a:rPr>
              <a:t>Zscaler, Netskope</a:t>
            </a:r>
            <a:endParaRPr lang="en-US" sz="900" dirty="0"/>
          </a:p>
        </p:txBody>
      </p:sp>
      <p:sp>
        <p:nvSpPr>
          <p:cNvPr id="38" name="Shape 36"/>
          <p:cNvSpPr/>
          <p:nvPr/>
        </p:nvSpPr>
        <p:spPr>
          <a:xfrm>
            <a:off x="4983480" y="5715000"/>
            <a:ext cx="1965960" cy="594360"/>
          </a:xfrm>
          <a:prstGeom prst="roundRect">
            <a:avLst>
              <a:gd name="adj" fmla="val 12308"/>
            </a:avLst>
          </a:prstGeom>
          <a:solidFill>
            <a:srgbClr val="E6F1FB"/>
          </a:solidFill>
          <a:ln w="9525">
            <a:solidFill>
              <a:srgbClr val="85B7EB"/>
            </a:solidFill>
            <a:prstDash val="solid"/>
          </a:ln>
        </p:spPr>
      </p:sp>
      <p:sp>
        <p:nvSpPr>
          <p:cNvPr id="39" name="Text 37"/>
          <p:cNvSpPr/>
          <p:nvPr/>
        </p:nvSpPr>
        <p:spPr>
          <a:xfrm>
            <a:off x="5120640" y="5760720"/>
            <a:ext cx="1691640" cy="182880"/>
          </a:xfrm>
          <a:prstGeom prst="rect">
            <a:avLst/>
          </a:prstGeom>
          <a:noFill/>
          <a:ln/>
        </p:spPr>
        <p:txBody>
          <a:bodyPr wrap="square" lIns="0" tIns="0" rIns="0" bIns="0" rtlCol="0" anchor="ctr"/>
          <a:lstStyle/>
          <a:p>
            <a:pPr indent="0" marL="0">
              <a:buNone/>
            </a:pPr>
            <a:r>
              <a:rPr lang="en-US" sz="1100" b="1" dirty="0">
                <a:solidFill>
                  <a:srgbClr val="0C447C"/>
                </a:solidFill>
                <a:latin typeface="Arial" pitchFamily="34" charset="0"/>
                <a:ea typeface="Arial" pitchFamily="34" charset="-122"/>
                <a:cs typeface="Arial" pitchFamily="34" charset="-120"/>
              </a:rPr>
              <a:t>DLP</a:t>
            </a:r>
            <a:endParaRPr lang="en-US" sz="1100" dirty="0"/>
          </a:p>
        </p:txBody>
      </p:sp>
      <p:sp>
        <p:nvSpPr>
          <p:cNvPr id="40" name="Text 38"/>
          <p:cNvSpPr/>
          <p:nvPr/>
        </p:nvSpPr>
        <p:spPr>
          <a:xfrm>
            <a:off x="5120640" y="5971032"/>
            <a:ext cx="1691640" cy="164592"/>
          </a:xfrm>
          <a:prstGeom prst="rect">
            <a:avLst/>
          </a:prstGeom>
          <a:noFill/>
          <a:ln/>
        </p:spPr>
        <p:txBody>
          <a:bodyPr wrap="square" lIns="0" tIns="0" rIns="0" bIns="0" rtlCol="0" anchor="ctr"/>
          <a:lstStyle/>
          <a:p>
            <a:pPr indent="0" marL="0">
              <a:buNone/>
            </a:pPr>
            <a:r>
              <a:rPr lang="en-US" sz="900" dirty="0">
                <a:solidFill>
                  <a:srgbClr val="185FA5"/>
                </a:solidFill>
                <a:latin typeface="Arial" pitchFamily="34" charset="0"/>
                <a:ea typeface="Arial" pitchFamily="34" charset="-122"/>
                <a:cs typeface="Arial" pitchFamily="34" charset="-120"/>
              </a:rPr>
              <a:t>Symantec, Forcepoint</a:t>
            </a:r>
            <a:endParaRPr lang="en-US" sz="900" dirty="0"/>
          </a:p>
        </p:txBody>
      </p:sp>
      <p:sp>
        <p:nvSpPr>
          <p:cNvPr id="41" name="Shape 39"/>
          <p:cNvSpPr/>
          <p:nvPr/>
        </p:nvSpPr>
        <p:spPr>
          <a:xfrm>
            <a:off x="4572000" y="6400800"/>
            <a:ext cx="0" cy="274320"/>
          </a:xfrm>
          <a:prstGeom prst="line">
            <a:avLst/>
          </a:prstGeom>
          <a:noFill/>
          <a:ln w="19050">
            <a:solidFill>
              <a:srgbClr val="B4B2A9"/>
            </a:solidFill>
            <a:prstDash val="solid"/>
            <a:tailEnd type="triangle"/>
          </a:ln>
        </p:spPr>
      </p:sp>
      <p:sp>
        <p:nvSpPr>
          <p:cNvPr id="42" name="Text 40"/>
          <p:cNvSpPr/>
          <p:nvPr/>
        </p:nvSpPr>
        <p:spPr>
          <a:xfrm>
            <a:off x="4754880" y="6428232"/>
            <a:ext cx="3657600" cy="182880"/>
          </a:xfrm>
          <a:prstGeom prst="rect">
            <a:avLst/>
          </a:prstGeom>
          <a:noFill/>
          <a:ln/>
        </p:spPr>
        <p:txBody>
          <a:bodyPr wrap="square" lIns="0" tIns="0" rIns="0" bIns="0" rtlCol="0" anchor="ctr"/>
          <a:lstStyle/>
          <a:p>
            <a:pPr indent="0" marL="0">
              <a:buNone/>
            </a:pPr>
            <a:r>
              <a:rPr lang="en-US" sz="900" dirty="0">
                <a:solidFill>
                  <a:srgbClr val="888780"/>
                </a:solidFill>
                <a:latin typeface="Arial" pitchFamily="34" charset="0"/>
                <a:ea typeface="Arial" pitchFamily="34" charset="-122"/>
                <a:cs typeface="Arial" pitchFamily="34" charset="-120"/>
              </a:rPr>
              <a:t>If attacker bypasses perimeter... (avg. breakout: 29 min ³)</a:t>
            </a:r>
            <a:endParaRPr lang="en-US" sz="900" dirty="0"/>
          </a:p>
        </p:txBody>
      </p:sp>
      <p:sp>
        <p:nvSpPr>
          <p:cNvPr id="43" name="Text 41"/>
          <p:cNvSpPr/>
          <p:nvPr/>
        </p:nvSpPr>
        <p:spPr>
          <a:xfrm>
            <a:off x="685800" y="6766560"/>
            <a:ext cx="4572000" cy="256032"/>
          </a:xfrm>
          <a:prstGeom prst="rect">
            <a:avLst/>
          </a:prstGeom>
          <a:noFill/>
          <a:ln/>
        </p:spPr>
        <p:txBody>
          <a:bodyPr wrap="square" lIns="0" tIns="0" rIns="0" bIns="0" rtlCol="0" anchor="ctr"/>
          <a:lstStyle/>
          <a:p>
            <a:pPr indent="0" marL="0">
              <a:buNone/>
            </a:pPr>
            <a:r>
              <a:rPr lang="en-US" sz="1300" b="1" dirty="0">
                <a:solidFill>
                  <a:srgbClr val="444441"/>
                </a:solidFill>
                <a:latin typeface="Arial" pitchFamily="34" charset="0"/>
                <a:ea typeface="Arial" pitchFamily="34" charset="-122"/>
                <a:cs typeface="Arial" pitchFamily="34" charset="-120"/>
              </a:rPr>
              <a:t>Stage 3: Detect &amp; respond (endpoints &amp; network)</a:t>
            </a:r>
            <a:endParaRPr lang="en-US" sz="1300" dirty="0"/>
          </a:p>
        </p:txBody>
      </p:sp>
      <p:sp>
        <p:nvSpPr>
          <p:cNvPr id="44" name="Shape 42"/>
          <p:cNvSpPr/>
          <p:nvPr/>
        </p:nvSpPr>
        <p:spPr>
          <a:xfrm>
            <a:off x="7132320" y="6720840"/>
            <a:ext cx="1005840" cy="1005840"/>
          </a:xfrm>
          <a:prstGeom prst="ellipse">
            <a:avLst/>
          </a:prstGeom>
          <a:solidFill>
            <a:srgbClr val="FAEEDA"/>
          </a:solidFill>
          <a:ln w="19050">
            <a:solidFill>
              <a:srgbClr val="EF9F27"/>
            </a:solidFill>
            <a:prstDash val="solid"/>
          </a:ln>
        </p:spPr>
      </p:sp>
      <p:sp>
        <p:nvSpPr>
          <p:cNvPr id="45" name="Text 43"/>
          <p:cNvSpPr/>
          <p:nvPr/>
        </p:nvSpPr>
        <p:spPr>
          <a:xfrm>
            <a:off x="7132320" y="6766560"/>
            <a:ext cx="1005840" cy="502920"/>
          </a:xfrm>
          <a:prstGeom prst="rect">
            <a:avLst/>
          </a:prstGeom>
          <a:noFill/>
          <a:ln/>
        </p:spPr>
        <p:txBody>
          <a:bodyPr wrap="square" lIns="0" tIns="0" rIns="0" bIns="0" rtlCol="0" anchor="ctr"/>
          <a:lstStyle/>
          <a:p>
            <a:pPr algn="ctr" indent="0" marL="0">
              <a:buNone/>
            </a:pPr>
            <a:r>
              <a:rPr lang="en-US" sz="2000" b="1" dirty="0">
                <a:solidFill>
                  <a:srgbClr val="633806"/>
                </a:solidFill>
                <a:latin typeface="Arial" pitchFamily="34" charset="0"/>
                <a:ea typeface="Arial" pitchFamily="34" charset="-122"/>
                <a:cs typeface="Arial" pitchFamily="34" charset="-120"/>
              </a:rPr>
              <a:t>~4%</a:t>
            </a:r>
            <a:endParaRPr lang="en-US" sz="2000" dirty="0"/>
          </a:p>
        </p:txBody>
      </p:sp>
      <p:sp>
        <p:nvSpPr>
          <p:cNvPr id="46" name="Text 44"/>
          <p:cNvSpPr/>
          <p:nvPr/>
        </p:nvSpPr>
        <p:spPr>
          <a:xfrm>
            <a:off x="7132320" y="7269480"/>
            <a:ext cx="1005840" cy="320040"/>
          </a:xfrm>
          <a:prstGeom prst="rect">
            <a:avLst/>
          </a:prstGeom>
          <a:noFill/>
          <a:ln/>
        </p:spPr>
        <p:txBody>
          <a:bodyPr wrap="square" lIns="0" tIns="0" rIns="0" bIns="0" rtlCol="0" anchor="t"/>
          <a:lstStyle/>
          <a:p>
            <a:pPr algn="ctr" indent="0" marL="0">
              <a:buNone/>
            </a:pPr>
            <a:r>
              <a:rPr lang="en-US" sz="800" dirty="0">
                <a:solidFill>
                  <a:srgbClr val="854F0B"/>
                </a:solidFill>
                <a:latin typeface="Arial" pitchFamily="34" charset="0"/>
                <a:ea typeface="Arial" pitchFamily="34" charset="-122"/>
                <a:cs typeface="Arial" pitchFamily="34" charset="-120"/>
              </a:rPr>
              <a:t>caught at</a:t>
            </a:r>
            <a:endParaRPr lang="en-US" sz="800" dirty="0"/>
          </a:p>
          <a:p>
            <a:pPr algn="ctr" indent="0" marL="0">
              <a:buNone/>
            </a:pPr>
            <a:r>
              <a:rPr lang="en-US" sz="800" dirty="0">
                <a:solidFill>
                  <a:srgbClr val="854F0B"/>
                </a:solidFill>
                <a:latin typeface="Arial" pitchFamily="34" charset="0"/>
                <a:ea typeface="Arial" pitchFamily="34" charset="-122"/>
                <a:cs typeface="Arial" pitchFamily="34" charset="-120"/>
              </a:rPr>
              <a:t>endpoints*</a:t>
            </a:r>
            <a:endParaRPr lang="en-US" sz="800" dirty="0"/>
          </a:p>
        </p:txBody>
      </p:sp>
      <p:sp>
        <p:nvSpPr>
          <p:cNvPr id="47" name="Shape 45"/>
          <p:cNvSpPr/>
          <p:nvPr/>
        </p:nvSpPr>
        <p:spPr>
          <a:xfrm>
            <a:off x="685800" y="7086600"/>
            <a:ext cx="1965960" cy="731520"/>
          </a:xfrm>
          <a:prstGeom prst="roundRect">
            <a:avLst>
              <a:gd name="adj" fmla="val 10000"/>
            </a:avLst>
          </a:prstGeom>
          <a:solidFill>
            <a:srgbClr val="FAEEDA"/>
          </a:solidFill>
          <a:ln w="9525">
            <a:solidFill>
              <a:srgbClr val="EF9F27"/>
            </a:solidFill>
            <a:prstDash val="solid"/>
          </a:ln>
        </p:spPr>
      </p:sp>
      <p:sp>
        <p:nvSpPr>
          <p:cNvPr id="48" name="Text 46"/>
          <p:cNvSpPr/>
          <p:nvPr/>
        </p:nvSpPr>
        <p:spPr>
          <a:xfrm>
            <a:off x="822960" y="7114032"/>
            <a:ext cx="1691640" cy="201168"/>
          </a:xfrm>
          <a:prstGeom prst="rect">
            <a:avLst/>
          </a:prstGeom>
          <a:noFill/>
          <a:ln/>
        </p:spPr>
        <p:txBody>
          <a:bodyPr wrap="square" lIns="0" tIns="0" rIns="0" bIns="0" rtlCol="0" anchor="ctr"/>
          <a:lstStyle/>
          <a:p>
            <a:pPr indent="0" marL="0">
              <a:buNone/>
            </a:pPr>
            <a:r>
              <a:rPr lang="en-US" sz="1200" b="1" dirty="0">
                <a:solidFill>
                  <a:srgbClr val="633806"/>
                </a:solidFill>
                <a:latin typeface="Arial" pitchFamily="34" charset="0"/>
                <a:ea typeface="Arial" pitchFamily="34" charset="-122"/>
                <a:cs typeface="Arial" pitchFamily="34" charset="-120"/>
              </a:rPr>
              <a:t>EDR</a:t>
            </a:r>
            <a:endParaRPr lang="en-US" sz="1200" dirty="0"/>
          </a:p>
        </p:txBody>
      </p:sp>
      <p:sp>
        <p:nvSpPr>
          <p:cNvPr id="49" name="Text 47"/>
          <p:cNvSpPr/>
          <p:nvPr/>
        </p:nvSpPr>
        <p:spPr>
          <a:xfrm>
            <a:off x="822960" y="7315200"/>
            <a:ext cx="1691640" cy="411480"/>
          </a:xfrm>
          <a:prstGeom prst="rect">
            <a:avLst/>
          </a:prstGeom>
          <a:noFill/>
          <a:ln/>
        </p:spPr>
        <p:txBody>
          <a:bodyPr wrap="square" lIns="0" tIns="0" rIns="0" bIns="0" rtlCol="0" anchor="ctr"/>
          <a:lstStyle/>
          <a:p>
            <a:pPr indent="0" marL="0">
              <a:buNone/>
            </a:pPr>
            <a:r>
              <a:rPr lang="en-US" sz="950" dirty="0">
                <a:solidFill>
                  <a:srgbClr val="854F0B"/>
                </a:solidFill>
                <a:latin typeface="Arial" pitchFamily="34" charset="0"/>
                <a:ea typeface="Arial" pitchFamily="34" charset="-122"/>
                <a:cs typeface="Arial" pitchFamily="34" charset="-120"/>
              </a:rPr>
              <a:t>CrowdStrike, Defender</a:t>
            </a:r>
            <a:endParaRPr lang="en-US" sz="950" dirty="0"/>
          </a:p>
          <a:p>
            <a:pPr indent="0" marL="0">
              <a:buNone/>
            </a:pPr>
            <a:r>
              <a:rPr lang="en-US" sz="950" dirty="0">
                <a:solidFill>
                  <a:srgbClr val="854F0B"/>
                </a:solidFill>
                <a:latin typeface="Arial" pitchFamily="34" charset="0"/>
                <a:ea typeface="Arial" pitchFamily="34" charset="-122"/>
                <a:cs typeface="Arial" pitchFamily="34" charset="-120"/>
              </a:rPr>
              <a:t>Kills active malware</a:t>
            </a:r>
            <a:endParaRPr lang="en-US" sz="950" dirty="0"/>
          </a:p>
        </p:txBody>
      </p:sp>
      <p:sp>
        <p:nvSpPr>
          <p:cNvPr id="50" name="Shape 48"/>
          <p:cNvSpPr/>
          <p:nvPr/>
        </p:nvSpPr>
        <p:spPr>
          <a:xfrm>
            <a:off x="2834640" y="7086600"/>
            <a:ext cx="1965960" cy="731520"/>
          </a:xfrm>
          <a:prstGeom prst="roundRect">
            <a:avLst>
              <a:gd name="adj" fmla="val 10000"/>
            </a:avLst>
          </a:prstGeom>
          <a:solidFill>
            <a:srgbClr val="FAEEDA"/>
          </a:solidFill>
          <a:ln w="9525">
            <a:solidFill>
              <a:srgbClr val="EF9F27"/>
            </a:solidFill>
            <a:prstDash val="solid"/>
          </a:ln>
        </p:spPr>
      </p:sp>
      <p:sp>
        <p:nvSpPr>
          <p:cNvPr id="51" name="Text 49"/>
          <p:cNvSpPr/>
          <p:nvPr/>
        </p:nvSpPr>
        <p:spPr>
          <a:xfrm>
            <a:off x="2971800" y="7114032"/>
            <a:ext cx="1691640" cy="201168"/>
          </a:xfrm>
          <a:prstGeom prst="rect">
            <a:avLst/>
          </a:prstGeom>
          <a:noFill/>
          <a:ln/>
        </p:spPr>
        <p:txBody>
          <a:bodyPr wrap="square" lIns="0" tIns="0" rIns="0" bIns="0" rtlCol="0" anchor="ctr"/>
          <a:lstStyle/>
          <a:p>
            <a:pPr indent="0" marL="0">
              <a:buNone/>
            </a:pPr>
            <a:r>
              <a:rPr lang="en-US" sz="1200" b="1" dirty="0">
                <a:solidFill>
                  <a:srgbClr val="633806"/>
                </a:solidFill>
                <a:latin typeface="Arial" pitchFamily="34" charset="0"/>
                <a:ea typeface="Arial" pitchFamily="34" charset="-122"/>
                <a:cs typeface="Arial" pitchFamily="34" charset="-120"/>
              </a:rPr>
              <a:t>NDR</a:t>
            </a:r>
            <a:endParaRPr lang="en-US" sz="1200" dirty="0"/>
          </a:p>
        </p:txBody>
      </p:sp>
      <p:sp>
        <p:nvSpPr>
          <p:cNvPr id="52" name="Text 50"/>
          <p:cNvSpPr/>
          <p:nvPr/>
        </p:nvSpPr>
        <p:spPr>
          <a:xfrm>
            <a:off x="2971800" y="7315200"/>
            <a:ext cx="1691640" cy="411480"/>
          </a:xfrm>
          <a:prstGeom prst="rect">
            <a:avLst/>
          </a:prstGeom>
          <a:noFill/>
          <a:ln/>
        </p:spPr>
        <p:txBody>
          <a:bodyPr wrap="square" lIns="0" tIns="0" rIns="0" bIns="0" rtlCol="0" anchor="ctr"/>
          <a:lstStyle/>
          <a:p>
            <a:pPr indent="0" marL="0">
              <a:buNone/>
            </a:pPr>
            <a:r>
              <a:rPr lang="en-US" sz="950" dirty="0">
                <a:solidFill>
                  <a:srgbClr val="854F0B"/>
                </a:solidFill>
                <a:latin typeface="Arial" pitchFamily="34" charset="0"/>
                <a:ea typeface="Arial" pitchFamily="34" charset="-122"/>
                <a:cs typeface="Arial" pitchFamily="34" charset="-120"/>
              </a:rPr>
              <a:t>Darktrace, ExtraHop</a:t>
            </a:r>
            <a:endParaRPr lang="en-US" sz="950" dirty="0"/>
          </a:p>
          <a:p>
            <a:pPr indent="0" marL="0">
              <a:buNone/>
            </a:pPr>
            <a:r>
              <a:rPr lang="en-US" sz="950" dirty="0">
                <a:solidFill>
                  <a:srgbClr val="854F0B"/>
                </a:solidFill>
                <a:latin typeface="Arial" pitchFamily="34" charset="0"/>
                <a:ea typeface="Arial" pitchFamily="34" charset="-122"/>
                <a:cs typeface="Arial" pitchFamily="34" charset="-120"/>
              </a:rPr>
              <a:t>Monitors lateral traffic</a:t>
            </a:r>
            <a:endParaRPr lang="en-US" sz="950" dirty="0"/>
          </a:p>
        </p:txBody>
      </p:sp>
      <p:sp>
        <p:nvSpPr>
          <p:cNvPr id="53" name="Shape 51"/>
          <p:cNvSpPr/>
          <p:nvPr/>
        </p:nvSpPr>
        <p:spPr>
          <a:xfrm>
            <a:off x="4983480" y="7086600"/>
            <a:ext cx="1965960" cy="731520"/>
          </a:xfrm>
          <a:prstGeom prst="roundRect">
            <a:avLst>
              <a:gd name="adj" fmla="val 10000"/>
            </a:avLst>
          </a:prstGeom>
          <a:solidFill>
            <a:srgbClr val="FAEEDA"/>
          </a:solidFill>
          <a:ln w="9525">
            <a:solidFill>
              <a:srgbClr val="EF9F27"/>
            </a:solidFill>
            <a:prstDash val="solid"/>
          </a:ln>
        </p:spPr>
      </p:sp>
      <p:sp>
        <p:nvSpPr>
          <p:cNvPr id="54" name="Text 52"/>
          <p:cNvSpPr/>
          <p:nvPr/>
        </p:nvSpPr>
        <p:spPr>
          <a:xfrm>
            <a:off x="5120640" y="7114032"/>
            <a:ext cx="1691640" cy="201168"/>
          </a:xfrm>
          <a:prstGeom prst="rect">
            <a:avLst/>
          </a:prstGeom>
          <a:noFill/>
          <a:ln/>
        </p:spPr>
        <p:txBody>
          <a:bodyPr wrap="square" lIns="0" tIns="0" rIns="0" bIns="0" rtlCol="0" anchor="ctr"/>
          <a:lstStyle/>
          <a:p>
            <a:pPr indent="0" marL="0">
              <a:buNone/>
            </a:pPr>
            <a:r>
              <a:rPr lang="en-US" sz="1200" b="1" dirty="0">
                <a:solidFill>
                  <a:srgbClr val="633806"/>
                </a:solidFill>
                <a:latin typeface="Arial" pitchFamily="34" charset="0"/>
                <a:ea typeface="Arial" pitchFamily="34" charset="-122"/>
                <a:cs typeface="Arial" pitchFamily="34" charset="-120"/>
              </a:rPr>
              <a:t>UEBA</a:t>
            </a:r>
            <a:endParaRPr lang="en-US" sz="1200" dirty="0"/>
          </a:p>
        </p:txBody>
      </p:sp>
      <p:sp>
        <p:nvSpPr>
          <p:cNvPr id="55" name="Text 53"/>
          <p:cNvSpPr/>
          <p:nvPr/>
        </p:nvSpPr>
        <p:spPr>
          <a:xfrm>
            <a:off x="5120640" y="7315200"/>
            <a:ext cx="1691640" cy="411480"/>
          </a:xfrm>
          <a:prstGeom prst="rect">
            <a:avLst/>
          </a:prstGeom>
          <a:noFill/>
          <a:ln/>
        </p:spPr>
        <p:txBody>
          <a:bodyPr wrap="square" lIns="0" tIns="0" rIns="0" bIns="0" rtlCol="0" anchor="ctr"/>
          <a:lstStyle/>
          <a:p>
            <a:pPr indent="0" marL="0">
              <a:buNone/>
            </a:pPr>
            <a:r>
              <a:rPr lang="en-US" sz="950" dirty="0">
                <a:solidFill>
                  <a:srgbClr val="854F0B"/>
                </a:solidFill>
                <a:latin typeface="Arial" pitchFamily="34" charset="0"/>
                <a:ea typeface="Arial" pitchFamily="34" charset="-122"/>
                <a:cs typeface="Arial" pitchFamily="34" charset="-120"/>
              </a:rPr>
              <a:t>Behavioral analytics</a:t>
            </a:r>
            <a:endParaRPr lang="en-US" sz="950" dirty="0"/>
          </a:p>
          <a:p>
            <a:pPr indent="0" marL="0">
              <a:buNone/>
            </a:pPr>
            <a:r>
              <a:rPr lang="en-US" sz="950" dirty="0">
                <a:solidFill>
                  <a:srgbClr val="854F0B"/>
                </a:solidFill>
                <a:latin typeface="Arial" pitchFamily="34" charset="0"/>
                <a:ea typeface="Arial" pitchFamily="34" charset="-122"/>
                <a:cs typeface="Arial" pitchFamily="34" charset="-120"/>
              </a:rPr>
              <a:t>Insider threat detection</a:t>
            </a:r>
            <a:endParaRPr lang="en-US" sz="950" dirty="0"/>
          </a:p>
        </p:txBody>
      </p:sp>
      <p:sp>
        <p:nvSpPr>
          <p:cNvPr id="56" name="Shape 54"/>
          <p:cNvSpPr/>
          <p:nvPr/>
        </p:nvSpPr>
        <p:spPr>
          <a:xfrm>
            <a:off x="4572000" y="7909560"/>
            <a:ext cx="0" cy="274320"/>
          </a:xfrm>
          <a:prstGeom prst="line">
            <a:avLst/>
          </a:prstGeom>
          <a:noFill/>
          <a:ln w="19050">
            <a:solidFill>
              <a:srgbClr val="B4B2A9"/>
            </a:solidFill>
            <a:prstDash val="solid"/>
            <a:tailEnd type="triangle"/>
          </a:ln>
        </p:spPr>
      </p:sp>
      <p:sp>
        <p:nvSpPr>
          <p:cNvPr id="57" name="Text 55"/>
          <p:cNvSpPr/>
          <p:nvPr/>
        </p:nvSpPr>
        <p:spPr>
          <a:xfrm>
            <a:off x="4754880" y="7936992"/>
            <a:ext cx="27432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Sends alerts and logs...</a:t>
            </a:r>
            <a:endParaRPr lang="en-US" sz="950" dirty="0"/>
          </a:p>
        </p:txBody>
      </p:sp>
      <p:sp>
        <p:nvSpPr>
          <p:cNvPr id="58" name="Text 56"/>
          <p:cNvSpPr/>
          <p:nvPr/>
        </p:nvSpPr>
        <p:spPr>
          <a:xfrm>
            <a:off x="685800" y="8275320"/>
            <a:ext cx="4572000" cy="256032"/>
          </a:xfrm>
          <a:prstGeom prst="rect">
            <a:avLst/>
          </a:prstGeom>
          <a:noFill/>
          <a:ln/>
        </p:spPr>
        <p:txBody>
          <a:bodyPr wrap="square" lIns="0" tIns="0" rIns="0" bIns="0" rtlCol="0" anchor="ctr"/>
          <a:lstStyle/>
          <a:p>
            <a:pPr indent="0" marL="0">
              <a:buNone/>
            </a:pPr>
            <a:r>
              <a:rPr lang="en-US" sz="1300" b="1" dirty="0">
                <a:solidFill>
                  <a:srgbClr val="444441"/>
                </a:solidFill>
                <a:latin typeface="Arial" pitchFamily="34" charset="0"/>
                <a:ea typeface="Arial" pitchFamily="34" charset="-122"/>
                <a:cs typeface="Arial" pitchFamily="34" charset="-120"/>
              </a:rPr>
              <a:t>Stage 4: Visibility &amp; triage (the SOC)</a:t>
            </a:r>
            <a:endParaRPr lang="en-US" sz="1300" dirty="0"/>
          </a:p>
        </p:txBody>
      </p:sp>
      <p:sp>
        <p:nvSpPr>
          <p:cNvPr id="59" name="Shape 57"/>
          <p:cNvSpPr/>
          <p:nvPr/>
        </p:nvSpPr>
        <p:spPr>
          <a:xfrm>
            <a:off x="7132320" y="8229600"/>
            <a:ext cx="1005840" cy="1005840"/>
          </a:xfrm>
          <a:prstGeom prst="ellipse">
            <a:avLst/>
          </a:prstGeom>
          <a:solidFill>
            <a:srgbClr val="FAECE7"/>
          </a:solidFill>
          <a:ln w="19050">
            <a:solidFill>
              <a:srgbClr val="F0997B"/>
            </a:solidFill>
            <a:prstDash val="solid"/>
          </a:ln>
        </p:spPr>
      </p:sp>
      <p:sp>
        <p:nvSpPr>
          <p:cNvPr id="60" name="Text 58"/>
          <p:cNvSpPr/>
          <p:nvPr/>
        </p:nvSpPr>
        <p:spPr>
          <a:xfrm>
            <a:off x="7132320" y="8275320"/>
            <a:ext cx="1005840" cy="502920"/>
          </a:xfrm>
          <a:prstGeom prst="rect">
            <a:avLst/>
          </a:prstGeom>
          <a:noFill/>
          <a:ln/>
        </p:spPr>
        <p:txBody>
          <a:bodyPr wrap="square" lIns="0" tIns="0" rIns="0" bIns="0" rtlCol="0" anchor="ctr"/>
          <a:lstStyle/>
          <a:p>
            <a:pPr algn="ctr" indent="0" marL="0">
              <a:buNone/>
            </a:pPr>
            <a:r>
              <a:rPr lang="en-US" sz="2000" b="1" dirty="0">
                <a:solidFill>
                  <a:srgbClr val="712B13"/>
                </a:solidFill>
                <a:latin typeface="Arial" pitchFamily="34" charset="0"/>
                <a:ea typeface="Arial" pitchFamily="34" charset="-122"/>
                <a:cs typeface="Arial" pitchFamily="34" charset="-120"/>
              </a:rPr>
              <a:t>~1%</a:t>
            </a:r>
            <a:endParaRPr lang="en-US" sz="2000" dirty="0"/>
          </a:p>
        </p:txBody>
      </p:sp>
      <p:sp>
        <p:nvSpPr>
          <p:cNvPr id="61" name="Text 59"/>
          <p:cNvSpPr/>
          <p:nvPr/>
        </p:nvSpPr>
        <p:spPr>
          <a:xfrm>
            <a:off x="7132320" y="8778240"/>
            <a:ext cx="1005840" cy="320040"/>
          </a:xfrm>
          <a:prstGeom prst="rect">
            <a:avLst/>
          </a:prstGeom>
          <a:noFill/>
          <a:ln/>
        </p:spPr>
        <p:txBody>
          <a:bodyPr wrap="square" lIns="0" tIns="0" rIns="0" bIns="0" rtlCol="0" anchor="t"/>
          <a:lstStyle/>
          <a:p>
            <a:pPr algn="ctr" indent="0" marL="0">
              <a:buNone/>
            </a:pPr>
            <a:r>
              <a:rPr lang="en-US" sz="800" dirty="0">
                <a:solidFill>
                  <a:srgbClr val="993C1D"/>
                </a:solidFill>
                <a:latin typeface="Arial" pitchFamily="34" charset="0"/>
                <a:ea typeface="Arial" pitchFamily="34" charset="-122"/>
                <a:cs typeface="Arial" pitchFamily="34" charset="-120"/>
              </a:rPr>
              <a:t>triaged by</a:t>
            </a:r>
            <a:endParaRPr lang="en-US" sz="800" dirty="0"/>
          </a:p>
          <a:p>
            <a:pPr algn="ctr" indent="0" marL="0">
              <a:buNone/>
            </a:pPr>
            <a:r>
              <a:rPr lang="en-US" sz="800" dirty="0">
                <a:solidFill>
                  <a:srgbClr val="993C1D"/>
                </a:solidFill>
                <a:latin typeface="Arial" pitchFamily="34" charset="0"/>
                <a:ea typeface="Arial" pitchFamily="34" charset="-122"/>
                <a:cs typeface="Arial" pitchFamily="34" charset="-120"/>
              </a:rPr>
              <a:t>SOC analysts*</a:t>
            </a:r>
            <a:endParaRPr lang="en-US" sz="800" dirty="0"/>
          </a:p>
        </p:txBody>
      </p:sp>
      <p:sp>
        <p:nvSpPr>
          <p:cNvPr id="62" name="Shape 60"/>
          <p:cNvSpPr/>
          <p:nvPr/>
        </p:nvSpPr>
        <p:spPr>
          <a:xfrm>
            <a:off x="685800" y="8595360"/>
            <a:ext cx="3063240" cy="731520"/>
          </a:xfrm>
          <a:prstGeom prst="roundRect">
            <a:avLst>
              <a:gd name="adj" fmla="val 10000"/>
            </a:avLst>
          </a:prstGeom>
          <a:solidFill>
            <a:srgbClr val="FAECE7"/>
          </a:solidFill>
          <a:ln w="9525">
            <a:solidFill>
              <a:srgbClr val="F0997B"/>
            </a:solidFill>
            <a:prstDash val="solid"/>
          </a:ln>
        </p:spPr>
      </p:sp>
      <p:sp>
        <p:nvSpPr>
          <p:cNvPr id="63" name="Text 61"/>
          <p:cNvSpPr/>
          <p:nvPr/>
        </p:nvSpPr>
        <p:spPr>
          <a:xfrm>
            <a:off x="822960" y="8622792"/>
            <a:ext cx="2743200" cy="201168"/>
          </a:xfrm>
          <a:prstGeom prst="rect">
            <a:avLst/>
          </a:prstGeom>
          <a:noFill/>
          <a:ln/>
        </p:spPr>
        <p:txBody>
          <a:bodyPr wrap="square" lIns="0" tIns="0" rIns="0" bIns="0" rtlCol="0" anchor="ctr"/>
          <a:lstStyle/>
          <a:p>
            <a:pPr indent="0" marL="0">
              <a:buNone/>
            </a:pPr>
            <a:r>
              <a:rPr lang="en-US" sz="1200" b="1" dirty="0">
                <a:solidFill>
                  <a:srgbClr val="712B13"/>
                </a:solidFill>
                <a:latin typeface="Arial" pitchFamily="34" charset="0"/>
                <a:ea typeface="Arial" pitchFamily="34" charset="-122"/>
                <a:cs typeface="Arial" pitchFamily="34" charset="-120"/>
              </a:rPr>
              <a:t>SIEM</a:t>
            </a:r>
            <a:endParaRPr lang="en-US" sz="1200" dirty="0"/>
          </a:p>
        </p:txBody>
      </p:sp>
      <p:sp>
        <p:nvSpPr>
          <p:cNvPr id="64" name="Text 62"/>
          <p:cNvSpPr/>
          <p:nvPr/>
        </p:nvSpPr>
        <p:spPr>
          <a:xfrm>
            <a:off x="822960" y="8823960"/>
            <a:ext cx="2743200" cy="411480"/>
          </a:xfrm>
          <a:prstGeom prst="rect">
            <a:avLst/>
          </a:prstGeom>
          <a:noFill/>
          <a:ln/>
        </p:spPr>
        <p:txBody>
          <a:bodyPr wrap="square" lIns="0" tIns="0" rIns="0" bIns="0" rtlCol="0" anchor="ctr"/>
          <a:lstStyle/>
          <a:p>
            <a:pPr indent="0" marL="0">
              <a:buNone/>
            </a:pPr>
            <a:r>
              <a:rPr lang="en-US" sz="950" dirty="0">
                <a:solidFill>
                  <a:srgbClr val="993C1D"/>
                </a:solidFill>
                <a:latin typeface="Arial" pitchFamily="34" charset="0"/>
                <a:ea typeface="Arial" pitchFamily="34" charset="-122"/>
                <a:cs typeface="Arial" pitchFamily="34" charset="-120"/>
              </a:rPr>
              <a:t>Splunk, Sentinel</a:t>
            </a:r>
            <a:endParaRPr lang="en-US" sz="950" dirty="0"/>
          </a:p>
          <a:p>
            <a:pPr indent="0" marL="0">
              <a:buNone/>
            </a:pPr>
            <a:r>
              <a:rPr lang="en-US" sz="950" dirty="0">
                <a:solidFill>
                  <a:srgbClr val="993C1D"/>
                </a:solidFill>
                <a:latin typeface="Arial" pitchFamily="34" charset="0"/>
                <a:ea typeface="Arial" pitchFamily="34" charset="-122"/>
                <a:cs typeface="Arial" pitchFamily="34" charset="-120"/>
              </a:rPr>
              <a:t>Aggregates alerts for human analysts</a:t>
            </a:r>
            <a:endParaRPr lang="en-US" sz="950" dirty="0"/>
          </a:p>
        </p:txBody>
      </p:sp>
      <p:sp>
        <p:nvSpPr>
          <p:cNvPr id="65" name="Shape 63"/>
          <p:cNvSpPr/>
          <p:nvPr/>
        </p:nvSpPr>
        <p:spPr>
          <a:xfrm>
            <a:off x="3931920" y="8595360"/>
            <a:ext cx="3063240" cy="731520"/>
          </a:xfrm>
          <a:prstGeom prst="roundRect">
            <a:avLst>
              <a:gd name="adj" fmla="val 10000"/>
            </a:avLst>
          </a:prstGeom>
          <a:solidFill>
            <a:srgbClr val="FAECE7"/>
          </a:solidFill>
          <a:ln w="9525">
            <a:solidFill>
              <a:srgbClr val="F0997B"/>
            </a:solidFill>
            <a:prstDash val="solid"/>
          </a:ln>
        </p:spPr>
      </p:sp>
      <p:sp>
        <p:nvSpPr>
          <p:cNvPr id="66" name="Text 64"/>
          <p:cNvSpPr/>
          <p:nvPr/>
        </p:nvSpPr>
        <p:spPr>
          <a:xfrm>
            <a:off x="4069080" y="8622792"/>
            <a:ext cx="2743200" cy="201168"/>
          </a:xfrm>
          <a:prstGeom prst="rect">
            <a:avLst/>
          </a:prstGeom>
          <a:noFill/>
          <a:ln/>
        </p:spPr>
        <p:txBody>
          <a:bodyPr wrap="square" lIns="0" tIns="0" rIns="0" bIns="0" rtlCol="0" anchor="ctr"/>
          <a:lstStyle/>
          <a:p>
            <a:pPr indent="0" marL="0">
              <a:buNone/>
            </a:pPr>
            <a:r>
              <a:rPr lang="en-US" sz="1200" b="1" dirty="0">
                <a:solidFill>
                  <a:srgbClr val="712B13"/>
                </a:solidFill>
                <a:latin typeface="Arial" pitchFamily="34" charset="0"/>
                <a:ea typeface="Arial" pitchFamily="34" charset="-122"/>
                <a:cs typeface="Arial" pitchFamily="34" charset="-120"/>
              </a:rPr>
              <a:t>SOAR</a:t>
            </a:r>
            <a:endParaRPr lang="en-US" sz="1200" dirty="0"/>
          </a:p>
        </p:txBody>
      </p:sp>
      <p:sp>
        <p:nvSpPr>
          <p:cNvPr id="67" name="Text 65"/>
          <p:cNvSpPr/>
          <p:nvPr/>
        </p:nvSpPr>
        <p:spPr>
          <a:xfrm>
            <a:off x="4069080" y="8823960"/>
            <a:ext cx="2743200" cy="411480"/>
          </a:xfrm>
          <a:prstGeom prst="rect">
            <a:avLst/>
          </a:prstGeom>
          <a:noFill/>
          <a:ln/>
        </p:spPr>
        <p:txBody>
          <a:bodyPr wrap="square" lIns="0" tIns="0" rIns="0" bIns="0" rtlCol="0" anchor="ctr"/>
          <a:lstStyle/>
          <a:p>
            <a:pPr indent="0" marL="0">
              <a:buNone/>
            </a:pPr>
            <a:r>
              <a:rPr lang="en-US" sz="950" dirty="0">
                <a:solidFill>
                  <a:srgbClr val="993C1D"/>
                </a:solidFill>
                <a:latin typeface="Arial" pitchFamily="34" charset="0"/>
                <a:ea typeface="Arial" pitchFamily="34" charset="-122"/>
                <a:cs typeface="Arial" pitchFamily="34" charset="-120"/>
              </a:rPr>
              <a:t>XSOAR, Splunk SOAR</a:t>
            </a:r>
            <a:endParaRPr lang="en-US" sz="950" dirty="0"/>
          </a:p>
          <a:p>
            <a:pPr indent="0" marL="0">
              <a:buNone/>
            </a:pPr>
            <a:r>
              <a:rPr lang="en-US" sz="950" dirty="0">
                <a:solidFill>
                  <a:srgbClr val="993C1D"/>
                </a:solidFill>
                <a:latin typeface="Arial" pitchFamily="34" charset="0"/>
                <a:ea typeface="Arial" pitchFamily="34" charset="-122"/>
                <a:cs typeface="Arial" pitchFamily="34" charset="-120"/>
              </a:rPr>
              <a:t>Automates response playbooks</a:t>
            </a:r>
            <a:endParaRPr lang="en-US" sz="950" dirty="0"/>
          </a:p>
        </p:txBody>
      </p:sp>
      <p:sp>
        <p:nvSpPr>
          <p:cNvPr id="68" name="Text 66"/>
          <p:cNvSpPr/>
          <p:nvPr/>
        </p:nvSpPr>
        <p:spPr>
          <a:xfrm>
            <a:off x="685800" y="9509760"/>
            <a:ext cx="7772400" cy="182880"/>
          </a:xfrm>
          <a:prstGeom prst="rect">
            <a:avLst/>
          </a:prstGeom>
          <a:noFill/>
          <a:ln/>
        </p:spPr>
        <p:txBody>
          <a:bodyPr wrap="square" lIns="0" tIns="0" rIns="0" bIns="0" rtlCol="0" anchor="ctr"/>
          <a:lstStyle/>
          <a:p>
            <a:pPr algn="ctr" indent="0" marL="0">
              <a:buNone/>
            </a:pPr>
            <a:r>
              <a:rPr lang="en-US" sz="900" i="1" dirty="0">
                <a:solidFill>
                  <a:srgbClr val="888780"/>
                </a:solidFill>
                <a:latin typeface="Arial" pitchFamily="34" charset="0"/>
                <a:ea typeface="Arial" pitchFamily="34" charset="-122"/>
                <a:cs typeface="Arial" pitchFamily="34" charset="-120"/>
              </a:rPr>
              <a:t>Gartner predicts: by 2030, preemptive cybersecurity will account for 50% of IT security spending, up from &lt;5% in 2024 ⁴</a:t>
            </a:r>
            <a:endParaRPr lang="en-US" sz="900" dirty="0"/>
          </a:p>
        </p:txBody>
      </p:sp>
      <p:sp>
        <p:nvSpPr>
          <p:cNvPr id="69" name="Shape 67"/>
          <p:cNvSpPr/>
          <p:nvPr/>
        </p:nvSpPr>
        <p:spPr>
          <a:xfrm>
            <a:off x="457200" y="9829800"/>
            <a:ext cx="8229600" cy="1325880"/>
          </a:xfrm>
          <a:prstGeom prst="roundRect">
            <a:avLst>
              <a:gd name="adj" fmla="val 6897"/>
            </a:avLst>
          </a:prstGeom>
          <a:solidFill>
            <a:srgbClr val="F1EFE8"/>
          </a:solidFill>
          <a:ln w="9525">
            <a:solidFill>
              <a:srgbClr val="D3D1C7"/>
            </a:solidFill>
            <a:prstDash val="solid"/>
          </a:ln>
        </p:spPr>
      </p:sp>
      <p:sp>
        <p:nvSpPr>
          <p:cNvPr id="70" name="Text 68"/>
          <p:cNvSpPr/>
          <p:nvPr/>
        </p:nvSpPr>
        <p:spPr>
          <a:xfrm>
            <a:off x="685800" y="9921240"/>
            <a:ext cx="7772400" cy="256032"/>
          </a:xfrm>
          <a:prstGeom prst="rect">
            <a:avLst/>
          </a:prstGeom>
          <a:noFill/>
          <a:ln/>
        </p:spPr>
        <p:txBody>
          <a:bodyPr wrap="square" lIns="0" tIns="0" rIns="0" bIns="0" rtlCol="0" anchor="ctr"/>
          <a:lstStyle/>
          <a:p>
            <a:pPr indent="0" marL="0">
              <a:buNone/>
            </a:pPr>
            <a:r>
              <a:rPr lang="en-US" sz="1400" b="1" dirty="0">
                <a:solidFill>
                  <a:srgbClr val="2C2C2A"/>
                </a:solidFill>
                <a:latin typeface="Arial" pitchFamily="34" charset="0"/>
                <a:ea typeface="Arial" pitchFamily="34" charset="-122"/>
                <a:cs typeface="Arial" pitchFamily="34" charset="-120"/>
              </a:rPr>
              <a:t>The takeaway</a:t>
            </a:r>
            <a:endParaRPr lang="en-US" sz="1400" dirty="0"/>
          </a:p>
        </p:txBody>
      </p:sp>
      <p:sp>
        <p:nvSpPr>
          <p:cNvPr id="71" name="Text 69"/>
          <p:cNvSpPr/>
          <p:nvPr/>
        </p:nvSpPr>
        <p:spPr>
          <a:xfrm>
            <a:off x="685800" y="10177272"/>
            <a:ext cx="7772400" cy="868680"/>
          </a:xfrm>
          <a:prstGeom prst="rect">
            <a:avLst/>
          </a:prstGeom>
          <a:noFill/>
          <a:ln/>
        </p:spPr>
        <p:txBody>
          <a:bodyPr wrap="square" lIns="0" tIns="0" rIns="0" bIns="0" rtlCol="0" anchor="ctr"/>
          <a:lstStyle/>
          <a:p>
            <a:pPr indent="0" marL="0">
              <a:buNone/>
            </a:pPr>
            <a:r>
              <a:rPr lang="en-US" sz="1050" dirty="0">
                <a:solidFill>
                  <a:srgbClr val="5F5E5A"/>
                </a:solidFill>
                <a:latin typeface="Arial" pitchFamily="34" charset="0"/>
                <a:ea typeface="Arial" pitchFamily="34" charset="-122"/>
                <a:cs typeface="Arial" pitchFamily="34" charset="-120"/>
              </a:rPr>
              <a:t>Tools like CrowdStrike, Defender, and Splunk are reactive — they are the alarms that go off when the burglar is already inside the house. RigorOS ensures that the locks on the doors (NGFWs) were actually installed correctly in the first place, mathematically guaranteeing the burglar can never get in. It finds what no other tool can: shadowed rules, multi-rule conflicts, missing threat profiles, and intent errors buried in 100K+ configuration states.</a:t>
            </a:r>
            <a:endParaRPr lang="en-US" sz="1050" dirty="0"/>
          </a:p>
        </p:txBody>
      </p:sp>
      <p:sp>
        <p:nvSpPr>
          <p:cNvPr id="72" name="Text 70"/>
          <p:cNvSpPr/>
          <p:nvPr/>
        </p:nvSpPr>
        <p:spPr>
          <a:xfrm>
            <a:off x="457200" y="11430000"/>
            <a:ext cx="8229600" cy="274320"/>
          </a:xfrm>
          <a:prstGeom prst="rect">
            <a:avLst/>
          </a:prstGeom>
          <a:noFill/>
          <a:ln/>
        </p:spPr>
        <p:txBody>
          <a:bodyPr wrap="square" lIns="0" tIns="0" rIns="0" bIns="0" rtlCol="0" anchor="ctr"/>
          <a:lstStyle/>
          <a:p>
            <a:pPr algn="ctr" indent="0" marL="0">
              <a:buNone/>
            </a:pPr>
            <a:r>
              <a:rPr lang="en-US" sz="750" i="1" dirty="0">
                <a:solidFill>
                  <a:srgbClr val="B4B2A9"/>
                </a:solidFill>
                <a:latin typeface="Arial" pitchFamily="34" charset="0"/>
                <a:ea typeface="Arial" pitchFamily="34" charset="-122"/>
                <a:cs typeface="Arial" pitchFamily="34" charset="-120"/>
              </a:rPr>
              <a:t>* The ~85/10/4/1% layer distribution is an illustrative model based on industry data, not a single published benchmark. See sources on page 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Sources &amp; data verification</a:t>
            </a:r>
            <a:endParaRPr lang="en-US" sz="24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888780"/>
                </a:solidFill>
                <a:latin typeface="Arial" pitchFamily="34" charset="0"/>
                <a:ea typeface="Arial" pitchFamily="34" charset="-122"/>
                <a:cs typeface="Arial" pitchFamily="34" charset="-120"/>
              </a:rPr>
              <a:t>All statistics used in this diagram are sourced from published industry research</a:t>
            </a:r>
            <a:endParaRPr lang="en-US" sz="1200" dirty="0"/>
          </a:p>
        </p:txBody>
      </p:sp>
      <p:sp>
        <p:nvSpPr>
          <p:cNvPr id="4" name="Shape 2"/>
          <p:cNvSpPr/>
          <p:nvPr/>
        </p:nvSpPr>
        <p:spPr>
          <a:xfrm>
            <a:off x="457200" y="1234440"/>
            <a:ext cx="8229600" cy="0"/>
          </a:xfrm>
          <a:prstGeom prst="line">
            <a:avLst/>
          </a:prstGeom>
          <a:noFill/>
          <a:ln w="6350">
            <a:solidFill>
              <a:srgbClr val="D3D1C7"/>
            </a:solidFill>
            <a:prstDash val="solid"/>
          </a:ln>
        </p:spPr>
      </p:sp>
      <p:sp>
        <p:nvSpPr>
          <p:cNvPr id="5" name="Text 3"/>
          <p:cNvSpPr/>
          <p:nvPr/>
        </p:nvSpPr>
        <p:spPr>
          <a:xfrm>
            <a:off x="457200" y="141732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¹  99% of firewall breaches caused by misconfiguration</a:t>
            </a:r>
            <a:endParaRPr lang="en-US" sz="1200" dirty="0"/>
          </a:p>
        </p:txBody>
      </p:sp>
      <p:sp>
        <p:nvSpPr>
          <p:cNvPr id="6" name="Text 4"/>
          <p:cNvSpPr/>
          <p:nvPr/>
        </p:nvSpPr>
        <p:spPr>
          <a:xfrm>
            <a:off x="457200" y="164592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Gartner predicted that through 2023, 99% of firewall breaches will be caused by firewall misconfigurations, not flaws in the firewall itself. Widely cited across the industry by Palo Alto Networks, Akamai, FireMon, and others.</a:t>
            </a:r>
            <a:endParaRPr lang="en-US" sz="1000" dirty="0"/>
          </a:p>
        </p:txBody>
      </p:sp>
      <p:sp>
        <p:nvSpPr>
          <p:cNvPr id="7" name="Text 5"/>
          <p:cNvSpPr/>
          <p:nvPr/>
        </p:nvSpPr>
        <p:spPr>
          <a:xfrm>
            <a:off x="457200" y="205740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 Gartner, "Technology Insight for Network Security Policy Management," February 2019</a:t>
            </a:r>
            <a:endParaRPr lang="en-US" sz="900" dirty="0"/>
          </a:p>
        </p:txBody>
      </p:sp>
      <p:sp>
        <p:nvSpPr>
          <p:cNvPr id="8" name="Shape 6"/>
          <p:cNvSpPr/>
          <p:nvPr/>
        </p:nvSpPr>
        <p:spPr>
          <a:xfrm>
            <a:off x="457200" y="2331720"/>
            <a:ext cx="8229600" cy="0"/>
          </a:xfrm>
          <a:prstGeom prst="line">
            <a:avLst/>
          </a:prstGeom>
          <a:noFill/>
          <a:ln w="6350">
            <a:solidFill>
              <a:srgbClr val="E8E8E8"/>
            </a:solidFill>
            <a:prstDash val="solid"/>
          </a:ln>
        </p:spPr>
      </p:sp>
      <p:sp>
        <p:nvSpPr>
          <p:cNvPr id="9" name="Text 7"/>
          <p:cNvSpPr/>
          <p:nvPr/>
        </p:nvSpPr>
        <p:spPr>
          <a:xfrm>
            <a:off x="457200" y="246888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²  Vulnerability scanners address only the vulnerability-based fraction of attacks</a:t>
            </a:r>
            <a:endParaRPr lang="en-US" sz="1200" dirty="0"/>
          </a:p>
        </p:txBody>
      </p:sp>
      <p:sp>
        <p:nvSpPr>
          <p:cNvPr id="10" name="Text 8"/>
          <p:cNvSpPr/>
          <p:nvPr/>
        </p:nvSpPr>
        <p:spPr>
          <a:xfrm>
            <a:off x="457200" y="269748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CISA's KEV catalog contains ~1,200 entries vs. 277,000+ total CVEs. Many attack techniques are not CVE-based. Rigor AI estimates vulnerability-based attacks represent approximately 20% of all known attacks.</a:t>
            </a:r>
            <a:endParaRPr lang="en-US" sz="1000" dirty="0"/>
          </a:p>
        </p:txBody>
      </p:sp>
      <p:sp>
        <p:nvSpPr>
          <p:cNvPr id="11" name="Text 9"/>
          <p:cNvSpPr/>
          <p:nvPr/>
        </p:nvSpPr>
        <p:spPr>
          <a:xfrm>
            <a:off x="457200" y="310896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Sources: CISA Known Exploited Vulnerabilities Catalog; Gartner (Sept 2025, 277K CVEs); Rigor AI analysis</a:t>
            </a:r>
            <a:endParaRPr lang="en-US" sz="900" dirty="0"/>
          </a:p>
        </p:txBody>
      </p:sp>
      <p:sp>
        <p:nvSpPr>
          <p:cNvPr id="12" name="Shape 10"/>
          <p:cNvSpPr/>
          <p:nvPr/>
        </p:nvSpPr>
        <p:spPr>
          <a:xfrm>
            <a:off x="457200" y="3383280"/>
            <a:ext cx="8229600" cy="0"/>
          </a:xfrm>
          <a:prstGeom prst="line">
            <a:avLst/>
          </a:prstGeom>
          <a:noFill/>
          <a:ln w="6350">
            <a:solidFill>
              <a:srgbClr val="E8E8E8"/>
            </a:solidFill>
            <a:prstDash val="solid"/>
          </a:ln>
        </p:spPr>
      </p:sp>
      <p:sp>
        <p:nvSpPr>
          <p:cNvPr id="13" name="Text 11"/>
          <p:cNvSpPr/>
          <p:nvPr/>
        </p:nvSpPr>
        <p:spPr>
          <a:xfrm>
            <a:off x="457200" y="352044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³  Average breakout time: 29 minutes (fastest: 27 seconds)</a:t>
            </a:r>
            <a:endParaRPr lang="en-US" sz="1200" dirty="0"/>
          </a:p>
        </p:txBody>
      </p:sp>
      <p:sp>
        <p:nvSpPr>
          <p:cNvPr id="14" name="Text 12"/>
          <p:cNvSpPr/>
          <p:nvPr/>
        </p:nvSpPr>
        <p:spPr>
          <a:xfrm>
            <a:off x="457200" y="374904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Average eCrime breakout time fell to 29 minutes in 2025, down from 48 min (2024), 62 min (2023), 84 min (2022). Fastest: 27 seconds. Data exfiltration observed within 4 minutes of access.</a:t>
            </a:r>
            <a:endParaRPr lang="en-US" sz="1000" dirty="0"/>
          </a:p>
        </p:txBody>
      </p:sp>
      <p:sp>
        <p:nvSpPr>
          <p:cNvPr id="15" name="Text 13"/>
          <p:cNvSpPr/>
          <p:nvPr/>
        </p:nvSpPr>
        <p:spPr>
          <a:xfrm>
            <a:off x="457200" y="416052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 CrowdStrike 2026 Global Threat Report (covering 2025 data), published February 2026</a:t>
            </a:r>
            <a:endParaRPr lang="en-US" sz="900" dirty="0"/>
          </a:p>
        </p:txBody>
      </p:sp>
      <p:sp>
        <p:nvSpPr>
          <p:cNvPr id="16" name="Shape 14"/>
          <p:cNvSpPr/>
          <p:nvPr/>
        </p:nvSpPr>
        <p:spPr>
          <a:xfrm>
            <a:off x="457200" y="4434840"/>
            <a:ext cx="8229600" cy="0"/>
          </a:xfrm>
          <a:prstGeom prst="line">
            <a:avLst/>
          </a:prstGeom>
          <a:noFill/>
          <a:ln w="6350">
            <a:solidFill>
              <a:srgbClr val="E8E8E8"/>
            </a:solidFill>
            <a:prstDash val="solid"/>
          </a:ln>
        </p:spPr>
      </p:sp>
      <p:sp>
        <p:nvSpPr>
          <p:cNvPr id="17" name="Text 15"/>
          <p:cNvSpPr/>
          <p:nvPr/>
        </p:nvSpPr>
        <p:spPr>
          <a:xfrm>
            <a:off x="457200" y="457200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⁴  50% of IT security spending on preemptive cybersecurity by 2030</a:t>
            </a:r>
            <a:endParaRPr lang="en-US" sz="1200" dirty="0"/>
          </a:p>
        </p:txBody>
      </p:sp>
      <p:sp>
        <p:nvSpPr>
          <p:cNvPr id="18" name="Text 16"/>
          <p:cNvSpPr/>
          <p:nvPr/>
        </p:nvSpPr>
        <p:spPr>
          <a:xfrm>
            <a:off x="457200" y="480060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Gartner projects preemptive cybersecurity solutions will account for 50% of IT security spending by 2030, up from &lt;5% in 2024, replacing standalone detection and response as the preferred approach.</a:t>
            </a:r>
            <a:endParaRPr lang="en-US" sz="1000" dirty="0"/>
          </a:p>
        </p:txBody>
      </p:sp>
      <p:sp>
        <p:nvSpPr>
          <p:cNvPr id="19" name="Text 17"/>
          <p:cNvSpPr/>
          <p:nvPr/>
        </p:nvSpPr>
        <p:spPr>
          <a:xfrm>
            <a:off x="457200" y="521208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 Gartner Press Release, September 18, 2025 (gartner.com/en/newsroom)</a:t>
            </a:r>
            <a:endParaRPr lang="en-US" sz="900" dirty="0"/>
          </a:p>
        </p:txBody>
      </p:sp>
      <p:sp>
        <p:nvSpPr>
          <p:cNvPr id="20" name="Shape 18"/>
          <p:cNvSpPr/>
          <p:nvPr/>
        </p:nvSpPr>
        <p:spPr>
          <a:xfrm>
            <a:off x="457200" y="5486400"/>
            <a:ext cx="8229600" cy="0"/>
          </a:xfrm>
          <a:prstGeom prst="line">
            <a:avLst/>
          </a:prstGeom>
          <a:noFill/>
          <a:ln w="6350">
            <a:solidFill>
              <a:srgbClr val="E8E8E8"/>
            </a:solidFill>
            <a:prstDash val="solid"/>
          </a:ln>
        </p:spPr>
      </p:sp>
      <p:sp>
        <p:nvSpPr>
          <p:cNvPr id="21" name="Text 19"/>
          <p:cNvSpPr/>
          <p:nvPr/>
        </p:nvSpPr>
        <p:spPr>
          <a:xfrm>
            <a:off x="457200" y="562356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⁵  60%+ of security incidents traced to misconfigured controls</a:t>
            </a:r>
            <a:endParaRPr lang="en-US" sz="1200" dirty="0"/>
          </a:p>
        </p:txBody>
      </p:sp>
      <p:sp>
        <p:nvSpPr>
          <p:cNvPr id="22" name="Text 20"/>
          <p:cNvSpPr/>
          <p:nvPr/>
        </p:nvSpPr>
        <p:spPr>
          <a:xfrm>
            <a:off x="457200" y="585216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Gartner predicts through 2029, more than 60% of security incidents will be traced to misconfigured technical security controls. Verizon 2024 DBIR: 68% of breaches involved a non-malicious human element.</a:t>
            </a:r>
            <a:endParaRPr lang="en-US" sz="1000" dirty="0"/>
          </a:p>
        </p:txBody>
      </p:sp>
      <p:sp>
        <p:nvSpPr>
          <p:cNvPr id="23" name="Text 21"/>
          <p:cNvSpPr/>
          <p:nvPr/>
        </p:nvSpPr>
        <p:spPr>
          <a:xfrm>
            <a:off x="457200" y="626364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Sources: Gartner, "Innovation Insight: ASCA," Aug 2024; Verizon 2024 DBIR</a:t>
            </a:r>
            <a:endParaRPr lang="en-US" sz="900" dirty="0"/>
          </a:p>
        </p:txBody>
      </p:sp>
      <p:sp>
        <p:nvSpPr>
          <p:cNvPr id="24" name="Shape 22"/>
          <p:cNvSpPr/>
          <p:nvPr/>
        </p:nvSpPr>
        <p:spPr>
          <a:xfrm>
            <a:off x="457200" y="6537960"/>
            <a:ext cx="8229600" cy="0"/>
          </a:xfrm>
          <a:prstGeom prst="line">
            <a:avLst/>
          </a:prstGeom>
          <a:noFill/>
          <a:ln w="6350">
            <a:solidFill>
              <a:srgbClr val="E8E8E8"/>
            </a:solidFill>
            <a:prstDash val="solid"/>
          </a:ln>
        </p:spPr>
      </p:sp>
      <p:sp>
        <p:nvSpPr>
          <p:cNvPr id="25" name="Text 23"/>
          <p:cNvSpPr/>
          <p:nvPr/>
        </p:nvSpPr>
        <p:spPr>
          <a:xfrm>
            <a:off x="457200" y="667512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⁶  Additional referenced data points</a:t>
            </a:r>
            <a:endParaRPr lang="en-US" sz="1200" dirty="0"/>
          </a:p>
        </p:txBody>
      </p:sp>
      <p:sp>
        <p:nvSpPr>
          <p:cNvPr id="26" name="Text 24"/>
          <p:cNvSpPr/>
          <p:nvPr/>
        </p:nvSpPr>
        <p:spPr>
          <a:xfrm>
            <a:off x="457200" y="6903720"/>
            <a:ext cx="8229600" cy="731520"/>
          </a:xfrm>
          <a:prstGeom prst="rect">
            <a:avLst/>
          </a:prstGeom>
          <a:noFill/>
          <a:ln/>
        </p:spPr>
        <p:txBody>
          <a:bodyPr wrap="square" lIns="0" tIns="0" rIns="0" bIns="0" rtlCol="0" anchor="ctr"/>
          <a:lstStyle/>
          <a:p>
            <a:pPr indent="0" marL="0">
              <a:lnSpc>
                <a:spcPct val="130000"/>
              </a:lnSpc>
              <a:buNone/>
            </a:pPr>
            <a:r>
              <a:rPr lang="en-US" sz="950" dirty="0">
                <a:solidFill>
                  <a:srgbClr val="444441"/>
                </a:solidFill>
                <a:latin typeface="Arial" pitchFamily="34" charset="0"/>
                <a:ea typeface="Arial" pitchFamily="34" charset="-122"/>
                <a:cs typeface="Arial" pitchFamily="34" charset="-120"/>
              </a:rPr>
              <a:t>$10.5 trillion cybercrime cost (2025) — Cybersecurity Ventures</a:t>
            </a:r>
            <a:endParaRPr lang="en-US" sz="950" dirty="0"/>
          </a:p>
          <a:p>
            <a:pPr indent="0" marL="0">
              <a:lnSpc>
                <a:spcPct val="130000"/>
              </a:lnSpc>
              <a:buNone/>
            </a:pPr>
            <a:r>
              <a:rPr lang="en-US" sz="950" dirty="0">
                <a:solidFill>
                  <a:srgbClr val="444441"/>
                </a:solidFill>
                <a:latin typeface="Arial" pitchFamily="34" charset="0"/>
                <a:ea typeface="Arial" pitchFamily="34" charset="-122"/>
                <a:cs typeface="Arial" pitchFamily="34" charset="-120"/>
              </a:rPr>
              <a:t>202% cyberattack surge (credential phishing, 2024) — SlashNext Phishing Intelligence Report</a:t>
            </a:r>
            <a:endParaRPr lang="en-US" sz="950" dirty="0"/>
          </a:p>
          <a:p>
            <a:pPr indent="0" marL="0">
              <a:lnSpc>
                <a:spcPct val="130000"/>
              </a:lnSpc>
              <a:buNone/>
            </a:pPr>
            <a:r>
              <a:rPr lang="en-US" sz="950" dirty="0">
                <a:solidFill>
                  <a:srgbClr val="444441"/>
                </a:solidFill>
                <a:latin typeface="Arial" pitchFamily="34" charset="0"/>
                <a:ea typeface="Arial" pitchFamily="34" charset="-122"/>
                <a:cs typeface="Arial" pitchFamily="34" charset="-120"/>
              </a:rPr>
              <a:t>1M+ CVEs projected by 2030, up 300% from ~277K in 2025 — Gartner, Sept 2025</a:t>
            </a:r>
            <a:endParaRPr lang="en-US" sz="950" dirty="0"/>
          </a:p>
          <a:p>
            <a:pPr indent="0" marL="0">
              <a:lnSpc>
                <a:spcPct val="130000"/>
              </a:lnSpc>
              <a:buNone/>
            </a:pPr>
            <a:r>
              <a:rPr lang="en-US" sz="950" dirty="0">
                <a:solidFill>
                  <a:srgbClr val="444441"/>
                </a:solidFill>
                <a:latin typeface="Arial" pitchFamily="34" charset="0"/>
                <a:ea typeface="Arial" pitchFamily="34" charset="-122"/>
                <a:cs typeface="Arial" pitchFamily="34" charset="-120"/>
              </a:rPr>
              <a:t>82% of intrusions in 2025 were malware-free — CrowdStrike 2026 Global Threat Report</a:t>
            </a:r>
            <a:endParaRPr lang="en-US" sz="950" dirty="0"/>
          </a:p>
        </p:txBody>
      </p:sp>
      <p:sp>
        <p:nvSpPr>
          <p:cNvPr id="27" name="Shape 25"/>
          <p:cNvSpPr/>
          <p:nvPr/>
        </p:nvSpPr>
        <p:spPr>
          <a:xfrm>
            <a:off x="457200" y="7772400"/>
            <a:ext cx="8229600" cy="0"/>
          </a:xfrm>
          <a:prstGeom prst="line">
            <a:avLst/>
          </a:prstGeom>
          <a:noFill/>
          <a:ln w="6350">
            <a:solidFill>
              <a:srgbClr val="E8E8E8"/>
            </a:solidFill>
            <a:prstDash val="solid"/>
          </a:ln>
        </p:spPr>
      </p:sp>
      <p:sp>
        <p:nvSpPr>
          <p:cNvPr id="28" name="Shape 26"/>
          <p:cNvSpPr/>
          <p:nvPr/>
        </p:nvSpPr>
        <p:spPr>
          <a:xfrm>
            <a:off x="457200" y="7955280"/>
            <a:ext cx="8229600" cy="1005840"/>
          </a:xfrm>
          <a:prstGeom prst="roundRect">
            <a:avLst>
              <a:gd name="adj" fmla="val 9091"/>
            </a:avLst>
          </a:prstGeom>
          <a:solidFill>
            <a:srgbClr val="F9F9F6"/>
          </a:solidFill>
          <a:ln w="6350">
            <a:solidFill>
              <a:srgbClr val="D3D1C7"/>
            </a:solidFill>
            <a:prstDash val="solid"/>
          </a:ln>
        </p:spPr>
      </p:sp>
      <p:sp>
        <p:nvSpPr>
          <p:cNvPr id="29" name="Text 27"/>
          <p:cNvSpPr/>
          <p:nvPr/>
        </p:nvSpPr>
        <p:spPr>
          <a:xfrm>
            <a:off x="685800" y="8046720"/>
            <a:ext cx="7772400" cy="228600"/>
          </a:xfrm>
          <a:prstGeom prst="rect">
            <a:avLst/>
          </a:prstGeom>
          <a:noFill/>
          <a:ln/>
        </p:spPr>
        <p:txBody>
          <a:bodyPr wrap="square" lIns="0" tIns="0" rIns="0" bIns="0" rtlCol="0" anchor="ctr"/>
          <a:lstStyle/>
          <a:p>
            <a:pPr indent="0" marL="0">
              <a:buNone/>
            </a:pPr>
            <a:r>
              <a:rPr lang="en-US" sz="1100" b="1" dirty="0">
                <a:solidFill>
                  <a:srgbClr val="444441"/>
                </a:solidFill>
                <a:latin typeface="Arial" pitchFamily="34" charset="0"/>
                <a:ea typeface="Arial" pitchFamily="34" charset="-122"/>
                <a:cs typeface="Arial" pitchFamily="34" charset="-120"/>
              </a:rPr>
              <a:t>Note on the ~85/10/4/1% layer distribution</a:t>
            </a:r>
            <a:endParaRPr lang="en-US" sz="1100" dirty="0"/>
          </a:p>
        </p:txBody>
      </p:sp>
      <p:sp>
        <p:nvSpPr>
          <p:cNvPr id="30" name="Text 28"/>
          <p:cNvSpPr/>
          <p:nvPr/>
        </p:nvSpPr>
        <p:spPr>
          <a:xfrm>
            <a:off x="685800" y="8275320"/>
            <a:ext cx="7772400" cy="594360"/>
          </a:xfrm>
          <a:prstGeom prst="rect">
            <a:avLst/>
          </a:prstGeom>
          <a:noFill/>
          <a:ln/>
        </p:spPr>
        <p:txBody>
          <a:bodyPr wrap="square" lIns="0" tIns="0" rIns="0" bIns="0" rtlCol="0" anchor="ctr"/>
          <a:lstStyle/>
          <a:p>
            <a:pPr indent="0" marL="0">
              <a:buNone/>
            </a:pPr>
            <a:r>
              <a:rPr lang="en-US" sz="950" dirty="0">
                <a:solidFill>
                  <a:srgbClr val="5F5E5A"/>
                </a:solidFill>
                <a:latin typeface="Arial" pitchFamily="34" charset="0"/>
                <a:ea typeface="Arial" pitchFamily="34" charset="-122"/>
                <a:cs typeface="Arial" pitchFamily="34" charset="-120"/>
              </a:rPr>
              <a:t>The percentage breakdown is an illustrative model derived from the convergence of published data: Gartner’s 99% misconfiguration finding (Stage 1 dominance), limited CVE-only coverage of vuln scanners (Stage 2), and the reactive nature of EDR/SIEM tools (Stages 3–4). The exact ratios are illustrative, not a single published benchmark.</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cybersecurity stack explained</a:t>
            </a:r>
            <a:endParaRPr lang="en-US" sz="24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888780"/>
                </a:solidFill>
                <a:latin typeface="Arial" pitchFamily="34" charset="0"/>
                <a:ea typeface="Arial" pitchFamily="34" charset="-122"/>
                <a:cs typeface="Arial" pitchFamily="34" charset="-120"/>
              </a:rPr>
              <a:t>What each tool does in plain language — and why none of them can replace preemptive verification</a:t>
            </a:r>
            <a:endParaRPr lang="en-US" sz="1200" dirty="0"/>
          </a:p>
        </p:txBody>
      </p:sp>
      <p:sp>
        <p:nvSpPr>
          <p:cNvPr id="4" name="Shape 2"/>
          <p:cNvSpPr/>
          <p:nvPr/>
        </p:nvSpPr>
        <p:spPr>
          <a:xfrm>
            <a:off x="457200" y="1280160"/>
            <a:ext cx="54864" cy="960120"/>
          </a:xfrm>
          <a:prstGeom prst="rect">
            <a:avLst/>
          </a:prstGeom>
          <a:solidFill>
            <a:srgbClr val="185FA5"/>
          </a:solidFill>
          <a:ln/>
        </p:spPr>
      </p:sp>
      <p:sp>
        <p:nvSpPr>
          <p:cNvPr id="5" name="Text 3"/>
          <p:cNvSpPr/>
          <p:nvPr/>
        </p:nvSpPr>
        <p:spPr>
          <a:xfrm>
            <a:off x="685800" y="1298448"/>
            <a:ext cx="1188720" cy="201168"/>
          </a:xfrm>
          <a:prstGeom prst="rect">
            <a:avLst/>
          </a:prstGeom>
          <a:solidFill>
            <a:srgbClr val="185FA5"/>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PERIMETER</a:t>
            </a:r>
            <a:endParaRPr lang="en-US" sz="800" dirty="0"/>
          </a:p>
        </p:txBody>
      </p:sp>
      <p:sp>
        <p:nvSpPr>
          <p:cNvPr id="6" name="Text 4"/>
          <p:cNvSpPr/>
          <p:nvPr/>
        </p:nvSpPr>
        <p:spPr>
          <a:xfrm>
            <a:off x="1965960" y="128016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NGFW (Next-Gen Firewall)</a:t>
            </a:r>
            <a:endParaRPr lang="en-US" sz="1300" dirty="0"/>
          </a:p>
        </p:txBody>
      </p:sp>
      <p:sp>
        <p:nvSpPr>
          <p:cNvPr id="7" name="Text 5"/>
          <p:cNvSpPr/>
          <p:nvPr/>
        </p:nvSpPr>
        <p:spPr>
          <a:xfrm>
            <a:off x="1965960" y="153619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Palo Alto, Fortinet, Cisco</a:t>
            </a:r>
            <a:endParaRPr lang="en-US" sz="950" dirty="0"/>
          </a:p>
        </p:txBody>
      </p:sp>
      <p:sp>
        <p:nvSpPr>
          <p:cNvPr id="8" name="Text 6"/>
          <p:cNvSpPr/>
          <p:nvPr/>
        </p:nvSpPr>
        <p:spPr>
          <a:xfrm>
            <a:off x="5303520" y="1280160"/>
            <a:ext cx="338328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digital gatekeepers.</a:t>
            </a:r>
            <a:endParaRPr lang="en-US" sz="1100" dirty="0"/>
          </a:p>
        </p:txBody>
      </p:sp>
      <p:sp>
        <p:nvSpPr>
          <p:cNvPr id="9" name="Text 7"/>
          <p:cNvSpPr/>
          <p:nvPr/>
        </p:nvSpPr>
        <p:spPr>
          <a:xfrm>
            <a:off x="5303520" y="155448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sit at the perimeter and block or allow live network traffic based on rules configured by your IT team. Only as good as their configuration.</a:t>
            </a:r>
            <a:endParaRPr lang="en-US" sz="1000" dirty="0"/>
          </a:p>
        </p:txBody>
      </p:sp>
      <p:sp>
        <p:nvSpPr>
          <p:cNvPr id="10" name="Shape 8"/>
          <p:cNvSpPr/>
          <p:nvPr/>
        </p:nvSpPr>
        <p:spPr>
          <a:xfrm>
            <a:off x="457200" y="2286000"/>
            <a:ext cx="8229600" cy="0"/>
          </a:xfrm>
          <a:prstGeom prst="line">
            <a:avLst/>
          </a:prstGeom>
          <a:noFill/>
          <a:ln w="6350">
            <a:solidFill>
              <a:srgbClr val="E8E8E8"/>
            </a:solidFill>
            <a:prstDash val="solid"/>
          </a:ln>
        </p:spPr>
      </p:sp>
      <p:sp>
        <p:nvSpPr>
          <p:cNvPr id="11" name="Shape 9"/>
          <p:cNvSpPr/>
          <p:nvPr/>
        </p:nvSpPr>
        <p:spPr>
          <a:xfrm>
            <a:off x="457200" y="2377440"/>
            <a:ext cx="54864" cy="960120"/>
          </a:xfrm>
          <a:prstGeom prst="rect">
            <a:avLst/>
          </a:prstGeom>
          <a:solidFill>
            <a:srgbClr val="185FA5"/>
          </a:solidFill>
          <a:ln/>
        </p:spPr>
      </p:sp>
      <p:sp>
        <p:nvSpPr>
          <p:cNvPr id="12" name="Text 10"/>
          <p:cNvSpPr/>
          <p:nvPr/>
        </p:nvSpPr>
        <p:spPr>
          <a:xfrm>
            <a:off x="685800" y="2395728"/>
            <a:ext cx="1188720" cy="201168"/>
          </a:xfrm>
          <a:prstGeom prst="rect">
            <a:avLst/>
          </a:prstGeom>
          <a:solidFill>
            <a:srgbClr val="185FA5"/>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SCANNING</a:t>
            </a:r>
            <a:endParaRPr lang="en-US" sz="800" dirty="0"/>
          </a:p>
        </p:txBody>
      </p:sp>
      <p:sp>
        <p:nvSpPr>
          <p:cNvPr id="13" name="Text 11"/>
          <p:cNvSpPr/>
          <p:nvPr/>
        </p:nvSpPr>
        <p:spPr>
          <a:xfrm>
            <a:off x="1965960" y="237744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Vulnerability scanners</a:t>
            </a:r>
            <a:endParaRPr lang="en-US" sz="1300" dirty="0"/>
          </a:p>
        </p:txBody>
      </p:sp>
      <p:sp>
        <p:nvSpPr>
          <p:cNvPr id="14" name="Text 12"/>
          <p:cNvSpPr/>
          <p:nvPr/>
        </p:nvSpPr>
        <p:spPr>
          <a:xfrm>
            <a:off x="1965960" y="263347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Qualys, Tenable, Rapid7</a:t>
            </a:r>
            <a:endParaRPr lang="en-US" sz="950" dirty="0"/>
          </a:p>
        </p:txBody>
      </p:sp>
      <p:sp>
        <p:nvSpPr>
          <p:cNvPr id="15" name="Text 13"/>
          <p:cNvSpPr/>
          <p:nvPr/>
        </p:nvSpPr>
        <p:spPr>
          <a:xfrm>
            <a:off x="5303520" y="2377440"/>
            <a:ext cx="338328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building inspectors.</a:t>
            </a:r>
            <a:endParaRPr lang="en-US" sz="1100" dirty="0"/>
          </a:p>
        </p:txBody>
      </p:sp>
      <p:sp>
        <p:nvSpPr>
          <p:cNvPr id="16" name="Text 14"/>
          <p:cNvSpPr/>
          <p:nvPr/>
        </p:nvSpPr>
        <p:spPr>
          <a:xfrm>
            <a:off x="5303520" y="265176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scan servers and software for known bugs (CVEs) and tell you what needs patching. But they only cover vulnerability-based attacks — a fraction of the total threat landscape.</a:t>
            </a:r>
            <a:endParaRPr lang="en-US" sz="1000" dirty="0"/>
          </a:p>
        </p:txBody>
      </p:sp>
      <p:sp>
        <p:nvSpPr>
          <p:cNvPr id="17" name="Shape 15"/>
          <p:cNvSpPr/>
          <p:nvPr/>
        </p:nvSpPr>
        <p:spPr>
          <a:xfrm>
            <a:off x="457200" y="3383280"/>
            <a:ext cx="8229600" cy="0"/>
          </a:xfrm>
          <a:prstGeom prst="line">
            <a:avLst/>
          </a:prstGeom>
          <a:noFill/>
          <a:ln w="6350">
            <a:solidFill>
              <a:srgbClr val="E8E8E8"/>
            </a:solidFill>
            <a:prstDash val="solid"/>
          </a:ln>
        </p:spPr>
      </p:sp>
      <p:sp>
        <p:nvSpPr>
          <p:cNvPr id="18" name="Shape 16"/>
          <p:cNvSpPr/>
          <p:nvPr/>
        </p:nvSpPr>
        <p:spPr>
          <a:xfrm>
            <a:off x="457200" y="3474720"/>
            <a:ext cx="54864" cy="960120"/>
          </a:xfrm>
          <a:prstGeom prst="rect">
            <a:avLst/>
          </a:prstGeom>
          <a:solidFill>
            <a:srgbClr val="185FA5"/>
          </a:solidFill>
          <a:ln/>
        </p:spPr>
      </p:sp>
      <p:sp>
        <p:nvSpPr>
          <p:cNvPr id="19" name="Text 17"/>
          <p:cNvSpPr/>
          <p:nvPr/>
        </p:nvSpPr>
        <p:spPr>
          <a:xfrm>
            <a:off x="685800" y="3493008"/>
            <a:ext cx="1188720" cy="201168"/>
          </a:xfrm>
          <a:prstGeom prst="rect">
            <a:avLst/>
          </a:prstGeom>
          <a:solidFill>
            <a:srgbClr val="185FA5"/>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ACCESS</a:t>
            </a:r>
            <a:endParaRPr lang="en-US" sz="800" dirty="0"/>
          </a:p>
        </p:txBody>
      </p:sp>
      <p:sp>
        <p:nvSpPr>
          <p:cNvPr id="20" name="Text 18"/>
          <p:cNvSpPr/>
          <p:nvPr/>
        </p:nvSpPr>
        <p:spPr>
          <a:xfrm>
            <a:off x="1965960" y="347472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IAM / PAM</a:t>
            </a:r>
            <a:endParaRPr lang="en-US" sz="1300" dirty="0"/>
          </a:p>
        </p:txBody>
      </p:sp>
      <p:sp>
        <p:nvSpPr>
          <p:cNvPr id="21" name="Text 19"/>
          <p:cNvSpPr/>
          <p:nvPr/>
        </p:nvSpPr>
        <p:spPr>
          <a:xfrm>
            <a:off x="1965960" y="373075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CyberArk, Okta, Azure AD</a:t>
            </a:r>
            <a:endParaRPr lang="en-US" sz="950" dirty="0"/>
          </a:p>
        </p:txBody>
      </p:sp>
      <p:sp>
        <p:nvSpPr>
          <p:cNvPr id="22" name="Text 20"/>
          <p:cNvSpPr/>
          <p:nvPr/>
        </p:nvSpPr>
        <p:spPr>
          <a:xfrm>
            <a:off x="5303520" y="3474720"/>
            <a:ext cx="338328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key masters.</a:t>
            </a:r>
            <a:endParaRPr lang="en-US" sz="1100" dirty="0"/>
          </a:p>
        </p:txBody>
      </p:sp>
      <p:sp>
        <p:nvSpPr>
          <p:cNvPr id="23" name="Text 21"/>
          <p:cNvSpPr/>
          <p:nvPr/>
        </p:nvSpPr>
        <p:spPr>
          <a:xfrm>
            <a:off x="5303520" y="374904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control who gets access to what, enforce MFA, and vault privileged credentials. But they can’t verify that the network rules protecting those assets are actually correct.</a:t>
            </a:r>
            <a:endParaRPr lang="en-US" sz="1000" dirty="0"/>
          </a:p>
        </p:txBody>
      </p:sp>
      <p:sp>
        <p:nvSpPr>
          <p:cNvPr id="24" name="Shape 22"/>
          <p:cNvSpPr/>
          <p:nvPr/>
        </p:nvSpPr>
        <p:spPr>
          <a:xfrm>
            <a:off x="457200" y="4480560"/>
            <a:ext cx="8229600" cy="0"/>
          </a:xfrm>
          <a:prstGeom prst="line">
            <a:avLst/>
          </a:prstGeom>
          <a:noFill/>
          <a:ln w="6350">
            <a:solidFill>
              <a:srgbClr val="E8E8E8"/>
            </a:solidFill>
            <a:prstDash val="solid"/>
          </a:ln>
        </p:spPr>
      </p:sp>
      <p:sp>
        <p:nvSpPr>
          <p:cNvPr id="25" name="Shape 23"/>
          <p:cNvSpPr/>
          <p:nvPr/>
        </p:nvSpPr>
        <p:spPr>
          <a:xfrm>
            <a:off x="457200" y="4572000"/>
            <a:ext cx="54864" cy="960120"/>
          </a:xfrm>
          <a:prstGeom prst="rect">
            <a:avLst/>
          </a:prstGeom>
          <a:solidFill>
            <a:srgbClr val="185FA5"/>
          </a:solidFill>
          <a:ln/>
        </p:spPr>
      </p:sp>
      <p:sp>
        <p:nvSpPr>
          <p:cNvPr id="26" name="Text 24"/>
          <p:cNvSpPr/>
          <p:nvPr/>
        </p:nvSpPr>
        <p:spPr>
          <a:xfrm>
            <a:off x="685800" y="4590288"/>
            <a:ext cx="1188720" cy="201168"/>
          </a:xfrm>
          <a:prstGeom prst="rect">
            <a:avLst/>
          </a:prstGeom>
          <a:solidFill>
            <a:srgbClr val="185FA5"/>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CLOUD</a:t>
            </a:r>
            <a:endParaRPr lang="en-US" sz="800" dirty="0"/>
          </a:p>
        </p:txBody>
      </p:sp>
      <p:sp>
        <p:nvSpPr>
          <p:cNvPr id="27" name="Text 25"/>
          <p:cNvSpPr/>
          <p:nvPr/>
        </p:nvSpPr>
        <p:spPr>
          <a:xfrm>
            <a:off x="1965960" y="457200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ZTNA / CASB</a:t>
            </a:r>
            <a:endParaRPr lang="en-US" sz="1300" dirty="0"/>
          </a:p>
        </p:txBody>
      </p:sp>
      <p:sp>
        <p:nvSpPr>
          <p:cNvPr id="28" name="Text 26"/>
          <p:cNvSpPr/>
          <p:nvPr/>
        </p:nvSpPr>
        <p:spPr>
          <a:xfrm>
            <a:off x="1965960" y="482803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Zscaler, Netskope, Cloudflare</a:t>
            </a:r>
            <a:endParaRPr lang="en-US" sz="950" dirty="0"/>
          </a:p>
        </p:txBody>
      </p:sp>
      <p:sp>
        <p:nvSpPr>
          <p:cNvPr id="29" name="Text 27"/>
          <p:cNvSpPr/>
          <p:nvPr/>
        </p:nvSpPr>
        <p:spPr>
          <a:xfrm>
            <a:off x="5303520" y="4572000"/>
            <a:ext cx="338328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cloud bouncers.</a:t>
            </a:r>
            <a:endParaRPr lang="en-US" sz="1100" dirty="0"/>
          </a:p>
        </p:txBody>
      </p:sp>
      <p:sp>
        <p:nvSpPr>
          <p:cNvPr id="30" name="Text 28"/>
          <p:cNvSpPr/>
          <p:nvPr/>
        </p:nvSpPr>
        <p:spPr>
          <a:xfrm>
            <a:off x="5303520" y="484632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enforce zero-trust access policies and monitor cloud app usage. But they trust that the underlying network and firewall configurations are correct.</a:t>
            </a:r>
            <a:endParaRPr lang="en-US" sz="1000" dirty="0"/>
          </a:p>
        </p:txBody>
      </p:sp>
      <p:sp>
        <p:nvSpPr>
          <p:cNvPr id="31" name="Shape 29"/>
          <p:cNvSpPr/>
          <p:nvPr/>
        </p:nvSpPr>
        <p:spPr>
          <a:xfrm>
            <a:off x="457200" y="5577840"/>
            <a:ext cx="8229600" cy="0"/>
          </a:xfrm>
          <a:prstGeom prst="line">
            <a:avLst/>
          </a:prstGeom>
          <a:noFill/>
          <a:ln w="6350">
            <a:solidFill>
              <a:srgbClr val="E8E8E8"/>
            </a:solidFill>
            <a:prstDash val="solid"/>
          </a:ln>
        </p:spPr>
      </p:sp>
      <p:sp>
        <p:nvSpPr>
          <p:cNvPr id="32" name="Shape 30"/>
          <p:cNvSpPr/>
          <p:nvPr/>
        </p:nvSpPr>
        <p:spPr>
          <a:xfrm>
            <a:off x="457200" y="5669280"/>
            <a:ext cx="54864" cy="960120"/>
          </a:xfrm>
          <a:prstGeom prst="rect">
            <a:avLst/>
          </a:prstGeom>
          <a:solidFill>
            <a:srgbClr val="185FA5"/>
          </a:solidFill>
          <a:ln/>
        </p:spPr>
      </p:sp>
      <p:sp>
        <p:nvSpPr>
          <p:cNvPr id="33" name="Text 31"/>
          <p:cNvSpPr/>
          <p:nvPr/>
        </p:nvSpPr>
        <p:spPr>
          <a:xfrm>
            <a:off x="685800" y="5687568"/>
            <a:ext cx="1188720" cy="201168"/>
          </a:xfrm>
          <a:prstGeom prst="rect">
            <a:avLst/>
          </a:prstGeom>
          <a:solidFill>
            <a:srgbClr val="185FA5"/>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DATA</a:t>
            </a:r>
            <a:endParaRPr lang="en-US" sz="800" dirty="0"/>
          </a:p>
        </p:txBody>
      </p:sp>
      <p:sp>
        <p:nvSpPr>
          <p:cNvPr id="34" name="Text 32"/>
          <p:cNvSpPr/>
          <p:nvPr/>
        </p:nvSpPr>
        <p:spPr>
          <a:xfrm>
            <a:off x="1965960" y="566928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DLP (Data Loss Prevention)</a:t>
            </a:r>
            <a:endParaRPr lang="en-US" sz="1300" dirty="0"/>
          </a:p>
        </p:txBody>
      </p:sp>
      <p:sp>
        <p:nvSpPr>
          <p:cNvPr id="35" name="Text 33"/>
          <p:cNvSpPr/>
          <p:nvPr/>
        </p:nvSpPr>
        <p:spPr>
          <a:xfrm>
            <a:off x="1965960" y="592531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Symantec, Forcepoint, Microsoft Purview</a:t>
            </a:r>
            <a:endParaRPr lang="en-US" sz="950" dirty="0"/>
          </a:p>
        </p:txBody>
      </p:sp>
      <p:sp>
        <p:nvSpPr>
          <p:cNvPr id="36" name="Text 34"/>
          <p:cNvSpPr/>
          <p:nvPr/>
        </p:nvSpPr>
        <p:spPr>
          <a:xfrm>
            <a:off x="5303520" y="5669280"/>
            <a:ext cx="338328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exit guards.</a:t>
            </a:r>
            <a:endParaRPr lang="en-US" sz="1100" dirty="0"/>
          </a:p>
        </p:txBody>
      </p:sp>
      <p:sp>
        <p:nvSpPr>
          <p:cNvPr id="37" name="Text 35"/>
          <p:cNvSpPr/>
          <p:nvPr/>
        </p:nvSpPr>
        <p:spPr>
          <a:xfrm>
            <a:off x="5303520" y="594360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watch for sensitive data leaving the organization. But they only catch what matches predefined patterns — after the data is already moving.</a:t>
            </a:r>
            <a:endParaRPr lang="en-US" sz="1000" dirty="0"/>
          </a:p>
        </p:txBody>
      </p:sp>
      <p:sp>
        <p:nvSpPr>
          <p:cNvPr id="38" name="Shape 36"/>
          <p:cNvSpPr/>
          <p:nvPr/>
        </p:nvSpPr>
        <p:spPr>
          <a:xfrm>
            <a:off x="457200" y="6675120"/>
            <a:ext cx="8229600" cy="0"/>
          </a:xfrm>
          <a:prstGeom prst="line">
            <a:avLst/>
          </a:prstGeom>
          <a:noFill/>
          <a:ln w="6350">
            <a:solidFill>
              <a:srgbClr val="E8E8E8"/>
            </a:solidFill>
            <a:prstDash val="solid"/>
          </a:ln>
        </p:spPr>
      </p:sp>
      <p:sp>
        <p:nvSpPr>
          <p:cNvPr id="39" name="Text 37"/>
          <p:cNvSpPr/>
          <p:nvPr/>
        </p:nvSpPr>
        <p:spPr>
          <a:xfrm>
            <a:off x="457200" y="6903720"/>
            <a:ext cx="8229600" cy="228600"/>
          </a:xfrm>
          <a:prstGeom prst="rect">
            <a:avLst/>
          </a:prstGeom>
          <a:noFill/>
          <a:ln/>
        </p:spPr>
        <p:txBody>
          <a:bodyPr wrap="square" lIns="0" tIns="0" rIns="0" bIns="0" rtlCol="0" anchor="ctr"/>
          <a:lstStyle/>
          <a:p>
            <a:pPr algn="ctr" indent="0" marL="0">
              <a:buNone/>
            </a:pPr>
            <a:r>
              <a:rPr lang="en-US" sz="1000" i="1" dirty="0">
                <a:solidFill>
                  <a:srgbClr val="888780"/>
                </a:solidFill>
                <a:latin typeface="Arial" pitchFamily="34" charset="0"/>
                <a:ea typeface="Arial" pitchFamily="34" charset="-122"/>
                <a:cs typeface="Arial" pitchFamily="34" charset="-120"/>
              </a:rPr>
              <a:t>All tools above operate in the live environment. They are necessary — but structurally reactive.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cybersecurity stack explained (continued)</a:t>
            </a:r>
            <a:endParaRPr lang="en-US" sz="24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888780"/>
                </a:solidFill>
                <a:latin typeface="Arial" pitchFamily="34" charset="0"/>
                <a:ea typeface="Arial" pitchFamily="34" charset="-122"/>
                <a:cs typeface="Arial" pitchFamily="34" charset="-120"/>
              </a:rPr>
              <a:t>Detection, response, and visibility tools — plus the one layer that changes everything</a:t>
            </a:r>
            <a:endParaRPr lang="en-US" sz="1200" dirty="0"/>
          </a:p>
        </p:txBody>
      </p:sp>
      <p:sp>
        <p:nvSpPr>
          <p:cNvPr id="4" name="Shape 2"/>
          <p:cNvSpPr/>
          <p:nvPr/>
        </p:nvSpPr>
        <p:spPr>
          <a:xfrm>
            <a:off x="457200" y="1280160"/>
            <a:ext cx="54864" cy="960120"/>
          </a:xfrm>
          <a:prstGeom prst="rect">
            <a:avLst/>
          </a:prstGeom>
          <a:solidFill>
            <a:srgbClr val="BA7517"/>
          </a:solidFill>
          <a:ln/>
        </p:spPr>
      </p:sp>
      <p:sp>
        <p:nvSpPr>
          <p:cNvPr id="5" name="Text 3"/>
          <p:cNvSpPr/>
          <p:nvPr/>
        </p:nvSpPr>
        <p:spPr>
          <a:xfrm>
            <a:off x="685800" y="1298448"/>
            <a:ext cx="1188720" cy="201168"/>
          </a:xfrm>
          <a:prstGeom prst="rect">
            <a:avLst/>
          </a:prstGeom>
          <a:solidFill>
            <a:srgbClr val="BA7517"/>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ENDPOINT</a:t>
            </a:r>
            <a:endParaRPr lang="en-US" sz="800" dirty="0"/>
          </a:p>
        </p:txBody>
      </p:sp>
      <p:sp>
        <p:nvSpPr>
          <p:cNvPr id="6" name="Text 4"/>
          <p:cNvSpPr/>
          <p:nvPr/>
        </p:nvSpPr>
        <p:spPr>
          <a:xfrm>
            <a:off x="1965960" y="128016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EDR (Endpoint Detection &amp; Response)</a:t>
            </a:r>
            <a:endParaRPr lang="en-US" sz="1300" dirty="0"/>
          </a:p>
        </p:txBody>
      </p:sp>
      <p:sp>
        <p:nvSpPr>
          <p:cNvPr id="7" name="Text 5"/>
          <p:cNvSpPr/>
          <p:nvPr/>
        </p:nvSpPr>
        <p:spPr>
          <a:xfrm>
            <a:off x="1965960" y="153619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CrowdStrike, Microsoft Defender</a:t>
            </a:r>
            <a:endParaRPr lang="en-US" sz="950" dirty="0"/>
          </a:p>
        </p:txBody>
      </p:sp>
      <p:sp>
        <p:nvSpPr>
          <p:cNvPr id="8" name="Text 6"/>
          <p:cNvSpPr/>
          <p:nvPr/>
        </p:nvSpPr>
        <p:spPr>
          <a:xfrm>
            <a:off x="5303520" y="1280160"/>
            <a:ext cx="3383280" cy="256032"/>
          </a:xfrm>
          <a:prstGeom prst="rect">
            <a:avLst/>
          </a:prstGeom>
          <a:noFill/>
          <a:ln/>
        </p:spPr>
        <p:txBody>
          <a:bodyPr wrap="square" lIns="0" tIns="0" rIns="0" bIns="0" rtlCol="0" anchor="ctr"/>
          <a:lstStyle/>
          <a:p>
            <a:pPr indent="0" marL="0">
              <a:buNone/>
            </a:pPr>
            <a:r>
              <a:rPr lang="en-US" sz="1100" b="1" i="1" dirty="0">
                <a:solidFill>
                  <a:srgbClr val="BA7517"/>
                </a:solidFill>
                <a:latin typeface="Arial" pitchFamily="34" charset="0"/>
                <a:ea typeface="Arial" pitchFamily="34" charset="-122"/>
                <a:cs typeface="Arial" pitchFamily="34" charset="-120"/>
              </a:rPr>
              <a:t>The internal bodyguards.</a:t>
            </a:r>
            <a:endParaRPr lang="en-US" sz="1100" dirty="0"/>
          </a:p>
        </p:txBody>
      </p:sp>
      <p:sp>
        <p:nvSpPr>
          <p:cNvPr id="9" name="Text 7"/>
          <p:cNvSpPr/>
          <p:nvPr/>
        </p:nvSpPr>
        <p:spPr>
          <a:xfrm>
            <a:off x="5303520" y="155448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monitor individual laptops and servers to detect and kill malicious behavior after an attacker bypasses the perimeter. Reactive by design.</a:t>
            </a:r>
            <a:endParaRPr lang="en-US" sz="1000" dirty="0"/>
          </a:p>
        </p:txBody>
      </p:sp>
      <p:sp>
        <p:nvSpPr>
          <p:cNvPr id="10" name="Shape 8"/>
          <p:cNvSpPr/>
          <p:nvPr/>
        </p:nvSpPr>
        <p:spPr>
          <a:xfrm>
            <a:off x="457200" y="2286000"/>
            <a:ext cx="8229600" cy="0"/>
          </a:xfrm>
          <a:prstGeom prst="line">
            <a:avLst/>
          </a:prstGeom>
          <a:noFill/>
          <a:ln w="6350">
            <a:solidFill>
              <a:srgbClr val="E8E8E8"/>
            </a:solidFill>
            <a:prstDash val="solid"/>
          </a:ln>
        </p:spPr>
      </p:sp>
      <p:sp>
        <p:nvSpPr>
          <p:cNvPr id="11" name="Shape 9"/>
          <p:cNvSpPr/>
          <p:nvPr/>
        </p:nvSpPr>
        <p:spPr>
          <a:xfrm>
            <a:off x="457200" y="2377440"/>
            <a:ext cx="54864" cy="960120"/>
          </a:xfrm>
          <a:prstGeom prst="rect">
            <a:avLst/>
          </a:prstGeom>
          <a:solidFill>
            <a:srgbClr val="BA7517"/>
          </a:solidFill>
          <a:ln/>
        </p:spPr>
      </p:sp>
      <p:sp>
        <p:nvSpPr>
          <p:cNvPr id="12" name="Text 10"/>
          <p:cNvSpPr/>
          <p:nvPr/>
        </p:nvSpPr>
        <p:spPr>
          <a:xfrm>
            <a:off x="685800" y="2395728"/>
            <a:ext cx="1188720" cy="201168"/>
          </a:xfrm>
          <a:prstGeom prst="rect">
            <a:avLst/>
          </a:prstGeom>
          <a:solidFill>
            <a:srgbClr val="BA7517"/>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NETWORK</a:t>
            </a:r>
            <a:endParaRPr lang="en-US" sz="800" dirty="0"/>
          </a:p>
        </p:txBody>
      </p:sp>
      <p:sp>
        <p:nvSpPr>
          <p:cNvPr id="13" name="Text 11"/>
          <p:cNvSpPr/>
          <p:nvPr/>
        </p:nvSpPr>
        <p:spPr>
          <a:xfrm>
            <a:off x="1965960" y="237744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NDR (Network Detection &amp; Response)</a:t>
            </a:r>
            <a:endParaRPr lang="en-US" sz="1300" dirty="0"/>
          </a:p>
        </p:txBody>
      </p:sp>
      <p:sp>
        <p:nvSpPr>
          <p:cNvPr id="14" name="Text 12"/>
          <p:cNvSpPr/>
          <p:nvPr/>
        </p:nvSpPr>
        <p:spPr>
          <a:xfrm>
            <a:off x="1965960" y="263347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Darktrace, ExtraHop, Vectra</a:t>
            </a:r>
            <a:endParaRPr lang="en-US" sz="950" dirty="0"/>
          </a:p>
        </p:txBody>
      </p:sp>
      <p:sp>
        <p:nvSpPr>
          <p:cNvPr id="15" name="Text 13"/>
          <p:cNvSpPr/>
          <p:nvPr/>
        </p:nvSpPr>
        <p:spPr>
          <a:xfrm>
            <a:off x="5303520" y="2377440"/>
            <a:ext cx="3383280" cy="256032"/>
          </a:xfrm>
          <a:prstGeom prst="rect">
            <a:avLst/>
          </a:prstGeom>
          <a:noFill/>
          <a:ln/>
        </p:spPr>
        <p:txBody>
          <a:bodyPr wrap="square" lIns="0" tIns="0" rIns="0" bIns="0" rtlCol="0" anchor="ctr"/>
          <a:lstStyle/>
          <a:p>
            <a:pPr indent="0" marL="0">
              <a:buNone/>
            </a:pPr>
            <a:r>
              <a:rPr lang="en-US" sz="1100" b="1" i="1" dirty="0">
                <a:solidFill>
                  <a:srgbClr val="BA7517"/>
                </a:solidFill>
                <a:latin typeface="Arial" pitchFamily="34" charset="0"/>
                <a:ea typeface="Arial" pitchFamily="34" charset="-122"/>
                <a:cs typeface="Arial" pitchFamily="34" charset="-120"/>
              </a:rPr>
              <a:t>The wire tappers.</a:t>
            </a:r>
            <a:endParaRPr lang="en-US" sz="1100" dirty="0"/>
          </a:p>
        </p:txBody>
      </p:sp>
      <p:sp>
        <p:nvSpPr>
          <p:cNvPr id="16" name="Text 14"/>
          <p:cNvSpPr/>
          <p:nvPr/>
        </p:nvSpPr>
        <p:spPr>
          <a:xfrm>
            <a:off x="5303520" y="265176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use AI to monitor east-west network traffic for anomalies and lateral movement. Effective but reactive — the attacker is already inside the network.</a:t>
            </a:r>
            <a:endParaRPr lang="en-US" sz="1000" dirty="0"/>
          </a:p>
        </p:txBody>
      </p:sp>
      <p:sp>
        <p:nvSpPr>
          <p:cNvPr id="17" name="Shape 15"/>
          <p:cNvSpPr/>
          <p:nvPr/>
        </p:nvSpPr>
        <p:spPr>
          <a:xfrm>
            <a:off x="457200" y="3383280"/>
            <a:ext cx="8229600" cy="0"/>
          </a:xfrm>
          <a:prstGeom prst="line">
            <a:avLst/>
          </a:prstGeom>
          <a:noFill/>
          <a:ln w="6350">
            <a:solidFill>
              <a:srgbClr val="E8E8E8"/>
            </a:solidFill>
            <a:prstDash val="solid"/>
          </a:ln>
        </p:spPr>
      </p:sp>
      <p:sp>
        <p:nvSpPr>
          <p:cNvPr id="18" name="Shape 16"/>
          <p:cNvSpPr/>
          <p:nvPr/>
        </p:nvSpPr>
        <p:spPr>
          <a:xfrm>
            <a:off x="457200" y="3474720"/>
            <a:ext cx="54864" cy="960120"/>
          </a:xfrm>
          <a:prstGeom prst="rect">
            <a:avLst/>
          </a:prstGeom>
          <a:solidFill>
            <a:srgbClr val="BA7517"/>
          </a:solidFill>
          <a:ln/>
        </p:spPr>
      </p:sp>
      <p:sp>
        <p:nvSpPr>
          <p:cNvPr id="19" name="Text 17"/>
          <p:cNvSpPr/>
          <p:nvPr/>
        </p:nvSpPr>
        <p:spPr>
          <a:xfrm>
            <a:off x="685800" y="3493008"/>
            <a:ext cx="1188720" cy="201168"/>
          </a:xfrm>
          <a:prstGeom prst="rect">
            <a:avLst/>
          </a:prstGeom>
          <a:solidFill>
            <a:srgbClr val="BA7517"/>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BEHAVIOR</a:t>
            </a:r>
            <a:endParaRPr lang="en-US" sz="800" dirty="0"/>
          </a:p>
        </p:txBody>
      </p:sp>
      <p:sp>
        <p:nvSpPr>
          <p:cNvPr id="20" name="Text 18"/>
          <p:cNvSpPr/>
          <p:nvPr/>
        </p:nvSpPr>
        <p:spPr>
          <a:xfrm>
            <a:off x="1965960" y="347472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UEBA (User &amp; Entity Behavior Analytics)</a:t>
            </a:r>
            <a:endParaRPr lang="en-US" sz="1300" dirty="0"/>
          </a:p>
        </p:txBody>
      </p:sp>
      <p:sp>
        <p:nvSpPr>
          <p:cNvPr id="21" name="Text 19"/>
          <p:cNvSpPr/>
          <p:nvPr/>
        </p:nvSpPr>
        <p:spPr>
          <a:xfrm>
            <a:off x="1965960" y="373075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Exabeam, Microsoft Sentinel, Splunk UBA</a:t>
            </a:r>
            <a:endParaRPr lang="en-US" sz="950" dirty="0"/>
          </a:p>
        </p:txBody>
      </p:sp>
      <p:sp>
        <p:nvSpPr>
          <p:cNvPr id="22" name="Text 20"/>
          <p:cNvSpPr/>
          <p:nvPr/>
        </p:nvSpPr>
        <p:spPr>
          <a:xfrm>
            <a:off x="5303520" y="3474720"/>
            <a:ext cx="3383280" cy="256032"/>
          </a:xfrm>
          <a:prstGeom prst="rect">
            <a:avLst/>
          </a:prstGeom>
          <a:noFill/>
          <a:ln/>
        </p:spPr>
        <p:txBody>
          <a:bodyPr wrap="square" lIns="0" tIns="0" rIns="0" bIns="0" rtlCol="0" anchor="ctr"/>
          <a:lstStyle/>
          <a:p>
            <a:pPr indent="0" marL="0">
              <a:buNone/>
            </a:pPr>
            <a:r>
              <a:rPr lang="en-US" sz="1100" b="1" i="1" dirty="0">
                <a:solidFill>
                  <a:srgbClr val="BA7517"/>
                </a:solidFill>
                <a:latin typeface="Arial" pitchFamily="34" charset="0"/>
                <a:ea typeface="Arial" pitchFamily="34" charset="-122"/>
                <a:cs typeface="Arial" pitchFamily="34" charset="-120"/>
              </a:rPr>
              <a:t>The behavioral profilers.</a:t>
            </a:r>
            <a:endParaRPr lang="en-US" sz="1100" dirty="0"/>
          </a:p>
        </p:txBody>
      </p:sp>
      <p:sp>
        <p:nvSpPr>
          <p:cNvPr id="23" name="Text 21"/>
          <p:cNvSpPr/>
          <p:nvPr/>
        </p:nvSpPr>
        <p:spPr>
          <a:xfrm>
            <a:off x="5303520" y="374904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build behavioral baselines for every user and flag deviations like unusual access times or data volumes. Catches insider threats — but only after the anomaly occurs.</a:t>
            </a:r>
            <a:endParaRPr lang="en-US" sz="1000" dirty="0"/>
          </a:p>
        </p:txBody>
      </p:sp>
      <p:sp>
        <p:nvSpPr>
          <p:cNvPr id="24" name="Shape 22"/>
          <p:cNvSpPr/>
          <p:nvPr/>
        </p:nvSpPr>
        <p:spPr>
          <a:xfrm>
            <a:off x="457200" y="4480560"/>
            <a:ext cx="8229600" cy="0"/>
          </a:xfrm>
          <a:prstGeom prst="line">
            <a:avLst/>
          </a:prstGeom>
          <a:noFill/>
          <a:ln w="6350">
            <a:solidFill>
              <a:srgbClr val="E8E8E8"/>
            </a:solidFill>
            <a:prstDash val="solid"/>
          </a:ln>
        </p:spPr>
      </p:sp>
      <p:sp>
        <p:nvSpPr>
          <p:cNvPr id="25" name="Shape 23"/>
          <p:cNvSpPr/>
          <p:nvPr/>
        </p:nvSpPr>
        <p:spPr>
          <a:xfrm>
            <a:off x="457200" y="4572000"/>
            <a:ext cx="54864" cy="960120"/>
          </a:xfrm>
          <a:prstGeom prst="rect">
            <a:avLst/>
          </a:prstGeom>
          <a:solidFill>
            <a:srgbClr val="993C1D"/>
          </a:solidFill>
          <a:ln/>
        </p:spPr>
      </p:sp>
      <p:sp>
        <p:nvSpPr>
          <p:cNvPr id="26" name="Text 24"/>
          <p:cNvSpPr/>
          <p:nvPr/>
        </p:nvSpPr>
        <p:spPr>
          <a:xfrm>
            <a:off x="685800" y="4590288"/>
            <a:ext cx="1188720" cy="201168"/>
          </a:xfrm>
          <a:prstGeom prst="rect">
            <a:avLst/>
          </a:prstGeom>
          <a:solidFill>
            <a:srgbClr val="993C1D"/>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SOC</a:t>
            </a:r>
            <a:endParaRPr lang="en-US" sz="800" dirty="0"/>
          </a:p>
        </p:txBody>
      </p:sp>
      <p:sp>
        <p:nvSpPr>
          <p:cNvPr id="27" name="Text 25"/>
          <p:cNvSpPr/>
          <p:nvPr/>
        </p:nvSpPr>
        <p:spPr>
          <a:xfrm>
            <a:off x="1965960" y="457200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SIEM (Security Information &amp; Event Mgmt)</a:t>
            </a:r>
            <a:endParaRPr lang="en-US" sz="1300" dirty="0"/>
          </a:p>
        </p:txBody>
      </p:sp>
      <p:sp>
        <p:nvSpPr>
          <p:cNvPr id="28" name="Text 26"/>
          <p:cNvSpPr/>
          <p:nvPr/>
        </p:nvSpPr>
        <p:spPr>
          <a:xfrm>
            <a:off x="1965960" y="482803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Splunk, Microsoft Sentinel, QRadar</a:t>
            </a:r>
            <a:endParaRPr lang="en-US" sz="950" dirty="0"/>
          </a:p>
        </p:txBody>
      </p:sp>
      <p:sp>
        <p:nvSpPr>
          <p:cNvPr id="29" name="Text 27"/>
          <p:cNvSpPr/>
          <p:nvPr/>
        </p:nvSpPr>
        <p:spPr>
          <a:xfrm>
            <a:off x="5303520" y="4572000"/>
            <a:ext cx="3383280" cy="256032"/>
          </a:xfrm>
          <a:prstGeom prst="rect">
            <a:avLst/>
          </a:prstGeom>
          <a:noFill/>
          <a:ln/>
        </p:spPr>
        <p:txBody>
          <a:bodyPr wrap="square" lIns="0" tIns="0" rIns="0" bIns="0" rtlCol="0" anchor="ctr"/>
          <a:lstStyle/>
          <a:p>
            <a:pPr indent="0" marL="0">
              <a:buNone/>
            </a:pPr>
            <a:r>
              <a:rPr lang="en-US" sz="1100" b="1" i="1" dirty="0">
                <a:solidFill>
                  <a:srgbClr val="993C1D"/>
                </a:solidFill>
                <a:latin typeface="Arial" pitchFamily="34" charset="0"/>
                <a:ea typeface="Arial" pitchFamily="34" charset="-122"/>
                <a:cs typeface="Arial" pitchFamily="34" charset="-120"/>
              </a:rPr>
              <a:t>The security cameras.</a:t>
            </a:r>
            <a:endParaRPr lang="en-US" sz="1100" dirty="0"/>
          </a:p>
        </p:txBody>
      </p:sp>
      <p:sp>
        <p:nvSpPr>
          <p:cNvPr id="30" name="Text 28"/>
          <p:cNvSpPr/>
          <p:nvPr/>
        </p:nvSpPr>
        <p:spPr>
          <a:xfrm>
            <a:off x="5303520" y="484632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aggregate logs from all tools above to trigger alerts for human analysts. Essential for visibility — but you’re reviewing footage of a crime that already happened.</a:t>
            </a:r>
            <a:endParaRPr lang="en-US" sz="1000" dirty="0"/>
          </a:p>
        </p:txBody>
      </p:sp>
      <p:sp>
        <p:nvSpPr>
          <p:cNvPr id="31" name="Shape 29"/>
          <p:cNvSpPr/>
          <p:nvPr/>
        </p:nvSpPr>
        <p:spPr>
          <a:xfrm>
            <a:off x="457200" y="5577840"/>
            <a:ext cx="8229600" cy="0"/>
          </a:xfrm>
          <a:prstGeom prst="line">
            <a:avLst/>
          </a:prstGeom>
          <a:noFill/>
          <a:ln w="6350">
            <a:solidFill>
              <a:srgbClr val="E8E8E8"/>
            </a:solidFill>
            <a:prstDash val="solid"/>
          </a:ln>
        </p:spPr>
      </p:sp>
      <p:sp>
        <p:nvSpPr>
          <p:cNvPr id="32" name="Shape 30"/>
          <p:cNvSpPr/>
          <p:nvPr/>
        </p:nvSpPr>
        <p:spPr>
          <a:xfrm>
            <a:off x="457200" y="5669280"/>
            <a:ext cx="54864" cy="960120"/>
          </a:xfrm>
          <a:prstGeom prst="rect">
            <a:avLst/>
          </a:prstGeom>
          <a:solidFill>
            <a:srgbClr val="993C1D"/>
          </a:solidFill>
          <a:ln/>
        </p:spPr>
      </p:sp>
      <p:sp>
        <p:nvSpPr>
          <p:cNvPr id="33" name="Text 31"/>
          <p:cNvSpPr/>
          <p:nvPr/>
        </p:nvSpPr>
        <p:spPr>
          <a:xfrm>
            <a:off x="685800" y="5687568"/>
            <a:ext cx="1188720" cy="201168"/>
          </a:xfrm>
          <a:prstGeom prst="rect">
            <a:avLst/>
          </a:prstGeom>
          <a:solidFill>
            <a:srgbClr val="993C1D"/>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AUTOMATION</a:t>
            </a:r>
            <a:endParaRPr lang="en-US" sz="800" dirty="0"/>
          </a:p>
        </p:txBody>
      </p:sp>
      <p:sp>
        <p:nvSpPr>
          <p:cNvPr id="34" name="Text 32"/>
          <p:cNvSpPr/>
          <p:nvPr/>
        </p:nvSpPr>
        <p:spPr>
          <a:xfrm>
            <a:off x="1965960" y="5669280"/>
            <a:ext cx="320040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SOAR (Security Orchestration &amp; Response)</a:t>
            </a:r>
            <a:endParaRPr lang="en-US" sz="1300" dirty="0"/>
          </a:p>
        </p:txBody>
      </p:sp>
      <p:sp>
        <p:nvSpPr>
          <p:cNvPr id="35" name="Text 33"/>
          <p:cNvSpPr/>
          <p:nvPr/>
        </p:nvSpPr>
        <p:spPr>
          <a:xfrm>
            <a:off x="1965960" y="5925312"/>
            <a:ext cx="32004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Palo Alto XSOAR, Splunk SOAR, Swimlane</a:t>
            </a:r>
            <a:endParaRPr lang="en-US" sz="950" dirty="0"/>
          </a:p>
        </p:txBody>
      </p:sp>
      <p:sp>
        <p:nvSpPr>
          <p:cNvPr id="36" name="Text 34"/>
          <p:cNvSpPr/>
          <p:nvPr/>
        </p:nvSpPr>
        <p:spPr>
          <a:xfrm>
            <a:off x="5303520" y="5669280"/>
            <a:ext cx="3383280" cy="256032"/>
          </a:xfrm>
          <a:prstGeom prst="rect">
            <a:avLst/>
          </a:prstGeom>
          <a:noFill/>
          <a:ln/>
        </p:spPr>
        <p:txBody>
          <a:bodyPr wrap="square" lIns="0" tIns="0" rIns="0" bIns="0" rtlCol="0" anchor="ctr"/>
          <a:lstStyle/>
          <a:p>
            <a:pPr indent="0" marL="0">
              <a:buNone/>
            </a:pPr>
            <a:r>
              <a:rPr lang="en-US" sz="1100" b="1" i="1" dirty="0">
                <a:solidFill>
                  <a:srgbClr val="993C1D"/>
                </a:solidFill>
                <a:latin typeface="Arial" pitchFamily="34" charset="0"/>
                <a:ea typeface="Arial" pitchFamily="34" charset="-122"/>
                <a:cs typeface="Arial" pitchFamily="34" charset="-120"/>
              </a:rPr>
              <a:t>The autopilot.</a:t>
            </a:r>
            <a:endParaRPr lang="en-US" sz="1100" dirty="0"/>
          </a:p>
        </p:txBody>
      </p:sp>
      <p:sp>
        <p:nvSpPr>
          <p:cNvPr id="37" name="Text 35"/>
          <p:cNvSpPr/>
          <p:nvPr/>
        </p:nvSpPr>
        <p:spPr>
          <a:xfrm>
            <a:off x="5303520" y="5943600"/>
            <a:ext cx="3383280" cy="6400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They automate incident response playbooks and workflows. Faster response — but still dependent on alerts from reactive tools. Can only orchestrate what’s already been detected.</a:t>
            </a:r>
            <a:endParaRPr lang="en-US" sz="1000" dirty="0"/>
          </a:p>
        </p:txBody>
      </p:sp>
      <p:sp>
        <p:nvSpPr>
          <p:cNvPr id="38" name="Shape 36"/>
          <p:cNvSpPr/>
          <p:nvPr/>
        </p:nvSpPr>
        <p:spPr>
          <a:xfrm>
            <a:off x="457200" y="6675120"/>
            <a:ext cx="8229600" cy="0"/>
          </a:xfrm>
          <a:prstGeom prst="line">
            <a:avLst/>
          </a:prstGeom>
          <a:noFill/>
          <a:ln w="6350">
            <a:solidFill>
              <a:srgbClr val="E8E8E8"/>
            </a:solidFill>
            <a:prstDash val="solid"/>
          </a:ln>
        </p:spPr>
      </p:sp>
      <p:sp>
        <p:nvSpPr>
          <p:cNvPr id="39" name="Shape 37"/>
          <p:cNvSpPr/>
          <p:nvPr/>
        </p:nvSpPr>
        <p:spPr>
          <a:xfrm>
            <a:off x="457200" y="6949440"/>
            <a:ext cx="8229600" cy="0"/>
          </a:xfrm>
          <a:prstGeom prst="line">
            <a:avLst/>
          </a:prstGeom>
          <a:noFill/>
          <a:ln w="19050">
            <a:solidFill>
              <a:srgbClr val="1D9E75"/>
            </a:solidFill>
            <a:prstDash val="solid"/>
          </a:ln>
        </p:spPr>
      </p:sp>
      <p:sp>
        <p:nvSpPr>
          <p:cNvPr id="40" name="Shape 38"/>
          <p:cNvSpPr/>
          <p:nvPr/>
        </p:nvSpPr>
        <p:spPr>
          <a:xfrm>
            <a:off x="457200" y="7132320"/>
            <a:ext cx="8229600" cy="1463040"/>
          </a:xfrm>
          <a:prstGeom prst="roundRect">
            <a:avLst>
              <a:gd name="adj" fmla="val 7500"/>
            </a:avLst>
          </a:prstGeom>
          <a:solidFill>
            <a:srgbClr val="E1F5EE"/>
          </a:solidFill>
          <a:ln w="19050">
            <a:solidFill>
              <a:srgbClr val="1D9E75"/>
            </a:solidFill>
            <a:prstDash val="solid"/>
          </a:ln>
        </p:spPr>
      </p:sp>
      <p:sp>
        <p:nvSpPr>
          <p:cNvPr id="41" name="Shape 39"/>
          <p:cNvSpPr/>
          <p:nvPr/>
        </p:nvSpPr>
        <p:spPr>
          <a:xfrm>
            <a:off x="457200" y="7132320"/>
            <a:ext cx="73152" cy="1463040"/>
          </a:xfrm>
          <a:prstGeom prst="rect">
            <a:avLst/>
          </a:prstGeom>
          <a:solidFill>
            <a:srgbClr val="1D9E75"/>
          </a:solidFill>
          <a:ln/>
        </p:spPr>
      </p:sp>
      <p:sp>
        <p:nvSpPr>
          <p:cNvPr id="42" name="Text 40"/>
          <p:cNvSpPr/>
          <p:nvPr/>
        </p:nvSpPr>
        <p:spPr>
          <a:xfrm>
            <a:off x="685800" y="7223760"/>
            <a:ext cx="1188720" cy="201168"/>
          </a:xfrm>
          <a:prstGeom prst="rect">
            <a:avLst/>
          </a:prstGeom>
          <a:solidFill>
            <a:srgbClr val="1D9E75"/>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PREEMPTIVE</a:t>
            </a:r>
            <a:endParaRPr lang="en-US" sz="800" dirty="0"/>
          </a:p>
        </p:txBody>
      </p:sp>
      <p:sp>
        <p:nvSpPr>
          <p:cNvPr id="43" name="Text 41"/>
          <p:cNvSpPr/>
          <p:nvPr/>
        </p:nvSpPr>
        <p:spPr>
          <a:xfrm>
            <a:off x="1965960" y="7205472"/>
            <a:ext cx="3657600" cy="274320"/>
          </a:xfrm>
          <a:prstGeom prst="rect">
            <a:avLst/>
          </a:prstGeom>
          <a:noFill/>
          <a:ln/>
        </p:spPr>
        <p:txBody>
          <a:bodyPr wrap="square" lIns="0" tIns="0" rIns="0" bIns="0" rtlCol="0" anchor="ctr"/>
          <a:lstStyle/>
          <a:p>
            <a:pPr indent="0" marL="0">
              <a:buNone/>
            </a:pPr>
            <a:r>
              <a:rPr lang="en-US" sz="1500" b="1" dirty="0">
                <a:solidFill>
                  <a:srgbClr val="085041"/>
                </a:solidFill>
                <a:latin typeface="Arial" pitchFamily="34" charset="0"/>
                <a:ea typeface="Arial" pitchFamily="34" charset="-122"/>
                <a:cs typeface="Arial" pitchFamily="34" charset="-120"/>
              </a:rPr>
              <a:t>RigorOS (Rigor AI)</a:t>
            </a:r>
            <a:endParaRPr lang="en-US" sz="1500" dirty="0"/>
          </a:p>
        </p:txBody>
      </p:sp>
      <p:sp>
        <p:nvSpPr>
          <p:cNvPr id="44" name="Text 42"/>
          <p:cNvSpPr/>
          <p:nvPr/>
        </p:nvSpPr>
        <p:spPr>
          <a:xfrm>
            <a:off x="5303520" y="7205472"/>
            <a:ext cx="3200400" cy="274320"/>
          </a:xfrm>
          <a:prstGeom prst="rect">
            <a:avLst/>
          </a:prstGeom>
          <a:noFill/>
          <a:ln/>
        </p:spPr>
        <p:txBody>
          <a:bodyPr wrap="square" lIns="0" tIns="0" rIns="0" bIns="0" rtlCol="0" anchor="ctr"/>
          <a:lstStyle/>
          <a:p>
            <a:pPr indent="0" marL="0">
              <a:buNone/>
            </a:pPr>
            <a:r>
              <a:rPr lang="en-US" sz="1300" b="1" i="1" dirty="0">
                <a:solidFill>
                  <a:srgbClr val="1D9E75"/>
                </a:solidFill>
                <a:latin typeface="Arial" pitchFamily="34" charset="0"/>
                <a:ea typeface="Arial" pitchFamily="34" charset="-122"/>
                <a:cs typeface="Arial" pitchFamily="34" charset="-120"/>
              </a:rPr>
              <a:t>The master architect.</a:t>
            </a:r>
            <a:endParaRPr lang="en-US" sz="1300" dirty="0"/>
          </a:p>
        </p:txBody>
      </p:sp>
      <p:sp>
        <p:nvSpPr>
          <p:cNvPr id="45" name="Text 43"/>
          <p:cNvSpPr/>
          <p:nvPr/>
        </p:nvSpPr>
        <p:spPr>
          <a:xfrm>
            <a:off x="1965960" y="7516368"/>
            <a:ext cx="6492240" cy="777240"/>
          </a:xfrm>
          <a:prstGeom prst="rect">
            <a:avLst/>
          </a:prstGeom>
          <a:noFill/>
          <a:ln/>
        </p:spPr>
        <p:txBody>
          <a:bodyPr wrap="square" lIns="0" tIns="0" rIns="0" bIns="0" rtlCol="0" anchor="ctr"/>
          <a:lstStyle/>
          <a:p>
            <a:pPr indent="0" marL="0">
              <a:buNone/>
            </a:pPr>
            <a:r>
              <a:rPr lang="en-US" sz="1050" dirty="0">
                <a:solidFill>
                  <a:srgbClr val="0F6E56"/>
                </a:solidFill>
                <a:latin typeface="Arial" pitchFamily="34" charset="0"/>
                <a:ea typeface="Arial" pitchFamily="34" charset="-122"/>
                <a:cs typeface="Arial" pitchFamily="34" charset="-120"/>
              </a:rPr>
              <a:t>It sits above the live environment, using formal mathematics to prove your NGFW and cloud configurations are completely secure and free of human error — before any traffic flows. Unlike every other tool in this stack, RigorOS does not wait for something bad to happen. It mathematically guarantees that the misconfigurations causing 99% of firewall breaches (Gartner) cannot exist in your environment.</a:t>
            </a:r>
            <a:endParaRPr lang="en-US" sz="1050" dirty="0"/>
          </a:p>
        </p:txBody>
      </p:sp>
      <p:sp>
        <p:nvSpPr>
          <p:cNvPr id="46" name="Text 44"/>
          <p:cNvSpPr/>
          <p:nvPr/>
        </p:nvSpPr>
        <p:spPr>
          <a:xfrm>
            <a:off x="1965960" y="8302752"/>
            <a:ext cx="6492240" cy="201168"/>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No telemetry  •  No agents  •  Config-only pull  •  Zero false positives  •  Proof-backed findings  •  Time to value &lt; 4 weeks</a:t>
            </a:r>
            <a:endParaRPr lang="en-US" sz="900" dirty="0"/>
          </a:p>
        </p:txBody>
      </p:sp>
      <p:sp>
        <p:nvSpPr>
          <p:cNvPr id="47" name="Text 45"/>
          <p:cNvSpPr/>
          <p:nvPr/>
        </p:nvSpPr>
        <p:spPr>
          <a:xfrm>
            <a:off x="457200" y="12252960"/>
            <a:ext cx="8229600" cy="182880"/>
          </a:xfrm>
          <a:prstGeom prst="rect">
            <a:avLst/>
          </a:prstGeom>
          <a:noFill/>
          <a:ln/>
        </p:spPr>
        <p:txBody>
          <a:bodyPr wrap="square" lIns="0" tIns="0" rIns="0" bIns="0" rtlCol="0" anchor="ctr"/>
          <a:lstStyle/>
          <a:p>
            <a:pPr algn="ctr" indent="0" marL="0">
              <a:buNone/>
            </a:pPr>
            <a:r>
              <a:rPr lang="en-US" sz="800" dirty="0">
                <a:solidFill>
                  <a:srgbClr val="B4B2A9"/>
                </a:solidFill>
                <a:latin typeface="Arial" pitchFamily="34" charset="0"/>
                <a:ea typeface="Arial" pitchFamily="34" charset="-122"/>
                <a:cs typeface="Arial" pitchFamily="34" charset="-120"/>
              </a:rPr>
              <a:t>Prepared by 22nd Century Technologies  |  All sources verified as of April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RigorOS Cybersecurity Lifecycle</dc:title>
  <dc:subject>PptxGenJS Presentation</dc:subject>
  <dc:creator>PptxGenJS</dc:creator>
  <cp:lastModifiedBy>PptxGenJS</cp:lastModifiedBy>
  <cp:revision>1</cp:revision>
  <dcterms:created xsi:type="dcterms:W3CDTF">2026-04-17T15:36:43Z</dcterms:created>
  <dcterms:modified xsi:type="dcterms:W3CDTF">2026-04-17T15:36:43Z</dcterms:modified>
</cp:coreProperties>
</file>