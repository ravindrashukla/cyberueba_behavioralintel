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sp>
      <p:sp>
        <p:nvSpPr>
          <p:cNvPr id="3" name="Text 1"/>
          <p:cNvSpPr/>
          <p:nvPr/>
        </p:nvSpPr>
        <p:spPr>
          <a:xfrm>
            <a:off x="822960" y="1280160"/>
            <a:ext cx="10972800" cy="457200"/>
          </a:xfrm>
          <a:prstGeom prst="rect">
            <a:avLst/>
          </a:prstGeom>
          <a:noFill/>
          <a:ln/>
        </p:spPr>
        <p:txBody>
          <a:bodyPr wrap="square" lIns="0" tIns="0" rIns="0" bIns="0" rtlCol="0" anchor="ctr"/>
          <a:lstStyle/>
          <a:p>
            <a:pPr indent="0" marL="0">
              <a:buNone/>
            </a:pPr>
            <a:r>
              <a:rPr lang="en-US" sz="1600" b="1" spc="500" kern="0" dirty="0">
                <a:solidFill>
                  <a:srgbClr val="F26B1F"/>
                </a:solidFill>
                <a:latin typeface="Calibri" pitchFamily="34" charset="0"/>
                <a:ea typeface="Calibri" pitchFamily="34" charset="-122"/>
                <a:cs typeface="Calibri" pitchFamily="34" charset="-120"/>
              </a:rPr>
              <a:t>COMPREHENSIVE DEFENSE AGAINST VOLT &amp; SALT TYPHOON</a:t>
            </a:r>
            <a:endParaRPr lang="en-US" sz="1600" dirty="0"/>
          </a:p>
        </p:txBody>
      </p:sp>
      <p:sp>
        <p:nvSpPr>
          <p:cNvPr id="4" name="Text 2"/>
          <p:cNvSpPr/>
          <p:nvPr/>
        </p:nvSpPr>
        <p:spPr>
          <a:xfrm>
            <a:off x="822960" y="1828800"/>
            <a:ext cx="11155680" cy="1005840"/>
          </a:xfrm>
          <a:prstGeom prst="rect">
            <a:avLst/>
          </a:prstGeom>
          <a:noFill/>
          <a:ln/>
        </p:spPr>
        <p:txBody>
          <a:bodyPr wrap="square" lIns="0" tIns="0" rIns="0" bIns="0" rtlCol="0" anchor="ctr"/>
          <a:lstStyle/>
          <a:p>
            <a:pPr indent="0" marL="0">
              <a:buNone/>
            </a:pPr>
            <a:r>
              <a:rPr lang="en-US" sz="4800" b="1" dirty="0">
                <a:solidFill>
                  <a:srgbClr val="F26B1F"/>
                </a:solidFill>
                <a:latin typeface="Georgia" pitchFamily="34" charset="0"/>
                <a:ea typeface="Georgia" pitchFamily="34" charset="-122"/>
                <a:cs typeface="Georgia" pitchFamily="34" charset="-120"/>
              </a:rPr>
              <a:t>Rigor AI</a:t>
            </a:r>
            <a:pPr indent="0" marL="0">
              <a:buNone/>
            </a:pPr>
            <a:r>
              <a:rPr lang="en-US" sz="4800" dirty="0">
                <a:solidFill>
                  <a:srgbClr val="E5E9EE"/>
                </a:solidFill>
                <a:latin typeface="Georgia" pitchFamily="34" charset="0"/>
                <a:ea typeface="Georgia" pitchFamily="34" charset="-122"/>
                <a:cs typeface="Georgia" pitchFamily="34" charset="-120"/>
              </a:rPr>
              <a:t>  +  </a:t>
            </a:r>
            <a:pPr indent="0" marL="0">
              <a:buNone/>
            </a:pPr>
            <a:r>
              <a:rPr lang="en-US" sz="4800" b="1" dirty="0">
                <a:solidFill>
                  <a:srgbClr val="FFFFFF"/>
                </a:solidFill>
                <a:latin typeface="Georgia" pitchFamily="34" charset="0"/>
                <a:ea typeface="Georgia" pitchFamily="34" charset="-122"/>
                <a:cs typeface="Georgia" pitchFamily="34" charset="-120"/>
              </a:rPr>
              <a:t>ACECARD UEBA</a:t>
            </a:r>
            <a:endParaRPr lang="en-US" sz="4800" dirty="0"/>
          </a:p>
        </p:txBody>
      </p:sp>
      <p:sp>
        <p:nvSpPr>
          <p:cNvPr id="5" name="Text 3"/>
          <p:cNvSpPr/>
          <p:nvPr/>
        </p:nvSpPr>
        <p:spPr>
          <a:xfrm>
            <a:off x="822960" y="3200400"/>
            <a:ext cx="10515600" cy="1280160"/>
          </a:xfrm>
          <a:prstGeom prst="rect">
            <a:avLst/>
          </a:prstGeom>
          <a:noFill/>
          <a:ln/>
        </p:spPr>
        <p:txBody>
          <a:bodyPr wrap="square" lIns="0" tIns="0" rIns="0" bIns="0" rtlCol="0" anchor="ctr"/>
          <a:lstStyle/>
          <a:p>
            <a:pPr indent="0" marL="0">
              <a:buNone/>
            </a:pPr>
            <a:r>
              <a:rPr lang="en-US" sz="1600" i="1" dirty="0">
                <a:solidFill>
                  <a:srgbClr val="B8C2CC"/>
                </a:solidFill>
                <a:latin typeface="Calibri" pitchFamily="34" charset="0"/>
                <a:ea typeface="Calibri" pitchFamily="34" charset="-122"/>
                <a:cs typeface="Calibri" pitchFamily="34" charset="-120"/>
              </a:rPr>
              <a:t>Preemptive cyber defense + behavioral trajectory intelligence — a layered architecture that closes Volt Typhoon's configuration attack surface and detects Salt Typhoon's living-off-the-land tradecraft.</a:t>
            </a:r>
            <a:endParaRPr lang="en-US" sz="1600" dirty="0"/>
          </a:p>
        </p:txBody>
      </p:sp>
      <p:sp>
        <p:nvSpPr>
          <p:cNvPr id="6" name="Shape 4"/>
          <p:cNvSpPr/>
          <p:nvPr/>
        </p:nvSpPr>
        <p:spPr>
          <a:xfrm>
            <a:off x="822960" y="4754880"/>
            <a:ext cx="5212080" cy="1280160"/>
          </a:xfrm>
          <a:prstGeom prst="rect">
            <a:avLst/>
          </a:prstGeom>
          <a:solidFill>
            <a:srgbClr val="0B1F3A"/>
          </a:solidFill>
          <a:ln w="12700">
            <a:solidFill>
              <a:srgbClr val="F26B1F"/>
            </a:solidFill>
            <a:prstDash val="solid"/>
          </a:ln>
        </p:spPr>
      </p:sp>
      <p:sp>
        <p:nvSpPr>
          <p:cNvPr id="7" name="Text 5"/>
          <p:cNvSpPr/>
          <p:nvPr/>
        </p:nvSpPr>
        <p:spPr>
          <a:xfrm>
            <a:off x="1005840" y="4892040"/>
            <a:ext cx="484632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PREEMPTIVE LAYER</a:t>
            </a:r>
            <a:endParaRPr lang="en-US" sz="1100" dirty="0"/>
          </a:p>
        </p:txBody>
      </p:sp>
      <p:sp>
        <p:nvSpPr>
          <p:cNvPr id="8" name="Text 6"/>
          <p:cNvSpPr/>
          <p:nvPr/>
        </p:nvSpPr>
        <p:spPr>
          <a:xfrm>
            <a:off x="1005840" y="516636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Rigor AI</a:t>
            </a:r>
            <a:endParaRPr lang="en-US" sz="1800" dirty="0"/>
          </a:p>
        </p:txBody>
      </p:sp>
      <p:sp>
        <p:nvSpPr>
          <p:cNvPr id="9" name="Text 7"/>
          <p:cNvSpPr/>
          <p:nvPr/>
        </p:nvSpPr>
        <p:spPr>
          <a:xfrm>
            <a:off x="1005840" y="5486400"/>
            <a:ext cx="4846320" cy="502920"/>
          </a:xfrm>
          <a:prstGeom prst="rect">
            <a:avLst/>
          </a:prstGeom>
          <a:noFill/>
          <a:ln/>
        </p:spPr>
        <p:txBody>
          <a:bodyPr wrap="square" lIns="0" tIns="0" rIns="0" bIns="0" rtlCol="0" anchor="ctr"/>
          <a:lstStyle/>
          <a:p>
            <a:pPr indent="0" marL="0">
              <a:buNone/>
            </a:pPr>
            <a:r>
              <a:rPr lang="en-US" sz="1100" dirty="0">
                <a:solidFill>
                  <a:srgbClr val="C8D2DC"/>
                </a:solidFill>
                <a:latin typeface="Calibri" pitchFamily="34" charset="0"/>
                <a:ea typeface="Calibri" pitchFamily="34" charset="-122"/>
                <a:cs typeface="Calibri" pitchFamily="34" charset="-120"/>
              </a:rPr>
              <a:t>Mathematically verifies every defensive control closes every known TTP — before exploitation.</a:t>
            </a:r>
            <a:endParaRPr lang="en-US" sz="1100" dirty="0"/>
          </a:p>
        </p:txBody>
      </p:sp>
      <p:sp>
        <p:nvSpPr>
          <p:cNvPr id="10" name="Shape 8"/>
          <p:cNvSpPr/>
          <p:nvPr/>
        </p:nvSpPr>
        <p:spPr>
          <a:xfrm>
            <a:off x="6126480" y="4754880"/>
            <a:ext cx="5212080" cy="1280160"/>
          </a:xfrm>
          <a:prstGeom prst="rect">
            <a:avLst/>
          </a:prstGeom>
          <a:solidFill>
            <a:srgbClr val="0B1F3A"/>
          </a:solidFill>
          <a:ln w="12700">
            <a:solidFill>
              <a:srgbClr val="0891B2"/>
            </a:solidFill>
            <a:prstDash val="solid"/>
          </a:ln>
        </p:spPr>
      </p:sp>
      <p:sp>
        <p:nvSpPr>
          <p:cNvPr id="11" name="Text 9"/>
          <p:cNvSpPr/>
          <p:nvPr/>
        </p:nvSpPr>
        <p:spPr>
          <a:xfrm>
            <a:off x="6309360" y="4892040"/>
            <a:ext cx="4846320" cy="27432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BEHAVIORAL LAYER</a:t>
            </a:r>
            <a:endParaRPr lang="en-US" sz="1100" dirty="0"/>
          </a:p>
        </p:txBody>
      </p:sp>
      <p:sp>
        <p:nvSpPr>
          <p:cNvPr id="12" name="Text 10"/>
          <p:cNvSpPr/>
          <p:nvPr/>
        </p:nvSpPr>
        <p:spPr>
          <a:xfrm>
            <a:off x="6309360" y="516636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ACECARD UEBA</a:t>
            </a:r>
            <a:endParaRPr lang="en-US" sz="1800" dirty="0"/>
          </a:p>
        </p:txBody>
      </p:sp>
      <p:sp>
        <p:nvSpPr>
          <p:cNvPr id="13" name="Text 11"/>
          <p:cNvSpPr/>
          <p:nvPr/>
        </p:nvSpPr>
        <p:spPr>
          <a:xfrm>
            <a:off x="6309360" y="5486400"/>
            <a:ext cx="4846320" cy="502920"/>
          </a:xfrm>
          <a:prstGeom prst="rect">
            <a:avLst/>
          </a:prstGeom>
          <a:noFill/>
          <a:ln/>
        </p:spPr>
        <p:txBody>
          <a:bodyPr wrap="square" lIns="0" tIns="0" rIns="0" bIns="0" rtlCol="0" anchor="ctr"/>
          <a:lstStyle/>
          <a:p>
            <a:pPr indent="0" marL="0">
              <a:buNone/>
            </a:pPr>
            <a:r>
              <a:rPr lang="en-US" sz="1100" dirty="0">
                <a:solidFill>
                  <a:srgbClr val="C8D2DC"/>
                </a:solidFill>
                <a:latin typeface="Calibri" pitchFamily="34" charset="0"/>
                <a:ea typeface="Calibri" pitchFamily="34" charset="-122"/>
                <a:cs typeface="Calibri" pitchFamily="34" charset="-120"/>
              </a:rPr>
              <a:t>Continuous 1536-d behavioral trajectories with MITRE-mapped drift direction.</a:t>
            </a:r>
            <a:endParaRPr lang="en-US" sz="1100" dirty="0"/>
          </a:p>
        </p:txBody>
      </p:sp>
      <p:sp>
        <p:nvSpPr>
          <p:cNvPr id="14" name="Text 12"/>
          <p:cNvSpPr/>
          <p:nvPr/>
        </p:nvSpPr>
        <p:spPr>
          <a:xfrm>
            <a:off x="822960" y="6446520"/>
            <a:ext cx="10515600" cy="274320"/>
          </a:xfrm>
          <a:prstGeom prst="rect">
            <a:avLst/>
          </a:prstGeom>
          <a:noFill/>
          <a:ln/>
        </p:spPr>
        <p:txBody>
          <a:bodyPr wrap="square" lIns="0" tIns="0" rIns="0" bIns="0" rtlCol="0" anchor="ctr"/>
          <a:lstStyle/>
          <a:p>
            <a:pPr indent="0" marL="0">
              <a:buNone/>
            </a:pPr>
            <a:r>
              <a:rPr lang="en-US" sz="1000" i="1" dirty="0">
                <a:solidFill>
                  <a:srgbClr val="8A98A8"/>
                </a:solidFill>
                <a:latin typeface="Calibri" pitchFamily="34" charset="0"/>
                <a:ea typeface="Calibri" pitchFamily="34" charset="-122"/>
                <a:cs typeface="Calibri" pitchFamily="34" charset="-120"/>
              </a:rPr>
              <a:t>Rigor AI Inc.  ·  22nd Century Technologies (TSCTI)  ·  CONFIDENTIAL  ·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The Threat: Two Apex Predators in U.S. Critical Infrastructure</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Both groups are PRC state-sponsored. Both prepare for disruption. Both walked past commercial defenses for years.</a:t>
            </a:r>
            <a:endParaRPr lang="en-US" sz="1300" dirty="0"/>
          </a:p>
        </p:txBody>
      </p:sp>
      <p:sp>
        <p:nvSpPr>
          <p:cNvPr id="4" name="Shape 2"/>
          <p:cNvSpPr/>
          <p:nvPr/>
        </p:nvSpPr>
        <p:spPr>
          <a:xfrm>
            <a:off x="457200" y="1371600"/>
            <a:ext cx="5486400" cy="50292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457200" y="1371600"/>
            <a:ext cx="5486400" cy="548640"/>
          </a:xfrm>
          <a:prstGeom prst="rect">
            <a:avLst/>
          </a:prstGeom>
          <a:solidFill>
            <a:srgbClr val="0B1F3A"/>
          </a:solidFill>
          <a:ln/>
        </p:spPr>
      </p:sp>
      <p:sp>
        <p:nvSpPr>
          <p:cNvPr id="6" name="Text 4"/>
          <p:cNvSpPr/>
          <p:nvPr/>
        </p:nvSpPr>
        <p:spPr>
          <a:xfrm>
            <a:off x="640080" y="1371600"/>
            <a:ext cx="5120640" cy="54864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Black" pitchFamily="34" charset="0"/>
                <a:ea typeface="Arial Black" pitchFamily="34" charset="-122"/>
                <a:cs typeface="Arial Black" pitchFamily="34" charset="-120"/>
              </a:rPr>
              <a:t>VOLT TYPHOON  (CISA AA24-038A)</a:t>
            </a:r>
            <a:endParaRPr lang="en-US" sz="1600" dirty="0"/>
          </a:p>
        </p:txBody>
      </p:sp>
      <p:sp>
        <p:nvSpPr>
          <p:cNvPr id="7" name="Text 5"/>
          <p:cNvSpPr/>
          <p:nvPr/>
        </p:nvSpPr>
        <p:spPr>
          <a:xfrm>
            <a:off x="685800" y="2103120"/>
            <a:ext cx="502920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MISSION</a:t>
            </a:r>
            <a:endParaRPr lang="en-US" sz="1100" dirty="0"/>
          </a:p>
        </p:txBody>
      </p:sp>
      <p:sp>
        <p:nvSpPr>
          <p:cNvPr id="8" name="Text 6"/>
          <p:cNvSpPr/>
          <p:nvPr/>
        </p:nvSpPr>
        <p:spPr>
          <a:xfrm>
            <a:off x="685800" y="2377440"/>
            <a:ext cx="5029200" cy="777240"/>
          </a:xfrm>
          <a:prstGeom prst="rect">
            <a:avLst/>
          </a:prstGeom>
          <a:noFill/>
          <a:ln/>
        </p:spPr>
        <p:txBody>
          <a:bodyPr wrap="square" lIns="0" tIns="0" rIns="0" bIns="0" rtlCol="0" anchor="t"/>
          <a:lstStyle/>
          <a:p>
            <a:pPr indent="0" marL="0">
              <a:buNone/>
            </a:pPr>
            <a:r>
              <a:rPr lang="en-US" sz="1250" dirty="0">
                <a:solidFill>
                  <a:srgbClr val="2D3748"/>
                </a:solidFill>
                <a:latin typeface="Calibri" pitchFamily="34" charset="0"/>
                <a:ea typeface="Calibri" pitchFamily="34" charset="-122"/>
                <a:cs typeface="Calibri" pitchFamily="34" charset="-120"/>
              </a:rPr>
              <a:t>Pre-position in U.S. critical infrastructure (energy, water, transport, comms) for sabotage during a future crisis. ≥5-year undetected dwell.</a:t>
            </a:r>
            <a:endParaRPr lang="en-US" sz="1250" dirty="0"/>
          </a:p>
        </p:txBody>
      </p:sp>
      <p:sp>
        <p:nvSpPr>
          <p:cNvPr id="9" name="Text 7"/>
          <p:cNvSpPr/>
          <p:nvPr/>
        </p:nvSpPr>
        <p:spPr>
          <a:xfrm>
            <a:off x="685800" y="3200400"/>
            <a:ext cx="502920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0" name="Text 8"/>
          <p:cNvSpPr/>
          <p:nvPr/>
        </p:nvSpPr>
        <p:spPr>
          <a:xfrm>
            <a:off x="68580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Initial access via unpatched edge devices (Fortinet, Versa, Ivanti, PAN)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 wmic, ntdsutil, netsh, rundll32, vssadmin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C2 proxied through compromised SOHO routers (KV botnet)</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Credential theft, valid-account abuse, lateral movement (SMB, RDP, WinRM)</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In-memory execution, log clearing, multi-year persistence</a:t>
            </a:r>
            <a:endParaRPr lang="en-US" sz="1150" dirty="0"/>
          </a:p>
        </p:txBody>
      </p:sp>
      <p:sp>
        <p:nvSpPr>
          <p:cNvPr id="11" name="Shape 9"/>
          <p:cNvSpPr/>
          <p:nvPr/>
        </p:nvSpPr>
        <p:spPr>
          <a:xfrm>
            <a:off x="6217920" y="1371600"/>
            <a:ext cx="5486400" cy="50292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6217920" y="1371600"/>
            <a:ext cx="5486400" cy="548640"/>
          </a:xfrm>
          <a:prstGeom prst="rect">
            <a:avLst/>
          </a:prstGeom>
          <a:solidFill>
            <a:srgbClr val="1C7293"/>
          </a:solidFill>
          <a:ln/>
        </p:spPr>
      </p:sp>
      <p:sp>
        <p:nvSpPr>
          <p:cNvPr id="13" name="Text 11"/>
          <p:cNvSpPr/>
          <p:nvPr/>
        </p:nvSpPr>
        <p:spPr>
          <a:xfrm>
            <a:off x="6400800" y="1371600"/>
            <a:ext cx="5120640" cy="548640"/>
          </a:xfrm>
          <a:prstGeom prst="rect">
            <a:avLst/>
          </a:prstGeom>
          <a:noFill/>
          <a:ln/>
        </p:spPr>
        <p:txBody>
          <a:bodyPr wrap="square" lIns="0" tIns="0" rIns="0" bIns="0" rtlCol="0" anchor="ctr"/>
          <a:lstStyle/>
          <a:p>
            <a:pPr indent="0" marL="0">
              <a:buNone/>
            </a:pPr>
            <a:r>
              <a:rPr lang="en-US" sz="1600" b="1" spc="200" kern="0" dirty="0">
                <a:solidFill>
                  <a:srgbClr val="FFFFFF"/>
                </a:solidFill>
                <a:latin typeface="Arial Black" pitchFamily="34" charset="0"/>
                <a:ea typeface="Arial Black" pitchFamily="34" charset="-122"/>
                <a:cs typeface="Arial Black" pitchFamily="34" charset="-120"/>
              </a:rPr>
              <a:t>SALT TYPHOON  (CISA AA25-239A)</a:t>
            </a:r>
            <a:endParaRPr lang="en-US" sz="1600" dirty="0"/>
          </a:p>
        </p:txBody>
      </p:sp>
      <p:sp>
        <p:nvSpPr>
          <p:cNvPr id="14" name="Text 12"/>
          <p:cNvSpPr/>
          <p:nvPr/>
        </p:nvSpPr>
        <p:spPr>
          <a:xfrm>
            <a:off x="6446520" y="2103120"/>
            <a:ext cx="502920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MISSION</a:t>
            </a:r>
            <a:endParaRPr lang="en-US" sz="1100" dirty="0"/>
          </a:p>
        </p:txBody>
      </p:sp>
      <p:sp>
        <p:nvSpPr>
          <p:cNvPr id="15" name="Text 13"/>
          <p:cNvSpPr/>
          <p:nvPr/>
        </p:nvSpPr>
        <p:spPr>
          <a:xfrm>
            <a:off x="6446520" y="2377440"/>
            <a:ext cx="5029200" cy="777240"/>
          </a:xfrm>
          <a:prstGeom prst="rect">
            <a:avLst/>
          </a:prstGeom>
          <a:noFill/>
          <a:ln/>
        </p:spPr>
        <p:txBody>
          <a:bodyPr wrap="square" lIns="0" tIns="0" rIns="0" bIns="0" rtlCol="0" anchor="t"/>
          <a:lstStyle/>
          <a:p>
            <a:pPr indent="0" marL="0">
              <a:buNone/>
            </a:pPr>
            <a:r>
              <a:rPr lang="en-US" sz="1250" dirty="0">
                <a:solidFill>
                  <a:srgbClr val="2D3748"/>
                </a:solidFill>
                <a:latin typeface="Calibri" pitchFamily="34" charset="0"/>
                <a:ea typeface="Calibri" pitchFamily="34" charset="-122"/>
                <a:cs typeface="Calibri" pitchFamily="34" charset="-120"/>
              </a:rPr>
              <a:t>Espionage at carrier scale. Compromised 200+ telcos in 80+ countries — including U.S. CALEA lawful-intercept systems.</a:t>
            </a:r>
            <a:endParaRPr lang="en-US" sz="1250" dirty="0"/>
          </a:p>
        </p:txBody>
      </p:sp>
      <p:sp>
        <p:nvSpPr>
          <p:cNvPr id="16" name="Text 14"/>
          <p:cNvSpPr/>
          <p:nvPr/>
        </p:nvSpPr>
        <p:spPr>
          <a:xfrm>
            <a:off x="6446520" y="3200400"/>
            <a:ext cx="502920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7" name="Text 15"/>
          <p:cNvSpPr/>
          <p:nvPr/>
        </p:nvSpPr>
        <p:spPr>
          <a:xfrm>
            <a:off x="644652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Exploits known CVEs in Cisco IOS XE, Ivanti, PAN, Citrix NetScaler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Modifies router ACLs, AAA configs to grant persistent access</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GhostSpider / Demodex / SnappyBee implants on network gear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Pivots from carrier infra into enterprise tenants via shared identity</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GRE tunnels + encrypted C2; CDR/metadata exfil over months</a:t>
            </a:r>
            <a:endParaRPr lang="en-US" sz="1150" dirty="0"/>
          </a:p>
        </p:txBody>
      </p:sp>
      <p:sp>
        <p:nvSpPr>
          <p:cNvPr id="18" name="Text 16"/>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Sources: CISA AA24-038A; CISA AA25-239A; FBI/NSA/Five-Eyes Joint Advisory Aug 2025; MITRE ATT&amp;CK G1017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sp>
      <p:sp>
        <p:nvSpPr>
          <p:cNvPr id="5" name="Shape 3"/>
          <p:cNvSpPr/>
          <p:nvPr/>
        </p:nvSpPr>
        <p:spPr>
          <a:xfrm>
            <a:off x="457200" y="1371600"/>
            <a:ext cx="5486400" cy="502920"/>
          </a:xfrm>
          <a:prstGeom prst="rect">
            <a:avLst/>
          </a:prstGeom>
          <a:solidFill>
            <a:srgbClr val="2D3748"/>
          </a:solidFill>
          <a:ln/>
        </p:spPr>
      </p:sp>
      <p:sp>
        <p:nvSpPr>
          <p:cNvPr id="6" name="Text 4"/>
          <p:cNvSpPr/>
          <p:nvPr/>
        </p:nvSpPr>
        <p:spPr>
          <a:xfrm>
            <a:off x="640080" y="1371600"/>
            <a:ext cx="5120640" cy="50292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sp>
      <p:sp>
        <p:nvSpPr>
          <p:cNvPr id="8" name="Text 6"/>
          <p:cNvSpPr/>
          <p:nvPr/>
        </p:nvSpPr>
        <p:spPr>
          <a:xfrm>
            <a:off x="822960" y="205740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sp>
      <p:sp>
        <p:nvSpPr>
          <p:cNvPr id="11" name="Text 9"/>
          <p:cNvSpPr/>
          <p:nvPr/>
        </p:nvSpPr>
        <p:spPr>
          <a:xfrm>
            <a:off x="822960" y="310896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sp>
      <p:sp>
        <p:nvSpPr>
          <p:cNvPr id="14" name="Text 12"/>
          <p:cNvSpPr/>
          <p:nvPr/>
        </p:nvSpPr>
        <p:spPr>
          <a:xfrm>
            <a:off x="822960" y="416052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sp>
      <p:sp>
        <p:nvSpPr>
          <p:cNvPr id="17" name="Text 15"/>
          <p:cNvSpPr/>
          <p:nvPr/>
        </p:nvSpPr>
        <p:spPr>
          <a:xfrm>
            <a:off x="822960" y="521208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sp>
      <p:sp>
        <p:nvSpPr>
          <p:cNvPr id="20" name="Shape 18"/>
          <p:cNvSpPr/>
          <p:nvPr/>
        </p:nvSpPr>
        <p:spPr>
          <a:xfrm>
            <a:off x="6217920" y="1371600"/>
            <a:ext cx="5486400" cy="502920"/>
          </a:xfrm>
          <a:prstGeom prst="rect">
            <a:avLst/>
          </a:prstGeom>
          <a:solidFill>
            <a:srgbClr val="2D3748"/>
          </a:solidFill>
          <a:ln/>
        </p:spPr>
      </p:sp>
      <p:sp>
        <p:nvSpPr>
          <p:cNvPr id="21" name="Text 19"/>
          <p:cNvSpPr/>
          <p:nvPr/>
        </p:nvSpPr>
        <p:spPr>
          <a:xfrm>
            <a:off x="6400800" y="1371600"/>
            <a:ext cx="5120640" cy="50292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sp>
      <p:sp>
        <p:nvSpPr>
          <p:cNvPr id="23" name="Text 21"/>
          <p:cNvSpPr/>
          <p:nvPr/>
        </p:nvSpPr>
        <p:spPr>
          <a:xfrm>
            <a:off x="6583680" y="205740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sp>
      <p:sp>
        <p:nvSpPr>
          <p:cNvPr id="26" name="Text 24"/>
          <p:cNvSpPr/>
          <p:nvPr/>
        </p:nvSpPr>
        <p:spPr>
          <a:xfrm>
            <a:off x="6583680" y="310896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sp>
      <p:sp>
        <p:nvSpPr>
          <p:cNvPr id="29" name="Text 27"/>
          <p:cNvSpPr/>
          <p:nvPr/>
        </p:nvSpPr>
        <p:spPr>
          <a:xfrm>
            <a:off x="6583680" y="416052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sp>
      <p:sp>
        <p:nvSpPr>
          <p:cNvPr id="32" name="Text 30"/>
          <p:cNvSpPr/>
          <p:nvPr/>
        </p:nvSpPr>
        <p:spPr>
          <a:xfrm>
            <a:off x="6583680" y="5212080"/>
            <a:ext cx="493776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Rigor AI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sp>
      <p:sp>
        <p:nvSpPr>
          <p:cNvPr id="5" name="Shape 3"/>
          <p:cNvSpPr/>
          <p:nvPr/>
        </p:nvSpPr>
        <p:spPr>
          <a:xfrm>
            <a:off x="457200" y="1371600"/>
            <a:ext cx="5394960" cy="640080"/>
          </a:xfrm>
          <a:prstGeom prst="rect">
            <a:avLst/>
          </a:prstGeom>
          <a:solidFill>
            <a:srgbClr val="F26B1F"/>
          </a:solidFill>
          <a:ln/>
        </p:spPr>
      </p:sp>
      <p:sp>
        <p:nvSpPr>
          <p:cNvPr id="6" name="Text 4"/>
          <p:cNvSpPr/>
          <p:nvPr/>
        </p:nvSpPr>
        <p:spPr>
          <a:xfrm>
            <a:off x="640080" y="1417320"/>
            <a:ext cx="50292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LAYER 1 — RIGOR AI</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indent="0" marL="0">
              <a:buNone/>
            </a:pPr>
            <a:r>
              <a:rPr lang="en-US" sz="1000" b="1" spc="400" kern="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indent="0" marL="0">
              <a:buNone/>
            </a:pPr>
            <a:r>
              <a:rPr lang="en-US" sz="1000" b="1" spc="400" kern="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5400000">
            <a:off x="5943600" y="3520440"/>
            <a:ext cx="365760" cy="365760"/>
          </a:xfrm>
          <a:prstGeom prst="rtTriangle">
            <a:avLst/>
          </a:prstGeom>
          <a:solidFill>
            <a:srgbClr val="0B1F3A"/>
          </a:solidFill>
          <a:ln/>
        </p:spPr>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sp>
      <p:sp>
        <p:nvSpPr>
          <p:cNvPr id="14" name="Shape 12"/>
          <p:cNvSpPr/>
          <p:nvPr/>
        </p:nvSpPr>
        <p:spPr>
          <a:xfrm>
            <a:off x="6400800" y="1371600"/>
            <a:ext cx="5303520" cy="640080"/>
          </a:xfrm>
          <a:prstGeom prst="rect">
            <a:avLst/>
          </a:prstGeom>
          <a:solidFill>
            <a:srgbClr val="0891B2"/>
          </a:solidFill>
          <a:ln/>
        </p:spPr>
      </p:sp>
      <p:sp>
        <p:nvSpPr>
          <p:cNvPr id="15" name="Text 13"/>
          <p:cNvSpPr/>
          <p:nvPr/>
        </p:nvSpPr>
        <p:spPr>
          <a:xfrm>
            <a:off x="6583680" y="1417320"/>
            <a:ext cx="493776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Encodes every entity as a 1536-d behavioral embedding per hour. Computes cosine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indent="0" marL="0">
              <a:buNone/>
            </a:pPr>
            <a:r>
              <a:rPr lang="en-US" sz="1000" b="1" spc="400" kern="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sp>
      <p:sp>
        <p:nvSpPr>
          <p:cNvPr id="22" name="Text 20"/>
          <p:cNvSpPr/>
          <p:nvPr/>
        </p:nvSpPr>
        <p:spPr>
          <a:xfrm>
            <a:off x="640080" y="6126480"/>
            <a:ext cx="10972800" cy="5029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PREEMPTIVE LAYER  —  RIGOR AI</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The Rigor AI Approach: Close the Door Before They Knock</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Mathematically rigorous, preemptive cyber defense — Complete, Continuous, Verifiable</a:t>
            </a:r>
            <a:endParaRPr lang="en-US" sz="1300" dirty="0"/>
          </a:p>
        </p:txBody>
      </p:sp>
      <p:sp>
        <p:nvSpPr>
          <p:cNvPr id="6" name="Shape 4"/>
          <p:cNvSpPr/>
          <p:nvPr/>
        </p:nvSpPr>
        <p:spPr>
          <a:xfrm>
            <a:off x="457200" y="1554480"/>
            <a:ext cx="3657600" cy="1737360"/>
          </a:xfrm>
          <a:prstGeom prst="rect">
            <a:avLst/>
          </a:prstGeom>
          <a:solidFill>
            <a:srgbClr val="F7F8FA"/>
          </a:solidFill>
          <a:ln w="12700">
            <a:solidFill>
              <a:srgbClr val="E5E9EE"/>
            </a:solidFill>
            <a:prstDash val="solid"/>
          </a:ln>
        </p:spPr>
      </p:sp>
      <p:sp>
        <p:nvSpPr>
          <p:cNvPr id="7" name="Shape 5"/>
          <p:cNvSpPr/>
          <p:nvPr/>
        </p:nvSpPr>
        <p:spPr>
          <a:xfrm>
            <a:off x="457200" y="1554480"/>
            <a:ext cx="91440" cy="1737360"/>
          </a:xfrm>
          <a:prstGeom prst="rect">
            <a:avLst/>
          </a:prstGeom>
          <a:solidFill>
            <a:srgbClr val="C0392B"/>
          </a:solidFill>
          <a:ln/>
        </p:spPr>
      </p:sp>
      <p:sp>
        <p:nvSpPr>
          <p:cNvPr id="8" name="Text 6"/>
          <p:cNvSpPr/>
          <p:nvPr/>
        </p:nvSpPr>
        <p:spPr>
          <a:xfrm>
            <a:off x="685800" y="1691640"/>
            <a:ext cx="3291840" cy="274320"/>
          </a:xfrm>
          <a:prstGeom prst="rect">
            <a:avLst/>
          </a:prstGeom>
          <a:noFill/>
          <a:ln/>
        </p:spPr>
        <p:txBody>
          <a:bodyPr wrap="square" lIns="0" tIns="0" rIns="0" bIns="0" rtlCol="0" anchor="ctr"/>
          <a:lstStyle/>
          <a:p>
            <a:pPr indent="0" marL="0">
              <a:buNone/>
            </a:pPr>
            <a:r>
              <a:rPr lang="en-US" sz="1000" b="1" spc="4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9" name="Text 7"/>
          <p:cNvSpPr/>
          <p:nvPr/>
        </p:nvSpPr>
        <p:spPr>
          <a:xfrm>
            <a:off x="685800" y="1965960"/>
            <a:ext cx="3291840" cy="5943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Analyze All Known Threat Intelligence</a:t>
            </a:r>
            <a:endParaRPr lang="en-US" sz="1400" dirty="0"/>
          </a:p>
        </p:txBody>
      </p:sp>
      <p:sp>
        <p:nvSpPr>
          <p:cNvPr id="10" name="Text 8"/>
          <p:cNvSpPr/>
          <p:nvPr/>
        </p:nvSpPr>
        <p:spPr>
          <a:xfrm>
            <a:off x="685800" y="2606040"/>
            <a:ext cx="3291840" cy="594360"/>
          </a:xfrm>
          <a:prstGeom prst="rect">
            <a:avLst/>
          </a:prstGeom>
          <a:noFill/>
          <a:ln/>
        </p:spPr>
        <p:txBody>
          <a:bodyPr wrap="square" lIns="0" tIns="0" rIns="0" bIns="0" rtlCol="0" anchor="t"/>
          <a:lstStyle/>
          <a:p>
            <a:pPr indent="0" marL="0">
              <a:buNone/>
            </a:pPr>
            <a:r>
              <a:rPr lang="en-US" sz="1100" i="1" dirty="0">
                <a:solidFill>
                  <a:srgbClr val="2D3748"/>
                </a:solidFill>
                <a:latin typeface="Calibri" pitchFamily="34" charset="0"/>
                <a:ea typeface="Calibri" pitchFamily="34" charset="-122"/>
                <a:cs typeface="Calibri" pitchFamily="34" charset="-120"/>
              </a:rPr>
              <a:t>Terabytes of CVE, advisories, CTI, IOCs, IOAs, PSIRTs</a:t>
            </a:r>
            <a:endParaRPr lang="en-US" sz="1100" dirty="0"/>
          </a:p>
        </p:txBody>
      </p:sp>
      <p:sp>
        <p:nvSpPr>
          <p:cNvPr id="11" name="Shape 9"/>
          <p:cNvSpPr/>
          <p:nvPr/>
        </p:nvSpPr>
        <p:spPr>
          <a:xfrm rot="10800000">
            <a:off x="2148840" y="3429000"/>
            <a:ext cx="274320" cy="228600"/>
          </a:xfrm>
          <a:prstGeom prst="rtTriangle">
            <a:avLst/>
          </a:prstGeom>
          <a:solidFill>
            <a:srgbClr val="F26B1F"/>
          </a:solidFill>
          <a:ln/>
        </p:spPr>
      </p:sp>
      <p:sp>
        <p:nvSpPr>
          <p:cNvPr id="12" name="Shape 10"/>
          <p:cNvSpPr/>
          <p:nvPr/>
        </p:nvSpPr>
        <p:spPr>
          <a:xfrm>
            <a:off x="457200" y="3794760"/>
            <a:ext cx="3657600" cy="2194560"/>
          </a:xfrm>
          <a:prstGeom prst="rect">
            <a:avLst/>
          </a:prstGeom>
          <a:solidFill>
            <a:srgbClr val="F7F8FA"/>
          </a:solidFill>
          <a:ln w="12700">
            <a:solidFill>
              <a:srgbClr val="F26B1F"/>
            </a:solidFill>
            <a:prstDash val="solid"/>
          </a:ln>
        </p:spPr>
      </p:sp>
      <p:sp>
        <p:nvSpPr>
          <p:cNvPr id="13" name="Shape 11"/>
          <p:cNvSpPr/>
          <p:nvPr/>
        </p:nvSpPr>
        <p:spPr>
          <a:xfrm>
            <a:off x="457200" y="3794760"/>
            <a:ext cx="91440" cy="2194560"/>
          </a:xfrm>
          <a:prstGeom prst="rect">
            <a:avLst/>
          </a:prstGeom>
          <a:solidFill>
            <a:srgbClr val="F26B1F"/>
          </a:solidFill>
          <a:ln/>
        </p:spPr>
      </p:sp>
      <p:sp>
        <p:nvSpPr>
          <p:cNvPr id="14" name="Text 12"/>
          <p:cNvSpPr/>
          <p:nvPr/>
        </p:nvSpPr>
        <p:spPr>
          <a:xfrm>
            <a:off x="685800" y="3931920"/>
            <a:ext cx="3291840" cy="274320"/>
          </a:xfrm>
          <a:prstGeom prst="rect">
            <a:avLst/>
          </a:prstGeom>
          <a:noFill/>
          <a:ln/>
        </p:spPr>
        <p:txBody>
          <a:bodyPr wrap="square" lIns="0" tIns="0" rIns="0" bIns="0" rtlCol="0" anchor="ctr"/>
          <a:lstStyle/>
          <a:p>
            <a:pPr indent="0" marL="0">
              <a:buNone/>
            </a:pPr>
            <a:r>
              <a:rPr lang="en-US" sz="1000" b="1" spc="400" kern="0" dirty="0">
                <a:solidFill>
                  <a:srgbClr val="F26B1F"/>
                </a:solidFill>
                <a:latin typeface="Calibri" pitchFamily="34" charset="0"/>
                <a:ea typeface="Calibri" pitchFamily="34" charset="-122"/>
                <a:cs typeface="Calibri" pitchFamily="34" charset="-120"/>
              </a:rPr>
              <a:t>SOLUTION</a:t>
            </a:r>
            <a:endParaRPr lang="en-US" sz="1000" dirty="0"/>
          </a:p>
        </p:txBody>
      </p:sp>
      <p:sp>
        <p:nvSpPr>
          <p:cNvPr id="15" name="Text 13"/>
          <p:cNvSpPr/>
          <p:nvPr/>
        </p:nvSpPr>
        <p:spPr>
          <a:xfrm>
            <a:off x="685800" y="4206240"/>
            <a:ext cx="3291840" cy="41148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Attack Intelligence</a:t>
            </a:r>
            <a:endParaRPr lang="en-US" sz="1400" dirty="0"/>
          </a:p>
        </p:txBody>
      </p:sp>
      <p:sp>
        <p:nvSpPr>
          <p:cNvPr id="16" name="Text 14"/>
          <p:cNvSpPr/>
          <p:nvPr/>
        </p:nvSpPr>
        <p:spPr>
          <a:xfrm>
            <a:off x="685800" y="4663440"/>
            <a:ext cx="3291840" cy="128016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MITRE-enriched attack graphs built by ML/NLP/LLM pipeline. Full TTP coverage of Volt Typhoon (G1017) and Salt Typhoon.</a:t>
            </a:r>
            <a:endParaRPr lang="en-US" sz="1150" dirty="0"/>
          </a:p>
        </p:txBody>
      </p:sp>
      <p:sp>
        <p:nvSpPr>
          <p:cNvPr id="17" name="Shape 15"/>
          <p:cNvSpPr/>
          <p:nvPr/>
        </p:nvSpPr>
        <p:spPr>
          <a:xfrm>
            <a:off x="4389120" y="1554480"/>
            <a:ext cx="3657600" cy="1737360"/>
          </a:xfrm>
          <a:prstGeom prst="rect">
            <a:avLst/>
          </a:prstGeom>
          <a:solidFill>
            <a:srgbClr val="F7F8FA"/>
          </a:solidFill>
          <a:ln w="12700">
            <a:solidFill>
              <a:srgbClr val="E5E9EE"/>
            </a:solidFill>
            <a:prstDash val="solid"/>
          </a:ln>
        </p:spPr>
      </p:sp>
      <p:sp>
        <p:nvSpPr>
          <p:cNvPr id="18" name="Shape 16"/>
          <p:cNvSpPr/>
          <p:nvPr/>
        </p:nvSpPr>
        <p:spPr>
          <a:xfrm>
            <a:off x="4389120" y="1554480"/>
            <a:ext cx="91440" cy="1737360"/>
          </a:xfrm>
          <a:prstGeom prst="rect">
            <a:avLst/>
          </a:prstGeom>
          <a:solidFill>
            <a:srgbClr val="C0392B"/>
          </a:solidFill>
          <a:ln/>
        </p:spPr>
      </p:sp>
      <p:sp>
        <p:nvSpPr>
          <p:cNvPr id="19" name="Text 17"/>
          <p:cNvSpPr/>
          <p:nvPr/>
        </p:nvSpPr>
        <p:spPr>
          <a:xfrm>
            <a:off x="4617720" y="1691640"/>
            <a:ext cx="3291840" cy="274320"/>
          </a:xfrm>
          <a:prstGeom prst="rect">
            <a:avLst/>
          </a:prstGeom>
          <a:noFill/>
          <a:ln/>
        </p:spPr>
        <p:txBody>
          <a:bodyPr wrap="square" lIns="0" tIns="0" rIns="0" bIns="0" rtlCol="0" anchor="ctr"/>
          <a:lstStyle/>
          <a:p>
            <a:pPr indent="0" marL="0">
              <a:buNone/>
            </a:pPr>
            <a:r>
              <a:rPr lang="en-US" sz="1000" b="1" spc="4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20" name="Text 18"/>
          <p:cNvSpPr/>
          <p:nvPr/>
        </p:nvSpPr>
        <p:spPr>
          <a:xfrm>
            <a:off x="4617720" y="1965960"/>
            <a:ext cx="3291840" cy="5943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Identify Every Defensive Control Gap</a:t>
            </a:r>
            <a:endParaRPr lang="en-US" sz="1400" dirty="0"/>
          </a:p>
        </p:txBody>
      </p:sp>
      <p:sp>
        <p:nvSpPr>
          <p:cNvPr id="21" name="Text 19"/>
          <p:cNvSpPr/>
          <p:nvPr/>
        </p:nvSpPr>
        <p:spPr>
          <a:xfrm>
            <a:off x="4617720" y="2606040"/>
            <a:ext cx="3291840" cy="594360"/>
          </a:xfrm>
          <a:prstGeom prst="rect">
            <a:avLst/>
          </a:prstGeom>
          <a:noFill/>
          <a:ln/>
        </p:spPr>
        <p:txBody>
          <a:bodyPr wrap="square" lIns="0" tIns="0" rIns="0" bIns="0" rtlCol="0" anchor="t"/>
          <a:lstStyle/>
          <a:p>
            <a:pPr indent="0" marL="0">
              <a:buNone/>
            </a:pPr>
            <a:r>
              <a:rPr lang="en-US" sz="1100" i="1" dirty="0">
                <a:solidFill>
                  <a:srgbClr val="2D3748"/>
                </a:solidFill>
                <a:latin typeface="Calibri" pitchFamily="34" charset="0"/>
                <a:ea typeface="Calibri" pitchFamily="34" charset="-122"/>
                <a:cs typeface="Calibri" pitchFamily="34" charset="-120"/>
              </a:rPr>
              <a:t>Exponential combination of NGFW, IdP, IPS, SASE, WAF configs</a:t>
            </a:r>
            <a:endParaRPr lang="en-US" sz="1100" dirty="0"/>
          </a:p>
        </p:txBody>
      </p:sp>
      <p:sp>
        <p:nvSpPr>
          <p:cNvPr id="22" name="Shape 20"/>
          <p:cNvSpPr/>
          <p:nvPr/>
        </p:nvSpPr>
        <p:spPr>
          <a:xfrm rot="10800000">
            <a:off x="6080760" y="3429000"/>
            <a:ext cx="274320" cy="228600"/>
          </a:xfrm>
          <a:prstGeom prst="rtTriangle">
            <a:avLst/>
          </a:prstGeom>
          <a:solidFill>
            <a:srgbClr val="F26B1F"/>
          </a:solidFill>
          <a:ln/>
        </p:spPr>
      </p:sp>
      <p:sp>
        <p:nvSpPr>
          <p:cNvPr id="23" name="Shape 21"/>
          <p:cNvSpPr/>
          <p:nvPr/>
        </p:nvSpPr>
        <p:spPr>
          <a:xfrm>
            <a:off x="4389120" y="3794760"/>
            <a:ext cx="3657600" cy="2194560"/>
          </a:xfrm>
          <a:prstGeom prst="rect">
            <a:avLst/>
          </a:prstGeom>
          <a:solidFill>
            <a:srgbClr val="F7F8FA"/>
          </a:solidFill>
          <a:ln w="12700">
            <a:solidFill>
              <a:srgbClr val="F26B1F"/>
            </a:solidFill>
            <a:prstDash val="solid"/>
          </a:ln>
        </p:spPr>
      </p:sp>
      <p:sp>
        <p:nvSpPr>
          <p:cNvPr id="24" name="Shape 22"/>
          <p:cNvSpPr/>
          <p:nvPr/>
        </p:nvSpPr>
        <p:spPr>
          <a:xfrm>
            <a:off x="4389120" y="3794760"/>
            <a:ext cx="91440" cy="2194560"/>
          </a:xfrm>
          <a:prstGeom prst="rect">
            <a:avLst/>
          </a:prstGeom>
          <a:solidFill>
            <a:srgbClr val="F26B1F"/>
          </a:solidFill>
          <a:ln/>
        </p:spPr>
      </p:sp>
      <p:sp>
        <p:nvSpPr>
          <p:cNvPr id="25" name="Text 23"/>
          <p:cNvSpPr/>
          <p:nvPr/>
        </p:nvSpPr>
        <p:spPr>
          <a:xfrm>
            <a:off x="4617720" y="3931920"/>
            <a:ext cx="3291840" cy="274320"/>
          </a:xfrm>
          <a:prstGeom prst="rect">
            <a:avLst/>
          </a:prstGeom>
          <a:noFill/>
          <a:ln/>
        </p:spPr>
        <p:txBody>
          <a:bodyPr wrap="square" lIns="0" tIns="0" rIns="0" bIns="0" rtlCol="0" anchor="ctr"/>
          <a:lstStyle/>
          <a:p>
            <a:pPr indent="0" marL="0">
              <a:buNone/>
            </a:pPr>
            <a:r>
              <a:rPr lang="en-US" sz="1000" b="1" spc="400" kern="0" dirty="0">
                <a:solidFill>
                  <a:srgbClr val="F26B1F"/>
                </a:solidFill>
                <a:latin typeface="Calibri" pitchFamily="34" charset="0"/>
                <a:ea typeface="Calibri" pitchFamily="34" charset="-122"/>
                <a:cs typeface="Calibri" pitchFamily="34" charset="-120"/>
              </a:rPr>
              <a:t>SOLUTION</a:t>
            </a:r>
            <a:endParaRPr lang="en-US" sz="1000" dirty="0"/>
          </a:p>
        </p:txBody>
      </p:sp>
      <p:sp>
        <p:nvSpPr>
          <p:cNvPr id="26" name="Text 24"/>
          <p:cNvSpPr/>
          <p:nvPr/>
        </p:nvSpPr>
        <p:spPr>
          <a:xfrm>
            <a:off x="4617720" y="4206240"/>
            <a:ext cx="3291840" cy="41148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Defense Intelligence</a:t>
            </a:r>
            <a:endParaRPr lang="en-US" sz="1400" dirty="0"/>
          </a:p>
        </p:txBody>
      </p:sp>
      <p:sp>
        <p:nvSpPr>
          <p:cNvPr id="27" name="Text 25"/>
          <p:cNvSpPr/>
          <p:nvPr/>
        </p:nvSpPr>
        <p:spPr>
          <a:xfrm>
            <a:off x="4617720" y="4663440"/>
            <a:ext cx="3291840" cy="128016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Symbolic Model of Computation. Formal mathematical model — exhaustively reasons over the 2^8000 state space. No sampling.</a:t>
            </a:r>
            <a:endParaRPr lang="en-US" sz="1150" dirty="0"/>
          </a:p>
        </p:txBody>
      </p:sp>
      <p:sp>
        <p:nvSpPr>
          <p:cNvPr id="28" name="Shape 26"/>
          <p:cNvSpPr/>
          <p:nvPr/>
        </p:nvSpPr>
        <p:spPr>
          <a:xfrm>
            <a:off x="8321040" y="1554480"/>
            <a:ext cx="3657600" cy="1737360"/>
          </a:xfrm>
          <a:prstGeom prst="rect">
            <a:avLst/>
          </a:prstGeom>
          <a:solidFill>
            <a:srgbClr val="F7F8FA"/>
          </a:solidFill>
          <a:ln w="12700">
            <a:solidFill>
              <a:srgbClr val="E5E9EE"/>
            </a:solidFill>
            <a:prstDash val="solid"/>
          </a:ln>
        </p:spPr>
      </p:sp>
      <p:sp>
        <p:nvSpPr>
          <p:cNvPr id="29" name="Shape 27"/>
          <p:cNvSpPr/>
          <p:nvPr/>
        </p:nvSpPr>
        <p:spPr>
          <a:xfrm>
            <a:off x="8321040" y="1554480"/>
            <a:ext cx="91440" cy="1737360"/>
          </a:xfrm>
          <a:prstGeom prst="rect">
            <a:avLst/>
          </a:prstGeom>
          <a:solidFill>
            <a:srgbClr val="C0392B"/>
          </a:solidFill>
          <a:ln/>
        </p:spPr>
      </p:sp>
      <p:sp>
        <p:nvSpPr>
          <p:cNvPr id="30" name="Text 28"/>
          <p:cNvSpPr/>
          <p:nvPr/>
        </p:nvSpPr>
        <p:spPr>
          <a:xfrm>
            <a:off x="8549640" y="1691640"/>
            <a:ext cx="3291840" cy="274320"/>
          </a:xfrm>
          <a:prstGeom prst="rect">
            <a:avLst/>
          </a:prstGeom>
          <a:noFill/>
          <a:ln/>
        </p:spPr>
        <p:txBody>
          <a:bodyPr wrap="square" lIns="0" tIns="0" rIns="0" bIns="0" rtlCol="0" anchor="ctr"/>
          <a:lstStyle/>
          <a:p>
            <a:pPr indent="0" marL="0">
              <a:buNone/>
            </a:pPr>
            <a:r>
              <a:rPr lang="en-US" sz="1000" b="1" spc="400" kern="0" dirty="0">
                <a:solidFill>
                  <a:srgbClr val="C0392B"/>
                </a:solidFill>
                <a:latin typeface="Calibri" pitchFamily="34" charset="0"/>
                <a:ea typeface="Calibri" pitchFamily="34" charset="-122"/>
                <a:cs typeface="Calibri" pitchFamily="34" charset="-120"/>
              </a:rPr>
              <a:t>PROBLEM</a:t>
            </a:r>
            <a:endParaRPr lang="en-US" sz="1000" dirty="0"/>
          </a:p>
        </p:txBody>
      </p:sp>
      <p:sp>
        <p:nvSpPr>
          <p:cNvPr id="31" name="Text 29"/>
          <p:cNvSpPr/>
          <p:nvPr/>
        </p:nvSpPr>
        <p:spPr>
          <a:xfrm>
            <a:off x="8549640" y="1965960"/>
            <a:ext cx="3291840" cy="5943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Prescribe Correct Configurations</a:t>
            </a:r>
            <a:endParaRPr lang="en-US" sz="1400" dirty="0"/>
          </a:p>
        </p:txBody>
      </p:sp>
      <p:sp>
        <p:nvSpPr>
          <p:cNvPr id="32" name="Text 30"/>
          <p:cNvSpPr/>
          <p:nvPr/>
        </p:nvSpPr>
        <p:spPr>
          <a:xfrm>
            <a:off x="8549640" y="2606040"/>
            <a:ext cx="3291840" cy="594360"/>
          </a:xfrm>
          <a:prstGeom prst="rect">
            <a:avLst/>
          </a:prstGeom>
          <a:noFill/>
          <a:ln/>
        </p:spPr>
        <p:txBody>
          <a:bodyPr wrap="square" lIns="0" tIns="0" rIns="0" bIns="0" rtlCol="0" anchor="t"/>
          <a:lstStyle/>
          <a:p>
            <a:pPr indent="0" marL="0">
              <a:buNone/>
            </a:pPr>
            <a:r>
              <a:rPr lang="en-US" sz="1100" i="1" dirty="0">
                <a:solidFill>
                  <a:srgbClr val="2D3748"/>
                </a:solidFill>
                <a:latin typeface="Calibri" pitchFamily="34" charset="0"/>
                <a:ea typeface="Calibri" pitchFamily="34" charset="-122"/>
                <a:cs typeface="Calibri" pitchFamily="34" charset="-120"/>
              </a:rPr>
              <a:t>Without creating new errors or business disruption</a:t>
            </a:r>
            <a:endParaRPr lang="en-US" sz="1100" dirty="0"/>
          </a:p>
        </p:txBody>
      </p:sp>
      <p:sp>
        <p:nvSpPr>
          <p:cNvPr id="33" name="Shape 31"/>
          <p:cNvSpPr/>
          <p:nvPr/>
        </p:nvSpPr>
        <p:spPr>
          <a:xfrm rot="10800000">
            <a:off x="10012680" y="3429000"/>
            <a:ext cx="274320" cy="228600"/>
          </a:xfrm>
          <a:prstGeom prst="rtTriangle">
            <a:avLst/>
          </a:prstGeom>
          <a:solidFill>
            <a:srgbClr val="F26B1F"/>
          </a:solidFill>
          <a:ln/>
        </p:spPr>
      </p:sp>
      <p:sp>
        <p:nvSpPr>
          <p:cNvPr id="34" name="Shape 32"/>
          <p:cNvSpPr/>
          <p:nvPr/>
        </p:nvSpPr>
        <p:spPr>
          <a:xfrm>
            <a:off x="8321040" y="3794760"/>
            <a:ext cx="3657600" cy="2194560"/>
          </a:xfrm>
          <a:prstGeom prst="rect">
            <a:avLst/>
          </a:prstGeom>
          <a:solidFill>
            <a:srgbClr val="F7F8FA"/>
          </a:solidFill>
          <a:ln w="12700">
            <a:solidFill>
              <a:srgbClr val="F26B1F"/>
            </a:solidFill>
            <a:prstDash val="solid"/>
          </a:ln>
        </p:spPr>
      </p:sp>
      <p:sp>
        <p:nvSpPr>
          <p:cNvPr id="35" name="Shape 33"/>
          <p:cNvSpPr/>
          <p:nvPr/>
        </p:nvSpPr>
        <p:spPr>
          <a:xfrm>
            <a:off x="8321040" y="3794760"/>
            <a:ext cx="91440" cy="2194560"/>
          </a:xfrm>
          <a:prstGeom prst="rect">
            <a:avLst/>
          </a:prstGeom>
          <a:solidFill>
            <a:srgbClr val="F26B1F"/>
          </a:solidFill>
          <a:ln/>
        </p:spPr>
      </p:sp>
      <p:sp>
        <p:nvSpPr>
          <p:cNvPr id="36" name="Text 34"/>
          <p:cNvSpPr/>
          <p:nvPr/>
        </p:nvSpPr>
        <p:spPr>
          <a:xfrm>
            <a:off x="8549640" y="3931920"/>
            <a:ext cx="3291840" cy="274320"/>
          </a:xfrm>
          <a:prstGeom prst="rect">
            <a:avLst/>
          </a:prstGeom>
          <a:noFill/>
          <a:ln/>
        </p:spPr>
        <p:txBody>
          <a:bodyPr wrap="square" lIns="0" tIns="0" rIns="0" bIns="0" rtlCol="0" anchor="ctr"/>
          <a:lstStyle/>
          <a:p>
            <a:pPr indent="0" marL="0">
              <a:buNone/>
            </a:pPr>
            <a:r>
              <a:rPr lang="en-US" sz="1000" b="1" spc="400" kern="0" dirty="0">
                <a:solidFill>
                  <a:srgbClr val="F26B1F"/>
                </a:solidFill>
                <a:latin typeface="Calibri" pitchFamily="34" charset="0"/>
                <a:ea typeface="Calibri" pitchFamily="34" charset="-122"/>
                <a:cs typeface="Calibri" pitchFamily="34" charset="-120"/>
              </a:rPr>
              <a:t>SOLUTION</a:t>
            </a:r>
            <a:endParaRPr lang="en-US" sz="1000" dirty="0"/>
          </a:p>
        </p:txBody>
      </p:sp>
      <p:sp>
        <p:nvSpPr>
          <p:cNvPr id="37" name="Text 35"/>
          <p:cNvSpPr/>
          <p:nvPr/>
        </p:nvSpPr>
        <p:spPr>
          <a:xfrm>
            <a:off x="8549640" y="4206240"/>
            <a:ext cx="3291840" cy="41148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Remediation Intelligence</a:t>
            </a:r>
            <a:endParaRPr lang="en-US" sz="1400" dirty="0"/>
          </a:p>
        </p:txBody>
      </p:sp>
      <p:sp>
        <p:nvSpPr>
          <p:cNvPr id="38" name="Text 36"/>
          <p:cNvSpPr/>
          <p:nvPr/>
        </p:nvSpPr>
        <p:spPr>
          <a:xfrm>
            <a:off x="8549640" y="4663440"/>
            <a:ext cx="3291840" cy="1280160"/>
          </a:xfrm>
          <a:prstGeom prst="rect">
            <a:avLst/>
          </a:prstGeom>
          <a:noFill/>
          <a:ln/>
        </p:spPr>
        <p:txBody>
          <a:bodyPr wrap="square" lIns="0" tIns="0" rIns="0" bIns="0" rtlCol="0" anchor="t"/>
          <a:lstStyle/>
          <a:p>
            <a:pPr indent="0" marL="0">
              <a:buNone/>
            </a:pPr>
            <a:r>
              <a:rPr lang="en-US" sz="1150" dirty="0">
                <a:solidFill>
                  <a:srgbClr val="2D3748"/>
                </a:solidFill>
                <a:latin typeface="Calibri" pitchFamily="34" charset="0"/>
                <a:ea typeface="Calibri" pitchFamily="34" charset="-122"/>
                <a:cs typeface="Calibri" pitchFamily="34" charset="-120"/>
              </a:rPr>
              <a:t>Grounded agentic-AI reasoners. Risk-prioritized, vendor-specific fixes. No false positives. No false negatives.</a:t>
            </a:r>
            <a:endParaRPr lang="en-US" sz="1150" dirty="0"/>
          </a:p>
        </p:txBody>
      </p:sp>
      <p:sp>
        <p:nvSpPr>
          <p:cNvPr id="39" name="Shape 37"/>
          <p:cNvSpPr/>
          <p:nvPr/>
        </p:nvSpPr>
        <p:spPr>
          <a:xfrm>
            <a:off x="457200" y="6172200"/>
            <a:ext cx="11247120" cy="457200"/>
          </a:xfrm>
          <a:prstGeom prst="rect">
            <a:avLst/>
          </a:prstGeom>
          <a:solidFill>
            <a:srgbClr val="0B1F3A"/>
          </a:solidFill>
          <a:ln/>
        </p:spPr>
      </p:sp>
      <p:sp>
        <p:nvSpPr>
          <p:cNvPr id="40" name="Text 38"/>
          <p:cNvSpPr/>
          <p:nvPr/>
        </p:nvSpPr>
        <p:spPr>
          <a:xfrm>
            <a:off x="640080" y="6172200"/>
            <a:ext cx="10972800" cy="45720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world's first Mathematically Rigorous — Complete, Preemptive, Continuous, Verifiable — Cyber Defense Management Platform.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How RigorOS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sp>
      <p:sp>
        <p:nvSpPr>
          <p:cNvPr id="7" name="Shape 5"/>
          <p:cNvSpPr/>
          <p:nvPr/>
        </p:nvSpPr>
        <p:spPr>
          <a:xfrm>
            <a:off x="457200" y="1508760"/>
            <a:ext cx="2377440" cy="457200"/>
          </a:xfrm>
          <a:prstGeom prst="rect">
            <a:avLst/>
          </a:prstGeom>
          <a:solidFill>
            <a:srgbClr val="2D3748"/>
          </a:solidFill>
          <a:ln/>
        </p:spPr>
      </p:sp>
      <p:sp>
        <p:nvSpPr>
          <p:cNvPr id="8" name="Text 6"/>
          <p:cNvSpPr/>
          <p:nvPr/>
        </p:nvSpPr>
        <p:spPr>
          <a:xfrm>
            <a:off x="457200" y="1508760"/>
            <a:ext cx="237744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indent="0" marL="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indent="0" marL="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indent="0" marL="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5400000">
            <a:off x="2926080" y="3794760"/>
            <a:ext cx="274320" cy="274320"/>
          </a:xfrm>
          <a:prstGeom prst="rtTriangle">
            <a:avLst/>
          </a:prstGeom>
          <a:solidFill>
            <a:srgbClr val="F26B1F"/>
          </a:solidFill>
          <a:ln/>
        </p:spPr>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sp>
      <p:sp>
        <p:nvSpPr>
          <p:cNvPr id="17" name="Shape 15"/>
          <p:cNvSpPr/>
          <p:nvPr/>
        </p:nvSpPr>
        <p:spPr>
          <a:xfrm>
            <a:off x="3337560" y="1508760"/>
            <a:ext cx="3749040" cy="457200"/>
          </a:xfrm>
          <a:prstGeom prst="rect">
            <a:avLst/>
          </a:prstGeom>
          <a:solidFill>
            <a:srgbClr val="F26B1F"/>
          </a:solidFill>
          <a:ln/>
        </p:spPr>
      </p:sp>
      <p:sp>
        <p:nvSpPr>
          <p:cNvPr id="18" name="Text 16"/>
          <p:cNvSpPr/>
          <p:nvPr/>
        </p:nvSpPr>
        <p:spPr>
          <a:xfrm>
            <a:off x="3337560" y="1508760"/>
            <a:ext cx="374904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RIGOR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sp>
      <p:sp>
        <p:nvSpPr>
          <p:cNvPr id="20" name="Text 18"/>
          <p:cNvSpPr/>
          <p:nvPr/>
        </p:nvSpPr>
        <p:spPr>
          <a:xfrm>
            <a:off x="3611880" y="2194560"/>
            <a:ext cx="3200400" cy="32004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sp>
      <p:sp>
        <p:nvSpPr>
          <p:cNvPr id="23" name="Text 21"/>
          <p:cNvSpPr/>
          <p:nvPr/>
        </p:nvSpPr>
        <p:spPr>
          <a:xfrm>
            <a:off x="3611880" y="3657600"/>
            <a:ext cx="3200400" cy="32004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sp>
      <p:sp>
        <p:nvSpPr>
          <p:cNvPr id="26" name="Text 24"/>
          <p:cNvSpPr/>
          <p:nvPr/>
        </p:nvSpPr>
        <p:spPr>
          <a:xfrm>
            <a:off x="3611880" y="4937760"/>
            <a:ext cx="3200400" cy="320040"/>
          </a:xfrm>
          <a:prstGeom prst="rect">
            <a:avLst/>
          </a:prstGeom>
          <a:noFill/>
          <a:ln/>
        </p:spPr>
        <p:txBody>
          <a:bodyPr wrap="square" lIns="0" tIns="0" rIns="0" bIns="0" rtlCol="0" anchor="t"/>
          <a:lstStyle/>
          <a:p>
            <a:pPr indent="0" marL="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5400000">
            <a:off x="7178040" y="3794760"/>
            <a:ext cx="274320" cy="274320"/>
          </a:xfrm>
          <a:prstGeom prst="rtTriangle">
            <a:avLst/>
          </a:prstGeom>
          <a:solidFill>
            <a:srgbClr val="F26B1F"/>
          </a:solidFill>
          <a:ln/>
        </p:spPr>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sp>
      <p:sp>
        <p:nvSpPr>
          <p:cNvPr id="30" name="Shape 28"/>
          <p:cNvSpPr/>
          <p:nvPr/>
        </p:nvSpPr>
        <p:spPr>
          <a:xfrm>
            <a:off x="7589520" y="1508760"/>
            <a:ext cx="4114800" cy="457200"/>
          </a:xfrm>
          <a:prstGeom prst="rect">
            <a:avLst/>
          </a:prstGeom>
          <a:solidFill>
            <a:srgbClr val="0B1F3A"/>
          </a:solidFill>
          <a:ln/>
        </p:spPr>
      </p:sp>
      <p:sp>
        <p:nvSpPr>
          <p:cNvPr id="31" name="Text 29"/>
          <p:cNvSpPr/>
          <p:nvPr/>
        </p:nvSpPr>
        <p:spPr>
          <a:xfrm>
            <a:off x="7589520" y="1508760"/>
            <a:ext cx="411480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indent="0" marL="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indent="0" marL="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indent="0" marL="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How Rigor AI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Rigor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sp>
      <p:sp>
        <p:nvSpPr>
          <p:cNvPr id="7" name="Text 5"/>
          <p:cNvSpPr/>
          <p:nvPr/>
        </p:nvSpPr>
        <p:spPr>
          <a:xfrm>
            <a:off x="502920" y="1325880"/>
            <a:ext cx="12801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sp>
      <p:sp>
        <p:nvSpPr>
          <p:cNvPr id="9" name="Text 7"/>
          <p:cNvSpPr/>
          <p:nvPr/>
        </p:nvSpPr>
        <p:spPr>
          <a:xfrm>
            <a:off x="1920240" y="1325880"/>
            <a:ext cx="420624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sp>
      <p:sp>
        <p:nvSpPr>
          <p:cNvPr id="11" name="Text 9"/>
          <p:cNvSpPr/>
          <p:nvPr/>
        </p:nvSpPr>
        <p:spPr>
          <a:xfrm>
            <a:off x="6217920" y="1325880"/>
            <a:ext cx="548640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sp>
      <p:sp>
        <p:nvSpPr>
          <p:cNvPr id="13" name="Text 11"/>
          <p:cNvSpPr/>
          <p:nvPr/>
        </p:nvSpPr>
        <p:spPr>
          <a:xfrm>
            <a:off x="548640" y="1737360"/>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1
</a:t>
            </a:r>
            <a:pPr indent="0" marL="0">
              <a:buNone/>
            </a:pP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Rigor's Attack Intel ingests CISA / NSA / vendor PSIRT advisories the moment they publish. Defense Intel formally proves every exposed NGFW, VPN, SASE has the corresponding IPS signature, threat-feed deny rule, or version-blocking policy enforced. If patch is unavailable, Rigor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sp>
      <p:sp>
        <p:nvSpPr>
          <p:cNvPr id="17" name="Text 15"/>
          <p:cNvSpPr/>
          <p:nvPr/>
        </p:nvSpPr>
        <p:spPr>
          <a:xfrm>
            <a:off x="548640" y="2715768"/>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2
</a:t>
            </a:r>
            <a:pPr indent="0" marL="0">
              <a:buNone/>
            </a:pP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 models every threat-feed IP, domain, ASN, and known-bad SOHO device fingerprint as a denied destination. Symbolic Model of Computation proves the 50M+ rule combinations across N-S and E-W firewalls all block these flows. Web shell upload paths are blocked at the WAF — Rigor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sp>
      <p:sp>
        <p:nvSpPr>
          <p:cNvPr id="21" name="Text 19"/>
          <p:cNvSpPr/>
          <p:nvPr/>
        </p:nvSpPr>
        <p:spPr>
          <a:xfrm>
            <a:off x="548640" y="3694176"/>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3
</a:t>
            </a:r>
            <a:pPr indent="0" marL="0">
              <a:buNone/>
            </a:pP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 verifies the EDR/EPP coverage is enabled on every domain controller and that the script-control profile blocks ntdsutil execution by non-admin contexts. Verifies egress filtering blocks credential exfil to known C2 ranges. Where coverage is missing, Rigor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sp>
      <p:sp>
        <p:nvSpPr>
          <p:cNvPr id="25" name="Text 23"/>
          <p:cNvSpPr/>
          <p:nvPr/>
        </p:nvSpPr>
        <p:spPr>
          <a:xfrm>
            <a:off x="548640" y="4672584"/>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4
</a:t>
            </a:r>
            <a:pPr indent="0" marL="0">
              <a:buNone/>
            </a:pP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Real customer case: Rigor exposed an SMB inspection profile shadowed by 3 higher-priority firewall rules — allowed unprotected SMBv1 between branches. Rigor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sp>
      <p:sp>
        <p:nvSpPr>
          <p:cNvPr id="29" name="Text 27"/>
          <p:cNvSpPr/>
          <p:nvPr/>
        </p:nvSpPr>
        <p:spPr>
          <a:xfrm>
            <a:off x="548640" y="5650992"/>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5
</a:t>
            </a:r>
            <a:pPr indent="0" marL="0">
              <a:buNone/>
            </a:pP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Rigor's Configuration Drift Management use case continuously verifies live config against approved baseline. Any unauthorized change to logging, audit, or segmentation rules is flagged the moment it deviates. Rigor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Bottom line: Rigor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How Rigor AI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Rigor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sp>
      <p:sp>
        <p:nvSpPr>
          <p:cNvPr id="7" name="Text 5"/>
          <p:cNvSpPr/>
          <p:nvPr/>
        </p:nvSpPr>
        <p:spPr>
          <a:xfrm>
            <a:off x="502920" y="1325880"/>
            <a:ext cx="12801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sp>
      <p:sp>
        <p:nvSpPr>
          <p:cNvPr id="9" name="Text 7"/>
          <p:cNvSpPr/>
          <p:nvPr/>
        </p:nvSpPr>
        <p:spPr>
          <a:xfrm>
            <a:off x="1920240" y="1325880"/>
            <a:ext cx="420624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sp>
      <p:sp>
        <p:nvSpPr>
          <p:cNvPr id="11" name="Text 9"/>
          <p:cNvSpPr/>
          <p:nvPr/>
        </p:nvSpPr>
        <p:spPr>
          <a:xfrm>
            <a:off x="6217920" y="1325880"/>
            <a:ext cx="548640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HOW RIGOR AI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sp>
      <p:sp>
        <p:nvSpPr>
          <p:cNvPr id="13" name="Text 11"/>
          <p:cNvSpPr/>
          <p:nvPr/>
        </p:nvSpPr>
        <p:spPr>
          <a:xfrm>
            <a:off x="548640" y="1737360"/>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1
</a:t>
            </a:r>
            <a:pPr indent="0" marL="0">
              <a:buNone/>
            </a:pP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Rigor's CVE-to-control mapping is automatic. Every device exposing IOS XE web UI to the internet → flagged as a coverage gap before exploitation. Rigor proves the WAF / management-plane ACL blocks public access to /webui/. For each unpatched CVE, Rigor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sp>
      <p:sp>
        <p:nvSpPr>
          <p:cNvPr id="17" name="Text 15"/>
          <p:cNvSpPr/>
          <p:nvPr/>
        </p:nvSpPr>
        <p:spPr>
          <a:xfrm>
            <a:off x="548640" y="2715768"/>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2
</a:t>
            </a:r>
            <a:pPr indent="0" marL="0">
              <a:buNone/>
            </a:pP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Configuration Drift Management use case: Rigor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sp>
      <p:sp>
        <p:nvSpPr>
          <p:cNvPr id="21" name="Text 19"/>
          <p:cNvSpPr/>
          <p:nvPr/>
        </p:nvSpPr>
        <p:spPr>
          <a:xfrm>
            <a:off x="548640" y="3694176"/>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3
</a:t>
            </a:r>
            <a:pPr indent="0" marL="0">
              <a:buNone/>
            </a:pP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sp>
      <p:sp>
        <p:nvSpPr>
          <p:cNvPr id="25" name="Text 23"/>
          <p:cNvSpPr/>
          <p:nvPr/>
        </p:nvSpPr>
        <p:spPr>
          <a:xfrm>
            <a:off x="548640" y="4672584"/>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4
</a:t>
            </a:r>
            <a:pPr indent="0" marL="0">
              <a:buNone/>
            </a:pP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sp>
      <p:sp>
        <p:nvSpPr>
          <p:cNvPr id="29" name="Text 27"/>
          <p:cNvSpPr/>
          <p:nvPr/>
        </p:nvSpPr>
        <p:spPr>
          <a:xfrm>
            <a:off x="548640" y="5650992"/>
            <a:ext cx="1280160" cy="886968"/>
          </a:xfrm>
          <a:prstGeom prst="rect">
            <a:avLst/>
          </a:prstGeom>
          <a:noFill/>
          <a:ln/>
        </p:spPr>
        <p:txBody>
          <a:bodyPr wrap="square" lIns="0" tIns="0" rIns="0" bIns="0" rtlCol="0" anchor="t"/>
          <a:lstStyle/>
          <a:p>
            <a:pPr indent="0" marL="0">
              <a:buNone/>
            </a:pPr>
            <a:r>
              <a:rPr lang="en-US" sz="1000" b="1" dirty="0">
                <a:solidFill>
                  <a:srgbClr val="F26B1F"/>
                </a:solidFill>
                <a:latin typeface="Calibri" pitchFamily="34" charset="0"/>
                <a:ea typeface="Calibri" pitchFamily="34" charset="-122"/>
                <a:cs typeface="Calibri" pitchFamily="34" charset="-120"/>
              </a:rPr>
              <a:t>PHASE 5
</a:t>
            </a:r>
            <a:pPr indent="0" marL="0">
              <a:buNone/>
            </a:pP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Rigor's preemptive verification is continuous — re-verified on every config change, every threat-feed update, every CVE publication. Every "new normal" requires explicit authorization in the baseline. Salt Typhoon's persistence depends on a config that drifts from the approved baseline; Rigor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Rigor's continuous baseline verification is the antidote.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How Rigor AI Preempts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468880"/>
                <a:gridCol w="3931920"/>
                <a:gridCol w="4846320"/>
              </a:tblGrid>
              <a:tr h="6400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64008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How Rigor AI Preempts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468880"/>
                <a:gridCol w="3931920"/>
                <a:gridCol w="4846320"/>
              </a:tblGrid>
              <a:tr h="5943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59436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Nine Rigor AI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RigorOS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sp>
      <p:sp>
        <p:nvSpPr>
          <p:cNvPr id="7" name="Shape 5"/>
          <p:cNvSpPr/>
          <p:nvPr/>
        </p:nvSpPr>
        <p:spPr>
          <a:xfrm>
            <a:off x="457200" y="1371600"/>
            <a:ext cx="3703320" cy="292608"/>
          </a:xfrm>
          <a:prstGeom prst="rect">
            <a:avLst/>
          </a:prstGeom>
          <a:solidFill>
            <a:srgbClr val="F26B1F"/>
          </a:solidFill>
          <a:ln/>
        </p:spPr>
      </p:sp>
      <p:sp>
        <p:nvSpPr>
          <p:cNvPr id="8" name="Text 6"/>
          <p:cNvSpPr/>
          <p:nvPr/>
        </p:nvSpPr>
        <p:spPr>
          <a:xfrm>
            <a:off x="566928" y="137160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indent="0" marL="0">
              <a:buNone/>
            </a:pPr>
            <a:r>
              <a:rPr lang="en-US" sz="850" b="1" dirty="0">
                <a:solidFill>
                  <a:srgbClr val="F26B1F"/>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sp>
      <p:sp>
        <p:nvSpPr>
          <p:cNvPr id="12" name="Shape 10"/>
          <p:cNvSpPr/>
          <p:nvPr/>
        </p:nvSpPr>
        <p:spPr>
          <a:xfrm>
            <a:off x="4297680" y="1371600"/>
            <a:ext cx="3703320" cy="292608"/>
          </a:xfrm>
          <a:prstGeom prst="rect">
            <a:avLst/>
          </a:prstGeom>
          <a:solidFill>
            <a:srgbClr val="F26B1F"/>
          </a:solidFill>
          <a:ln/>
        </p:spPr>
      </p:sp>
      <p:sp>
        <p:nvSpPr>
          <p:cNvPr id="13" name="Text 11"/>
          <p:cNvSpPr/>
          <p:nvPr/>
        </p:nvSpPr>
        <p:spPr>
          <a:xfrm>
            <a:off x="4407408" y="137160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indent="0" marL="0">
              <a:buNone/>
            </a:pPr>
            <a:r>
              <a:rPr lang="en-US" sz="850" b="1" dirty="0">
                <a:solidFill>
                  <a:srgbClr val="F26B1F"/>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sp>
      <p:sp>
        <p:nvSpPr>
          <p:cNvPr id="17" name="Shape 15"/>
          <p:cNvSpPr/>
          <p:nvPr/>
        </p:nvSpPr>
        <p:spPr>
          <a:xfrm>
            <a:off x="8138160" y="1371600"/>
            <a:ext cx="3703320" cy="292608"/>
          </a:xfrm>
          <a:prstGeom prst="rect">
            <a:avLst/>
          </a:prstGeom>
          <a:solidFill>
            <a:srgbClr val="F26B1F"/>
          </a:solidFill>
          <a:ln/>
        </p:spPr>
      </p:sp>
      <p:sp>
        <p:nvSpPr>
          <p:cNvPr id="18" name="Text 16"/>
          <p:cNvSpPr/>
          <p:nvPr/>
        </p:nvSpPr>
        <p:spPr>
          <a:xfrm>
            <a:off x="8247888" y="137160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indent="0" marL="0">
              <a:buNone/>
            </a:pPr>
            <a:r>
              <a:rPr lang="en-US" sz="850" b="1" dirty="0">
                <a:solidFill>
                  <a:srgbClr val="F26B1F"/>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sp>
      <p:sp>
        <p:nvSpPr>
          <p:cNvPr id="22" name="Shape 20"/>
          <p:cNvSpPr/>
          <p:nvPr/>
        </p:nvSpPr>
        <p:spPr>
          <a:xfrm>
            <a:off x="457200" y="2880360"/>
            <a:ext cx="3703320" cy="292608"/>
          </a:xfrm>
          <a:prstGeom prst="rect">
            <a:avLst/>
          </a:prstGeom>
          <a:solidFill>
            <a:srgbClr val="F26B1F"/>
          </a:solidFill>
          <a:ln/>
        </p:spPr>
      </p:sp>
      <p:sp>
        <p:nvSpPr>
          <p:cNvPr id="23" name="Text 21"/>
          <p:cNvSpPr/>
          <p:nvPr/>
        </p:nvSpPr>
        <p:spPr>
          <a:xfrm>
            <a:off x="566928" y="288036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indent="0" marL="0">
              <a:buNone/>
            </a:pPr>
            <a:r>
              <a:rPr lang="en-US" sz="850" b="1" dirty="0">
                <a:solidFill>
                  <a:srgbClr val="F26B1F"/>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sp>
      <p:sp>
        <p:nvSpPr>
          <p:cNvPr id="27" name="Shape 25"/>
          <p:cNvSpPr/>
          <p:nvPr/>
        </p:nvSpPr>
        <p:spPr>
          <a:xfrm>
            <a:off x="4297680" y="2880360"/>
            <a:ext cx="3703320" cy="292608"/>
          </a:xfrm>
          <a:prstGeom prst="rect">
            <a:avLst/>
          </a:prstGeom>
          <a:solidFill>
            <a:srgbClr val="F26B1F"/>
          </a:solidFill>
          <a:ln/>
        </p:spPr>
      </p:sp>
      <p:sp>
        <p:nvSpPr>
          <p:cNvPr id="28" name="Text 26"/>
          <p:cNvSpPr/>
          <p:nvPr/>
        </p:nvSpPr>
        <p:spPr>
          <a:xfrm>
            <a:off x="4407408" y="288036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indent="0" marL="0">
              <a:buNone/>
            </a:pPr>
            <a:r>
              <a:rPr lang="en-US" sz="850" b="1" dirty="0">
                <a:solidFill>
                  <a:srgbClr val="F26B1F"/>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sp>
      <p:sp>
        <p:nvSpPr>
          <p:cNvPr id="32" name="Shape 30"/>
          <p:cNvSpPr/>
          <p:nvPr/>
        </p:nvSpPr>
        <p:spPr>
          <a:xfrm>
            <a:off x="8138160" y="2880360"/>
            <a:ext cx="3703320" cy="292608"/>
          </a:xfrm>
          <a:prstGeom prst="rect">
            <a:avLst/>
          </a:prstGeom>
          <a:solidFill>
            <a:srgbClr val="1C7293"/>
          </a:solidFill>
          <a:ln/>
        </p:spPr>
      </p:sp>
      <p:sp>
        <p:nvSpPr>
          <p:cNvPr id="33" name="Text 31"/>
          <p:cNvSpPr/>
          <p:nvPr/>
        </p:nvSpPr>
        <p:spPr>
          <a:xfrm>
            <a:off x="8247888" y="288036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sp>
      <p:sp>
        <p:nvSpPr>
          <p:cNvPr id="37" name="Shape 35"/>
          <p:cNvSpPr/>
          <p:nvPr/>
        </p:nvSpPr>
        <p:spPr>
          <a:xfrm>
            <a:off x="457200" y="4389120"/>
            <a:ext cx="3703320" cy="292608"/>
          </a:xfrm>
          <a:prstGeom prst="rect">
            <a:avLst/>
          </a:prstGeom>
          <a:solidFill>
            <a:srgbClr val="1C7293"/>
          </a:solidFill>
          <a:ln/>
        </p:spPr>
      </p:sp>
      <p:sp>
        <p:nvSpPr>
          <p:cNvPr id="38" name="Text 36"/>
          <p:cNvSpPr/>
          <p:nvPr/>
        </p:nvSpPr>
        <p:spPr>
          <a:xfrm>
            <a:off x="566928" y="438912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sp>
      <p:sp>
        <p:nvSpPr>
          <p:cNvPr id="42" name="Shape 40"/>
          <p:cNvSpPr/>
          <p:nvPr/>
        </p:nvSpPr>
        <p:spPr>
          <a:xfrm>
            <a:off x="4297680" y="4389120"/>
            <a:ext cx="3703320" cy="292608"/>
          </a:xfrm>
          <a:prstGeom prst="rect">
            <a:avLst/>
          </a:prstGeom>
          <a:solidFill>
            <a:srgbClr val="1C7293"/>
          </a:solidFill>
          <a:ln/>
        </p:spPr>
      </p:sp>
      <p:sp>
        <p:nvSpPr>
          <p:cNvPr id="43" name="Text 41"/>
          <p:cNvSpPr/>
          <p:nvPr/>
        </p:nvSpPr>
        <p:spPr>
          <a:xfrm>
            <a:off x="4407408" y="438912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sp>
      <p:sp>
        <p:nvSpPr>
          <p:cNvPr id="47" name="Shape 45"/>
          <p:cNvSpPr/>
          <p:nvPr/>
        </p:nvSpPr>
        <p:spPr>
          <a:xfrm>
            <a:off x="8138160" y="4389120"/>
            <a:ext cx="3703320" cy="292608"/>
          </a:xfrm>
          <a:prstGeom prst="rect">
            <a:avLst/>
          </a:prstGeom>
          <a:solidFill>
            <a:srgbClr val="1C7293"/>
          </a:solidFill>
          <a:ln/>
        </p:spPr>
      </p:sp>
      <p:sp>
        <p:nvSpPr>
          <p:cNvPr id="48" name="Text 46"/>
          <p:cNvSpPr/>
          <p:nvPr/>
        </p:nvSpPr>
        <p:spPr>
          <a:xfrm>
            <a:off x="8247888" y="4389120"/>
            <a:ext cx="35204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indent="0" marL="0">
              <a:buNone/>
            </a:pPr>
            <a:r>
              <a:rPr lang="en-US" sz="850" b="1" dirty="0">
                <a:solidFill>
                  <a:srgbClr val="1C7293"/>
                </a:solidFill>
                <a:latin typeface="Calibri" pitchFamily="34" charset="0"/>
                <a:ea typeface="Calibri" pitchFamily="34" charset="-122"/>
                <a:cs typeface="Calibri" pitchFamily="34" charset="-120"/>
              </a:rPr>
              <a:t>STOPS:  </a:t>
            </a:r>
            <a:pPr indent="0" marL="0">
              <a:buNone/>
            </a:pP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Rigor's value across the broader cyber operating model.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Where Rigor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Rigor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sp>
      <p:sp>
        <p:nvSpPr>
          <p:cNvPr id="7" name="Shape 5"/>
          <p:cNvSpPr/>
          <p:nvPr/>
        </p:nvSpPr>
        <p:spPr>
          <a:xfrm>
            <a:off x="457200" y="1371600"/>
            <a:ext cx="73152" cy="1645920"/>
          </a:xfrm>
          <a:prstGeom prst="rect">
            <a:avLst/>
          </a:prstGeom>
          <a:solidFill>
            <a:srgbClr val="F26B1F"/>
          </a:solidFill>
          <a:ln/>
        </p:spPr>
      </p:sp>
      <p:sp>
        <p:nvSpPr>
          <p:cNvPr id="8" name="Text 6"/>
          <p:cNvSpPr/>
          <p:nvPr/>
        </p:nvSpPr>
        <p:spPr>
          <a:xfrm>
            <a:off x="640080" y="1463040"/>
            <a:ext cx="594360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Rigor preempts every TTP that's been mapped to MITRE ATT&amp;CK. A genuine zero-day with no signature, no IOC, no MITRE mapping yet has nothing for Rigor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indent="0" marL="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Rigor's threat-intel sync. Rigor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sp>
      <p:sp>
        <p:nvSpPr>
          <p:cNvPr id="12" name="Text 10"/>
          <p:cNvSpPr/>
          <p:nvPr/>
        </p:nvSpPr>
        <p:spPr>
          <a:xfrm>
            <a:off x="6995160" y="1554480"/>
            <a:ext cx="4480560" cy="274320"/>
          </a:xfrm>
          <a:prstGeom prst="rect">
            <a:avLst/>
          </a:prstGeom>
          <a:noFill/>
          <a:ln/>
        </p:spPr>
        <p:txBody>
          <a:bodyPr wrap="square" lIns="0" tIns="0" rIns="0" bIns="0" rtlCol="0" anchor="t"/>
          <a:lstStyle/>
          <a:p>
            <a:pPr indent="0" marL="0">
              <a:buNone/>
            </a:pPr>
            <a:r>
              <a:rPr lang="en-US" sz="1000" b="1" spc="300" kern="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sp>
      <p:sp>
        <p:nvSpPr>
          <p:cNvPr id="15" name="Shape 13"/>
          <p:cNvSpPr/>
          <p:nvPr/>
        </p:nvSpPr>
        <p:spPr>
          <a:xfrm>
            <a:off x="457200" y="3063240"/>
            <a:ext cx="73152" cy="1645920"/>
          </a:xfrm>
          <a:prstGeom prst="rect">
            <a:avLst/>
          </a:prstGeom>
          <a:solidFill>
            <a:srgbClr val="F26B1F"/>
          </a:solidFill>
          <a:ln/>
        </p:spPr>
      </p:sp>
      <p:sp>
        <p:nvSpPr>
          <p:cNvPr id="16" name="Text 14"/>
          <p:cNvSpPr/>
          <p:nvPr/>
        </p:nvSpPr>
        <p:spPr>
          <a:xfrm>
            <a:off x="640080" y="3154680"/>
            <a:ext cx="594360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indent="0" marL="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Rigor-verified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sp>
      <p:sp>
        <p:nvSpPr>
          <p:cNvPr id="20" name="Text 18"/>
          <p:cNvSpPr/>
          <p:nvPr/>
        </p:nvSpPr>
        <p:spPr>
          <a:xfrm>
            <a:off x="6995160" y="3246120"/>
            <a:ext cx="4480560" cy="274320"/>
          </a:xfrm>
          <a:prstGeom prst="rect">
            <a:avLst/>
          </a:prstGeom>
          <a:noFill/>
          <a:ln/>
        </p:spPr>
        <p:txBody>
          <a:bodyPr wrap="square" lIns="0" tIns="0" rIns="0" bIns="0" rtlCol="0" anchor="t"/>
          <a:lstStyle/>
          <a:p>
            <a:pPr indent="0" marL="0">
              <a:buNone/>
            </a:pPr>
            <a:r>
              <a:rPr lang="en-US" sz="1000" b="1" spc="300" kern="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sp>
      <p:sp>
        <p:nvSpPr>
          <p:cNvPr id="23" name="Shape 21"/>
          <p:cNvSpPr/>
          <p:nvPr/>
        </p:nvSpPr>
        <p:spPr>
          <a:xfrm>
            <a:off x="457200" y="4754880"/>
            <a:ext cx="73152" cy="1645920"/>
          </a:xfrm>
          <a:prstGeom prst="rect">
            <a:avLst/>
          </a:prstGeom>
          <a:solidFill>
            <a:srgbClr val="F26B1F"/>
          </a:solidFill>
          <a:ln/>
        </p:spPr>
      </p:sp>
      <p:sp>
        <p:nvSpPr>
          <p:cNvPr id="24" name="Text 22"/>
          <p:cNvSpPr/>
          <p:nvPr/>
        </p:nvSpPr>
        <p:spPr>
          <a:xfrm>
            <a:off x="640080" y="4846320"/>
            <a:ext cx="594360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Rigor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indent="0" marL="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Rigor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sp>
      <p:sp>
        <p:nvSpPr>
          <p:cNvPr id="28" name="Text 26"/>
          <p:cNvSpPr/>
          <p:nvPr/>
        </p:nvSpPr>
        <p:spPr>
          <a:xfrm>
            <a:off x="6995160" y="4937760"/>
            <a:ext cx="4480560" cy="274320"/>
          </a:xfrm>
          <a:prstGeom prst="rect">
            <a:avLst/>
          </a:prstGeom>
          <a:noFill/>
          <a:ln/>
        </p:spPr>
        <p:txBody>
          <a:bodyPr wrap="square" lIns="0" tIns="0" rIns="0" bIns="0" rtlCol="0" anchor="t"/>
          <a:lstStyle/>
          <a:p>
            <a:pPr indent="0" marL="0">
              <a:buNone/>
            </a:pPr>
            <a:r>
              <a:rPr lang="en-US" sz="1000" b="1" spc="300" kern="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Rigor produces.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1  —  RIGOR AI  —  PROOF POINTS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Rigor in Production: Real Customer Findings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Selected findings from financial services, telecom, government, and critical infrastructure customers</a:t>
            </a:r>
            <a:endParaRPr lang="en-US" sz="1200" dirty="0"/>
          </a:p>
        </p:txBody>
      </p:sp>
      <p:sp>
        <p:nvSpPr>
          <p:cNvPr id="6" name="Shape 4"/>
          <p:cNvSpPr/>
          <p:nvPr/>
        </p:nvSpPr>
        <p:spPr>
          <a:xfrm>
            <a:off x="457200" y="150876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457200" y="1508760"/>
            <a:ext cx="3703320" cy="320040"/>
          </a:xfrm>
          <a:prstGeom prst="rect">
            <a:avLst/>
          </a:prstGeom>
          <a:solidFill>
            <a:srgbClr val="0B1F3A"/>
          </a:solidFill>
          <a:ln/>
        </p:spPr>
      </p:sp>
      <p:sp>
        <p:nvSpPr>
          <p:cNvPr id="8" name="Text 6"/>
          <p:cNvSpPr/>
          <p:nvPr/>
        </p:nvSpPr>
        <p:spPr>
          <a:xfrm>
            <a:off x="594360" y="150876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FinTech | Asia</a:t>
            </a:r>
            <a:endParaRPr lang="en-US" sz="1000" dirty="0"/>
          </a:p>
        </p:txBody>
      </p:sp>
      <p:sp>
        <p:nvSpPr>
          <p:cNvPr id="9" name="Text 7"/>
          <p:cNvSpPr/>
          <p:nvPr/>
        </p:nvSpPr>
        <p:spPr>
          <a:xfrm>
            <a:off x="640080" y="196596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Closed SMB Lateral Movement Path</a:t>
            </a:r>
            <a:endParaRPr lang="en-US" sz="1300" dirty="0"/>
          </a:p>
        </p:txBody>
      </p:sp>
      <p:sp>
        <p:nvSpPr>
          <p:cNvPr id="10" name="Text 8"/>
          <p:cNvSpPr/>
          <p:nvPr/>
        </p:nvSpPr>
        <p:spPr>
          <a:xfrm>
            <a:off x="640080" y="246888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SMB app-control profiles completely shadowed by 3 higher-priority rules — allowed unprotected SMBv1 between branches. Rigor formal model exposed the multi-rule shadow.</a:t>
            </a:r>
            <a:endParaRPr lang="en-US" sz="1100" dirty="0"/>
          </a:p>
        </p:txBody>
      </p:sp>
      <p:sp>
        <p:nvSpPr>
          <p:cNvPr id="11" name="Shape 9"/>
          <p:cNvSpPr/>
          <p:nvPr/>
        </p:nvSpPr>
        <p:spPr>
          <a:xfrm>
            <a:off x="4361688" y="150876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4361688" y="1508760"/>
            <a:ext cx="3703320" cy="320040"/>
          </a:xfrm>
          <a:prstGeom prst="rect">
            <a:avLst/>
          </a:prstGeom>
          <a:solidFill>
            <a:srgbClr val="0B1F3A"/>
          </a:solidFill>
          <a:ln/>
        </p:spPr>
      </p:sp>
      <p:sp>
        <p:nvSpPr>
          <p:cNvPr id="13" name="Text 11"/>
          <p:cNvSpPr/>
          <p:nvPr/>
        </p:nvSpPr>
        <p:spPr>
          <a:xfrm>
            <a:off x="4498848" y="150876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Communications | NA</a:t>
            </a:r>
            <a:endParaRPr lang="en-US" sz="1000" dirty="0"/>
          </a:p>
        </p:txBody>
      </p:sp>
      <p:sp>
        <p:nvSpPr>
          <p:cNvPr id="14" name="Text 12"/>
          <p:cNvSpPr/>
          <p:nvPr/>
        </p:nvSpPr>
        <p:spPr>
          <a:xfrm>
            <a:off x="4544568" y="196596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Eliminated Known CVE Exposure</a:t>
            </a:r>
            <a:endParaRPr lang="en-US" sz="1300" dirty="0"/>
          </a:p>
        </p:txBody>
      </p:sp>
      <p:sp>
        <p:nvSpPr>
          <p:cNvPr id="15" name="Text 13"/>
          <p:cNvSpPr/>
          <p:nvPr/>
        </p:nvSpPr>
        <p:spPr>
          <a:xfrm>
            <a:off x="4544568" y="246888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IPS filters were missing on rsync traffic to backup servers. Exposed enterprise to lateral malware movement and remote code execution against critical infra.</a:t>
            </a:r>
            <a:endParaRPr lang="en-US" sz="1100" dirty="0"/>
          </a:p>
        </p:txBody>
      </p:sp>
      <p:sp>
        <p:nvSpPr>
          <p:cNvPr id="16" name="Shape 14"/>
          <p:cNvSpPr/>
          <p:nvPr/>
        </p:nvSpPr>
        <p:spPr>
          <a:xfrm>
            <a:off x="8266176" y="150876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17" name="Shape 15"/>
          <p:cNvSpPr/>
          <p:nvPr/>
        </p:nvSpPr>
        <p:spPr>
          <a:xfrm>
            <a:off x="8266176" y="1508760"/>
            <a:ext cx="3703320" cy="320040"/>
          </a:xfrm>
          <a:prstGeom prst="rect">
            <a:avLst/>
          </a:prstGeom>
          <a:solidFill>
            <a:srgbClr val="0B1F3A"/>
          </a:solidFill>
          <a:ln/>
        </p:spPr>
      </p:sp>
      <p:sp>
        <p:nvSpPr>
          <p:cNvPr id="18" name="Text 16"/>
          <p:cNvSpPr/>
          <p:nvPr/>
        </p:nvSpPr>
        <p:spPr>
          <a:xfrm>
            <a:off x="8403336" y="150876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Regional Bank | E. Asia</a:t>
            </a:r>
            <a:endParaRPr lang="en-US" sz="1000" dirty="0"/>
          </a:p>
        </p:txBody>
      </p:sp>
      <p:sp>
        <p:nvSpPr>
          <p:cNvPr id="19" name="Text 17"/>
          <p:cNvSpPr/>
          <p:nvPr/>
        </p:nvSpPr>
        <p:spPr>
          <a:xfrm>
            <a:off x="8449056" y="196596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Closed RCE Attack Paths</a:t>
            </a:r>
            <a:endParaRPr lang="en-US" sz="1300" dirty="0"/>
          </a:p>
        </p:txBody>
      </p:sp>
      <p:sp>
        <p:nvSpPr>
          <p:cNvPr id="20" name="Text 18"/>
          <p:cNvSpPr/>
          <p:nvPr/>
        </p:nvSpPr>
        <p:spPr>
          <a:xfrm>
            <a:off x="8449056" y="246888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Both PANW and Fortinet NGFWs allowed Windows Update service traffic from trusted zones with no IPS — exposed bank to RCE on critical multi-vendor infra.</a:t>
            </a:r>
            <a:endParaRPr lang="en-US" sz="1100" dirty="0"/>
          </a:p>
        </p:txBody>
      </p:sp>
      <p:sp>
        <p:nvSpPr>
          <p:cNvPr id="21" name="Shape 19"/>
          <p:cNvSpPr/>
          <p:nvPr/>
        </p:nvSpPr>
        <p:spPr>
          <a:xfrm>
            <a:off x="457200" y="393192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457200" y="3931920"/>
            <a:ext cx="3703320" cy="320040"/>
          </a:xfrm>
          <a:prstGeom prst="rect">
            <a:avLst/>
          </a:prstGeom>
          <a:solidFill>
            <a:srgbClr val="0B1F3A"/>
          </a:solidFill>
          <a:ln/>
        </p:spPr>
      </p:sp>
      <p:sp>
        <p:nvSpPr>
          <p:cNvPr id="23" name="Text 21"/>
          <p:cNvSpPr/>
          <p:nvPr/>
        </p:nvSpPr>
        <p:spPr>
          <a:xfrm>
            <a:off x="594360" y="393192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Critical Infra | SE Asia</a:t>
            </a:r>
            <a:endParaRPr lang="en-US" sz="1000" dirty="0"/>
          </a:p>
        </p:txBody>
      </p:sp>
      <p:sp>
        <p:nvSpPr>
          <p:cNvPr id="24" name="Text 22"/>
          <p:cNvSpPr/>
          <p:nvPr/>
        </p:nvSpPr>
        <p:spPr>
          <a:xfrm>
            <a:off x="640080" y="438912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Closed Application Obfuscation Paths</a:t>
            </a:r>
            <a:endParaRPr lang="en-US" sz="1300" dirty="0"/>
          </a:p>
        </p:txBody>
      </p:sp>
      <p:sp>
        <p:nvSpPr>
          <p:cNvPr id="25" name="Text 23"/>
          <p:cNvSpPr/>
          <p:nvPr/>
        </p:nvSpPr>
        <p:spPr>
          <a:xfrm>
            <a:off x="640080" y="489204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Incorrectly configured vendor capabilities on DMZ rules — not all applications on the DMZ were blocked as intended. Susceptible to port-hopping evasion.</a:t>
            </a:r>
            <a:endParaRPr lang="en-US" sz="1100" dirty="0"/>
          </a:p>
        </p:txBody>
      </p:sp>
      <p:sp>
        <p:nvSpPr>
          <p:cNvPr id="26" name="Shape 24"/>
          <p:cNvSpPr/>
          <p:nvPr/>
        </p:nvSpPr>
        <p:spPr>
          <a:xfrm>
            <a:off x="4361688" y="393192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27" name="Shape 25"/>
          <p:cNvSpPr/>
          <p:nvPr/>
        </p:nvSpPr>
        <p:spPr>
          <a:xfrm>
            <a:off x="4361688" y="3931920"/>
            <a:ext cx="3703320" cy="320040"/>
          </a:xfrm>
          <a:prstGeom prst="rect">
            <a:avLst/>
          </a:prstGeom>
          <a:solidFill>
            <a:srgbClr val="0B1F3A"/>
          </a:solidFill>
          <a:ln/>
        </p:spPr>
      </p:sp>
      <p:sp>
        <p:nvSpPr>
          <p:cNvPr id="28" name="Text 26"/>
          <p:cNvSpPr/>
          <p:nvPr/>
        </p:nvSpPr>
        <p:spPr>
          <a:xfrm>
            <a:off x="4498848" y="393192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Finance | E. Asia</a:t>
            </a:r>
            <a:endParaRPr lang="en-US" sz="1000" dirty="0"/>
          </a:p>
        </p:txBody>
      </p:sp>
      <p:sp>
        <p:nvSpPr>
          <p:cNvPr id="29" name="Text 27"/>
          <p:cNvSpPr/>
          <p:nvPr/>
        </p:nvSpPr>
        <p:spPr>
          <a:xfrm>
            <a:off x="4544568" y="438912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NIST 800-53 SMTP Compliance</a:t>
            </a:r>
            <a:endParaRPr lang="en-US" sz="1300" dirty="0"/>
          </a:p>
        </p:txBody>
      </p:sp>
      <p:sp>
        <p:nvSpPr>
          <p:cNvPr id="30" name="Text 28"/>
          <p:cNvSpPr/>
          <p:nvPr/>
        </p:nvSpPr>
        <p:spPr>
          <a:xfrm>
            <a:off x="4544568" y="489204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SMTP traffic from trusted to untrusted zones had no threat inspection enabled, despite the NGFW's built-in capability — exposed customer to phishing &amp; credential harvest.</a:t>
            </a:r>
            <a:endParaRPr lang="en-US" sz="1100" dirty="0"/>
          </a:p>
        </p:txBody>
      </p:sp>
      <p:sp>
        <p:nvSpPr>
          <p:cNvPr id="31" name="Shape 29"/>
          <p:cNvSpPr/>
          <p:nvPr/>
        </p:nvSpPr>
        <p:spPr>
          <a:xfrm>
            <a:off x="8266176" y="3931920"/>
            <a:ext cx="3703320" cy="2286000"/>
          </a:xfrm>
          <a:prstGeom prst="rect">
            <a:avLst/>
          </a:prstGeom>
          <a:solidFill>
            <a:srgbClr val="F7F8FA"/>
          </a:solidFill>
          <a:ln w="12700">
            <a:solidFill>
              <a:srgbClr val="E5E9EE"/>
            </a:solidFill>
            <a:prstDash val="solid"/>
          </a:ln>
          <a:effectLst>
            <a:outerShdw sx="100000" sy="100000" kx="0" ky="0" algn="bl" rotWithShape="0" blurRad="101600" dist="25400" dir="5400000">
              <a:srgbClr val="000000">
                <a:alpha val="12000"/>
              </a:srgbClr>
            </a:outerShdw>
          </a:effectLst>
        </p:spPr>
      </p:sp>
      <p:sp>
        <p:nvSpPr>
          <p:cNvPr id="32" name="Shape 30"/>
          <p:cNvSpPr/>
          <p:nvPr/>
        </p:nvSpPr>
        <p:spPr>
          <a:xfrm>
            <a:off x="8266176" y="3931920"/>
            <a:ext cx="3703320" cy="320040"/>
          </a:xfrm>
          <a:prstGeom prst="rect">
            <a:avLst/>
          </a:prstGeom>
          <a:solidFill>
            <a:srgbClr val="0B1F3A"/>
          </a:solidFill>
          <a:ln/>
        </p:spPr>
      </p:sp>
      <p:sp>
        <p:nvSpPr>
          <p:cNvPr id="33" name="Text 31"/>
          <p:cNvSpPr/>
          <p:nvPr/>
        </p:nvSpPr>
        <p:spPr>
          <a:xfrm>
            <a:off x="8403336" y="3931920"/>
            <a:ext cx="3474720" cy="320040"/>
          </a:xfrm>
          <a:prstGeom prst="rect">
            <a:avLst/>
          </a:prstGeom>
          <a:noFill/>
          <a:ln/>
        </p:spPr>
        <p:txBody>
          <a:bodyPr wrap="square" lIns="0" tIns="0" rIns="0" bIns="0"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EU Sov. Govt</a:t>
            </a:r>
            <a:endParaRPr lang="en-US" sz="1000" dirty="0"/>
          </a:p>
        </p:txBody>
      </p:sp>
      <p:sp>
        <p:nvSpPr>
          <p:cNvPr id="34" name="Text 32"/>
          <p:cNvSpPr/>
          <p:nvPr/>
        </p:nvSpPr>
        <p:spPr>
          <a:xfrm>
            <a:off x="8449056" y="4389120"/>
            <a:ext cx="3383280" cy="457200"/>
          </a:xfrm>
          <a:prstGeom prst="rect">
            <a:avLst/>
          </a:prstGeom>
          <a:noFill/>
          <a:ln/>
        </p:spPr>
        <p:txBody>
          <a:bodyPr wrap="square" lIns="0" tIns="0" rIns="0" bIns="0" rtlCol="0" anchor="t"/>
          <a:lstStyle/>
          <a:p>
            <a:pPr indent="0" marL="0">
              <a:buNone/>
            </a:pPr>
            <a:r>
              <a:rPr lang="en-US" sz="1300" b="1" dirty="0">
                <a:solidFill>
                  <a:srgbClr val="F26B1F"/>
                </a:solidFill>
                <a:latin typeface="Calibri" pitchFamily="34" charset="0"/>
                <a:ea typeface="Calibri" pitchFamily="34" charset="-122"/>
                <a:cs typeface="Calibri" pitchFamily="34" charset="-120"/>
              </a:rPr>
              <a:t>Preemptive ASM for National Agency</a:t>
            </a:r>
            <a:endParaRPr lang="en-US" sz="1300" dirty="0"/>
          </a:p>
        </p:txBody>
      </p:sp>
      <p:sp>
        <p:nvSpPr>
          <p:cNvPr id="35" name="Text 33"/>
          <p:cNvSpPr/>
          <p:nvPr/>
        </p:nvSpPr>
        <p:spPr>
          <a:xfrm>
            <a:off x="8449056" y="4892040"/>
            <a:ext cx="3383280" cy="128016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EU country's cyber defense umbrella — Rigor formally extended EASM scan coverage and proved compliance of external attack surface across 12 government agencies.</a:t>
            </a:r>
            <a:endParaRPr lang="en-US" sz="1100" dirty="0"/>
          </a:p>
        </p:txBody>
      </p:sp>
      <p:sp>
        <p:nvSpPr>
          <p:cNvPr id="36" name="Text 34"/>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20+ design partners across F500, federal, critical infrastructure, MSSPs, nation states. Engagements in NA, EU, ME, Asia, Pacific.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sp>
      <p:sp>
        <p:nvSpPr>
          <p:cNvPr id="7" name="Text 5"/>
          <p:cNvSpPr/>
          <p:nvPr/>
        </p:nvSpPr>
        <p:spPr>
          <a:xfrm>
            <a:off x="457200" y="1508760"/>
            <a:ext cx="3200400" cy="640080"/>
          </a:xfrm>
          <a:prstGeom prst="rect">
            <a:avLst/>
          </a:prstGeom>
          <a:noFill/>
          <a:ln/>
        </p:spPr>
        <p:txBody>
          <a:bodyPr wrap="square" lIns="0" tIns="0" rIns="0" bIns="0" rtlCol="0" anchor="ctr"/>
          <a:lstStyle/>
          <a:p>
            <a:pPr algn="ctr" indent="0" marL="0">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algn="ctr" indent="0" marL="0">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indent="0" marL="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sp>
      <p:sp>
        <p:nvSpPr>
          <p:cNvPr id="12" name="Shape 10"/>
          <p:cNvSpPr/>
          <p:nvPr/>
        </p:nvSpPr>
        <p:spPr>
          <a:xfrm>
            <a:off x="457200" y="2743200"/>
            <a:ext cx="640080" cy="1783080"/>
          </a:xfrm>
          <a:prstGeom prst="rect">
            <a:avLst/>
          </a:prstGeom>
          <a:solidFill>
            <a:srgbClr val="C0392B"/>
          </a:solidFill>
          <a:ln/>
        </p:spPr>
      </p:sp>
      <p:sp>
        <p:nvSpPr>
          <p:cNvPr id="13" name="Text 11"/>
          <p:cNvSpPr/>
          <p:nvPr/>
        </p:nvSpPr>
        <p:spPr>
          <a:xfrm>
            <a:off x="457200" y="2834640"/>
            <a:ext cx="6400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CONSEQUENCE  </a:t>
            </a:r>
            <a:pPr indent="0" marL="0">
              <a:buNone/>
            </a:pP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sp>
      <p:sp>
        <p:nvSpPr>
          <p:cNvPr id="18" name="Shape 16"/>
          <p:cNvSpPr/>
          <p:nvPr/>
        </p:nvSpPr>
        <p:spPr>
          <a:xfrm>
            <a:off x="6309360" y="2743200"/>
            <a:ext cx="640080" cy="1783080"/>
          </a:xfrm>
          <a:prstGeom prst="rect">
            <a:avLst/>
          </a:prstGeom>
          <a:solidFill>
            <a:srgbClr val="C0392B"/>
          </a:solidFill>
          <a:ln/>
        </p:spPr>
      </p:sp>
      <p:sp>
        <p:nvSpPr>
          <p:cNvPr id="19" name="Text 17"/>
          <p:cNvSpPr/>
          <p:nvPr/>
        </p:nvSpPr>
        <p:spPr>
          <a:xfrm>
            <a:off x="6309360" y="2834640"/>
            <a:ext cx="6400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CONSEQUENCE  </a:t>
            </a:r>
            <a:pPr indent="0" marL="0">
              <a:buNone/>
            </a:pP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sp>
      <p:sp>
        <p:nvSpPr>
          <p:cNvPr id="24" name="Shape 22"/>
          <p:cNvSpPr/>
          <p:nvPr/>
        </p:nvSpPr>
        <p:spPr>
          <a:xfrm>
            <a:off x="457200" y="4617720"/>
            <a:ext cx="640080" cy="1783080"/>
          </a:xfrm>
          <a:prstGeom prst="rect">
            <a:avLst/>
          </a:prstGeom>
          <a:solidFill>
            <a:srgbClr val="C0392B"/>
          </a:solidFill>
          <a:ln/>
        </p:spPr>
      </p:sp>
      <p:sp>
        <p:nvSpPr>
          <p:cNvPr id="25" name="Text 23"/>
          <p:cNvSpPr/>
          <p:nvPr/>
        </p:nvSpPr>
        <p:spPr>
          <a:xfrm>
            <a:off x="457200" y="4709160"/>
            <a:ext cx="6400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CONSEQUENCE  </a:t>
            </a:r>
            <a:pPr indent="0" marL="0">
              <a:buNone/>
            </a:pP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sp>
      <p:sp>
        <p:nvSpPr>
          <p:cNvPr id="30" name="Shape 28"/>
          <p:cNvSpPr/>
          <p:nvPr/>
        </p:nvSpPr>
        <p:spPr>
          <a:xfrm>
            <a:off x="6309360" y="4617720"/>
            <a:ext cx="640080" cy="1783080"/>
          </a:xfrm>
          <a:prstGeom prst="rect">
            <a:avLst/>
          </a:prstGeom>
          <a:solidFill>
            <a:srgbClr val="C0392B"/>
          </a:solidFill>
          <a:ln/>
        </p:spPr>
      </p:sp>
      <p:sp>
        <p:nvSpPr>
          <p:cNvPr id="31" name="Text 29"/>
          <p:cNvSpPr/>
          <p:nvPr/>
        </p:nvSpPr>
        <p:spPr>
          <a:xfrm>
            <a:off x="6309360" y="4709160"/>
            <a:ext cx="6400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CONSEQUENCE  </a:t>
            </a:r>
            <a:pPr indent="0" marL="0">
              <a:buNone/>
            </a:pP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457200" y="1463040"/>
            <a:ext cx="3657600" cy="457200"/>
          </a:xfrm>
          <a:prstGeom prst="rect">
            <a:avLst/>
          </a:prstGeom>
          <a:solidFill>
            <a:srgbClr val="0891B2"/>
          </a:solidFill>
          <a:ln/>
        </p:spPr>
      </p:sp>
      <p:sp>
        <p:nvSpPr>
          <p:cNvPr id="8" name="Text 6"/>
          <p:cNvSpPr/>
          <p:nvPr/>
        </p:nvSpPr>
        <p:spPr>
          <a:xfrm>
            <a:off x="59436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indent="0" marL="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sp>
      <p:sp>
        <p:nvSpPr>
          <p:cNvPr id="16" name="Text 14"/>
          <p:cNvSpPr/>
          <p:nvPr/>
        </p:nvSpPr>
        <p:spPr>
          <a:xfrm>
            <a:off x="731520" y="5285232"/>
            <a:ext cx="3200400" cy="1161288"/>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TRADITIONAL  </a:t>
            </a:r>
            <a:pPr indent="0" marL="0">
              <a:buNone/>
            </a:pP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indent="0" marL="0">
              <a:buNone/>
            </a:pPr>
            <a:r>
              <a:rPr lang="en-US" sz="900" b="1" dirty="0">
                <a:solidFill>
                  <a:srgbClr val="2E7D32"/>
                </a:solidFill>
                <a:latin typeface="Calibri" pitchFamily="34" charset="0"/>
                <a:ea typeface="Calibri" pitchFamily="34" charset="-122"/>
                <a:cs typeface="Calibri" pitchFamily="34" charset="-120"/>
              </a:rPr>
              <a:t>ACECARD  </a:t>
            </a:r>
            <a:pPr indent="0" marL="0">
              <a:buNone/>
            </a:pP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4297680" y="1463040"/>
            <a:ext cx="3657600" cy="457200"/>
          </a:xfrm>
          <a:prstGeom prst="rect">
            <a:avLst/>
          </a:prstGeom>
          <a:solidFill>
            <a:srgbClr val="0891B2"/>
          </a:solidFill>
          <a:ln/>
        </p:spPr>
      </p:sp>
      <p:sp>
        <p:nvSpPr>
          <p:cNvPr id="19" name="Text 17"/>
          <p:cNvSpPr/>
          <p:nvPr/>
        </p:nvSpPr>
        <p:spPr>
          <a:xfrm>
            <a:off x="443484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indent="0" marL="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sp>
      <p:sp>
        <p:nvSpPr>
          <p:cNvPr id="27" name="Text 25"/>
          <p:cNvSpPr/>
          <p:nvPr/>
        </p:nvSpPr>
        <p:spPr>
          <a:xfrm>
            <a:off x="4572000" y="5285232"/>
            <a:ext cx="3200400" cy="1161288"/>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TRADITIONAL  </a:t>
            </a:r>
            <a:pPr indent="0" marL="0">
              <a:buNone/>
            </a:pP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indent="0" marL="0">
              <a:buNone/>
            </a:pPr>
            <a:r>
              <a:rPr lang="en-US" sz="900" b="1" dirty="0">
                <a:solidFill>
                  <a:srgbClr val="2E7D32"/>
                </a:solidFill>
                <a:latin typeface="Calibri" pitchFamily="34" charset="0"/>
                <a:ea typeface="Calibri" pitchFamily="34" charset="-122"/>
                <a:cs typeface="Calibri" pitchFamily="34" charset="-120"/>
              </a:rPr>
              <a:t>ACECARD  </a:t>
            </a:r>
            <a:pPr indent="0" marL="0">
              <a:buNone/>
            </a:pP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sx="100000" sy="100000" kx="0" ky="0" algn="bl" rotWithShape="0" blurRad="101600" dist="25400" dir="5400000">
              <a:srgbClr val="000000">
                <a:alpha val="12000"/>
              </a:srgbClr>
            </a:outerShdw>
          </a:effectLst>
        </p:spPr>
      </p:sp>
      <p:sp>
        <p:nvSpPr>
          <p:cNvPr id="29" name="Shape 27"/>
          <p:cNvSpPr/>
          <p:nvPr/>
        </p:nvSpPr>
        <p:spPr>
          <a:xfrm>
            <a:off x="8138160" y="1463040"/>
            <a:ext cx="3657600" cy="457200"/>
          </a:xfrm>
          <a:prstGeom prst="rect">
            <a:avLst/>
          </a:prstGeom>
          <a:solidFill>
            <a:srgbClr val="0891B2"/>
          </a:solidFill>
          <a:ln/>
        </p:spPr>
      </p:sp>
      <p:sp>
        <p:nvSpPr>
          <p:cNvPr id="30" name="Text 28"/>
          <p:cNvSpPr/>
          <p:nvPr/>
        </p:nvSpPr>
        <p:spPr>
          <a:xfrm>
            <a:off x="827532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indent="0" marL="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indent="0" marL="0">
              <a:buNone/>
            </a:pPr>
            <a:r>
              <a:rPr lang="en-US" sz="900" b="1" spc="300" kern="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sp>
      <p:sp>
        <p:nvSpPr>
          <p:cNvPr id="38" name="Text 36"/>
          <p:cNvSpPr/>
          <p:nvPr/>
        </p:nvSpPr>
        <p:spPr>
          <a:xfrm>
            <a:off x="8412480" y="5285232"/>
            <a:ext cx="3200400" cy="1161288"/>
          </a:xfrm>
          <a:prstGeom prst="rect">
            <a:avLst/>
          </a:prstGeom>
          <a:noFill/>
          <a:ln/>
        </p:spPr>
        <p:txBody>
          <a:bodyPr wrap="square" lIns="0" tIns="0" rIns="0" bIns="0" rtlCol="0" anchor="t"/>
          <a:lstStyle/>
          <a:p>
            <a:pPr indent="0" marL="0">
              <a:buNone/>
            </a:pPr>
            <a:r>
              <a:rPr lang="en-US" sz="900" b="1" dirty="0">
                <a:solidFill>
                  <a:srgbClr val="C0392B"/>
                </a:solidFill>
                <a:latin typeface="Calibri" pitchFamily="34" charset="0"/>
                <a:ea typeface="Calibri" pitchFamily="34" charset="-122"/>
                <a:cs typeface="Calibri" pitchFamily="34" charset="-120"/>
              </a:rPr>
              <a:t>TRADITIONAL  </a:t>
            </a:r>
            <a:pPr indent="0" marL="0">
              <a:buNone/>
            </a:pP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indent="0" marL="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indent="0" marL="0">
              <a:buNone/>
            </a:pPr>
            <a:r>
              <a:rPr lang="en-US" sz="900" b="1" dirty="0">
                <a:solidFill>
                  <a:srgbClr val="2E7D32"/>
                </a:solidFill>
                <a:latin typeface="Calibri" pitchFamily="34" charset="0"/>
                <a:ea typeface="Calibri" pitchFamily="34" charset="-122"/>
                <a:cs typeface="Calibri" pitchFamily="34" charset="-120"/>
              </a:rPr>
              <a:t>ACECARD  </a:t>
            </a:r>
            <a:pPr indent="0" marL="0">
              <a:buNone/>
            </a:pP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sp>
      <p:sp>
        <p:nvSpPr>
          <p:cNvPr id="7" name="Shape 5"/>
          <p:cNvSpPr/>
          <p:nvPr/>
        </p:nvSpPr>
        <p:spPr>
          <a:xfrm>
            <a:off x="594360" y="1627632"/>
            <a:ext cx="502920" cy="502920"/>
          </a:xfrm>
          <a:prstGeom prst="ellipse">
            <a:avLst/>
          </a:prstGeom>
          <a:solidFill>
            <a:srgbClr val="0891B2"/>
          </a:solidFill>
          <a:ln/>
        </p:spPr>
      </p:sp>
      <p:sp>
        <p:nvSpPr>
          <p:cNvPr id="8" name="Text 6"/>
          <p:cNvSpPr/>
          <p:nvPr/>
        </p:nvSpPr>
        <p:spPr>
          <a:xfrm>
            <a:off x="594360" y="162763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sp>
      <p:sp>
        <p:nvSpPr>
          <p:cNvPr id="11" name="Text 9"/>
          <p:cNvSpPr/>
          <p:nvPr/>
        </p:nvSpPr>
        <p:spPr>
          <a:xfrm>
            <a:off x="1325880" y="2148840"/>
            <a:ext cx="4297680" cy="685800"/>
          </a:xfrm>
          <a:prstGeom prst="rect">
            <a:avLst/>
          </a:prstGeom>
          <a:noFill/>
          <a:ln/>
        </p:spPr>
        <p:txBody>
          <a:bodyPr wrap="square" lIns="0" tIns="0" rIns="0" bIns="0" rtlCol="0" anchor="ctr"/>
          <a:lstStyle/>
          <a:p>
            <a:pPr indent="0" marL="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sp>
      <p:sp>
        <p:nvSpPr>
          <p:cNvPr id="14" name="Shape 12"/>
          <p:cNvSpPr/>
          <p:nvPr/>
        </p:nvSpPr>
        <p:spPr>
          <a:xfrm>
            <a:off x="6446520" y="1627632"/>
            <a:ext cx="502920" cy="502920"/>
          </a:xfrm>
          <a:prstGeom prst="ellipse">
            <a:avLst/>
          </a:prstGeom>
          <a:solidFill>
            <a:srgbClr val="0891B2"/>
          </a:solidFill>
          <a:ln/>
        </p:spPr>
      </p:sp>
      <p:sp>
        <p:nvSpPr>
          <p:cNvPr id="15" name="Text 13"/>
          <p:cNvSpPr/>
          <p:nvPr/>
        </p:nvSpPr>
        <p:spPr>
          <a:xfrm>
            <a:off x="6446520" y="162763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sp>
      <p:sp>
        <p:nvSpPr>
          <p:cNvPr id="18" name="Text 16"/>
          <p:cNvSpPr/>
          <p:nvPr/>
        </p:nvSpPr>
        <p:spPr>
          <a:xfrm>
            <a:off x="7178040" y="2148840"/>
            <a:ext cx="4297680" cy="685800"/>
          </a:xfrm>
          <a:prstGeom prst="rect">
            <a:avLst/>
          </a:prstGeom>
          <a:noFill/>
          <a:ln/>
        </p:spPr>
        <p:txBody>
          <a:bodyPr wrap="square" lIns="0" tIns="0" rIns="0" bIns="0" rtlCol="0" anchor="ctr"/>
          <a:lstStyle/>
          <a:p>
            <a:pPr indent="0" marL="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indent="0" marL="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sp>
      <p:sp>
        <p:nvSpPr>
          <p:cNvPr id="21" name="Shape 19"/>
          <p:cNvSpPr/>
          <p:nvPr/>
        </p:nvSpPr>
        <p:spPr>
          <a:xfrm>
            <a:off x="594360" y="4233672"/>
            <a:ext cx="502920" cy="502920"/>
          </a:xfrm>
          <a:prstGeom prst="ellipse">
            <a:avLst/>
          </a:prstGeom>
          <a:solidFill>
            <a:srgbClr val="0891B2"/>
          </a:solidFill>
          <a:ln/>
        </p:spPr>
      </p:sp>
      <p:sp>
        <p:nvSpPr>
          <p:cNvPr id="22" name="Text 20"/>
          <p:cNvSpPr/>
          <p:nvPr/>
        </p:nvSpPr>
        <p:spPr>
          <a:xfrm>
            <a:off x="594360" y="42336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sp>
      <p:sp>
        <p:nvSpPr>
          <p:cNvPr id="25" name="Text 23"/>
          <p:cNvSpPr/>
          <p:nvPr/>
        </p:nvSpPr>
        <p:spPr>
          <a:xfrm>
            <a:off x="1325880" y="4754880"/>
            <a:ext cx="4297680" cy="685800"/>
          </a:xfrm>
          <a:prstGeom prst="rect">
            <a:avLst/>
          </a:prstGeom>
          <a:noFill/>
          <a:ln/>
        </p:spPr>
        <p:txBody>
          <a:bodyPr wrap="square" lIns="0" tIns="0" rIns="0" bIns="0" rtlCol="0" anchor="ctr"/>
          <a:lstStyle/>
          <a:p>
            <a:pPr indent="0" marL="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indent="0" marL="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indent="0" marL="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sp>
      <p:sp>
        <p:nvSpPr>
          <p:cNvPr id="28" name="Shape 26"/>
          <p:cNvSpPr/>
          <p:nvPr/>
        </p:nvSpPr>
        <p:spPr>
          <a:xfrm>
            <a:off x="6446520" y="4233672"/>
            <a:ext cx="502920" cy="502920"/>
          </a:xfrm>
          <a:prstGeom prst="ellipse">
            <a:avLst/>
          </a:prstGeom>
          <a:solidFill>
            <a:srgbClr val="0891B2"/>
          </a:solidFill>
          <a:ln/>
        </p:spPr>
      </p:sp>
      <p:sp>
        <p:nvSpPr>
          <p:cNvPr id="29" name="Text 27"/>
          <p:cNvSpPr/>
          <p:nvPr/>
        </p:nvSpPr>
        <p:spPr>
          <a:xfrm>
            <a:off x="6446520" y="42336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indent="0" marL="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sp>
      <p:sp>
        <p:nvSpPr>
          <p:cNvPr id="32" name="Text 30"/>
          <p:cNvSpPr/>
          <p:nvPr/>
        </p:nvSpPr>
        <p:spPr>
          <a:xfrm>
            <a:off x="7178040" y="4754880"/>
            <a:ext cx="4297680" cy="685800"/>
          </a:xfrm>
          <a:prstGeom prst="rect">
            <a:avLst/>
          </a:prstGeom>
          <a:noFill/>
          <a:ln/>
        </p:spPr>
        <p:txBody>
          <a:bodyPr wrap="square" lIns="0" tIns="0" rIns="0" bIns="0" rtlCol="0" anchor="ctr"/>
          <a:lstStyle/>
          <a:p>
            <a:pPr indent="0" marL="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indent="0" marL="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indent="0" marL="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indent="0" marL="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sp>
      <p:sp>
        <p:nvSpPr>
          <p:cNvPr id="7" name="Shape 5"/>
          <p:cNvSpPr/>
          <p:nvPr/>
        </p:nvSpPr>
        <p:spPr>
          <a:xfrm>
            <a:off x="594360" y="1645920"/>
            <a:ext cx="457200" cy="457200"/>
          </a:xfrm>
          <a:prstGeom prst="ellipse">
            <a:avLst/>
          </a:prstGeom>
          <a:solidFill>
            <a:srgbClr val="0891B2"/>
          </a:solidFill>
          <a:ln/>
        </p:spPr>
      </p:sp>
      <p:sp>
        <p:nvSpPr>
          <p:cNvPr id="8" name="Text 6"/>
          <p:cNvSpPr/>
          <p:nvPr/>
        </p:nvSpPr>
        <p:spPr>
          <a:xfrm>
            <a:off x="594360" y="1645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sp>
      <p:sp>
        <p:nvSpPr>
          <p:cNvPr id="15" name="Shape 13"/>
          <p:cNvSpPr/>
          <p:nvPr/>
        </p:nvSpPr>
        <p:spPr>
          <a:xfrm>
            <a:off x="594360" y="2487168"/>
            <a:ext cx="457200" cy="457200"/>
          </a:xfrm>
          <a:prstGeom prst="ellipse">
            <a:avLst/>
          </a:prstGeom>
          <a:solidFill>
            <a:srgbClr val="0891B2"/>
          </a:solidFill>
          <a:ln/>
        </p:spPr>
      </p:sp>
      <p:sp>
        <p:nvSpPr>
          <p:cNvPr id="16" name="Text 14"/>
          <p:cNvSpPr/>
          <p:nvPr/>
        </p:nvSpPr>
        <p:spPr>
          <a:xfrm>
            <a:off x="594360" y="24871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sp>
      <p:sp>
        <p:nvSpPr>
          <p:cNvPr id="23" name="Shape 21"/>
          <p:cNvSpPr/>
          <p:nvPr/>
        </p:nvSpPr>
        <p:spPr>
          <a:xfrm>
            <a:off x="594360" y="3328416"/>
            <a:ext cx="457200" cy="457200"/>
          </a:xfrm>
          <a:prstGeom prst="ellipse">
            <a:avLst/>
          </a:prstGeom>
          <a:solidFill>
            <a:srgbClr val="0891B2"/>
          </a:solidFill>
          <a:ln/>
        </p:spPr>
      </p:sp>
      <p:sp>
        <p:nvSpPr>
          <p:cNvPr id="24" name="Text 22"/>
          <p:cNvSpPr/>
          <p:nvPr/>
        </p:nvSpPr>
        <p:spPr>
          <a:xfrm>
            <a:off x="594360" y="332841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sp>
      <p:sp>
        <p:nvSpPr>
          <p:cNvPr id="31" name="Shape 29"/>
          <p:cNvSpPr/>
          <p:nvPr/>
        </p:nvSpPr>
        <p:spPr>
          <a:xfrm>
            <a:off x="594360" y="4169664"/>
            <a:ext cx="457200" cy="457200"/>
          </a:xfrm>
          <a:prstGeom prst="ellipse">
            <a:avLst/>
          </a:prstGeom>
          <a:solidFill>
            <a:srgbClr val="0891B2"/>
          </a:solidFill>
          <a:ln/>
        </p:spPr>
      </p:sp>
      <p:sp>
        <p:nvSpPr>
          <p:cNvPr id="32" name="Text 30"/>
          <p:cNvSpPr/>
          <p:nvPr/>
        </p:nvSpPr>
        <p:spPr>
          <a:xfrm>
            <a:off x="594360" y="416966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sp>
      <p:sp>
        <p:nvSpPr>
          <p:cNvPr id="39" name="Shape 37"/>
          <p:cNvSpPr/>
          <p:nvPr/>
        </p:nvSpPr>
        <p:spPr>
          <a:xfrm>
            <a:off x="594360" y="5010912"/>
            <a:ext cx="457200" cy="457200"/>
          </a:xfrm>
          <a:prstGeom prst="ellipse">
            <a:avLst/>
          </a:prstGeom>
          <a:solidFill>
            <a:srgbClr val="0891B2"/>
          </a:solidFill>
          <a:ln/>
        </p:spPr>
      </p:sp>
      <p:sp>
        <p:nvSpPr>
          <p:cNvPr id="40" name="Text 38"/>
          <p:cNvSpPr/>
          <p:nvPr/>
        </p:nvSpPr>
        <p:spPr>
          <a:xfrm>
            <a:off x="594360" y="50109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indent="0" marL="0">
              <a:buNone/>
            </a:pPr>
            <a:r>
              <a:rPr lang="en-US" sz="850" b="1" spc="300" kern="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sp>
      <p:sp>
        <p:nvSpPr>
          <p:cNvPr id="47" name="Text 45"/>
          <p:cNvSpPr/>
          <p:nvPr/>
        </p:nvSpPr>
        <p:spPr>
          <a:xfrm>
            <a:off x="640080" y="5852160"/>
            <a:ext cx="137160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indent="0" marL="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sp>
      <p:sp>
        <p:nvSpPr>
          <p:cNvPr id="8" name="Shape 6"/>
          <p:cNvSpPr/>
          <p:nvPr/>
        </p:nvSpPr>
        <p:spPr>
          <a:xfrm>
            <a:off x="457200" y="1783080"/>
            <a:ext cx="1828800" cy="274320"/>
          </a:xfrm>
          <a:prstGeom prst="rect">
            <a:avLst/>
          </a:prstGeom>
          <a:solidFill>
            <a:srgbClr val="0891B2"/>
          </a:solidFill>
          <a:ln/>
        </p:spPr>
      </p:sp>
      <p:sp>
        <p:nvSpPr>
          <p:cNvPr id="9" name="Text 7"/>
          <p:cNvSpPr/>
          <p:nvPr/>
        </p:nvSpPr>
        <p:spPr>
          <a:xfrm>
            <a:off x="502920"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sp>
      <p:sp>
        <p:nvSpPr>
          <p:cNvPr id="12" name="Shape 10"/>
          <p:cNvSpPr/>
          <p:nvPr/>
        </p:nvSpPr>
        <p:spPr>
          <a:xfrm>
            <a:off x="2350008" y="1783080"/>
            <a:ext cx="1828800" cy="274320"/>
          </a:xfrm>
          <a:prstGeom prst="rect">
            <a:avLst/>
          </a:prstGeom>
          <a:solidFill>
            <a:srgbClr val="0891B2"/>
          </a:solidFill>
          <a:ln/>
        </p:spPr>
      </p:sp>
      <p:sp>
        <p:nvSpPr>
          <p:cNvPr id="13" name="Text 11"/>
          <p:cNvSpPr/>
          <p:nvPr/>
        </p:nvSpPr>
        <p:spPr>
          <a:xfrm>
            <a:off x="2395728"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sp>
      <p:sp>
        <p:nvSpPr>
          <p:cNvPr id="16" name="Shape 14"/>
          <p:cNvSpPr/>
          <p:nvPr/>
        </p:nvSpPr>
        <p:spPr>
          <a:xfrm>
            <a:off x="4242816" y="1783080"/>
            <a:ext cx="1828800" cy="274320"/>
          </a:xfrm>
          <a:prstGeom prst="rect">
            <a:avLst/>
          </a:prstGeom>
          <a:solidFill>
            <a:srgbClr val="0891B2"/>
          </a:solidFill>
          <a:ln/>
        </p:spPr>
      </p:sp>
      <p:sp>
        <p:nvSpPr>
          <p:cNvPr id="17" name="Text 15"/>
          <p:cNvSpPr/>
          <p:nvPr/>
        </p:nvSpPr>
        <p:spPr>
          <a:xfrm>
            <a:off x="4288536"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sp>
      <p:sp>
        <p:nvSpPr>
          <p:cNvPr id="20" name="Shape 18"/>
          <p:cNvSpPr/>
          <p:nvPr/>
        </p:nvSpPr>
        <p:spPr>
          <a:xfrm>
            <a:off x="6135624" y="1783080"/>
            <a:ext cx="1828800" cy="274320"/>
          </a:xfrm>
          <a:prstGeom prst="rect">
            <a:avLst/>
          </a:prstGeom>
          <a:solidFill>
            <a:srgbClr val="0891B2"/>
          </a:solidFill>
          <a:ln/>
        </p:spPr>
      </p:sp>
      <p:sp>
        <p:nvSpPr>
          <p:cNvPr id="21" name="Text 19"/>
          <p:cNvSpPr/>
          <p:nvPr/>
        </p:nvSpPr>
        <p:spPr>
          <a:xfrm>
            <a:off x="6181344"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sp>
      <p:sp>
        <p:nvSpPr>
          <p:cNvPr id="24" name="Shape 22"/>
          <p:cNvSpPr/>
          <p:nvPr/>
        </p:nvSpPr>
        <p:spPr>
          <a:xfrm>
            <a:off x="8028432" y="1783080"/>
            <a:ext cx="1828800" cy="274320"/>
          </a:xfrm>
          <a:prstGeom prst="rect">
            <a:avLst/>
          </a:prstGeom>
          <a:solidFill>
            <a:srgbClr val="0891B2"/>
          </a:solidFill>
          <a:ln/>
        </p:spPr>
      </p:sp>
      <p:sp>
        <p:nvSpPr>
          <p:cNvPr id="25" name="Text 23"/>
          <p:cNvSpPr/>
          <p:nvPr/>
        </p:nvSpPr>
        <p:spPr>
          <a:xfrm>
            <a:off x="8074152"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sp>
      <p:sp>
        <p:nvSpPr>
          <p:cNvPr id="28" name="Shape 26"/>
          <p:cNvSpPr/>
          <p:nvPr/>
        </p:nvSpPr>
        <p:spPr>
          <a:xfrm>
            <a:off x="9921240" y="1783080"/>
            <a:ext cx="1828800" cy="274320"/>
          </a:xfrm>
          <a:prstGeom prst="rect">
            <a:avLst/>
          </a:prstGeom>
          <a:solidFill>
            <a:srgbClr val="0891B2"/>
          </a:solidFill>
          <a:ln/>
        </p:spPr>
      </p:sp>
      <p:sp>
        <p:nvSpPr>
          <p:cNvPr id="29" name="Text 27"/>
          <p:cNvSpPr/>
          <p:nvPr/>
        </p:nvSpPr>
        <p:spPr>
          <a:xfrm>
            <a:off x="9966960" y="1783080"/>
            <a:ext cx="173736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sp>
      <p:sp>
        <p:nvSpPr>
          <p:cNvPr id="33" name="Shape 31"/>
          <p:cNvSpPr/>
          <p:nvPr/>
        </p:nvSpPr>
        <p:spPr>
          <a:xfrm>
            <a:off x="457200" y="3611880"/>
            <a:ext cx="2103120" cy="365760"/>
          </a:xfrm>
          <a:prstGeom prst="rect">
            <a:avLst/>
          </a:prstGeom>
          <a:solidFill>
            <a:srgbClr val="0B1F3A"/>
          </a:solidFill>
          <a:ln/>
        </p:spPr>
      </p:sp>
      <p:sp>
        <p:nvSpPr>
          <p:cNvPr id="34" name="Text 32"/>
          <p:cNvSpPr/>
          <p:nvPr/>
        </p:nvSpPr>
        <p:spPr>
          <a:xfrm>
            <a:off x="548640" y="3611880"/>
            <a:ext cx="19202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sp>
      <p:sp>
        <p:nvSpPr>
          <p:cNvPr id="36" name="Text 34"/>
          <p:cNvSpPr/>
          <p:nvPr/>
        </p:nvSpPr>
        <p:spPr>
          <a:xfrm>
            <a:off x="594360" y="4160520"/>
            <a:ext cx="1828800" cy="548640"/>
          </a:xfrm>
          <a:prstGeom prst="rect">
            <a:avLst/>
          </a:prstGeom>
          <a:noFill/>
          <a:ln/>
        </p:spPr>
        <p:txBody>
          <a:bodyPr wrap="square" lIns="0" tIns="0" rIns="0" bIns="0" rtlCol="0" anchor="ctr"/>
          <a:lstStyle/>
          <a:p>
            <a:pPr indent="0" marL="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sp>
      <p:sp>
        <p:nvSpPr>
          <p:cNvPr id="39" name="Shape 37"/>
          <p:cNvSpPr/>
          <p:nvPr/>
        </p:nvSpPr>
        <p:spPr>
          <a:xfrm>
            <a:off x="2743200" y="3611880"/>
            <a:ext cx="2103120" cy="365760"/>
          </a:xfrm>
          <a:prstGeom prst="rect">
            <a:avLst/>
          </a:prstGeom>
          <a:solidFill>
            <a:srgbClr val="0B1F3A"/>
          </a:solidFill>
          <a:ln/>
        </p:spPr>
      </p:sp>
      <p:sp>
        <p:nvSpPr>
          <p:cNvPr id="40" name="Text 38"/>
          <p:cNvSpPr/>
          <p:nvPr/>
        </p:nvSpPr>
        <p:spPr>
          <a:xfrm>
            <a:off x="2834640" y="3611880"/>
            <a:ext cx="19202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sp>
      <p:sp>
        <p:nvSpPr>
          <p:cNvPr id="42" name="Text 40"/>
          <p:cNvSpPr/>
          <p:nvPr/>
        </p:nvSpPr>
        <p:spPr>
          <a:xfrm>
            <a:off x="2880360" y="4160520"/>
            <a:ext cx="1828800" cy="548640"/>
          </a:xfrm>
          <a:prstGeom prst="rect">
            <a:avLst/>
          </a:prstGeom>
          <a:noFill/>
          <a:ln/>
        </p:spPr>
        <p:txBody>
          <a:bodyPr wrap="square" lIns="0" tIns="0" rIns="0" bIns="0" rtlCol="0" anchor="ctr"/>
          <a:lstStyle/>
          <a:p>
            <a:pPr indent="0" marL="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sp>
      <p:sp>
        <p:nvSpPr>
          <p:cNvPr id="45" name="Shape 43"/>
          <p:cNvSpPr/>
          <p:nvPr/>
        </p:nvSpPr>
        <p:spPr>
          <a:xfrm>
            <a:off x="5029200" y="3611880"/>
            <a:ext cx="2103120" cy="365760"/>
          </a:xfrm>
          <a:prstGeom prst="rect">
            <a:avLst/>
          </a:prstGeom>
          <a:solidFill>
            <a:srgbClr val="0B1F3A"/>
          </a:solidFill>
          <a:ln/>
        </p:spPr>
      </p:sp>
      <p:sp>
        <p:nvSpPr>
          <p:cNvPr id="46" name="Text 44"/>
          <p:cNvSpPr/>
          <p:nvPr/>
        </p:nvSpPr>
        <p:spPr>
          <a:xfrm>
            <a:off x="5120640" y="3611880"/>
            <a:ext cx="19202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sp>
      <p:sp>
        <p:nvSpPr>
          <p:cNvPr id="48" name="Text 46"/>
          <p:cNvSpPr/>
          <p:nvPr/>
        </p:nvSpPr>
        <p:spPr>
          <a:xfrm>
            <a:off x="5166360" y="4160520"/>
            <a:ext cx="1828800" cy="548640"/>
          </a:xfrm>
          <a:prstGeom prst="rect">
            <a:avLst/>
          </a:prstGeom>
          <a:noFill/>
          <a:ln/>
        </p:spPr>
        <p:txBody>
          <a:bodyPr wrap="square" lIns="0" tIns="0" rIns="0" bIns="0" rtlCol="0" anchor="ctr"/>
          <a:lstStyle/>
          <a:p>
            <a:pPr indent="0" marL="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sp>
      <p:sp>
        <p:nvSpPr>
          <p:cNvPr id="51" name="Shape 49"/>
          <p:cNvSpPr/>
          <p:nvPr/>
        </p:nvSpPr>
        <p:spPr>
          <a:xfrm>
            <a:off x="7315200" y="3611880"/>
            <a:ext cx="2103120" cy="365760"/>
          </a:xfrm>
          <a:prstGeom prst="rect">
            <a:avLst/>
          </a:prstGeom>
          <a:solidFill>
            <a:srgbClr val="0B1F3A"/>
          </a:solidFill>
          <a:ln/>
        </p:spPr>
      </p:sp>
      <p:sp>
        <p:nvSpPr>
          <p:cNvPr id="52" name="Text 50"/>
          <p:cNvSpPr/>
          <p:nvPr/>
        </p:nvSpPr>
        <p:spPr>
          <a:xfrm>
            <a:off x="7406640" y="3611880"/>
            <a:ext cx="19202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sp>
      <p:sp>
        <p:nvSpPr>
          <p:cNvPr id="54" name="Text 52"/>
          <p:cNvSpPr/>
          <p:nvPr/>
        </p:nvSpPr>
        <p:spPr>
          <a:xfrm>
            <a:off x="7452360" y="4160520"/>
            <a:ext cx="1828800" cy="548640"/>
          </a:xfrm>
          <a:prstGeom prst="rect">
            <a:avLst/>
          </a:prstGeom>
          <a:noFill/>
          <a:ln/>
        </p:spPr>
        <p:txBody>
          <a:bodyPr wrap="square" lIns="0" tIns="0" rIns="0" bIns="0" rtlCol="0" anchor="ctr"/>
          <a:lstStyle/>
          <a:p>
            <a:pPr indent="0" marL="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sp>
      <p:sp>
        <p:nvSpPr>
          <p:cNvPr id="57" name="Shape 55"/>
          <p:cNvSpPr/>
          <p:nvPr/>
        </p:nvSpPr>
        <p:spPr>
          <a:xfrm>
            <a:off x="9601200" y="3611880"/>
            <a:ext cx="2103120" cy="365760"/>
          </a:xfrm>
          <a:prstGeom prst="rect">
            <a:avLst/>
          </a:prstGeom>
          <a:solidFill>
            <a:srgbClr val="0B1F3A"/>
          </a:solidFill>
          <a:ln/>
        </p:spPr>
      </p:sp>
      <p:sp>
        <p:nvSpPr>
          <p:cNvPr id="58" name="Text 56"/>
          <p:cNvSpPr/>
          <p:nvPr/>
        </p:nvSpPr>
        <p:spPr>
          <a:xfrm>
            <a:off x="9692640" y="3611880"/>
            <a:ext cx="19202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sp>
      <p:sp>
        <p:nvSpPr>
          <p:cNvPr id="60" name="Text 58"/>
          <p:cNvSpPr/>
          <p:nvPr/>
        </p:nvSpPr>
        <p:spPr>
          <a:xfrm>
            <a:off x="9738360" y="4160520"/>
            <a:ext cx="1828800" cy="548640"/>
          </a:xfrm>
          <a:prstGeom prst="rect">
            <a:avLst/>
          </a:prstGeom>
          <a:noFill/>
          <a:ln/>
        </p:spPr>
        <p:txBody>
          <a:bodyPr wrap="square" lIns="0" tIns="0" rIns="0" bIns="0" rtlCol="0" anchor="ctr"/>
          <a:lstStyle/>
          <a:p>
            <a:pPr indent="0" marL="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indent="0" marL="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sp>
      <p:sp>
        <p:nvSpPr>
          <p:cNvPr id="63" name="Text 61"/>
          <p:cNvSpPr/>
          <p:nvPr/>
        </p:nvSpPr>
        <p:spPr>
          <a:xfrm>
            <a:off x="640080" y="6400800"/>
            <a:ext cx="10972800" cy="36576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sp>
      <p:sp>
        <p:nvSpPr>
          <p:cNvPr id="7" name="Text 5"/>
          <p:cNvSpPr/>
          <p:nvPr/>
        </p:nvSpPr>
        <p:spPr>
          <a:xfrm>
            <a:off x="502920" y="1325880"/>
            <a:ext cx="118872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sp>
      <p:sp>
        <p:nvSpPr>
          <p:cNvPr id="9" name="Text 7"/>
          <p:cNvSpPr/>
          <p:nvPr/>
        </p:nvSpPr>
        <p:spPr>
          <a:xfrm>
            <a:off x="1828800" y="1325880"/>
            <a:ext cx="40233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sp>
      <p:sp>
        <p:nvSpPr>
          <p:cNvPr id="11" name="Text 9"/>
          <p:cNvSpPr/>
          <p:nvPr/>
        </p:nvSpPr>
        <p:spPr>
          <a:xfrm>
            <a:off x="5943600" y="1325880"/>
            <a:ext cx="35661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sp>
      <p:sp>
        <p:nvSpPr>
          <p:cNvPr id="13" name="Text 11"/>
          <p:cNvSpPr/>
          <p:nvPr/>
        </p:nvSpPr>
        <p:spPr>
          <a:xfrm>
            <a:off x="9601200" y="1325880"/>
            <a:ext cx="210312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sp>
      <p:sp>
        <p:nvSpPr>
          <p:cNvPr id="15" name="Shape 13"/>
          <p:cNvSpPr/>
          <p:nvPr/>
        </p:nvSpPr>
        <p:spPr>
          <a:xfrm>
            <a:off x="548640" y="1856232"/>
            <a:ext cx="502920" cy="502920"/>
          </a:xfrm>
          <a:prstGeom prst="ellipse">
            <a:avLst/>
          </a:prstGeom>
          <a:solidFill>
            <a:srgbClr val="0891B2"/>
          </a:solidFill>
          <a:ln/>
        </p:spPr>
      </p:sp>
      <p:sp>
        <p:nvSpPr>
          <p:cNvPr id="16" name="Text 14"/>
          <p:cNvSpPr/>
          <p:nvPr/>
        </p:nvSpPr>
        <p:spPr>
          <a:xfrm>
            <a:off x="548640" y="18562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sp>
      <p:sp>
        <p:nvSpPr>
          <p:cNvPr id="22" name="Shape 20"/>
          <p:cNvSpPr/>
          <p:nvPr/>
        </p:nvSpPr>
        <p:spPr>
          <a:xfrm>
            <a:off x="548640" y="2816352"/>
            <a:ext cx="502920" cy="502920"/>
          </a:xfrm>
          <a:prstGeom prst="ellipse">
            <a:avLst/>
          </a:prstGeom>
          <a:solidFill>
            <a:srgbClr val="0891B2"/>
          </a:solidFill>
          <a:ln/>
        </p:spPr>
      </p:sp>
      <p:sp>
        <p:nvSpPr>
          <p:cNvPr id="23" name="Text 21"/>
          <p:cNvSpPr/>
          <p:nvPr/>
        </p:nvSpPr>
        <p:spPr>
          <a:xfrm>
            <a:off x="548640" y="28163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sp>
      <p:sp>
        <p:nvSpPr>
          <p:cNvPr id="29" name="Shape 27"/>
          <p:cNvSpPr/>
          <p:nvPr/>
        </p:nvSpPr>
        <p:spPr>
          <a:xfrm>
            <a:off x="548640" y="3776472"/>
            <a:ext cx="502920" cy="502920"/>
          </a:xfrm>
          <a:prstGeom prst="ellipse">
            <a:avLst/>
          </a:prstGeom>
          <a:solidFill>
            <a:srgbClr val="0891B2"/>
          </a:solidFill>
          <a:ln/>
        </p:spPr>
      </p:sp>
      <p:sp>
        <p:nvSpPr>
          <p:cNvPr id="30" name="Text 28"/>
          <p:cNvSpPr/>
          <p:nvPr/>
        </p:nvSpPr>
        <p:spPr>
          <a:xfrm>
            <a:off x="548640"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sp>
      <p:sp>
        <p:nvSpPr>
          <p:cNvPr id="36" name="Shape 34"/>
          <p:cNvSpPr/>
          <p:nvPr/>
        </p:nvSpPr>
        <p:spPr>
          <a:xfrm>
            <a:off x="548640" y="4736592"/>
            <a:ext cx="502920" cy="502920"/>
          </a:xfrm>
          <a:prstGeom prst="ellipse">
            <a:avLst/>
          </a:prstGeom>
          <a:solidFill>
            <a:srgbClr val="0891B2"/>
          </a:solidFill>
          <a:ln/>
        </p:spPr>
      </p:sp>
      <p:sp>
        <p:nvSpPr>
          <p:cNvPr id="37" name="Text 35"/>
          <p:cNvSpPr/>
          <p:nvPr/>
        </p:nvSpPr>
        <p:spPr>
          <a:xfrm>
            <a:off x="548640" y="4736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sp>
      <p:sp>
        <p:nvSpPr>
          <p:cNvPr id="43" name="Shape 41"/>
          <p:cNvSpPr/>
          <p:nvPr/>
        </p:nvSpPr>
        <p:spPr>
          <a:xfrm>
            <a:off x="548640" y="5696712"/>
            <a:ext cx="502920" cy="502920"/>
          </a:xfrm>
          <a:prstGeom prst="ellipse">
            <a:avLst/>
          </a:prstGeom>
          <a:solidFill>
            <a:srgbClr val="0891B2"/>
          </a:solidFill>
          <a:ln/>
        </p:spPr>
      </p:sp>
      <p:sp>
        <p:nvSpPr>
          <p:cNvPr id="44" name="Text 42"/>
          <p:cNvSpPr/>
          <p:nvPr/>
        </p:nvSpPr>
        <p:spPr>
          <a:xfrm>
            <a:off x="548640" y="5696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sp>
      <p:sp>
        <p:nvSpPr>
          <p:cNvPr id="7" name="Text 5"/>
          <p:cNvSpPr/>
          <p:nvPr/>
        </p:nvSpPr>
        <p:spPr>
          <a:xfrm>
            <a:off x="502920" y="1325880"/>
            <a:ext cx="118872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sp>
      <p:sp>
        <p:nvSpPr>
          <p:cNvPr id="9" name="Text 7"/>
          <p:cNvSpPr/>
          <p:nvPr/>
        </p:nvSpPr>
        <p:spPr>
          <a:xfrm>
            <a:off x="1828800" y="1325880"/>
            <a:ext cx="4023360" cy="36576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sp>
      <p:sp>
        <p:nvSpPr>
          <p:cNvPr id="11" name="Text 9"/>
          <p:cNvSpPr/>
          <p:nvPr/>
        </p:nvSpPr>
        <p:spPr>
          <a:xfrm>
            <a:off x="5943600" y="1325880"/>
            <a:ext cx="35661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sp>
      <p:sp>
        <p:nvSpPr>
          <p:cNvPr id="13" name="Text 11"/>
          <p:cNvSpPr/>
          <p:nvPr/>
        </p:nvSpPr>
        <p:spPr>
          <a:xfrm>
            <a:off x="9601200" y="1325880"/>
            <a:ext cx="210312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sp>
      <p:sp>
        <p:nvSpPr>
          <p:cNvPr id="15" name="Shape 13"/>
          <p:cNvSpPr/>
          <p:nvPr/>
        </p:nvSpPr>
        <p:spPr>
          <a:xfrm>
            <a:off x="548640" y="1856232"/>
            <a:ext cx="502920" cy="502920"/>
          </a:xfrm>
          <a:prstGeom prst="ellipse">
            <a:avLst/>
          </a:prstGeom>
          <a:solidFill>
            <a:srgbClr val="0891B2"/>
          </a:solidFill>
          <a:ln/>
        </p:spPr>
      </p:sp>
      <p:sp>
        <p:nvSpPr>
          <p:cNvPr id="16" name="Text 14"/>
          <p:cNvSpPr/>
          <p:nvPr/>
        </p:nvSpPr>
        <p:spPr>
          <a:xfrm>
            <a:off x="548640" y="18562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sp>
      <p:sp>
        <p:nvSpPr>
          <p:cNvPr id="22" name="Shape 20"/>
          <p:cNvSpPr/>
          <p:nvPr/>
        </p:nvSpPr>
        <p:spPr>
          <a:xfrm>
            <a:off x="548640" y="2816352"/>
            <a:ext cx="502920" cy="502920"/>
          </a:xfrm>
          <a:prstGeom prst="ellipse">
            <a:avLst/>
          </a:prstGeom>
          <a:solidFill>
            <a:srgbClr val="0891B2"/>
          </a:solidFill>
          <a:ln/>
        </p:spPr>
      </p:sp>
      <p:sp>
        <p:nvSpPr>
          <p:cNvPr id="23" name="Text 21"/>
          <p:cNvSpPr/>
          <p:nvPr/>
        </p:nvSpPr>
        <p:spPr>
          <a:xfrm>
            <a:off x="548640" y="28163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sp>
      <p:sp>
        <p:nvSpPr>
          <p:cNvPr id="29" name="Shape 27"/>
          <p:cNvSpPr/>
          <p:nvPr/>
        </p:nvSpPr>
        <p:spPr>
          <a:xfrm>
            <a:off x="548640" y="3776472"/>
            <a:ext cx="502920" cy="502920"/>
          </a:xfrm>
          <a:prstGeom prst="ellipse">
            <a:avLst/>
          </a:prstGeom>
          <a:solidFill>
            <a:srgbClr val="0891B2"/>
          </a:solidFill>
          <a:ln/>
        </p:spPr>
      </p:sp>
      <p:sp>
        <p:nvSpPr>
          <p:cNvPr id="30" name="Text 28"/>
          <p:cNvSpPr/>
          <p:nvPr/>
        </p:nvSpPr>
        <p:spPr>
          <a:xfrm>
            <a:off x="548640"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sp>
      <p:sp>
        <p:nvSpPr>
          <p:cNvPr id="36" name="Shape 34"/>
          <p:cNvSpPr/>
          <p:nvPr/>
        </p:nvSpPr>
        <p:spPr>
          <a:xfrm>
            <a:off x="548640" y="4736592"/>
            <a:ext cx="502920" cy="502920"/>
          </a:xfrm>
          <a:prstGeom prst="ellipse">
            <a:avLst/>
          </a:prstGeom>
          <a:solidFill>
            <a:srgbClr val="0891B2"/>
          </a:solidFill>
          <a:ln/>
        </p:spPr>
      </p:sp>
      <p:sp>
        <p:nvSpPr>
          <p:cNvPr id="37" name="Text 35"/>
          <p:cNvSpPr/>
          <p:nvPr/>
        </p:nvSpPr>
        <p:spPr>
          <a:xfrm>
            <a:off x="548640" y="4736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sp>
      <p:sp>
        <p:nvSpPr>
          <p:cNvPr id="43" name="Shape 41"/>
          <p:cNvSpPr/>
          <p:nvPr/>
        </p:nvSpPr>
        <p:spPr>
          <a:xfrm>
            <a:off x="548640" y="5696712"/>
            <a:ext cx="502920" cy="502920"/>
          </a:xfrm>
          <a:prstGeom prst="ellipse">
            <a:avLst/>
          </a:prstGeom>
          <a:solidFill>
            <a:srgbClr val="0891B2"/>
          </a:solidFill>
          <a:ln/>
        </p:spPr>
      </p:sp>
      <p:sp>
        <p:nvSpPr>
          <p:cNvPr id="44" name="Text 42"/>
          <p:cNvSpPr/>
          <p:nvPr/>
        </p:nvSpPr>
        <p:spPr>
          <a:xfrm>
            <a:off x="548640" y="56967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indent="0" marL="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sp>
      <p:sp>
        <p:nvSpPr>
          <p:cNvPr id="7" name="Text 5"/>
          <p:cNvSpPr/>
          <p:nvPr/>
        </p:nvSpPr>
        <p:spPr>
          <a:xfrm>
            <a:off x="640080" y="1417320"/>
            <a:ext cx="10972800" cy="502920"/>
          </a:xfrm>
          <a:prstGeom prst="rect">
            <a:avLst/>
          </a:prstGeom>
          <a:noFill/>
          <a:ln/>
        </p:spPr>
        <p:txBody>
          <a:bodyPr wrap="square" lIns="0" tIns="0" rIns="0" bIns="0" rtlCol="0" anchor="ctr"/>
          <a:lstStyle/>
          <a:p>
            <a:pPr algn="ctr" indent="0" marL="0">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47120" cy="914400"/>
        </p:xfrm>
        <a:graphic>
          <a:graphicData uri="http://schemas.openxmlformats.org/drawingml/2006/table">
            <a:tbl>
              <a:tblPr/>
              <a:tblGrid>
                <a:gridCol w="2743200"/>
                <a:gridCol w="1280160"/>
                <a:gridCol w="2743200"/>
                <a:gridCol w="4480560"/>
              </a:tblGrid>
              <a:tr h="39319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393192">
                <a:tc>
                  <a:txBody>
                    <a:bodyPr/>
                    <a:lstStyle/>
                    <a:p>
                      <a:pPr indent="0" marL="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bl>
          </a:graphicData>
        </a:graphic>
      </p:graphicFrame>
      <p:sp>
        <p:nvSpPr>
          <p:cNvPr id="9" name="Shape 6"/>
          <p:cNvSpPr/>
          <p:nvPr/>
        </p:nvSpPr>
        <p:spPr>
          <a:xfrm>
            <a:off x="457200" y="6080760"/>
            <a:ext cx="11247120" cy="548640"/>
          </a:xfrm>
          <a:prstGeom prst="rect">
            <a:avLst/>
          </a:prstGeom>
          <a:solidFill>
            <a:srgbClr val="0B1F3A"/>
          </a:solidFill>
          <a:ln/>
        </p:spPr>
      </p:sp>
      <p:sp>
        <p:nvSpPr>
          <p:cNvPr id="10" name="Text 7"/>
          <p:cNvSpPr/>
          <p:nvPr/>
        </p:nvSpPr>
        <p:spPr>
          <a:xfrm>
            <a:off x="640080" y="6080760"/>
            <a:ext cx="10972800" cy="5486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sp>
      <p:sp>
        <p:nvSpPr>
          <p:cNvPr id="7" name="Shape 5"/>
          <p:cNvSpPr/>
          <p:nvPr/>
        </p:nvSpPr>
        <p:spPr>
          <a:xfrm>
            <a:off x="457200" y="1417320"/>
            <a:ext cx="5486400" cy="457200"/>
          </a:xfrm>
          <a:prstGeom prst="rect">
            <a:avLst/>
          </a:prstGeom>
          <a:solidFill>
            <a:srgbClr val="0B1F3A"/>
          </a:solidFill>
          <a:ln/>
        </p:spPr>
      </p:sp>
      <p:sp>
        <p:nvSpPr>
          <p:cNvPr id="8" name="Text 6"/>
          <p:cNvSpPr/>
          <p:nvPr/>
        </p:nvSpPr>
        <p:spPr>
          <a:xfrm>
            <a:off x="640080" y="1417320"/>
            <a:ext cx="5303520" cy="457200"/>
          </a:xfrm>
          <a:prstGeom prst="rect">
            <a:avLst/>
          </a:prstGeom>
          <a:noFill/>
          <a:ln/>
        </p:spPr>
        <p:txBody>
          <a:bodyPr wrap="square" lIns="0" tIns="0" rIns="0" bIns="0"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indent="0" marL="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indent="0" marL="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indent="0" marL="0">
              <a:buNone/>
            </a:pPr>
            <a:r>
              <a:rPr lang="en-US" sz="1100" b="1" spc="300" kern="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indent="0" marL="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indent="0" marL="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indent="0" marL="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indent="0" marL="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indent="0" marL="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indent="0" marL="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indent="0" marL="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indent="0" marL="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indent="0" marL="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sp>
      <p:sp>
        <p:nvSpPr>
          <p:cNvPr id="26" name="Text 24"/>
          <p:cNvSpPr/>
          <p:nvPr/>
        </p:nvSpPr>
        <p:spPr>
          <a:xfrm>
            <a:off x="777240" y="5394960"/>
            <a:ext cx="4846320" cy="777240"/>
          </a:xfrm>
          <a:prstGeom prst="rect">
            <a:avLst/>
          </a:prstGeom>
          <a:noFill/>
          <a:ln/>
        </p:spPr>
        <p:txBody>
          <a:bodyPr wrap="square" lIns="0" tIns="0" rIns="0" bIns="0" rtlCol="0" anchor="t"/>
          <a:lstStyle/>
          <a:p>
            <a:pPr indent="0" marL="0">
              <a:buNone/>
            </a:pPr>
            <a:r>
              <a:rPr lang="en-US" sz="950" b="1" dirty="0">
                <a:solidFill>
                  <a:srgbClr val="F26B1F"/>
                </a:solidFill>
                <a:latin typeface="Calibri" pitchFamily="34" charset="0"/>
                <a:ea typeface="Calibri" pitchFamily="34" charset="-122"/>
                <a:cs typeface="Calibri" pitchFamily="34" charset="-120"/>
              </a:rPr>
              <a:t>Drift direction:  </a:t>
            </a:r>
            <a:pPr indent="0" marL="0">
              <a:buNone/>
            </a:pP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indent="0" marL="0">
              <a:buNone/>
            </a:pPr>
            <a:r>
              <a:rPr lang="en-US" sz="950" b="1" dirty="0">
                <a:solidFill>
                  <a:srgbClr val="F26B1F"/>
                </a:solidFill>
                <a:latin typeface="Calibri" pitchFamily="34" charset="0"/>
                <a:ea typeface="Calibri" pitchFamily="34" charset="-122"/>
                <a:cs typeface="Calibri" pitchFamily="34" charset="-120"/>
              </a:rPr>
              <a:t>MITRE:  </a:t>
            </a:r>
            <a:pPr indent="0" marL="0">
              <a:buNone/>
            </a:pP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indent="0" marL="0">
              <a:buNone/>
            </a:pPr>
            <a:r>
              <a:rPr lang="en-US" sz="950" b="1" dirty="0">
                <a:solidFill>
                  <a:srgbClr val="F26B1F"/>
                </a:solidFill>
                <a:latin typeface="Calibri" pitchFamily="34" charset="0"/>
                <a:ea typeface="Calibri" pitchFamily="34" charset="-122"/>
                <a:cs typeface="Calibri" pitchFamily="34" charset="-120"/>
              </a:rPr>
              <a:t>Action:  </a:t>
            </a:r>
            <a:pPr indent="0" marL="0">
              <a:buNone/>
            </a:pP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sp>
      <p:sp>
        <p:nvSpPr>
          <p:cNvPr id="28" name="Shape 26"/>
          <p:cNvSpPr/>
          <p:nvPr/>
        </p:nvSpPr>
        <p:spPr>
          <a:xfrm>
            <a:off x="6217920" y="1417320"/>
            <a:ext cx="5486400" cy="457200"/>
          </a:xfrm>
          <a:prstGeom prst="rect">
            <a:avLst/>
          </a:prstGeom>
          <a:solidFill>
            <a:srgbClr val="0B1F3A"/>
          </a:solidFill>
          <a:ln/>
        </p:spPr>
      </p:sp>
      <p:sp>
        <p:nvSpPr>
          <p:cNvPr id="29" name="Text 27"/>
          <p:cNvSpPr/>
          <p:nvPr/>
        </p:nvSpPr>
        <p:spPr>
          <a:xfrm>
            <a:off x="6400800" y="1417320"/>
            <a:ext cx="5303520" cy="457200"/>
          </a:xfrm>
          <a:prstGeom prst="rect">
            <a:avLst/>
          </a:prstGeom>
          <a:noFill/>
          <a:ln/>
        </p:spPr>
        <p:txBody>
          <a:bodyPr wrap="square" lIns="0" tIns="0" rIns="0" bIns="0"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sp>
      <p:sp>
        <p:nvSpPr>
          <p:cNvPr id="31" name="Shape 29"/>
          <p:cNvSpPr/>
          <p:nvPr/>
        </p:nvSpPr>
        <p:spPr>
          <a:xfrm>
            <a:off x="6400800" y="2011680"/>
            <a:ext cx="868680" cy="777240"/>
          </a:xfrm>
          <a:prstGeom prst="rect">
            <a:avLst/>
          </a:prstGeom>
          <a:solidFill>
            <a:srgbClr val="C0392B"/>
          </a:solidFill>
          <a:ln/>
        </p:spPr>
      </p:sp>
      <p:sp>
        <p:nvSpPr>
          <p:cNvPr id="32" name="Text 30"/>
          <p:cNvSpPr/>
          <p:nvPr/>
        </p:nvSpPr>
        <p:spPr>
          <a:xfrm>
            <a:off x="6400800" y="201168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indent="0" marL="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indent="0" marL="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indent="0" marL="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sp>
      <p:sp>
        <p:nvSpPr>
          <p:cNvPr id="37" name="Shape 35"/>
          <p:cNvSpPr/>
          <p:nvPr/>
        </p:nvSpPr>
        <p:spPr>
          <a:xfrm>
            <a:off x="6400800" y="2862072"/>
            <a:ext cx="868680" cy="777240"/>
          </a:xfrm>
          <a:prstGeom prst="rect">
            <a:avLst/>
          </a:prstGeom>
          <a:solidFill>
            <a:srgbClr val="E67E22"/>
          </a:solidFill>
          <a:ln/>
        </p:spPr>
      </p:sp>
      <p:sp>
        <p:nvSpPr>
          <p:cNvPr id="38" name="Text 36"/>
          <p:cNvSpPr/>
          <p:nvPr/>
        </p:nvSpPr>
        <p:spPr>
          <a:xfrm>
            <a:off x="6400800" y="2862072"/>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indent="0" marL="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indent="0" marL="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indent="0" marL="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sp>
      <p:sp>
        <p:nvSpPr>
          <p:cNvPr id="43" name="Shape 41"/>
          <p:cNvSpPr/>
          <p:nvPr/>
        </p:nvSpPr>
        <p:spPr>
          <a:xfrm>
            <a:off x="6400800" y="3712464"/>
            <a:ext cx="868680" cy="777240"/>
          </a:xfrm>
          <a:prstGeom prst="rect">
            <a:avLst/>
          </a:prstGeom>
          <a:solidFill>
            <a:srgbClr val="F4B400"/>
          </a:solidFill>
          <a:ln/>
        </p:spPr>
      </p:sp>
      <p:sp>
        <p:nvSpPr>
          <p:cNvPr id="44" name="Text 42"/>
          <p:cNvSpPr/>
          <p:nvPr/>
        </p:nvSpPr>
        <p:spPr>
          <a:xfrm>
            <a:off x="6400800" y="3712464"/>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indent="0" marL="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indent="0" marL="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indent="0" marL="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sp>
      <p:sp>
        <p:nvSpPr>
          <p:cNvPr id="49" name="Shape 47"/>
          <p:cNvSpPr/>
          <p:nvPr/>
        </p:nvSpPr>
        <p:spPr>
          <a:xfrm>
            <a:off x="6400800" y="4562856"/>
            <a:ext cx="868680" cy="777240"/>
          </a:xfrm>
          <a:prstGeom prst="rect">
            <a:avLst/>
          </a:prstGeom>
          <a:solidFill>
            <a:srgbClr val="5DADE2"/>
          </a:solidFill>
          <a:ln/>
        </p:spPr>
      </p:sp>
      <p:sp>
        <p:nvSpPr>
          <p:cNvPr id="50" name="Text 48"/>
          <p:cNvSpPr/>
          <p:nvPr/>
        </p:nvSpPr>
        <p:spPr>
          <a:xfrm>
            <a:off x="6400800" y="4562856"/>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indent="0" marL="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indent="0" marL="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indent="0" marL="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sp>
      <p:sp>
        <p:nvSpPr>
          <p:cNvPr id="55" name="Shape 53"/>
          <p:cNvSpPr/>
          <p:nvPr/>
        </p:nvSpPr>
        <p:spPr>
          <a:xfrm>
            <a:off x="6400800" y="5413248"/>
            <a:ext cx="868680" cy="777240"/>
          </a:xfrm>
          <a:prstGeom prst="rect">
            <a:avLst/>
          </a:prstGeom>
          <a:solidFill>
            <a:srgbClr val="5A6878"/>
          </a:solidFill>
          <a:ln/>
        </p:spPr>
      </p:sp>
      <p:sp>
        <p:nvSpPr>
          <p:cNvPr id="56" name="Text 54"/>
          <p:cNvSpPr/>
          <p:nvPr/>
        </p:nvSpPr>
        <p:spPr>
          <a:xfrm>
            <a:off x="6400800" y="5413248"/>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indent="0" marL="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indent="0" marL="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indent="0" marL="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sp>
      <p:sp>
        <p:nvSpPr>
          <p:cNvPr id="3" name="Text 1"/>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sp>
      <p:sp>
        <p:nvSpPr>
          <p:cNvPr id="8" name="Shape 6"/>
          <p:cNvSpPr/>
          <p:nvPr/>
        </p:nvSpPr>
        <p:spPr>
          <a:xfrm>
            <a:off x="548640" y="1874520"/>
            <a:ext cx="411480" cy="411480"/>
          </a:xfrm>
          <a:prstGeom prst="ellipse">
            <a:avLst/>
          </a:prstGeom>
          <a:solidFill>
            <a:srgbClr val="0891B2"/>
          </a:solidFill>
          <a:ln/>
        </p:spPr>
      </p:sp>
      <p:sp>
        <p:nvSpPr>
          <p:cNvPr id="9" name="Text 7"/>
          <p:cNvSpPr/>
          <p:nvPr/>
        </p:nvSpPr>
        <p:spPr>
          <a:xfrm>
            <a:off x="548640"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sp>
      <p:sp>
        <p:nvSpPr>
          <p:cNvPr id="13" name="Shape 11"/>
          <p:cNvSpPr/>
          <p:nvPr/>
        </p:nvSpPr>
        <p:spPr>
          <a:xfrm>
            <a:off x="2441448" y="1874520"/>
            <a:ext cx="411480" cy="411480"/>
          </a:xfrm>
          <a:prstGeom prst="ellipse">
            <a:avLst/>
          </a:prstGeom>
          <a:solidFill>
            <a:srgbClr val="0891B2"/>
          </a:solidFill>
          <a:ln/>
        </p:spPr>
      </p:sp>
      <p:sp>
        <p:nvSpPr>
          <p:cNvPr id="14" name="Text 12"/>
          <p:cNvSpPr/>
          <p:nvPr/>
        </p:nvSpPr>
        <p:spPr>
          <a:xfrm>
            <a:off x="2441448"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sp>
      <p:sp>
        <p:nvSpPr>
          <p:cNvPr id="18" name="Shape 16"/>
          <p:cNvSpPr/>
          <p:nvPr/>
        </p:nvSpPr>
        <p:spPr>
          <a:xfrm>
            <a:off x="4334256" y="1874520"/>
            <a:ext cx="411480" cy="411480"/>
          </a:xfrm>
          <a:prstGeom prst="ellipse">
            <a:avLst/>
          </a:prstGeom>
          <a:solidFill>
            <a:srgbClr val="0891B2"/>
          </a:solidFill>
          <a:ln/>
        </p:spPr>
      </p:sp>
      <p:sp>
        <p:nvSpPr>
          <p:cNvPr id="19" name="Text 17"/>
          <p:cNvSpPr/>
          <p:nvPr/>
        </p:nvSpPr>
        <p:spPr>
          <a:xfrm>
            <a:off x="4334256"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sp>
      <p:sp>
        <p:nvSpPr>
          <p:cNvPr id="23" name="Shape 21"/>
          <p:cNvSpPr/>
          <p:nvPr/>
        </p:nvSpPr>
        <p:spPr>
          <a:xfrm>
            <a:off x="6227064" y="1874520"/>
            <a:ext cx="411480" cy="411480"/>
          </a:xfrm>
          <a:prstGeom prst="ellipse">
            <a:avLst/>
          </a:prstGeom>
          <a:solidFill>
            <a:srgbClr val="0891B2"/>
          </a:solidFill>
          <a:ln/>
        </p:spPr>
      </p:sp>
      <p:sp>
        <p:nvSpPr>
          <p:cNvPr id="24" name="Text 22"/>
          <p:cNvSpPr/>
          <p:nvPr/>
        </p:nvSpPr>
        <p:spPr>
          <a:xfrm>
            <a:off x="6227064"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sp>
      <p:sp>
        <p:nvSpPr>
          <p:cNvPr id="28" name="Shape 26"/>
          <p:cNvSpPr/>
          <p:nvPr/>
        </p:nvSpPr>
        <p:spPr>
          <a:xfrm>
            <a:off x="8119872" y="1874520"/>
            <a:ext cx="411480" cy="411480"/>
          </a:xfrm>
          <a:prstGeom prst="ellipse">
            <a:avLst/>
          </a:prstGeom>
          <a:solidFill>
            <a:srgbClr val="0891B2"/>
          </a:solidFill>
          <a:ln/>
        </p:spPr>
      </p:sp>
      <p:sp>
        <p:nvSpPr>
          <p:cNvPr id="29" name="Text 27"/>
          <p:cNvSpPr/>
          <p:nvPr/>
        </p:nvSpPr>
        <p:spPr>
          <a:xfrm>
            <a:off x="8119872"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sp>
      <p:sp>
        <p:nvSpPr>
          <p:cNvPr id="33" name="Shape 31"/>
          <p:cNvSpPr/>
          <p:nvPr/>
        </p:nvSpPr>
        <p:spPr>
          <a:xfrm>
            <a:off x="10012680" y="1874520"/>
            <a:ext cx="411480" cy="411480"/>
          </a:xfrm>
          <a:prstGeom prst="ellipse">
            <a:avLst/>
          </a:prstGeom>
          <a:solidFill>
            <a:srgbClr val="0891B2"/>
          </a:solidFill>
          <a:ln/>
        </p:spPr>
      </p:sp>
      <p:sp>
        <p:nvSpPr>
          <p:cNvPr id="34" name="Text 32"/>
          <p:cNvSpPr/>
          <p:nvPr/>
        </p:nvSpPr>
        <p:spPr>
          <a:xfrm>
            <a:off x="10012680" y="1874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indent="0" marL="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sp>
      <p:sp>
        <p:nvSpPr>
          <p:cNvPr id="39" name="Shape 37"/>
          <p:cNvSpPr/>
          <p:nvPr/>
        </p:nvSpPr>
        <p:spPr>
          <a:xfrm>
            <a:off x="457200" y="3520440"/>
            <a:ext cx="2811780" cy="502920"/>
          </a:xfrm>
          <a:prstGeom prst="rect">
            <a:avLst/>
          </a:prstGeom>
          <a:solidFill>
            <a:srgbClr val="2E7D32"/>
          </a:solidFill>
          <a:ln/>
        </p:spPr>
      </p:sp>
      <p:sp>
        <p:nvSpPr>
          <p:cNvPr id="40" name="Text 38"/>
          <p:cNvSpPr/>
          <p:nvPr/>
        </p:nvSpPr>
        <p:spPr>
          <a:xfrm>
            <a:off x="457200" y="3520440"/>
            <a:ext cx="28117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sp>
      <p:sp>
        <p:nvSpPr>
          <p:cNvPr id="46" name="Shape 44"/>
          <p:cNvSpPr/>
          <p:nvPr/>
        </p:nvSpPr>
        <p:spPr>
          <a:xfrm>
            <a:off x="3383280" y="3520440"/>
            <a:ext cx="2811780" cy="502920"/>
          </a:xfrm>
          <a:prstGeom prst="rect">
            <a:avLst/>
          </a:prstGeom>
          <a:solidFill>
            <a:srgbClr val="F4B400"/>
          </a:solidFill>
          <a:ln/>
        </p:spPr>
      </p:sp>
      <p:sp>
        <p:nvSpPr>
          <p:cNvPr id="47" name="Text 45"/>
          <p:cNvSpPr/>
          <p:nvPr/>
        </p:nvSpPr>
        <p:spPr>
          <a:xfrm>
            <a:off x="3383280" y="3520440"/>
            <a:ext cx="28117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sp>
      <p:sp>
        <p:nvSpPr>
          <p:cNvPr id="53" name="Shape 51"/>
          <p:cNvSpPr/>
          <p:nvPr/>
        </p:nvSpPr>
        <p:spPr>
          <a:xfrm>
            <a:off x="6309360" y="3520440"/>
            <a:ext cx="2811780" cy="502920"/>
          </a:xfrm>
          <a:prstGeom prst="rect">
            <a:avLst/>
          </a:prstGeom>
          <a:solidFill>
            <a:srgbClr val="E67E22"/>
          </a:solidFill>
          <a:ln/>
        </p:spPr>
      </p:sp>
      <p:sp>
        <p:nvSpPr>
          <p:cNvPr id="54" name="Text 52"/>
          <p:cNvSpPr/>
          <p:nvPr/>
        </p:nvSpPr>
        <p:spPr>
          <a:xfrm>
            <a:off x="6309360" y="3520440"/>
            <a:ext cx="28117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sp>
      <p:sp>
        <p:nvSpPr>
          <p:cNvPr id="60" name="Shape 58"/>
          <p:cNvSpPr/>
          <p:nvPr/>
        </p:nvSpPr>
        <p:spPr>
          <a:xfrm>
            <a:off x="9235440" y="3520440"/>
            <a:ext cx="2811780" cy="502920"/>
          </a:xfrm>
          <a:prstGeom prst="rect">
            <a:avLst/>
          </a:prstGeom>
          <a:solidFill>
            <a:srgbClr val="C0392B"/>
          </a:solidFill>
          <a:ln/>
        </p:spPr>
      </p:sp>
      <p:sp>
        <p:nvSpPr>
          <p:cNvPr id="61" name="Text 59"/>
          <p:cNvSpPr/>
          <p:nvPr/>
        </p:nvSpPr>
        <p:spPr>
          <a:xfrm>
            <a:off x="9235440" y="3520440"/>
            <a:ext cx="28117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indent="0" marL="0">
              <a:buNone/>
            </a:pPr>
            <a:r>
              <a:rPr lang="en-US" sz="950" b="1" spc="300" kern="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indent="0" marL="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sp>
      <p:sp>
        <p:nvSpPr>
          <p:cNvPr id="67" name="Text 65"/>
          <p:cNvSpPr/>
          <p:nvPr/>
        </p:nvSpPr>
        <p:spPr>
          <a:xfrm>
            <a:off x="640080" y="6263640"/>
            <a:ext cx="10972800" cy="4572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End-to-End Architecture: Rigor AI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Rigor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sp>
      <p:sp>
        <p:nvSpPr>
          <p:cNvPr id="8" name="Shape 6"/>
          <p:cNvSpPr/>
          <p:nvPr/>
        </p:nvSpPr>
        <p:spPr>
          <a:xfrm>
            <a:off x="457200" y="1463040"/>
            <a:ext cx="2011680" cy="457200"/>
          </a:xfrm>
          <a:prstGeom prst="rect">
            <a:avLst/>
          </a:prstGeom>
          <a:solidFill>
            <a:srgbClr val="2D3748"/>
          </a:solidFill>
          <a:ln/>
        </p:spPr>
      </p:sp>
      <p:sp>
        <p:nvSpPr>
          <p:cNvPr id="9" name="Text 7"/>
          <p:cNvSpPr/>
          <p:nvPr/>
        </p:nvSpPr>
        <p:spPr>
          <a:xfrm>
            <a:off x="457200" y="1463040"/>
            <a:ext cx="2011680" cy="45720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indent="0" marL="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indent="0" marL="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sp>
      <p:sp>
        <p:nvSpPr>
          <p:cNvPr id="20" name="Shape 18"/>
          <p:cNvSpPr/>
          <p:nvPr/>
        </p:nvSpPr>
        <p:spPr>
          <a:xfrm>
            <a:off x="2926080" y="1463040"/>
            <a:ext cx="4023360" cy="457200"/>
          </a:xfrm>
          <a:prstGeom prst="rect">
            <a:avLst/>
          </a:prstGeom>
          <a:solidFill>
            <a:srgbClr val="F26B1F"/>
          </a:solidFill>
          <a:ln/>
        </p:spPr>
      </p:sp>
      <p:sp>
        <p:nvSpPr>
          <p:cNvPr id="21" name="Text 19"/>
          <p:cNvSpPr/>
          <p:nvPr/>
        </p:nvSpPr>
        <p:spPr>
          <a:xfrm>
            <a:off x="2926080" y="1463040"/>
            <a:ext cx="402336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LAYER 1 — RIGOR AI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sp>
      <p:sp>
        <p:nvSpPr>
          <p:cNvPr id="29" name="Text 27"/>
          <p:cNvSpPr/>
          <p:nvPr/>
        </p:nvSpPr>
        <p:spPr>
          <a:xfrm>
            <a:off x="3200400" y="4160520"/>
            <a:ext cx="3474720" cy="274320"/>
          </a:xfrm>
          <a:prstGeom prst="rect">
            <a:avLst/>
          </a:prstGeom>
          <a:noFill/>
          <a:ln/>
        </p:spPr>
        <p:txBody>
          <a:bodyPr wrap="square" lIns="0" tIns="0" rIns="0" bIns="0" rtlCol="0" anchor="ctr"/>
          <a:lstStyle/>
          <a:p>
            <a:pPr indent="0" marL="0">
              <a:buNone/>
            </a:pPr>
            <a:r>
              <a:rPr lang="en-US" sz="1000" b="1" spc="300" kern="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algn="ctr" indent="0" marL="0">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algn="ctr" indent="0" marL="0">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sp>
      <p:sp>
        <p:nvSpPr>
          <p:cNvPr id="35" name="Shape 33"/>
          <p:cNvSpPr/>
          <p:nvPr/>
        </p:nvSpPr>
        <p:spPr>
          <a:xfrm>
            <a:off x="7406640" y="1463040"/>
            <a:ext cx="4297680" cy="457200"/>
          </a:xfrm>
          <a:prstGeom prst="rect">
            <a:avLst/>
          </a:prstGeom>
          <a:solidFill>
            <a:srgbClr val="0891B2"/>
          </a:solidFill>
          <a:ln/>
        </p:spPr>
      </p:sp>
      <p:sp>
        <p:nvSpPr>
          <p:cNvPr id="36" name="Text 34"/>
          <p:cNvSpPr/>
          <p:nvPr/>
        </p:nvSpPr>
        <p:spPr>
          <a:xfrm>
            <a:off x="7406640" y="1463040"/>
            <a:ext cx="4297680" cy="457200"/>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indent="0" marL="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sp>
      <p:sp>
        <p:nvSpPr>
          <p:cNvPr id="44" name="Text 42"/>
          <p:cNvSpPr/>
          <p:nvPr/>
        </p:nvSpPr>
        <p:spPr>
          <a:xfrm>
            <a:off x="7680960" y="4160520"/>
            <a:ext cx="37490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algn="ctr" indent="0" marL="0">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Rigor AI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sp>
      <p:sp>
        <p:nvSpPr>
          <p:cNvPr id="8" name="Shape 6"/>
          <p:cNvSpPr/>
          <p:nvPr/>
        </p:nvSpPr>
        <p:spPr>
          <a:xfrm>
            <a:off x="640080" y="1691640"/>
            <a:ext cx="594360" cy="594360"/>
          </a:xfrm>
          <a:prstGeom prst="ellipse">
            <a:avLst/>
          </a:prstGeom>
          <a:solidFill>
            <a:srgbClr val="0B1F3A"/>
          </a:solidFill>
          <a:ln/>
        </p:spPr>
      </p:sp>
      <p:sp>
        <p:nvSpPr>
          <p:cNvPr id="9" name="Text 7"/>
          <p:cNvSpPr/>
          <p:nvPr/>
        </p:nvSpPr>
        <p:spPr>
          <a:xfrm>
            <a:off x="640080" y="16916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Rigor's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Rigor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sp>
      <p:sp>
        <p:nvSpPr>
          <p:cNvPr id="13" name="Text 11"/>
          <p:cNvSpPr/>
          <p:nvPr/>
        </p:nvSpPr>
        <p:spPr>
          <a:xfrm>
            <a:off x="1508760" y="2258568"/>
            <a:ext cx="9738360" cy="246888"/>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sp>
      <p:sp>
        <p:nvSpPr>
          <p:cNvPr id="15" name="Shape 13"/>
          <p:cNvSpPr/>
          <p:nvPr/>
        </p:nvSpPr>
        <p:spPr>
          <a:xfrm>
            <a:off x="640080" y="2971800"/>
            <a:ext cx="594360" cy="594360"/>
          </a:xfrm>
          <a:prstGeom prst="ellipse">
            <a:avLst/>
          </a:prstGeom>
          <a:solidFill>
            <a:srgbClr val="0B1F3A"/>
          </a:solidFill>
          <a:ln/>
        </p:spPr>
      </p:sp>
      <p:sp>
        <p:nvSpPr>
          <p:cNvPr id="16" name="Text 14"/>
          <p:cNvSpPr/>
          <p:nvPr/>
        </p:nvSpPr>
        <p:spPr>
          <a:xfrm>
            <a:off x="640080" y="29718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Rigor's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When Rigor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sp>
      <p:sp>
        <p:nvSpPr>
          <p:cNvPr id="20" name="Text 18"/>
          <p:cNvSpPr/>
          <p:nvPr/>
        </p:nvSpPr>
        <p:spPr>
          <a:xfrm>
            <a:off x="1508760" y="3538728"/>
            <a:ext cx="9738360" cy="246888"/>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sp>
      <p:sp>
        <p:nvSpPr>
          <p:cNvPr id="22" name="Shape 20"/>
          <p:cNvSpPr/>
          <p:nvPr/>
        </p:nvSpPr>
        <p:spPr>
          <a:xfrm>
            <a:off x="640080" y="4251960"/>
            <a:ext cx="594360" cy="594360"/>
          </a:xfrm>
          <a:prstGeom prst="ellipse">
            <a:avLst/>
          </a:prstGeom>
          <a:solidFill>
            <a:srgbClr val="0B1F3A"/>
          </a:solidFill>
          <a:ln/>
        </p:spPr>
      </p:sp>
      <p:sp>
        <p:nvSpPr>
          <p:cNvPr id="23" name="Text 21"/>
          <p:cNvSpPr/>
          <p:nvPr/>
        </p:nvSpPr>
        <p:spPr>
          <a:xfrm>
            <a:off x="640080" y="42519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ACECARD's Confirmed TPs → Rigor's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Rigor's Attack Intel. New IOCs / behavioral patterns become inputs to Rigor's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sp>
      <p:sp>
        <p:nvSpPr>
          <p:cNvPr id="27" name="Text 25"/>
          <p:cNvSpPr/>
          <p:nvPr/>
        </p:nvSpPr>
        <p:spPr>
          <a:xfrm>
            <a:off x="1508760" y="4818888"/>
            <a:ext cx="9738360" cy="246888"/>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sp>
      <p:sp>
        <p:nvSpPr>
          <p:cNvPr id="29" name="Shape 27"/>
          <p:cNvSpPr/>
          <p:nvPr/>
        </p:nvSpPr>
        <p:spPr>
          <a:xfrm>
            <a:off x="640080" y="5532120"/>
            <a:ext cx="594360" cy="594360"/>
          </a:xfrm>
          <a:prstGeom prst="ellipse">
            <a:avLst/>
          </a:prstGeom>
          <a:solidFill>
            <a:srgbClr val="0B1F3A"/>
          </a:solidFill>
          <a:ln/>
        </p:spPr>
      </p:sp>
      <p:sp>
        <p:nvSpPr>
          <p:cNvPr id="30" name="Text 28"/>
          <p:cNvSpPr/>
          <p:nvPr/>
        </p:nvSpPr>
        <p:spPr>
          <a:xfrm>
            <a:off x="640080" y="553212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Rigor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sp>
      <p:sp>
        <p:nvSpPr>
          <p:cNvPr id="34" name="Text 32"/>
          <p:cNvSpPr/>
          <p:nvPr/>
        </p:nvSpPr>
        <p:spPr>
          <a:xfrm>
            <a:off x="1508760" y="6099048"/>
            <a:ext cx="9738360" cy="246888"/>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These four flows are why Rigor + ACECARD is a system, not a bundle.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sp>
      <p:sp>
        <p:nvSpPr>
          <p:cNvPr id="8" name="Text 6"/>
          <p:cNvSpPr/>
          <p:nvPr/>
        </p:nvSpPr>
        <p:spPr>
          <a:xfrm>
            <a:off x="548640" y="1417320"/>
            <a:ext cx="2194560" cy="41148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sp>
      <p:sp>
        <p:nvSpPr>
          <p:cNvPr id="10" name="Text 8"/>
          <p:cNvSpPr/>
          <p:nvPr/>
        </p:nvSpPr>
        <p:spPr>
          <a:xfrm>
            <a:off x="2880360" y="1417320"/>
            <a:ext cx="2651760" cy="41148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sp>
      <p:sp>
        <p:nvSpPr>
          <p:cNvPr id="12" name="Text 10"/>
          <p:cNvSpPr/>
          <p:nvPr/>
        </p:nvSpPr>
        <p:spPr>
          <a:xfrm>
            <a:off x="5669280" y="1417320"/>
            <a:ext cx="3108960" cy="41148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sp>
      <p:sp>
        <p:nvSpPr>
          <p:cNvPr id="14" name="Text 12"/>
          <p:cNvSpPr/>
          <p:nvPr/>
        </p:nvSpPr>
        <p:spPr>
          <a:xfrm>
            <a:off x="8915400" y="1417320"/>
            <a:ext cx="2788920" cy="41148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sp>
      <p:sp>
        <p:nvSpPr>
          <p:cNvPr id="16" name="Text 14"/>
          <p:cNvSpPr/>
          <p:nvPr/>
        </p:nvSpPr>
        <p:spPr>
          <a:xfrm>
            <a:off x="548640" y="1920240"/>
            <a:ext cx="2194560" cy="36576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indent="0" marL="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sp>
      <p:sp>
        <p:nvSpPr>
          <p:cNvPr id="20" name="Text 18"/>
          <p:cNvSpPr/>
          <p:nvPr/>
        </p:nvSpPr>
        <p:spPr>
          <a:xfrm>
            <a:off x="5715000" y="1965960"/>
            <a:ext cx="301752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sp>
      <p:sp>
        <p:nvSpPr>
          <p:cNvPr id="22" name="Text 20"/>
          <p:cNvSpPr/>
          <p:nvPr/>
        </p:nvSpPr>
        <p:spPr>
          <a:xfrm>
            <a:off x="8961120" y="1965960"/>
            <a:ext cx="269748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sp>
      <p:sp>
        <p:nvSpPr>
          <p:cNvPr id="24" name="Text 22"/>
          <p:cNvSpPr/>
          <p:nvPr/>
        </p:nvSpPr>
        <p:spPr>
          <a:xfrm>
            <a:off x="548640" y="2834640"/>
            <a:ext cx="2194560" cy="36576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indent="0" marL="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sp>
      <p:sp>
        <p:nvSpPr>
          <p:cNvPr id="28" name="Text 26"/>
          <p:cNvSpPr/>
          <p:nvPr/>
        </p:nvSpPr>
        <p:spPr>
          <a:xfrm>
            <a:off x="5715000" y="2880360"/>
            <a:ext cx="301752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sp>
      <p:sp>
        <p:nvSpPr>
          <p:cNvPr id="30" name="Text 28"/>
          <p:cNvSpPr/>
          <p:nvPr/>
        </p:nvSpPr>
        <p:spPr>
          <a:xfrm>
            <a:off x="8961120" y="2880360"/>
            <a:ext cx="269748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sp>
      <p:sp>
        <p:nvSpPr>
          <p:cNvPr id="32" name="Text 30"/>
          <p:cNvSpPr/>
          <p:nvPr/>
        </p:nvSpPr>
        <p:spPr>
          <a:xfrm>
            <a:off x="548640" y="3749040"/>
            <a:ext cx="2194560" cy="36576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indent="0" marL="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sp>
      <p:sp>
        <p:nvSpPr>
          <p:cNvPr id="36" name="Text 34"/>
          <p:cNvSpPr/>
          <p:nvPr/>
        </p:nvSpPr>
        <p:spPr>
          <a:xfrm>
            <a:off x="5715000" y="3794760"/>
            <a:ext cx="301752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sp>
      <p:sp>
        <p:nvSpPr>
          <p:cNvPr id="38" name="Text 36"/>
          <p:cNvSpPr/>
          <p:nvPr/>
        </p:nvSpPr>
        <p:spPr>
          <a:xfrm>
            <a:off x="8961120" y="3794760"/>
            <a:ext cx="269748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sp>
      <p:sp>
        <p:nvSpPr>
          <p:cNvPr id="40" name="Text 38"/>
          <p:cNvSpPr/>
          <p:nvPr/>
        </p:nvSpPr>
        <p:spPr>
          <a:xfrm>
            <a:off x="548640" y="4663440"/>
            <a:ext cx="2194560" cy="36576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indent="0" marL="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sp>
      <p:sp>
        <p:nvSpPr>
          <p:cNvPr id="44" name="Text 42"/>
          <p:cNvSpPr/>
          <p:nvPr/>
        </p:nvSpPr>
        <p:spPr>
          <a:xfrm>
            <a:off x="5715000" y="4709160"/>
            <a:ext cx="301752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sp>
      <p:sp>
        <p:nvSpPr>
          <p:cNvPr id="46" name="Text 44"/>
          <p:cNvSpPr/>
          <p:nvPr/>
        </p:nvSpPr>
        <p:spPr>
          <a:xfrm>
            <a:off x="8961120" y="4709160"/>
            <a:ext cx="269748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sp>
      <p:sp>
        <p:nvSpPr>
          <p:cNvPr id="48" name="Text 46"/>
          <p:cNvSpPr/>
          <p:nvPr/>
        </p:nvSpPr>
        <p:spPr>
          <a:xfrm>
            <a:off x="548640" y="5577840"/>
            <a:ext cx="2194560" cy="365760"/>
          </a:xfrm>
          <a:prstGeom prst="rect">
            <a:avLst/>
          </a:prstGeom>
          <a:noFill/>
          <a:ln/>
        </p:spPr>
        <p:txBody>
          <a:bodyPr wrap="square" lIns="0" tIns="0" rIns="0" bIns="0" rtlCol="0" anchor="t"/>
          <a:lstStyle/>
          <a:p>
            <a:pPr indent="0" marL="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indent="0" marL="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sp>
      <p:sp>
        <p:nvSpPr>
          <p:cNvPr id="52" name="Text 50"/>
          <p:cNvSpPr/>
          <p:nvPr/>
        </p:nvSpPr>
        <p:spPr>
          <a:xfrm>
            <a:off x="5715000" y="5623560"/>
            <a:ext cx="301752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sp>
      <p:sp>
        <p:nvSpPr>
          <p:cNvPr id="54" name="Text 52"/>
          <p:cNvSpPr/>
          <p:nvPr/>
        </p:nvSpPr>
        <p:spPr>
          <a:xfrm>
            <a:off x="8961120" y="5623560"/>
            <a:ext cx="2697480" cy="731520"/>
          </a:xfrm>
          <a:prstGeom prst="rect">
            <a:avLst/>
          </a:prstGeom>
          <a:noFill/>
          <a:ln/>
        </p:spPr>
        <p:txBody>
          <a:bodyPr wrap="square" lIns="0" tIns="0" rIns="0" bIns="0" rtlCol="0" anchor="ctr"/>
          <a:lstStyle/>
          <a:p>
            <a:pPr indent="0" marL="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sp>
      <p:sp>
        <p:nvSpPr>
          <p:cNvPr id="56" name="Text 54"/>
          <p:cNvSpPr/>
          <p:nvPr/>
        </p:nvSpPr>
        <p:spPr>
          <a:xfrm>
            <a:off x="640080" y="6446520"/>
            <a:ext cx="10972800" cy="29260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sp>
      <p:sp>
        <p:nvSpPr>
          <p:cNvPr id="8" name="Text 6"/>
          <p:cNvSpPr/>
          <p:nvPr/>
        </p:nvSpPr>
        <p:spPr>
          <a:xfrm>
            <a:off x="548640" y="1325880"/>
            <a:ext cx="201168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sp>
      <p:sp>
        <p:nvSpPr>
          <p:cNvPr id="10" name="Text 8"/>
          <p:cNvSpPr/>
          <p:nvPr/>
        </p:nvSpPr>
        <p:spPr>
          <a:xfrm>
            <a:off x="2651760" y="1325880"/>
            <a:ext cx="310896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sp>
      <p:sp>
        <p:nvSpPr>
          <p:cNvPr id="12" name="Text 10"/>
          <p:cNvSpPr/>
          <p:nvPr/>
        </p:nvSpPr>
        <p:spPr>
          <a:xfrm>
            <a:off x="5852160" y="1325880"/>
            <a:ext cx="301752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sp>
      <p:sp>
        <p:nvSpPr>
          <p:cNvPr id="14" name="Text 12"/>
          <p:cNvSpPr/>
          <p:nvPr/>
        </p:nvSpPr>
        <p:spPr>
          <a:xfrm>
            <a:off x="8961120" y="1325880"/>
            <a:ext cx="274320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sp>
      <p:sp>
        <p:nvSpPr>
          <p:cNvPr id="16" name="Text 14"/>
          <p:cNvSpPr/>
          <p:nvPr/>
        </p:nvSpPr>
        <p:spPr>
          <a:xfrm>
            <a:off x="548640" y="1783080"/>
            <a:ext cx="2011680" cy="7772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Phase 1 — Edge CVE Exploit
</a:t>
            </a:r>
            <a:pPr indent="0" marL="0">
              <a:buNone/>
            </a:pP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sp>
      <p:sp>
        <p:nvSpPr>
          <p:cNvPr id="18" name="Shape 16"/>
          <p:cNvSpPr/>
          <p:nvPr/>
        </p:nvSpPr>
        <p:spPr>
          <a:xfrm>
            <a:off x="8778240" y="1755648"/>
            <a:ext cx="54864" cy="832104"/>
          </a:xfrm>
          <a:prstGeom prst="rect">
            <a:avLst/>
          </a:prstGeom>
          <a:solidFill>
            <a:srgbClr val="0891B2"/>
          </a:solidFill>
          <a:ln/>
        </p:spPr>
      </p:sp>
      <p:sp>
        <p:nvSpPr>
          <p:cNvPr id="19" name="Text 17"/>
          <p:cNvSpPr/>
          <p:nvPr/>
        </p:nvSpPr>
        <p:spPr>
          <a:xfrm>
            <a:off x="2651760" y="1783080"/>
            <a:ext cx="301752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T1190: Rigor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sp>
      <p:sp>
        <p:nvSpPr>
          <p:cNvPr id="23" name="Text 21"/>
          <p:cNvSpPr/>
          <p:nvPr/>
        </p:nvSpPr>
        <p:spPr>
          <a:xfrm>
            <a:off x="548640" y="2743200"/>
            <a:ext cx="2011680" cy="7772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Phase 2 — Account Creation
</a:t>
            </a:r>
            <a:pPr indent="0" marL="0">
              <a:buNone/>
            </a:pP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sp>
      <p:sp>
        <p:nvSpPr>
          <p:cNvPr id="25" name="Shape 23"/>
          <p:cNvSpPr/>
          <p:nvPr/>
        </p:nvSpPr>
        <p:spPr>
          <a:xfrm>
            <a:off x="8778240" y="2715768"/>
            <a:ext cx="54864" cy="832104"/>
          </a:xfrm>
          <a:prstGeom prst="rect">
            <a:avLst/>
          </a:prstGeom>
          <a:solidFill>
            <a:srgbClr val="0891B2"/>
          </a:solidFill>
          <a:ln/>
        </p:spPr>
      </p:sp>
      <p:sp>
        <p:nvSpPr>
          <p:cNvPr id="26" name="Text 24"/>
          <p:cNvSpPr/>
          <p:nvPr/>
        </p:nvSpPr>
        <p:spPr>
          <a:xfrm>
            <a:off x="2651760" y="2743200"/>
            <a:ext cx="301752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sp>
      <p:sp>
        <p:nvSpPr>
          <p:cNvPr id="30" name="Text 28"/>
          <p:cNvSpPr/>
          <p:nvPr/>
        </p:nvSpPr>
        <p:spPr>
          <a:xfrm>
            <a:off x="548640" y="3703320"/>
            <a:ext cx="2011680" cy="7772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Phase 3 — TACACS+ Capture
</a:t>
            </a:r>
            <a:pPr indent="0" marL="0">
              <a:buNone/>
            </a:pP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sp>
      <p:sp>
        <p:nvSpPr>
          <p:cNvPr id="32" name="Shape 30"/>
          <p:cNvSpPr/>
          <p:nvPr/>
        </p:nvSpPr>
        <p:spPr>
          <a:xfrm>
            <a:off x="8778240" y="3675888"/>
            <a:ext cx="54864" cy="832104"/>
          </a:xfrm>
          <a:prstGeom prst="rect">
            <a:avLst/>
          </a:prstGeom>
          <a:solidFill>
            <a:srgbClr val="0891B2"/>
          </a:solidFill>
          <a:ln/>
        </p:spPr>
      </p:sp>
      <p:sp>
        <p:nvSpPr>
          <p:cNvPr id="33" name="Text 31"/>
          <p:cNvSpPr/>
          <p:nvPr/>
        </p:nvSpPr>
        <p:spPr>
          <a:xfrm>
            <a:off x="2651760" y="3703320"/>
            <a:ext cx="301752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sp>
      <p:sp>
        <p:nvSpPr>
          <p:cNvPr id="37" name="Text 35"/>
          <p:cNvSpPr/>
          <p:nvPr/>
        </p:nvSpPr>
        <p:spPr>
          <a:xfrm>
            <a:off x="548640" y="4663440"/>
            <a:ext cx="2011680" cy="7772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Phase 4 — JumbledPath Pivot
</a:t>
            </a:r>
            <a:pPr indent="0" marL="0">
              <a:buNone/>
            </a:pP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sp>
      <p:sp>
        <p:nvSpPr>
          <p:cNvPr id="39" name="Shape 37"/>
          <p:cNvSpPr/>
          <p:nvPr/>
        </p:nvSpPr>
        <p:spPr>
          <a:xfrm>
            <a:off x="8778240" y="4636008"/>
            <a:ext cx="54864" cy="832104"/>
          </a:xfrm>
          <a:prstGeom prst="rect">
            <a:avLst/>
          </a:prstGeom>
          <a:solidFill>
            <a:srgbClr val="0891B2"/>
          </a:solidFill>
          <a:ln/>
        </p:spPr>
      </p:sp>
      <p:sp>
        <p:nvSpPr>
          <p:cNvPr id="40" name="Text 38"/>
          <p:cNvSpPr/>
          <p:nvPr/>
        </p:nvSpPr>
        <p:spPr>
          <a:xfrm>
            <a:off x="2651760" y="4663440"/>
            <a:ext cx="301752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sp>
      <p:sp>
        <p:nvSpPr>
          <p:cNvPr id="44" name="Text 42"/>
          <p:cNvSpPr/>
          <p:nvPr/>
        </p:nvSpPr>
        <p:spPr>
          <a:xfrm>
            <a:off x="548640" y="5623560"/>
            <a:ext cx="2011680" cy="777240"/>
          </a:xfrm>
          <a:prstGeom prst="rect">
            <a:avLst/>
          </a:prstGeom>
          <a:noFill/>
          <a:ln/>
        </p:spPr>
        <p:txBody>
          <a:bodyPr wrap="square" lIns="0" tIns="0" rIns="0" bIns="0" rtlCol="0" anchor="t"/>
          <a:lstStyle/>
          <a:p>
            <a:pPr indent="0" marL="0">
              <a:buNone/>
            </a:pPr>
            <a:r>
              <a:rPr lang="en-US" sz="1000" b="1" dirty="0">
                <a:solidFill>
                  <a:srgbClr val="0B1F3A"/>
                </a:solidFill>
                <a:latin typeface="Calibri" pitchFamily="34" charset="0"/>
                <a:ea typeface="Calibri" pitchFamily="34" charset="-122"/>
                <a:cs typeface="Calibri" pitchFamily="34" charset="-120"/>
              </a:rPr>
              <a:t>Phase 5 — GRE Tunnel + Exfil
</a:t>
            </a:r>
            <a:pPr indent="0" marL="0">
              <a:buNone/>
            </a:pP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sp>
      <p:sp>
        <p:nvSpPr>
          <p:cNvPr id="46" name="Shape 44"/>
          <p:cNvSpPr/>
          <p:nvPr/>
        </p:nvSpPr>
        <p:spPr>
          <a:xfrm>
            <a:off x="8778240" y="5596128"/>
            <a:ext cx="54864" cy="832104"/>
          </a:xfrm>
          <a:prstGeom prst="rect">
            <a:avLst/>
          </a:prstGeom>
          <a:solidFill>
            <a:srgbClr val="0891B2"/>
          </a:solidFill>
          <a:ln/>
        </p:spPr>
      </p:sp>
      <p:sp>
        <p:nvSpPr>
          <p:cNvPr id="47" name="Text 45"/>
          <p:cNvSpPr/>
          <p:nvPr/>
        </p:nvSpPr>
        <p:spPr>
          <a:xfrm>
            <a:off x="2651760" y="5623560"/>
            <a:ext cx="301752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Rigor's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indent="0" marL="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indent="0" marL="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743200"/>
                <a:gridCol w="640080"/>
                <a:gridCol w="640080"/>
                <a:gridCol w="1280160"/>
                <a:gridCol w="594360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r>
              <a:tr h="420624">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050" b="1" dirty="0">
                          <a:solidFill>
                            <a:srgbClr val="F26B1F"/>
                          </a:solidFill>
                        </a:rPr>
                        <a:t>RIGOR</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00" dirty="0">
                          <a:solidFill>
                            <a:srgbClr val="000000"/>
                          </a:solidFill>
                        </a:rPr>
                        <a:t>Configuration is the gap — formal verification proves the patch/inspection profile is enforced</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420624">
                <a:tc>
                  <a:txBody>
                    <a:bodyPr/>
                    <a:lstStyle/>
                    <a:p>
                      <a:pPr indent="0" marL="0">
                        <a:buNone/>
                      </a:pPr>
                      <a:r>
                        <a:rPr lang="en-US" sz="1050" dirty="0">
                          <a:solidFill>
                            <a:srgbClr val="000000"/>
                          </a:solidFill>
                        </a:rPr>
                        <a:t>Misconfigured / shadowed firewall rules</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050" b="1" dirty="0">
                          <a:solidFill>
                            <a:srgbClr val="F26B1F"/>
                          </a:solidFill>
                        </a:rPr>
                        <a:t>RIGOR</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00" dirty="0">
                          <a:solidFill>
                            <a:srgbClr val="000000"/>
                          </a:solidFill>
                        </a:rPr>
                        <a:t>Mathematical model finds shadows, conflicts, weak rules across multi-vendor estates</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420624">
                <a:tc>
                  <a:txBody>
                    <a:bodyPr/>
                    <a:lstStyle/>
                    <a:p>
                      <a:pPr indent="0" marL="0">
                        <a:buNone/>
                      </a:pPr>
                      <a:r>
                        <a:rPr lang="en-US" sz="1050" dirty="0">
                          <a:solidFill>
                            <a:srgbClr val="000000"/>
                          </a:solidFill>
                        </a:rPr>
                        <a:t>Router ACL tampering / config drift</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dirty="0">
                          <a:solidFill>
                            <a:srgbClr val="5A6878"/>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050" b="1" dirty="0">
                          <a:solidFill>
                            <a:srgbClr val="F26B1F"/>
                          </a:solidFill>
                        </a:rPr>
                        <a:t>RIGOR</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00" dirty="0">
                          <a:solidFill>
                            <a:srgbClr val="000000"/>
                          </a:solidFill>
                        </a:rPr>
                        <a:t>Configuration Drift use case re-verifies live state vs. approved baseline continuously</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420624">
                <a:tc>
                  <a:txBody>
                    <a:bodyPr/>
                    <a:lstStyle/>
                    <a:p>
                      <a:pPr indent="0" marL="0">
                        <a:buNone/>
                      </a:pPr>
                      <a:r>
                        <a:rPr lang="en-US" sz="1050" dirty="0">
                          <a:solidFill>
                            <a:srgbClr val="000000"/>
                          </a:solidFill>
                        </a:rPr>
                        <a:t>C2 to known malicious infrastructure</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050" b="1" dirty="0">
                          <a:solidFill>
                            <a:srgbClr val="2E7D32"/>
                          </a:solidFill>
                        </a:rPr>
                        <a:t>BOTH</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00" dirty="0">
                          <a:solidFill>
                            <a:srgbClr val="000000"/>
                          </a:solidFill>
                        </a:rPr>
                        <a:t>Rigor blocks known threat-feed IPs/domains; ACECARD c2_beaconing concept catches new infra</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420624">
                <a:tc>
                  <a:txBody>
                    <a:bodyPr/>
                    <a:lstStyle/>
                    <a:p>
                      <a:pPr indent="0" marL="0">
                        <a:buNone/>
                      </a:pPr>
                      <a:r>
                        <a:rPr lang="en-US" sz="1050" dirty="0">
                          <a:solidFill>
                            <a:srgbClr val="000000"/>
                          </a:solidFill>
                        </a:rPr>
                        <a:t>Compromised valid accounts (T1078)</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00" dirty="0">
                          <a:solidFill>
                            <a:srgbClr val="000000"/>
                          </a:solidFill>
                        </a:rPr>
                        <a:t>Traffic is policy-allowed; only behavioral drift (cohort z, cosine pivot) reveals abuse</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420624">
                <a:tc>
                  <a:txBody>
                    <a:bodyPr/>
                    <a:lstStyle/>
                    <a:p>
                      <a:pPr indent="0" marL="0">
                        <a:buNone/>
                      </a:pPr>
                      <a:r>
                        <a:rPr lang="en-US" sz="1050" dirty="0">
                          <a:solidFill>
                            <a:srgbClr val="000000"/>
                          </a:solidFill>
                        </a:rPr>
                        <a:t>Living-off-the-Land (T1059, ntdsutil)</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00" dirty="0">
                          <a:solidFill>
                            <a:srgbClr val="000000"/>
                          </a:solidFill>
                        </a:rPr>
                        <a:t>lotl_execution concept catches LOLBin chain — process signal embedding shifts</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420624">
                <a:tc>
                  <a:txBody>
                    <a:bodyPr/>
                    <a:lstStyle/>
                    <a:p>
                      <a:pPr indent="0" marL="0">
                        <a:buNone/>
                      </a:pPr>
                      <a:r>
                        <a:rPr lang="en-US" sz="1050" dirty="0">
                          <a:solidFill>
                            <a:srgbClr val="000000"/>
                          </a:solidFill>
                        </a:rPr>
                        <a:t>Cross-domain lateral movement</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00" dirty="0">
                          <a:solidFill>
                            <a:srgbClr val="000000"/>
                          </a:solidFill>
                        </a:rPr>
                        <a:t>Composite Digital Signature joins identity across AD/AAD/AWS/Okta/K8s — one trajectory</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420624">
                <a:tc>
                  <a:txBody>
                    <a:bodyPr/>
                    <a:lstStyle/>
                    <a:p>
                      <a:pPr indent="0" marL="0">
                        <a:buNone/>
                      </a:pPr>
                      <a:r>
                        <a:rPr lang="en-US" sz="1050" dirty="0">
                          <a:solidFill>
                            <a:srgbClr val="000000"/>
                          </a:solidFill>
                        </a:rPr>
                        <a:t>Slow lateral movement (months)</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00" dirty="0">
                          <a:solidFill>
                            <a:srgbClr val="000000"/>
                          </a:solidFill>
                        </a:rPr>
                        <a:t>CUSUM 4σ surfaces gradual structural shifts; trajectory chain detects log scrubbing</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r h="420624">
                <a:tc>
                  <a:txBody>
                    <a:bodyPr/>
                    <a:lstStyle/>
                    <a:p>
                      <a:pPr indent="0" marL="0">
                        <a:buNone/>
                      </a:pPr>
                      <a:r>
                        <a:rPr lang="en-US" sz="1050" dirty="0">
                          <a:solidFill>
                            <a:srgbClr val="000000"/>
                          </a:solidFill>
                        </a:rPr>
                        <a:t>Zero-day / unknown TTPs</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200" b="1" dirty="0">
                          <a:solidFill>
                            <a:srgbClr val="C0392B"/>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indent="0" marL="0">
                        <a:buNone/>
                      </a:pPr>
                      <a:r>
                        <a:rPr lang="en-US" sz="1000" dirty="0">
                          <a:solidFill>
                            <a:srgbClr val="000000"/>
                          </a:solidFill>
                        </a:rPr>
                        <a:t>By definition not in MITRE yet — only behavioral anomaly flags deviation from normal</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r>
              <a:tr h="420624">
                <a:tc>
                  <a:txBody>
                    <a:bodyPr/>
                    <a:lstStyle/>
                    <a:p>
                      <a:pPr indent="0" marL="0">
                        <a:buNone/>
                      </a:pPr>
                      <a:r>
                        <a:rPr lang="en-US" sz="1050" dirty="0">
                          <a:solidFill>
                            <a:srgbClr val="000000"/>
                          </a:solidFill>
                        </a:rPr>
                        <a:t>Insider threat / data hoarding</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5A6878"/>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200" dirty="0">
                          <a:solidFill>
                            <a:srgbClr val="5A6878"/>
                          </a:solidFill>
                        </a:rPr>
                        <a:t>○</a:t>
                      </a:r>
                      <a:endParaRPr lang="en-US" sz="12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algn="ctr" indent="0" marL="0">
                        <a:buNone/>
                      </a:pPr>
                      <a:r>
                        <a:rPr lang="en-US" sz="1050" b="1" dirty="0">
                          <a:solidFill>
                            <a:srgbClr val="0891B2"/>
                          </a:solidFill>
                        </a:rPr>
                        <a:t>ACECARD</a:t>
                      </a:r>
                      <a:endParaRPr lang="en-US" sz="105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indent="0" marL="0">
                        <a:buNone/>
                      </a:pPr>
                      <a:r>
                        <a:rPr lang="en-US" sz="1000" dirty="0">
                          <a:solidFill>
                            <a:srgbClr val="000000"/>
                          </a:solidFill>
                        </a:rPr>
                        <a:t>insider_data_hoarding concept (T1074) — peer cohort z-score catches outlier behavior</a:t>
                      </a:r>
                      <a:endParaRPr lang="en-US" sz="1000" dirty="0"/>
                    </a:p>
                  </a:txBody>
                  <a:tcPr marL="91440" marR="91440" marT="45720" marB="45720"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indent="0" marL="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Rigor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sp>
      <p:sp>
        <p:nvSpPr>
          <p:cNvPr id="8" name="Shape 6"/>
          <p:cNvSpPr/>
          <p:nvPr/>
        </p:nvSpPr>
        <p:spPr>
          <a:xfrm>
            <a:off x="457200" y="1371600"/>
            <a:ext cx="3703320" cy="292608"/>
          </a:xfrm>
          <a:prstGeom prst="rect">
            <a:avLst/>
          </a:prstGeom>
          <a:solidFill>
            <a:srgbClr val="F26B1F"/>
          </a:solidFill>
          <a:ln/>
        </p:spPr>
      </p:sp>
      <p:sp>
        <p:nvSpPr>
          <p:cNvPr id="9" name="Text 7"/>
          <p:cNvSpPr/>
          <p:nvPr/>
        </p:nvSpPr>
        <p:spPr>
          <a:xfrm>
            <a:off x="566928" y="137160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indent="0" marL="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Rigor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sp>
      <p:sp>
        <p:nvSpPr>
          <p:cNvPr id="14" name="Shape 12"/>
          <p:cNvSpPr/>
          <p:nvPr/>
        </p:nvSpPr>
        <p:spPr>
          <a:xfrm>
            <a:off x="4297680" y="1371600"/>
            <a:ext cx="3703320" cy="292608"/>
          </a:xfrm>
          <a:prstGeom prst="rect">
            <a:avLst/>
          </a:prstGeom>
          <a:solidFill>
            <a:srgbClr val="F26B1F"/>
          </a:solidFill>
          <a:ln/>
        </p:spPr>
      </p:sp>
      <p:sp>
        <p:nvSpPr>
          <p:cNvPr id="15" name="Text 13"/>
          <p:cNvSpPr/>
          <p:nvPr/>
        </p:nvSpPr>
        <p:spPr>
          <a:xfrm>
            <a:off x="4407408" y="137160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indent="0" marL="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sp>
      <p:sp>
        <p:nvSpPr>
          <p:cNvPr id="20" name="Shape 18"/>
          <p:cNvSpPr/>
          <p:nvPr/>
        </p:nvSpPr>
        <p:spPr>
          <a:xfrm>
            <a:off x="8138160" y="1371600"/>
            <a:ext cx="3703320" cy="292608"/>
          </a:xfrm>
          <a:prstGeom prst="rect">
            <a:avLst/>
          </a:prstGeom>
          <a:solidFill>
            <a:srgbClr val="1C7293"/>
          </a:solidFill>
          <a:ln/>
        </p:spPr>
      </p:sp>
      <p:sp>
        <p:nvSpPr>
          <p:cNvPr id="21" name="Text 19"/>
          <p:cNvSpPr/>
          <p:nvPr/>
        </p:nvSpPr>
        <p:spPr>
          <a:xfrm>
            <a:off x="8247888" y="137160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indent="0" marL="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Rigor's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sp>
      <p:sp>
        <p:nvSpPr>
          <p:cNvPr id="26" name="Shape 24"/>
          <p:cNvSpPr/>
          <p:nvPr/>
        </p:nvSpPr>
        <p:spPr>
          <a:xfrm>
            <a:off x="457200" y="3017520"/>
            <a:ext cx="3703320" cy="292608"/>
          </a:xfrm>
          <a:prstGeom prst="rect">
            <a:avLst/>
          </a:prstGeom>
          <a:solidFill>
            <a:srgbClr val="1C7293"/>
          </a:solidFill>
          <a:ln/>
        </p:spPr>
      </p:sp>
      <p:sp>
        <p:nvSpPr>
          <p:cNvPr id="27" name="Text 25"/>
          <p:cNvSpPr/>
          <p:nvPr/>
        </p:nvSpPr>
        <p:spPr>
          <a:xfrm>
            <a:off x="566928" y="301752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indent="0" marL="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sp>
      <p:sp>
        <p:nvSpPr>
          <p:cNvPr id="32" name="Shape 30"/>
          <p:cNvSpPr/>
          <p:nvPr/>
        </p:nvSpPr>
        <p:spPr>
          <a:xfrm>
            <a:off x="4297680" y="3017520"/>
            <a:ext cx="3703320" cy="292608"/>
          </a:xfrm>
          <a:prstGeom prst="rect">
            <a:avLst/>
          </a:prstGeom>
          <a:solidFill>
            <a:srgbClr val="1C7293"/>
          </a:solidFill>
          <a:ln/>
        </p:spPr>
      </p:sp>
      <p:sp>
        <p:nvSpPr>
          <p:cNvPr id="33" name="Text 31"/>
          <p:cNvSpPr/>
          <p:nvPr/>
        </p:nvSpPr>
        <p:spPr>
          <a:xfrm>
            <a:off x="4407408" y="301752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indent="0" marL="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Rigor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sp>
      <p:sp>
        <p:nvSpPr>
          <p:cNvPr id="38" name="Shape 36"/>
          <p:cNvSpPr/>
          <p:nvPr/>
        </p:nvSpPr>
        <p:spPr>
          <a:xfrm>
            <a:off x="8138160" y="3017520"/>
            <a:ext cx="3703320" cy="292608"/>
          </a:xfrm>
          <a:prstGeom prst="rect">
            <a:avLst/>
          </a:prstGeom>
          <a:solidFill>
            <a:srgbClr val="F26B1F"/>
          </a:solidFill>
          <a:ln/>
        </p:spPr>
      </p:sp>
      <p:sp>
        <p:nvSpPr>
          <p:cNvPr id="39" name="Text 37"/>
          <p:cNvSpPr/>
          <p:nvPr/>
        </p:nvSpPr>
        <p:spPr>
          <a:xfrm>
            <a:off x="8247888" y="301752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indent="0" marL="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Step-up MFA driven by ACECARD's ABAC trust state. Rigor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sp>
      <p:sp>
        <p:nvSpPr>
          <p:cNvPr id="44" name="Shape 42"/>
          <p:cNvSpPr/>
          <p:nvPr/>
        </p:nvSpPr>
        <p:spPr>
          <a:xfrm>
            <a:off x="457200" y="4663440"/>
            <a:ext cx="3703320" cy="292608"/>
          </a:xfrm>
          <a:prstGeom prst="rect">
            <a:avLst/>
          </a:prstGeom>
          <a:solidFill>
            <a:srgbClr val="5E2E8C"/>
          </a:solidFill>
          <a:ln/>
        </p:spPr>
      </p:sp>
      <p:sp>
        <p:nvSpPr>
          <p:cNvPr id="45" name="Text 43"/>
          <p:cNvSpPr/>
          <p:nvPr/>
        </p:nvSpPr>
        <p:spPr>
          <a:xfrm>
            <a:off x="566928" y="466344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indent="0" marL="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Rigor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sp>
      <p:sp>
        <p:nvSpPr>
          <p:cNvPr id="50" name="Shape 48"/>
          <p:cNvSpPr/>
          <p:nvPr/>
        </p:nvSpPr>
        <p:spPr>
          <a:xfrm>
            <a:off x="4297680" y="4663440"/>
            <a:ext cx="3703320" cy="292608"/>
          </a:xfrm>
          <a:prstGeom prst="rect">
            <a:avLst/>
          </a:prstGeom>
          <a:solidFill>
            <a:srgbClr val="5E2E8C"/>
          </a:solidFill>
          <a:ln/>
        </p:spPr>
      </p:sp>
      <p:sp>
        <p:nvSpPr>
          <p:cNvPr id="51" name="Text 49"/>
          <p:cNvSpPr/>
          <p:nvPr/>
        </p:nvSpPr>
        <p:spPr>
          <a:xfrm>
            <a:off x="4407408" y="466344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indent="0" marL="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Rigor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sp>
      <p:sp>
        <p:nvSpPr>
          <p:cNvPr id="56" name="Shape 54"/>
          <p:cNvSpPr/>
          <p:nvPr/>
        </p:nvSpPr>
        <p:spPr>
          <a:xfrm>
            <a:off x="8138160" y="4663440"/>
            <a:ext cx="3703320" cy="292608"/>
          </a:xfrm>
          <a:prstGeom prst="rect">
            <a:avLst/>
          </a:prstGeom>
          <a:solidFill>
            <a:srgbClr val="5E2E8C"/>
          </a:solidFill>
          <a:ln/>
        </p:spPr>
      </p:sp>
      <p:sp>
        <p:nvSpPr>
          <p:cNvPr id="57" name="Text 55"/>
          <p:cNvSpPr/>
          <p:nvPr/>
        </p:nvSpPr>
        <p:spPr>
          <a:xfrm>
            <a:off x="8247888" y="4663440"/>
            <a:ext cx="3520440" cy="292608"/>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indent="0" marL="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indent="0" marL="0">
              <a:buNone/>
            </a:pPr>
            <a:r>
              <a:rPr lang="en-US" sz="850" b="1" dirty="0">
                <a:solidFill>
                  <a:srgbClr val="0B1F3A"/>
                </a:solidFill>
                <a:latin typeface="Calibri" pitchFamily="34" charset="0"/>
                <a:ea typeface="Calibri" pitchFamily="34" charset="-122"/>
                <a:cs typeface="Calibri" pitchFamily="34" charset="-120"/>
              </a:rPr>
              <a:t>Integration:  </a:t>
            </a:r>
            <a:pPr indent="0" marL="0">
              <a:buNone/>
            </a:pPr>
            <a:r>
              <a:rPr lang="en-US" sz="850" dirty="0">
                <a:solidFill>
                  <a:srgbClr val="2D3748"/>
                </a:solidFill>
                <a:latin typeface="Calibri" pitchFamily="34" charset="0"/>
                <a:ea typeface="Calibri" pitchFamily="34" charset="-122"/>
                <a:cs typeface="Calibri" pitchFamily="34" charset="-120"/>
              </a:rPr>
              <a:t>STIX 2.1 ingestion into Rigor's Attack Intel. Threat-actor TTP graphs become formal model inputs. ACECARD pre-loads campaign replay scenarios.</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Five layers. Every layer has a job. Rigor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sp>
      <p:sp>
        <p:nvSpPr>
          <p:cNvPr id="8" name="Shape 6"/>
          <p:cNvSpPr/>
          <p:nvPr/>
        </p:nvSpPr>
        <p:spPr>
          <a:xfrm>
            <a:off x="457200" y="1325880"/>
            <a:ext cx="2194560" cy="777240"/>
          </a:xfrm>
          <a:prstGeom prst="rect">
            <a:avLst/>
          </a:prstGeom>
          <a:solidFill>
            <a:srgbClr val="5E2E8C"/>
          </a:solidFill>
          <a:ln/>
        </p:spPr>
      </p:sp>
      <p:sp>
        <p:nvSpPr>
          <p:cNvPr id="9" name="Text 7"/>
          <p:cNvSpPr/>
          <p:nvPr/>
        </p:nvSpPr>
        <p:spPr>
          <a:xfrm>
            <a:off x="548640" y="1325880"/>
            <a:ext cx="2057400" cy="77724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sp>
      <p:sp>
        <p:nvSpPr>
          <p:cNvPr id="11" name="Text 9"/>
          <p:cNvSpPr/>
          <p:nvPr/>
        </p:nvSpPr>
        <p:spPr>
          <a:xfrm>
            <a:off x="2743200" y="144475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sp>
      <p:sp>
        <p:nvSpPr>
          <p:cNvPr id="13" name="Text 11"/>
          <p:cNvSpPr/>
          <p:nvPr/>
        </p:nvSpPr>
        <p:spPr>
          <a:xfrm>
            <a:off x="4960620" y="144475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sp>
      <p:sp>
        <p:nvSpPr>
          <p:cNvPr id="15" name="Text 13"/>
          <p:cNvSpPr/>
          <p:nvPr/>
        </p:nvSpPr>
        <p:spPr>
          <a:xfrm>
            <a:off x="7178040" y="144475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sp>
      <p:sp>
        <p:nvSpPr>
          <p:cNvPr id="17" name="Text 15"/>
          <p:cNvSpPr/>
          <p:nvPr/>
        </p:nvSpPr>
        <p:spPr>
          <a:xfrm>
            <a:off x="9395460" y="144475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sp>
      <p:sp>
        <p:nvSpPr>
          <p:cNvPr id="19" name="Shape 17"/>
          <p:cNvSpPr/>
          <p:nvPr/>
        </p:nvSpPr>
        <p:spPr>
          <a:xfrm>
            <a:off x="457200" y="2148840"/>
            <a:ext cx="2194560" cy="777240"/>
          </a:xfrm>
          <a:prstGeom prst="rect">
            <a:avLst/>
          </a:prstGeom>
          <a:solidFill>
            <a:srgbClr val="F26B1F"/>
          </a:solidFill>
          <a:ln/>
        </p:spPr>
      </p:sp>
      <p:sp>
        <p:nvSpPr>
          <p:cNvPr id="20" name="Text 18"/>
          <p:cNvSpPr/>
          <p:nvPr/>
        </p:nvSpPr>
        <p:spPr>
          <a:xfrm>
            <a:off x="548640" y="2148840"/>
            <a:ext cx="2057400" cy="77724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2 · PREEMPTIVE LAYER (RIGOR AI)</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sp>
      <p:sp>
        <p:nvSpPr>
          <p:cNvPr id="22" name="Text 20"/>
          <p:cNvSpPr/>
          <p:nvPr/>
        </p:nvSpPr>
        <p:spPr>
          <a:xfrm>
            <a:off x="2743200" y="226771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sp>
      <p:sp>
        <p:nvSpPr>
          <p:cNvPr id="24" name="Text 22"/>
          <p:cNvSpPr/>
          <p:nvPr/>
        </p:nvSpPr>
        <p:spPr>
          <a:xfrm>
            <a:off x="4960620" y="226771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sp>
      <p:sp>
        <p:nvSpPr>
          <p:cNvPr id="26" name="Text 24"/>
          <p:cNvSpPr/>
          <p:nvPr/>
        </p:nvSpPr>
        <p:spPr>
          <a:xfrm>
            <a:off x="7178040" y="226771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sp>
      <p:sp>
        <p:nvSpPr>
          <p:cNvPr id="28" name="Text 26"/>
          <p:cNvSpPr/>
          <p:nvPr/>
        </p:nvSpPr>
        <p:spPr>
          <a:xfrm>
            <a:off x="9395460" y="226771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sp>
      <p:sp>
        <p:nvSpPr>
          <p:cNvPr id="30" name="Shape 28"/>
          <p:cNvSpPr/>
          <p:nvPr/>
        </p:nvSpPr>
        <p:spPr>
          <a:xfrm>
            <a:off x="457200" y="2971800"/>
            <a:ext cx="2194560" cy="777240"/>
          </a:xfrm>
          <a:prstGeom prst="rect">
            <a:avLst/>
          </a:prstGeom>
          <a:solidFill>
            <a:srgbClr val="1C7293"/>
          </a:solidFill>
          <a:ln/>
        </p:spPr>
      </p:sp>
      <p:sp>
        <p:nvSpPr>
          <p:cNvPr id="31" name="Text 29"/>
          <p:cNvSpPr/>
          <p:nvPr/>
        </p:nvSpPr>
        <p:spPr>
          <a:xfrm>
            <a:off x="548640" y="2971800"/>
            <a:ext cx="2057400" cy="77724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sp>
      <p:sp>
        <p:nvSpPr>
          <p:cNvPr id="33" name="Text 31"/>
          <p:cNvSpPr/>
          <p:nvPr/>
        </p:nvSpPr>
        <p:spPr>
          <a:xfrm>
            <a:off x="2743200" y="309067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sp>
      <p:sp>
        <p:nvSpPr>
          <p:cNvPr id="35" name="Text 33"/>
          <p:cNvSpPr/>
          <p:nvPr/>
        </p:nvSpPr>
        <p:spPr>
          <a:xfrm>
            <a:off x="4960620" y="309067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sp>
      <p:sp>
        <p:nvSpPr>
          <p:cNvPr id="37" name="Text 35"/>
          <p:cNvSpPr/>
          <p:nvPr/>
        </p:nvSpPr>
        <p:spPr>
          <a:xfrm>
            <a:off x="7178040" y="309067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EDR · XDR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sp>
      <p:sp>
        <p:nvSpPr>
          <p:cNvPr id="39" name="Text 37"/>
          <p:cNvSpPr/>
          <p:nvPr/>
        </p:nvSpPr>
        <p:spPr>
          <a:xfrm>
            <a:off x="9395460" y="309067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sp>
      <p:sp>
        <p:nvSpPr>
          <p:cNvPr id="41" name="Shape 39"/>
          <p:cNvSpPr/>
          <p:nvPr/>
        </p:nvSpPr>
        <p:spPr>
          <a:xfrm>
            <a:off x="457200" y="3794760"/>
            <a:ext cx="2194560" cy="777240"/>
          </a:xfrm>
          <a:prstGeom prst="rect">
            <a:avLst/>
          </a:prstGeom>
          <a:solidFill>
            <a:srgbClr val="0891B2"/>
          </a:solidFill>
          <a:ln/>
        </p:spPr>
      </p:sp>
      <p:sp>
        <p:nvSpPr>
          <p:cNvPr id="42" name="Text 40"/>
          <p:cNvSpPr/>
          <p:nvPr/>
        </p:nvSpPr>
        <p:spPr>
          <a:xfrm>
            <a:off x="548640" y="3794760"/>
            <a:ext cx="2057400" cy="77724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sp>
      <p:sp>
        <p:nvSpPr>
          <p:cNvPr id="44" name="Text 42"/>
          <p:cNvSpPr/>
          <p:nvPr/>
        </p:nvSpPr>
        <p:spPr>
          <a:xfrm>
            <a:off x="2743200" y="391363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sp>
      <p:sp>
        <p:nvSpPr>
          <p:cNvPr id="46" name="Text 44"/>
          <p:cNvSpPr/>
          <p:nvPr/>
        </p:nvSpPr>
        <p:spPr>
          <a:xfrm>
            <a:off x="4960620" y="391363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sp>
      <p:sp>
        <p:nvSpPr>
          <p:cNvPr id="48" name="Text 46"/>
          <p:cNvSpPr/>
          <p:nvPr/>
        </p:nvSpPr>
        <p:spPr>
          <a:xfrm>
            <a:off x="7178040" y="391363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sp>
      <p:sp>
        <p:nvSpPr>
          <p:cNvPr id="50" name="Text 48"/>
          <p:cNvSpPr/>
          <p:nvPr/>
        </p:nvSpPr>
        <p:spPr>
          <a:xfrm>
            <a:off x="9395460" y="391363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sp>
      <p:sp>
        <p:nvSpPr>
          <p:cNvPr id="52" name="Shape 50"/>
          <p:cNvSpPr/>
          <p:nvPr/>
        </p:nvSpPr>
        <p:spPr>
          <a:xfrm>
            <a:off x="457200" y="4617720"/>
            <a:ext cx="2194560" cy="777240"/>
          </a:xfrm>
          <a:prstGeom prst="rect">
            <a:avLst/>
          </a:prstGeom>
          <a:solidFill>
            <a:srgbClr val="0B1F3A"/>
          </a:solidFill>
          <a:ln/>
        </p:spPr>
      </p:sp>
      <p:sp>
        <p:nvSpPr>
          <p:cNvPr id="53" name="Text 51"/>
          <p:cNvSpPr/>
          <p:nvPr/>
        </p:nvSpPr>
        <p:spPr>
          <a:xfrm>
            <a:off x="548640" y="4617720"/>
            <a:ext cx="2057400" cy="77724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sp>
      <p:sp>
        <p:nvSpPr>
          <p:cNvPr id="55" name="Text 53"/>
          <p:cNvSpPr/>
          <p:nvPr/>
        </p:nvSpPr>
        <p:spPr>
          <a:xfrm>
            <a:off x="2743200" y="473659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sp>
      <p:sp>
        <p:nvSpPr>
          <p:cNvPr id="57" name="Text 55"/>
          <p:cNvSpPr/>
          <p:nvPr/>
        </p:nvSpPr>
        <p:spPr>
          <a:xfrm>
            <a:off x="4960620" y="473659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sp>
      <p:sp>
        <p:nvSpPr>
          <p:cNvPr id="59" name="Text 57"/>
          <p:cNvSpPr/>
          <p:nvPr/>
        </p:nvSpPr>
        <p:spPr>
          <a:xfrm>
            <a:off x="7178040" y="473659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sp>
      <p:sp>
        <p:nvSpPr>
          <p:cNvPr id="61" name="Text 59"/>
          <p:cNvSpPr/>
          <p:nvPr/>
        </p:nvSpPr>
        <p:spPr>
          <a:xfrm>
            <a:off x="9395460" y="4736592"/>
            <a:ext cx="2034540" cy="539496"/>
          </a:xfrm>
          <a:prstGeom prst="rect">
            <a:avLst/>
          </a:prstGeom>
          <a:noFill/>
          <a:ln/>
        </p:spPr>
        <p:txBody>
          <a:bodyPr wrap="square" lIns="0" tIns="0" rIns="0" bIns="0" rtlCol="0" anchor="t"/>
          <a:lstStyle/>
          <a:p>
            <a:pPr indent="0" marL="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pPr indent="0" marL="0">
              <a:spcAft>
                <a:spcPts val="100"/>
              </a:spcAft>
              <a:buNone/>
            </a:pP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indent="0" marL="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Rigor governs layers 2-3 (config-resident). ACECARD governs layer 4 (behavior-resident). MITRE ATT&amp;CK is the shared vocabulary across all five.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sp>
      <p:sp>
        <p:nvSpPr>
          <p:cNvPr id="3" name="Shape 1"/>
          <p:cNvSpPr/>
          <p:nvPr/>
        </p:nvSpPr>
        <p:spPr>
          <a:xfrm>
            <a:off x="6080760" y="0"/>
            <a:ext cx="6080760" cy="320040"/>
          </a:xfrm>
          <a:prstGeom prst="rect">
            <a:avLst/>
          </a:prstGeom>
          <a:solidFill>
            <a:srgbClr val="0891B2"/>
          </a:solidFill>
          <a:ln/>
        </p:spPr>
      </p:sp>
      <p:sp>
        <p:nvSpPr>
          <p:cNvPr id="4" name="Text 2"/>
          <p:cNvSpPr/>
          <p:nvPr/>
        </p:nvSpPr>
        <p:spPr>
          <a:xfrm>
            <a:off x="457200" y="0"/>
            <a:ext cx="11247120" cy="320040"/>
          </a:xfrm>
          <a:prstGeom prst="rect">
            <a:avLst/>
          </a:prstGeom>
          <a:noFill/>
          <a:ln/>
        </p:spPr>
        <p:txBody>
          <a:bodyPr wrap="square" lIns="0" tIns="0" rIns="0" bIns="0" rtlCol="0" anchor="ctr"/>
          <a:lstStyle/>
          <a:p>
            <a:pPr indent="0" marL="0">
              <a:buNone/>
            </a:pPr>
            <a:r>
              <a:rPr lang="en-US" sz="1100" b="1" spc="500" kern="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indent="0" marL="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indent="0" marL="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sp>
      <p:sp>
        <p:nvSpPr>
          <p:cNvPr id="8" name="Shape 6"/>
          <p:cNvSpPr/>
          <p:nvPr/>
        </p:nvSpPr>
        <p:spPr>
          <a:xfrm>
            <a:off x="457200" y="1371600"/>
            <a:ext cx="3703320" cy="365760"/>
          </a:xfrm>
          <a:prstGeom prst="rect">
            <a:avLst/>
          </a:prstGeom>
          <a:solidFill>
            <a:srgbClr val="2E7D32"/>
          </a:solidFill>
          <a:ln/>
        </p:spPr>
      </p:sp>
      <p:sp>
        <p:nvSpPr>
          <p:cNvPr id="9" name="Text 7"/>
          <p:cNvSpPr/>
          <p:nvPr/>
        </p:nvSpPr>
        <p:spPr>
          <a:xfrm>
            <a:off x="548640" y="1371600"/>
            <a:ext cx="352044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sp>
      <p:sp>
        <p:nvSpPr>
          <p:cNvPr id="12" name="Shape 10"/>
          <p:cNvSpPr/>
          <p:nvPr/>
        </p:nvSpPr>
        <p:spPr>
          <a:xfrm>
            <a:off x="4297680" y="1371600"/>
            <a:ext cx="3703320" cy="365760"/>
          </a:xfrm>
          <a:prstGeom prst="rect">
            <a:avLst/>
          </a:prstGeom>
          <a:solidFill>
            <a:srgbClr val="F4B400"/>
          </a:solidFill>
          <a:ln/>
        </p:spPr>
      </p:sp>
      <p:sp>
        <p:nvSpPr>
          <p:cNvPr id="13" name="Text 11"/>
          <p:cNvSpPr/>
          <p:nvPr/>
        </p:nvSpPr>
        <p:spPr>
          <a:xfrm>
            <a:off x="4389120" y="1371600"/>
            <a:ext cx="352044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sp>
      <p:sp>
        <p:nvSpPr>
          <p:cNvPr id="16" name="Shape 14"/>
          <p:cNvSpPr/>
          <p:nvPr/>
        </p:nvSpPr>
        <p:spPr>
          <a:xfrm>
            <a:off x="8138160" y="1371600"/>
            <a:ext cx="3703320" cy="365760"/>
          </a:xfrm>
          <a:prstGeom prst="rect">
            <a:avLst/>
          </a:prstGeom>
          <a:solidFill>
            <a:srgbClr val="F26B1F"/>
          </a:solidFill>
          <a:ln/>
        </p:spPr>
      </p:sp>
      <p:sp>
        <p:nvSpPr>
          <p:cNvPr id="17" name="Text 15"/>
          <p:cNvSpPr/>
          <p:nvPr/>
        </p:nvSpPr>
        <p:spPr>
          <a:xfrm>
            <a:off x="8229600" y="1371600"/>
            <a:ext cx="3520440" cy="36576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Rigor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indent="0" marL="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indent="0" marL="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sp>
      <p:sp>
        <p:nvSpPr>
          <p:cNvPr id="31" name="Text 29"/>
          <p:cNvSpPr/>
          <p:nvPr/>
        </p:nvSpPr>
        <p:spPr>
          <a:xfrm>
            <a:off x="640080" y="6126480"/>
            <a:ext cx="10881360" cy="502920"/>
          </a:xfrm>
          <a:prstGeom prst="rect">
            <a:avLst/>
          </a:prstGeom>
          <a:noFill/>
          <a:ln/>
        </p:spPr>
        <p:txBody>
          <a:bodyPr wrap="square" lIns="0" tIns="0" rIns="0" bIns="0" rtlCol="0" anchor="ctr"/>
          <a:lstStyle/>
          <a:p>
            <a:pPr indent="0" marL="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14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sp>
      <p:sp>
        <p:nvSpPr>
          <p:cNvPr id="3" name="Text 1"/>
          <p:cNvSpPr/>
          <p:nvPr/>
        </p:nvSpPr>
        <p:spPr>
          <a:xfrm>
            <a:off x="822960" y="914400"/>
            <a:ext cx="10972800" cy="411480"/>
          </a:xfrm>
          <a:prstGeom prst="rect">
            <a:avLst/>
          </a:prstGeom>
          <a:noFill/>
          <a:ln/>
        </p:spPr>
        <p:txBody>
          <a:bodyPr wrap="square" lIns="0" tIns="0" rIns="0" bIns="0" rtlCol="0" anchor="ctr"/>
          <a:lstStyle/>
          <a:p>
            <a:pPr indent="0" marL="0">
              <a:buNone/>
            </a:pPr>
            <a:r>
              <a:rPr lang="en-US" sz="1600" b="1" spc="500" kern="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indent="0" marL="0">
              <a:buNone/>
            </a:pPr>
            <a:r>
              <a:rPr lang="en-US" sz="1300" i="1" dirty="0">
                <a:solidFill>
                  <a:srgbClr val="C8D2DC"/>
                </a:solidFill>
                <a:latin typeface="Calibri" pitchFamily="34" charset="0"/>
                <a:ea typeface="Calibri" pitchFamily="34" charset="-122"/>
                <a:cs typeface="Calibri" pitchFamily="34" charset="-120"/>
              </a:rPr>
              <a:t>Rigor AI is engaged with 20+ design partners across F500, federal, critical infrastructure, MSSPs, and nation states.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sp>
      <p:sp>
        <p:nvSpPr>
          <p:cNvPr id="7" name="Text 5"/>
          <p:cNvSpPr/>
          <p:nvPr/>
        </p:nvSpPr>
        <p:spPr>
          <a:xfrm>
            <a:off x="1005840" y="4114800"/>
            <a:ext cx="10058400" cy="365760"/>
          </a:xfrm>
          <a:prstGeom prst="rect">
            <a:avLst/>
          </a:prstGeom>
          <a:noFill/>
          <a:ln/>
        </p:spPr>
        <p:txBody>
          <a:bodyPr wrap="square" lIns="0" tIns="0" rIns="0" bIns="0" rtlCol="0" anchor="ctr"/>
          <a:lstStyle/>
          <a:p>
            <a:pPr indent="0" marL="0">
              <a:buNone/>
            </a:pPr>
            <a:r>
              <a:rPr lang="en-US" sz="1100" b="1" spc="400" kern="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indent="0" marL="0">
              <a:spcAft>
                <a:spcPts val="300"/>
              </a:spcAft>
              <a:buNone/>
            </a:pPr>
            <a:r>
              <a:rPr lang="en-US" sz="1250" b="1" dirty="0">
                <a:solidFill>
                  <a:srgbClr val="F26B1F"/>
                </a:solidFill>
                <a:latin typeface="Calibri" pitchFamily="34" charset="0"/>
                <a:ea typeface="Calibri" pitchFamily="34" charset="-122"/>
                <a:cs typeface="Calibri" pitchFamily="34" charset="-120"/>
              </a:rPr>
              <a:t>1.  </a:t>
            </a:r>
            <a:pPr indent="0" marL="0">
              <a:spcAft>
                <a:spcPts val="300"/>
              </a:spcAft>
              <a:buNone/>
            </a:pPr>
            <a:r>
              <a:rPr lang="en-US" sz="1250" b="1" dirty="0">
                <a:solidFill>
                  <a:srgbClr val="FFFFFF"/>
                </a:solidFill>
                <a:latin typeface="Calibri" pitchFamily="34" charset="0"/>
                <a:ea typeface="Calibri" pitchFamily="34" charset="-122"/>
                <a:cs typeface="Calibri" pitchFamily="34" charset="-120"/>
              </a:rPr>
              <a:t>Pilot Rigor AI</a:t>
            </a:r>
            <a:pPr indent="0" marL="0">
              <a:spcAft>
                <a:spcPts val="300"/>
              </a:spcAft>
              <a:buNone/>
            </a:pP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indent="0" marL="0">
              <a:spcAft>
                <a:spcPts val="300"/>
              </a:spcAft>
              <a:buNone/>
            </a:pPr>
            <a:r>
              <a:rPr lang="en-US" sz="1250" b="1" dirty="0">
                <a:solidFill>
                  <a:srgbClr val="F26B1F"/>
                </a:solidFill>
                <a:latin typeface="Calibri" pitchFamily="34" charset="0"/>
                <a:ea typeface="Calibri" pitchFamily="34" charset="-122"/>
                <a:cs typeface="Calibri" pitchFamily="34" charset="-120"/>
              </a:rPr>
              <a:t>2.  </a:t>
            </a:r>
            <a:pPr indent="0" marL="0">
              <a:spcAft>
                <a:spcPts val="300"/>
              </a:spcAft>
              <a:buNone/>
            </a:pPr>
            <a:r>
              <a:rPr lang="en-US" sz="1250" b="1" dirty="0">
                <a:solidFill>
                  <a:srgbClr val="FFFFFF"/>
                </a:solidFill>
                <a:latin typeface="Calibri" pitchFamily="34" charset="0"/>
                <a:ea typeface="Calibri" pitchFamily="34" charset="-122"/>
                <a:cs typeface="Calibri" pitchFamily="34" charset="-120"/>
              </a:rPr>
              <a:t>Pilot ACECARD UEBA</a:t>
            </a:r>
            <a:pPr indent="0" marL="0">
              <a:spcAft>
                <a:spcPts val="300"/>
              </a:spcAft>
              <a:buNone/>
            </a:pP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indent="0" marL="0">
              <a:spcAft>
                <a:spcPts val="300"/>
              </a:spcAft>
              <a:buNone/>
            </a:pPr>
            <a:r>
              <a:rPr lang="en-US" sz="1250" b="1" dirty="0">
                <a:solidFill>
                  <a:srgbClr val="F26B1F"/>
                </a:solidFill>
                <a:latin typeface="Calibri" pitchFamily="34" charset="0"/>
                <a:ea typeface="Calibri" pitchFamily="34" charset="-122"/>
                <a:cs typeface="Calibri" pitchFamily="34" charset="-120"/>
              </a:rPr>
              <a:t>3.  </a:t>
            </a:r>
            <a:pPr indent="0" marL="0">
              <a:spcAft>
                <a:spcPts val="300"/>
              </a:spcAft>
              <a:buNone/>
            </a:pPr>
            <a:r>
              <a:rPr lang="en-US" sz="1250" b="1" dirty="0">
                <a:solidFill>
                  <a:srgbClr val="FFFFFF"/>
                </a:solidFill>
                <a:latin typeface="Calibri" pitchFamily="34" charset="0"/>
                <a:ea typeface="Calibri" pitchFamily="34" charset="-122"/>
                <a:cs typeface="Calibri" pitchFamily="34" charset="-120"/>
              </a:rPr>
              <a:t>Integrate</a:t>
            </a:r>
            <a:pPr indent="0" marL="0">
              <a:spcAft>
                <a:spcPts val="300"/>
              </a:spcAft>
              <a:buNone/>
            </a:pPr>
            <a:r>
              <a:rPr lang="en-US" sz="1250" dirty="0">
                <a:solidFill>
                  <a:srgbClr val="FFFFFF"/>
                </a:solidFill>
                <a:latin typeface="Calibri" pitchFamily="34" charset="0"/>
                <a:ea typeface="Calibri" pitchFamily="34" charset="-122"/>
                <a:cs typeface="Calibri" pitchFamily="34" charset="-120"/>
              </a:rPr>
              <a:t> — Rigor's verified findings raise ACECARD's trust floor on entities traversing closed gaps</a:t>
            </a:r>
            <a:endParaRPr lang="en-US" sz="1250" dirty="0"/>
          </a:p>
          <a:p>
            <a:pPr indent="0" marL="0">
              <a:spcAft>
                <a:spcPts val="300"/>
              </a:spcAft>
              <a:buNone/>
            </a:pPr>
            <a:r>
              <a:rPr lang="en-US" sz="1250" b="1" dirty="0">
                <a:solidFill>
                  <a:srgbClr val="F26B1F"/>
                </a:solidFill>
                <a:latin typeface="Calibri" pitchFamily="34" charset="0"/>
                <a:ea typeface="Calibri" pitchFamily="34" charset="-122"/>
                <a:cs typeface="Calibri" pitchFamily="34" charset="-120"/>
              </a:rPr>
              <a:t>4.  </a:t>
            </a:r>
            <a:pPr indent="0" marL="0">
              <a:spcAft>
                <a:spcPts val="300"/>
              </a:spcAft>
              <a:buNone/>
            </a:pPr>
            <a:r>
              <a:rPr lang="en-US" sz="1250" b="1" dirty="0">
                <a:solidFill>
                  <a:srgbClr val="FFFFFF"/>
                </a:solidFill>
                <a:latin typeface="Calibri" pitchFamily="34" charset="0"/>
                <a:ea typeface="Calibri" pitchFamily="34" charset="-122"/>
                <a:cs typeface="Calibri" pitchFamily="34" charset="-120"/>
              </a:rPr>
              <a:t>Operationalize</a:t>
            </a:r>
            <a:pPr indent="0" marL="0">
              <a:spcAft>
                <a:spcPts val="300"/>
              </a:spcAft>
              <a:buNone/>
            </a:pP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sp>
      <p:sp>
        <p:nvSpPr>
          <p:cNvPr id="10" name="Text 8"/>
          <p:cNvSpPr/>
          <p:nvPr/>
        </p:nvSpPr>
        <p:spPr>
          <a:xfrm>
            <a:off x="822960" y="6172200"/>
            <a:ext cx="10515600" cy="274320"/>
          </a:xfrm>
          <a:prstGeom prst="rect">
            <a:avLst/>
          </a:prstGeom>
          <a:noFill/>
          <a:ln/>
        </p:spPr>
        <p:txBody>
          <a:bodyPr wrap="square" lIns="0" tIns="0" rIns="0" bIns="0" rtlCol="0" anchor="ctr"/>
          <a:lstStyle/>
          <a:p>
            <a:pPr indent="0" marL="0">
              <a:buNone/>
            </a:pPr>
            <a:r>
              <a:rPr lang="en-US" sz="1100" dirty="0">
                <a:solidFill>
                  <a:srgbClr val="C8D2DC"/>
                </a:solidFill>
                <a:latin typeface="Calibri" pitchFamily="34" charset="0"/>
                <a:ea typeface="Calibri" pitchFamily="34" charset="-122"/>
                <a:cs typeface="Calibri" pitchFamily="34" charset="-120"/>
              </a:rPr>
              <a:t>Rigor AI:  sales-ext@rigor.ai   ·   Sundar Iyer, CEO   ·   Navneet Yadav, CPO</a:t>
            </a:r>
            <a:endParaRPr lang="en-US" sz="1100" dirty="0"/>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indent="0" marL="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Rigor AI + ACECARD UEBA: Comprehensive Defense vs. Volt &amp; Salt Typhoon</dc:title>
  <dc:subject>PptxGenJS Presentation</dc:subject>
  <dc:creator>Rigor AI / 22nd Century Technologies</dc:creator>
  <cp:lastModifiedBy>Rigor AI / 22nd Century Technologies</cp:lastModifiedBy>
  <cp:revision>1</cp:revision>
  <dcterms:created xsi:type="dcterms:W3CDTF">2026-05-03T04:52:43Z</dcterms:created>
  <dcterms:modified xsi:type="dcterms:W3CDTF">2026-05-03T04:52:43Z</dcterms:modified>
</cp:coreProperties>
</file>