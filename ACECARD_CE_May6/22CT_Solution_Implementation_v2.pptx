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Preemptive Cyber Defense</a:t>
            </a:r>
            <a:br/>
            <a:r>
              <a:t>&amp; Behavioral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Calibri"/>
              </a:defRPr>
            </a:pPr>
            <a:r>
              <a:t>Solution Overview  |  Architecture  |  Implementation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484632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5120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A8B9E"/>
                </a:solidFill>
                <a:latin typeface="Calibri"/>
              </a:defRPr>
            </a:pPr>
            <a:r>
              <a:t>Stopping Nation-State Adversaries Before They Strike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Calibri"/>
              </a:defRPr>
            </a:pPr>
            <a:r>
              <a:t>PROPRIETARY  //  NOT FOR PUBLIC RELEASE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The Threat Landscape: Why This Matters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Nation-state adversaries are already inside U.S. critical infrastructure — undetected for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4846320" cy="22860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VOLT TYPHOON (G1017)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PRC state-sponsored. Active since mid-2021.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Pre-positioned in power, water, telecom for future disruption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Living-off-the-Land: uses only legitimate admin tools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5+ year undetected dwell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4846320" cy="22860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SALT TYPHOON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200+ telecoms compromised across 80+ countries.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9 U.S. carriers. CALEA wiretap access.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Persistence IS the network configuration itself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4+ year undetected dwell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023360"/>
            <a:ext cx="1005840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02336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11480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WHY CURRENT DEFENSES FAIL: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Configuration gaps are never mathematically proven closed — pentests only sample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Behavioral detection uses fixed thresholds — LOTL tradecraft operates below every one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Identity fragmented across 10+ systems — cross-domain movement reads as unrelated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Sources: CISA AA24-038A  |  FBI/NSA/CISA Joint Advisory (Dec 2024)  |  Microsoft Threat Intel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Why Current Tools Cannot Solve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tool class has a structural limitation that these adversaries exploit by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5544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4475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Correlates known patterns from log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4475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Cannot detect novel combinations of legitimate tool usage. Volt Typhoon uses only approved admin binaries.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24028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24028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4231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EDR / XDR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31343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Detects malware and known-bad executables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1343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Every binary Volt Typhoon uses is allowlisted. Salt Typhoon lives on routers where EDR cannot 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10896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10896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2918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Commercial UEBA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1821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Fixed thresholds per data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821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LOTL operates below every threshold. No cross-system identity fusion. No drift direction.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97764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97764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1605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Pentest / Red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05079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Manual testing of known attack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5079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Point-in-time sample. Cannot cover combinatorial config space. Annual cadence vs continuous adversary.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84632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84632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0292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Vuln Scanner / ASM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1947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Enumerates assets and known CVEs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1947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Sees what EXISTS, not what is REACHABLE through config. Statistical confidence, not mathematical certainty.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C0392B"/>
                </a:solidFill>
                <a:latin typeface="Calibri"/>
              </a:defRPr>
            </a:pPr>
            <a:r>
              <a:t>The gap is structural, not operational. A fundamentally different approach is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Our Approach: Two Complementary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Mathematical certainty meets advanced behavioral intelligence — together, complete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4846320" cy="4114800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1 — PREEMPTIVE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We define a Formal Mathematical Model that reasons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exhaustively over your entire defensive configuration.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Ingests all threat intelligence continuously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Models every defensive control formally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Proves whether attack paths exist or are blocked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Prescribes vendor-specific remediations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Re-verifies continuously (hourly + on change)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1B4F72"/>
                </a:solidFill>
                <a:latin typeface="Calibri"/>
              </a:defRPr>
            </a:pPr>
            <a:r>
              <a:t>GUARANTEE: Zero false positives. Zero false negatives.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Formal mathematical certainty within model scope.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4846320" cy="411480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2 — BEHAVIORAL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We create a Digital Twin of each entity instance.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User interaction is a living entity with a time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dimension — capturing behavioral evolution continuously.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Multi-signal behavioral profiling per entity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Advanced change-point detection (sub-threshold)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Drift direction mapped to MITRE ATT&amp;CK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Cross-system entity fusion (10+ identity sources)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Automated trust scoring and adaptive access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DETECTS: LOTL, credential abuse, insider threat.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Catches what no threshold system can.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Together: attack surface never exists (Layer 1)  OR  adversary detected in hours, not years (Layer 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Stopping Volt Typhoon: Preemptive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Volt Typhoon needs configuration weakness to enter and pivot. We prove those weaknesses do not exist.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VOLT TYPHOON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98448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HOW OUR PREEMPTIVE LAYER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Initial Access</a:t>
            </a:r>
            <a:br/>
            <a:r>
              <a:t>(0-12h)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64792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Exploits unpatched Fortinet, Ivanti, PAN edge 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6479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Maps every CVE to control verification. Proves IPS/threat-feed blocks exploit. If no patch, identifies compensating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9464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  <a:br/>
            <a:r>
              <a:t>(12-48h)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42616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Drops web shells. Routes C2 through compromised SOHO routers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Models all threat-feed IPs/domains as denied. Proves 50M+ rule combinations block C2 flows. WAF verified for upload inspection.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47288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49300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Credential Access</a:t>
            </a:r>
            <a:br/>
            <a:r>
              <a:t>(48-96h)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ntdsutil to dump AD. LSASS memory extraction.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204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Verifies EDR/EPP coverage on every DC. Script-control blocking validated. Egress blocks cred exfil to C2.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25112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370832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Lateral Movement</a:t>
            </a:r>
            <a:br/>
            <a:r>
              <a:t>(96h+)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98264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SMB/RDP/WinRM to DCs and file servers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982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Real finding: 3 rules shadowed SMB IPS profile. Model closed lateral path no scanner found. Segmentation proven.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02936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248656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Pre-positioning</a:t>
            </a:r>
            <a:br/>
            <a:r>
              <a:t>(Weeks-Years)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Maps network for future sabotage during crisis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7608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Continuous re-verification on every config change. Zero-trust segmentation re-proven hourly. Drift = immediate alert.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B4F72"/>
                </a:solidFill>
                <a:latin typeface="Calibri"/>
              </a:defRPr>
            </a:pPr>
            <a:r>
              <a:t>Volt Typhoon (G1017): PRC state-sponsored. 5+ year dwell. LOTL tradecraft. Critical infrastructure targeting.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Stopping Salt Typhoon: Preemptive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Salt Typhoon lives on misconfigured edge gear. We verify every configuration every hour.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SALT TYPHOON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98448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HOW OUR PREEMPTIVE LAYER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Edge CVE Exploit</a:t>
            </a:r>
            <a:br/>
            <a:r>
              <a:t>(0-24h)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64792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Exploits Cisco IOS XE web UI (CVE-2023-20198). 1000+ devices.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6479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Every exposed management interface flagged. Proves ACL blocks /webui/. Identifies compensating control for unpatched CVEs.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9464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  <a:br/>
            <a:r>
              <a:t>(1-7d)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42616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Creates local admin. Modifies router ACLs. Enables Guest Shell.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Config drift: hourly comparison to approved AAA baseline. Any new account or ACL change = immediate gap finding with exact diff.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47288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49300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TACACS+ Capture</a:t>
            </a:r>
            <a:br/>
            <a:r>
              <a:t>(7-30d)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Captures credential traffic on TCP/49. Harvests admin passwords.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204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Mgmt-plane segmentation verified. On-box capture permissions modeled. TACACS+ encryption enforcement validated.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25112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370832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GRE Tunneling</a:t>
            </a:r>
            <a:br/>
            <a:r>
              <a:t>(30-90d)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98264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Configures GRE tunnels between compromised routers for C2.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982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GRE peer authorization verified in routing config. Unauthorized tunnel endpoints flagged. Egress policy proven.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02936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248656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CALEA Exfil</a:t>
            </a:r>
            <a:br/>
            <a:r>
              <a:t>(90d+)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Accesses lawful intercept. Steady CDR/metadata exfil over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7608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CALEA-zone segmentation proven end-to-end. Privilege verification on intercept systems. Outbound restrictions verified.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B4F72"/>
                </a:solidFill>
                <a:latin typeface="Calibri"/>
              </a:defRPr>
            </a:pPr>
            <a:r>
              <a:t>Salt Typhoon: PRC state-sponsored. 4+ years. 200+ telcos. CVE-2023-20198. CALEA wiretap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The Residual Threat: What Config Alone Cannot Stop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Three attack classes remain even with perfect configuration — behavioral intelligence completes the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005840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41732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Zero-Day &amp; Unknown TTPs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5564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Preemptive verifies every TTP in MITRE ATT&amp;CK. A genuine zero-day with no signature and no MITRE mapping has nothing to verify against.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24028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24028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E6B8A"/>
                </a:solidFill>
                <a:latin typeface="Calibri"/>
              </a:defRPr>
            </a:pPr>
            <a:r>
              <a:t>ACECARD response:  ACECARD detects resulting behavioral drift even without a MITRE label. Post-exploitation always creates structural shifts.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8036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880360"/>
            <a:ext cx="10058400" cy="3200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92608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Compromised Valid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6440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Both Typhoons abuse stolen, valid credentials. A correctly-configured firewall ALLOWS that traffic — by design. Config is correct; behavior is the threat.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74904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74904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E6B8A"/>
                </a:solidFill>
                <a:latin typeface="Calibri"/>
              </a:defRPr>
            </a:pPr>
            <a:r>
              <a:t>ACECARD response:  ACECARD catches the abuse: same credentials, structurally different usage from the real user. Peer cohort comparison surfaces deviation.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38912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389120"/>
            <a:ext cx="1005840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43484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Living-off-the-Land Tradecraft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7316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ntdsutil, wmic, netsh, PowerShell — every binary Volt Typhoon uses is a legitimate admin tool. Blocking them entirely is infeasible.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25780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2578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E6B8A"/>
                </a:solidFill>
                <a:latin typeface="Calibri"/>
              </a:defRPr>
            </a:pPr>
            <a:r>
              <a:t>ACECARD response:  ACECARD captures the COMBINATION of LOTL tools, timing, targets. Only behavioral context separates admin from adversary.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943600"/>
            <a:ext cx="1005840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97103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Preemptive eliminates configuration attack surface.  Behavioral catches what remains.  Together = complete.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How ACECARD Detects Volt Typhoon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Even when config is bypassed, behavioral trajectory reveals the adversary within hours.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WHAT EXISTING TOOLS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HOW ACECARD DETECTS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6479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Credential abuse</a:t>
            </a:r>
            <a:br/>
            <a:r>
              <a:t>(T1078)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Valid credentials. Every control says "approved." No alert fires.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Multi-signal model detects: new source + off-hours + unusual targets. Structural shift in auth pattern triggers change-point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9748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LOTL execution</a:t>
            </a:r>
            <a:br/>
            <a:r>
              <a:t>(T1059)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063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ntdsutil + wmic + netsh. All legitimate binaries. No malware signature.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Process signal captures tool combination and sequence. Drift direction maps to "LOTL execution." Peer cohort shows no admin matches.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0332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77647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Slow lateral</a:t>
            </a:r>
            <a:br/>
            <a:r>
              <a:t>(T1021)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764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Moves 1-2 new hosts/week. Never crosses any single threshold.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Change-point accumulates sub-threshold drift over time. What never triggers a fixed threshold eventually crosses our alarm boundary.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Unknown 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8231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Routes through newly compromised SOHO routers — not in any threat feed.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8231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Network signal detects structural change: new persistent outbound to unusual destination. Direction: "C2 beaconing."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Calibri"/>
              </a:defRPr>
            </a:pPr>
            <a:r>
              <a:t>Every detection includes: trust score adjustment + MITRE mapping + automated response + SOC enrichment.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How ACECARD Detects Salt Typhoon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Salt Typhoon abuses legitimate network admin access. Only behavioral intelligence reveals the difference.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WHAT EXISTING TOOLS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HOW ACECARD DETECTS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6479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TACACS+ reuse</a:t>
            </a:r>
            <a:br/>
            <a:r>
              <a:t>(T1078)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Harvested admin creds used as legitimate sessions. Correct username, correct permissions.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Same creds, different trajectory: unusual device sequence, off-pattern timing, novel destinations. Multi-signal drift triggers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9748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ACL tampering</a:t>
            </a:r>
            <a:br/>
            <a:r>
              <a:t>(T1556)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063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Modifies router ACLs to whitelist attacker IPs. Looks like routine config maintenance.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Identity + network signals combined: config change correlates with new outbound to unusual destinations. Diverges from peer cohort.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0332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77647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GRE tunnels</a:t>
            </a:r>
            <a:br/>
            <a:r>
              <a:t>(T1572)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764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Configures tunnels between routers. Normal action for some operators.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This admin never creates GRE tunnels; this device never had tunnel activity. Direction: "protocol tunneling."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CDR exfiltration</a:t>
            </a:r>
            <a:br/>
            <a:r>
              <a:t>(T1041)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8231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Slow steady data movement. Under volume thresholds. Months-long.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8231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Change-point accumulates gradual shift in data access. Peer comparison: no other admin shows this trajectory over same timeframe.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Calibri"/>
              </a:defRPr>
            </a:pPr>
            <a:r>
              <a:t>Salt Typhoon has dwelled 4+ years because no tool fuses identity + behavior across network gear. ACECARD does.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Combined Detection Timeline: Both Layers Working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Real scenario: Volt Typhoon campaign. Preemptive finds the gap. ACECARD catches the exploitation.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34440"/>
            <a:ext cx="10058400" cy="3200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2527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Scenario: Volt Typhoon targets Air Force network via Fortinet VPN CVE + LOTL credential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64592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175564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177393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T-30d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1755648"/>
            <a:ext cx="137160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92807" y="177393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PREEMPTIVE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73736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Identifies missing IPS signature on VPN concentrator. Gap finding pushed to ticketing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221992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233172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235000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T-30d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2331720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92807" y="235000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31343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Gap finding triggers trust floor reduction. Behavioral sensitivity automatically heightened for VPN zone.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798064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" y="2907792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2926080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T+0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2907792"/>
            <a:ext cx="137160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92807" y="2926080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ATTACKER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889504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Exploits CVE. Lands on device. Creates local admin. Begins LOTL reconnaissance.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374136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483864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" y="3502152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T+2h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3483864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92807" y="3502152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465576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Entity enters with reduced trust. Auth signal: new source, off-hours. Drift detected and accumulating.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3950208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3000" y="4059936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" y="4078224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T+6h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59936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92807" y="407822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04164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Process signal: wmic + ntdsutil chain. Change-point accumulating. Direction: LOTL execution.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4526280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43000" y="463600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1288" y="465429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T+8h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636008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92807" y="465429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61772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Change-point crosses alarm. Entity BLOCKED. Access revoked. IR ticket auto-created.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102352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43000" y="521208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1288" y="523036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T+9h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5212080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92807" y="523036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19379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Confirmed detection feeds back. Preemptive re-verifies all related configs. Similar gaps found and closed.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Result: 8-hour dwell time (vs. 5+ years).  Preemptive found the gap.  ACECARD caught the exploitation.  Together: complete defense.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Architecture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Platform architecture designed for scalability, security, and classified-enclave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Platform Architecture: Five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Kubernetes-native. Iron Bank hardened. Same architecture across all classification levels.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058400" cy="8686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63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Presentation &amp;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SOC Dashboard  •  ServiceNow  •  JIRA  •  SOAR  •  API Gateway  •  ABAC Policy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solidFill>
            <a:srgbClr val="1B6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77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Analytics &amp;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43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Preemptive Engine  •  Behavioral Engine  •  Kill-Chain Reconstruction  •  Alert Correlation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00400"/>
            <a:ext cx="10058400" cy="868680"/>
          </a:xfrm>
          <a:prstGeom prst="rect">
            <a:avLst/>
          </a:prstGeom>
          <a:solidFill>
            <a:srgbClr val="14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918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Intelligence &amp;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576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Threat Intel Pipeline  •  Math Model Builder  •  Behavioral Profiling  •  Entity Fusion  •  MITRE Mapping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114800"/>
            <a:ext cx="10058400" cy="86868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06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062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Data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720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Vector Database (pgvector)  •  Time-Series Store  •  Config Repository  •  Baseline Library  •  Entity Graph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029200"/>
            <a:ext cx="10058400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120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864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Kubernetes (EKS/AKS/On-Prem)  •  Iron Bank Containers  •  Istio Service Mesh  •  Vault Secrets  • 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All containers Iron Bank certified  •  Helm charts for repeatable deployment  •  Horizontal pod autoscaling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Deployment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One codebase, three deployment targets. Environment configuration only — no code forking.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329184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COMMERCIAL / IL5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NIPR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Cloud-hosted (AWS GovCloud / Azure Gov)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API-based config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Auto-updated threat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Cloud-native AI/ML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Fastest time-to-value: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371600"/>
            <a:ext cx="329184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ON-PREMISES / IL6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SIPR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On-site VM or K8s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Local device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Classified threat feeds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Local AI inference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8 vCPU / 32GB per node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80" y="1371600"/>
            <a:ext cx="329184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AIR-GAPPED / JWICS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TS-SCI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Fully disconnected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Manual STIX/TAXII import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Local file ingest / SNMP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Local language model for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SCIF-deployable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394960"/>
            <a:ext cx="1033272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42239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Switch between modes via environment variable. Same containers, same Helm charts, same security posture.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Implementation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Three phases. Value within 90 days. Full operational capability within 9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1: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0–90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K8s provisioning, secrets, 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Data connectors (NGFW, IPS, IdP)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Baseline config ingestion + model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First preemptive findings delivered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Entity fusion pipeline operational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Calibri"/>
              </a:defRPr>
            </a:pPr>
            <a:r>
              <a:t>Milestone: First verified gap findings + playbooks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1371600"/>
            <a:ext cx="3566160" cy="5486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2: Operational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90–180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Behavioral baselines established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Change-point detection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SOC integration (SNOW/JIRA/SOAR)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Continuous re-verification enabled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ABAC trust scoring 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39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79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Calibri"/>
              </a:defRPr>
            </a:pPr>
            <a:r>
              <a:t>Milestone: Full two-layer detection active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8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18" y="1371600"/>
            <a:ext cx="3566160" cy="5486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8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3: Optimization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8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180–270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Kill-chain reconstruction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8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Cohort model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8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Additional vendor integrations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38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Compliance reporting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38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SOC training and handoff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8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18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Calibri"/>
              </a:defRPr>
            </a:pPr>
            <a:r>
              <a:t>Milestone: Full capability + cATO artifacts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Product Roadmap 2026–2027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Expanding coverage, intelligence, and autonomy across both layers.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9748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PAN, Fortinet, Cisco, CP NGFW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N-S firewall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Behavioral UEBA core (5 signals)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Entity fusion (AD, AAD, Okta)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IL5 / NIPR deployment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1371600"/>
            <a:ext cx="269748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E-W micro-segmentation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SASE / SD-WAN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Additional identity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Expanded MITRE (140+ TTPs)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On-prem IL6 certified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371600"/>
            <a:ext cx="2697480" cy="5029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Cloud posture (AWS/Azure/GCP)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WAF / API gateway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Automated remediation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Enhanced kill-chain reconstruction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JWICS air-gapped deployment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9720" y="1371600"/>
            <a:ext cx="269748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OT / ICS protocol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Autonomous threat hunting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Cross-org threat sharing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AI-verified remediation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Full autonomous defense loop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Calibri"/>
              </a:defRPr>
            </a:pPr>
            <a:r>
              <a:t>Roadmap is outcome-driven. Prioritization informed by active customer engagements and threat landscape.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Nine pre-built use cases spanning preemptive defense, compliance, and risk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63040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48132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44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Preemptive Cyber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Continuous verification that every known TTP path is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901952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1993392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01168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97510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Configuration Drift Mgmt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9339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Hourly comparison to approved baseline; surfaces unauthorized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432304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2523744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254203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5054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Formal Policy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52374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Shadow rules, conflicts, weak inspection across multi-vendor stack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2962656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3054096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307238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03580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External Attack Surface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05409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Maps exposed assets to compensating controls; proves 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493008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584448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3602736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566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Internal Attack Surface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58444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Models paths from compromised host to crown-jewel assets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023360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" y="4114800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413308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0965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Behavioral Threat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LOTL, credential abuse, insider threat, slow lateral movement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553712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3000" y="4645152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466344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62686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Zero-Trust 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64515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Proves segmentation holds end-to-end (NIST 800-53 / SP 800-207)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084064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3000" y="5175504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88720" y="519379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515721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Vendor Migration 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17550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Proves no regression during NGFW vendor migration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5614416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43000" y="5705856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572414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5687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M&amp;A / Third-Party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70585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Models combined posture pre-merger; verifies isolation controls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Production Proof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Selected findings from financial services, telecom, government, and critical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0160" y="146304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48132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FinTech | Asia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Closed lateral movement path hidden by shadowed rules across multi-vendor NGFW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084832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084832"/>
            <a:ext cx="54864" cy="658368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" y="2176272"/>
            <a:ext cx="201168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194560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Communications | 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21992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Eliminated RCE exposure from missing IPS inspection on critical protocol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798064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2798064"/>
            <a:ext cx="54864" cy="65836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2889504"/>
            <a:ext cx="201168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2907792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Regional Bank | E. Asia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935224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Closed cross-vendor policy inconsistency exposing PAN and Fortinet NGFWs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511296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511296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80160" y="3602736"/>
            <a:ext cx="201168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3621024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Critical Infra | SE Asia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648456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Detected application obfuscation paths from DMZ rule misconfiguration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224528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224528"/>
            <a:ext cx="54864" cy="65836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80160" y="4315968"/>
            <a:ext cx="20116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5880" y="4334256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Finance | E. Asia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361688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Identified NIST 800-53 compliance gap on email traffic inspection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93776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0" y="493776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80160" y="502920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504748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EU Sovereign Govt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07492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National-scale attack surface management across 12 government agencies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669280"/>
            <a:ext cx="10058400" cy="4572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57150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20+ design partners across F500, federal, critical infrastructure, MSSPs, and nation states (NA, EU, ME, Asia, Pacific).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22CT: Proven Capability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Large-scale DoD cybersecurity delivery with cleared workforce and active contracts.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51460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51460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B4F72"/>
                </a:solidFill>
                <a:latin typeface="Calibri"/>
              </a:defRPr>
            </a:pPr>
            <a:r>
              <a:t>$90M+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E50"/>
                </a:solidFill>
                <a:latin typeface="Calibri"/>
              </a:defRPr>
            </a:pPr>
            <a:r>
              <a:t>Active Army</a:t>
            </a:r>
            <a:br/>
            <a:r>
              <a:t>SOC/MDR Contract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51460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371600"/>
            <a:ext cx="251460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5087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E6B8A"/>
                </a:solidFill>
                <a:latin typeface="Calibri"/>
              </a:defRPr>
            </a:pPr>
            <a:r>
              <a:t>800+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94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E50"/>
                </a:solidFill>
                <a:latin typeface="Calibri"/>
              </a:defRPr>
            </a:pPr>
            <a:r>
              <a:t>Cleared Analysts</a:t>
            </a:r>
            <a:br/>
            <a:r>
              <a:t>on Staff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71600"/>
            <a:ext cx="251460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251460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087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B7950B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94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E50"/>
                </a:solidFill>
                <a:latin typeface="Calibri"/>
              </a:defRPr>
            </a:pPr>
            <a:r>
              <a:t>Design Partners</a:t>
            </a:r>
            <a:br/>
            <a:r>
              <a:t>(F500, Fed, Nation)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371600"/>
            <a:ext cx="251460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1371600"/>
            <a:ext cx="25146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15087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IL5/IL6/JWICS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194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E50"/>
                </a:solidFill>
                <a:latin typeface="Calibri"/>
              </a:defRPr>
            </a:pPr>
            <a:r>
              <a:t>Three Enclave</a:t>
            </a:r>
            <a:br/>
            <a:r>
              <a:t>Deployment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200400"/>
            <a:ext cx="10058400" cy="2560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32918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Compliance alignment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6576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DoD Zero Trust RA: Pillars 4 &amp;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977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NIST 800-53 Rev 5 (CA-7, RA-5, SI-4)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2976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NIST SP 800-207 Zero 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177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cATO pathway: artifacts auto-generated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37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Iron Bank certified containers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578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eMASS / RMF 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2918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Contract vehicles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576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GSA MAS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977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CIO-SP3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2976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SEWP 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6177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Direct Award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937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8(a) / SDVOSB options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Why 22CT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Unique combination of capabilities no competitor can match.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4475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Calibri"/>
              </a:defRPr>
            </a:pPr>
            <a:r>
              <a:t>Mathematical 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48132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Not sampling — exhaustive reasoning over the complete config state space. Zero FP, zero FN.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139696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2139696"/>
            <a:ext cx="54864" cy="7132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21284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6B8A"/>
                </a:solidFill>
                <a:latin typeface="Calibri"/>
              </a:defRPr>
            </a:pPr>
            <a:r>
              <a:t>Behavioral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49424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Not just "anomaly score" — tells you exactly WHAT threat type and maps to MITRE ATT&amp;CK.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907792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2907792"/>
            <a:ext cx="54864" cy="7132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98094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7950B"/>
                </a:solidFill>
                <a:latin typeface="Calibri"/>
              </a:defRPr>
            </a:pPr>
            <a:r>
              <a:t>Continuous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1752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Re-verified hourly + on every change. Behavioral baselines adapt in real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675888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675888"/>
            <a:ext cx="54864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49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Calibri"/>
              </a:defRPr>
            </a:pPr>
            <a:r>
              <a:t>Cross-domain entity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85616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Identity stitched across 10+ systems. Lateral movement = one correlated trajectory.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443984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4443984"/>
            <a:ext cx="54864" cy="7132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51713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Classified enclave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553712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Same code: SaaS / SIPR / JWICS. No forking. Environment variable only.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12080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5212080"/>
            <a:ext cx="54864" cy="7132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28523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6B8A"/>
                </a:solidFill>
                <a:latin typeface="Calibri"/>
              </a:defRPr>
            </a:pPr>
            <a:r>
              <a:t>Proven at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32180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$90M Army contract. 800+ analysts. 20+ design partners. Real findings in production.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22860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43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Technical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7432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0B8D0"/>
                </a:solidFill>
                <a:latin typeface="Calibri"/>
              </a:defRPr>
            </a:pPr>
            <a:r>
              <a:t>Schedule hands-on demonstration with your security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3832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383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Proof of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3832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0B8D0"/>
                </a:solidFill>
                <a:latin typeface="Calibri"/>
              </a:defRPr>
            </a:pPr>
            <a:r>
              <a:t>30-day pilot against live configuration — findings within 2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233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023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Architecture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02336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0B8D0"/>
                </a:solidFill>
                <a:latin typeface="Calibri"/>
              </a:defRPr>
            </a:pPr>
            <a:r>
              <a:t>Joint review of deployment model and SOC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6634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663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Contract Vehicle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66344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0B8D0"/>
                </a:solidFill>
                <a:latin typeface="Calibri"/>
              </a:defRPr>
            </a:pPr>
            <a:r>
              <a:t>GSA MAS  •  CIO-SP3  •  SEWP V  •  Direct Award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4864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9436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Calibri"/>
              </a:defRPr>
            </a:pPr>
            <a:r>
              <a:t>PROPRIETARY  //  NOT FOR PUBLIC RELEASE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