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4" r:id="rId25"/>
    <p:sldId id="275" r:id="rId26"/>
    <p:sldId id="276" r:id="rId27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EFC43-D407-4EEF-9E9C-DDE140E06BC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60AA2-C8BE-47F1-9C37-EA632AE2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7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835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835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ravindra.shukla@tscti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9C0C8"/>
                </a:solidFill>
                <a:latin typeface="Georgia"/>
              </a:defRPr>
            </a:pPr>
            <a:r>
              <a:t>V-INTELLIGENCE 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Preemptive Defense + Behavioral Intelligence + API Security + Code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B0C0"/>
                </a:solidFill>
                <a:latin typeface="Calibri"/>
              </a:defRPr>
            </a:pPr>
            <a:r>
              <a:rPr dirty="0"/>
              <a:t>A Four-Layer Answer for Critical-Infrastructure Defense</a:t>
            </a:r>
            <a:endParaRPr lang="en-US" dirty="0"/>
          </a:p>
          <a:p>
            <a:pPr algn="ctr">
              <a:defRPr sz="1500" b="0">
                <a:solidFill>
                  <a:srgbClr val="A0B0C0"/>
                </a:solidFill>
                <a:latin typeface="Calibri"/>
              </a:defRPr>
            </a:pPr>
            <a:r>
              <a:rPr lang="en-US" dirty="0">
                <a:solidFill>
                  <a:schemeClr val="bg2"/>
                </a:solidFill>
              </a:rPr>
              <a:t>22</a:t>
            </a:r>
            <a:r>
              <a:rPr lang="en-US" baseline="30000" dirty="0">
                <a:solidFill>
                  <a:schemeClr val="bg2"/>
                </a:solidFill>
              </a:rPr>
              <a:t>nd</a:t>
            </a:r>
            <a:r>
              <a:rPr lang="en-US" dirty="0">
                <a:solidFill>
                  <a:schemeClr val="bg2"/>
                </a:solidFill>
              </a:rPr>
              <a:t> Century Technologies Inc. </a:t>
            </a:r>
          </a:p>
          <a:p>
            <a:pPr algn="ctr">
              <a:defRPr sz="1500" b="0">
                <a:solidFill>
                  <a:srgbClr val="A0B0C0"/>
                </a:solidFill>
                <a:latin typeface="Calibri"/>
              </a:defRPr>
            </a:pPr>
            <a:r>
              <a:rPr lang="en-US" dirty="0">
                <a:solidFill>
                  <a:schemeClr val="bg2"/>
                </a:solidFill>
              </a:rPr>
              <a:t>Ravindra Shukla – </a:t>
            </a:r>
            <a:r>
              <a:rPr lang="en-US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ravindra.shukla@tscti.com</a:t>
            </a:r>
            <a:r>
              <a:rPr lang="en-US" dirty="0">
                <a:solidFill>
                  <a:schemeClr val="bg2"/>
                </a:solidFill>
              </a:rPr>
              <a:t>, 703-679-0117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LAYER 1 — PREEMPTIVE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Mathematically prove every known attack path</a:t>
            </a:r>
            <a:br/>
            <a:r>
              <a:t>is closed — before any traffic 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9C0C8"/>
                </a:solidFill>
                <a:latin typeface="Calibri"/>
              </a:defRPr>
            </a:pPr>
            <a:r>
              <a:t>LAYER 2 — BEHAVIORAL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Continuous 1536-d behavioral trajectories</a:t>
            </a:r>
            <a:br/>
            <a:r>
              <a:t>with MITRE-mapped drift direction.</a:t>
            </a:r>
          </a:p>
        </p:txBody>
      </p:sp>
      <p:sp>
        <p:nvSpPr>
          <p:cNvPr id="12" name="Text 21">
            <a:extLst>
              <a:ext uri="{FF2B5EF4-FFF2-40B4-BE49-F238E27FC236}">
                <a16:creationId xmlns:a16="http://schemas.microsoft.com/office/drawing/2014/main" id="{008BFA67-CE4A-1733-A96F-16AF7838E0EE}"/>
              </a:ext>
            </a:extLst>
          </p:cNvPr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Apex Adversaries Are Already Inside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PRC state actors walked past every commercial defense — and stayed for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2788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7889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Georgia"/>
              </a:defRPr>
            </a:pPr>
            <a:r>
              <a:t>VOLT TYPHOON  ·  CISA AA24-038A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Mission: pre-position in U.S. energy, water, transport and comms for sabotage during crisis.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Living-off-the-Land — wmic, ntdsutil, netsh, rundll32. No malware, no signatures, no IOCs.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Every tool used is a legitimate Windows binary.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C0392B"/>
                </a:solidFill>
                <a:latin typeface="Calibri"/>
              </a:defRPr>
            </a:pPr>
            <a:r>
              <a:t>5+ YEARS undetected dwell in U.S. critical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788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2788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Georgia"/>
              </a:defRPr>
            </a:pPr>
            <a:r>
              <a:t>SALT TYPHOON  ·  CISA AA25-239A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Mission: espionage at carrier scale across U.S. and allied telecom.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200+ telcos in 80+ countries; 9 U.S. carriers confirmed (AT&amp;T, Verizon, T-Mobile).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Accessed CALEA lawful-intercept systems used for senior U.S. officials.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C0392B"/>
                </a:solidFill>
                <a:latin typeface="Calibri"/>
              </a:defRPr>
            </a:pPr>
            <a:r>
              <a:t>4+ YEARS undetected. Slow, sub-threshold, patient.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43400"/>
            <a:ext cx="11247120" cy="178308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91440" cy="17830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41655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THE POLICY INFLECTION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D3748"/>
                </a:solidFill>
                <a:latin typeface="Calibri"/>
              </a:defRPr>
            </a:pPr>
            <a:r>
              <a:t>Defense is shifting from reactive to preemptive. Gartner projects preemptive cybersecurity will grow from &lt;5% of security spending in 2024 to 50% by 2030. Yet 99% of firewall breaches are still misconfiguration, and threshold-based detection never fires on slow, credential-borne intrusions.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0B1F3A"/>
                </a:solidFill>
                <a:latin typeface="Calibri"/>
              </a:defRPr>
            </a:pPr>
            <a:r>
              <a:t>The structural lesson of Volt + Salt Typhoon: we must prove the door is closed — and watch the room for what slips through. Neither layer alone is sufficient.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Years of undetected access vs. immediate identification — the gap is operational, not theoretical.</a:t>
            </a: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FA85DD8B-9592-7114-6A81-42FA3DDFE04E}"/>
              </a:ext>
            </a:extLst>
          </p:cNvPr>
          <p:cNvSpPr/>
          <p:nvPr/>
        </p:nvSpPr>
        <p:spPr>
          <a:xfrm>
            <a:off x="457200" y="66751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dirty="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Tooling Cannot Close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Two structural gaps — one in prevention, one in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2331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PREVENTION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Pentests sample; they never prove. Point-in-time and incomplete.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ASM sees what exists, not what is reachable.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Config review is manual — stale within hours.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The rule state space is too large to sample adequately.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KEV patching covers only ~20% of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331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426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DETECTION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5564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Threshold UEBA: LoTL never crosses a fixed line.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Sigma rules: adversaries retool faster than rules ship.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Per-source silos: one attacker looks like 10 users.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"87% anomalous" — anomalous HOW? No direction.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Only point-in-time snapshots — no trajectory.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11247120" cy="2194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91440" cy="2194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94106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WHAT THE ADVERSARY EXPLOITS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Configuration gaps no one has PROVEN are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Both Typhoons enter via unpatched / misconfigured edge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Valid credentials indistinguishable from legitimate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542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Stolen creds pass every config-based check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Living-off-the-Land tools allowed by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926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wmic / ntdsutil / netsh cannot be blanket-blocked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30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Slow drift invisible to fixed thresholds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330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5+ year campaigns operate below every alert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Identity fragmentation hides cross-domain chains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669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One attacker appears as 10 unrelated identities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Result: $0 invested in tooling that could have detected either campaign before public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Four Layers, One Shared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Preemptive shrinks the attack surface mathematically. V-Intelligence detects what remains. API security guards applications. Mythos secures the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324612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2461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6B1F"/>
                </a:solidFill>
                <a:latin typeface="Georgia"/>
              </a:defRPr>
            </a:pPr>
            <a:r>
              <a:t>LAYER 1 — PREEMPTIVE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Builds a formal mathematical model of every firewall, IdP, IPS, SASE and WAF and reasons exhaustively over the full configuration state space — no sampling.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Proves every known CVE path is blocked or compensated.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Catches config drift within the hour.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Complete reasoning — not probabilistic. Zero telemetry, zero agents.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F26B1F"/>
                </a:solidFill>
                <a:latin typeface="Calibri"/>
              </a:defRPr>
            </a:pPr>
            <a:r>
              <a:t>"Close the door before they knock."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32461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32461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Georgia"/>
              </a:defRPr>
            </a:pPr>
            <a:r>
              <a:t>LAYER 2 — V-INTELLIGENCE UEBA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Embeds 5 behavioral signals (auth, process, network, file, identity) into a unified 1536-d vector per entity, per window — and tracks the trajectory.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CUSUM change-point catches slow, sub-threshold drift.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direction projects onto 8 MITRE ATT&amp;CK concepts — not "anomalous," but "drifting toward lateral_movement (T1021)."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Entity fusion unifies 10+ identity systems into one behavioral entity.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891B2"/>
                </a:solidFill>
                <a:latin typeface="Calibri"/>
              </a:defRPr>
            </a:pPr>
            <a:r>
              <a:t>"Watch the room for what slips through."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Four layers, one shared MITRE vocabulary. Preemptive closes the door. UEBA watches the room. API security guards applications. Mythos secures the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00600"/>
            <a:ext cx="534924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800600"/>
            <a:ext cx="9144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55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tos"/>
              </a:rPr>
              <a:t>LAYER 3 — API &amp; APPLICATION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4807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Behavioral API discovery and protection. Stops bot attacks, business logic abuse, shadow API exposure. Governs AI agent-to-API traffic.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800600"/>
            <a:ext cx="5349240" cy="1280160"/>
          </a:xfrm>
          <a:prstGeom prst="roundRect">
            <a:avLst/>
          </a:prstGeom>
          <a:solidFill>
            <a:srgbClr val="EE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800600"/>
            <a:ext cx="91440" cy="12801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855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A1B9A"/>
                </a:solidFill>
                <a:latin typeface="Aptos"/>
              </a:rPr>
              <a:t>LAYER 4 — CODE &amp; SUPPLY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14807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Mythos: 2,000+ zero-days in 7 weeks. 7-gate CI/CD pipeline — code, SAST, DAST, SCA, container, IaC, runtime. Vulnerable code cannot reach 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PREEMPTIVE — LAYER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Preemptive Defense Closes the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Prove every known attack path is blocked — before any traffic flows. Three intelligence pillars, one formal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2606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606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26B1F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Ingests terabytes of CVE, CTI, IOC/IOA feeds and advisories. ML + NLP + LLMs build deep, MITRE ATT&amp;CK-enriched attack graphs of every campaign that matters — auto-updating on each new advisory.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11880" cy="2606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91440" cy="2606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891B2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symbolic model of computation of every firewall, IdP, IPS, SASE and WAF. Reasons exhaustively over the full configuration state space — no sampling. Pinpoints shadows, conflicts, weak rules and intent errors across vendors.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657600" cy="2606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91440" cy="260604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7A44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74519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guardrailed agentic-AI reasoner, grounded in each vendor's behavior, prescribes precise, risk-prioritized fixes — no new errors, no business disruption. Findings reviewed, then applied and continuously re-verified.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11247120" cy="146304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91440" cy="1463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2245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WHY A MODEL — NOT A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5371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 multi-vendor firewall path spans an astronomically large configuration state space (≫2^8000). Sampling a billion paths per second for a year covers effectively 0%. A formal model instead PROVES, for every threat: does any rule combination allow this traffic? Complete coverage — no false positives, no false negatives.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85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No telemetry  ·  No agents  ·  Config-only pull  ·  Time-to-value &lt; 2 weeks  ·  SaaS / on-prem / air-gapped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Gartner: 99% of firewall breaches are misconfiguration. Preemptive verification eliminates that surface mathematically.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PREEMPTIVE —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Coverage, Proof, and Federal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One formal model answers many questions — and finds what sampling tools never will.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383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WHAT FORMAL VERIFICATION FINDS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SMB lateral-movement path shadowed by three interspersed rules — IPS / AntiVirus silently bypassed.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Two-vendor blind spot: PAN and Fortinet both allowed update traffic with no IPS inspection — an open RCE path.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Unsanctioned-app rule partially shadowed and built on an incomplete object — credential and IP exposure.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~25% of internet-facing rules carried weak or no threat inspection — proven reachable into trusted zones.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SMTP trusted→untrusted with no inspection profile — a NIST 800-53 SC-7 compliance gap, remediated same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33832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3383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891B2"/>
                </a:solidFill>
                <a:latin typeface="Calibri"/>
              </a:defRPr>
            </a:pPr>
            <a:r>
              <a:t>ONE FORMAL MODEL → NINE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105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Security posture — segmentation &amp; inspection 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2140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External attack surface — ASM compliance, formally extended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3230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Change management — does the change meet its intent?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4320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Configuration drift — vs. an approved golden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05409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Vendor migration — pre/post security posture equivalence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6499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Business / regulatory / infosec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6758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Complete preemptive defense — full TTP coverage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8678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Third-party / supply-chain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29768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 Precision cyber insurance — exact risk, not heuristics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92040"/>
            <a:ext cx="11247120" cy="1188720"/>
          </a:xfrm>
          <a:prstGeom prst="roundRect">
            <a:avLst/>
          </a:prstGeom>
          <a:solidFill>
            <a:srgbClr val="07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96519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9C0C8"/>
                </a:solidFill>
                <a:latin typeface="Calibri"/>
              </a:defRPr>
            </a:pPr>
            <a:r>
              <a:t>FEDERAL 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Maps to NIST CSF pre-attack functions (Govern · Identify · Protect), supports CISA CDM continuous assurance, and enables Policy-as-Code. Gartner projects preemptive cyber rising from &lt;5% of security spend in 2024 to 50% by 2030.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Preemptive shrinks the attack surface to what is provably reachable. V-Intelligence then watches what remains.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CORE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Behavioral Meaning Beats Scalar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same number can mean two completely different things. Embeddings see the difference; counters never will.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4160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4160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TRADITIONAL TOOLS COUNT — THEY DO NOT COMPREHEND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Two users each touch 47 files this week. One reads their own team's documents; the other scans 12 departments at 2 a.m. A scalar feature sees the same number — 47. The attacker is invisible.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EVERY TRADITIONAL METHOD HAS A FATAL FLAW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401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misses slow drift within normal ranges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85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One-Class 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7856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high false positives in high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9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Local Outlier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1696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sensitive to feature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53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Z-Score (|z|&gt;3)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553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only catches single-feature spikes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Feature CUSUM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flags everyone; no semantic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371600"/>
            <a:ext cx="5349240" cy="41605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1371600"/>
            <a:ext cx="91440" cy="41605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891B2"/>
                </a:solidFill>
                <a:latin typeface="Calibri"/>
              </a:defRPr>
            </a:pPr>
            <a:r>
              <a:t>V-INTELLIGENCE READS BEHAVIOR AS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847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1.  Serialize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1396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Raw metrics become prose: "USR-042 accessed 47 restricted files across 12 departments, 68% outside normal hours."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7797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2.  Embed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07238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Text → a 1,536-dimensional vector that captures behavioral semantics, not just counts.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712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3.  Five behavioral zones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00507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Identity · Access Pattern · Data Behavior · Network Footprint · Risk Posture.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645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4.  Drift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9377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Cosine distance between consecutive weekly embeddings = the direction of behavioral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Scalar features see the same number. Embeddings see different meaning — that is the whole difference between 0/4 and 4/4.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What No Other UEBA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technique is well-known. The innovation is the integration — and seven pieces exist nowhere 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1.  Behavioral embedding in a unified 1536-d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Industry scores features and rules. We embed behavior into vectors — meaning, not just magnitude.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38074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2.  Per-signal drift decomposition (6 vectors / 9,216-d)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Five signals embedded individually + one composite. Tells you "AUTH drove 72% of the change."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56946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3.  CUSUM change-point on embedding trajectories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Sequential detection on vectors — minimax-optimal (Lorden 1971). Dwell of years collapses to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51460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251460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56946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4.  Drift direction projected onto MITRE ATT&amp;CK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Not "87% anomalous" but "drifting toward lateral_movement (T1021) at 0.82." Actionable, auditable.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0332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75818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5.  Entity fusion across 10+ identity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AD, Entra, Okta, AWS, K8s, EDR, VPN, PKI, TACACS+ → one entity. An attacker stops looking like 10 users.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70332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370332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375818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6.  HMAC-chained forensic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20624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Tamper-evident behavioral history — altering any past snapshot breaks the chain. Court-admissible.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9204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94690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7.  ABAC trust loop with behavioral triggers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Detection and proportional enforcement in one system — step-up MFA to lockout in under 5 minutes.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5349240" cy="1133856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80" y="489204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494690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26B1F"/>
                </a:solidFill>
                <a:latin typeface="Calibri"/>
              </a:defRPr>
            </a:pPr>
            <a:r>
              <a:t>WHY IT COMPOUNDS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34924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 normal user can score high on one dimension by chance. An attacker scores high across many — embedding + trajectory + direction + fusion reinforce into one defensible signal.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combines all seven. Most have zero. This is the differentiation, not an increment.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Inside the Engine: From Telemetry to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Dual embedding builds the entity; composite scoring decides who is anomalous.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3063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063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BEHAVIORAL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A.  Embed — 5 signal summaries → text-embedding-3-small → 1536-d behavioral state per window.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B.  Drift — drift(t) = 1 − cos(V_t, V_baseline).  Healthy ~0.02–0.05; compromised 0.06–0.15.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C.  CUSUM — S(t) = max(0, S(t−1) + drift − μ − k).  Alarm at 4σ. Accumulates sub-threshold drift.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D.  Direction — proj(c) = cos(V_t − V_baseline, concept_c) over 8 MITRE concepts → top-3 + technique IDs.</a:t>
            </a:r>
          </a:p>
          <a:p>
            <a:pPr algn="l">
              <a:spcBef>
                <a:spcPts val="9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Dual embedding: 5 individual + 1 composite = 6 × 1,536 = 9,216 dims per entity, per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40680" cy="306324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91440" cy="3063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4264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5-PHASE COMPOSITE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rPr sz="1050" b="1">
                <a:solidFill>
                  <a:srgbClr val="0B1F3A"/>
                </a:solidFill>
              </a:rPr>
              <a:t>Signal strength — </a:t>
            </a:r>
            <a:r>
              <a:rPr sz="1050">
                <a:solidFill>
                  <a:srgbClr val="2D3748"/>
                </a:solidFill>
              </a:rPr>
              <a:t>How far the drift exceeds the entity's own baseline.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sz="1050" b="1">
                <a:solidFill>
                  <a:srgbClr val="0B1F3A"/>
                </a:solidFill>
              </a:rPr>
              <a:t>Breadth — </a:t>
            </a:r>
            <a:r>
              <a:rPr sz="1050">
                <a:solidFill>
                  <a:srgbClr val="2D3748"/>
                </a:solidFill>
              </a:rPr>
              <a:t>How many of the behavioral features moved at once.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sz="1050" b="1">
                <a:solidFill>
                  <a:srgbClr val="0B1F3A"/>
                </a:solidFill>
              </a:rPr>
              <a:t>Sustained deviation — </a:t>
            </a:r>
            <a:r>
              <a:rPr sz="1050">
                <a:solidFill>
                  <a:srgbClr val="2D3748"/>
                </a:solidFill>
              </a:rPr>
              <a:t>Whether the shift persists window over window.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sz="1050" b="1">
                <a:solidFill>
                  <a:srgbClr val="0B1F3A"/>
                </a:solidFill>
              </a:rPr>
              <a:t>Context divergence — </a:t>
            </a:r>
            <a:r>
              <a:rPr sz="1050">
                <a:solidFill>
                  <a:srgbClr val="2D3748"/>
                </a:solidFill>
              </a:rPr>
              <a:t>Whether it appears under multiple analytical lenses.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sz="1050" b="1">
                <a:solidFill>
                  <a:srgbClr val="0B1F3A"/>
                </a:solidFill>
              </a:rPr>
              <a:t>Novelty persistence — </a:t>
            </a:r>
            <a:r>
              <a:rPr sz="1050">
                <a:solidFill>
                  <a:srgbClr val="2D3748"/>
                </a:solidFill>
              </a:rPr>
              <a:t>Whether genuinely new behaviors keep recurring.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26B1F"/>
                </a:solidFill>
                <a:latin typeface="Calibri"/>
              </a:defRPr>
            </a:pPr>
            <a:r>
              <a:t>Fused into one ranked list. No single phase catches everyone.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1124712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617720"/>
            <a:ext cx="91440" cy="146304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725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7A44"/>
                </a:solidFill>
                <a:latin typeface="Calibri"/>
              </a:defRPr>
            </a:pPr>
            <a:r>
              <a:t>THE PAYOFF — SEMANTIC SPACE SEPARATES WHAT FEATURE SPACE HIDES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In feature space the four stealth attackers sit inside the normal band — undetectable. In V-Intelligence's semantic embedding space, all four separate from the population. Composite scoring then ranks them: insider #2, slow APT #7, Volt Typhoon LoTL #24, Salt Typhoon #1 — all at 8.5% false-positive, where traditional methods caught zero.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V-Intelligence builds the digital entity. Composite scoring detects the anomaly. Direction makes it actionable.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Four Stealth Campaigns, Four Different Tells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No single method catches them all. Composite scoring catches each on the phase that exposes it — 250 entities, blind.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514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USR-156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Insider Threat · 8-month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Rank #2 / 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Signal Strength 30 + Breadth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Strong, broad, sustained escalation across many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0128" y="1371600"/>
            <a:ext cx="91440" cy="2514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Slow APT · 180-day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Rank #7 / 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Novelty Persistence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Low magnitude, but novel C2 destinations recur week after week.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3056" y="1371600"/>
            <a:ext cx="91440" cy="251460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USR-042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Volt Typhoon LoTL · 115-day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2A"/>
                </a:solidFill>
                <a:latin typeface="Calibri"/>
              </a:defRPr>
            </a:pPr>
            <a:r>
              <a:t>Rank #24 / 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Breadth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Living-off-the-Land creates breadth, not magnitude.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984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15984" y="1371600"/>
            <a:ext cx="91440" cy="2514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0576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Salt Typhoon Telecom · 100-day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Rank #1 / 250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Sustained 9.6 + Context 7.9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Max z-score 1.71 — invisible to thresholds — ranked #1 of 250.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069080"/>
            <a:ext cx="5486400" cy="14173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069080"/>
            <a:ext cx="91440" cy="141732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" y="41239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E7A44"/>
                </a:solidFill>
                <a:latin typeface="Calibri"/>
              </a:defRPr>
            </a:pPr>
            <a:r>
              <a:t>THE DISCRIMINATION 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462272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Normal users — average composite 6.6, max 21.5.</a:t>
            </a:r>
          </a:p>
          <a:p>
            <a:pPr algn="l">
              <a:spcBef>
                <a:spcPts val="5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Attackers — lowest 13.7, average 32.7.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The gap between the strongest normal user and the weakest attacker is clean separation no single method achieves.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069080"/>
            <a:ext cx="5577840" cy="1417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26480" y="4069080"/>
            <a:ext cx="91440" cy="1417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41239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26B1F"/>
                </a:solidFill>
                <a:latin typeface="Calibri"/>
              </a:defRPr>
            </a:pPr>
            <a:r>
              <a:t>TIME-TO-DETECT — INSIDER (USR-156)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462272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Isolation Forest / SVM / LOF / Z-Score:  NEVER ALERT.</a:t>
            </a:r>
          </a:p>
          <a:p>
            <a:pPr algn="l">
              <a:spcBef>
                <a:spcPts val="500"/>
              </a:spcBef>
              <a:defRPr sz="1050" b="1">
                <a:solidFill>
                  <a:srgbClr val="1E7A44"/>
                </a:solidFill>
                <a:latin typeface="Calibri"/>
              </a:defRPr>
            </a:pPr>
            <a:r>
              <a:t>V-Intelligence + composite:  flags in Week 8 — before data-access escalation.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Direction tracked: baseline → off-hours access → cross-dept scope creep → data staging + exfiltration.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4 / 4 detected at 8.5% false-positive — versus 0 / 4 traditional and 1 / 4 z-score. Earlier detection = smaller blast radius.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Proven Foundation, National Relevance, Four-Layer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 capability built on a fielded model — and a conversation worth having.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383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PROVEN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Behavioral trajectory engine fielded at DLA on the Entity Digital Model (500+ entities, CUSUM, 5 signals).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Same architecture, retargeted to cyber UEBA.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4 / 4 stealth campaigns detected at 8.5% FP in blind test.</a:t>
            </a:r>
          </a:p>
          <a:p>
            <a:pPr algn="l">
              <a:spcBef>
                <a:spcPts val="8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Explainable: WHAT is happening, WHERE it lives, WHO else is affected.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1188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91440" cy="3383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NATIONAL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Directly counters the Volt + Salt Typhoon playbook the nation is now contending with.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Aligns with the preemptive-defense shift (Gartner: 50% by 2030).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Deployable across IL5 / IL6 / JWICS; local model option for air-gapped enclaves.</a:t>
            </a:r>
          </a:p>
          <a:p>
            <a:pPr algn="l"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No PII in embeddings — privacy-preserving by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657600" cy="33832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91440" cy="338328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A44"/>
                </a:solidFill>
                <a:latin typeface="Calibri"/>
              </a:defRPr>
            </a:pPr>
            <a:r>
              <a:t>WHERE R STREET 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Independent perspective on the preemptive + behavioral framing for critical-infrastructure policy.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Thought-leadership on closing the LoTL / valid-account detection gap.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grounded reference case for the reactive-to-preemptive transition.</a:t>
            </a:r>
          </a:p>
          <a:p>
            <a:pPr algn="l"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Explore: briefing, joint commentary, or validation dialogue.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11247120" cy="1143000"/>
          </a:xfrm>
          <a:prstGeom prst="roundRect">
            <a:avLst/>
          </a:prstGeom>
          <a:solidFill>
            <a:srgbClr val="07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2806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Preemptive closes the door. V-Intelligence watches the room. Together: detect behavioral shifts hours before IOCs fire — explain what is happening, act proportionally.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FDAC74-F1E6-52DF-0565-D2A059AA6D1D}"/>
              </a:ext>
            </a:extLst>
          </p:cNvPr>
          <p:cNvSpPr txBox="1"/>
          <p:nvPr/>
        </p:nvSpPr>
        <p:spPr>
          <a:xfrm>
            <a:off x="4039644" y="2624203"/>
            <a:ext cx="4728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817741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Same four stealth attacks. Three tools, three verdicts.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Inside authorized access, the most dangerous threats never trip a threshold — so most tools miss them, or bury the signal in false alarms.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2004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TRADITIONAL SIEM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point-anomaly 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Isolation Forest / SVM / LOF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Scores each user vs a threshold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0 of 4 caught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76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265676" y="1572768"/>
            <a:ext cx="356616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4276" y="1773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INTERMEDIATE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4276" y="2066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statistical z-score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4276" y="244144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58868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5756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Flags the biggest outliers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94276" y="300837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58868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5756" y="3008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Catches 1 of 4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94276" y="3575304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58868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5756" y="3575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…and alarms on nearly everyone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94276" y="4142232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8868" y="4315968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5756" y="4142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no threat context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8439912" y="1572768"/>
            <a:ext cx="3294583" cy="3520440"/>
          </a:xfrm>
          <a:prstGeom prst="roundRect">
            <a:avLst>
              <a:gd name="adj" fmla="val 1943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68512" y="1773936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V-INTELLIGENCE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68512" y="2066544"/>
            <a:ext cx="283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9DB8D6"/>
                </a:solidFill>
                <a:latin typeface="Aptos"/>
              </a:rPr>
              <a:t>behavioral entities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68512" y="2487168"/>
            <a:ext cx="28373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DCE6F4"/>
                </a:solidFill>
                <a:latin typeface="Aptos"/>
              </a:rPr>
              <a:t>Cohort + drift + known-bad</a:t>
            </a:r>
            <a:endParaRPr lang="en-US" sz="1200" dirty="0"/>
          </a:p>
          <a:p>
            <a:r>
              <a:rPr sz="1200">
                <a:solidFill>
                  <a:srgbClr val="DCE6F4"/>
                </a:solidFill>
                <a:latin typeface="Aptos"/>
              </a:rPr>
              <a:t>fused into one ranked score</a:t>
            </a:r>
          </a:p>
        </p:txBody>
      </p:sp>
      <p:sp>
        <p:nvSpPr>
          <p:cNvPr id="38" name="Text 36"/>
          <p:cNvSpPr/>
          <p:nvPr/>
        </p:nvSpPr>
        <p:spPr>
          <a:xfrm>
            <a:off x="8668512" y="4453128"/>
            <a:ext cx="2837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F36C21"/>
                </a:solidFill>
                <a:latin typeface="Aptos"/>
              </a:rPr>
              <a:t>4 of 4 caught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FBEDE6"/>
          </a:solidFill>
          <a:ln w="12700">
            <a:solidFill>
              <a:srgbClr val="F36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F5E9C"/>
                </a:solidFill>
                <a:latin typeface="Aptos"/>
              </a:rPr>
              <a:t>Why it matters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D2430"/>
                </a:solidFill>
                <a:latin typeface="Aptos"/>
              </a:rPr>
              <a:t>The tools most agencies run today see all four attackers as normal employees. V-Intelligence catches every one — and names why.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Same logs, read as living behavioral entities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No new data. The identical security logs become connected, time-aware entities that reveal where a user is heading — not just what crossed a line today.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926080" cy="352044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SAME LOGS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no new data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Sign-in &amp; access logs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Network &amp; endpoint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User &amp; device context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83864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945636" y="1572768"/>
            <a:ext cx="4297680" cy="3520440"/>
          </a:xfrm>
          <a:prstGeom prst="roundRect">
            <a:avLst>
              <a:gd name="adj" fmla="val 1818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74236" y="1773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BEHAVIORAL TWIN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74236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9DB8D6"/>
                </a:solidFill>
                <a:latin typeface="Aptos"/>
              </a:rPr>
              <a:t>same logs, in context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74236" y="24688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57116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Tracked over time (drift)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74236" y="3072384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57116" y="30723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Compared to its cohort (peers)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74236" y="3675888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57116" y="3675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Matched to known-bad profiles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74236" y="4279392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57116" y="4279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Explained in plain language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8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8805672" y="1572768"/>
            <a:ext cx="2928823" cy="352044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34272" y="1773936"/>
            <a:ext cx="2471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18484"/>
                </a:solidFill>
                <a:latin typeface="Aptos"/>
              </a:rPr>
              <a:t>DETECTION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34272" y="2066544"/>
            <a:ext cx="2471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one ranked verdict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34272" y="2441448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98864" y="2615184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45752" y="2441448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Behavioral risk score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034272" y="3008376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198864" y="3182112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45752" y="3008376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+ named technique evidence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34272" y="3575304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198864" y="3749040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445752" y="3575304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Calibrated, auditable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034272" y="4142232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198864" y="4315968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445752" y="4142232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Catches low-and-slow attacks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580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F5E9C"/>
                </a:solidFill>
                <a:latin typeface="Aptos"/>
              </a:rPr>
              <a:t>Key point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1D2430"/>
                </a:solidFill>
                <a:latin typeface="Aptos"/>
              </a:rPr>
              <a:t>Same data, a richer model — it captures what a user HAS done plus where they’re HEADING.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On any given day, the attacker looks normal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Two lenses read the same logs: raw numbers catch the noisy attack first; the AI “meaning” lens catches the subtle ones ~30 weeks sooner. The stealth APT hides from both on drift alone — which is why we fuse multiple fronts.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3</a:t>
            </a:r>
            <a:endParaRPr lang="en-US" sz="1000" dirty="0"/>
          </a:p>
        </p:txBody>
      </p:sp>
      <p:pic>
        <p:nvPicPr>
          <p:cNvPr id="26" name="Picture 25" descr="feature_cus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72768"/>
            <a:ext cx="5440680" cy="3400425"/>
          </a:xfrm>
          <a:prstGeom prst="rect">
            <a:avLst/>
          </a:prstGeom>
        </p:spPr>
      </p:pic>
      <p:pic>
        <p:nvPicPr>
          <p:cNvPr id="27" name="Picture 26" descr="embedding_cus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572768"/>
            <a:ext cx="5440680" cy="34004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1480" y="50292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2A4C"/>
                </a:solidFill>
              </a:rPr>
              <a:t>First clear detection (★):   USR-118 wk 36   ·   USR-156 wk 4   ·   USR-042 wk 15   ·   USR-234 — caught by known-bad profile, not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4132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Each lens has a blind spot. Running them together — plus the cohort and known-bad fronts — is what catches all four.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No normal user is extreme on every front at once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Each attacker pushes past the normal cluster on a different behavioral phase. That multi-phase extremity is the fingerprint a single threshold can’t see.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4</a:t>
            </a:r>
            <a:endParaRPr lang="en-US" sz="1000" dirty="0"/>
          </a:p>
        </p:txBody>
      </p:sp>
      <p:pic>
        <p:nvPicPr>
          <p:cNvPr id="26" name="Picture 25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4754880" cy="41709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1600200"/>
            <a:ext cx="6126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D2430"/>
                </a:solidFill>
              </a:rPr>
              <a:t>Grey = normal users (median &amp; 75th percentile): a tight cluster near the center.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The five behavioral phases: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Signal Strength — how far behavior departs from peers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Breadth — how many behaviors shifted at once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Sustained Deviation — how long the shift persisted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Context Divergence — how unlike its role-group it became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430"/>
                </a:solidFill>
              </a:rPr>
              <a:t>•  Novelty Persistence — new connections (e.g., C2) that keep recurring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02A4C"/>
                </a:solidFill>
              </a:rPr>
              <a:t>USR-156 dominates Signal Strength &amp; Breadth; USR-234 spikes on Novelty Persistence (its C2 beacon). No normal user reaches these extremes on multiple phases at once.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Every attack caught — with the cost stated honestly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Fused into one score, all four campaigns rank above the line that catches all four. A complementary known-bad detector catches the same four at zero false positives.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5</a:t>
            </a:r>
            <a:endParaRPr lang="en-US" sz="1000" dirty="0"/>
          </a:p>
        </p:txBody>
      </p:sp>
      <p:pic>
        <p:nvPicPr>
          <p:cNvPr id="26" name="Picture 25" descr="composite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91640"/>
            <a:ext cx="6126480" cy="36758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12280" y="17373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F36C21"/>
                </a:solidFill>
              </a:rPr>
              <a:t>0 → 4 of 4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D2430"/>
                </a:solidFill>
              </a:rPr>
              <a:t>stealth attacks caught that legacy scored as normal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832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•  Known-bad profiles: 4 of 4 at 0 false positives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•  Composite ranking: 4 of 4 at ~8% false positives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•  Subtle attacks flagged up to ~30 weeks earlier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C"/>
                </a:solidFill>
              </a:rPr>
              <a:t>•  Every alert names the behavior that fired — auditable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What this enables for the mission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From a daily flood of alerts to one ranked, explainable verdict — on the logs you already collect.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6</a:t>
            </a:r>
            <a:endParaRPr 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640080" y="16916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02A4C"/>
                </a:solidFill>
              </a:rPr>
              <a:t>Triage by risk — one risk-ranked list of entities, not thousands of threshold alerts.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02A4C"/>
                </a:solidFill>
              </a:rPr>
              <a:t>Explainable verdicts — every flag names the behavior, mapped to MITRE ATT&amp;CK.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02A4C"/>
                </a:solidFill>
              </a:rPr>
              <a:t>Slow-and-low coverage — catches insiders and APTs that stay inside every threshold for months.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02A4C"/>
                </a:solidFill>
              </a:rPr>
              <a:t>Deployable where you operate — containerized; runs on-premises or in an enclave.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36C21"/>
                </a:solidFill>
              </a:rPr>
              <a:t>Bottom line: catch what rules miss, before it becomes a breach — with evidence a SOC analyst and an auditor can both trust.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LAYER 3  —  APPLICATION / API / DATA /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Aptos"/>
              </a:rPr>
              <a:t>API &amp; Application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75"/>
                </a:solidFill>
                <a:latin typeface="Aptos"/>
              </a:rPr>
              <a:t>Discover, protect, and govern every API — before attackers find what you don’t know exists.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120640" cy="192024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19202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573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3333"/>
                </a:solidFill>
                <a:latin typeface="Aptos"/>
              </a:rPr>
              <a:t>WHAT THE ADVERSARY EXPLOITS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Shadow and undocumented APIs expose unknown attack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Business logic abuse bypasses signature-based defenses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Automated bot attacks — credential stuffing, scraping, fraud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API-targeted data exfiltration and injection 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Agentic AI workflows creating ungoverned API connections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5120640" cy="13716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91440" cy="1371600"/>
          </a:xfrm>
          <a:prstGeom prst="rect">
            <a:avLst/>
          </a:prstGeom>
          <a:solidFill>
            <a:srgbClr val="5E6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689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E6A75"/>
                </a:solidFill>
                <a:latin typeface="Aptos"/>
              </a:rPr>
              <a:t>ACTIVE DEVICES &amp;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API gateways and load balancers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Web application firewalls (WAF)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Application servers and microservices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Database and data-layer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Container orchestration (K8s)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Service mesh and east-west traffic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188720"/>
            <a:ext cx="5897880" cy="3383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40" y="1188720"/>
            <a:ext cx="91440" cy="3383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257300"/>
            <a:ext cx="5623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Aptos"/>
              </a:rPr>
              <a:t>22CT INNOVATION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46304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Behavioral API &amp; Application Protection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18288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Automated API discovery — finds shadow, zombie, and undocumented APIs across the environment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0574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Behavioral bot defense — distinguishes human, bot, and AI agent traffic without CAPTCHAs or friction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2860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Business logic abuse detection — identifies application workflow manipulation that WAFs miss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5146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Runtime API protection — real-time threat detection at the API layer, not static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7432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Agentic AI gateway — security, governance, and control for AI agent-to-API interactions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9718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Sensitive data exposure monitoring — flags PII and credential leakage in API responses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2004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OWASP API Top 10 coverage — comprehensive protection against known API attack patterns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290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Unified visibility — single pane across internal, external, and third-party API traffic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00600"/>
            <a:ext cx="1124712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8691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APIs are the fastest-growing attack surface in federal environments. Behavioral API protection discovers what you don’t know exists, stops what signatures miss, and governs what AI agents connect to — closing the gap between network defense and application reality.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LAYER 4  —  CI/CD PIPELINE / SOFTWARE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Aptos"/>
              </a:rPr>
              <a:t>Code &amp; Supply Chain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75"/>
                </a:solidFill>
                <a:latin typeface="Aptos"/>
              </a:rPr>
              <a:t>Find vulnerabilities before deployment — not after breach. Secure the code that builds the 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120640" cy="192024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19202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573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3333"/>
                </a:solidFill>
                <a:latin typeface="Aptos"/>
              </a:rPr>
              <a:t>WHAT THE ADVERSARY EXPLOITS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Zero-day vulnerabilities in deployed code and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Compromised open-source packages (supply chain injection)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Vulnerable container images propagating across environments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Insecure IaC templates creating misconfigurations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Adversary-inserted backdoors in third-party libraries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5120640" cy="13716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91440" cy="1371600"/>
          </a:xfrm>
          <a:prstGeom prst="rect">
            <a:avLst/>
          </a:prstGeom>
          <a:solidFill>
            <a:srgbClr val="5E6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689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E6A75"/>
                </a:solidFill>
                <a:latin typeface="Aptos"/>
              </a:rPr>
              <a:t>ACTIVE DEVICES &amp;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Source code repositories (Git)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CI/CD build and deploy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Package registries and dependency managers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Container image registries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Infrastructure-as-Code templates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Runtime application environments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188720"/>
            <a:ext cx="5897880" cy="3383280"/>
          </a:xfrm>
          <a:prstGeom prst="roundRect">
            <a:avLst/>
          </a:prstGeom>
          <a:solidFill>
            <a:srgbClr val="EE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40" y="1188720"/>
            <a:ext cx="91440" cy="33832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257300"/>
            <a:ext cx="5623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1B9A"/>
                </a:solidFill>
                <a:latin typeface="Aptos"/>
              </a:rPr>
              <a:t>22CT INNOVATION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46304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tos"/>
              </a:rPr>
              <a:t>Mythos + 7-Gate CI/CD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18288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Mythos — 2,000+ zero-day vulnerabilities discovered in 7 weeks across production codebases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0574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7-gate automated pipeline — code, SAST, DAST, SCA, container, IaC, and runtime 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2860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Every gate enforces pass/fail policy — vulnerable code cannot reach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5146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Supply chain dependency analysis — identifies compromised or abandoned packages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7432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Container image scanning — catches vulnerabilities before images enter the registry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9718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IaC security validation — prevents misconfigurations from deploying as infrastructure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2004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Continuous runtime monitoring — detects drift between deployed code and approved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2900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Aptos"/>
              </a:rPr>
              <a:t>•  SBOM generation and tracking — complete software bill of materials for every release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00600"/>
            <a:ext cx="1124712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8691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Supply chain attacks (SolarWinds, Log4Shell, XZ Utils) prove that perimeter and behavioral defense alone are insufficient. Mythos + 7-gate CI/CD catches what enters the codebase — 2,000+ zero-days in 7 weeks — before it becomes a breach.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HOW THE LAYERS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Aptos"/>
              </a:rPr>
              <a:t>From Perimeter to Code — Defense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75"/>
                </a:solidFill>
                <a:latin typeface="Aptos"/>
              </a:rPr>
              <a:t>Each layer catches what the others miss. Together they cover the full attack lifecycle — from network edge to codebase.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2560320" cy="1554480"/>
          </a:xfrm>
          <a:prstGeom prst="roundRect">
            <a:avLst/>
          </a:prstGeom>
          <a:solidFill>
            <a:srgbClr val="FDE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560320" cy="45720"/>
          </a:xfrm>
          <a:prstGeom prst="rect">
            <a:avLst/>
          </a:prstGeom>
          <a:solidFill>
            <a:srgbClr val="F26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40" y="1348740"/>
            <a:ext cx="640080" cy="228600"/>
          </a:xfrm>
          <a:prstGeom prst="roundRect">
            <a:avLst/>
          </a:prstGeom>
          <a:solidFill>
            <a:srgbClr val="F26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Aptos"/>
              </a:rPr>
              <a:t>NETWORK
PERIMETER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26B1F"/>
                </a:solidFill>
                <a:latin typeface="Aptos"/>
              </a:rPr>
              <a:t>Preemptive
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E6A75"/>
                </a:solidFill>
                <a:latin typeface="Aptos"/>
              </a:rPr>
              <a:t>Formal math proof.
Config drift &lt; 1 hr.
Multi-vendor.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0" y="198882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E6A75"/>
                </a:solidFill>
                <a:latin typeface="Aptos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280160"/>
            <a:ext cx="2560320" cy="1554480"/>
          </a:xfrm>
          <a:prstGeom prst="roundRect">
            <a:avLst/>
          </a:prstGeom>
          <a:solidFill>
            <a:srgbClr val="E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1280160"/>
            <a:ext cx="256032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77640" y="1348740"/>
            <a:ext cx="640080" cy="22860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Aptos"/>
              </a:rPr>
              <a:t>BEHAVIORAL
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91B2"/>
                </a:solidFill>
                <a:latin typeface="Aptos"/>
              </a:rPr>
              <a:t>V-Intelligence
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E6A75"/>
                </a:solidFill>
                <a:latin typeface="Aptos"/>
              </a:rPr>
              <a:t>Behavioral digital twin.
4/4 nation-state
attacks detected.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0700" y="198882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E6A75"/>
                </a:solidFill>
                <a:latin typeface="Aptos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1280160"/>
            <a:ext cx="2560320" cy="15544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1280160"/>
            <a:ext cx="256032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1348740"/>
            <a:ext cx="640080" cy="228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LAYER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Aptos"/>
              </a:rPr>
              <a:t>APPLICATION
API /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Aptos"/>
              </a:rPr>
              <a:t>Behavioral API
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E6A75"/>
                </a:solidFill>
                <a:latin typeface="Aptos"/>
              </a:rPr>
              <a:t>Discover shadow APIs.
Stop bot attacks.
Govern AI agents.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3900" y="1988820"/>
            <a:ext cx="137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E6A75"/>
                </a:solidFill>
                <a:latin typeface="Aptos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1280160"/>
            <a:ext cx="2560320" cy="1554480"/>
          </a:xfrm>
          <a:prstGeom prst="roundRect">
            <a:avLst/>
          </a:prstGeom>
          <a:solidFill>
            <a:srgbClr val="EE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1280160"/>
            <a:ext cx="2560320" cy="45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64040" y="1348740"/>
            <a:ext cx="640080" cy="2286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LAYER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Aptos"/>
              </a:rPr>
              <a:t>CODE &amp; SUPPLY
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Aptos"/>
              </a:rPr>
              <a:t>Mythos + 7-Gate
CI/CD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E6A75"/>
                </a:solidFill>
                <a:latin typeface="Aptos"/>
              </a:rPr>
              <a:t>Secure before deploy.
2,000+ zero-days
in 7 weeks.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3017520"/>
            <a:ext cx="256032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0403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Aptos"/>
              </a:rPr>
              <a:t>Config Exploits
Misconfiguration, Shadow Rules, Drift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3017520"/>
            <a:ext cx="256032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30403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Aptos"/>
              </a:rPr>
              <a:t>Insider &amp; APT
Salt Typhoon, Volt Typhoon, LoTL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3017520"/>
            <a:ext cx="256032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30403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Aptos"/>
              </a:rPr>
              <a:t>API &amp; App Attacks
Bot Fraud, Logic Abuse, Data Exfil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3920" y="3017520"/>
            <a:ext cx="256032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30403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Aptos"/>
              </a:rPr>
              <a:t>Supply Chain Attacks
SolarWinds, Log4Shell, XZ Utils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520440"/>
            <a:ext cx="10789920" cy="3200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5661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COUNTERING AI-ENABLED CYBER ATTACKS  —  Innovation at every layer fights AI with AI across the full attack surface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977640"/>
            <a:ext cx="23774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26B1F"/>
                </a:solidFill>
                <a:latin typeface="Aptos"/>
              </a:rPr>
              <a:t>Layer 1 proves: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1376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Aptos"/>
              </a:rPr>
              <a:t>No config gap goes unproven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3977640"/>
            <a:ext cx="23774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891B2"/>
                </a:solidFill>
                <a:latin typeface="Aptos"/>
              </a:rPr>
              <a:t>Layer 2 proves: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41376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Aptos"/>
              </a:rPr>
              <a:t>No behavior goes undetected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3977640"/>
            <a:ext cx="23774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E7D32"/>
                </a:solidFill>
                <a:latin typeface="Aptos"/>
              </a:rPr>
              <a:t>Layer 3 proves: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41376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Aptos"/>
              </a:rPr>
              <a:t>No API goes unprotected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3977640"/>
            <a:ext cx="23774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A1B9A"/>
                </a:solidFill>
                <a:latin typeface="Aptos"/>
              </a:rPr>
              <a:t>Layer 4 proves: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1376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Aptos"/>
              </a:rPr>
              <a:t>No vulnerable code ships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Defense in depth: Layer 1 proves the perimeter. Layer 2 watches behavior. Layer 3 guards the applications. Layer 4 secures the code. Together — no gap for adversaries to exploit.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V-Intelligence UEBA — Executive Brief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3435</Words>
  <Application>Microsoft Office PowerPoint</Application>
  <PresentationFormat>Widescreen</PresentationFormat>
  <Paragraphs>314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Ravindra Kumar Shukla</dc:creator>
  <cp:keywords/>
  <dc:description>generated using python-pptx</dc:description>
  <cp:lastModifiedBy>Ravindra Shukla</cp:lastModifiedBy>
  <cp:revision>5</cp:revision>
  <cp:lastPrinted>2026-06-17T11:45:30Z</cp:lastPrinted>
  <dcterms:created xsi:type="dcterms:W3CDTF">2013-01-27T09:14:16Z</dcterms:created>
  <dcterms:modified xsi:type="dcterms:W3CDTF">2026-06-17T11:45:40Z</dcterms:modified>
  <cp:category/>
</cp:coreProperties>
</file>