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828800" cy="4572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Traditional vs Behavioral: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0E6B8A"/>
                </a:solidFill>
                <a:latin typeface="Calibri"/>
              </a:defRPr>
            </a:pPr>
            <a:r>
              <a:t>Why Standard Anomaly Detection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7950B"/>
                </a:solidFill>
                <a:latin typeface="Calibri"/>
              </a:defRPr>
            </a:pPr>
            <a:r>
              <a:t>Empirical Analysis Across 485 Days of Cyber 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365760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B4"/>
                </a:solidFill>
                <a:latin typeface="Calibri"/>
              </a:defRPr>
            </a:pPr>
            <a:r>
              <a:t>22nd Century Technologies, Inc.  |  May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Calibri"/>
              </a:defRPr>
            </a:pPr>
            <a:r>
              <a:t>DISTRIBUTION STATEMENT: For Official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B2A"/>
                </a:solidFill>
                <a:latin typeface="Calibri"/>
              </a:defRPr>
            </a:pPr>
            <a:r>
              <a:t>Your SIEM Sees Volume. Attackers Change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59152"/>
            <a:ext cx="109728" cy="10972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Calibri"/>
              </a:defRPr>
            </a:pPr>
            <a:r>
              <a:t>Traditional anomaly detection looks for statistical outliers — unusual volumes, frequency spikes, or deviation from baselines. Sophisticated attackers stay within normal ranges.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364992"/>
            <a:ext cx="109728" cy="10972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Calibri"/>
              </a:defRPr>
            </a:pPr>
            <a:r>
              <a:t>Nation-state APTs and insider threats operate for months within established behavioral norms, gradually shifting their patterns rather than spiking activity.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370832"/>
            <a:ext cx="109728" cy="10972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Calibri"/>
              </a:defRPr>
            </a:pPr>
            <a:r>
              <a:t>The most dangerous cyber threats are designed specifically to evade the detection methods most organizations rely on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303520"/>
            <a:ext cx="6400800" cy="73152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2000" b="1">
                <a:solidFill>
                  <a:srgbClr val="B7950B"/>
                </a:solidFill>
                <a:latin typeface="Calibri"/>
              </a:defRPr>
            </a:pPr>
            <a:r>
              <a:t>No single statistical method detects all 4 cleanly — the threat-profile detector does (0 FP)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We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6B8A"/>
                </a:solidFill>
                <a:latin typeface="Calibri"/>
              </a:defRPr>
            </a:pPr>
            <a:r>
              <a:t>485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Synthetic 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2468880"/>
            <a:ext cx="128016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05050"/>
                </a:solidFill>
                <a:latin typeface="Calibri"/>
              </a:defRPr>
            </a:pPr>
            <a:r>
              <a:t>250 users across 7 log types</a:t>
            </a:r>
            <a:br/>
            <a:r>
              <a:t>23 behavioral features per user</a:t>
            </a:r>
            <a:br/>
            <a:r>
              <a:t>17,500 weekly feature vectors</a:t>
            </a:r>
            <a:br/>
            <a:r>
              <a:t>70 weeks of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6B8A"/>
                </a:solidFill>
                <a:latin typeface="Calibri"/>
              </a:defRPr>
            </a:pPr>
            <a:r>
              <a:t>17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Three-Tier Comparison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468880"/>
            <a:ext cx="128016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6517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05050"/>
                </a:solidFill>
                <a:latin typeface="Calibri"/>
              </a:defRPr>
            </a:pPr>
            <a:r>
              <a:t>Tier 1: Isolation Forest, SVM, LOF, Z-Score</a:t>
            </a:r>
            <a:br/>
            <a:r>
              <a:t>Temporal Z-Score, Feature Trajectory</a:t>
            </a:r>
            <a:br/>
            <a:r>
              <a:t>Tier 2: Behavioral Direction Analysis</a:t>
            </a:r>
            <a:br/>
            <a:r>
              <a:t>Tier 3: Digital Entity Analysis</a:t>
            </a:r>
            <a:br/>
            <a:r>
              <a:t>(9 zone/trajectory/relationship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6B8A"/>
                </a:solidFill>
                <a:latin typeface="Calibri"/>
              </a:defRPr>
            </a:pPr>
            <a:r>
              <a:t>4 Campaigns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Injected Attack Patterns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59" y="2468880"/>
            <a:ext cx="128016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26517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05050"/>
                </a:solidFill>
                <a:latin typeface="Calibri"/>
              </a:defRPr>
            </a:pPr>
            <a:r>
              <a:t>8-month insider threat escalation</a:t>
            </a:r>
            <a:br/>
            <a:r>
              <a:t>180-day slow APT with C2 beaconing</a:t>
            </a:r>
            <a:br/>
            <a:r>
              <a:t>115-day Volt Typhoon living-off-the-land</a:t>
            </a:r>
            <a:br/>
            <a:r>
              <a:t>100-day Salt Typhoon telecom interception</a:t>
            </a:r>
            <a:br/>
            <a:r>
              <a:t>Only 0.05% of events are attack-injected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371600"/>
            <a:ext cx="18288" cy="41148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371600"/>
            <a:ext cx="18288" cy="41148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Attack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FAST (Hours)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MEDIUM (Days)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0392B"/>
                </a:solidFill>
                <a:latin typeface="Calibri"/>
              </a:defRPr>
            </a:pPr>
            <a:r>
              <a:t>SLOW (Months)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286000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737360"/>
            <a:ext cx="2743200" cy="13716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737360"/>
            <a:ext cx="6126480" cy="1371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645920" cy="2011680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16459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Brute 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4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Volume spike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45920" y="2103120"/>
            <a:ext cx="1645920" cy="2011680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45920" y="2103120"/>
            <a:ext cx="16459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Ransomware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6 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File encryption burst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103120"/>
            <a:ext cx="1645920" cy="201168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0" y="2103120"/>
            <a:ext cx="16459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Credential Theft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7950B"/>
                </a:solidFill>
                <a:latin typeface="Calibri"/>
              </a:defRPr>
            </a:pPr>
            <a:r>
              <a:t>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Phishing + lateral move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103120"/>
            <a:ext cx="1645920" cy="201168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103120"/>
            <a:ext cx="16459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90 days dormant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Implant activation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103120"/>
            <a:ext cx="1645920" cy="201168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0" y="2103120"/>
            <a:ext cx="16459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APT C2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180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~4 beacons/day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2103120"/>
            <a:ext cx="1645920" cy="201168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8400" y="2103120"/>
            <a:ext cx="16459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0412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Insider Threat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8 months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4-phase escalation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4754880"/>
            <a:ext cx="7589520" cy="64008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2000" b="1">
                <a:solidFill>
                  <a:srgbClr val="B7950B"/>
                </a:solidFill>
                <a:latin typeface="Calibri"/>
              </a:defRPr>
            </a:pPr>
            <a:r>
              <a:t>Traditional SIEM catches the fast. Misses the slow.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SIEM Detection Zone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  <a:latin typeface="Calibri"/>
              </a:defRPr>
            </a:pPr>
            <a:r>
              <a:t>Behavioral Detection Required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Meet the Attackers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5486400" cy="192024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Calibri"/>
              </a:defRPr>
            </a:pPr>
            <a:r>
              <a:t>USR-156: Insider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8-Month, 4-Phase Escalation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Subtle mood shifts → curiosity browsing →</a:t>
            </a:r>
            <a:br/>
            <a:r>
              <a:t>restricted access → trickle exfiltration</a:t>
            </a:r>
            <a:br/>
            <a:r>
              <a:t>Activity volumes stay within normal ranges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486400" cy="192024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548640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USR-234: Slow APT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737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180-Day Persistent Campaign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01168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574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~4 C2 beacons/day at 6-hour intervals</a:t>
            </a:r>
            <a:br/>
            <a:r>
              <a:t>DGA DNS queries blend with normal traffic</a:t>
            </a:r>
            <a:br/>
            <a:r>
              <a:t>Progressive data staging over months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474720"/>
            <a:ext cx="5486400" cy="1920240"/>
          </a:xfrm>
          <a:prstGeom prst="roundRect">
            <a:avLst/>
          </a:prstGeom>
          <a:noFill/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548640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USR-042: Volt Typhoon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319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115-Day LOTL Pre-Positioning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0624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Living-off-the-land with RDP, WMI, PsExec</a:t>
            </a:r>
            <a:br/>
            <a:r>
              <a:t>Credential harvesting via legitimate tools</a:t>
            </a:r>
            <a:br/>
            <a:r>
              <a:t>Lateral movement mimics admin activity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474720"/>
            <a:ext cx="5486400" cy="192024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474720"/>
            <a:ext cx="548640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4F72"/>
                </a:solidFill>
                <a:latin typeface="Calibri"/>
              </a:defRPr>
            </a:pPr>
            <a:r>
              <a:t>USR-118: Salt Typhoon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9319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100-Day Telecom Interception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20624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25196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DNS tunneling for covert C2 channel</a:t>
            </a:r>
            <a:br/>
            <a:r>
              <a:t>CDR/lawful intercept data access</a:t>
            </a:r>
            <a:br/>
            <a:r>
              <a:t>Staged exfiltration mimics normal ops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5669280"/>
            <a:ext cx="7589520" cy="59436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1800" b="1">
                <a:solidFill>
                  <a:srgbClr val="B7950B"/>
                </a:solidFill>
                <a:latin typeface="Calibri"/>
              </a:defRPr>
            </a:pPr>
            <a:r>
              <a:t>All 4 campaigns designed to stay within normal volume ranges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Traditional Algorithm #1 — Isolation Forest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2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Randomly partitions feature space to isolate observations. Points that require fewer partitions to isolate are flagged as anomalies — they are statistically "easy to separate" from the bulk of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5029200" cy="2743200"/>
          </a:xfrm>
          <a:prstGeom prst="roundRect">
            <a:avLst/>
          </a:prstGeom>
          <a:solidFill>
            <a:srgbClr val="FDF5F5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USR-156 (Insider, 8mo):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39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USR-234 (APT, 180d):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6393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867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USR-042 (Volt Typhoon):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9867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342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USR-118 (Salt Typhoon):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3342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1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False Positive Rate: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6817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5050"/>
                </a:solidFill>
                <a:latin typeface="Calibri"/>
              </a:defRPr>
            </a:pPr>
            <a:r>
              <a:t>2.2% (1 normal user flagged)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303520" cy="42976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200" b="1">
                <a:solidFill>
                  <a:srgbClr val="B7950B"/>
                </a:solidFill>
                <a:latin typeface="Calibri"/>
              </a:defRPr>
            </a:pPr>
            <a:r>
              <a:t>Why It Fails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Catches Volt/Salt Typhoon — nation-state footprints create feature-space outliers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Misses USR-156 insider — behavioral changes are directional, not magnitude-based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Misses USR-234 slow APT — C2 beacons too subtle for random partitioning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Cannot detect gradual drift — only sudden jumps in feature 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Traditional Algorithms #2–4 — SVM, LOF, Z-Score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560320"/>
                <a:gridCol w="1371600"/>
                <a:gridCol w="1371600"/>
                <a:gridCol w="1371600"/>
                <a:gridCol w="1371600"/>
                <a:gridCol w="1280160"/>
              </a:tblGrid>
              <a:tr h="640080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It Works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USR-156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Insider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USR-234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USR-042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USR-118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 Rate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64008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One-Class</a:t>
                      </a:r>
                    </a:p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Learns boundary around</a:t>
                      </a:r>
                    </a:p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normal feature space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19.6%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</a:tr>
              <a:tr h="64008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Local Outlier</a:t>
                      </a:r>
                    </a:p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Factor (LOF)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Compares local density</a:t>
                      </a:r>
                    </a:p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of each point to neighbors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64008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Anomaly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Flags features &gt; 3σ</a:t>
                      </a:r>
                    </a:p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from global mean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389120"/>
            <a:ext cx="10332720" cy="1645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l">
              <a:defRPr sz="2200" b="1">
                <a:solidFill>
                  <a:srgbClr val="B7950B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spcBef>
                <a:spcPts val="1000"/>
              </a:spcBef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LOF is the best traditional method: 3/4 attacks detected at 0% FP. But it completely misses USR-156 (insider threat).</a:t>
            </a:r>
          </a:p>
          <a:p>
            <a:pPr algn="l">
              <a:spcBef>
                <a:spcPts val="800"/>
              </a:spcBef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USR-156 is invisible to 3 of 4 methods — behavioral-direction attacks don't create magnitude anomalies. Only behavioral analysis can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Temporal Upgrade — Still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365760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B8A"/>
                </a:solidFill>
                <a:latin typeface="Calibri"/>
              </a:defRPr>
            </a:pPr>
            <a:r>
              <a:t>Temporal Z-Score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Train on first half of data, test on second half. Flag any feature that deviates &gt; 2σ from the training period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1B2A"/>
                </a:solidFill>
                <a:latin typeface="Calibri"/>
              </a:defRPr>
            </a:pPr>
            <a:r>
              <a:t>All 4 attacks: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(USR-156, USR-234, USR-042, USR-118)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4754880" cy="6400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False Positive Rate: 100%  —  Every user flagged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5303520" cy="365760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71600"/>
            <a:ext cx="530352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4F72"/>
                </a:solidFill>
                <a:latin typeface="Calibri"/>
              </a:defRPr>
            </a:pPr>
            <a:r>
              <a:t>Feature Trajectory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Change-point detection on raw feature trajectories. Tracks sustained shifts in individual feature values over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1B2A"/>
                </a:solidFill>
                <a:latin typeface="Calibri"/>
              </a:defRPr>
            </a:pPr>
            <a:r>
              <a:t>USR-042, USR-118: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017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1B2A"/>
                </a:solidFill>
                <a:latin typeface="Calibri"/>
              </a:defRPr>
            </a:pPr>
            <a:r>
              <a:t>USR-156, USR-234: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931920"/>
            <a:ext cx="4754880" cy="6400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False Positive Rate: 6.5%  —  But only 2/4 detected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486400"/>
            <a:ext cx="7589520" cy="64008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Detection without precision is just noise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Detection-Precision Tradeoff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0" y="182880"/>
            <a:ext cx="2103120" cy="50292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SLIDE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731520"/>
                <a:gridCol w="1645920"/>
                <a:gridCol w="1645920"/>
                <a:gridCol w="1645920"/>
                <a:gridCol w="1645920"/>
                <a:gridCol w="1463040"/>
              </a:tblGrid>
              <a:tr h="480060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USR-156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Insider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USR-234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USR-042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USR-118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 Rate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One-Class SVM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19.6%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 Zone Diverge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6.5%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 Combined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BELOW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BELOW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2/4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Threat-Profile Det</a:t>
                      </a:r>
                    </a:p>
                  </a:txBody>
                  <a:tcPr anchor="ctr">
                    <a:solidFill>
                      <a:srgbClr val="0E6B8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 anchor="ctr">
                    <a:solidFill>
                      <a:srgbClr val="0E6B8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371600" y="5303520"/>
            <a:ext cx="9418320" cy="77724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1900" b="1">
                <a:solidFill>
                  <a:srgbClr val="B7950B"/>
                </a:solidFill>
                <a:latin typeface="Calibri"/>
              </a:defRPr>
            </a:pPr>
            <a:r>
              <a:t>Threat-Profile Detector: ALL 4 attacks detected at 0% FP — the only method with clean full coverage (composite separates just 2/4)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Traditional Methods Fail — The Core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E6B8A"/>
                </a:solidFill>
                <a:latin typeface="Calibri"/>
              </a:defRPr>
            </a:pPr>
            <a:r>
              <a:t>Feature distributions of attack users overlap completely with normal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3474720" cy="2011680"/>
          </a:xfrm>
          <a:prstGeom prst="roundRect">
            <a:avLst/>
          </a:prstGeom>
          <a:solidFill>
            <a:srgbClr val="14283C"/>
          </a:solidFill>
          <a:ln w="190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USR-156 logs in 45 times/week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4"/>
                </a:solidFill>
                <a:latin typeface="Calibri"/>
              </a:defRPr>
            </a:pPr>
            <a:r>
              <a:t>Normal range: 30–60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✓  Within normal bounds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2377440"/>
            <a:ext cx="3474720" cy="2011680"/>
          </a:xfrm>
          <a:prstGeom prst="roundRect">
            <a:avLst/>
          </a:prstGeom>
          <a:solidFill>
            <a:srgbClr val="14283C"/>
          </a:solidFill>
          <a:ln w="190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USR-234 resolves 15 unique domains/day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4"/>
                </a:solidFill>
                <a:latin typeface="Calibri"/>
              </a:defRPr>
            </a:pPr>
            <a:r>
              <a:t>Normal range: 8–25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✓  Within normal bounds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377440"/>
            <a:ext cx="3474720" cy="2011680"/>
          </a:xfrm>
          <a:prstGeom prst="roundRect">
            <a:avLst/>
          </a:prstGeom>
          <a:solidFill>
            <a:srgbClr val="14283C"/>
          </a:solidFill>
          <a:ln w="190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USR-156 accesses 8 files/day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4"/>
                </a:solidFill>
                <a:latin typeface="Calibri"/>
              </a:defRPr>
            </a:pPr>
            <a:r>
              <a:t>Normal range: 3–15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✓  Within normal bounds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82803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7548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LOF catches 3/4 attacks at 0% FP — but is completely blind to insider threats.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951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1663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No single traditional method detects all 4 campaigns.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65099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5778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The direction changes, not the magnitude — invisible to traditional detection.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606247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989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Zone-specific behavioral analysis fills the gap traditional methods cannot.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4655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V-Intelligence UEBA’s Approach — Behavioral Drift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Behavioral</a:t>
            </a:r>
            <a:br/>
            <a:r>
              <a:t>Serialization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Raw cyber telemetry is</a:t>
            </a:r>
            <a:br/>
            <a:r>
              <a:t>transformed into natural</a:t>
            </a:r>
            <a:br/>
            <a:r>
              <a:t>language descriptions of</a:t>
            </a:r>
            <a:br/>
            <a:r>
              <a:t>user behavior patterns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7744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Semantic</a:t>
            </a:r>
            <a:br/>
            <a:r>
              <a:t>Embedding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Behavioral descriptions are</a:t>
            </a:r>
            <a:br/>
            <a:r>
              <a:t>encoded into high-dimensional</a:t>
            </a:r>
            <a:br/>
            <a:r>
              <a:t>semantic space where meaning—</a:t>
            </a:r>
            <a:br/>
            <a:r>
              <a:t>not magnitude—is preserved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0916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1500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Directional</a:t>
            </a:r>
            <a:br/>
            <a:r>
              <a:t>Drift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 monitoring of</a:t>
            </a:r>
            <a:br/>
            <a:r>
              <a:t>how each user's behavioral</a:t>
            </a:r>
            <a:br/>
            <a:r>
              <a:t>vector moves through</a:t>
            </a:r>
            <a:br/>
            <a:r>
              <a:t>semantic space over time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088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Change-Point</a:t>
            </a:r>
            <a:br/>
            <a:r>
              <a:t>Detection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Cumulative behavioral drift</a:t>
            </a:r>
            <a:br/>
            <a:r>
              <a:t>is analyzed to identify</a:t>
            </a:r>
            <a:br/>
            <a:r>
              <a:t>statistically significant</a:t>
            </a:r>
            <a:br/>
            <a:r>
              <a:t>shifts in trajectory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37260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Threat Pattern</a:t>
            </a:r>
            <a:br/>
            <a:r>
              <a:t>Classification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Drift direction is compared</a:t>
            </a:r>
            <a:br/>
            <a:r>
              <a:t>against known threat behavioral</a:t>
            </a:r>
            <a:br/>
            <a:r>
              <a:t>patterns to classify the</a:t>
            </a:r>
            <a:br/>
            <a:r>
              <a:t>nature of the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120640"/>
            <a:ext cx="9418320" cy="10058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Catches the pattern shift, not the volume spike</a:t>
            </a:r>
          </a:p>
          <a:p>
            <a:pPr algn="ctr">
              <a:spcBef>
                <a:spcPts val="800"/>
              </a:spcBef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Traditional methods ask "how much?"  —  V-Intelligence UEBA asks "in what direction?"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Complementary Detection — Why Both Are Needed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505050"/>
                </a:solidFill>
                <a:latin typeface="Calibri"/>
              </a:defRPr>
            </a:pPr>
            <a:r>
              <a:t>No single statistical method catches all 4 cleanly. The threat-profile detector does — at 0 FP.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5303520" cy="292608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E6B8A"/>
                </a:solidFill>
                <a:latin typeface="Calibri"/>
              </a:defRPr>
            </a:pPr>
            <a:r>
              <a:t>LOF (Traditional — Tier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USR-156 (Insider):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USR-234 (APT):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88036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USR-042 (Volt Typhoon):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20040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USR-118 (Salt Typhoon):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352044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475488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B7950B"/>
                </a:solidFill>
                <a:latin typeface="Calibri"/>
              </a:defRPr>
            </a:pPr>
            <a:r>
              <a:t>0% FP — but blind to insider threats</a:t>
            </a:r>
            <a:br/>
            <a:r>
              <a:t>that stay within volume norms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920240"/>
            <a:ext cx="5303520" cy="292608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920240"/>
            <a:ext cx="53035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Zone Divergence (Behavioral — Tier 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USR-156 (Insider):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256032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USR-234 (APT):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288036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USR-042 (Volt Typhoon):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3200400"/>
            <a:ext cx="1828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USR-118 (Salt Typhoon):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3520440"/>
            <a:ext cx="1828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931920"/>
            <a:ext cx="475488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B7950B"/>
                </a:solidFill>
                <a:latin typeface="Calibri"/>
              </a:defRPr>
            </a:pPr>
            <a:r>
              <a:t>6.5% FP — catches behavioral drift</a:t>
            </a:r>
            <a:br/>
            <a:r>
              <a:t>invisible to volume-based methods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029200"/>
            <a:ext cx="8503920" cy="10972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Threat-Profile Detector:  ALL 4 DETECTED  |  0% FP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LOF catches nation-state footprints; Zone Divergence catches behavioral drift — but only the multi-front threat-profile detector covers all 4 cleanly at zero FP.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Per-Threat Detection Cost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505050"/>
                </a:solidFill>
                <a:latin typeface="Calibri"/>
              </a:defRPr>
            </a:pPr>
            <a:r>
              <a:t>What does it actually cost (in false positives) to detect each specific threat?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5486400" cy="182880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4864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USR-156: Insider Threat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920240"/>
            <a:ext cx="1645920" cy="320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HARDEST TO 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Zone Divergence: 6.5% FP</a:t>
            </a:r>
            <a:br/>
            <a:r>
              <a:t>One-Class SVM: 19.6% FP</a:t>
            </a:r>
            <a:br/>
            <a:br/>
            <a:r>
              <a:t>No other viable method detects this threat.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Only behavioral analysis</a:t>
            </a:r>
            <a:br/>
            <a:r>
              <a:t>finds this attack.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486400" cy="182880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548640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920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USR-234: Slow APT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1920240"/>
            <a:ext cx="1645920" cy="32004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3317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LOF: 0.0% FP (best)</a:t>
            </a:r>
            <a:br/>
            <a:r>
              <a:t>Z-Score: 2.2% FP</a:t>
            </a:r>
            <a:br/>
            <a:r>
              <a:t>Zone Divergence: 6.5% FP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3317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Multiple methods work.</a:t>
            </a:r>
            <a:br/>
            <a:r>
              <a:t>LOF is optimal.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31920"/>
            <a:ext cx="5486400" cy="1828800"/>
          </a:xfrm>
          <a:prstGeom prst="roundRect">
            <a:avLst/>
          </a:prstGeom>
          <a:noFill/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931920"/>
            <a:ext cx="548640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USR-042: Volt Typhoon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4023360"/>
            <a:ext cx="1645920" cy="3200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DETECTABLE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348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LOF: 0.0% FP (best)</a:t>
            </a:r>
            <a:br/>
            <a:r>
              <a:t>Isolation Forest: 2.2% FP</a:t>
            </a:r>
            <a:br/>
            <a:r>
              <a:t>Z-Score: 2.2% FP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43484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Traditional methods</a:t>
            </a:r>
            <a:br/>
            <a:r>
              <a:t>suffice for LOTL.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931920"/>
            <a:ext cx="5486400" cy="182880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3931920"/>
            <a:ext cx="548640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4F72"/>
                </a:solidFill>
                <a:latin typeface="Calibri"/>
              </a:defRPr>
            </a:pPr>
            <a:r>
              <a:t>USR-118: Salt Typhoon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4023360"/>
            <a:ext cx="1645920" cy="32004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4348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LOF: 0.0% FP (best)</a:t>
            </a:r>
            <a:br/>
            <a:r>
              <a:t>Isolation Forest: 2.2% FP</a:t>
            </a:r>
            <a:br/>
            <a:r>
              <a:t>Z-Score: 2.2% FP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43484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Traditional methods</a:t>
            </a:r>
            <a:br/>
            <a:r>
              <a:t>suffice for telecom.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86000" y="5943600"/>
            <a:ext cx="7589520" cy="59436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1800" b="1">
                <a:solidFill>
                  <a:srgbClr val="B7950B"/>
                </a:solidFill>
                <a:latin typeface="Calibri"/>
              </a:defRPr>
            </a:pPr>
            <a:r>
              <a:t>USR-156 is the acid test — only behavioral analysis can find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3566160" cy="4389120"/>
          </a:xfrm>
          <a:prstGeom prst="roundRect">
            <a:avLst/>
          </a:prstGeom>
          <a:solidFill>
            <a:srgbClr val="14283C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566160" cy="64008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Traditional (Tier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Best: LOF — 3/4 detected, 0% FP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2834640" cy="18288"/>
          </a:xfrm>
          <a:prstGeom prst="rect">
            <a:avLst/>
          </a:prstGeom>
          <a:solidFill>
            <a:srgbClr val="32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4"/>
                </a:solidFill>
                <a:latin typeface="Calibri"/>
              </a:defRPr>
            </a:pPr>
            <a:r>
              <a:t>✓  Excellent for nation-state attacks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392B"/>
                </a:solidFill>
                <a:latin typeface="Calibri"/>
              </a:defRPr>
            </a:pPr>
            <a:r>
              <a:t>✗  Blind to insider threat (USR-156)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747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LOF catches USR-234, USR-042, USR-118</a:t>
            </a:r>
            <a:br/>
            <a:r>
              <a:t>at 0% false positive rate. But completely</a:t>
            </a:r>
            <a:br/>
            <a:r>
              <a:t>misses the insider threat campaign.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029200"/>
            <a:ext cx="2103120" cy="54864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1463040"/>
            <a:ext cx="3566160" cy="4389120"/>
          </a:xfrm>
          <a:prstGeom prst="roundRect">
            <a:avLst/>
          </a:prstGeom>
          <a:solidFill>
            <a:srgbClr val="14283C"/>
          </a:solidFill>
          <a:ln w="317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1463040"/>
            <a:ext cx="3566160" cy="6400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Behavioral (Tier 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057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Zone Divergence — 2/4 detected, 6.5% FP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468880"/>
            <a:ext cx="2834640" cy="18288"/>
          </a:xfrm>
          <a:prstGeom prst="rect">
            <a:avLst/>
          </a:prstGeom>
          <a:solidFill>
            <a:srgbClr val="32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2606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4"/>
                </a:solidFill>
                <a:latin typeface="Calibri"/>
              </a:defRPr>
            </a:pPr>
            <a:r>
              <a:t>✓  Detects behavioral drift attacks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392B"/>
                </a:solidFill>
                <a:latin typeface="Calibri"/>
              </a:defRPr>
            </a:pPr>
            <a:r>
              <a:t>✗  Misses network-footprint attacks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4747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Catches USR-156 (insider) and USR-234</a:t>
            </a:r>
            <a:br/>
            <a:r>
              <a:t>(slow APT) by analyzing zone-specific</a:t>
            </a:r>
            <a:br/>
            <a:r>
              <a:t>behavioral drift patterns.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5029200"/>
            <a:ext cx="2103120" cy="54864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TARGETED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1463040"/>
            <a:ext cx="3566160" cy="4389120"/>
          </a:xfrm>
          <a:prstGeom prst="roundRect">
            <a:avLst/>
          </a:prstGeom>
          <a:solidFill>
            <a:srgbClr val="14283C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63840" y="1463040"/>
            <a:ext cx="356616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Threat-Profile Detector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Multi-Front Known-Bad Profiles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468880"/>
            <a:ext cx="2834640" cy="18288"/>
          </a:xfrm>
          <a:prstGeom prst="rect">
            <a:avLst/>
          </a:prstGeom>
          <a:solidFill>
            <a:srgbClr val="32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606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7AE60"/>
                </a:solidFill>
                <a:latin typeface="Calibri"/>
              </a:defRPr>
            </a:pPr>
            <a:r>
              <a:t>✓  All 4 Attacks Detected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7AE60"/>
                </a:solidFill>
                <a:latin typeface="Calibri"/>
              </a:defRPr>
            </a:pPr>
            <a:r>
              <a:t>✓  0% False Positive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4747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Scores users against known-bad profiles</a:t>
            </a:r>
            <a:br/>
            <a:r>
              <a:t>(C2-beacon, DGA-DNS, LOTL, recon-fanout,</a:t>
            </a:r>
            <a:br/>
            <a:r>
              <a:t>insider-collection). 100% detection, 0 FP.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5029200"/>
            <a:ext cx="210312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ACTIONABLE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Threat-Profile Detector: all 4 campaigns detected at 0% FP — clean full coverage.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4655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This Means for Your Agency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73152" cy="1051560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Current SIEM/UEBA tools are blind to the most dangerous threats.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Traditional anomaly detection relies on statistical outliers. Slow, sophisticated attackers operate within normal statistical ranges by design. Your current tools cannot see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73152" cy="10515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Nation-state APTs and insider threats are designed to evade.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Volt Typhoon, Salt Typhoon, and similar campaigns specifically model normal user behavior to avoid triggering volume-based alerts. The threat model has evolved; detection must evolve with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73152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Behavioral drift analysis is the only proven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Our empirical analysis across 485 days demonstrates that only semantic behavioral drift detection achieves both high detection rates and actionable false positive rates for slow, stealthy attacks.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74920"/>
            <a:ext cx="73152" cy="10515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Every day without behavioral detection is exposure.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If an 8-month insider threat campaign is running in your environment today, your current tools will not detect it until data has already been exfiltrated.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5669280"/>
            <a:ext cx="8503920" cy="7315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The threats you can’t see are the ones that matter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Next Steps — Prove It On Your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371600"/>
            <a:ext cx="201168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Week 1–2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474720" cy="292608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4747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Integration &amp;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51760"/>
            <a:ext cx="274320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Connect to existing SIEM/log feeds</a:t>
            </a:r>
            <a:br/>
            <a:r>
              <a:t>Establish behavioral baselines</a:t>
            </a:r>
            <a:br/>
            <a:r>
              <a:t>No new agents or data collection</a:t>
            </a:r>
            <a:br/>
            <a:r>
              <a:t>Zero operational disruption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3200400"/>
            <a:ext cx="4572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0" y="1371600"/>
            <a:ext cx="201168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2011680"/>
            <a:ext cx="3474720" cy="292608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011680"/>
            <a:ext cx="347472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Detection Calibration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51760"/>
            <a:ext cx="274320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788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Tune detection thresholds</a:t>
            </a:r>
            <a:br/>
            <a:r>
              <a:t>Validate against known incidents</a:t>
            </a:r>
            <a:br/>
            <a:r>
              <a:t>Measure false positive rate</a:t>
            </a:r>
            <a:br/>
            <a:r>
              <a:t>Compare to current SIEM alerts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680960" y="3200400"/>
            <a:ext cx="4572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0" y="1371600"/>
            <a:ext cx="201168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011680"/>
            <a:ext cx="3474720" cy="292608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2011680"/>
            <a:ext cx="34747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Results &amp; Assessment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651760"/>
            <a:ext cx="274320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2788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Full detection report</a:t>
            </a:r>
            <a:br/>
            <a:r>
              <a:t>FP rate comparison</a:t>
            </a:r>
            <a:br/>
            <a:r>
              <a:t>Mean time to detect analysis</a:t>
            </a:r>
            <a:br/>
            <a:r>
              <a:t>Go/no-go recommendation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212080"/>
            <a:ext cx="11247120" cy="10058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B7950B"/>
                </a:solidFill>
                <a:latin typeface="Calibri"/>
              </a:defRPr>
            </a:pPr>
            <a:r>
              <a:t>No new agents.  No new data collection.  Works with existing SIEM feeds.</a:t>
            </a:r>
          </a:p>
          <a:p>
            <a:pPr algn="ctr">
              <a:spcBef>
                <a:spcPts val="800"/>
              </a:spcBef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Measurable success criteria: detection rate, false positive rate, mean time to detect.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Detection Playbook: Match the Threat to the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UEBA detects threats by behavioral drift, not attack signatures. Each threat type requires a different detection method.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783080"/>
            <a:ext cx="2011680" cy="987552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Insider Threat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USR-156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783080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Zone Divergence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6.5%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Same person, different data.</a:t>
            </a:r>
            <a:br/>
            <a:r>
              <a:t>Identity stable + data zone drifting.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8288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LOF, IForest blind</a:t>
            </a:r>
            <a:br/>
            <a:r>
              <a:t>(measure magnitude only)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953512"/>
            <a:ext cx="2011680" cy="987552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Slow APT / C2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953512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LOF + Zone Div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0%* / 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999232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Network outlier + identity stable</a:t>
            </a:r>
            <a:br/>
            <a:r>
              <a:t>+ network zone drifting.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99923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IForest misses</a:t>
            </a:r>
            <a:br/>
            <a:r>
              <a:t>slow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123944"/>
            <a:ext cx="2011680" cy="987552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Nation-State LOTL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USR-042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4123944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LOF + Regime Shift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0%* / 6.5%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169664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Strong endpoint anomaly +</a:t>
            </a:r>
            <a:br/>
            <a:r>
              <a:t>clear before/after phase break.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169664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Zone Divergence misses</a:t>
            </a:r>
            <a:br/>
            <a:r>
              <a:t>(uniform change)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5294376"/>
            <a:ext cx="2011680" cy="987552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Telecom Pivot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USR-118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5294376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LOF + Embed CUSUM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0%* / 6.5%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340096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Network footprint +</a:t>
            </a:r>
            <a:br/>
            <a:r>
              <a:t>persistent 100-day drift.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340096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Zone Divergence misses</a:t>
            </a:r>
            <a:br/>
            <a:r>
              <a:t>(broad multi-zone)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THREAT 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BEST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WHY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5544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WHAT FAILS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760720"/>
            <a:ext cx="1161288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threat type determines the algorithm. Traditional = how much changed. Behavioral = what kind of change. Deploy both layers.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Algorithm Parameters &amp; Input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All algorithms draw from the same 23 behavioral features across 5 log sources. The detection approach determines what gets caught.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Tier 1: Traditional Detection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965960"/>
          <a:ext cx="5669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</a:tblGrid>
              <a:tr h="339634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Parameters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Detection Rule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200 trees, 5%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Isolation outliers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One-Class SVM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RBF kernel, 5% nu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Outside boundary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20 neighbors, 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Low local density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3-sigma threshold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Any feature &gt; 3σ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Temporal Z-Score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50/50 train/test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Deviation from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Feature Trajectory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Cumulative drift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Top 10% accumulated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Tier 3: Behavioral Detection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965960"/>
          <a:ext cx="5760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103120"/>
              </a:tblGrid>
              <a:tr h="314960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Signal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Parameter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Velocity/Accel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Composite trajectory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Acceleration &gt; 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Regime Shift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Weekly embeddings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Similarity &lt; 0.7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Zone Divergence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5 zone drifts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Identity &lt; 0.02, zone &gt; 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Relationship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User-Device vector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Drift &gt; 0.05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Contextual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4 context weights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Consistency &gt; 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Drift Accum.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Baseline distance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Cumulative excess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Progression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Threat alignment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Increasing trend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Combined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All 6 core scores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Zone Div OR ≥ 2 agree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720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23 Input Features by Log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937760"/>
            <a:ext cx="2743200" cy="128016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4937760"/>
            <a:ext cx="274320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E6B8A"/>
                </a:solidFill>
                <a:latin typeface="Calibri"/>
              </a:defRPr>
            </a:pPr>
            <a:r>
              <a:t>Authentication (7)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auth_total, failures, fail_rate,</a:t>
            </a:r>
            <a:br/>
            <a:r>
              <a:t>off_hours, sources, dests,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937760"/>
            <a:ext cx="2743200" cy="128016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4937760"/>
            <a:ext cx="274320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File Access (6)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file_total, restricted, confidential,</a:t>
            </a:r>
            <a:br/>
            <a:r>
              <a:t>write_ratio, paths, bytes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937760"/>
            <a:ext cx="2743200" cy="1280160"/>
          </a:xfrm>
          <a:prstGeom prst="roundRect">
            <a:avLst/>
          </a:prstGeom>
          <a:noFill/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937760"/>
            <a:ext cx="274320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E44AD"/>
                </a:solidFill>
                <a:latin typeface="Calibri"/>
              </a:defRPr>
            </a:pPr>
            <a:r>
              <a:t>Endpoint (5)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total, suspicious_ratio,</a:t>
            </a:r>
            <a:br/>
            <a:r>
              <a:t>max_risk, mean_risk, processes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4937760"/>
            <a:ext cx="2743200" cy="1280160"/>
          </a:xfrm>
          <a:prstGeom prst="roundRect">
            <a:avLst/>
          </a:prstGeom>
          <a:noFill/>
          <a:ln w="254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4937760"/>
            <a:ext cx="2743200" cy="548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Network (5)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bytes_out, unique_dsts,</a:t>
            </a:r>
            <a:br/>
            <a:r>
              <a:t>external_ratio, dns_domains, nxdomain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743200"/>
            <a:ext cx="301752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22nd Century Technologies, Inc.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E6B8A"/>
                </a:solidFill>
                <a:latin typeface="Calibri"/>
              </a:defRPr>
            </a:pPr>
            <a:r>
              <a:t>Behavioral Intelligence for Federal Cybersecurity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572000"/>
            <a:ext cx="5760720" cy="1371600"/>
          </a:xfrm>
          <a:prstGeom prst="roundRect">
            <a:avLst/>
          </a:prstGeom>
          <a:solidFill>
            <a:srgbClr val="14283C"/>
          </a:solidFill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— User and Entity Behavior Analytics</a:t>
            </a:r>
          </a:p>
          <a:p>
            <a:pPr algn="ctr">
              <a:spcBef>
                <a:spcPts val="1000"/>
              </a:spcBef>
              <a:spcAft>
                <a:spcPts val="300"/>
              </a:spcAft>
              <a:defRPr sz="1300" b="0">
                <a:solidFill>
                  <a:srgbClr val="B4B4B4"/>
                </a:solidFill>
                <a:latin typeface="Calibri"/>
              </a:defRPr>
            </a:pPr>
            <a:r>
              <a:t>Proven behavioral drift detection for the threats</a:t>
            </a:r>
            <a:br/>
            <a:r>
              <a:t>your current tools cannot see.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We proved it on synthetic data. Let us prove it on yours.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