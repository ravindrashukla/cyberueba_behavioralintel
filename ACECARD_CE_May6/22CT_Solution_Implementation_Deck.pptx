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Calibri"/>
              </a:defRPr>
            </a:pPr>
            <a:r>
              <a:t>Solution Overview  |  Architecture  |  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Calibri"/>
              </a:defRPr>
            </a:pPr>
            <a:r>
              <a:t>Stopping Nation-State Adversaries Before They Strike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The Threat Landscape: Why This Matters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Nation-state adversaries are already inside U.S. critical infrastructure — undetected for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4846320" cy="22860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PRC state-sponsored. Active since mid-2021.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Pre-positioned in power, water, telecom for future disruption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Living-off-the-Land: uses only legitimate admin tools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5+ year undetected dwell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4846320" cy="22860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PRC state-sponsored. 200+ telecoms in 80+ countries.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9 U.S. carriers compromised. CALEA wiretap access.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Lives in router configs — persistence IS the configuration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4+ year undetected dwell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23360"/>
            <a:ext cx="1005840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54864" cy="109728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WHY CURRENT DEFENSES FAIL: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Configuration gaps are never mathematically proven closed — pentests only sample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Behavioral detection uses fixed thresholds — LOTL tradecraft operates below every one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Identity is fragmented — cross-domain lateral movement reads as unrelated weak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Our Approach: Two Complementary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Mathematical certainty meets advanced behavioral intelligence — together, complete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846320" cy="411480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LAYER 1 — PREEMPTIVE POSTURE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We define an advanced mathematical model that reasons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exhaustively over your entire defensive configuration.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1B4F72"/>
                </a:solidFill>
                <a:latin typeface="Calibri"/>
              </a:defRPr>
            </a:pPr>
            <a:r>
              <a:t>KEY CAPABILITIES: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Ingests all threat intelligence continuously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Models every defensive control mathematically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Proves whether attack paths exist or are blocked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Prescribes vendor-specific remediations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Re-verifies continuously (hourly + on change)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1B4F72"/>
                </a:solidFill>
                <a:latin typeface="Calibri"/>
              </a:defRPr>
            </a:pPr>
            <a:r>
              <a:t>RESULT: Zero false positives. Zero false negatives.</a:t>
            </a:r>
          </a:p>
          <a:p>
            <a:pPr>
              <a:spcBef>
                <a:spcPts val="600"/>
              </a:spcBef>
              <a:defRPr sz="1100" b="1">
                <a:solidFill>
                  <a:srgbClr val="1B4F72"/>
                </a:solidFill>
                <a:latin typeface="Calibri"/>
              </a:defRPr>
            </a:pPr>
            <a:r>
              <a:t>Within model scope — mathematical certainty.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4846320" cy="411480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LAYER 2 — BEHAVIORAL INTELLIGENCE (ACECARD)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We define an advanced mathematical model that captures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behavioral trajectories and detects structural drift.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KEY CAPABILITIES: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Multi-signal behavioral profiling per entity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Advanced change-point detection (sub-threshold drift)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Drift direction mapped to MITRE ATT&amp;CK techniques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Cross-system entity fusion (10+ identity sources)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Automated trust scoring and adaptive access control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RESULT: Detects LOTL, credential abuse, insider threat.</a:t>
            </a: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Catches what no threshold-based system 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Together: either the attack surface never exists (Layer 1) OR the adversary is detected and contained in hours, not years (Layer 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What the Platform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End-to-end lifecycle: from threat intelligence to proven remediation to behavioral detection.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640080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6002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4173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41732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Continuous ingestion of threat intelligence (CVEs, advisories, IOCs, MITRE ATT&amp;CK)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288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Defensive configurations from all security controls (NGFW, IPS, IdP, WAF, SASE)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59152"/>
            <a:ext cx="1005840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359152"/>
            <a:ext cx="640080" cy="914400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587752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40487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A2C8A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404872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Advanced mathematical model built from ingested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816352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Complete representation of your defensive posture — not a sample, the whole thing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346704"/>
            <a:ext cx="1005840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346704"/>
            <a:ext cx="640080" cy="9144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57530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392424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REASON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392424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Exhaustive reasoning determines whether any attack path can succeed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803904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Identifies exact gaps, prioritized by risk, with vendor-specific remediation 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334256"/>
            <a:ext cx="1005840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334256"/>
            <a:ext cx="640080" cy="914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562856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379976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Calibri"/>
              </a:defRPr>
            </a:pPr>
            <a:r>
              <a:t>REMEDIATE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379976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Risk-prioritized playbooks pushed to SOC, ServiceNow, JIRA, or auto-applied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791456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Re-verified after every change to confirm the fix holds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321808"/>
            <a:ext cx="1005840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5321808"/>
            <a:ext cx="64008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550408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36752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367528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Behavioral intelligence catches what config alone cannot: credential abuse, LOTL, zero-days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779008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Advanced change-point detection + MITRE-mapped drift direction = actionable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Key Differentiators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What sets this platform apart from existing cybersecurity tools.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8686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Mathematical Certainty, Not 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830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Traditional tools sample configurations and test known paths. Our model reasons over the complete combinatorial space — mathematical proof, not statistical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313432"/>
            <a:ext cx="1005840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313432"/>
            <a:ext cx="73152" cy="8686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386584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Behavioral Direction, Not Just Anomaly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24912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We don't just say "something is off." We tell you exactly WHAT kind of threat behavior the drift resembles, mapped to MITRE ATT&amp;CK techniques.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255264"/>
            <a:ext cx="1005840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3255264"/>
            <a:ext cx="73152" cy="868680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328416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A2C8A"/>
                </a:solidFill>
                <a:latin typeface="Calibri"/>
              </a:defRPr>
            </a:pPr>
            <a:r>
              <a:t>Continuous, Not Point-in-Time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66744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Re-verification runs hourly and on every configuration change. Behavioral baselines adapt automatically. The defense posture is always current.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197096"/>
            <a:ext cx="1005840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197096"/>
            <a:ext cx="73152" cy="86868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2702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Calibri"/>
              </a:defRPr>
            </a:pPr>
            <a:r>
              <a:t>Cross-Domain Entity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08576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Identity stitched across AD, AAD, Okta, AWS IAM, K8s, VPN, and more. Cross-domain lateral movement shows as one correlated trajectory, not 10 isolated weak signals.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5138928"/>
            <a:ext cx="1005840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5138928"/>
            <a:ext cx="73152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2120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Deployment Flexibility: SaaS / On-Prem / Air-Gap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50408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Same codebase deploys to commercial cloud, SIPR (IL6), or fully air-gapped (JWICS/TS-SCI). No code forking. Environment config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Platform architecture designed for scalability, security, and classified-enclave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Kubernetes-native. Iron Bank hardened. Scales horizontally.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5: PRESENTATION &amp;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SOC Dashboard  |  ServiceNow  |  JIRA  |  SOAR  |  API Gateway  |  ABAC Policy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331720"/>
            <a:ext cx="10058400" cy="914400"/>
          </a:xfrm>
          <a:prstGeom prst="rect">
            <a:avLst/>
          </a:prstGeom>
          <a:solidFill>
            <a:srgbClr val="1B6F92"/>
          </a:solidFill>
          <a:ln w="12700">
            <a:solidFill>
              <a:srgbClr val="1B6F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4231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4: ANALYTICS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889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Preemptive Verification Engine  |  Behavioral Intelligence Engine  |  Kill-Chain Reconstruction  |  Alert Correlation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291840"/>
            <a:ext cx="10058400" cy="914400"/>
          </a:xfrm>
          <a:prstGeom prst="rect">
            <a:avLst/>
          </a:prstGeom>
          <a:solidFill>
            <a:srgbClr val="145D82"/>
          </a:solidFill>
          <a:ln w="12700">
            <a:solidFill>
              <a:srgbClr val="145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3832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3: INTELLIGENCE &amp;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490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Threat Intel Pipeline  |  Mathematical Model Builder  |  Behavioral Profiling  |  Entity Fusion  |  MITRE Mapping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251960"/>
            <a:ext cx="10058400" cy="914400"/>
          </a:xfrm>
          <a:prstGeom prst="rect">
            <a:avLst/>
          </a:prstGeom>
          <a:solidFill>
            <a:srgbClr val="0F3D5C"/>
          </a:solidFill>
          <a:ln w="12700">
            <a:solidFill>
              <a:srgbClr val="0F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3434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2: DATA &amp;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0916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Vector Database (pgvector)  |  Time-Series Store  |  Config Repository  |  Baseline Library  |  Entity 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1: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6692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Calibri"/>
              </a:defRPr>
            </a:pPr>
            <a:r>
              <a:t>Kubernetes (EKS/AKS/On-Prem)  |  Iron Bank Containers  |  Istio Service Mesh  |  Vault Secrets  |  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621792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623620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All containers Iron Bank certified. Helm charts for repeatable deployment. Horizontal pod autoscaling at every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Data Flow: From Source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How data moves through the platform — from raw telemetry to proven remediation and behavioral alerts.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194560" cy="4114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21945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904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NGFW Configs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IPS/EPP Policies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IdP / IAM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Threat Feeds (STIX)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SIEM/Log Forwarders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Network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Endpoint 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1463040"/>
            <a:ext cx="2194560" cy="4114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4A2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63240" y="1463040"/>
            <a:ext cx="2194560" cy="365760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14904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920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Secure Connectors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286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Config Parser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651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Threat Intel Normalizer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Event Streaming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3832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Entity Resolver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1463040"/>
            <a:ext cx="2194560" cy="4114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1463040"/>
            <a:ext cx="219456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14904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1920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Math Model Builder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286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Behavioral Profiler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2651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Change-Point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Drift Direction Mapper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33832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Kill-Chain Correlator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80" y="1463040"/>
            <a:ext cx="2194560" cy="4114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26680" y="1463040"/>
            <a:ext cx="2194560" cy="3657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14904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1920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Gap Verification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2286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Risk Prioritization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2651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MITRE 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Trust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33832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Cohort Comparison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1463040"/>
            <a:ext cx="2194560" cy="4114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58400" y="1463040"/>
            <a:ext cx="219456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14904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1920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Remediation Playbook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2286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Alert to SOC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2651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ServiceNow Ticket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3017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ABAC Policy Update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33832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 Re-verify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7607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C757D"/>
                </a:solidFill>
                <a:latin typeface="Calibri"/>
              </a:defRPr>
            </a:pPr>
            <a:r>
              <a:t>All data flows encrypted in transit (mTLS via Istio) and at rest. No data leaves the enclave boundary.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Deployment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One codebase, three deployment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291840" cy="4114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COMMERCIAL / IL5 (NIPR)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659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Cloud-hosted (AWS GovCloud / Azure Gov)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API-based config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88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Threat intel auto-updated from NVD, CISA KEV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Cloud-native AI/ML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Fastest time-to-value: days to first findings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371600"/>
            <a:ext cx="3291840" cy="4114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4A2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371600"/>
            <a:ext cx="3291840" cy="457200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ON-PREMISES / IL6 (SIPR)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9659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On-site deployment (VM or K8s cluster)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3774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Config read from local management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788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Threat intel via classified feeds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2004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AI inference (no external API calls)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6118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Minimum: 8 vCPU, 32GB RAM per node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1371600"/>
            <a:ext cx="3291840" cy="4114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1371600"/>
            <a:ext cx="329184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AIR-GAPPED / JWICS (TS-SCI)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9659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Fully disconnected — zero external dependencies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3774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Threat intel via manual STIX/TAXII import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788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Config via local file ingest or SNMP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2004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small-language model for all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6118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Physically isolated, SCIF-deployable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669280"/>
            <a:ext cx="1033272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7150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Switch between modes via environment variable only. Same containers, same Helm charts, same security posture.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 1: Preemptive Posture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Advanced mathematical model eliminates configuration-based attack surface with certainty.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2801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HOW IT WORKS (High Level):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We define an advanced mathematical model of your entire defensive configuration — every firewall rule, every IPS policy, every identity constraint.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The model then reasons exhaustively (not by sampling) to prove whether specific attack paths are blocked. This is advanced formal reasoning, not simulation.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834640"/>
            <a:ext cx="484632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Calibri"/>
              </a:defRPr>
            </a:pPr>
            <a: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43891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Threat intelligence (CVE, CISA, vendor PSIRTs)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Full device configurations (PAN, Fortinet, Cisco, CP)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MITRE ATT&amp;CK / D3FEND frameworks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Vendor capability models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Approved configuration baselines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834640"/>
            <a:ext cx="484632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43891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Verified: attack path X is blocked (proven)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Gap found: exact rule/policy that allows attack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Remediation: vendor-specific fix with playbook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Risk score: prioritized by threat severity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Drift alerts: config changed from approved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Currently supports: Palo Alto Networks, Fortinet, Cisco, Check Point. Additional vendors on roadmap.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 2: Behavioral Intelligence (ACECARD UEBA)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Advanced mathematical model of behavioral trajectories detects what config verification cannot.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28016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HOW IT WORKS (High Level):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We define an advanced mathematical model that represents entity behavior as a multi-dimensional trajectory. The model detects structural shifts — not individual anomalies.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When behavior drifts, the system determines the DIRECTION of drift, mapping it to specific threat types using MITRE ATT&amp;CK.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834640"/>
            <a:ext cx="3200400" cy="2560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9260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SIGNALS MONITORED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Authentication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478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Process execution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9534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Network communication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4281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File access and movement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902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Identity and privilege usage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2834640"/>
            <a:ext cx="3200400" cy="2560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9260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DETECTION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00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Multi-signal behavioral profiling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5478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Advanced change-point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89534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Peer cohort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4281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Drift direction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5902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Kill-chain reconstruction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2834640"/>
            <a:ext cx="3200400" cy="2560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9260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ACTION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2004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Trust score adjustment (ABAC)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5478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MITRE-mapped alert with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89534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Automated access restriction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242816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SOC enrichment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5902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IR ticket with full timeline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Detects: Living-off-the-Land, compromised credentials, insider threats, slow lateral movement, zero-day post-exploitation behavior.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the Layers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Closed-loop integration: each layer strengthens the 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10515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1. Shared Threat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10512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Both layers use MITRE ATT&amp;CK as common language. A technique verified by Layer 1 (e.g., T1190 blocked) feeds directly into Layer 2's threat concept library.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487168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487168"/>
            <a:ext cx="73152" cy="1051560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5603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A2C8A"/>
                </a:solidFill>
                <a:latin typeface="Calibri"/>
              </a:defRPr>
            </a:pPr>
            <a:r>
              <a:t>2. Gap Findings Inform Behavioral 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When Layer 1 finds a verified control gap, Layer 2 automatically increases monitoring sensitivity for entities in that zone. Known-vulnerable = watched more closely.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602736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3602736"/>
            <a:ext cx="73152" cy="10515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6758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3. Behavioral Detections Expand Verification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41648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When Layer 2 confirms a threat detection, Layer 1 re-verifies all related configurations globally. Detection of one attack path triggers verification of similar paths.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718304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718304"/>
            <a:ext cx="73152" cy="10515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791456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Calibri"/>
              </a:defRPr>
            </a:pPr>
            <a:r>
              <a:t>4. Unified Entity 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57216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Both layers reference the same fused entity identity. A config gap and a behavioral alert about the same entity are automatically correlated into one incident.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897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D1B2A"/>
                </a:solidFill>
                <a:latin typeface="Calibri"/>
              </a:defRPr>
            </a:pPr>
            <a:r>
              <a:t>Net result: 8-hour dwell time in tested scenarios (vs. 5+ years without the platform).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Primary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Nine pre-built use cases spanning preemptive defense, compliance, and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4846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Preemptive Cyber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444752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883664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1883664"/>
            <a:ext cx="73152" cy="4846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192938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Configuration Drift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56816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395728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2395728"/>
            <a:ext cx="73152" cy="4846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4414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Formal Policy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46888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Finds shadow rules, conflicts, and weak inspection across multi-vendor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290779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2907792"/>
            <a:ext cx="73152" cy="4846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295351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External Attack Surface Mgmt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980944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419856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3419856"/>
            <a:ext cx="73152" cy="4846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346557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Internal Attack Surface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49300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Models internal paths from compromised host to crown-jewel assets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931920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3931920"/>
            <a:ext cx="73152" cy="4846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39776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Behavioral Threat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005072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443984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4443984"/>
            <a:ext cx="73152" cy="4846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448970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NIST 800-53 / Zero-Trust Verification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517136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Proves zero-trust segmentation holds end-to-end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4956048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" y="4956048"/>
            <a:ext cx="73152" cy="4846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50017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Vendor Migration Safety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02920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Proves no regression during NGFW vendor migration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546811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97280" y="5468112"/>
            <a:ext cx="73152" cy="4846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551383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M&amp;A Due Diligence &amp; Third-Party 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5541264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Models combined posture pre-merger; verifies isolation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Production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Selected findings from financial services, telecom, government, and critical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65836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219456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48132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FinTech |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5087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Closed lateral movement path hidden by shadowed firewall rules across multi-vendor NGFW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84832"/>
            <a:ext cx="10058400" cy="65836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084832"/>
            <a:ext cx="73152" cy="658368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2176272"/>
            <a:ext cx="2194560" cy="256032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194560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Communications | N. America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221992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Eliminated remote code execution exposure from missing IPS inspection on critical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98064"/>
            <a:ext cx="10058400" cy="65836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2798064"/>
            <a:ext cx="73152" cy="658368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2889504"/>
            <a:ext cx="219456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290779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Regional Bank | E. Asia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935224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Closed cross-vendor policy inconsistency exposing both PAN and Fortinet NGFWs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11296"/>
            <a:ext cx="10058400" cy="65836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511296"/>
            <a:ext cx="73152" cy="65836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0" y="3602736"/>
            <a:ext cx="219456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3621024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Critical Infrastructure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648456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Detected application obfuscation paths from DMZ rule misconfiguration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24528"/>
            <a:ext cx="10058400" cy="65836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224528"/>
            <a:ext cx="73152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0160" y="4315968"/>
            <a:ext cx="219456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334256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Finance | E. Asia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361688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Identified NIST 800-53 compliance gap on email traffic inspection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937760"/>
            <a:ext cx="10058400" cy="65836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" y="4937760"/>
            <a:ext cx="73152" cy="65836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0160" y="5029200"/>
            <a:ext cx="219456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504748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EU Sovereign Government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074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National-scale external attack surface management across 12 government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6928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20+ design partners across F500, federal, critical infrastructure, MSSPs, and nation states (NA, EU, ME, Asia, Pacific).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Phased deployment with measurable outcomes at each milestone.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Three-phase deployment: value delivered within 90 days, full operational capability within 9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7472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474720" cy="6400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173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0-90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Environment provisioning (K8s cluster, secrets, networking)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Data connector deployment (NGFW, IPS, IdP integrations)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Baseline configuration ingestion and model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First preemptive findings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Entity fusion pipeline operational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•  MILESTONE: First verified gap findings + remediation playbooks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371600"/>
            <a:ext cx="347472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1371600"/>
            <a:ext cx="3474720" cy="6400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4173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2: OPERATIONAL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7373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90-180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1031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Behavioral profiling baselines established (60-day learning)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4688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Change-point detection 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8346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SOC integration (ServiceNow / JIRA / SOAR)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2004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Continuous re-verification enabled (hourly + on-change)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5661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ABAC trust scoring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9319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6B8A"/>
                </a:solidFill>
                <a:latin typeface="Calibri"/>
              </a:defRPr>
            </a:pPr>
            <a:r>
              <a:t>•  MILESTONE: Full two-layer detection operational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371600"/>
            <a:ext cx="347472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1371600"/>
            <a:ext cx="3474720" cy="64008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173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3: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7373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180-270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1031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Kill-chain reconstruction across both layers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4688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Tuning: cohort models, sensitivity thresholds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8346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Additional vendor integrations (per roadmap)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2004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Compliance reporting automation (NIST 800-53)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5661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Calibri"/>
              </a:defRPr>
            </a:pPr>
            <a:r>
              <a:t>•  Operational handoff and SOC training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9319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7950B"/>
                </a:solidFill>
                <a:latin typeface="Calibri"/>
              </a:defRPr>
            </a:pPr>
            <a:r>
              <a:t>•  MILESTONE: Full operational capability + cATO artifacts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Product Roadmap: 2026-2027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Expanding coverage, intelligence, and autonomy across both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74320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74320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Palo Alto, Fortinet, Cisco, Check Point NGFW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9572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N-S firewall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79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Behavioral UEBA core (5 signals)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6382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Entity fusion (AD, AAD, Okta)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4787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IL5 / NIPR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371600"/>
            <a:ext cx="274320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1371600"/>
            <a:ext cx="274320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169164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0116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E-W micro-segmentation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39572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SASE / SD-WAN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779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Additional identity sources (AWS IAM, K8s)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16382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Expanded MITRE coverage (140+ techniques)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54787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On-prem IL6 deployment certified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371600"/>
            <a:ext cx="274320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4A2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2743200" cy="548640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69164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116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 security posture (AWS, Azure, GCP)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9572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WAF and API gateway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79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Automated remediation (closed-loop)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16382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Enhanced kill-chain reconstruction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54787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JWICS air-gapped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1371600"/>
            <a:ext cx="274320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20" y="1371600"/>
            <a:ext cx="274320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169164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0116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OT/ICS protocol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39572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Autonomous threat hunting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77977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Cross-org threat sharing (STIX)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16382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AI-generated remediation verification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54787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Full autonomous defense loop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943600"/>
            <a:ext cx="1106424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97103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Roadmap is outcome-driven. Prioritization informed by active customer engagements and threat landscape evolution.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22CT: Proven Capability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Large-scale DoD cybersecurity delivery with cleared workforce and active contracts.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651760" cy="1645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B4F72"/>
                </a:solidFill>
                <a:latin typeface="Calibri"/>
              </a:defRPr>
            </a:pPr>
            <a:r>
              <a:t>$90M+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Active Army SOC/MDR Contract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371600"/>
            <a:ext cx="2651760" cy="1645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5544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E6B8A"/>
                </a:solidFill>
                <a:latin typeface="Calibri"/>
              </a:defRPr>
            </a:pPr>
            <a:r>
              <a:t>800+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2860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Cleared Analysts on Staff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651760" cy="1645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4A2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544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4A2C8A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Design Partners (F500, Federal, Nation-State)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651760" cy="1645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5544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B7950B"/>
                </a:solidFill>
                <a:latin typeface="Calibri"/>
              </a:defRPr>
            </a:pPr>
            <a:r>
              <a:t>IL5/IL6/JWICS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Three Enclave Deployment Support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291840"/>
            <a:ext cx="10058400" cy="2560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38328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DELIVERY CREDENTIALS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39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Active DoD SOC/MDR operations at scale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Continuous monitoring for Army installations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NIST 800-53 / RMF compliance experience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cATO pathway expertise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Iron Bank container certification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49039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Innovation partner: Rigor AI (formal verification)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K8s-native architecture from day one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Multi-classification deployment experience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Rapid integration with existing SOC tooling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•  90-day time-to-first-value guarantee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Compliance &amp; Authorization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Designed for cATO from day one. Maps directly to DoD Zero Trust pillars and NIST frameworks.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10058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DoD Zero Trust Reference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8308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Pillar 4: Application &amp; Workload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Pillar 7: Visibility &amp;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78308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Continuous verification aligns with ZT "never trust, always verify"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468880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468880"/>
            <a:ext cx="73152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542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NIST 800-53 Rev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8036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CA-7: Continuous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8036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RA-5: Vulnerability Monitoring &amp; Scanning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88036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SI-4: System Monitoring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566160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566160"/>
            <a:ext cx="73152" cy="1005840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63931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A2C8A"/>
                </a:solidFill>
                <a:latin typeface="Calibri"/>
              </a:defRPr>
            </a:pPr>
            <a:r>
              <a:t>NIST CSF / SP 800-207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9776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Zero Trust Architecture principles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9776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Continuous diagnostics and mitigation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9776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Risk-based access decisions (ABAC)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663440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663440"/>
            <a:ext cx="73152" cy="10058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473659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Calibri"/>
              </a:defRPr>
            </a:pPr>
            <a:r>
              <a:t>cATO Pathway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074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Continuous monitoring artifacts generated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74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Iron Bank hardened containers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074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eMASS / RMF ready from deployment day 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22860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743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Technical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7432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Schedule hands-on demonstration with your security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3832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383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Proof of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3832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30-day pilot against your live configuration — findings within 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023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Architecture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0233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Joint review of deployment model and integration with existing SOC 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6634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663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Contract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Available via GSA MAS, CIO-SP3, SEWP V, and direct award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86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9436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