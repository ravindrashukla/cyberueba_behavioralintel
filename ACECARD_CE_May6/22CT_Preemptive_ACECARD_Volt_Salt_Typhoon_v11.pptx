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Provable Computing  |  DODIN Defense  |  Behavioral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Formal Proof, Not Sampling — Defending the Warfighter Against Nation-State Adversaries</a:t>
            </a:r>
          </a:p>
        </p:txBody>
      </p:sp>
      <p:pic>
        <p:nvPicPr>
          <p:cNvPr id="9" name="Picture 8" descr="slide1_Pictur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109728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 | 27001 | 28000</a:t>
            </a:r>
            <a:br/>
            <a:r>
              <a:t>20000 | 17025 | 14001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B7950B"/>
                </a:solidFill>
                <a:latin typeface="Georgia"/>
              </a:defRPr>
            </a:pPr>
            <a:r>
              <a:t>U.S. ARMY CYBER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9601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A7B8E"/>
                </a:solidFill>
                <a:latin typeface="Segoe UI"/>
              </a:defRPr>
            </a:pPr>
            <a:r>
              <a:t>[Insert Logo]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Georgia"/>
              </a:defRPr>
            </a:pPr>
            <a:r>
              <a:t>ArCTIC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96012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A7B8E"/>
                </a:solidFill>
                <a:latin typeface="Segoe UI"/>
              </a:defRPr>
            </a:pPr>
            <a:r>
              <a:t>[Insert Logo]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Segoe UI"/>
              </a:defRPr>
            </a:pPr>
            <a:r>
              <a:t>Connecting &amp; Serving Government &amp; Citizens since 1997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521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Segoe UI"/>
              </a:defRPr>
            </a:pPr>
            <a:r>
              <a:t>ArCTIC / CFIC Collaboration Event  |  Behavioral Anomaly Detection (ACECARD)  |  06 MAY 2026  |  Augusta, 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dwelling inside U.S. critical infrastructure — undetected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4630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300" b="1">
                <a:solidFill>
                  <a:srgbClr val="2C3E50"/>
                </a:solidFill>
                <a:latin typeface="Segoe UI"/>
              </a:defRPr>
            </a:pPr>
            <a:r>
              <a:t>hundreds of critical infrastructure targets using techniques no existing tool can detect: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10058400" cy="14630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200400"/>
            <a:ext cx="54864" cy="1463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ARCYBER DEFEND-THE-DODIN CHALLENGE — LIMITING FACTORS: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Tools detect known-bad signatures → adversaries use only known-good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Fixed thresholds → LOTL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Point-in-time testing (annual pentests) → adversary is continuous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No tool provides formal proof that all attack paths on the DODIN are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37760"/>
            <a:ext cx="10058400" cy="12801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4937760"/>
            <a:ext cx="54864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OUR APPROACH — PROVABLE COMPUTING + BEHAVIORAL INTELLIGENCE: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1.  Preemptive: Formal proof, not sampling — mathematical verification that configs block all known attack paths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2.  Behavioral (ACECARD): Digital Twin of each entity — detects sub-threshold drift that no threshold system catches</a:t>
            </a:r>
          </a:p>
          <a:p>
            <a:pPr>
              <a:spcBef>
                <a:spcPts val="800"/>
              </a:spcBef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Together: 95–98% DODIN coverage. Dwell time: 5 years → hours. Directly enhances ARCYBER DEFEND 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Threat: Volt Typhoon &amp;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Two active PRC campaigns using techniques that bypass every existing security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5603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4447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PRC state-sponsored. Active since mid-2021.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Pre-positioned in power, water, telecom, transportation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Living-off-the-Land: only legitimate admin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malware, no signatures, no IOCs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5+ year undetected dwell time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Purpose: future disruption during Taiwan crisis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4846320" cy="25603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200+ telecoms compromised across 80+ countries.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9 major U.S. carriers. CALEA wiretap access.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Persistence IS the router configuration itself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Exploits Cisco IOS XE (CVE-2023-20198)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4+ year undetected dwell time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Steady CDR/metadata exfiltration over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206240"/>
            <a:ext cx="1005840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54864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9601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WHY CURRENT DEFENSES CANNOT STOP THEM: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SIEM/EDR: detect known-bad signatures — these adversaries use only known-good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Commercial UEBA: fixed thresholds — LOTL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Pentest/Red Team: annual point-in-time sampling vs. continuous adversary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gaps never mathematically proven closed — pentests only sample attack paths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309360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Security Devices: What They Do vs. What They 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Each device solves one piece — no device verifies that ALL pieces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21945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353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3291840" cy="34747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3533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25880"/>
            <a:ext cx="4572000" cy="34747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353312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71907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175564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Next-Gen 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5564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Filters traffic by rules, app-aware policies,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5564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Rules only as good as config. No tool proves the ruleset covers all attack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22199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225856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IDS / 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25856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Detects/blocks known attack signatures in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5856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Signature-dependent. Volt Typhoon uses no malicious payloads — only legit admin commands.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2491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276148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NAC (802.1X)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76148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Controls which devices connect to the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6148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Grants access, not intent. Lateral movement with valid credentials is invisible.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22783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326440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WAF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26440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Protects web apps from injection, XSS, known exploits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6440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HTTP layer only. Cannot see infrastructure-layer LOTL or router config manipulation.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73075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376732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DLP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76732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Detects sensitive data exfiltration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6732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Pattern-based. Slow exfil over months using normal-volume channels bypasses thresholds.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23367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427024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PAM / IAM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27024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Manages privileged access, credential vaults, MFA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7024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Enforces policy — cannot detect stolen sessions used within authorized bounds.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3659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4440" y="477316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Email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77316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Blocks phishing, malware attachments, spoofing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77316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Volt/Salt don't rely on phishing — they exploit infrastructure directly.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23951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4440" y="527608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27608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Monitors host processes, detects malicious behavior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27608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Can't deploy on routers/switches. LOTL uses only allowlisted binaries — nothing triggers.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74243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34440" y="577900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Vuln Scanner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77900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77900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Sees what EXISTS, not what is REACHABLE through config. Sampling, not proof.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6263640"/>
            <a:ext cx="10058400" cy="228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71600" y="6272784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The gap is structural: no device validates total configuration across ALL devices blocks every attack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Solution: Two Layers of DODIN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Formal proof, not sampling. 80% eliminated at network layer. Behavioral catches 15-18% that passes 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210312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417320"/>
            <a:ext cx="22860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14356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80% STOPPED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Provable Computing: Formal Mathematical Model that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reasons exhaustively over the entire DODIN config space.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Ingests all threat intel continuously (MITRE attack graphs)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Models every defensive control formally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Proves whether ALL attack paths are blocked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Prescribes vendor-specific remediations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Re-verifies hourly + on every config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What it stops: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CVE exploits: proves IPS/threat-feed blocks every exploit path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C2 traffic: 50M+ rule combinations verified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Config drift: unauthorized changes caught within 1 hour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Shadow rules, conflicts, weak inspection profiles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t>Soundness within model scope. Zero FP. Zero FN.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passes through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794760"/>
            <a:ext cx="8595360" cy="21031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3794760"/>
            <a:ext cx="859536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 (ACECARD)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840480"/>
            <a:ext cx="20116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85876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4340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Digital Twin of each entity instance with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time dimension — behavioral evolution captured.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3840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What it catches: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Compromised valid credentials (behaviorally abnormal)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LOTL: legit binaries in malicious combinations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Zero-day post-exploitation (drift with no signature)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Slow lateral movement (sub-threshold accumulation)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000" b="1">
                <a:solidFill>
                  <a:srgbClr val="0E6B8A"/>
                </a:solidFill>
                <a:latin typeface="Segoe UI"/>
              </a:defRPr>
            </a:pPr>
            <a:r>
              <a:t>DETECTS: what no threshold system can see.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606247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Combined: 95-98% coverage.  2-5% residual risk.  Dwell time: years →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 (Provable Computing)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Ingests CVE, advisories, CTI, IOCs, IOAs, PSIRTs continuously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by ML/NLP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Full Volt/Salt Typhoon TTP coverage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CISA KEV, NVD, NSA,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Formal model of every defensive control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Every NGFW rule, ACL, IPS, identity policy modeled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Exhaustive reasoning over complete config state space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No sampling — mathematical certainty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Supports: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Palo Alto, Fortinet, Cisco, Check Point (N-S + E-W)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playbooks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positives (mathematically proven)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negatives (exhaustive reasoning)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+ on every config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Management Plane: Making All Devices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 new layer ABOVE all security devices. Compositional reasoning across multi-vendor configurations at DODIN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7315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25880"/>
            <a:ext cx="73152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THE PROBLEM: Devices are powerful individually but do not coordinate. Gaps emerge BETWEEN devices —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  <a:latin typeface="Segoe UI"/>
              </a:defRPr>
            </a:pPr>
            <a:r>
              <a:t>multi-rule, multi-device errors that no single-device tool can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Georgia"/>
              </a:defRPr>
            </a:pPr>
            <a:r>
              <a:t>MANAGEMENT PLANE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Pull configs</a:t>
            </a:r>
            <a:br/>
            <a:r>
              <a:t>from all devices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Build unified</a:t>
            </a:r>
            <a:br/>
            <a:r>
              <a:t>math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Find multi-device</a:t>
            </a:r>
            <a:br/>
            <a:r>
              <a:t>gaps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Push vendor-</a:t>
            </a:r>
            <a:br/>
            <a:r>
              <a:t>specific fixes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033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▼  Verified configs  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886200"/>
            <a:ext cx="1005840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80160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NGFW</a:t>
            </a:r>
            <a:br/>
            <a:r>
              <a:t>(PAN, Fortinet</a:t>
            </a:r>
            <a:br/>
            <a:r>
              <a:t>Cisco, CP)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7792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3512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IPS / WAF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5424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81144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  <a:br/>
            <a:r>
              <a:t>(Okta, Entra</a:t>
            </a:r>
            <a:br/>
            <a:r>
              <a:t>CyberArk)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08776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SASE /</a:t>
            </a:r>
            <a:br/>
            <a:r>
              <a:t>SD-WAN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90688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36408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64040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DLP / Email</a:t>
            </a:r>
            <a:br/>
            <a:r>
              <a:t>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7548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Production findings from Management Plane analysis: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2920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97280" y="5029200"/>
            <a:ext cx="54864" cy="34747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71600" y="50749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74920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Conflicting rules caused access to malicious IPs — found by cross-device analysis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5404104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97280" y="5404104"/>
            <a:ext cx="54864" cy="34747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1600" y="544982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F100 Technology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449824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100+ config errors across multi-vendor NGFW estate — invisible to single-device tools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5779008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97280" y="5779008"/>
            <a:ext cx="54864" cy="34747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8247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Segoe UI"/>
              </a:defRPr>
            </a:pPr>
            <a:r>
              <a:t>F500 Data 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824728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Absence of data security profile on critical segments — no single tool could see it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7280" y="6153912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" y="6153912"/>
            <a:ext cx="54864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71600" y="61996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Segoe UI"/>
              </a:defRPr>
            </a:pPr>
            <a:r>
              <a:t>Supply Chain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6199632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Shadowed SMB app-control rules allowed lateral malware migration (SMBv1.0)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Preemptive eliminates config weakness. ACECARD catches behavioral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PREEMPTIVE LAYER — config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Exploits unpatched Fortinet/Ivanti/PAN edge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Maps every CVE to control. Proves IPS blocks exploit. Identifies compensating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Web shells. C2 via compromised SOHO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Threat-feed IPs denied. 50M+ rule combos verified. WAF upload inspection proven.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2608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29718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SMB/RDP/WinRM to DCs and file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Real finding: 3 shadowed rules exposed SMB. Model closed path no scanner found.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ACECARD LAYER — behavioral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Valid creds — every control says "approved"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977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Multi-signal: new source + off-hours + unusual targets. Structural shift triggers alarm.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ntdsutil + wmic + netsh — all legit binaries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Tool combination + sequence captured. Drift → "LOTL execution." Peer cohort: no match.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12064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Moves 1-2 hosts/week — below every 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66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Change-point accumulates sub-threshold drift over time. Eventually crosses alarm boundary.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7607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60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760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Network signal: new persistent outbound to unusual destination. Direction: "C2 beaconing."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Volt Typhoon (G1017): PRC state-sponsored. 5+ year dwell. LOTL. Critical infrastructure. Both layers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Preemptive verifies. ACECARD detects abuse.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PREEMPTIVE LAYER — config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Cisco IOS XE web UI (CVE-2023-20198). 1000+ devices.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Every exposed mgmt interface flagged. Proves ACL blocks /webui/. Compensating control for unpatched.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Config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Hourly drift comparison to approved AAA baseline. New account or ACL change = immediate finding.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2608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29718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Configures GRE tunnels between routers for C2.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GRE peer authorization verified. Unauthorized tunnel endpoints flagged. Egress policy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ACECARD LAYER — behavioral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977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Same creds, different trajectory: unusual device sequence, off-pattern timing. Multi-signal drift alarm.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Modifies router ACLs — looks like routine maintenance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Identity + network signals: config change correlates with new outbound. Diverges from peer cohort.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12064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 — normal for some operators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66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This admin never creates tunnels; this device never had tunnel activity. Direction: "protocol tunneling."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7607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CDR exfil</a:t>
            </a:r>
            <a:br/>
            <a:r>
              <a:t>(T1041)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60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760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has this trajectory.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Salt Typhoon: 200+ telcos. 4+ year dwell. CALEA access. Config-resident. Both layers stop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34416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86537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88366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865376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7" y="188366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4708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1343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24414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24597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44144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2807" y="24597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231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Gap triggers trust floor reduction. Behavioral sensitivity auto-heightened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88950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3000" y="30175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30358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3017520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2807" y="30358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9992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6557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935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61288" y="36118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593592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92807" y="36118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5753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04164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3000" y="41696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41879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1696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92807" y="41879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1513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61772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43000" y="47457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1288" y="47640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7457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92807" y="47640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7274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9379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43000" y="53218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1288" y="53400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32180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92807" y="53400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3035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8795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Result: 8-hour dwell (vs. 5+ years).  Preemptive found the gap.  ACECARD caught the exploitation.  Complete defense.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 Hyperscaler Platforms vs. What We Deliver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They provide runtime plumbing. We provide the detection intelligence agents need to act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What hyperscalers shipped in 2026 — runtime &amp; orchestration: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1600200"/>
            <a:ext cx="3108960" cy="2926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Multi-agent + MicroVM isolation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00200"/>
            <a:ext cx="3108960" cy="2926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Security Copilot + Entra Agent IDs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1600200"/>
            <a:ext cx="3108960" cy="2926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Model Armor + zero-trust per step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ADK multi-agent + SecOps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These platforms provide PLUMBING — not intelligence. What WE provide that NO platform ships: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291840"/>
            <a:ext cx="10058400" cy="3200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3192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192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31927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22CT DELIVERS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65760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37033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7033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7033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02336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40690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0690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0690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Change-point on Digital Twin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38912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" y="443484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43484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43484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Drift direction classifier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5488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80160" y="480060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→ one 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800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80060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Cross-cloud entity fusion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12064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516636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1663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16636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Automated closed-loop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80160" y="55321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Vendor-specific remediation with zero-FP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55321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5321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Prescriptive playbooks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Hyperscalers provide runtime. 22CT provides the domain intelligence that makes agents effective.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 &amp; Gabriel Nimbus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One codebase, multiple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</a:t>
            </a:r>
            <a:br/>
            <a:r>
              <a:t>IL5 / NIPR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AWS GovCloud / Azure Gov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Auto-updated threat intel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Fastest: days to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69748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</a:t>
            </a:r>
            <a:br/>
            <a:r>
              <a:t>IL6 / SIPR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On-site K8s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8 vCPU / 32GB per node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6974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</a:t>
            </a:r>
            <a:br/>
            <a:r>
              <a:t>JWICS / TS-SCI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Local language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69748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116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GABRIEL NIMBUS</a:t>
            </a:r>
            <a:br/>
            <a:r>
              <a:t>Cloud-Native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Containerized microservices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Platform-native stores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Big data analytics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Scales with data volume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343400"/>
            <a:ext cx="1106424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Shared across ALL deployment models: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Iron Bank certified containers  •  Helm charts  •  Istio zero-trust service mesh  •  Horizontal pod autoscaling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Same security posture regardless of environment  •  Switch via environment variable — no code forking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cATO pathway: security artifacts auto-generated  •  NIST 800-53 / SP 800-207 compliance built in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0E6B8A"/>
                </a:solidFill>
                <a:latin typeface="Segoe UI"/>
              </a:defRPr>
            </a:pPr>
            <a:r>
              <a:t>Gabriel Nimbus: containerized application designed for cloud-native big data platform. Integration: ingestion connectors,</a:t>
            </a:r>
          </a:p>
          <a:p>
            <a:pPr>
              <a:spcBef>
                <a:spcPts val="800"/>
              </a:spcBef>
              <a:defRPr sz="1100" b="0">
                <a:solidFill>
                  <a:srgbClr val="0E6B8A"/>
                </a:solidFill>
                <a:latin typeface="Segoe UI"/>
              </a:defRPr>
            </a:pPr>
            <a:r>
              <a:t>shared storage, platform IAM, analytics layer. Same Helm charts — deploys with environment configuration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Phases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OTA-ready. 90-day prototype timeline aligns with Army Continuous Transformation (AD 24-02) cadence.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661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  <a:br/>
            <a:r>
              <a:t>0–90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K8s provisioning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Baseline config + model build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First preemptive findings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Entity fusion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First verified gap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79" y="1280160"/>
            <a:ext cx="35661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39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  <a:br/>
            <a:r>
              <a:t>90–180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Behavioral baselines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Continuous re-verification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ABAC trust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19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39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Full two-layer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8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18" y="1280160"/>
            <a:ext cx="356616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8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  <a:br/>
            <a:r>
              <a:t>180–270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Kill-chain reconstruction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Cohort tuning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Additional vendors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Compliance automation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SOC handoff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8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8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Full capability + cATO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Product Roadmap: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1480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54864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1879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Q2 2026 — Current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PAN/Fortinet/Cisco/CP NGFW • N-S verification • UEBA core (5 signals) • Entity fusion • IL5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1772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617720"/>
            <a:ext cx="54864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6908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Q3 2026 — 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7091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E-W micro-segmentation • SASE/SD-WAN • More identity sources • 140+ TTPs • IL6 certified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54864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193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7950B"/>
                </a:solidFill>
                <a:latin typeface="Segoe UI"/>
              </a:defRPr>
            </a:pPr>
            <a:r>
              <a:t>Q4 2026 — 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212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Cloud posture (AWS/Azure/GCP) • WAF/API gateway • Auto-remediation • Kill-chain • JWICS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2356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" y="5623560"/>
            <a:ext cx="54864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56967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2027 — 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7150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OT/ICS protocols • Autonomous threat hunting • Cross-org sharing • AI-verified remediation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Mission Threads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Nine operational mission threads spanning DCO, compliance, and risk management for DODIN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22nd Century Technologies: Company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0" y="8229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rPr dirty="0"/>
              <a:t>Connecting &amp; Serving Government &amp; Citizens since 1997.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  <p:pic>
        <p:nvPicPr>
          <p:cNvPr id="8" name="Picture 7" descr="slide3_Pict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2560320"/>
          </a:xfrm>
          <a:prstGeom prst="rect">
            <a:avLst/>
          </a:prstGeom>
        </p:spPr>
      </p:pic>
      <p:pic>
        <p:nvPicPr>
          <p:cNvPr id="9" name="Picture 8" descr="slide4_Pictur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2103120" cy="36576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Segoe UI"/>
              </a:defRPr>
            </a:pPr>
            <a:r>
              <a:t>$750M+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3931920"/>
            <a:ext cx="2103120" cy="36576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6B8A"/>
                </a:solidFill>
                <a:latin typeface="Segoe UI"/>
              </a:defRPr>
            </a:pPr>
            <a:r>
              <a:t>$1B+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Award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Segoe UI"/>
              </a:defRPr>
            </a:pPr>
            <a:r>
              <a:t>7,500+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Total FTEs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3931920"/>
            <a:ext cx="21031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800+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Cleared Cyber Analysts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3931920"/>
            <a:ext cx="21031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IL5/IL6/JWICS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Three Enclaves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48640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Key Contracts: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U.S. Army SOC/MDR — $90M (800+ cleared analysts)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USAF Cybersecurity Operations — $108M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FBI TSC — $56M  •  NAVAIR/USMC — $145M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14/15 Cabinet Agencies  •  300+ Federal  •  50+ Cyber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892040"/>
            <a:ext cx="548640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Compliance &amp; Certifications: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DoD Zero Trust RA: Pillars 4 &amp; 7  •  NIST 800-53/207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cATO pathway  •  Iron Bank certified  •  eMASS/RMF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ISO 9001 | 27001 | 28000 | 20000 | 17025 | 14001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GSA MAS | CIO-SP3 | SEWP V  •  CMMI Level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263640"/>
            <a:ext cx="11247120" cy="228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6281928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America's Best Midsize Employer  •  Top 15 Country for Tech People  •  Inc. 5000  •  CRN Top 10 Cyber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25880"/>
            <a:ext cx="73152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35331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56232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30552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130552"/>
            <a:ext cx="73152" cy="7772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15798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0487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Living entity model that captures sub-threshold drift and maps direction to MITRE ATT&amp;CK.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60904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35224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2935224"/>
            <a:ext cx="73152" cy="7772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296265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09544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Identity stitched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65576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739896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739896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3767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Management Plane: Multi-Device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1421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Reasons across ALL devices simultaneously. Finds multi-rule, multi-device gaps no single tool sees.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70248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firewall management platform (Panorama, FortiManager, SecureX)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44568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544568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457200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18888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Re-proves entire defense posture every hour AND on every config change. Pentests run annually.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74920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349240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" y="5349240"/>
            <a:ext cx="73152" cy="77724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537667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2C8A"/>
                </a:solidFill>
                <a:latin typeface="Segoe UI"/>
              </a:defRPr>
            </a:pPr>
            <a:r>
              <a:t>Hyperscaler Platforms Cannot Replace 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62356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runtime. They do NOT ship detection intelligence or formal models.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879592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617220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619048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Not incremental improvement. A fundamentally new class of defense that does not exist elsewhere.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Concrete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65176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8D0"/>
                </a:solidFill>
                <a:latin typeface="Segoe UI"/>
              </a:defRPr>
            </a:pPr>
            <a:r>
              <a:t>Three paths forward — all OTA/PIA compatible: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301752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Technical Deep-Dive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60-90 min follow-up with engineering</a:t>
            </a:r>
            <a:br/>
            <a:r>
              <a:t>team and ARCYBER science advisor.</a:t>
            </a:r>
            <a:br/>
            <a:r>
              <a:t>Architecture, integration points,</a:t>
            </a:r>
            <a:br/>
            <a:r>
              <a:t>formal methods detail.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338328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PM DCO Capability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30-min brief tailored to specific</a:t>
            </a:r>
            <a:br/>
            <a:r>
              <a:t>DCO capability gap. CFIC introduces.</a:t>
            </a:r>
            <a:br/>
            <a:r>
              <a:t>Aligned to BA-08 funding and</a:t>
            </a:r>
            <a:br/>
            <a:r>
              <a:t>Continuous Transformation cadence.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3383280"/>
            <a:ext cx="3017520" cy="3657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30-Day OTA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Scoped prototype on ARCYBER data</a:t>
            </a:r>
            <a:br/>
            <a:r>
              <a:t>(synthetic or DREN). Preemptive gap</a:t>
            </a:r>
            <a:br/>
            <a:r>
              <a:t>findings + behavioral detections.</a:t>
            </a:r>
            <a:br/>
            <a:r>
              <a:t>Milestone-based, TRL 6 → 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77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Provable Computing is a stated CFIC focus area. We are the industry capability in that space.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943600"/>
            <a:ext cx="4114800" cy="127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Ravindra Shukla  |  Head of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8D0"/>
                </a:solidFill>
                <a:latin typeface="Segoe UI"/>
              </a:defRPr>
            </a:pPr>
            <a:r>
              <a:t>ravindra.shukla@tscti.com  |  703-679-0117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4042</Words>
  <Application>Microsoft Office PowerPoint</Application>
  <PresentationFormat>Widescreen</PresentationFormat>
  <Paragraphs>529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2026-05-06T02:58:56Z</dcterms:modified>
  <cp:category/>
</cp:coreProperties>
</file>